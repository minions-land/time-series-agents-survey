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15800" cy="162115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2066925" y="2476500"/>
            <a:ext cx="402907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345" y="21414"/>
                </a:moveTo>
                <a:cubicBezTo>
                  <a:pt x="255" y="20980"/>
                  <a:pt x="255" y="20380"/>
                  <a:pt x="255" y="18396"/>
                </a:cubicBezTo>
                <a:lnTo>
                  <a:pt x="255" y="145"/>
                </a:lnTo>
              </a:path>
            </a:pathLst>
          </a:custGeom>
          <a:noFill/>
          <a:ln w="63500">
            <a:solidFill>
              <a:srgbClr val="AA844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" name="Path 3"/>
          <p:cNvSpPr/>
          <p:nvPr/>
        </p:nvSpPr>
        <p:spPr>
          <a:xfrm>
            <a:off x="3800475" y="2476500"/>
            <a:ext cx="229552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152" y="21414"/>
                </a:moveTo>
                <a:cubicBezTo>
                  <a:pt x="448" y="20980"/>
                  <a:pt x="448" y="20380"/>
                  <a:pt x="448" y="18396"/>
                </a:cubicBezTo>
                <a:lnTo>
                  <a:pt x="448" y="145"/>
                </a:lnTo>
              </a:path>
            </a:pathLst>
          </a:custGeom>
          <a:noFill/>
          <a:ln w="63500">
            <a:solidFill>
              <a:srgbClr val="43877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5534025" y="2476500"/>
            <a:ext cx="56197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9769" y="21414"/>
                </a:moveTo>
                <a:cubicBezTo>
                  <a:pt x="1831" y="20980"/>
                  <a:pt x="1831" y="20380"/>
                  <a:pt x="1831" y="18396"/>
                </a:cubicBezTo>
                <a:lnTo>
                  <a:pt x="1831" y="145"/>
                </a:lnTo>
              </a:path>
            </a:pathLst>
          </a:custGeom>
          <a:noFill/>
          <a:ln w="63500">
            <a:solidFill>
              <a:srgbClr val="4D87A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6000750" y="2476500"/>
            <a:ext cx="136207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755" y="21414"/>
                </a:moveTo>
                <a:cubicBezTo>
                  <a:pt x="20845" y="20980"/>
                  <a:pt x="20845" y="20380"/>
                  <a:pt x="20845" y="18396"/>
                </a:cubicBezTo>
                <a:lnTo>
                  <a:pt x="20845" y="145"/>
                </a:lnTo>
              </a:path>
            </a:pathLst>
          </a:custGeom>
          <a:noFill/>
          <a:ln w="63500">
            <a:solidFill>
              <a:srgbClr val="B77B7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6000750" y="2476500"/>
            <a:ext cx="309562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332" y="21414"/>
                </a:moveTo>
                <a:cubicBezTo>
                  <a:pt x="21268" y="20980"/>
                  <a:pt x="21268" y="20380"/>
                  <a:pt x="21268" y="18396"/>
                </a:cubicBezTo>
                <a:lnTo>
                  <a:pt x="21268" y="145"/>
                </a:lnTo>
              </a:path>
            </a:pathLst>
          </a:custGeom>
          <a:noFill/>
          <a:ln w="63500">
            <a:solidFill>
              <a:srgbClr val="916FA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6000750" y="2476500"/>
            <a:ext cx="4829175" cy="9953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3" y="21414"/>
                </a:moveTo>
                <a:cubicBezTo>
                  <a:pt x="21387" y="20980"/>
                  <a:pt x="21387" y="20380"/>
                  <a:pt x="21387" y="18396"/>
                </a:cubicBezTo>
                <a:lnTo>
                  <a:pt x="21387" y="145"/>
                </a:lnTo>
              </a:path>
            </a:pathLst>
          </a:custGeom>
          <a:noFill/>
          <a:ln w="63500">
            <a:solidFill>
              <a:srgbClr val="4B91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047750" y="4600575"/>
            <a:ext cx="10629900" cy="0"/>
          </a:xfrm>
          <a:prstGeom prst="line">
            <a:avLst/>
          </a:prstGeom>
          <a:noFill/>
          <a:ln w="8890">
            <a:solidFill>
              <a:srgbClr val="D6D7D7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047750" y="6810375"/>
            <a:ext cx="10629900" cy="0"/>
          </a:xfrm>
          <a:prstGeom prst="line">
            <a:avLst/>
          </a:prstGeom>
          <a:noFill/>
          <a:ln w="8890">
            <a:solidFill>
              <a:srgbClr val="D6D7D7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047750" y="9039225"/>
            <a:ext cx="10629900" cy="0"/>
          </a:xfrm>
          <a:prstGeom prst="line">
            <a:avLst/>
          </a:prstGeom>
          <a:noFill/>
          <a:ln w="8890">
            <a:solidFill>
              <a:srgbClr val="D6D7D7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047750" y="11020425"/>
            <a:ext cx="10629900" cy="0"/>
          </a:xfrm>
          <a:prstGeom prst="line">
            <a:avLst/>
          </a:prstGeom>
          <a:noFill/>
          <a:ln w="8890">
            <a:solidFill>
              <a:srgbClr val="D6D7D7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047750" y="12172950"/>
            <a:ext cx="10629900" cy="0"/>
          </a:xfrm>
          <a:prstGeom prst="line">
            <a:avLst/>
          </a:prstGeom>
          <a:noFill/>
          <a:ln w="8890">
            <a:solidFill>
              <a:srgbClr val="D6D7D7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V="1">
            <a:off x="733425" y="2543175"/>
            <a:ext cx="0" cy="9582150"/>
          </a:xfrm>
          <a:prstGeom prst="line">
            <a:avLst/>
          </a:prstGeom>
          <a:noFill/>
          <a:ln w="25400">
            <a:solidFill>
              <a:srgbClr val="72767C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29540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AF7F0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02895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0F7F3"/>
          </a:solidFill>
          <a:ln w="19050">
            <a:solidFill>
              <a:srgbClr val="438775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476250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0F6FA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49605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AF4F2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822960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7F2FA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9963150" y="1009650"/>
            <a:ext cx="1647825" cy="1409700"/>
          </a:xfrm>
          <a:prstGeom prst="roundRect">
            <a:avLst>
              <a:gd name="adj" fmla="val 3378"/>
            </a:avLst>
          </a:prstGeom>
          <a:solidFill>
            <a:srgbClr val="F1F7F7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438150" y="3429000"/>
            <a:ext cx="581025" cy="27622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438150" y="5619750"/>
            <a:ext cx="581025" cy="27622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438150" y="7829550"/>
            <a:ext cx="581025" cy="27622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38150" y="9925050"/>
            <a:ext cx="581025" cy="27622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38150" y="11506200"/>
            <a:ext cx="581025" cy="27622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1295400" y="50482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1295400" y="6048375"/>
            <a:ext cx="1647825" cy="400050"/>
          </a:xfrm>
          <a:prstGeom prst="roundRect">
            <a:avLst>
              <a:gd name="adj" fmla="val 11905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1295400" y="70294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1295400" y="7515225"/>
            <a:ext cx="1647825" cy="390525"/>
          </a:xfrm>
          <a:prstGeom prst="roundRect">
            <a:avLst>
              <a:gd name="adj" fmla="val 12195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295400" y="80010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1295400" y="84963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1295400" y="94202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1295400" y="103060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1295400" y="112014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1295400" y="116681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AA8447"/>
            </a:solidFill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3028950" y="48672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38775"/>
            </a:solidFill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3028950" y="55435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38775"/>
            </a:solidFill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3028950" y="6181725"/>
            <a:ext cx="1647825" cy="466725"/>
          </a:xfrm>
          <a:prstGeom prst="roundRect">
            <a:avLst>
              <a:gd name="adj" fmla="val 10204"/>
            </a:avLst>
          </a:prstGeom>
          <a:solidFill>
            <a:srgbClr val="FCFCFC"/>
          </a:solidFill>
          <a:ln w="19050">
            <a:solidFill>
              <a:srgbClr val="438775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3028950" y="77628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38775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4762500" y="33718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4762500" y="48672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4762500" y="5495925"/>
            <a:ext cx="1647825" cy="466725"/>
          </a:xfrm>
          <a:prstGeom prst="roundRect">
            <a:avLst>
              <a:gd name="adj" fmla="val 10204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4762500" y="6191250"/>
            <a:ext cx="1647825" cy="419100"/>
          </a:xfrm>
          <a:prstGeom prst="roundRect">
            <a:avLst>
              <a:gd name="adj" fmla="val 11364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4762500" y="92678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4762500" y="98583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4762500" y="104489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D87A3"/>
            </a:solidFill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6496050" y="3343275"/>
            <a:ext cx="1647825" cy="428625"/>
          </a:xfrm>
          <a:prstGeom prst="roundRect">
            <a:avLst>
              <a:gd name="adj" fmla="val 11111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6496050" y="48768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6496050" y="5553075"/>
            <a:ext cx="1647825" cy="400050"/>
          </a:xfrm>
          <a:prstGeom prst="roundRect">
            <a:avLst>
              <a:gd name="adj" fmla="val 11905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6496050" y="62007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6496050" y="70866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6496050" y="77628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6496050" y="84391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6496050" y="94202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6496050" y="102965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B77B74"/>
            </a:solidFill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8229600" y="5362575"/>
            <a:ext cx="1647825" cy="733425"/>
          </a:xfrm>
          <a:prstGeom prst="roundRect">
            <a:avLst>
              <a:gd name="adj" fmla="val 6494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8229600" y="70104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8229600" y="7458075"/>
            <a:ext cx="1647825" cy="523875"/>
          </a:xfrm>
          <a:prstGeom prst="roundRect">
            <a:avLst>
              <a:gd name="adj" fmla="val 9091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8229600" y="8001000"/>
            <a:ext cx="1647825" cy="457200"/>
          </a:xfrm>
          <a:prstGeom prst="roundRect">
            <a:avLst>
              <a:gd name="adj" fmla="val 10417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8229600" y="8477250"/>
            <a:ext cx="1647825" cy="504825"/>
          </a:xfrm>
          <a:prstGeom prst="roundRect">
            <a:avLst>
              <a:gd name="adj" fmla="val 9434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8229600" y="986790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8229600" y="11382375"/>
            <a:ext cx="1647825" cy="504825"/>
          </a:xfrm>
          <a:prstGeom prst="roundRect">
            <a:avLst>
              <a:gd name="adj" fmla="val 9434"/>
            </a:avLst>
          </a:prstGeom>
          <a:solidFill>
            <a:srgbClr val="FCFCFC"/>
          </a:solidFill>
          <a:ln w="19050">
            <a:solidFill>
              <a:srgbClr val="916FA4"/>
            </a:solidFill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9963150" y="27336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9963150" y="3305175"/>
            <a:ext cx="1647825" cy="533400"/>
          </a:xfrm>
          <a:prstGeom prst="roundRect">
            <a:avLst>
              <a:gd name="adj" fmla="val 8929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9963150" y="401002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9963150" y="5038725"/>
            <a:ext cx="1647825" cy="419100"/>
          </a:xfrm>
          <a:prstGeom prst="roundRect">
            <a:avLst>
              <a:gd name="adj" fmla="val 11364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9963150" y="6010275"/>
            <a:ext cx="1647825" cy="495300"/>
          </a:xfrm>
          <a:prstGeom prst="roundRect">
            <a:avLst>
              <a:gd name="adj" fmla="val 9615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7" name="Roundrect 67"/>
          <p:cNvSpPr/>
          <p:nvPr/>
        </p:nvSpPr>
        <p:spPr>
          <a:xfrm>
            <a:off x="9963150" y="7762875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9963150" y="94297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9963150" y="10306050"/>
            <a:ext cx="1647825" cy="409575"/>
          </a:xfrm>
          <a:prstGeom prst="roundRect">
            <a:avLst>
              <a:gd name="adj" fmla="val 11628"/>
            </a:avLst>
          </a:prstGeom>
          <a:solidFill>
            <a:srgbClr val="FCFCFC"/>
          </a:solidFill>
          <a:ln w="19050">
            <a:solidFill>
              <a:srgbClr val="4B9194"/>
            </a:solidFill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1171575" y="12411075"/>
            <a:ext cx="10553700" cy="733425"/>
          </a:xfrm>
          <a:prstGeom prst="roundRect">
            <a:avLst>
              <a:gd name="adj" fmla="val 6494"/>
            </a:avLst>
          </a:prstGeom>
          <a:solidFill>
            <a:srgbClr val="FAFAFA"/>
          </a:solidFill>
          <a:ln w="19050">
            <a:solidFill>
              <a:srgbClr val="45434B"/>
            </a:solidFill>
          </a:ln>
        </p:spPr>
        <p:txBody>
          <a:bodyPr/>
          <a:lstStyle/>
          <a:p/>
        </p:txBody>
      </p:sp>
      <p:pic>
        <p:nvPicPr>
          <p:cNvPr id="71" name="data"/>
          <p:cNvPicPr/>
          <p:nvPr/>
        </p:nvPicPr>
        <p:blipFill>
          <a:blip r:embed="rId2"/>
          <a:stretch>
            <a:fillRect/>
          </a:stretch>
        </p:blipFill>
        <p:spPr>
          <a:xfrm>
            <a:off x="1952625" y="1085850"/>
            <a:ext cx="333375" cy="333375"/>
          </a:xfrm>
          <a:prstGeom prst="rect">
            <a:avLst/>
          </a:prstGeom>
        </p:spPr>
      </p:pic>
      <p:pic>
        <p:nvPicPr>
          <p:cNvPr id="72" name="tasks"/>
          <p:cNvPicPr/>
          <p:nvPr/>
        </p:nvPicPr>
        <p:blipFill>
          <a:blip r:embed="rId3"/>
          <a:stretch>
            <a:fillRect/>
          </a:stretch>
        </p:blipFill>
        <p:spPr>
          <a:xfrm>
            <a:off x="3686175" y="1085850"/>
            <a:ext cx="333375" cy="333375"/>
          </a:xfrm>
          <a:prstGeom prst="rect">
            <a:avLst/>
          </a:prstGeom>
        </p:spPr>
      </p:pic>
      <p:pic>
        <p:nvPicPr>
          <p:cNvPr id="73" name="memory"/>
          <p:cNvPicPr/>
          <p:nvPr/>
        </p:nvPicPr>
        <p:blipFill>
          <a:blip r:embed="rId4"/>
          <a:stretch>
            <a:fillRect/>
          </a:stretch>
        </p:blipFill>
        <p:spPr>
          <a:xfrm>
            <a:off x="5419725" y="1085850"/>
            <a:ext cx="333375" cy="333375"/>
          </a:xfrm>
          <a:prstGeom prst="rect">
            <a:avLst/>
          </a:prstGeom>
        </p:spPr>
      </p:pic>
      <p:pic>
        <p:nvPicPr>
          <p:cNvPr id="74" name="code"/>
          <p:cNvPicPr/>
          <p:nvPr/>
        </p:nvPicPr>
        <p:blipFill>
          <a:blip r:embed="rId5"/>
          <a:stretch>
            <a:fillRect/>
          </a:stretch>
        </p:blipFill>
        <p:spPr>
          <a:xfrm>
            <a:off x="7153275" y="1085850"/>
            <a:ext cx="333375" cy="333375"/>
          </a:xfrm>
          <a:prstGeom prst="rect">
            <a:avLst/>
          </a:prstGeom>
        </p:spPr>
      </p:pic>
      <p:pic>
        <p:nvPicPr>
          <p:cNvPr id="75" name="feedback"/>
          <p:cNvPicPr/>
          <p:nvPr/>
        </p:nvPicPr>
        <p:blipFill>
          <a:blip r:embed="rId6"/>
          <a:stretch>
            <a:fillRect/>
          </a:stretch>
        </p:blipFill>
        <p:spPr>
          <a:xfrm>
            <a:off x="8886825" y="1085850"/>
            <a:ext cx="333375" cy="333375"/>
          </a:xfrm>
          <a:prstGeom prst="rect">
            <a:avLst/>
          </a:prstGeom>
        </p:spPr>
      </p:pic>
      <p:pic>
        <p:nvPicPr>
          <p:cNvPr id="76" name="metaheader"/>
          <p:cNvPicPr/>
          <p:nvPr/>
        </p:nvPicPr>
        <p:blipFill>
          <a:blip r:embed="rId7"/>
          <a:stretch>
            <a:fillRect/>
          </a:stretch>
        </p:blipFill>
        <p:spPr>
          <a:xfrm>
            <a:off x="10620375" y="1085850"/>
            <a:ext cx="333375" cy="333375"/>
          </a:xfrm>
          <a:prstGeom prst="rect">
            <a:avLst/>
          </a:prstGeom>
        </p:spPr>
      </p:pic>
      <p:pic>
        <p:nvPicPr>
          <p:cNvPr id="77" name="seal"/>
          <p:cNvPicPr/>
          <p:nvPr/>
        </p:nvPicPr>
        <p:blipFill>
          <a:blip r:embed="rId8"/>
          <a:stretch>
            <a:fillRect/>
          </a:stretch>
        </p:blipFill>
        <p:spPr>
          <a:xfrm>
            <a:off x="1343025" y="5114925"/>
            <a:ext cx="276225" cy="276225"/>
          </a:xfrm>
          <a:prstGeom prst="rect">
            <a:avLst/>
          </a:prstGeom>
        </p:spPr>
      </p:pic>
      <p:pic>
        <p:nvPicPr>
          <p:cNvPr id="78" name="tsinghua"/>
          <p:cNvPicPr/>
          <p:nvPr/>
        </p:nvPicPr>
        <p:blipFill>
          <a:blip r:embed="rId9"/>
          <a:stretch>
            <a:fillRect/>
          </a:stretch>
        </p:blipFill>
        <p:spPr>
          <a:xfrm>
            <a:off x="1343025" y="6110288"/>
            <a:ext cx="276225" cy="276225"/>
          </a:xfrm>
          <a:prstGeom prst="rect">
            <a:avLst/>
          </a:prstGeom>
        </p:spPr>
      </p:pic>
      <p:pic>
        <p:nvPicPr>
          <p:cNvPr id="79" name="deepmind"/>
          <p:cNvPicPr/>
          <p:nvPr/>
        </p:nvPicPr>
        <p:blipFill>
          <a:blip r:embed="rId10"/>
          <a:stretch>
            <a:fillRect/>
          </a:stretch>
        </p:blipFill>
        <p:spPr>
          <a:xfrm>
            <a:off x="1343025" y="7096125"/>
            <a:ext cx="276225" cy="276225"/>
          </a:xfrm>
          <a:prstGeom prst="rect">
            <a:avLst/>
          </a:prstGeom>
        </p:spPr>
      </p:pic>
      <p:pic>
        <p:nvPicPr>
          <p:cNvPr id="80" name="cmu"/>
          <p:cNvPicPr/>
          <p:nvPr/>
        </p:nvPicPr>
        <p:blipFill>
          <a:blip r:embed="rId11"/>
          <a:stretch>
            <a:fillRect/>
          </a:stretch>
        </p:blipFill>
        <p:spPr>
          <a:xfrm>
            <a:off x="1343025" y="7572375"/>
            <a:ext cx="276225" cy="276225"/>
          </a:xfrm>
          <a:prstGeom prst="rect">
            <a:avLst/>
          </a:prstGeom>
        </p:spPr>
      </p:pic>
      <p:pic>
        <p:nvPicPr>
          <p:cNvPr id="81" name="stanford"/>
          <p:cNvPicPr/>
          <p:nvPr/>
        </p:nvPicPr>
        <p:blipFill>
          <a:blip r:embed="rId12"/>
          <a:stretch>
            <a:fillRect/>
          </a:stretch>
        </p:blipFill>
        <p:spPr>
          <a:xfrm>
            <a:off x="1343025" y="8067675"/>
            <a:ext cx="276225" cy="276225"/>
          </a:xfrm>
          <a:prstGeom prst="rect">
            <a:avLst/>
          </a:prstGeom>
        </p:spPr>
      </p:pic>
      <p:pic>
        <p:nvPicPr>
          <p:cNvPr id="82" name="ucla"/>
          <p:cNvPicPr/>
          <p:nvPr/>
        </p:nvPicPr>
        <p:blipFill>
          <a:blip r:embed="rId13"/>
          <a:stretch>
            <a:fillRect/>
          </a:stretch>
        </p:blipFill>
        <p:spPr>
          <a:xfrm>
            <a:off x="1343025" y="8562975"/>
            <a:ext cx="276225" cy="276225"/>
          </a:xfrm>
          <a:prstGeom prst="rect">
            <a:avLst/>
          </a:prstGeom>
        </p:spPr>
      </p:pic>
      <p:pic>
        <p:nvPicPr>
          <p:cNvPr id="83" name="deepmind"/>
          <p:cNvPicPr/>
          <p:nvPr/>
        </p:nvPicPr>
        <p:blipFill>
          <a:blip r:embed="rId14"/>
          <a:stretch>
            <a:fillRect/>
          </a:stretch>
        </p:blipFill>
        <p:spPr>
          <a:xfrm>
            <a:off x="1343025" y="9486900"/>
            <a:ext cx="276225" cy="276225"/>
          </a:xfrm>
          <a:prstGeom prst="rect">
            <a:avLst/>
          </a:prstGeom>
        </p:spPr>
      </p:pic>
      <p:pic>
        <p:nvPicPr>
          <p:cNvPr id="84" name="deepmind"/>
          <p:cNvPicPr/>
          <p:nvPr/>
        </p:nvPicPr>
        <p:blipFill>
          <a:blip r:embed="rId15"/>
          <a:stretch>
            <a:fillRect/>
          </a:stretch>
        </p:blipFill>
        <p:spPr>
          <a:xfrm>
            <a:off x="1343025" y="10372725"/>
            <a:ext cx="276225" cy="276225"/>
          </a:xfrm>
          <a:prstGeom prst="rect">
            <a:avLst/>
          </a:prstGeom>
        </p:spPr>
      </p:pic>
      <p:pic>
        <p:nvPicPr>
          <p:cNvPr id="85" name="washington"/>
          <p:cNvPicPr/>
          <p:nvPr/>
        </p:nvPicPr>
        <p:blipFill>
          <a:blip r:embed="rId16"/>
          <a:stretch>
            <a:fillRect/>
          </a:stretch>
        </p:blipFill>
        <p:spPr>
          <a:xfrm>
            <a:off x="1343025" y="11268075"/>
            <a:ext cx="276225" cy="276225"/>
          </a:xfrm>
          <a:prstGeom prst="rect">
            <a:avLst/>
          </a:prstGeom>
        </p:spPr>
      </p:pic>
      <p:pic>
        <p:nvPicPr>
          <p:cNvPr id="86" name="stanford"/>
          <p:cNvPicPr/>
          <p:nvPr/>
        </p:nvPicPr>
        <p:blipFill>
          <a:blip r:embed="rId17"/>
          <a:stretch>
            <a:fillRect/>
          </a:stretch>
        </p:blipFill>
        <p:spPr>
          <a:xfrm>
            <a:off x="1343025" y="11734800"/>
            <a:ext cx="276225" cy="276225"/>
          </a:xfrm>
          <a:prstGeom prst="rect">
            <a:avLst/>
          </a:prstGeom>
        </p:spPr>
      </p:pic>
      <p:pic>
        <p:nvPicPr>
          <p:cNvPr id="87" name="alibaba"/>
          <p:cNvPicPr/>
          <p:nvPr/>
        </p:nvPicPr>
        <p:blipFill>
          <a:blip r:embed="rId18"/>
          <a:stretch>
            <a:fillRect/>
          </a:stretch>
        </p:blipFill>
        <p:spPr>
          <a:xfrm>
            <a:off x="3076575" y="4933950"/>
            <a:ext cx="276225" cy="276225"/>
          </a:xfrm>
          <a:prstGeom prst="rect">
            <a:avLst/>
          </a:prstGeom>
        </p:spPr>
      </p:pic>
      <p:pic>
        <p:nvPicPr>
          <p:cNvPr id="88" name="rzero"/>
          <p:cNvPicPr/>
          <p:nvPr/>
        </p:nvPicPr>
        <p:blipFill>
          <a:blip r:embed="rId19"/>
          <a:stretch>
            <a:fillRect/>
          </a:stretch>
        </p:blipFill>
        <p:spPr>
          <a:xfrm>
            <a:off x="3076575" y="5610225"/>
            <a:ext cx="276225" cy="276225"/>
          </a:xfrm>
          <a:prstGeom prst="rect">
            <a:avLst/>
          </a:prstGeom>
        </p:spPr>
      </p:pic>
      <p:pic>
        <p:nvPicPr>
          <p:cNvPr id="89" name="tsinghua"/>
          <p:cNvPicPr/>
          <p:nvPr/>
        </p:nvPicPr>
        <p:blipFill>
          <a:blip r:embed="rId20"/>
          <a:stretch>
            <a:fillRect/>
          </a:stretch>
        </p:blipFill>
        <p:spPr>
          <a:xfrm>
            <a:off x="3076575" y="6276975"/>
            <a:ext cx="276225" cy="276225"/>
          </a:xfrm>
          <a:prstGeom prst="rect">
            <a:avLst/>
          </a:prstGeom>
        </p:spPr>
      </p:pic>
      <p:pic>
        <p:nvPicPr>
          <p:cNvPr id="90" name="agentgym"/>
          <p:cNvPicPr/>
          <p:nvPr/>
        </p:nvPicPr>
        <p:blipFill>
          <a:blip r:embed="rId21"/>
          <a:stretch>
            <a:fillRect/>
          </a:stretch>
        </p:blipFill>
        <p:spPr>
          <a:xfrm>
            <a:off x="3076575" y="7829550"/>
            <a:ext cx="276225" cy="276225"/>
          </a:xfrm>
          <a:prstGeom prst="rect">
            <a:avLst/>
          </a:prstGeom>
        </p:spPr>
      </p:pic>
      <p:pic>
        <p:nvPicPr>
          <p:cNvPr id="91" name="unc"/>
          <p:cNvPicPr/>
          <p:nvPr/>
        </p:nvPicPr>
        <p:blipFill>
          <a:blip r:embed="rId22"/>
          <a:stretch>
            <a:fillRect/>
          </a:stretch>
        </p:blipFill>
        <p:spPr>
          <a:xfrm>
            <a:off x="4810125" y="3438525"/>
            <a:ext cx="276225" cy="276225"/>
          </a:xfrm>
          <a:prstGeom prst="rect">
            <a:avLst/>
          </a:prstGeom>
        </p:spPr>
      </p:pic>
      <p:pic>
        <p:nvPicPr>
          <p:cNvPr id="92" name="stanford"/>
          <p:cNvPicPr/>
          <p:nvPr/>
        </p:nvPicPr>
        <p:blipFill>
          <a:blip r:embed="rId23"/>
          <a:stretch>
            <a:fillRect/>
          </a:stretch>
        </p:blipFill>
        <p:spPr>
          <a:xfrm>
            <a:off x="4810125" y="4933950"/>
            <a:ext cx="276225" cy="276225"/>
          </a:xfrm>
          <a:prstGeom prst="rect">
            <a:avLst/>
          </a:prstGeom>
        </p:spPr>
      </p:pic>
      <p:pic>
        <p:nvPicPr>
          <p:cNvPr id="93" name="stanford"/>
          <p:cNvPicPr/>
          <p:nvPr/>
        </p:nvPicPr>
        <p:blipFill>
          <a:blip r:embed="rId24"/>
          <a:stretch>
            <a:fillRect/>
          </a:stretch>
        </p:blipFill>
        <p:spPr>
          <a:xfrm>
            <a:off x="4810125" y="5591175"/>
            <a:ext cx="276225" cy="276225"/>
          </a:xfrm>
          <a:prstGeom prst="rect">
            <a:avLst/>
          </a:prstGeom>
        </p:spPr>
      </p:pic>
      <p:pic>
        <p:nvPicPr>
          <p:cNvPr id="94" name="rutgers"/>
          <p:cNvPicPr/>
          <p:nvPr/>
        </p:nvPicPr>
        <p:blipFill>
          <a:blip r:embed="rId25"/>
          <a:stretch>
            <a:fillRect/>
          </a:stretch>
        </p:blipFill>
        <p:spPr>
          <a:xfrm>
            <a:off x="4810125" y="6262688"/>
            <a:ext cx="276225" cy="276225"/>
          </a:xfrm>
          <a:prstGeom prst="rect">
            <a:avLst/>
          </a:prstGeom>
        </p:spPr>
      </p:pic>
      <p:pic>
        <p:nvPicPr>
          <p:cNvPr id="95" name="tsinghua"/>
          <p:cNvPicPr/>
          <p:nvPr/>
        </p:nvPicPr>
        <p:blipFill>
          <a:blip r:embed="rId26"/>
          <a:stretch>
            <a:fillRect/>
          </a:stretch>
        </p:blipFill>
        <p:spPr>
          <a:xfrm>
            <a:off x="4810125" y="9334500"/>
            <a:ext cx="276225" cy="276225"/>
          </a:xfrm>
          <a:prstGeom prst="rect">
            <a:avLst/>
          </a:prstGeom>
        </p:spPr>
      </p:pic>
      <p:pic>
        <p:nvPicPr>
          <p:cNvPr id="96" name="nvidia"/>
          <p:cNvPicPr/>
          <p:nvPr/>
        </p:nvPicPr>
        <p:blipFill>
          <a:blip r:embed="rId27"/>
          <a:stretch>
            <a:fillRect/>
          </a:stretch>
        </p:blipFill>
        <p:spPr>
          <a:xfrm>
            <a:off x="4810125" y="9925050"/>
            <a:ext cx="276225" cy="276225"/>
          </a:xfrm>
          <a:prstGeom prst="rect">
            <a:avLst/>
          </a:prstGeom>
        </p:spPr>
      </p:pic>
      <p:pic>
        <p:nvPicPr>
          <p:cNvPr id="97" name="northeastern"/>
          <p:cNvPicPr/>
          <p:nvPr/>
        </p:nvPicPr>
        <p:blipFill>
          <a:blip r:embed="rId28"/>
          <a:stretch>
            <a:fillRect/>
          </a:stretch>
        </p:blipFill>
        <p:spPr>
          <a:xfrm>
            <a:off x="4810125" y="10515600"/>
            <a:ext cx="276225" cy="276225"/>
          </a:xfrm>
          <a:prstGeom prst="rect">
            <a:avLst/>
          </a:prstGeom>
        </p:spPr>
      </p:pic>
      <p:pic>
        <p:nvPicPr>
          <p:cNvPr id="98" name="prime"/>
          <p:cNvPicPr/>
          <p:nvPr/>
        </p:nvPicPr>
        <p:blipFill>
          <a:blip r:embed="rId29"/>
          <a:stretch>
            <a:fillRect/>
          </a:stretch>
        </p:blipFill>
        <p:spPr>
          <a:xfrm>
            <a:off x="6543675" y="3419475"/>
            <a:ext cx="276225" cy="276225"/>
          </a:xfrm>
          <a:prstGeom prst="rect">
            <a:avLst/>
          </a:prstGeom>
        </p:spPr>
      </p:pic>
      <p:pic>
        <p:nvPicPr>
          <p:cNvPr id="99" name="berkeley"/>
          <p:cNvPicPr/>
          <p:nvPr/>
        </p:nvPicPr>
        <p:blipFill>
          <a:blip r:embed="rId30"/>
          <a:stretch>
            <a:fillRect/>
          </a:stretch>
        </p:blipFill>
        <p:spPr>
          <a:xfrm>
            <a:off x="6543675" y="4943475"/>
            <a:ext cx="276225" cy="276225"/>
          </a:xfrm>
          <a:prstGeom prst="rect">
            <a:avLst/>
          </a:prstGeom>
        </p:spPr>
      </p:pic>
      <p:pic>
        <p:nvPicPr>
          <p:cNvPr id="100" name="ubc"/>
          <p:cNvPicPr/>
          <p:nvPr/>
        </p:nvPicPr>
        <p:blipFill>
          <a:blip r:embed="rId31"/>
          <a:stretch>
            <a:fillRect/>
          </a:stretch>
        </p:blipFill>
        <p:spPr>
          <a:xfrm>
            <a:off x="6543675" y="5614988"/>
            <a:ext cx="276225" cy="276225"/>
          </a:xfrm>
          <a:prstGeom prst="rect">
            <a:avLst/>
          </a:prstGeom>
        </p:spPr>
      </p:pic>
      <p:pic>
        <p:nvPicPr>
          <p:cNvPr id="101" name="sica"/>
          <p:cNvPicPr/>
          <p:nvPr/>
        </p:nvPicPr>
        <p:blipFill>
          <a:blip r:embed="rId32"/>
          <a:stretch>
            <a:fillRect/>
          </a:stretch>
        </p:blipFill>
        <p:spPr>
          <a:xfrm>
            <a:off x="6543675" y="6267450"/>
            <a:ext cx="276225" cy="276225"/>
          </a:xfrm>
          <a:prstGeom prst="rect">
            <a:avLst/>
          </a:prstGeom>
        </p:spPr>
      </p:pic>
      <p:pic>
        <p:nvPicPr>
          <p:cNvPr id="102" name="hkust"/>
          <p:cNvPicPr/>
          <p:nvPr/>
        </p:nvPicPr>
        <p:blipFill>
          <a:blip r:embed="rId33"/>
          <a:stretch>
            <a:fillRect/>
          </a:stretch>
        </p:blipFill>
        <p:spPr>
          <a:xfrm>
            <a:off x="6543675" y="7153275"/>
            <a:ext cx="276225" cy="276225"/>
          </a:xfrm>
          <a:prstGeom prst="rect">
            <a:avLst/>
          </a:prstGeom>
        </p:spPr>
      </p:pic>
      <p:pic>
        <p:nvPicPr>
          <p:cNvPr id="103" name="ubc"/>
          <p:cNvPicPr/>
          <p:nvPr/>
        </p:nvPicPr>
        <p:blipFill>
          <a:blip r:embed="rId34"/>
          <a:stretch>
            <a:fillRect/>
          </a:stretch>
        </p:blipFill>
        <p:spPr>
          <a:xfrm>
            <a:off x="6543675" y="7829550"/>
            <a:ext cx="276225" cy="276225"/>
          </a:xfrm>
          <a:prstGeom prst="rect">
            <a:avLst/>
          </a:prstGeom>
        </p:spPr>
      </p:pic>
      <p:pic>
        <p:nvPicPr>
          <p:cNvPr id="104" name="stanford"/>
          <p:cNvPicPr/>
          <p:nvPr/>
        </p:nvPicPr>
        <p:blipFill>
          <a:blip r:embed="rId35"/>
          <a:stretch>
            <a:fillRect/>
          </a:stretch>
        </p:blipFill>
        <p:spPr>
          <a:xfrm>
            <a:off x="6543675" y="8505825"/>
            <a:ext cx="276225" cy="276225"/>
          </a:xfrm>
          <a:prstGeom prst="rect">
            <a:avLst/>
          </a:prstGeom>
        </p:spPr>
      </p:pic>
      <p:pic>
        <p:nvPicPr>
          <p:cNvPr id="105" name="stanford"/>
          <p:cNvPicPr/>
          <p:nvPr/>
        </p:nvPicPr>
        <p:blipFill>
          <a:blip r:embed="rId36"/>
          <a:stretch>
            <a:fillRect/>
          </a:stretch>
        </p:blipFill>
        <p:spPr>
          <a:xfrm>
            <a:off x="6543675" y="9486900"/>
            <a:ext cx="276225" cy="276225"/>
          </a:xfrm>
          <a:prstGeom prst="rect">
            <a:avLst/>
          </a:prstGeom>
        </p:spPr>
      </p:pic>
      <p:pic>
        <p:nvPicPr>
          <p:cNvPr id="106" name="deepmind"/>
          <p:cNvPicPr/>
          <p:nvPr/>
        </p:nvPicPr>
        <p:blipFill>
          <a:blip r:embed="rId37"/>
          <a:stretch>
            <a:fillRect/>
          </a:stretch>
        </p:blipFill>
        <p:spPr>
          <a:xfrm>
            <a:off x="6543675" y="10363200"/>
            <a:ext cx="276225" cy="276225"/>
          </a:xfrm>
          <a:prstGeom prst="rect">
            <a:avLst/>
          </a:prstGeom>
        </p:spPr>
      </p:pic>
      <p:pic>
        <p:nvPicPr>
          <p:cNvPr id="107" name="process"/>
          <p:cNvPicPr/>
          <p:nvPr/>
        </p:nvPicPr>
        <p:blipFill>
          <a:blip r:embed="rId38"/>
          <a:stretch>
            <a:fillRect/>
          </a:stretch>
        </p:blipFill>
        <p:spPr>
          <a:xfrm>
            <a:off x="8277225" y="5591175"/>
            <a:ext cx="276225" cy="276225"/>
          </a:xfrm>
          <a:prstGeom prst="rect">
            <a:avLst/>
          </a:prstGeom>
        </p:spPr>
      </p:pic>
      <p:pic>
        <p:nvPicPr>
          <p:cNvPr id="108" name="unc"/>
          <p:cNvPicPr/>
          <p:nvPr/>
        </p:nvPicPr>
        <p:blipFill>
          <a:blip r:embed="rId39"/>
          <a:stretch>
            <a:fillRect/>
          </a:stretch>
        </p:blipFill>
        <p:spPr>
          <a:xfrm>
            <a:off x="8277225" y="7077075"/>
            <a:ext cx="276225" cy="276225"/>
          </a:xfrm>
          <a:prstGeom prst="rect">
            <a:avLst/>
          </a:prstGeom>
        </p:spPr>
      </p:pic>
      <p:pic>
        <p:nvPicPr>
          <p:cNvPr id="109" name="meta"/>
          <p:cNvPicPr/>
          <p:nvPr/>
        </p:nvPicPr>
        <p:blipFill>
          <a:blip r:embed="rId40"/>
          <a:stretch>
            <a:fillRect/>
          </a:stretch>
        </p:blipFill>
        <p:spPr>
          <a:xfrm>
            <a:off x="8277225" y="7581900"/>
            <a:ext cx="276225" cy="276225"/>
          </a:xfrm>
          <a:prstGeom prst="rect">
            <a:avLst/>
          </a:prstGeom>
        </p:spPr>
      </p:pic>
      <p:pic>
        <p:nvPicPr>
          <p:cNvPr id="110" name="meta"/>
          <p:cNvPicPr/>
          <p:nvPr/>
        </p:nvPicPr>
        <p:blipFill>
          <a:blip r:embed="rId41"/>
          <a:stretch>
            <a:fillRect/>
          </a:stretch>
        </p:blipFill>
        <p:spPr>
          <a:xfrm>
            <a:off x="8277225" y="8091488"/>
            <a:ext cx="276225" cy="276225"/>
          </a:xfrm>
          <a:prstGeom prst="rect">
            <a:avLst/>
          </a:prstGeom>
        </p:spPr>
      </p:pic>
      <p:pic>
        <p:nvPicPr>
          <p:cNvPr id="111" name="meta"/>
          <p:cNvPicPr/>
          <p:nvPr/>
        </p:nvPicPr>
        <p:blipFill>
          <a:blip r:embed="rId42"/>
          <a:stretch>
            <a:fillRect/>
          </a:stretch>
        </p:blipFill>
        <p:spPr>
          <a:xfrm>
            <a:off x="8277225" y="8591550"/>
            <a:ext cx="276225" cy="276225"/>
          </a:xfrm>
          <a:prstGeom prst="rect">
            <a:avLst/>
          </a:prstGeom>
        </p:spPr>
      </p:pic>
      <p:pic>
        <p:nvPicPr>
          <p:cNvPr id="112" name="microsoft"/>
          <p:cNvPicPr/>
          <p:nvPr/>
        </p:nvPicPr>
        <p:blipFill>
          <a:blip r:embed="rId43"/>
          <a:stretch>
            <a:fillRect/>
          </a:stretch>
        </p:blipFill>
        <p:spPr>
          <a:xfrm>
            <a:off x="8277225" y="9934575"/>
            <a:ext cx="276225" cy="276225"/>
          </a:xfrm>
          <a:prstGeom prst="rect">
            <a:avLst/>
          </a:prstGeom>
        </p:spPr>
      </p:pic>
      <p:pic>
        <p:nvPicPr>
          <p:cNvPr id="113" name="anthropic"/>
          <p:cNvPicPr/>
          <p:nvPr/>
        </p:nvPicPr>
        <p:blipFill>
          <a:blip r:embed="rId44"/>
          <a:stretch>
            <a:fillRect/>
          </a:stretch>
        </p:blipFill>
        <p:spPr>
          <a:xfrm>
            <a:off x="8277225" y="11496675"/>
            <a:ext cx="276225" cy="276225"/>
          </a:xfrm>
          <a:prstGeom prst="rect">
            <a:avLst/>
          </a:prstGeom>
        </p:spPr>
      </p:pic>
      <p:pic>
        <p:nvPicPr>
          <p:cNvPr id="114" name="minnesota"/>
          <p:cNvPicPr/>
          <p:nvPr/>
        </p:nvPicPr>
        <p:blipFill>
          <a:blip r:embed="rId45"/>
          <a:stretch>
            <a:fillRect/>
          </a:stretch>
        </p:blipFill>
        <p:spPr>
          <a:xfrm>
            <a:off x="10010775" y="2800350"/>
            <a:ext cx="276225" cy="276225"/>
          </a:xfrm>
          <a:prstGeom prst="rect">
            <a:avLst/>
          </a:prstGeom>
        </p:spPr>
      </p:pic>
      <p:pic>
        <p:nvPicPr>
          <p:cNvPr id="115" name="meta"/>
          <p:cNvPicPr/>
          <p:nvPr/>
        </p:nvPicPr>
        <p:blipFill>
          <a:blip r:embed="rId46"/>
          <a:stretch>
            <a:fillRect/>
          </a:stretch>
        </p:blipFill>
        <p:spPr>
          <a:xfrm>
            <a:off x="10010775" y="4076700"/>
            <a:ext cx="276225" cy="276225"/>
          </a:xfrm>
          <a:prstGeom prst="rect">
            <a:avLst/>
          </a:prstGeom>
        </p:spPr>
      </p:pic>
      <p:pic>
        <p:nvPicPr>
          <p:cNvPr id="116" name="deepmind"/>
          <p:cNvPicPr/>
          <p:nvPr/>
        </p:nvPicPr>
        <p:blipFill>
          <a:blip r:embed="rId47"/>
          <a:stretch>
            <a:fillRect/>
          </a:stretch>
        </p:blipFill>
        <p:spPr>
          <a:xfrm>
            <a:off x="10010775" y="5110162"/>
            <a:ext cx="276225" cy="276225"/>
          </a:xfrm>
          <a:prstGeom prst="rect">
            <a:avLst/>
          </a:prstGeom>
        </p:spPr>
      </p:pic>
      <p:pic>
        <p:nvPicPr>
          <p:cNvPr id="117" name="aiscientist"/>
          <p:cNvPicPr/>
          <p:nvPr/>
        </p:nvPicPr>
        <p:blipFill>
          <a:blip r:embed="rId48"/>
          <a:stretch>
            <a:fillRect/>
          </a:stretch>
        </p:blipFill>
        <p:spPr>
          <a:xfrm>
            <a:off x="10010775" y="6119813"/>
            <a:ext cx="276225" cy="276225"/>
          </a:xfrm>
          <a:prstGeom prst="rect">
            <a:avLst/>
          </a:prstGeom>
        </p:spPr>
      </p:pic>
      <p:pic>
        <p:nvPicPr>
          <p:cNvPr id="118" name="aiscientist"/>
          <p:cNvPicPr/>
          <p:nvPr/>
        </p:nvPicPr>
        <p:blipFill>
          <a:blip r:embed="rId49"/>
          <a:stretch>
            <a:fillRect/>
          </a:stretch>
        </p:blipFill>
        <p:spPr>
          <a:xfrm>
            <a:off x="10010775" y="7829550"/>
            <a:ext cx="276225" cy="276225"/>
          </a:xfrm>
          <a:prstGeom prst="rect">
            <a:avLst/>
          </a:prstGeom>
        </p:spPr>
      </p:pic>
      <p:pic>
        <p:nvPicPr>
          <p:cNvPr id="119" name="microsoft"/>
          <p:cNvPicPr/>
          <p:nvPr/>
        </p:nvPicPr>
        <p:blipFill>
          <a:blip r:embed="rId50"/>
          <a:stretch>
            <a:fillRect/>
          </a:stretch>
        </p:blipFill>
        <p:spPr>
          <a:xfrm>
            <a:off x="10010775" y="9496425"/>
            <a:ext cx="276225" cy="276225"/>
          </a:xfrm>
          <a:prstGeom prst="rect">
            <a:avLst/>
          </a:prstGeom>
        </p:spPr>
      </p:pic>
      <p:pic>
        <p:nvPicPr>
          <p:cNvPr id="120" name="deepmind"/>
          <p:cNvPicPr/>
          <p:nvPr/>
        </p:nvPicPr>
        <p:blipFill>
          <a:blip r:embed="rId51"/>
          <a:stretch>
            <a:fillRect/>
          </a:stretch>
        </p:blipFill>
        <p:spPr>
          <a:xfrm>
            <a:off x="10010775" y="10372725"/>
            <a:ext cx="276225" cy="276225"/>
          </a:xfrm>
          <a:prstGeom prst="rect">
            <a:avLst/>
          </a:prstGeom>
        </p:spPr>
      </p:pic>
      <p:pic>
        <p:nvPicPr>
          <p:cNvPr id="121" name="tum"/>
          <p:cNvPicPr/>
          <p:nvPr/>
        </p:nvPicPr>
        <p:blipFill>
          <a:blip r:embed="rId52"/>
          <a:stretch>
            <a:fillRect/>
          </a:stretch>
        </p:blipFill>
        <p:spPr>
          <a:xfrm>
            <a:off x="1476375" y="12506325"/>
            <a:ext cx="285750" cy="285750"/>
          </a:xfrm>
          <a:prstGeom prst="rect">
            <a:avLst/>
          </a:prstGeom>
        </p:spPr>
      </p:pic>
      <p:pic>
        <p:nvPicPr>
          <p:cNvPr id="122" name="deepmind"/>
          <p:cNvPicPr/>
          <p:nvPr/>
        </p:nvPicPr>
        <p:blipFill>
          <a:blip r:embed="rId53"/>
          <a:stretch>
            <a:fillRect/>
          </a:stretch>
        </p:blipFill>
        <p:spPr>
          <a:xfrm>
            <a:off x="4962525" y="12506325"/>
            <a:ext cx="285750" cy="285750"/>
          </a:xfrm>
          <a:prstGeom prst="rect">
            <a:avLst/>
          </a:prstGeom>
        </p:spPr>
      </p:pic>
      <p:pic>
        <p:nvPicPr>
          <p:cNvPr id="123" name="uber"/>
          <p:cNvPicPr/>
          <p:nvPr/>
        </p:nvPicPr>
        <p:blipFill>
          <a:blip r:embed="rId54"/>
          <a:stretch>
            <a:fillRect/>
          </a:stretch>
        </p:blipFill>
        <p:spPr>
          <a:xfrm>
            <a:off x="8448675" y="12506325"/>
            <a:ext cx="285750" cy="285750"/>
          </a:xfrm>
          <a:prstGeom prst="rect">
            <a:avLst/>
          </a:prstGeom>
        </p:spPr>
      </p:pic>
      <p:sp>
        <p:nvSpPr>
          <p:cNvPr id="124" name="TextBox 124"/>
          <p:cNvSpPr txBox="1"/>
          <p:nvPr/>
        </p:nvSpPr>
        <p:spPr>
          <a:xfrm>
            <a:off x="523875" y="133350"/>
            <a:ext cx="111442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Research routes toward recursive self-improvement</a:t>
            </a:r>
            <a:endParaRPr lang="zh-CN" sz="2700"/>
          </a:p>
        </p:txBody>
      </p:sp>
      <p:sp>
        <p:nvSpPr>
          <p:cNvPr id="125" name="TextBox 125"/>
          <p:cNvSpPr txBox="1"/>
          <p:nvPr/>
        </p:nvSpPr>
        <p:spPr>
          <a:xfrm>
            <a:off x="523875" y="609600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Selected milestones by first public year | Historical roots and the foundation-model era</a:t>
            </a:r>
            <a:endParaRPr lang="zh-CN" sz="1600"/>
          </a:p>
        </p:txBody>
      </p:sp>
      <p:sp>
        <p:nvSpPr>
          <p:cNvPr id="126" name="TextBox 126"/>
          <p:cNvSpPr txBox="1"/>
          <p:nvPr/>
        </p:nvSpPr>
        <p:spPr>
          <a:xfrm>
            <a:off x="133350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AA8447"/>
                </a:solidFill>
                <a:latin typeface="Times New Roman"/>
                <a:ea typeface="Times New Roman"/>
                <a:cs typeface="Times New Roman"/>
              </a:rPr>
              <a:t>Data &amp;</a:t>
            </a:r>
            <a:endParaRPr lang="zh-CN" sz="1800"/>
          </a:p>
          <a:p>
            <a:pPr algn="ctr"/>
            <a:r>
              <a:rPr lang="zh-CN" sz="1800" b="1">
                <a:solidFill>
                  <a:srgbClr val="AA8447"/>
                </a:solidFill>
                <a:latin typeface="Times New Roman"/>
                <a:ea typeface="Times New Roman"/>
                <a:cs typeface="Times New Roman"/>
              </a:rPr>
              <a:t>training</a:t>
            </a:r>
            <a:endParaRPr lang="zh-CN" sz="1800"/>
          </a:p>
        </p:txBody>
      </p:sp>
      <p:sp>
        <p:nvSpPr>
          <p:cNvPr id="127" name="TextBox 127"/>
          <p:cNvSpPr txBox="1"/>
          <p:nvPr/>
        </p:nvSpPr>
        <p:spPr>
          <a:xfrm>
            <a:off x="132397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Synthetic data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Persistent updates</a:t>
            </a:r>
            <a:endParaRPr lang="zh-CN" sz="1250"/>
          </a:p>
        </p:txBody>
      </p:sp>
      <p:sp>
        <p:nvSpPr>
          <p:cNvPr id="128" name="TextBox 128"/>
          <p:cNvSpPr txBox="1"/>
          <p:nvPr/>
        </p:nvSpPr>
        <p:spPr>
          <a:xfrm>
            <a:off x="306705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38775"/>
                </a:solidFill>
                <a:latin typeface="Times New Roman"/>
                <a:ea typeface="Times New Roman"/>
                <a:cs typeface="Times New Roman"/>
              </a:rPr>
              <a:t>Tasks &amp;</a:t>
            </a:r>
            <a:endParaRPr lang="zh-CN" sz="1800"/>
          </a:p>
          <a:p>
            <a:pPr algn="ctr"/>
            <a:r>
              <a:rPr lang="zh-CN" sz="1800" b="1">
                <a:solidFill>
                  <a:srgbClr val="438775"/>
                </a:solidFill>
                <a:latin typeface="Times New Roman"/>
                <a:ea typeface="Times New Roman"/>
                <a:cs typeface="Times New Roman"/>
              </a:rPr>
              <a:t>curricula</a:t>
            </a:r>
            <a:endParaRPr lang="zh-CN" sz="1800"/>
          </a:p>
        </p:txBody>
      </p:sp>
      <p:sp>
        <p:nvSpPr>
          <p:cNvPr id="129" name="TextBox 129"/>
          <p:cNvSpPr txBox="1"/>
          <p:nvPr/>
        </p:nvSpPr>
        <p:spPr>
          <a:xfrm>
            <a:off x="305752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Task generation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Environment feedback</a:t>
            </a:r>
            <a:endParaRPr lang="zh-CN" sz="1250"/>
          </a:p>
        </p:txBody>
      </p:sp>
      <p:sp>
        <p:nvSpPr>
          <p:cNvPr id="130" name="TextBox 130"/>
          <p:cNvSpPr txBox="1"/>
          <p:nvPr/>
        </p:nvSpPr>
        <p:spPr>
          <a:xfrm>
            <a:off x="480060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D87A3"/>
                </a:solidFill>
                <a:latin typeface="Times New Roman"/>
                <a:ea typeface="Times New Roman"/>
                <a:cs typeface="Times New Roman"/>
              </a:rPr>
              <a:t>Memory &amp;</a:t>
            </a:r>
            <a:endParaRPr lang="zh-CN" sz="1800"/>
          </a:p>
          <a:p>
            <a:pPr algn="ctr"/>
            <a:r>
              <a:rPr lang="zh-CN" sz="1800" b="1">
                <a:solidFill>
                  <a:srgbClr val="4D87A3"/>
                </a:solidFill>
                <a:latin typeface="Times New Roman"/>
                <a:ea typeface="Times New Roman"/>
                <a:cs typeface="Times New Roman"/>
              </a:rPr>
              <a:t>skills</a:t>
            </a:r>
            <a:endParaRPr lang="zh-CN" sz="1800"/>
          </a:p>
        </p:txBody>
      </p:sp>
      <p:sp>
        <p:nvSpPr>
          <p:cNvPr id="131" name="TextBox 131"/>
          <p:cNvSpPr txBox="1"/>
          <p:nvPr/>
        </p:nvSpPr>
        <p:spPr>
          <a:xfrm>
            <a:off x="479107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Reflective memory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Reusable knowledge</a:t>
            </a:r>
            <a:endParaRPr lang="zh-CN" sz="1250"/>
          </a:p>
        </p:txBody>
      </p:sp>
      <p:sp>
        <p:nvSpPr>
          <p:cNvPr id="132" name="TextBox 132"/>
          <p:cNvSpPr txBox="1"/>
          <p:nvPr/>
        </p:nvSpPr>
        <p:spPr>
          <a:xfrm>
            <a:off x="653415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B77B74"/>
                </a:solidFill>
                <a:latin typeface="Times New Roman"/>
                <a:ea typeface="Times New Roman"/>
                <a:cs typeface="Times New Roman"/>
              </a:rPr>
              <a:t>Code &amp;</a:t>
            </a:r>
            <a:endParaRPr lang="zh-CN" sz="1800"/>
          </a:p>
          <a:p>
            <a:pPr algn="ctr"/>
            <a:r>
              <a:rPr lang="zh-CN" sz="1800" b="1">
                <a:solidFill>
                  <a:srgbClr val="B77B74"/>
                </a:solidFill>
                <a:latin typeface="Times New Roman"/>
                <a:ea typeface="Times New Roman"/>
                <a:cs typeface="Times New Roman"/>
              </a:rPr>
              <a:t>workflows</a:t>
            </a:r>
            <a:endParaRPr lang="zh-CN" sz="1800"/>
          </a:p>
        </p:txBody>
      </p:sp>
      <p:sp>
        <p:nvSpPr>
          <p:cNvPr id="133" name="TextBox 133"/>
          <p:cNvSpPr txBox="1"/>
          <p:nvPr/>
        </p:nvSpPr>
        <p:spPr>
          <a:xfrm>
            <a:off x="652462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Prompts and code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Agent architectures</a:t>
            </a:r>
            <a:endParaRPr lang="zh-CN" sz="1250"/>
          </a:p>
        </p:txBody>
      </p:sp>
      <p:sp>
        <p:nvSpPr>
          <p:cNvPr id="134" name="TextBox 134"/>
          <p:cNvSpPr txBox="1"/>
          <p:nvPr/>
        </p:nvSpPr>
        <p:spPr>
          <a:xfrm>
            <a:off x="826770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916FA4"/>
                </a:solidFill>
                <a:latin typeface="Times New Roman"/>
                <a:ea typeface="Times New Roman"/>
                <a:cs typeface="Times New Roman"/>
              </a:rPr>
              <a:t>Feedback &amp;</a:t>
            </a:r>
            <a:endParaRPr lang="zh-CN" sz="1800"/>
          </a:p>
          <a:p>
            <a:pPr algn="ctr"/>
            <a:r>
              <a:rPr lang="zh-CN" sz="1800" b="1">
                <a:solidFill>
                  <a:srgbClr val="916FA4"/>
                </a:solidFill>
                <a:latin typeface="Times New Roman"/>
                <a:ea typeface="Times New Roman"/>
                <a:cs typeface="Times New Roman"/>
              </a:rPr>
              <a:t>judges</a:t>
            </a:r>
            <a:endParaRPr lang="zh-CN" sz="1800"/>
          </a:p>
        </p:txBody>
      </p:sp>
      <p:sp>
        <p:nvSpPr>
          <p:cNvPr id="135" name="TextBox 135"/>
          <p:cNvSpPr txBox="1"/>
          <p:nvPr/>
        </p:nvSpPr>
        <p:spPr>
          <a:xfrm>
            <a:off x="825817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Learned rewards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Evaluator learning</a:t>
            </a:r>
            <a:endParaRPr lang="zh-CN" sz="1250"/>
          </a:p>
        </p:txBody>
      </p:sp>
      <p:sp>
        <p:nvSpPr>
          <p:cNvPr id="136" name="TextBox 136"/>
          <p:cNvSpPr txBox="1"/>
          <p:nvPr/>
        </p:nvSpPr>
        <p:spPr>
          <a:xfrm>
            <a:off x="10001250" y="1438275"/>
            <a:ext cx="157162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B9194"/>
                </a:solidFill>
                <a:latin typeface="Times New Roman"/>
                <a:ea typeface="Times New Roman"/>
                <a:cs typeface="Times New Roman"/>
              </a:rPr>
              <a:t>Meta-level</a:t>
            </a:r>
            <a:endParaRPr lang="zh-CN" sz="1800"/>
          </a:p>
          <a:p>
            <a:pPr algn="ctr"/>
            <a:r>
              <a:rPr lang="zh-CN" sz="1800" b="1">
                <a:solidFill>
                  <a:srgbClr val="4B9194"/>
                </a:solidFill>
                <a:latin typeface="Times New Roman"/>
                <a:ea typeface="Times New Roman"/>
                <a:cs typeface="Times New Roman"/>
              </a:rPr>
              <a:t>improvement</a:t>
            </a:r>
            <a:endParaRPr lang="zh-CN" sz="1800"/>
          </a:p>
        </p:txBody>
      </p:sp>
      <p:sp>
        <p:nvSpPr>
          <p:cNvPr id="137" name="TextBox 137"/>
          <p:cNvSpPr txBox="1"/>
          <p:nvPr/>
        </p:nvSpPr>
        <p:spPr>
          <a:xfrm>
            <a:off x="9991725" y="1990725"/>
            <a:ext cx="15906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Update strategies</a:t>
            </a:r>
            <a:endParaRPr lang="zh-CN" sz="1250"/>
          </a:p>
          <a:p>
            <a:pPr algn="ctr"/>
            <a:r>
              <a:rPr lang="zh-CN" sz="1250" b="1">
                <a:solidFill>
                  <a:srgbClr val="5E6060"/>
                </a:solidFill>
                <a:latin typeface="Times New Roman"/>
                <a:ea typeface="Times New Roman"/>
                <a:cs typeface="Times New Roman"/>
              </a:rPr>
              <a:t>Research automation</a:t>
            </a:r>
            <a:endParaRPr lang="zh-CN" sz="1250"/>
          </a:p>
        </p:txBody>
      </p:sp>
      <p:sp>
        <p:nvSpPr>
          <p:cNvPr id="138" name="TextBox 138"/>
          <p:cNvSpPr txBox="1"/>
          <p:nvPr/>
        </p:nvSpPr>
        <p:spPr>
          <a:xfrm>
            <a:off x="447675" y="3429000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sz="1800"/>
          </a:p>
        </p:txBody>
      </p:sp>
      <p:sp>
        <p:nvSpPr>
          <p:cNvPr id="139" name="TextBox 139"/>
          <p:cNvSpPr txBox="1"/>
          <p:nvPr/>
        </p:nvSpPr>
        <p:spPr>
          <a:xfrm>
            <a:off x="447675" y="5619750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sz="1800"/>
          </a:p>
        </p:txBody>
      </p:sp>
      <p:sp>
        <p:nvSpPr>
          <p:cNvPr id="140" name="TextBox 140"/>
          <p:cNvSpPr txBox="1"/>
          <p:nvPr/>
        </p:nvSpPr>
        <p:spPr>
          <a:xfrm>
            <a:off x="447675" y="7829550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sz="1800"/>
          </a:p>
        </p:txBody>
      </p:sp>
      <p:sp>
        <p:nvSpPr>
          <p:cNvPr id="141" name="TextBox 141"/>
          <p:cNvSpPr txBox="1"/>
          <p:nvPr/>
        </p:nvSpPr>
        <p:spPr>
          <a:xfrm>
            <a:off x="447675" y="9925050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sz="1800"/>
          </a:p>
        </p:txBody>
      </p:sp>
      <p:sp>
        <p:nvSpPr>
          <p:cNvPr id="142" name="TextBox 142"/>
          <p:cNvSpPr txBox="1"/>
          <p:nvPr/>
        </p:nvSpPr>
        <p:spPr>
          <a:xfrm>
            <a:off x="447675" y="11506200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sz="1800"/>
          </a:p>
        </p:txBody>
      </p:sp>
      <p:sp>
        <p:nvSpPr>
          <p:cNvPr id="143" name="TextBox 143"/>
          <p:cNvSpPr txBox="1"/>
          <p:nvPr/>
        </p:nvSpPr>
        <p:spPr>
          <a:xfrm>
            <a:off x="1619250" y="50577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SEAL</a:t>
            </a:r>
            <a:endParaRPr lang="zh-CN" sz="1550"/>
          </a:p>
        </p:txBody>
      </p:sp>
      <p:sp>
        <p:nvSpPr>
          <p:cNvPr id="144" name="TextBox 144"/>
          <p:cNvSpPr txBox="1"/>
          <p:nvPr/>
        </p:nvSpPr>
        <p:spPr>
          <a:xfrm>
            <a:off x="1619250" y="6057900"/>
            <a:ext cx="130492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TTRL</a:t>
            </a:r>
            <a:endParaRPr lang="zh-CN" sz="1550"/>
          </a:p>
        </p:txBody>
      </p:sp>
      <p:sp>
        <p:nvSpPr>
          <p:cNvPr id="145" name="TextBox 145"/>
          <p:cNvSpPr txBox="1"/>
          <p:nvPr/>
        </p:nvSpPr>
        <p:spPr>
          <a:xfrm>
            <a:off x="1619250" y="70389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SCoRe</a:t>
            </a:r>
            <a:endParaRPr lang="zh-CN" sz="1550"/>
          </a:p>
        </p:txBody>
      </p:sp>
      <p:sp>
        <p:nvSpPr>
          <p:cNvPr id="146" name="TextBox 146"/>
          <p:cNvSpPr txBox="1"/>
          <p:nvPr/>
        </p:nvSpPr>
        <p:spPr>
          <a:xfrm>
            <a:off x="1619250" y="7524750"/>
            <a:ext cx="13049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RISE</a:t>
            </a:r>
            <a:endParaRPr lang="zh-CN" sz="1550"/>
          </a:p>
        </p:txBody>
      </p:sp>
      <p:sp>
        <p:nvSpPr>
          <p:cNvPr id="147" name="TextBox 147"/>
          <p:cNvSpPr txBox="1"/>
          <p:nvPr/>
        </p:nvSpPr>
        <p:spPr>
          <a:xfrm>
            <a:off x="1619250" y="80105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Quiet-STaR</a:t>
            </a:r>
            <a:endParaRPr lang="zh-CN" sz="1550"/>
          </a:p>
        </p:txBody>
      </p:sp>
      <p:sp>
        <p:nvSpPr>
          <p:cNvPr id="148" name="TextBox 148"/>
          <p:cNvSpPr txBox="1"/>
          <p:nvPr/>
        </p:nvSpPr>
        <p:spPr>
          <a:xfrm>
            <a:off x="1619250" y="85058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SPIN</a:t>
            </a:r>
            <a:endParaRPr lang="zh-CN" sz="1550"/>
          </a:p>
        </p:txBody>
      </p:sp>
      <p:sp>
        <p:nvSpPr>
          <p:cNvPr id="149" name="TextBox 149"/>
          <p:cNvSpPr txBox="1"/>
          <p:nvPr/>
        </p:nvSpPr>
        <p:spPr>
          <a:xfrm>
            <a:off x="1619250" y="94297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ReSTᴱᴹ</a:t>
            </a:r>
            <a:endParaRPr lang="zh-CN" sz="1550"/>
          </a:p>
        </p:txBody>
      </p:sp>
      <p:sp>
        <p:nvSpPr>
          <p:cNvPr id="150" name="TextBox 150"/>
          <p:cNvSpPr txBox="1"/>
          <p:nvPr/>
        </p:nvSpPr>
        <p:spPr>
          <a:xfrm>
            <a:off x="1619250" y="103155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ReST</a:t>
            </a:r>
            <a:endParaRPr lang="zh-CN" sz="1550"/>
          </a:p>
        </p:txBody>
      </p:sp>
      <p:sp>
        <p:nvSpPr>
          <p:cNvPr id="151" name="TextBox 151"/>
          <p:cNvSpPr txBox="1"/>
          <p:nvPr/>
        </p:nvSpPr>
        <p:spPr>
          <a:xfrm>
            <a:off x="1619250" y="112109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  <a:endParaRPr lang="zh-CN" sz="1550"/>
          </a:p>
        </p:txBody>
      </p:sp>
      <p:sp>
        <p:nvSpPr>
          <p:cNvPr id="152" name="TextBox 152"/>
          <p:cNvSpPr txBox="1"/>
          <p:nvPr/>
        </p:nvSpPr>
        <p:spPr>
          <a:xfrm>
            <a:off x="1619250" y="116776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lang="zh-CN" sz="1550"/>
          </a:p>
        </p:txBody>
      </p:sp>
      <p:sp>
        <p:nvSpPr>
          <p:cNvPr id="153" name="TextBox 153"/>
          <p:cNvSpPr txBox="1"/>
          <p:nvPr/>
        </p:nvSpPr>
        <p:spPr>
          <a:xfrm>
            <a:off x="3352800" y="48768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AgentEvolver</a:t>
            </a:r>
            <a:endParaRPr lang="zh-CN" sz="1550"/>
          </a:p>
        </p:txBody>
      </p:sp>
      <p:sp>
        <p:nvSpPr>
          <p:cNvPr id="154" name="TextBox 154"/>
          <p:cNvSpPr txBox="1"/>
          <p:nvPr/>
        </p:nvSpPr>
        <p:spPr>
          <a:xfrm>
            <a:off x="3352800" y="55530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R-Zero</a:t>
            </a:r>
            <a:endParaRPr lang="zh-CN" sz="1550"/>
          </a:p>
        </p:txBody>
      </p:sp>
      <p:sp>
        <p:nvSpPr>
          <p:cNvPr id="155" name="TextBox 155"/>
          <p:cNvSpPr txBox="1"/>
          <p:nvPr/>
        </p:nvSpPr>
        <p:spPr>
          <a:xfrm>
            <a:off x="3352800" y="6191250"/>
            <a:ext cx="1304925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Absolute</a:t>
            </a:r>
            <a:endParaRPr lang="zh-CN" sz="1550"/>
          </a:p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Zero</a:t>
            </a:r>
            <a:endParaRPr lang="zh-CN" sz="1550"/>
          </a:p>
        </p:txBody>
      </p:sp>
      <p:sp>
        <p:nvSpPr>
          <p:cNvPr id="156" name="TextBox 156"/>
          <p:cNvSpPr txBox="1"/>
          <p:nvPr/>
        </p:nvSpPr>
        <p:spPr>
          <a:xfrm>
            <a:off x="3352800" y="77724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AgentGym</a:t>
            </a:r>
            <a:endParaRPr lang="zh-CN" sz="1550"/>
          </a:p>
        </p:txBody>
      </p:sp>
      <p:sp>
        <p:nvSpPr>
          <p:cNvPr id="157" name="TextBox 157"/>
          <p:cNvSpPr txBox="1"/>
          <p:nvPr/>
        </p:nvSpPr>
        <p:spPr>
          <a:xfrm>
            <a:off x="5086350" y="33813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MetaClaw</a:t>
            </a:r>
            <a:endParaRPr lang="zh-CN" sz="1550"/>
          </a:p>
        </p:txBody>
      </p:sp>
      <p:sp>
        <p:nvSpPr>
          <p:cNvPr id="158" name="TextBox 158"/>
          <p:cNvSpPr txBox="1"/>
          <p:nvPr/>
        </p:nvSpPr>
        <p:spPr>
          <a:xfrm>
            <a:off x="5086350" y="48768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ACE</a:t>
            </a:r>
            <a:endParaRPr lang="zh-CN" sz="1550"/>
          </a:p>
        </p:txBody>
      </p:sp>
      <p:sp>
        <p:nvSpPr>
          <p:cNvPr id="159" name="TextBox 159"/>
          <p:cNvSpPr txBox="1"/>
          <p:nvPr/>
        </p:nvSpPr>
        <p:spPr>
          <a:xfrm>
            <a:off x="5086350" y="5505450"/>
            <a:ext cx="1304925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Dynamic</a:t>
            </a:r>
            <a:endParaRPr lang="zh-CN" sz="1450"/>
          </a:p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Cheatsheet</a:t>
            </a:r>
            <a:endParaRPr lang="zh-CN" sz="1450"/>
          </a:p>
        </p:txBody>
      </p:sp>
      <p:sp>
        <p:nvSpPr>
          <p:cNvPr id="160" name="TextBox 160"/>
          <p:cNvSpPr txBox="1"/>
          <p:nvPr/>
        </p:nvSpPr>
        <p:spPr>
          <a:xfrm>
            <a:off x="5086350" y="6200775"/>
            <a:ext cx="13049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A-MEM</a:t>
            </a:r>
            <a:endParaRPr lang="zh-CN" sz="1550"/>
          </a:p>
        </p:txBody>
      </p:sp>
      <p:sp>
        <p:nvSpPr>
          <p:cNvPr id="161" name="TextBox 161"/>
          <p:cNvSpPr txBox="1"/>
          <p:nvPr/>
        </p:nvSpPr>
        <p:spPr>
          <a:xfrm>
            <a:off x="5086350" y="92773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ExpeL</a:t>
            </a:r>
            <a:endParaRPr lang="zh-CN" sz="1550"/>
          </a:p>
        </p:txBody>
      </p:sp>
      <p:sp>
        <p:nvSpPr>
          <p:cNvPr id="162" name="TextBox 162"/>
          <p:cNvSpPr txBox="1"/>
          <p:nvPr/>
        </p:nvSpPr>
        <p:spPr>
          <a:xfrm>
            <a:off x="5086350" y="98679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Voyager</a:t>
            </a:r>
            <a:endParaRPr lang="zh-CN" sz="1550"/>
          </a:p>
        </p:txBody>
      </p:sp>
      <p:sp>
        <p:nvSpPr>
          <p:cNvPr id="163" name="TextBox 163"/>
          <p:cNvSpPr txBox="1"/>
          <p:nvPr/>
        </p:nvSpPr>
        <p:spPr>
          <a:xfrm>
            <a:off x="5086350" y="104584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Reflexion</a:t>
            </a:r>
            <a:endParaRPr lang="zh-CN" sz="1550"/>
          </a:p>
        </p:txBody>
      </p:sp>
      <p:sp>
        <p:nvSpPr>
          <p:cNvPr id="164" name="TextBox 164"/>
          <p:cNvSpPr txBox="1"/>
          <p:nvPr/>
        </p:nvSpPr>
        <p:spPr>
          <a:xfrm>
            <a:off x="6819900" y="3352800"/>
            <a:ext cx="130492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Prime Agent</a:t>
            </a:r>
            <a:endParaRPr lang="zh-CN" sz="1550"/>
          </a:p>
        </p:txBody>
      </p:sp>
      <p:sp>
        <p:nvSpPr>
          <p:cNvPr id="165" name="TextBox 165"/>
          <p:cNvSpPr txBox="1"/>
          <p:nvPr/>
        </p:nvSpPr>
        <p:spPr>
          <a:xfrm>
            <a:off x="6819900" y="48863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GEPA</a:t>
            </a:r>
            <a:endParaRPr lang="zh-CN" sz="1550"/>
          </a:p>
        </p:txBody>
      </p:sp>
      <p:sp>
        <p:nvSpPr>
          <p:cNvPr id="166" name="TextBox 166"/>
          <p:cNvSpPr txBox="1"/>
          <p:nvPr/>
        </p:nvSpPr>
        <p:spPr>
          <a:xfrm>
            <a:off x="6819900" y="5562600"/>
            <a:ext cx="130492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DGM</a:t>
            </a:r>
            <a:endParaRPr lang="zh-CN" sz="1550"/>
          </a:p>
        </p:txBody>
      </p:sp>
      <p:sp>
        <p:nvSpPr>
          <p:cNvPr id="167" name="TextBox 167"/>
          <p:cNvSpPr txBox="1"/>
          <p:nvPr/>
        </p:nvSpPr>
        <p:spPr>
          <a:xfrm>
            <a:off x="6819900" y="62103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SICA</a:t>
            </a:r>
            <a:endParaRPr lang="zh-CN" sz="1550"/>
          </a:p>
        </p:txBody>
      </p:sp>
      <p:sp>
        <p:nvSpPr>
          <p:cNvPr id="168" name="TextBox 168"/>
          <p:cNvSpPr txBox="1"/>
          <p:nvPr/>
        </p:nvSpPr>
        <p:spPr>
          <a:xfrm>
            <a:off x="6819900" y="70961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AFlow</a:t>
            </a:r>
            <a:endParaRPr lang="zh-CN" sz="1550"/>
          </a:p>
        </p:txBody>
      </p:sp>
      <p:sp>
        <p:nvSpPr>
          <p:cNvPr id="169" name="TextBox 169"/>
          <p:cNvSpPr txBox="1"/>
          <p:nvPr/>
        </p:nvSpPr>
        <p:spPr>
          <a:xfrm>
            <a:off x="6819900" y="77724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ADAS</a:t>
            </a:r>
            <a:endParaRPr lang="zh-CN" sz="1550"/>
          </a:p>
        </p:txBody>
      </p:sp>
      <p:sp>
        <p:nvSpPr>
          <p:cNvPr id="170" name="TextBox 170"/>
          <p:cNvSpPr txBox="1"/>
          <p:nvPr/>
        </p:nvSpPr>
        <p:spPr>
          <a:xfrm>
            <a:off x="6819900" y="84486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TextGrad</a:t>
            </a:r>
            <a:endParaRPr lang="zh-CN" sz="1550"/>
          </a:p>
        </p:txBody>
      </p:sp>
      <p:sp>
        <p:nvSpPr>
          <p:cNvPr id="171" name="TextBox 171"/>
          <p:cNvSpPr txBox="1"/>
          <p:nvPr/>
        </p:nvSpPr>
        <p:spPr>
          <a:xfrm>
            <a:off x="6819900" y="94297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DSPy</a:t>
            </a:r>
            <a:endParaRPr lang="zh-CN" sz="1550"/>
          </a:p>
        </p:txBody>
      </p:sp>
      <p:sp>
        <p:nvSpPr>
          <p:cNvPr id="172" name="TextBox 172"/>
          <p:cNvSpPr txBox="1"/>
          <p:nvPr/>
        </p:nvSpPr>
        <p:spPr>
          <a:xfrm>
            <a:off x="6819900" y="103060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OPRO</a:t>
            </a:r>
            <a:endParaRPr lang="zh-CN" sz="1550"/>
          </a:p>
        </p:txBody>
      </p:sp>
      <p:sp>
        <p:nvSpPr>
          <p:cNvPr id="173" name="TextBox 173"/>
          <p:cNvSpPr txBox="1"/>
          <p:nvPr/>
        </p:nvSpPr>
        <p:spPr>
          <a:xfrm>
            <a:off x="8553450" y="5372100"/>
            <a:ext cx="1304925" cy="714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Process</a:t>
            </a:r>
            <a:endParaRPr lang="zh-CN" sz="1450"/>
          </a:p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sz="1450"/>
          </a:p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sz="1450"/>
          </a:p>
        </p:txBody>
      </p:sp>
      <p:sp>
        <p:nvSpPr>
          <p:cNvPr id="174" name="TextBox 174"/>
          <p:cNvSpPr txBox="1"/>
          <p:nvPr/>
        </p:nvSpPr>
        <p:spPr>
          <a:xfrm>
            <a:off x="8553450" y="70199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CREAM</a:t>
            </a:r>
            <a:endParaRPr lang="zh-CN" sz="1550"/>
          </a:p>
        </p:txBody>
      </p:sp>
      <p:sp>
        <p:nvSpPr>
          <p:cNvPr id="175" name="TextBox 175"/>
          <p:cNvSpPr txBox="1"/>
          <p:nvPr/>
        </p:nvSpPr>
        <p:spPr>
          <a:xfrm>
            <a:off x="8553450" y="7467600"/>
            <a:ext cx="130492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Self-Taught</a:t>
            </a:r>
            <a:endParaRPr lang="zh-CN" sz="1450"/>
          </a:p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Evaluators</a:t>
            </a:r>
            <a:endParaRPr lang="zh-CN" sz="1450"/>
          </a:p>
        </p:txBody>
      </p:sp>
      <p:sp>
        <p:nvSpPr>
          <p:cNvPr id="176" name="TextBox 176"/>
          <p:cNvSpPr txBox="1"/>
          <p:nvPr/>
        </p:nvSpPr>
        <p:spPr>
          <a:xfrm>
            <a:off x="8553450" y="8010525"/>
            <a:ext cx="1304925" cy="4381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Meta-</a:t>
            </a:r>
            <a:endParaRPr lang="zh-CN" sz="1550"/>
          </a:p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sz="1550"/>
          </a:p>
        </p:txBody>
      </p:sp>
      <p:sp>
        <p:nvSpPr>
          <p:cNvPr id="177" name="TextBox 177"/>
          <p:cNvSpPr txBox="1"/>
          <p:nvPr/>
        </p:nvSpPr>
        <p:spPr>
          <a:xfrm>
            <a:off x="8553450" y="8486775"/>
            <a:ext cx="1304925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sz="1550"/>
          </a:p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sz="1550"/>
          </a:p>
        </p:txBody>
      </p:sp>
      <p:sp>
        <p:nvSpPr>
          <p:cNvPr id="178" name="TextBox 178"/>
          <p:cNvSpPr txBox="1"/>
          <p:nvPr/>
        </p:nvSpPr>
        <p:spPr>
          <a:xfrm>
            <a:off x="8553450" y="987742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CRITIC</a:t>
            </a:r>
            <a:endParaRPr lang="zh-CN" sz="1550"/>
          </a:p>
        </p:txBody>
      </p:sp>
      <p:sp>
        <p:nvSpPr>
          <p:cNvPr id="179" name="TextBox 179"/>
          <p:cNvSpPr txBox="1"/>
          <p:nvPr/>
        </p:nvSpPr>
        <p:spPr>
          <a:xfrm>
            <a:off x="8553450" y="11391900"/>
            <a:ext cx="1304925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Constitutional</a:t>
            </a:r>
            <a:endParaRPr lang="zh-CN" sz="1550"/>
          </a:p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sz="1550"/>
          </a:p>
        </p:txBody>
      </p:sp>
      <p:sp>
        <p:nvSpPr>
          <p:cNvPr id="180" name="TextBox 180"/>
          <p:cNvSpPr txBox="1"/>
          <p:nvPr/>
        </p:nvSpPr>
        <p:spPr>
          <a:xfrm>
            <a:off x="10287000" y="27432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Metaⁿ</a:t>
            </a:r>
            <a:endParaRPr lang="zh-CN" sz="1550"/>
          </a:p>
        </p:txBody>
      </p:sp>
      <p:sp>
        <p:nvSpPr>
          <p:cNvPr id="181" name="TextBox 181"/>
          <p:cNvSpPr txBox="1"/>
          <p:nvPr/>
        </p:nvSpPr>
        <p:spPr>
          <a:xfrm>
            <a:off x="10001250" y="3457575"/>
            <a:ext cx="2857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Ind.</a:t>
            </a:r>
            <a:endParaRPr lang="zh-CN" sz="900"/>
          </a:p>
        </p:txBody>
      </p:sp>
      <p:sp>
        <p:nvSpPr>
          <p:cNvPr id="182" name="TextBox 182"/>
          <p:cNvSpPr txBox="1"/>
          <p:nvPr/>
        </p:nvSpPr>
        <p:spPr>
          <a:xfrm>
            <a:off x="10287000" y="3314700"/>
            <a:ext cx="1304925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Bilevel</a:t>
            </a:r>
            <a:endParaRPr lang="zh-CN" sz="1450"/>
          </a:p>
          <a:p>
            <a:pPr algn="ctr"/>
            <a:r>
              <a:rPr lang="zh-CN" sz="14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Autoresearch</a:t>
            </a:r>
            <a:endParaRPr lang="zh-CN" sz="1450"/>
          </a:p>
        </p:txBody>
      </p:sp>
      <p:sp>
        <p:nvSpPr>
          <p:cNvPr id="183" name="TextBox 183"/>
          <p:cNvSpPr txBox="1"/>
          <p:nvPr/>
        </p:nvSpPr>
        <p:spPr>
          <a:xfrm>
            <a:off x="10287000" y="401955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  <a:endParaRPr lang="zh-CN" sz="1550"/>
          </a:p>
        </p:txBody>
      </p:sp>
      <p:sp>
        <p:nvSpPr>
          <p:cNvPr id="184" name="TextBox 184"/>
          <p:cNvSpPr txBox="1"/>
          <p:nvPr/>
        </p:nvSpPr>
        <p:spPr>
          <a:xfrm>
            <a:off x="10287000" y="5048250"/>
            <a:ext cx="13049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AlphaEvolve</a:t>
            </a:r>
            <a:endParaRPr lang="zh-CN" sz="1550"/>
          </a:p>
        </p:txBody>
      </p:sp>
      <p:sp>
        <p:nvSpPr>
          <p:cNvPr id="185" name="TextBox 185"/>
          <p:cNvSpPr txBox="1"/>
          <p:nvPr/>
        </p:nvSpPr>
        <p:spPr>
          <a:xfrm>
            <a:off x="10287000" y="6019800"/>
            <a:ext cx="1304925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sz="1550"/>
          </a:p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Scientist-v2</a:t>
            </a:r>
            <a:endParaRPr lang="zh-CN" sz="1550"/>
          </a:p>
        </p:txBody>
      </p:sp>
      <p:sp>
        <p:nvSpPr>
          <p:cNvPr id="186" name="TextBox 186"/>
          <p:cNvSpPr txBox="1"/>
          <p:nvPr/>
        </p:nvSpPr>
        <p:spPr>
          <a:xfrm>
            <a:off x="10287000" y="7772400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AI Scientist</a:t>
            </a:r>
            <a:endParaRPr lang="zh-CN" sz="1550"/>
          </a:p>
        </p:txBody>
      </p:sp>
      <p:sp>
        <p:nvSpPr>
          <p:cNvPr id="187" name="TextBox 187"/>
          <p:cNvSpPr txBox="1"/>
          <p:nvPr/>
        </p:nvSpPr>
        <p:spPr>
          <a:xfrm>
            <a:off x="10287000" y="94392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STOP</a:t>
            </a:r>
            <a:endParaRPr lang="zh-CN" sz="1550"/>
          </a:p>
        </p:txBody>
      </p:sp>
      <p:sp>
        <p:nvSpPr>
          <p:cNvPr id="188" name="TextBox 188"/>
          <p:cNvSpPr txBox="1"/>
          <p:nvPr/>
        </p:nvSpPr>
        <p:spPr>
          <a:xfrm>
            <a:off x="10287000" y="10315575"/>
            <a:ext cx="13049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  <a:endParaRPr lang="zh-CN" sz="1550"/>
          </a:p>
        </p:txBody>
      </p:sp>
      <p:sp>
        <p:nvSpPr>
          <p:cNvPr id="189" name="TextBox 189"/>
          <p:cNvSpPr txBox="1"/>
          <p:nvPr/>
        </p:nvSpPr>
        <p:spPr>
          <a:xfrm>
            <a:off x="1885950" y="12477750"/>
            <a:ext cx="271462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Gödel Machine</a:t>
            </a:r>
            <a:endParaRPr lang="zh-CN" sz="1800"/>
          </a:p>
        </p:txBody>
      </p:sp>
      <p:sp>
        <p:nvSpPr>
          <p:cNvPr id="190" name="TextBox 190"/>
          <p:cNvSpPr txBox="1"/>
          <p:nvPr/>
        </p:nvSpPr>
        <p:spPr>
          <a:xfrm>
            <a:off x="1514475" y="12801600"/>
            <a:ext cx="31718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2003 | Provable self-modification</a:t>
            </a:r>
            <a:endParaRPr lang="zh-CN" sz="1300"/>
          </a:p>
        </p:txBody>
      </p:sp>
      <p:sp>
        <p:nvSpPr>
          <p:cNvPr id="191" name="TextBox 191"/>
          <p:cNvSpPr txBox="1"/>
          <p:nvPr/>
        </p:nvSpPr>
        <p:spPr>
          <a:xfrm>
            <a:off x="5372100" y="12477750"/>
            <a:ext cx="271462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Learned optimizers</a:t>
            </a:r>
            <a:endParaRPr lang="zh-CN" sz="1800"/>
          </a:p>
        </p:txBody>
      </p:sp>
      <p:sp>
        <p:nvSpPr>
          <p:cNvPr id="192" name="TextBox 192"/>
          <p:cNvSpPr txBox="1"/>
          <p:nvPr/>
        </p:nvSpPr>
        <p:spPr>
          <a:xfrm>
            <a:off x="5000625" y="12801600"/>
            <a:ext cx="31718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2016 | Learning update rules</a:t>
            </a:r>
            <a:endParaRPr lang="zh-CN" sz="1300"/>
          </a:p>
        </p:txBody>
      </p:sp>
      <p:sp>
        <p:nvSpPr>
          <p:cNvPr id="193" name="TextBox 193"/>
          <p:cNvSpPr txBox="1"/>
          <p:nvPr/>
        </p:nvSpPr>
        <p:spPr>
          <a:xfrm>
            <a:off x="8858250" y="12477750"/>
            <a:ext cx="271462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POET</a:t>
            </a:r>
            <a:endParaRPr lang="zh-CN" sz="1800"/>
          </a:p>
        </p:txBody>
      </p:sp>
      <p:sp>
        <p:nvSpPr>
          <p:cNvPr id="194" name="TextBox 194"/>
          <p:cNvSpPr txBox="1"/>
          <p:nvPr/>
        </p:nvSpPr>
        <p:spPr>
          <a:xfrm>
            <a:off x="8486775" y="12801600"/>
            <a:ext cx="31718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30343A"/>
                </a:solidFill>
                <a:latin typeface="Times New Roman"/>
                <a:ea typeface="Times New Roman"/>
                <a:cs typeface="Times New Roman"/>
              </a:rPr>
              <a:t>2019 | Tasks and solvers co-evolve</a:t>
            </a:r>
            <a:endParaRPr lang="zh-CN" sz="1300"/>
          </a:p>
        </p:txBody>
      </p:sp>
      <p:sp>
        <p:nvSpPr>
          <p:cNvPr id="195" name="TextBox 195"/>
          <p:cNvSpPr txBox="1"/>
          <p:nvPr/>
        </p:nvSpPr>
        <p:spPr>
          <a:xfrm>
            <a:off x="1438275" y="13230225"/>
            <a:ext cx="1028700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Marks: selected affiliations | Ind.: independent researchers | Branches: research routes, not technical ancestry</a:t>
            </a:r>
            <a:endParaRPr lang="zh-CN" sz="1300"/>
          </a:p>
        </p:txBody>
      </p:sp>
      <p:sp>
        <p:nvSpPr>
          <p:cNvPr id="196" name="TextBox 196"/>
          <p:cNvSpPr txBox="1"/>
          <p:nvPr/>
        </p:nvSpPr>
        <p:spPr>
          <a:xfrm>
            <a:off x="219075" y="136969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4. Research routes toward recursive self-improvement. Forty-five representative method papers are</a:t>
            </a:r>
            <a:endParaRPr lang="zh-CN" sz="1800"/>
          </a:p>
        </p:txBody>
      </p:sp>
      <p:sp>
        <p:nvSpPr>
          <p:cNvPr id="197" name="TextBox 197"/>
          <p:cNvSpPr txBox="1"/>
          <p:nvPr/>
        </p:nvSpPr>
        <p:spPr>
          <a:xfrm>
            <a:off x="219075" y="140398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grouped into six research routes, with three historical anchors shown separately. Year bands use the first public</a:t>
            </a:r>
            <a:endParaRPr lang="zh-CN" sz="1800"/>
          </a:p>
        </p:txBody>
      </p:sp>
      <p:sp>
        <p:nvSpPr>
          <p:cNvPr id="198" name="TextBox 198"/>
          <p:cNvSpPr txBox="1"/>
          <p:nvPr/>
        </p:nvSpPr>
        <p:spPr>
          <a:xfrm>
            <a:off x="219075" y="143827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dates in the checked source records; spacing within each band is adjusted for legibility. Branch lines denote</a:t>
            </a:r>
            <a:endParaRPr lang="zh-CN" sz="1800"/>
          </a:p>
        </p:txBody>
      </p:sp>
      <p:sp>
        <p:nvSpPr>
          <p:cNvPr id="199" name="TextBox 199"/>
          <p:cNvSpPr txBox="1"/>
          <p:nvPr/>
        </p:nvSpPr>
        <p:spPr>
          <a:xfrm>
            <a:off x="219075" y="147256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families. Technical ancestry, cross-route transfer, and sustained recursive gains require separate evidence.</a:t>
            </a:r>
            <a:endParaRPr lang="zh-CN" sz="1800"/>
          </a:p>
        </p:txBody>
      </p:sp>
      <p:sp>
        <p:nvSpPr>
          <p:cNvPr id="200" name="TextBox 200"/>
          <p:cNvSpPr txBox="1"/>
          <p:nvPr/>
        </p:nvSpPr>
        <p:spPr>
          <a:xfrm>
            <a:off x="219075" y="150685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selection reflects the literature search through September 12, 2026. Logos identify one selected author or work-</a:t>
            </a:r>
            <a:endParaRPr lang="zh-CN" sz="1800"/>
          </a:p>
        </p:txBody>
      </p:sp>
      <p:sp>
        <p:nvSpPr>
          <p:cNvPr id="201" name="TextBox 201"/>
          <p:cNvSpPr txBox="1"/>
          <p:nvPr/>
        </p:nvSpPr>
        <p:spPr>
          <a:xfrm>
            <a:off x="219075" y="154114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done affiliation per study; “Ind.” denotes independent researchers. Affiliation and logo sources are documented</a:t>
            </a:r>
            <a:endParaRPr lang="zh-CN" sz="1800"/>
          </a:p>
        </p:txBody>
      </p:sp>
      <p:sp>
        <p:nvSpPr>
          <p:cNvPr id="202" name="TextBox 202"/>
          <p:cNvSpPr txBox="1"/>
          <p:nvPr/>
        </p:nvSpPr>
        <p:spPr>
          <a:xfrm>
            <a:off x="219075" y="15754350"/>
            <a:ext cx="116871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separately.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