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897350" cy="84486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0" name="Figure 4 — task-function examples and module composition"/>
          <p:cNvGrpSpPr/>
          <p:nvPr/>
        </p:nvGrpSpPr>
        <p:grpSpPr>
          <a:xfrm>
            <a:off x="190500" y="190500"/>
            <a:ext cx="16478250" cy="8020050"/>
            <a:chOff x="190500" y="190500"/>
            <a:chExt cx="16478250" cy="8020050"/>
          </a:xfrm>
        </p:grpSpPr>
        <p:grpSp>
          <p:nvGrpSpPr>
            <p:cNvPr id="2000" name="Native task-function matrix"/>
            <p:cNvGrpSpPr/>
            <p:nvPr/>
          </p:nvGrpSpPr>
          <p:grpSpPr>
            <a:xfrm>
              <a:off x="219075" y="1152525"/>
              <a:ext cx="16449675" cy="4572000"/>
              <a:chOff x="219075" y="1152525"/>
              <a:chExt cx="16449675" cy="4572000"/>
            </a:xfrm>
          </p:grpSpPr>
          <p:graphicFrame>
            <p:nvGraphicFramePr>
              <p:cNvPr id="2" name="Table 2"/>
              <p:cNvGraphicFramePr/>
              <p:nvPr/>
            </p:nvGraphicFramePr>
            <p:xfrm>
              <a:off x="219075" y="1152525"/>
              <a:ext cx="16449675" cy="4572000"/>
            </p:xfrm>
            <a:graphic>
              <a:graphicData uri="http://schemas.openxmlformats.org/drawingml/2006/table">
                <a:tbl>
                  <a:tblPr/>
                  <a:tblGrid>
                    <a:gridCol w="1781175"/>
                    <a:gridCol w="3667125"/>
                    <a:gridCol w="3667125"/>
                    <a:gridCol w="3667125"/>
                    <a:gridCol w="3667125"/>
                  </a:tblGrid>
                  <a:tr h="11430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100" b="1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Data</a:t>
                          </a:r>
                          <a:endParaRPr lang="zh-CN" sz="2100"/>
                        </a:p>
                      </a:txBody>
                      <a:tcPr marL="15544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History</a:t>
                          </a:r>
                          <a:endParaRPr lang="zh-CN" sz="2100"/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Samples</a:t>
                          </a:r>
                          <a:endParaRPr lang="zh-CN" sz="2100"/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Streams</a:t>
                          </a:r>
                          <a:endParaRPr lang="zh-CN" sz="2100"/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State</a:t>
                          </a:r>
                          <a:endParaRPr lang="zh-CN" sz="2100"/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11430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100" b="1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Processing</a:t>
                          </a:r>
                          <a:endParaRPr lang="zh-CN" sz="2100"/>
                        </a:p>
                      </a:txBody>
                      <a:tcPr marL="15544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Horizon</a:t>
                          </a:r>
                          <a:endParaRPr lang="zh-CN" sz="2100"/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Transforms</a:t>
                          </a:r>
                          <a:endParaRPr lang="zh-CN" sz="2100"/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Intervals</a:t>
                          </a:r>
                          <a:endParaRPr lang="zh-CN" sz="2100"/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Actions</a:t>
                          </a:r>
                          <a:endParaRPr lang="zh-CN" sz="2100"/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11430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100" b="1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Context</a:t>
                          </a:r>
                          <a:endParaRPr lang="zh-CN" sz="2100"/>
                        </a:p>
                      </a:txBody>
                      <a:tcPr marL="15544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Events</a:t>
                          </a:r>
                          <a:endParaRPr lang="zh-CN" sz="2100"/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References</a:t>
                          </a:r>
                          <a:endParaRPr lang="zh-CN" sz="2100"/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Incidents</a:t>
                          </a:r>
                          <a:endParaRPr lang="zh-CN" sz="2100"/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Experience</a:t>
                          </a:r>
                          <a:endParaRPr lang="zh-CN" sz="2100"/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11430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100" b="1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Validation</a:t>
                          </a:r>
                          <a:endParaRPr lang="zh-CN" sz="2100"/>
                        </a:p>
                      </a:txBody>
                      <a:tcPr marL="15544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Cutoff</a:t>
                          </a:r>
                          <a:endParaRPr lang="zh-CN" sz="2100"/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Fidelity</a:t>
                          </a:r>
                          <a:endParaRPr lang="zh-CN" sz="2100"/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Evidence</a:t>
                          </a:r>
                          <a:endParaRPr lang="zh-CN" sz="2100"/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Constraints</a:t>
                          </a:r>
                          <a:endParaRPr lang="zh-CN" sz="2100"/>
                        </a:p>
                      </a:txBody>
                      <a:tcPr marL="1938528" marR="27432" marT="45720" marB="45720" anchor="ctr">
                        <a:lnL w="5715">
                          <a:solidFill>
                            <a:srgbClr val="CEDDE7"/>
                          </a:solidFill>
                        </a:lnL>
                        <a:lnR w="5715">
                          <a:solidFill>
                            <a:srgbClr val="CEDDE7"/>
                          </a:solidFill>
                        </a:lnR>
                        <a:lnT w="5715">
                          <a:solidFill>
                            <a:srgbClr val="CEDDE7"/>
                          </a:solidFill>
                        </a:lnT>
                        <a:lnB w="5715">
                          <a:solidFill>
                            <a:srgbClr val="CEDDE7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</a:tbl>
              </a:graphicData>
            </a:graphic>
          </p:graphicFrame>
        </p:grpSp>
        <p:grpSp>
          <p:nvGrpSpPr>
            <p:cNvPr id="2001" name="Task headers"/>
            <p:cNvGrpSpPr/>
            <p:nvPr/>
          </p:nvGrpSpPr>
          <p:grpSpPr>
            <a:xfrm>
              <a:off x="190500" y="190500"/>
              <a:ext cx="16430625" cy="762000"/>
              <a:chOff x="190500" y="190500"/>
              <a:chExt cx="16430625" cy="762000"/>
            </a:xfrm>
          </p:grpSpPr>
          <p:pic>
            <p:nvPicPr>
              <p:cNvPr id="3" name="header0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24125" y="334863"/>
                <a:ext cx="571500" cy="616148"/>
              </a:xfrm>
              <a:prstGeom prst="rect">
                <a:avLst/>
              </a:prstGeom>
            </p:spPr>
          </p:pic>
          <p:sp>
            <p:nvSpPr>
              <p:cNvPr id="4" name="TextBox 4"/>
              <p:cNvSpPr txBox="1"/>
              <p:nvPr/>
            </p:nvSpPr>
            <p:spPr>
              <a:xfrm>
                <a:off x="190500" y="190500"/>
                <a:ext cx="762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400" b="1">
                    <a:solidFill>
                      <a:srgbClr val="24485E"/>
                    </a:solidFill>
                    <a:latin typeface="Times New Roman"/>
                    <a:ea typeface="Times New Roman"/>
                    <a:cs typeface="Times New Roman"/>
                  </a:rPr>
                  <a:t>(a)</a:t>
                </a:r>
                <a:endParaRPr lang="zh-CN" sz="2400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3286125" y="428625"/>
                <a:ext cx="233362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500" b="1">
                    <a:solidFill>
                      <a:srgbClr val="317DA4"/>
                    </a:solidFill>
                    <a:latin typeface="Times New Roman"/>
                    <a:ea typeface="Times New Roman"/>
                    <a:cs typeface="Times New Roman"/>
                  </a:rPr>
                  <a:t>Forecasting</a:t>
                </a:r>
                <a:endParaRPr lang="zh-CN" sz="2500"/>
              </a:p>
            </p:txBody>
          </p:sp>
          <p:pic>
            <p:nvPicPr>
              <p:cNvPr id="6" name="header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12302" y="333375"/>
                <a:ext cx="529397" cy="619125"/>
              </a:xfrm>
              <a:prstGeom prst="rect">
                <a:avLst/>
              </a:prstGeom>
            </p:spPr>
          </p:pic>
          <p:sp>
            <p:nvSpPr>
              <p:cNvPr id="7" name="TextBox 7"/>
              <p:cNvSpPr txBox="1"/>
              <p:nvPr/>
            </p:nvSpPr>
            <p:spPr>
              <a:xfrm>
                <a:off x="6953250" y="428625"/>
                <a:ext cx="233362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500" b="1">
                    <a:solidFill>
                      <a:srgbClr val="705795"/>
                    </a:solidFill>
                    <a:latin typeface="Times New Roman"/>
                    <a:ea typeface="Times New Roman"/>
                    <a:cs typeface="Times New Roman"/>
                  </a:rPr>
                  <a:t>Synthesis</a:t>
                </a:r>
                <a:endParaRPr lang="zh-CN" sz="2500"/>
              </a:p>
            </p:txBody>
          </p:sp>
          <p:pic>
            <p:nvPicPr>
              <p:cNvPr id="8" name="header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58375" y="384730"/>
                <a:ext cx="571500" cy="516416"/>
              </a:xfrm>
              <a:prstGeom prst="rect">
                <a:avLst/>
              </a:prstGeom>
            </p:spPr>
          </p:pic>
          <p:sp>
            <p:nvSpPr>
              <p:cNvPr id="9" name="TextBox 9"/>
              <p:cNvSpPr txBox="1"/>
              <p:nvPr/>
            </p:nvSpPr>
            <p:spPr>
              <a:xfrm>
                <a:off x="10620375" y="428625"/>
                <a:ext cx="233362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500" b="1">
                    <a:solidFill>
                      <a:srgbClr val="348A71"/>
                    </a:solidFill>
                    <a:latin typeface="Times New Roman"/>
                    <a:ea typeface="Times New Roman"/>
                    <a:cs typeface="Times New Roman"/>
                  </a:rPr>
                  <a:t>Diagnosis</a:t>
                </a:r>
                <a:endParaRPr lang="zh-CN" sz="2500"/>
              </a:p>
            </p:txBody>
          </p:sp>
          <p:pic>
            <p:nvPicPr>
              <p:cNvPr id="10" name="header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25500" y="357188"/>
                <a:ext cx="571500" cy="571500"/>
              </a:xfrm>
              <a:prstGeom prst="rect">
                <a:avLst/>
              </a:prstGeom>
            </p:spPr>
          </p:pic>
          <p:sp>
            <p:nvSpPr>
              <p:cNvPr id="11" name="TextBox 11"/>
              <p:cNvSpPr txBox="1"/>
              <p:nvPr/>
            </p:nvSpPr>
            <p:spPr>
              <a:xfrm>
                <a:off x="14287500" y="428625"/>
                <a:ext cx="2333625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500" b="1">
                    <a:solidFill>
                      <a:srgbClr val="317DA4"/>
                    </a:solidFill>
                    <a:latin typeface="Times New Roman"/>
                    <a:ea typeface="Times New Roman"/>
                    <a:cs typeface="Times New Roman"/>
                  </a:rPr>
                  <a:t>Decision</a:t>
                </a:r>
                <a:endParaRPr lang="zh-CN" sz="2500"/>
              </a:p>
            </p:txBody>
          </p:sp>
        </p:grpSp>
        <p:grpSp>
          <p:nvGrpSpPr>
            <p:cNvPr id="2002" name="Cell 1-1"/>
            <p:cNvGrpSpPr/>
            <p:nvPr/>
          </p:nvGrpSpPr>
          <p:grpSpPr>
            <a:xfrm>
              <a:off x="2209800" y="1579514"/>
              <a:ext cx="1581150" cy="311137"/>
              <a:chOff x="2209800" y="1579514"/>
              <a:chExt cx="1581150" cy="311137"/>
            </a:xfrm>
          </p:grpSpPr>
          <p:sp>
            <p:nvSpPr>
              <p:cNvPr id="12" name="Path 12"/>
              <p:cNvSpPr/>
              <p:nvPr/>
            </p:nvSpPr>
            <p:spPr>
              <a:xfrm>
                <a:off x="2209800" y="1579514"/>
                <a:ext cx="1581150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03" name="Cell 1-2"/>
            <p:cNvGrpSpPr/>
            <p:nvPr/>
          </p:nvGrpSpPr>
          <p:grpSpPr>
            <a:xfrm>
              <a:off x="5876925" y="1482877"/>
              <a:ext cx="1581150" cy="502765"/>
              <a:chOff x="5876925" y="1482877"/>
              <a:chExt cx="1581150" cy="502765"/>
            </a:xfrm>
          </p:grpSpPr>
          <p:sp>
            <p:nvSpPr>
              <p:cNvPr id="13" name="Path 13"/>
              <p:cNvSpPr/>
              <p:nvPr/>
            </p:nvSpPr>
            <p:spPr>
              <a:xfrm>
                <a:off x="5876925" y="1482877"/>
                <a:ext cx="1581150" cy="9825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>
                <a:solidFill>
                  <a:srgbClr val="70579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" name="Path 14"/>
              <p:cNvSpPr/>
              <p:nvPr/>
            </p:nvSpPr>
            <p:spPr>
              <a:xfrm>
                <a:off x="5876925" y="1679872"/>
                <a:ext cx="1581150" cy="10701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7158"/>
                    </a:moveTo>
                    <a:lnTo>
                      <a:pt x="900" y="0"/>
                    </a:lnTo>
                    <a:lnTo>
                      <a:pt x="1800" y="8220"/>
                    </a:lnTo>
                    <a:lnTo>
                      <a:pt x="2700" y="9475"/>
                    </a:lnTo>
                    <a:lnTo>
                      <a:pt x="3600" y="11654"/>
                    </a:lnTo>
                    <a:lnTo>
                      <a:pt x="4500" y="21549"/>
                    </a:lnTo>
                    <a:lnTo>
                      <a:pt x="5400" y="15732"/>
                    </a:lnTo>
                    <a:lnTo>
                      <a:pt x="6300" y="6935"/>
                    </a:lnTo>
                    <a:lnTo>
                      <a:pt x="7200" y="8836"/>
                    </a:lnTo>
                    <a:lnTo>
                      <a:pt x="8100" y="3214"/>
                    </a:lnTo>
                    <a:lnTo>
                      <a:pt x="9000" y="2917"/>
                    </a:lnTo>
                    <a:lnTo>
                      <a:pt x="9900" y="15841"/>
                    </a:lnTo>
                    <a:lnTo>
                      <a:pt x="10800" y="16613"/>
                    </a:lnTo>
                    <a:lnTo>
                      <a:pt x="11700" y="14161"/>
                    </a:lnTo>
                    <a:lnTo>
                      <a:pt x="12600" y="17528"/>
                    </a:lnTo>
                    <a:lnTo>
                      <a:pt x="13500" y="7574"/>
                    </a:lnTo>
                    <a:lnTo>
                      <a:pt x="14400" y="438"/>
                    </a:lnTo>
                    <a:lnTo>
                      <a:pt x="15300" y="7950"/>
                    </a:lnTo>
                    <a:lnTo>
                      <a:pt x="16200" y="8300"/>
                    </a:lnTo>
                    <a:lnTo>
                      <a:pt x="17100" y="11160"/>
                    </a:lnTo>
                    <a:lnTo>
                      <a:pt x="18000" y="21600"/>
                    </a:lnTo>
                    <a:lnTo>
                      <a:pt x="18900" y="15935"/>
                    </a:lnTo>
                    <a:lnTo>
                      <a:pt x="19800" y="7979"/>
                    </a:lnTo>
                    <a:lnTo>
                      <a:pt x="20700" y="9573"/>
                    </a:lnTo>
                    <a:lnTo>
                      <a:pt x="21600" y="2818"/>
                    </a:lnTo>
                  </a:path>
                </a:pathLst>
              </a:custGeom>
              <a:noFill/>
              <a:ln w="19050">
                <a:solidFill>
                  <a:srgbClr val="70579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5" name="Path 15"/>
              <p:cNvSpPr/>
              <p:nvPr/>
            </p:nvSpPr>
            <p:spPr>
              <a:xfrm>
                <a:off x="5876925" y="1880061"/>
                <a:ext cx="1581150" cy="10558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4555"/>
                    </a:moveTo>
                    <a:lnTo>
                      <a:pt x="900" y="0"/>
                    </a:lnTo>
                    <a:lnTo>
                      <a:pt x="1800" y="11010"/>
                    </a:lnTo>
                    <a:lnTo>
                      <a:pt x="2700" y="13197"/>
                    </a:lnTo>
                    <a:lnTo>
                      <a:pt x="3600" y="13962"/>
                    </a:lnTo>
                    <a:lnTo>
                      <a:pt x="4500" y="21128"/>
                    </a:lnTo>
                    <a:lnTo>
                      <a:pt x="5400" y="12811"/>
                    </a:lnTo>
                    <a:lnTo>
                      <a:pt x="6300" y="3490"/>
                    </a:lnTo>
                    <a:lnTo>
                      <a:pt x="7200" y="7291"/>
                    </a:lnTo>
                    <a:lnTo>
                      <a:pt x="8100" y="4529"/>
                    </a:lnTo>
                    <a:lnTo>
                      <a:pt x="9000" y="6315"/>
                    </a:lnTo>
                    <a:lnTo>
                      <a:pt x="9900" y="19296"/>
                    </a:lnTo>
                    <a:lnTo>
                      <a:pt x="10800" y="17832"/>
                    </a:lnTo>
                    <a:lnTo>
                      <a:pt x="11700" y="12432"/>
                    </a:lnTo>
                    <a:lnTo>
                      <a:pt x="12600" y="14157"/>
                    </a:lnTo>
                    <a:lnTo>
                      <a:pt x="13500" y="4706"/>
                    </a:lnTo>
                    <a:lnTo>
                      <a:pt x="14400" y="20"/>
                    </a:lnTo>
                    <a:lnTo>
                      <a:pt x="15300" y="10435"/>
                    </a:lnTo>
                    <a:lnTo>
                      <a:pt x="16200" y="12023"/>
                    </a:lnTo>
                    <a:lnTo>
                      <a:pt x="17100" y="13785"/>
                    </a:lnTo>
                    <a:lnTo>
                      <a:pt x="18000" y="21600"/>
                    </a:lnTo>
                    <a:lnTo>
                      <a:pt x="18900" y="13259"/>
                    </a:lnTo>
                    <a:lnTo>
                      <a:pt x="19800" y="4455"/>
                    </a:lnTo>
                    <a:lnTo>
                      <a:pt x="20700" y="7671"/>
                    </a:lnTo>
                    <a:lnTo>
                      <a:pt x="21600" y="3723"/>
                    </a:lnTo>
                  </a:path>
                </a:pathLst>
              </a:custGeom>
              <a:noFill/>
              <a:ln w="19050">
                <a:solidFill>
                  <a:srgbClr val="70579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04" name="Cell 1-3"/>
            <p:cNvGrpSpPr/>
            <p:nvPr/>
          </p:nvGrpSpPr>
          <p:grpSpPr>
            <a:xfrm>
              <a:off x="9544050" y="1482877"/>
              <a:ext cx="1581150" cy="502765"/>
              <a:chOff x="9544050" y="1482877"/>
              <a:chExt cx="1581150" cy="502765"/>
            </a:xfrm>
          </p:grpSpPr>
          <p:sp>
            <p:nvSpPr>
              <p:cNvPr id="16" name="Path 16"/>
              <p:cNvSpPr/>
              <p:nvPr/>
            </p:nvSpPr>
            <p:spPr>
              <a:xfrm>
                <a:off x="9544050" y="1482877"/>
                <a:ext cx="1581150" cy="9825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>
                <a:solidFill>
                  <a:srgbClr val="348A71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7" name="Path 17"/>
              <p:cNvSpPr/>
              <p:nvPr/>
            </p:nvSpPr>
            <p:spPr>
              <a:xfrm>
                <a:off x="9544050" y="1679872"/>
                <a:ext cx="1581150" cy="10701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7158"/>
                    </a:moveTo>
                    <a:lnTo>
                      <a:pt x="900" y="0"/>
                    </a:lnTo>
                    <a:lnTo>
                      <a:pt x="1800" y="8220"/>
                    </a:lnTo>
                    <a:lnTo>
                      <a:pt x="2700" y="9475"/>
                    </a:lnTo>
                    <a:lnTo>
                      <a:pt x="3600" y="11654"/>
                    </a:lnTo>
                    <a:lnTo>
                      <a:pt x="4500" y="21549"/>
                    </a:lnTo>
                    <a:lnTo>
                      <a:pt x="5400" y="15732"/>
                    </a:lnTo>
                    <a:lnTo>
                      <a:pt x="6300" y="6935"/>
                    </a:lnTo>
                    <a:lnTo>
                      <a:pt x="7200" y="8836"/>
                    </a:lnTo>
                    <a:lnTo>
                      <a:pt x="8100" y="3214"/>
                    </a:lnTo>
                    <a:lnTo>
                      <a:pt x="9000" y="2917"/>
                    </a:lnTo>
                    <a:lnTo>
                      <a:pt x="9900" y="15841"/>
                    </a:lnTo>
                    <a:lnTo>
                      <a:pt x="10800" y="16613"/>
                    </a:lnTo>
                    <a:lnTo>
                      <a:pt x="11700" y="14161"/>
                    </a:lnTo>
                    <a:lnTo>
                      <a:pt x="12600" y="17528"/>
                    </a:lnTo>
                    <a:lnTo>
                      <a:pt x="13500" y="7574"/>
                    </a:lnTo>
                    <a:lnTo>
                      <a:pt x="14400" y="438"/>
                    </a:lnTo>
                    <a:lnTo>
                      <a:pt x="15300" y="7950"/>
                    </a:lnTo>
                    <a:lnTo>
                      <a:pt x="16200" y="8300"/>
                    </a:lnTo>
                    <a:lnTo>
                      <a:pt x="17100" y="11160"/>
                    </a:lnTo>
                    <a:lnTo>
                      <a:pt x="18000" y="21600"/>
                    </a:lnTo>
                    <a:lnTo>
                      <a:pt x="18900" y="15935"/>
                    </a:lnTo>
                    <a:lnTo>
                      <a:pt x="19800" y="7979"/>
                    </a:lnTo>
                    <a:lnTo>
                      <a:pt x="20700" y="9573"/>
                    </a:lnTo>
                    <a:lnTo>
                      <a:pt x="21600" y="2818"/>
                    </a:lnTo>
                  </a:path>
                </a:pathLst>
              </a:custGeom>
              <a:noFill/>
              <a:ln w="19050">
                <a:solidFill>
                  <a:srgbClr val="348A71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8" name="Path 18"/>
              <p:cNvSpPr/>
              <p:nvPr/>
            </p:nvSpPr>
            <p:spPr>
              <a:xfrm>
                <a:off x="9544050" y="1880061"/>
                <a:ext cx="1581150" cy="10558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4555"/>
                    </a:moveTo>
                    <a:lnTo>
                      <a:pt x="900" y="0"/>
                    </a:lnTo>
                    <a:lnTo>
                      <a:pt x="1800" y="11010"/>
                    </a:lnTo>
                    <a:lnTo>
                      <a:pt x="2700" y="13197"/>
                    </a:lnTo>
                    <a:lnTo>
                      <a:pt x="3600" y="13962"/>
                    </a:lnTo>
                    <a:lnTo>
                      <a:pt x="4500" y="21128"/>
                    </a:lnTo>
                    <a:lnTo>
                      <a:pt x="5400" y="12811"/>
                    </a:lnTo>
                    <a:lnTo>
                      <a:pt x="6300" y="3490"/>
                    </a:lnTo>
                    <a:lnTo>
                      <a:pt x="7200" y="7291"/>
                    </a:lnTo>
                    <a:lnTo>
                      <a:pt x="8100" y="4529"/>
                    </a:lnTo>
                    <a:lnTo>
                      <a:pt x="9000" y="6315"/>
                    </a:lnTo>
                    <a:lnTo>
                      <a:pt x="9900" y="19296"/>
                    </a:lnTo>
                    <a:lnTo>
                      <a:pt x="10800" y="17832"/>
                    </a:lnTo>
                    <a:lnTo>
                      <a:pt x="11700" y="12432"/>
                    </a:lnTo>
                    <a:lnTo>
                      <a:pt x="12600" y="14157"/>
                    </a:lnTo>
                    <a:lnTo>
                      <a:pt x="13500" y="4706"/>
                    </a:lnTo>
                    <a:lnTo>
                      <a:pt x="14400" y="20"/>
                    </a:lnTo>
                    <a:lnTo>
                      <a:pt x="15300" y="10435"/>
                    </a:lnTo>
                    <a:lnTo>
                      <a:pt x="16200" y="12023"/>
                    </a:lnTo>
                    <a:lnTo>
                      <a:pt x="17100" y="13785"/>
                    </a:lnTo>
                    <a:lnTo>
                      <a:pt x="18000" y="21600"/>
                    </a:lnTo>
                    <a:lnTo>
                      <a:pt x="18900" y="13259"/>
                    </a:lnTo>
                    <a:lnTo>
                      <a:pt x="19800" y="4455"/>
                    </a:lnTo>
                    <a:lnTo>
                      <a:pt x="20700" y="7671"/>
                    </a:lnTo>
                    <a:lnTo>
                      <a:pt x="21600" y="3723"/>
                    </a:lnTo>
                  </a:path>
                </a:pathLst>
              </a:custGeom>
              <a:noFill/>
              <a:ln w="19050">
                <a:solidFill>
                  <a:srgbClr val="348A71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05" name="Cell 1-4"/>
            <p:cNvGrpSpPr/>
            <p:nvPr/>
          </p:nvGrpSpPr>
          <p:grpSpPr>
            <a:xfrm>
              <a:off x="13211175" y="1438275"/>
              <a:ext cx="1400175" cy="542925"/>
              <a:chOff x="13211175" y="1438275"/>
              <a:chExt cx="1400175" cy="542925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13211175" y="1438275"/>
                <a:ext cx="85725" cy="85725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13211175" y="1666875"/>
                <a:ext cx="85725" cy="85725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13211175" y="1895475"/>
                <a:ext cx="85725" cy="85725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2" name="Path 22"/>
              <p:cNvSpPr/>
              <p:nvPr/>
            </p:nvSpPr>
            <p:spPr>
              <a:xfrm>
                <a:off x="13468350" y="1485900"/>
                <a:ext cx="11430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CEDDE7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3" name="Path 23"/>
              <p:cNvSpPr/>
              <p:nvPr/>
            </p:nvSpPr>
            <p:spPr>
              <a:xfrm>
                <a:off x="13468350" y="1485900"/>
                <a:ext cx="5143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4" name="Path 24"/>
              <p:cNvSpPr/>
              <p:nvPr/>
            </p:nvSpPr>
            <p:spPr>
              <a:xfrm>
                <a:off x="13468350" y="1714500"/>
                <a:ext cx="11430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CEDDE7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5" name="Path 25"/>
              <p:cNvSpPr/>
              <p:nvPr/>
            </p:nvSpPr>
            <p:spPr>
              <a:xfrm>
                <a:off x="13468350" y="1714500"/>
                <a:ext cx="8572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6" name="Path 26"/>
              <p:cNvSpPr/>
              <p:nvPr/>
            </p:nvSpPr>
            <p:spPr>
              <a:xfrm>
                <a:off x="13468350" y="1943100"/>
                <a:ext cx="11430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CEDDE7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7" name="Path 27"/>
              <p:cNvSpPr/>
              <p:nvPr/>
            </p:nvSpPr>
            <p:spPr>
              <a:xfrm>
                <a:off x="13468350" y="1943100"/>
                <a:ext cx="6858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06" name="Cell 2-1"/>
            <p:cNvGrpSpPr/>
            <p:nvPr/>
          </p:nvGrpSpPr>
          <p:grpSpPr>
            <a:xfrm>
              <a:off x="2209800" y="2581275"/>
              <a:ext cx="1600200" cy="542925"/>
              <a:chOff x="2209800" y="2581275"/>
              <a:chExt cx="1600200" cy="542925"/>
            </a:xfrm>
          </p:grpSpPr>
          <p:sp>
            <p:nvSpPr>
              <p:cNvPr id="28" name="Rect 28"/>
              <p:cNvSpPr/>
              <p:nvPr/>
            </p:nvSpPr>
            <p:spPr>
              <a:xfrm>
                <a:off x="3238500" y="2581275"/>
                <a:ext cx="571500" cy="542925"/>
              </a:xfrm>
              <a:prstGeom prst="rect">
                <a:avLst/>
              </a:prstGeom>
              <a:solidFill>
                <a:srgbClr val="EDF4F8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9" name="Path 29"/>
              <p:cNvSpPr/>
              <p:nvPr/>
            </p:nvSpPr>
            <p:spPr>
              <a:xfrm>
                <a:off x="2209800" y="2722514"/>
                <a:ext cx="714375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0" name="Path 30"/>
              <p:cNvSpPr/>
              <p:nvPr/>
            </p:nvSpPr>
            <p:spPr>
              <a:xfrm>
                <a:off x="2990850" y="2867025"/>
                <a:ext cx="18097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524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1" name="Path 31"/>
              <p:cNvSpPr/>
              <p:nvPr/>
            </p:nvSpPr>
            <p:spPr>
              <a:xfrm>
                <a:off x="3238500" y="2709725"/>
                <a:ext cx="552450" cy="34385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6075"/>
                    </a:moveTo>
                    <a:lnTo>
                      <a:pt x="900" y="0"/>
                    </a:lnTo>
                    <a:lnTo>
                      <a:pt x="1800" y="9211"/>
                    </a:lnTo>
                    <a:lnTo>
                      <a:pt x="2700" y="10966"/>
                    </a:lnTo>
                    <a:lnTo>
                      <a:pt x="3600" y="12704"/>
                    </a:lnTo>
                    <a:lnTo>
                      <a:pt x="4500" y="21383"/>
                    </a:lnTo>
                    <a:lnTo>
                      <a:pt x="5400" y="14614"/>
                    </a:lnTo>
                    <a:lnTo>
                      <a:pt x="6300" y="5617"/>
                    </a:lnTo>
                    <a:lnTo>
                      <a:pt x="7200" y="8085"/>
                    </a:lnTo>
                    <a:lnTo>
                      <a:pt x="8100" y="3675"/>
                    </a:lnTo>
                    <a:lnTo>
                      <a:pt x="9000" y="4313"/>
                    </a:lnTo>
                    <a:lnTo>
                      <a:pt x="9900" y="17176"/>
                    </a:lnTo>
                    <a:lnTo>
                      <a:pt x="10800" y="17176"/>
                    </a:lnTo>
                    <a:lnTo>
                      <a:pt x="11700" y="13607"/>
                    </a:lnTo>
                    <a:lnTo>
                      <a:pt x="12600" y="16129"/>
                    </a:lnTo>
                    <a:lnTo>
                      <a:pt x="13500" y="6398"/>
                    </a:lnTo>
                    <a:lnTo>
                      <a:pt x="14400" y="268"/>
                    </a:lnTo>
                    <a:lnTo>
                      <a:pt x="15300" y="8811"/>
                    </a:lnTo>
                    <a:lnTo>
                      <a:pt x="16200" y="9790"/>
                    </a:lnTo>
                    <a:lnTo>
                      <a:pt x="17100" y="12327"/>
                    </a:lnTo>
                    <a:lnTo>
                      <a:pt x="18000" y="21600"/>
                    </a:lnTo>
                    <a:lnTo>
                      <a:pt x="18900" y="14928"/>
                    </a:lnTo>
                    <a:lnTo>
                      <a:pt x="19800" y="6634"/>
                    </a:lnTo>
                    <a:lnTo>
                      <a:pt x="20700" y="8681"/>
                    </a:lnTo>
                    <a:lnTo>
                      <a:pt x="21600" y="3120"/>
                    </a:lnTo>
                  </a:path>
                </a:pathLst>
              </a:custGeom>
              <a:noFill/>
              <a:ln w="1905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07" name="Cell 2-2"/>
            <p:cNvGrpSpPr/>
            <p:nvPr/>
          </p:nvGrpSpPr>
          <p:grpSpPr>
            <a:xfrm>
              <a:off x="5876925" y="2712920"/>
              <a:ext cx="1581150" cy="430108"/>
              <a:chOff x="5876925" y="2712920"/>
              <a:chExt cx="1581150" cy="430108"/>
            </a:xfrm>
          </p:grpSpPr>
          <p:sp>
            <p:nvSpPr>
              <p:cNvPr id="32" name="Path 32"/>
              <p:cNvSpPr/>
              <p:nvPr/>
            </p:nvSpPr>
            <p:spPr>
              <a:xfrm>
                <a:off x="5876925" y="2722514"/>
                <a:ext cx="619125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>
                <a:solidFill>
                  <a:srgbClr val="70579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3" name="Path 33"/>
              <p:cNvSpPr/>
              <p:nvPr/>
            </p:nvSpPr>
            <p:spPr>
              <a:xfrm>
                <a:off x="6581775" y="2847975"/>
                <a:ext cx="2476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5240">
                <a:solidFill>
                  <a:srgbClr val="705795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4" name="Path 34"/>
              <p:cNvSpPr/>
              <p:nvPr/>
            </p:nvSpPr>
            <p:spPr>
              <a:xfrm>
                <a:off x="6877050" y="2712920"/>
                <a:ext cx="581025" cy="33887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7158"/>
                    </a:moveTo>
                    <a:lnTo>
                      <a:pt x="900" y="0"/>
                    </a:lnTo>
                    <a:lnTo>
                      <a:pt x="1800" y="8220"/>
                    </a:lnTo>
                    <a:lnTo>
                      <a:pt x="2700" y="9475"/>
                    </a:lnTo>
                    <a:lnTo>
                      <a:pt x="3600" y="11654"/>
                    </a:lnTo>
                    <a:lnTo>
                      <a:pt x="4500" y="21549"/>
                    </a:lnTo>
                    <a:lnTo>
                      <a:pt x="5400" y="15732"/>
                    </a:lnTo>
                    <a:lnTo>
                      <a:pt x="6300" y="6935"/>
                    </a:lnTo>
                    <a:lnTo>
                      <a:pt x="7200" y="8836"/>
                    </a:lnTo>
                    <a:lnTo>
                      <a:pt x="8100" y="3214"/>
                    </a:lnTo>
                    <a:lnTo>
                      <a:pt x="9000" y="2917"/>
                    </a:lnTo>
                    <a:lnTo>
                      <a:pt x="9900" y="15841"/>
                    </a:lnTo>
                    <a:lnTo>
                      <a:pt x="10800" y="16613"/>
                    </a:lnTo>
                    <a:lnTo>
                      <a:pt x="11700" y="14161"/>
                    </a:lnTo>
                    <a:lnTo>
                      <a:pt x="12600" y="17528"/>
                    </a:lnTo>
                    <a:lnTo>
                      <a:pt x="13500" y="7574"/>
                    </a:lnTo>
                    <a:lnTo>
                      <a:pt x="14400" y="438"/>
                    </a:lnTo>
                    <a:lnTo>
                      <a:pt x="15300" y="7950"/>
                    </a:lnTo>
                    <a:lnTo>
                      <a:pt x="16200" y="8300"/>
                    </a:lnTo>
                    <a:lnTo>
                      <a:pt x="17100" y="11160"/>
                    </a:lnTo>
                    <a:lnTo>
                      <a:pt x="18000" y="21600"/>
                    </a:lnTo>
                    <a:lnTo>
                      <a:pt x="18900" y="15935"/>
                    </a:lnTo>
                    <a:lnTo>
                      <a:pt x="19800" y="7979"/>
                    </a:lnTo>
                    <a:lnTo>
                      <a:pt x="20700" y="9573"/>
                    </a:lnTo>
                    <a:lnTo>
                      <a:pt x="21600" y="2818"/>
                    </a:lnTo>
                  </a:path>
                </a:pathLst>
              </a:custGeom>
              <a:noFill/>
              <a:ln w="19050">
                <a:solidFill>
                  <a:srgbClr val="70579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5" name="Path 35"/>
              <p:cNvSpPr/>
              <p:nvPr/>
            </p:nvSpPr>
            <p:spPr>
              <a:xfrm>
                <a:off x="6877050" y="2808689"/>
                <a:ext cx="581025" cy="33433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4555"/>
                    </a:moveTo>
                    <a:lnTo>
                      <a:pt x="900" y="0"/>
                    </a:lnTo>
                    <a:lnTo>
                      <a:pt x="1800" y="11010"/>
                    </a:lnTo>
                    <a:lnTo>
                      <a:pt x="2700" y="13197"/>
                    </a:lnTo>
                    <a:lnTo>
                      <a:pt x="3600" y="13962"/>
                    </a:lnTo>
                    <a:lnTo>
                      <a:pt x="4500" y="21128"/>
                    </a:lnTo>
                    <a:lnTo>
                      <a:pt x="5400" y="12811"/>
                    </a:lnTo>
                    <a:lnTo>
                      <a:pt x="6300" y="3490"/>
                    </a:lnTo>
                    <a:lnTo>
                      <a:pt x="7200" y="7291"/>
                    </a:lnTo>
                    <a:lnTo>
                      <a:pt x="8100" y="4529"/>
                    </a:lnTo>
                    <a:lnTo>
                      <a:pt x="9000" y="6315"/>
                    </a:lnTo>
                    <a:lnTo>
                      <a:pt x="9900" y="19296"/>
                    </a:lnTo>
                    <a:lnTo>
                      <a:pt x="10800" y="17832"/>
                    </a:lnTo>
                    <a:lnTo>
                      <a:pt x="11700" y="12432"/>
                    </a:lnTo>
                    <a:lnTo>
                      <a:pt x="12600" y="14157"/>
                    </a:lnTo>
                    <a:lnTo>
                      <a:pt x="13500" y="4706"/>
                    </a:lnTo>
                    <a:lnTo>
                      <a:pt x="14400" y="20"/>
                    </a:lnTo>
                    <a:lnTo>
                      <a:pt x="15300" y="10435"/>
                    </a:lnTo>
                    <a:lnTo>
                      <a:pt x="16200" y="12023"/>
                    </a:lnTo>
                    <a:lnTo>
                      <a:pt x="17100" y="13785"/>
                    </a:lnTo>
                    <a:lnTo>
                      <a:pt x="18000" y="21600"/>
                    </a:lnTo>
                    <a:lnTo>
                      <a:pt x="18900" y="13259"/>
                    </a:lnTo>
                    <a:lnTo>
                      <a:pt x="19800" y="4455"/>
                    </a:lnTo>
                    <a:lnTo>
                      <a:pt x="20700" y="7671"/>
                    </a:lnTo>
                    <a:lnTo>
                      <a:pt x="21600" y="3723"/>
                    </a:lnTo>
                  </a:path>
                </a:pathLst>
              </a:custGeom>
              <a:noFill/>
              <a:ln w="19050">
                <a:solidFill>
                  <a:srgbClr val="A99BC1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08" name="Cell 2-3"/>
            <p:cNvGrpSpPr/>
            <p:nvPr/>
          </p:nvGrpSpPr>
          <p:grpSpPr>
            <a:xfrm>
              <a:off x="9544050" y="2533650"/>
              <a:ext cx="1581150" cy="638175"/>
              <a:chOff x="9544050" y="2533650"/>
              <a:chExt cx="1581150" cy="638175"/>
            </a:xfrm>
          </p:grpSpPr>
          <p:sp>
            <p:nvSpPr>
              <p:cNvPr id="36" name="Rect 36"/>
              <p:cNvSpPr/>
              <p:nvPr/>
            </p:nvSpPr>
            <p:spPr>
              <a:xfrm>
                <a:off x="10115550" y="2533650"/>
                <a:ext cx="571500" cy="638175"/>
              </a:xfrm>
              <a:prstGeom prst="rect">
                <a:avLst/>
              </a:prstGeom>
              <a:solidFill>
                <a:srgbClr val="EDF6F1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37" name="Path 37"/>
              <p:cNvSpPr/>
              <p:nvPr/>
            </p:nvSpPr>
            <p:spPr>
              <a:xfrm>
                <a:off x="9544050" y="2722514"/>
                <a:ext cx="1581150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>
                <a:solidFill>
                  <a:srgbClr val="348A71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8" name="Path 38"/>
              <p:cNvSpPr/>
              <p:nvPr/>
            </p:nvSpPr>
            <p:spPr>
              <a:xfrm>
                <a:off x="10115550" y="2533650"/>
                <a:ext cx="95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48A71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9" name="Path 39"/>
              <p:cNvSpPr/>
              <p:nvPr/>
            </p:nvSpPr>
            <p:spPr>
              <a:xfrm>
                <a:off x="10687050" y="2533650"/>
                <a:ext cx="953" cy="6381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48A71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09" name="Cell 2-4"/>
            <p:cNvGrpSpPr/>
            <p:nvPr/>
          </p:nvGrpSpPr>
          <p:grpSpPr>
            <a:xfrm>
              <a:off x="13211175" y="2581275"/>
              <a:ext cx="1485900" cy="619125"/>
              <a:chOff x="13211175" y="2581275"/>
              <a:chExt cx="1485900" cy="619125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13211175" y="2790825"/>
                <a:ext cx="142875" cy="142875"/>
              </a:xfrm>
              <a:prstGeom prst="ellipse">
                <a:avLst/>
              </a:prstGeom>
              <a:solidFill>
                <a:srgbClr val="FFFFFF"/>
              </a:solidFill>
              <a:ln w="1651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1" name="Rect 41"/>
              <p:cNvSpPr/>
              <p:nvPr/>
            </p:nvSpPr>
            <p:spPr>
              <a:xfrm>
                <a:off x="14497050" y="2581275"/>
                <a:ext cx="200025" cy="16192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2" name="Rect 42"/>
              <p:cNvSpPr/>
              <p:nvPr/>
            </p:nvSpPr>
            <p:spPr>
              <a:xfrm>
                <a:off x="14497050" y="3038475"/>
                <a:ext cx="200025" cy="16192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3" name="Path 43"/>
              <p:cNvSpPr/>
              <p:nvPr/>
            </p:nvSpPr>
            <p:spPr>
              <a:xfrm>
                <a:off x="13354050" y="2657475"/>
                <a:ext cx="105727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9730" y="21600"/>
                    </a:lnTo>
                    <a:lnTo>
                      <a:pt x="14789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44" name="Path 44"/>
              <p:cNvSpPr/>
              <p:nvPr/>
            </p:nvSpPr>
            <p:spPr>
              <a:xfrm>
                <a:off x="13354050" y="2857500"/>
                <a:ext cx="10572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9730" y="0"/>
                    </a:lnTo>
                    <a:lnTo>
                      <a:pt x="14789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1905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</p:grpSp>
        <p:grpSp>
          <p:nvGrpSpPr>
            <p:cNvPr id="2010" name="Cell 3-1"/>
            <p:cNvGrpSpPr/>
            <p:nvPr/>
          </p:nvGrpSpPr>
          <p:grpSpPr>
            <a:xfrm>
              <a:off x="2209800" y="3686175"/>
              <a:ext cx="1581150" cy="538114"/>
              <a:chOff x="2209800" y="3686175"/>
              <a:chExt cx="1581150" cy="538114"/>
            </a:xfrm>
          </p:grpSpPr>
          <p:sp>
            <p:nvSpPr>
              <p:cNvPr id="45" name="Ellipse 45"/>
              <p:cNvSpPr/>
              <p:nvPr/>
            </p:nvSpPr>
            <p:spPr>
              <a:xfrm>
                <a:off x="2409825" y="3686175"/>
                <a:ext cx="57150" cy="57150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2905125" y="3686175"/>
                <a:ext cx="57150" cy="57150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3419475" y="3686175"/>
                <a:ext cx="57150" cy="57150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8" name="Path 48"/>
              <p:cNvSpPr/>
              <p:nvPr/>
            </p:nvSpPr>
            <p:spPr>
              <a:xfrm>
                <a:off x="2209800" y="3978655"/>
                <a:ext cx="1581150" cy="24563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9" name="Path 49"/>
              <p:cNvSpPr/>
              <p:nvPr/>
            </p:nvSpPr>
            <p:spPr>
              <a:xfrm>
                <a:off x="2438400" y="3714750"/>
                <a:ext cx="953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0" name="Path 50"/>
              <p:cNvSpPr/>
              <p:nvPr/>
            </p:nvSpPr>
            <p:spPr>
              <a:xfrm>
                <a:off x="2933700" y="3714750"/>
                <a:ext cx="953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1" name="Path 51"/>
              <p:cNvSpPr/>
              <p:nvPr/>
            </p:nvSpPr>
            <p:spPr>
              <a:xfrm>
                <a:off x="3448050" y="3714750"/>
                <a:ext cx="953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11" name="Cell 3-2"/>
            <p:cNvGrpSpPr/>
            <p:nvPr/>
          </p:nvGrpSpPr>
          <p:grpSpPr>
            <a:xfrm>
              <a:off x="5876925" y="3782074"/>
              <a:ext cx="1466850" cy="465426"/>
              <a:chOff x="5876925" y="3782074"/>
              <a:chExt cx="1466850" cy="465426"/>
            </a:xfrm>
          </p:grpSpPr>
          <p:pic>
            <p:nvPicPr>
              <p:cNvPr id="52" name="c21doc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76925" y="3782074"/>
                <a:ext cx="409575" cy="465426"/>
              </a:xfrm>
              <a:prstGeom prst="rect">
                <a:avLst/>
              </a:prstGeom>
            </p:spPr>
          </p:pic>
          <p:pic>
            <p:nvPicPr>
              <p:cNvPr id="53" name="c21link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48425" y="3866685"/>
                <a:ext cx="304800" cy="267629"/>
              </a:xfrm>
              <a:prstGeom prst="rect">
                <a:avLst/>
              </a:prstGeom>
            </p:spPr>
          </p:pic>
          <p:pic>
            <p:nvPicPr>
              <p:cNvPr id="54" name="c21doc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34200" y="3785548"/>
                <a:ext cx="409575" cy="458479"/>
              </a:xfrm>
              <a:prstGeom prst="rect">
                <a:avLst/>
              </a:prstGeom>
            </p:spPr>
          </p:pic>
        </p:grpSp>
        <p:grpSp>
          <p:nvGrpSpPr>
            <p:cNvPr id="2012" name="Cell 3-3"/>
            <p:cNvGrpSpPr/>
            <p:nvPr/>
          </p:nvGrpSpPr>
          <p:grpSpPr>
            <a:xfrm>
              <a:off x="9544050" y="3800475"/>
              <a:ext cx="1552575" cy="407874"/>
              <a:chOff x="9544050" y="3800475"/>
              <a:chExt cx="1552575" cy="407874"/>
            </a:xfrm>
          </p:grpSpPr>
          <p:sp>
            <p:nvSpPr>
              <p:cNvPr id="55" name="Path 55"/>
              <p:cNvSpPr/>
              <p:nvPr/>
            </p:nvSpPr>
            <p:spPr>
              <a:xfrm>
                <a:off x="9544050" y="3865514"/>
                <a:ext cx="790575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>
                <a:solidFill>
                  <a:srgbClr val="348A71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6" name="Path 56"/>
              <p:cNvSpPr/>
              <p:nvPr/>
            </p:nvSpPr>
            <p:spPr>
              <a:xfrm>
                <a:off x="10848975" y="3800475"/>
                <a:ext cx="2476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348A71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7" name="Path 57"/>
              <p:cNvSpPr/>
              <p:nvPr/>
            </p:nvSpPr>
            <p:spPr>
              <a:xfrm>
                <a:off x="10848975" y="3933825"/>
                <a:ext cx="1714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348A71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8" name="Path 58"/>
              <p:cNvSpPr/>
              <p:nvPr/>
            </p:nvSpPr>
            <p:spPr>
              <a:xfrm>
                <a:off x="10848975" y="4067175"/>
                <a:ext cx="2476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348A71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9" name="Path 59"/>
              <p:cNvSpPr/>
              <p:nvPr/>
            </p:nvSpPr>
            <p:spPr>
              <a:xfrm>
                <a:off x="10848975" y="4200525"/>
                <a:ext cx="1714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348A71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pic>
            <p:nvPicPr>
              <p:cNvPr id="60" name="c22warn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48925" y="3849801"/>
                <a:ext cx="295275" cy="358548"/>
              </a:xfrm>
              <a:prstGeom prst="rect">
                <a:avLst/>
              </a:prstGeom>
            </p:spPr>
          </p:pic>
        </p:grpSp>
        <p:grpSp>
          <p:nvGrpSpPr>
            <p:cNvPr id="2013" name="Cell 3-4"/>
            <p:cNvGrpSpPr/>
            <p:nvPr/>
          </p:nvGrpSpPr>
          <p:grpSpPr>
            <a:xfrm>
              <a:off x="13211175" y="3729038"/>
              <a:ext cx="1352550" cy="571499"/>
              <a:chOff x="13211175" y="3729038"/>
              <a:chExt cx="1352550" cy="571499"/>
            </a:xfrm>
          </p:grpSpPr>
          <p:sp>
            <p:nvSpPr>
              <p:cNvPr id="61" name="Path 61"/>
              <p:cNvSpPr/>
              <p:nvPr/>
            </p:nvSpPr>
            <p:spPr>
              <a:xfrm>
                <a:off x="13706475" y="3800475"/>
                <a:ext cx="4762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10800" y="21600"/>
                    </a:lnTo>
                    <a:lnTo>
                      <a:pt x="10800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62" name="Path 62"/>
              <p:cNvSpPr/>
              <p:nvPr/>
            </p:nvSpPr>
            <p:spPr>
              <a:xfrm>
                <a:off x="13706475" y="3990975"/>
                <a:ext cx="47625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10800" y="0"/>
                    </a:lnTo>
                    <a:lnTo>
                      <a:pt x="10800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1651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63" name="c23store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211175" y="3757910"/>
                <a:ext cx="447675" cy="475655"/>
              </a:xfrm>
              <a:prstGeom prst="rect">
                <a:avLst/>
              </a:prstGeom>
            </p:spPr>
          </p:pic>
          <p:pic>
            <p:nvPicPr>
              <p:cNvPr id="64" name="c23record0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306550" y="3729038"/>
                <a:ext cx="257175" cy="257175"/>
              </a:xfrm>
              <a:prstGeom prst="rect">
                <a:avLst/>
              </a:prstGeom>
            </p:spPr>
          </p:pic>
          <p:pic>
            <p:nvPicPr>
              <p:cNvPr id="65" name="c23record33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306550" y="4043362"/>
                <a:ext cx="257175" cy="257175"/>
              </a:xfrm>
              <a:prstGeom prst="rect">
                <a:avLst/>
              </a:prstGeom>
            </p:spPr>
          </p:pic>
        </p:grpSp>
        <p:grpSp>
          <p:nvGrpSpPr>
            <p:cNvPr id="2014" name="Cell 4-1"/>
            <p:cNvGrpSpPr/>
            <p:nvPr/>
          </p:nvGrpSpPr>
          <p:grpSpPr>
            <a:xfrm>
              <a:off x="2209800" y="4857750"/>
              <a:ext cx="1581150" cy="581025"/>
              <a:chOff x="2209800" y="4857750"/>
              <a:chExt cx="1581150" cy="581025"/>
            </a:xfrm>
          </p:grpSpPr>
          <p:sp>
            <p:nvSpPr>
              <p:cNvPr id="66" name="Ellipse 66"/>
              <p:cNvSpPr/>
              <p:nvPr/>
            </p:nvSpPr>
            <p:spPr>
              <a:xfrm>
                <a:off x="3124200" y="5114925"/>
                <a:ext cx="76200" cy="76200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7" name="Path 67"/>
              <p:cNvSpPr/>
              <p:nvPr/>
            </p:nvSpPr>
            <p:spPr>
              <a:xfrm>
                <a:off x="2209800" y="5153025"/>
                <a:ext cx="15811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524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68" name="Path 68"/>
              <p:cNvSpPr/>
              <p:nvPr/>
            </p:nvSpPr>
            <p:spPr>
              <a:xfrm>
                <a:off x="2209800" y="5095875"/>
                <a:ext cx="953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69" name="Path 69"/>
              <p:cNvSpPr/>
              <p:nvPr/>
            </p:nvSpPr>
            <p:spPr>
              <a:xfrm>
                <a:off x="2447925" y="5095875"/>
                <a:ext cx="953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70" name="Path 70"/>
              <p:cNvSpPr/>
              <p:nvPr/>
            </p:nvSpPr>
            <p:spPr>
              <a:xfrm>
                <a:off x="2686050" y="5095875"/>
                <a:ext cx="953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71" name="Path 71"/>
              <p:cNvSpPr/>
              <p:nvPr/>
            </p:nvSpPr>
            <p:spPr>
              <a:xfrm>
                <a:off x="2924175" y="5095875"/>
                <a:ext cx="953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72" name="Path 72"/>
              <p:cNvSpPr/>
              <p:nvPr/>
            </p:nvSpPr>
            <p:spPr>
              <a:xfrm>
                <a:off x="3162300" y="4857750"/>
                <a:ext cx="953" cy="5810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15" name="Cell 4-2"/>
            <p:cNvGrpSpPr/>
            <p:nvPr/>
          </p:nvGrpSpPr>
          <p:grpSpPr>
            <a:xfrm>
              <a:off x="5876925" y="5008514"/>
              <a:ext cx="1581150" cy="349867"/>
              <a:chOff x="5876925" y="5008514"/>
              <a:chExt cx="1581150" cy="349867"/>
            </a:xfrm>
          </p:grpSpPr>
          <p:sp>
            <p:nvSpPr>
              <p:cNvPr id="73" name="Path 73"/>
              <p:cNvSpPr/>
              <p:nvPr/>
            </p:nvSpPr>
            <p:spPr>
              <a:xfrm>
                <a:off x="5876925" y="5008514"/>
                <a:ext cx="1581150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>
                <a:solidFill>
                  <a:srgbClr val="70579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74" name="Path 74"/>
              <p:cNvSpPr/>
              <p:nvPr/>
            </p:nvSpPr>
            <p:spPr>
              <a:xfrm>
                <a:off x="5876925" y="5040475"/>
                <a:ext cx="1581150" cy="31790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8923"/>
                    </a:moveTo>
                    <a:lnTo>
                      <a:pt x="900" y="0"/>
                    </a:lnTo>
                    <a:lnTo>
                      <a:pt x="1800" y="6896"/>
                    </a:lnTo>
                    <a:lnTo>
                      <a:pt x="2700" y="7007"/>
                    </a:lnTo>
                    <a:lnTo>
                      <a:pt x="3600" y="9541"/>
                    </a:lnTo>
                    <a:lnTo>
                      <a:pt x="4500" y="21600"/>
                    </a:lnTo>
                    <a:lnTo>
                      <a:pt x="5400" y="17229"/>
                    </a:lnTo>
                    <a:lnTo>
                      <a:pt x="6300" y="8809"/>
                    </a:lnTo>
                    <a:lnTo>
                      <a:pt x="7200" y="10297"/>
                    </a:lnTo>
                    <a:lnTo>
                      <a:pt x="8100" y="2623"/>
                    </a:lnTo>
                    <a:lnTo>
                      <a:pt x="9000" y="573"/>
                    </a:lnTo>
                    <a:lnTo>
                      <a:pt x="9900" y="13692"/>
                    </a:lnTo>
                    <a:lnTo>
                      <a:pt x="10800" y="15361"/>
                    </a:lnTo>
                    <a:lnTo>
                      <a:pt x="11700" y="14547"/>
                    </a:lnTo>
                    <a:lnTo>
                      <a:pt x="12600" y="19717"/>
                    </a:lnTo>
                    <a:lnTo>
                      <a:pt x="13500" y="9444"/>
                    </a:lnTo>
                    <a:lnTo>
                      <a:pt x="14400" y="709"/>
                    </a:lnTo>
                    <a:lnTo>
                      <a:pt x="15300" y="6858"/>
                    </a:lnTo>
                    <a:lnTo>
                      <a:pt x="16200" y="5849"/>
                    </a:lnTo>
                    <a:lnTo>
                      <a:pt x="17100" y="8892"/>
                    </a:lnTo>
                    <a:lnTo>
                      <a:pt x="18000" y="21395"/>
                    </a:lnTo>
                    <a:lnTo>
                      <a:pt x="18900" y="17216"/>
                    </a:lnTo>
                    <a:lnTo>
                      <a:pt x="19800" y="9872"/>
                    </a:lnTo>
                    <a:lnTo>
                      <a:pt x="20700" y="11246"/>
                    </a:lnTo>
                    <a:lnTo>
                      <a:pt x="21600" y="2469"/>
                    </a:lnTo>
                  </a:path>
                </a:pathLst>
              </a:custGeom>
              <a:noFill/>
              <a:ln w="19050">
                <a:solidFill>
                  <a:srgbClr val="A99BC1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16" name="Cell 4-3"/>
            <p:cNvGrpSpPr/>
            <p:nvPr/>
          </p:nvGrpSpPr>
          <p:grpSpPr>
            <a:xfrm>
              <a:off x="9544050" y="4975713"/>
              <a:ext cx="1571625" cy="343938"/>
              <a:chOff x="9544050" y="4975713"/>
              <a:chExt cx="1571625" cy="343938"/>
            </a:xfrm>
          </p:grpSpPr>
          <p:sp>
            <p:nvSpPr>
              <p:cNvPr id="75" name="Path 75"/>
              <p:cNvSpPr/>
              <p:nvPr/>
            </p:nvSpPr>
            <p:spPr>
              <a:xfrm>
                <a:off x="9544050" y="5008514"/>
                <a:ext cx="990600" cy="31113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>
                <a:solidFill>
                  <a:srgbClr val="348A71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76" name="Path 76"/>
              <p:cNvSpPr/>
              <p:nvPr/>
            </p:nvSpPr>
            <p:spPr>
              <a:xfrm>
                <a:off x="10553700" y="5143500"/>
                <a:ext cx="20002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5240">
                <a:solidFill>
                  <a:srgbClr val="348A71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77" name="c32document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829925" y="4975713"/>
                <a:ext cx="285750" cy="316523"/>
              </a:xfrm>
              <a:prstGeom prst="rect">
                <a:avLst/>
              </a:prstGeom>
            </p:spPr>
          </p:pic>
        </p:grpSp>
        <p:grpSp>
          <p:nvGrpSpPr>
            <p:cNvPr id="2017" name="Cell 4-4"/>
            <p:cNvGrpSpPr/>
            <p:nvPr/>
          </p:nvGrpSpPr>
          <p:grpSpPr>
            <a:xfrm>
              <a:off x="13211175" y="4962525"/>
              <a:ext cx="1581150" cy="343853"/>
              <a:chOff x="13211175" y="4962525"/>
              <a:chExt cx="1581150" cy="343853"/>
            </a:xfrm>
          </p:grpSpPr>
          <p:sp>
            <p:nvSpPr>
              <p:cNvPr id="78" name="Rect 78"/>
              <p:cNvSpPr/>
              <p:nvPr/>
            </p:nvSpPr>
            <p:spPr>
              <a:xfrm>
                <a:off x="13211175" y="4962525"/>
                <a:ext cx="1581150" cy="342900"/>
              </a:xfrm>
              <a:prstGeom prst="rect">
                <a:avLst/>
              </a:prstGeom>
              <a:solidFill>
                <a:srgbClr val="EDF5F8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79" name="Ellipse 79"/>
              <p:cNvSpPr/>
              <p:nvPr/>
            </p:nvSpPr>
            <p:spPr>
              <a:xfrm>
                <a:off x="13973175" y="5124450"/>
                <a:ext cx="76200" cy="76200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0" name="Path 80"/>
              <p:cNvSpPr/>
              <p:nvPr/>
            </p:nvSpPr>
            <p:spPr>
              <a:xfrm>
                <a:off x="13211175" y="4962525"/>
                <a:ext cx="15811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2700">
                <a:solidFill>
                  <a:srgbClr val="317DA4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81" name="Path 81"/>
              <p:cNvSpPr/>
              <p:nvPr/>
            </p:nvSpPr>
            <p:spPr>
              <a:xfrm>
                <a:off x="13211175" y="5305425"/>
                <a:ext cx="15811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2700">
                <a:solidFill>
                  <a:srgbClr val="317DA4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82" name="Path 82"/>
              <p:cNvSpPr/>
              <p:nvPr/>
            </p:nvSpPr>
            <p:spPr>
              <a:xfrm>
                <a:off x="13287375" y="5162550"/>
                <a:ext cx="142875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524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</p:grpSp>
        <p:grpSp>
          <p:nvGrpSpPr>
            <p:cNvPr id="2018" name="Example headings"/>
            <p:cNvGrpSpPr/>
            <p:nvPr/>
          </p:nvGrpSpPr>
          <p:grpSpPr>
            <a:xfrm>
              <a:off x="190500" y="5867400"/>
              <a:ext cx="16478250" cy="609600"/>
              <a:chOff x="190500" y="5867400"/>
              <a:chExt cx="16478250" cy="609600"/>
            </a:xfrm>
          </p:grpSpPr>
          <p:sp>
            <p:nvSpPr>
              <p:cNvPr id="83" name="Path 83"/>
              <p:cNvSpPr/>
              <p:nvPr/>
            </p:nvSpPr>
            <p:spPr>
              <a:xfrm>
                <a:off x="219075" y="5867400"/>
                <a:ext cx="1644967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CEDDE7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190500" y="5981700"/>
                <a:ext cx="66675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400" b="1">
                    <a:solidFill>
                      <a:srgbClr val="24485E"/>
                    </a:solidFill>
                    <a:latin typeface="Times New Roman"/>
                    <a:ea typeface="Times New Roman"/>
                    <a:cs typeface="Times New Roman"/>
                  </a:rPr>
                  <a:t>(b)</a:t>
                </a:r>
                <a:endParaRPr lang="zh-CN" sz="2400"/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1095375" y="6096000"/>
                <a:ext cx="26193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500" b="1">
                    <a:solidFill>
                      <a:srgbClr val="317DA4"/>
                    </a:solidFill>
                    <a:latin typeface="Times New Roman"/>
                    <a:ea typeface="Times New Roman"/>
                    <a:cs typeface="Times New Roman"/>
                  </a:rPr>
                  <a:t>Execute</a:t>
                </a:r>
                <a:endParaRPr lang="zh-CN" sz="2500"/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5286375" y="6096000"/>
                <a:ext cx="26193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500" b="1">
                    <a:solidFill>
                      <a:srgbClr val="705795"/>
                    </a:solidFill>
                    <a:latin typeface="Times New Roman"/>
                    <a:ea typeface="Times New Roman"/>
                    <a:cs typeface="Times New Roman"/>
                  </a:rPr>
                  <a:t>Prepare</a:t>
                </a:r>
                <a:endParaRPr lang="zh-CN" sz="2500"/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9477375" y="6096000"/>
                <a:ext cx="26193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500" b="1">
                    <a:solidFill>
                      <a:srgbClr val="348A71"/>
                    </a:solidFill>
                    <a:latin typeface="Times New Roman"/>
                    <a:ea typeface="Times New Roman"/>
                    <a:cs typeface="Times New Roman"/>
                  </a:rPr>
                  <a:t>Forecast</a:t>
                </a:r>
                <a:endParaRPr lang="zh-CN" sz="2500"/>
              </a:p>
            </p:txBody>
          </p:sp>
          <p:sp>
            <p:nvSpPr>
              <p:cNvPr id="113" name="TextBox 113"/>
              <p:cNvSpPr txBox="1"/>
              <p:nvPr/>
            </p:nvSpPr>
            <p:spPr>
              <a:xfrm>
                <a:off x="13620750" y="6096000"/>
                <a:ext cx="26193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500" b="1">
                    <a:solidFill>
                      <a:srgbClr val="317DA4"/>
                    </a:solidFill>
                    <a:latin typeface="Times New Roman"/>
                    <a:ea typeface="Times New Roman"/>
                    <a:cs typeface="Times New Roman"/>
                  </a:rPr>
                  <a:t>Decide</a:t>
                </a:r>
                <a:endParaRPr lang="zh-CN" sz="2500"/>
              </a:p>
            </p:txBody>
          </p:sp>
        </p:grpSp>
        <p:grpSp>
          <p:nvGrpSpPr>
            <p:cNvPr id="2019" name="Demand-planning module 1"/>
            <p:cNvGrpSpPr/>
            <p:nvPr/>
          </p:nvGrpSpPr>
          <p:grpSpPr>
            <a:xfrm>
              <a:off x="333375" y="6802570"/>
              <a:ext cx="3810000" cy="1407980"/>
              <a:chOff x="333375" y="6802570"/>
              <a:chExt cx="3810000" cy="1407980"/>
            </a:xfrm>
          </p:grpSpPr>
          <p:sp>
            <p:nvSpPr>
              <p:cNvPr id="85" name="Path 85"/>
              <p:cNvSpPr/>
              <p:nvPr/>
            </p:nvSpPr>
            <p:spPr>
              <a:xfrm>
                <a:off x="1238250" y="7010400"/>
                <a:ext cx="52387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86" name="Path 86"/>
              <p:cNvSpPr/>
              <p:nvPr/>
            </p:nvSpPr>
            <p:spPr>
              <a:xfrm>
                <a:off x="1238250" y="7248525"/>
                <a:ext cx="52387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651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87" name="code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7225" y="6819900"/>
                <a:ext cx="523875" cy="571500"/>
              </a:xfrm>
              <a:prstGeom prst="rect">
                <a:avLst/>
              </a:prstGeom>
            </p:spPr>
          </p:pic>
          <p:pic>
            <p:nvPicPr>
              <p:cNvPr id="88" name="tool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76425" y="6802570"/>
                <a:ext cx="552450" cy="606160"/>
              </a:xfrm>
              <a:prstGeom prst="rect">
                <a:avLst/>
              </a:prstGeom>
            </p:spPr>
          </p:pic>
          <p:pic>
            <p:nvPicPr>
              <p:cNvPr id="89" name="terminal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095625" y="6879726"/>
                <a:ext cx="638175" cy="480424"/>
              </a:xfrm>
              <a:prstGeom prst="rect">
                <a:avLst/>
              </a:prstGeom>
            </p:spPr>
          </p:pic>
          <p:sp>
            <p:nvSpPr>
              <p:cNvPr id="91" name="TextBox 91"/>
              <p:cNvSpPr txBox="1"/>
              <p:nvPr/>
            </p:nvSpPr>
            <p:spPr>
              <a:xfrm>
                <a:off x="333375" y="7877175"/>
                <a:ext cx="3810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00">
                    <a:solidFill>
                      <a:srgbClr val="24485E"/>
                    </a:solidFill>
                    <a:latin typeface="Times New Roman"/>
                    <a:ea typeface="Times New Roman"/>
                    <a:cs typeface="Times New Roman"/>
                  </a:rPr>
                  <a:t>General Harness</a:t>
                </a:r>
                <a:endParaRPr lang="zh-CN" sz="1900"/>
              </a:p>
            </p:txBody>
          </p:sp>
        </p:grpSp>
        <p:grpSp>
          <p:nvGrpSpPr>
            <p:cNvPr id="2020" name="Demand-planning module 2"/>
            <p:cNvGrpSpPr/>
            <p:nvPr/>
          </p:nvGrpSpPr>
          <p:grpSpPr>
            <a:xfrm>
              <a:off x="4000500" y="6767008"/>
              <a:ext cx="4333875" cy="1443542"/>
              <a:chOff x="4000500" y="6767008"/>
              <a:chExt cx="4333875" cy="1443542"/>
            </a:xfrm>
          </p:grpSpPr>
          <p:sp>
            <p:nvSpPr>
              <p:cNvPr id="92" name="Path 92"/>
              <p:cNvSpPr/>
              <p:nvPr/>
            </p:nvSpPr>
            <p:spPr>
              <a:xfrm>
                <a:off x="4810125" y="6812308"/>
                <a:ext cx="1857375" cy="10917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0925"/>
                    </a:moveTo>
                    <a:lnTo>
                      <a:pt x="900" y="1180"/>
                    </a:lnTo>
                    <a:lnTo>
                      <a:pt x="1800" y="6983"/>
                    </a:lnTo>
                    <a:lnTo>
                      <a:pt x="2700" y="6049"/>
                    </a:lnTo>
                    <a:lnTo>
                      <a:pt x="3600" y="8464"/>
                    </a:lnTo>
                    <a:lnTo>
                      <a:pt x="4500" y="21600"/>
                    </a:lnTo>
                    <a:lnTo>
                      <a:pt x="5400" y="18406"/>
                    </a:lnTo>
                    <a:lnTo>
                      <a:pt x="6300" y="10707"/>
                    </a:lnTo>
                    <a:lnTo>
                      <a:pt x="7200" y="12175"/>
                    </a:lnTo>
                    <a:lnTo>
                      <a:pt x="8100" y="3358"/>
                    </a:lnTo>
                    <a:lnTo>
                      <a:pt x="9000" y="0"/>
                    </a:lnTo>
                    <a:lnTo>
                      <a:pt x="9900" y="12674"/>
                    </a:lnTo>
                    <a:lnTo>
                      <a:pt x="10800" y="14658"/>
                    </a:lnTo>
                    <a:lnTo>
                      <a:pt x="11700" y="14932"/>
                    </a:lnTo>
                    <a:lnTo>
                      <a:pt x="12600" y="21429"/>
                    </a:lnTo>
                    <a:lnTo>
                      <a:pt x="13500" y="11464"/>
                    </a:lnTo>
                    <a:lnTo>
                      <a:pt x="14400" y="2045"/>
                    </a:lnTo>
                    <a:lnTo>
                      <a:pt x="15300" y="7127"/>
                    </a:lnTo>
                    <a:lnTo>
                      <a:pt x="16200" y="4971"/>
                    </a:lnTo>
                    <a:lnTo>
                      <a:pt x="17100" y="7761"/>
                    </a:lnTo>
                    <a:lnTo>
                      <a:pt x="18000" y="21231"/>
                    </a:lnTo>
                    <a:lnTo>
                      <a:pt x="18900" y="18219"/>
                    </a:lnTo>
                    <a:lnTo>
                      <a:pt x="19800" y="11717"/>
                    </a:lnTo>
                    <a:lnTo>
                      <a:pt x="20700" y="13215"/>
                    </a:lnTo>
                    <a:lnTo>
                      <a:pt x="21600" y="3374"/>
                    </a:lnTo>
                  </a:path>
                </a:pathLst>
              </a:custGeom>
              <a:noFill/>
              <a:ln w="19050">
                <a:solidFill>
                  <a:srgbClr val="70579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93" name="Path 93"/>
              <p:cNvSpPr/>
              <p:nvPr/>
            </p:nvSpPr>
            <p:spPr>
              <a:xfrm>
                <a:off x="4810125" y="7021161"/>
                <a:ext cx="1857375" cy="1146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8306"/>
                    </a:moveTo>
                    <a:lnTo>
                      <a:pt x="900" y="0"/>
                    </a:lnTo>
                    <a:lnTo>
                      <a:pt x="1800" y="7314"/>
                    </a:lnTo>
                    <a:lnTo>
                      <a:pt x="2700" y="7865"/>
                    </a:lnTo>
                    <a:lnTo>
                      <a:pt x="3600" y="10322"/>
                    </a:lnTo>
                    <a:lnTo>
                      <a:pt x="4500" y="21600"/>
                    </a:lnTo>
                    <a:lnTo>
                      <a:pt x="5400" y="16743"/>
                    </a:lnTo>
                    <a:lnTo>
                      <a:pt x="6300" y="8190"/>
                    </a:lnTo>
                    <a:lnTo>
                      <a:pt x="7200" y="9754"/>
                    </a:lnTo>
                    <a:lnTo>
                      <a:pt x="8100" y="2806"/>
                    </a:lnTo>
                    <a:lnTo>
                      <a:pt x="9000" y="1396"/>
                    </a:lnTo>
                    <a:lnTo>
                      <a:pt x="9900" y="14428"/>
                    </a:lnTo>
                    <a:lnTo>
                      <a:pt x="10800" y="15832"/>
                    </a:lnTo>
                    <a:lnTo>
                      <a:pt x="11700" y="14473"/>
                    </a:lnTo>
                    <a:lnTo>
                      <a:pt x="12600" y="18959"/>
                    </a:lnTo>
                    <a:lnTo>
                      <a:pt x="13500" y="8796"/>
                    </a:lnTo>
                    <a:lnTo>
                      <a:pt x="14400" y="615"/>
                    </a:lnTo>
                    <a:lnTo>
                      <a:pt x="15300" y="7193"/>
                    </a:lnTo>
                    <a:lnTo>
                      <a:pt x="16200" y="6700"/>
                    </a:lnTo>
                    <a:lnTo>
                      <a:pt x="17100" y="9723"/>
                    </a:lnTo>
                    <a:lnTo>
                      <a:pt x="18000" y="21482"/>
                    </a:lnTo>
                    <a:lnTo>
                      <a:pt x="18900" y="16810"/>
                    </a:lnTo>
                    <a:lnTo>
                      <a:pt x="19800" y="9249"/>
                    </a:lnTo>
                    <a:lnTo>
                      <a:pt x="20700" y="10631"/>
                    </a:lnTo>
                    <a:lnTo>
                      <a:pt x="21600" y="2570"/>
                    </a:lnTo>
                  </a:path>
                </a:pathLst>
              </a:custGeom>
              <a:noFill/>
              <a:ln w="19050">
                <a:solidFill>
                  <a:srgbClr val="70579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94" name="Path 94"/>
              <p:cNvSpPr/>
              <p:nvPr/>
            </p:nvSpPr>
            <p:spPr>
              <a:xfrm>
                <a:off x="4810125" y="7227283"/>
                <a:ext cx="1857375" cy="1201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6606"/>
                    </a:moveTo>
                    <a:lnTo>
                      <a:pt x="900" y="0"/>
                    </a:lnTo>
                    <a:lnTo>
                      <a:pt x="1800" y="8698"/>
                    </a:lnTo>
                    <a:lnTo>
                      <a:pt x="2700" y="10226"/>
                    </a:lnTo>
                    <a:lnTo>
                      <a:pt x="3600" y="12203"/>
                    </a:lnTo>
                    <a:lnTo>
                      <a:pt x="4500" y="21466"/>
                    </a:lnTo>
                    <a:lnTo>
                      <a:pt x="5400" y="15178"/>
                    </a:lnTo>
                    <a:lnTo>
                      <a:pt x="6300" y="6282"/>
                    </a:lnTo>
                    <a:lnTo>
                      <a:pt x="7200" y="8436"/>
                    </a:lnTo>
                    <a:lnTo>
                      <a:pt x="8100" y="3436"/>
                    </a:lnTo>
                    <a:lnTo>
                      <a:pt x="9000" y="3626"/>
                    </a:lnTo>
                    <a:lnTo>
                      <a:pt x="9900" y="16505"/>
                    </a:lnTo>
                    <a:lnTo>
                      <a:pt x="10800" y="16909"/>
                    </a:lnTo>
                    <a:lnTo>
                      <a:pt x="11700" y="13905"/>
                    </a:lnTo>
                    <a:lnTo>
                      <a:pt x="12600" y="16816"/>
                    </a:lnTo>
                    <a:lnTo>
                      <a:pt x="13500" y="6977"/>
                    </a:lnTo>
                    <a:lnTo>
                      <a:pt x="14400" y="352"/>
                    </a:lnTo>
                    <a:lnTo>
                      <a:pt x="15300" y="8361"/>
                    </a:lnTo>
                    <a:lnTo>
                      <a:pt x="16200" y="9050"/>
                    </a:lnTo>
                    <a:lnTo>
                      <a:pt x="17100" y="11766"/>
                    </a:lnTo>
                    <a:lnTo>
                      <a:pt x="18000" y="21600"/>
                    </a:lnTo>
                    <a:lnTo>
                      <a:pt x="18900" y="15439"/>
                    </a:lnTo>
                    <a:lnTo>
                      <a:pt x="19800" y="7312"/>
                    </a:lnTo>
                    <a:lnTo>
                      <a:pt x="20700" y="9103"/>
                    </a:lnTo>
                    <a:lnTo>
                      <a:pt x="21600" y="2960"/>
                    </a:lnTo>
                  </a:path>
                </a:pathLst>
              </a:custGeom>
              <a:noFill/>
              <a:ln w="19050">
                <a:solidFill>
                  <a:srgbClr val="70579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95" name="Path 95"/>
              <p:cNvSpPr/>
              <p:nvPr/>
            </p:nvSpPr>
            <p:spPr>
              <a:xfrm>
                <a:off x="6781800" y="7105650"/>
                <a:ext cx="40957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05795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96" name="calendar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324725" y="6767008"/>
                <a:ext cx="590550" cy="639184"/>
              </a:xfrm>
              <a:prstGeom prst="rect">
                <a:avLst/>
              </a:prstGeom>
            </p:spPr>
          </p:pic>
          <p:sp>
            <p:nvSpPr>
              <p:cNvPr id="98" name="TextBox 98"/>
              <p:cNvSpPr txBox="1"/>
              <p:nvPr/>
            </p:nvSpPr>
            <p:spPr>
              <a:xfrm>
                <a:off x="4524375" y="7877175"/>
                <a:ext cx="3810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00">
                    <a:solidFill>
                      <a:srgbClr val="24485E"/>
                    </a:solidFill>
                    <a:latin typeface="Times New Roman"/>
                    <a:ea typeface="Times New Roman"/>
                    <a:cs typeface="Times New Roman"/>
                  </a:rPr>
                  <a:t>General Time-Series Harness</a:t>
                </a:r>
                <a:endParaRPr lang="zh-CN" sz="1900"/>
              </a:p>
            </p:txBody>
          </p:sp>
          <p:sp>
            <p:nvSpPr>
              <p:cNvPr id="115" name="Path 115"/>
              <p:cNvSpPr/>
              <p:nvPr/>
            </p:nvSpPr>
            <p:spPr>
              <a:xfrm>
                <a:off x="4000500" y="7143750"/>
                <a:ext cx="61912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24485E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</p:grpSp>
        <p:grpSp>
          <p:nvGrpSpPr>
            <p:cNvPr id="2021" name="Demand-planning module 3"/>
            <p:cNvGrpSpPr/>
            <p:nvPr/>
          </p:nvGrpSpPr>
          <p:grpSpPr>
            <a:xfrm>
              <a:off x="8191500" y="6562725"/>
              <a:ext cx="4333875" cy="1647825"/>
              <a:chOff x="8191500" y="6562725"/>
              <a:chExt cx="4333875" cy="1647825"/>
            </a:xfrm>
          </p:grpSpPr>
          <p:sp>
            <p:nvSpPr>
              <p:cNvPr id="99" name="Path 99"/>
              <p:cNvSpPr/>
              <p:nvPr/>
            </p:nvSpPr>
            <p:spPr>
              <a:xfrm>
                <a:off x="9001125" y="7030212"/>
                <a:ext cx="1762125" cy="26403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700" y="11314"/>
                    </a:lnTo>
                    <a:lnTo>
                      <a:pt x="5400" y="19029"/>
                    </a:lnTo>
                    <a:lnTo>
                      <a:pt x="8100" y="1029"/>
                    </a:lnTo>
                    <a:lnTo>
                      <a:pt x="10800" y="13886"/>
                    </a:lnTo>
                    <a:lnTo>
                      <a:pt x="13500" y="6171"/>
                    </a:lnTo>
                    <a:lnTo>
                      <a:pt x="16200" y="19029"/>
                    </a:lnTo>
                    <a:lnTo>
                      <a:pt x="18900" y="10286"/>
                    </a:ln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348A71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00" name="Path 100"/>
              <p:cNvSpPr/>
              <p:nvPr/>
            </p:nvSpPr>
            <p:spPr>
              <a:xfrm>
                <a:off x="10763250" y="6705600"/>
                <a:ext cx="953" cy="771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01" name="Path 101"/>
              <p:cNvSpPr/>
              <p:nvPr/>
            </p:nvSpPr>
            <p:spPr>
              <a:xfrm>
                <a:off x="10763250" y="7029450"/>
                <a:ext cx="128587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4800" y="21600"/>
                    </a:lnTo>
                    <a:lnTo>
                      <a:pt x="10080" y="21600"/>
                    </a:lnTo>
                    <a:lnTo>
                      <a:pt x="16160" y="21600"/>
                    </a:lnTo>
                    <a:lnTo>
                      <a:pt x="21600" y="10800"/>
                    </a:lnTo>
                  </a:path>
                </a:pathLst>
              </a:custGeom>
              <a:noFill/>
              <a:ln w="16510">
                <a:solidFill>
                  <a:srgbClr val="317DA4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02" name="Path 102"/>
              <p:cNvSpPr/>
              <p:nvPr/>
            </p:nvSpPr>
            <p:spPr>
              <a:xfrm>
                <a:off x="10763250" y="6800850"/>
                <a:ext cx="128587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4800" y="16200"/>
                    </a:lnTo>
                    <a:lnTo>
                      <a:pt x="10080" y="10800"/>
                    </a:lnTo>
                    <a:lnTo>
                      <a:pt x="16160" y="5400"/>
                    </a:ln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317DA4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03" name="Path 103"/>
              <p:cNvSpPr/>
              <p:nvPr/>
            </p:nvSpPr>
            <p:spPr>
              <a:xfrm>
                <a:off x="10763250" y="6562725"/>
                <a:ext cx="1285875" cy="4667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4800" y="15429"/>
                    </a:lnTo>
                    <a:lnTo>
                      <a:pt x="10080" y="10139"/>
                    </a:lnTo>
                    <a:lnTo>
                      <a:pt x="16160" y="4849"/>
                    </a:ln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317DA4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05" name="TextBox 105"/>
              <p:cNvSpPr txBox="1"/>
              <p:nvPr/>
            </p:nvSpPr>
            <p:spPr>
              <a:xfrm>
                <a:off x="8715375" y="7877175"/>
                <a:ext cx="3810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00">
                    <a:solidFill>
                      <a:srgbClr val="24485E"/>
                    </a:solidFill>
                    <a:latin typeface="Times New Roman"/>
                    <a:ea typeface="Times New Roman"/>
                    <a:cs typeface="Times New Roman"/>
                  </a:rPr>
                  <a:t>Task-Specific Harness</a:t>
                </a:r>
                <a:endParaRPr lang="zh-CN" sz="1900"/>
              </a:p>
            </p:txBody>
          </p:sp>
          <p:sp>
            <p:nvSpPr>
              <p:cNvPr id="116" name="Path 116"/>
              <p:cNvSpPr/>
              <p:nvPr/>
            </p:nvSpPr>
            <p:spPr>
              <a:xfrm>
                <a:off x="8191500" y="7143750"/>
                <a:ext cx="619125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24485E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</p:grpSp>
        <p:grpSp>
          <p:nvGrpSpPr>
            <p:cNvPr id="2022" name="Demand-planning module 4"/>
            <p:cNvGrpSpPr/>
            <p:nvPr/>
          </p:nvGrpSpPr>
          <p:grpSpPr>
            <a:xfrm>
              <a:off x="12382500" y="6667500"/>
              <a:ext cx="4286250" cy="1543050"/>
              <a:chOff x="12382500" y="6667500"/>
              <a:chExt cx="4286250" cy="1543050"/>
            </a:xfrm>
          </p:grpSpPr>
          <p:sp>
            <p:nvSpPr>
              <p:cNvPr id="106" name="Path 106"/>
              <p:cNvSpPr/>
              <p:nvPr/>
            </p:nvSpPr>
            <p:spPr>
              <a:xfrm>
                <a:off x="13792200" y="7105650"/>
                <a:ext cx="3810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07" name="Path 107"/>
              <p:cNvSpPr/>
              <p:nvPr/>
            </p:nvSpPr>
            <p:spPr>
              <a:xfrm>
                <a:off x="14801850" y="6858000"/>
                <a:ext cx="6667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9257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08" name="Path 108"/>
              <p:cNvSpPr/>
              <p:nvPr/>
            </p:nvSpPr>
            <p:spPr>
              <a:xfrm>
                <a:off x="14801850" y="7105650"/>
                <a:ext cx="66675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9257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1651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109" name="stock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3144500" y="6841958"/>
                <a:ext cx="600075" cy="536909"/>
              </a:xfrm>
              <a:prstGeom prst="rect">
                <a:avLst/>
              </a:prstGeom>
            </p:spPr>
          </p:pic>
          <p:pic>
            <p:nvPicPr>
              <p:cNvPr id="110" name="order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279834" y="6819900"/>
                <a:ext cx="424908" cy="590550"/>
              </a:xfrm>
              <a:prstGeom prst="rect">
                <a:avLst/>
              </a:prstGeom>
            </p:spPr>
          </p:pic>
          <p:pic>
            <p:nvPicPr>
              <p:cNvPr id="111" name="cart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5636875" y="6667500"/>
                <a:ext cx="425450" cy="381000"/>
              </a:xfrm>
              <a:prstGeom prst="rect">
                <a:avLst/>
              </a:prstGeom>
            </p:spPr>
          </p:pic>
          <p:pic>
            <p:nvPicPr>
              <p:cNvPr id="112" name="cost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5621000" y="7242106"/>
                <a:ext cx="419100" cy="346213"/>
              </a:xfrm>
              <a:prstGeom prst="rect">
                <a:avLst/>
              </a:prstGeom>
            </p:spPr>
          </p:pic>
          <p:sp>
            <p:nvSpPr>
              <p:cNvPr id="114" name="TextBox 114"/>
              <p:cNvSpPr txBox="1"/>
              <p:nvPr/>
            </p:nvSpPr>
            <p:spPr>
              <a:xfrm>
                <a:off x="12858750" y="7877175"/>
                <a:ext cx="3810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00">
                    <a:solidFill>
                      <a:srgbClr val="24485E"/>
                    </a:solidFill>
                    <a:latin typeface="Times New Roman"/>
                    <a:ea typeface="Times New Roman"/>
                    <a:cs typeface="Times New Roman"/>
                  </a:rPr>
                  <a:t>Task-Specific Harness</a:t>
                </a:r>
                <a:endParaRPr lang="zh-CN" sz="1900"/>
              </a:p>
            </p:txBody>
          </p:sp>
          <p:sp>
            <p:nvSpPr>
              <p:cNvPr id="117" name="Path 117"/>
              <p:cNvSpPr/>
              <p:nvPr/>
            </p:nvSpPr>
            <p:spPr>
              <a:xfrm>
                <a:off x="12382500" y="7143750"/>
                <a:ext cx="571500" cy="9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24485E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