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11 Evidence — ungroup into components"/>
          <p:cNvGrpSpPr/>
          <p:nvPr/>
        </p:nvGrpSpPr>
        <p:grpSpPr>
          <a:xfrm>
            <a:off x="190500" y="333375"/>
            <a:ext cx="16487775" cy="7553325"/>
            <a:chOff x="190500" y="333375"/>
            <a:chExt cx="16487775" cy="7553325"/>
          </a:xfrm>
        </p:grpSpPr>
        <p:grpSp>
          <p:nvGrpSpPr>
            <p:cNvPr id="10000" name="Contract"/>
            <p:cNvGrpSpPr/>
            <p:nvPr/>
          </p:nvGrpSpPr>
          <p:grpSpPr>
            <a:xfrm>
              <a:off x="190500" y="333375"/>
              <a:ext cx="4333875" cy="2381250"/>
              <a:chOff x="190500" y="333375"/>
              <a:chExt cx="4333875" cy="2381250"/>
            </a:xfrm>
          </p:grpSpPr>
          <p:sp>
            <p:nvSpPr>
              <p:cNvPr id="2" name="contract-boundary"/>
              <p:cNvSpPr/>
              <p:nvPr/>
            </p:nvSpPr>
            <p:spPr>
              <a:xfrm>
                <a:off x="190500" y="333375"/>
                <a:ext cx="4333875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contract-time-tick0"/>
              <p:cNvSpPr/>
              <p:nvPr/>
            </p:nvSpPr>
            <p:spPr>
              <a:xfrm>
                <a:off x="18288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contract-time-tick1"/>
              <p:cNvSpPr/>
              <p:nvPr/>
            </p:nvSpPr>
            <p:spPr>
              <a:xfrm>
                <a:off x="230505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contract-time-tick2"/>
              <p:cNvSpPr/>
              <p:nvPr/>
            </p:nvSpPr>
            <p:spPr>
              <a:xfrm>
                <a:off x="27813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contract-time"/>
              <p:cNvSpPr/>
              <p:nvPr/>
            </p:nvSpPr>
            <p:spPr>
              <a:xfrm>
                <a:off x="1695450" y="1428750"/>
                <a:ext cx="144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2" name="contract-spec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4350" y="1066800"/>
                <a:ext cx="704850" cy="609600"/>
              </a:xfrm>
              <a:prstGeom prst="rect">
                <a:avLst/>
              </a:prstGeom>
            </p:spPr>
          </p:pic>
          <p:pic>
            <p:nvPicPr>
              <p:cNvPr id="43" name="contract-clock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5675" y="1066800"/>
                <a:ext cx="657225" cy="666750"/>
              </a:xfrm>
              <a:prstGeom prst="rect">
                <a:avLst/>
              </a:prstGeom>
            </p:spPr>
          </p:pic>
          <p:sp>
            <p:nvSpPr>
              <p:cNvPr id="57" name="contract-title"/>
              <p:cNvSpPr txBox="1"/>
              <p:nvPr/>
            </p:nvSpPr>
            <p:spPr>
              <a:xfrm>
                <a:off x="285750" y="438150"/>
                <a:ext cx="41433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Contract</a:t>
                </a:r>
                <a:endParaRPr lang="zh-CN" sz="2900"/>
              </a:p>
            </p:txBody>
          </p:sp>
          <p:sp>
            <p:nvSpPr>
              <p:cNvPr id="61" name="contract-spec-label"/>
              <p:cNvSpPr txBox="1"/>
              <p:nvPr/>
            </p:nvSpPr>
            <p:spPr>
              <a:xfrm>
                <a:off x="266700" y="1790700"/>
                <a:ext cx="138112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Output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specification</a:t>
                </a:r>
                <a:endParaRPr lang="zh-CN" sz="2200"/>
              </a:p>
            </p:txBody>
          </p:sp>
          <p:sp>
            <p:nvSpPr>
              <p:cNvPr id="62" name="contract-time-label"/>
              <p:cNvSpPr txBox="1"/>
              <p:nvPr/>
            </p:nvSpPr>
            <p:spPr>
              <a:xfrm>
                <a:off x="1676400" y="1790700"/>
                <a:ext cx="1524000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Time cutoff</a:t>
                </a:r>
                <a:endParaRPr lang="zh-CN" sz="2300"/>
              </a:p>
            </p:txBody>
          </p:sp>
          <p:sp>
            <p:nvSpPr>
              <p:cNvPr id="63" name="contract-budget"/>
              <p:cNvSpPr txBox="1"/>
              <p:nvPr/>
            </p:nvSpPr>
            <p:spPr>
              <a:xfrm>
                <a:off x="3333750" y="1809750"/>
                <a:ext cx="100012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Budget</a:t>
                </a:r>
                <a:endParaRPr lang="zh-CN" sz="2300"/>
              </a:p>
            </p:txBody>
          </p:sp>
        </p:grpSp>
        <p:grpSp>
          <p:nvGrpSpPr>
            <p:cNvPr id="10001" name="Resources"/>
            <p:cNvGrpSpPr/>
            <p:nvPr/>
          </p:nvGrpSpPr>
          <p:grpSpPr>
            <a:xfrm>
              <a:off x="4857750" y="333375"/>
              <a:ext cx="3752850" cy="2381250"/>
              <a:chOff x="4857750" y="333375"/>
              <a:chExt cx="3752850" cy="2381250"/>
            </a:xfrm>
          </p:grpSpPr>
          <p:sp>
            <p:nvSpPr>
              <p:cNvPr id="3" name="resources-boundary"/>
              <p:cNvSpPr/>
              <p:nvPr/>
            </p:nvSpPr>
            <p:spPr>
              <a:xfrm>
                <a:off x="4857750" y="333375"/>
                <a:ext cx="3752850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resources-data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3500" y="1095375"/>
                <a:ext cx="590550" cy="533400"/>
              </a:xfrm>
              <a:prstGeom prst="rect">
                <a:avLst/>
              </a:prstGeom>
            </p:spPr>
          </p:pic>
          <p:pic>
            <p:nvPicPr>
              <p:cNvPr id="45" name="resources-cod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86525" y="1095375"/>
                <a:ext cx="533400" cy="514350"/>
              </a:xfrm>
              <a:prstGeom prst="rect">
                <a:avLst/>
              </a:prstGeom>
            </p:spPr>
          </p:pic>
          <p:pic>
            <p:nvPicPr>
              <p:cNvPr id="46" name="resources-doc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1925" y="1057275"/>
                <a:ext cx="457200" cy="590550"/>
              </a:xfrm>
              <a:prstGeom prst="rect">
                <a:avLst/>
              </a:prstGeom>
            </p:spPr>
          </p:pic>
          <p:sp>
            <p:nvSpPr>
              <p:cNvPr id="58" name="resources-title"/>
              <p:cNvSpPr txBox="1"/>
              <p:nvPr/>
            </p:nvSpPr>
            <p:spPr>
              <a:xfrm>
                <a:off x="4953000" y="438150"/>
                <a:ext cx="35623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Resources</a:t>
                </a:r>
                <a:endParaRPr lang="zh-CN" sz="2900"/>
              </a:p>
            </p:txBody>
          </p:sp>
          <p:sp>
            <p:nvSpPr>
              <p:cNvPr id="64" name="resources-data-label"/>
              <p:cNvSpPr txBox="1"/>
              <p:nvPr/>
            </p:nvSpPr>
            <p:spPr>
              <a:xfrm>
                <a:off x="4972050" y="1809750"/>
                <a:ext cx="9715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Data</a:t>
                </a:r>
                <a:endParaRPr lang="zh-CN" sz="2300"/>
              </a:p>
            </p:txBody>
          </p:sp>
          <p:sp>
            <p:nvSpPr>
              <p:cNvPr id="65" name="resources-code-label"/>
              <p:cNvSpPr txBox="1"/>
              <p:nvPr/>
            </p:nvSpPr>
            <p:spPr>
              <a:xfrm>
                <a:off x="6143625" y="1781175"/>
                <a:ext cx="1295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Code</a:t>
                </a:r>
                <a:endParaRPr lang="zh-CN" sz="2300"/>
              </a:p>
            </p:txBody>
          </p:sp>
          <p:sp>
            <p:nvSpPr>
              <p:cNvPr id="66" name="resources-docs-label"/>
              <p:cNvSpPr txBox="1"/>
              <p:nvPr/>
            </p:nvSpPr>
            <p:spPr>
              <a:xfrm>
                <a:off x="7381875" y="1781175"/>
                <a:ext cx="112395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Documents</a:t>
                </a:r>
                <a:endParaRPr lang="zh-CN" sz="2300"/>
              </a:p>
            </p:txBody>
          </p:sp>
        </p:grpSp>
        <p:grpSp>
          <p:nvGrpSpPr>
            <p:cNvPr id="10002" name="Execution"/>
            <p:cNvGrpSpPr/>
            <p:nvPr/>
          </p:nvGrpSpPr>
          <p:grpSpPr>
            <a:xfrm>
              <a:off x="8934450" y="333375"/>
              <a:ext cx="3810000" cy="2381250"/>
              <a:chOff x="8934450" y="333375"/>
              <a:chExt cx="3810000" cy="2381250"/>
            </a:xfrm>
          </p:grpSpPr>
          <p:sp>
            <p:nvSpPr>
              <p:cNvPr id="4" name="execution-boundary"/>
              <p:cNvSpPr/>
              <p:nvPr/>
            </p:nvSpPr>
            <p:spPr>
              <a:xfrm>
                <a:off x="8934450" y="333375"/>
                <a:ext cx="3810000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xecution-fork"/>
              <p:cNvSpPr/>
              <p:nvPr/>
            </p:nvSpPr>
            <p:spPr>
              <a:xfrm>
                <a:off x="9810750" y="1200150"/>
                <a:ext cx="8001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2857" y="21600"/>
                    </a:lnTo>
                    <a:lnTo>
                      <a:pt x="128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0" name="execution-failbranch"/>
              <p:cNvSpPr/>
              <p:nvPr/>
            </p:nvSpPr>
            <p:spPr>
              <a:xfrm>
                <a:off x="10287000" y="1533525"/>
                <a:ext cx="1485900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AA625E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7" name="execution-call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58300" y="1323975"/>
                <a:ext cx="447675" cy="428625"/>
              </a:xfrm>
              <a:prstGeom prst="rect">
                <a:avLst/>
              </a:prstGeom>
            </p:spPr>
          </p:pic>
          <p:pic>
            <p:nvPicPr>
              <p:cNvPr id="48" name="execution-resul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15625" y="1019175"/>
                <a:ext cx="295275" cy="371475"/>
              </a:xfrm>
              <a:prstGeom prst="rect">
                <a:avLst/>
              </a:prstGeom>
            </p:spPr>
          </p:pic>
          <p:pic>
            <p:nvPicPr>
              <p:cNvPr id="49" name="execution-failure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06250" y="1885950"/>
                <a:ext cx="361950" cy="381000"/>
              </a:xfrm>
              <a:prstGeom prst="rect">
                <a:avLst/>
              </a:prstGeom>
            </p:spPr>
          </p:pic>
          <p:sp>
            <p:nvSpPr>
              <p:cNvPr id="59" name="execution-title"/>
              <p:cNvSpPr txBox="1"/>
              <p:nvPr/>
            </p:nvSpPr>
            <p:spPr>
              <a:xfrm>
                <a:off x="9029700" y="43815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Execution</a:t>
                </a:r>
                <a:endParaRPr lang="zh-CN" sz="2900"/>
              </a:p>
            </p:txBody>
          </p:sp>
          <p:sp>
            <p:nvSpPr>
              <p:cNvPr id="67" name="execution-call-label"/>
              <p:cNvSpPr txBox="1"/>
              <p:nvPr/>
            </p:nvSpPr>
            <p:spPr>
              <a:xfrm>
                <a:off x="9001125" y="1800225"/>
                <a:ext cx="1095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Tool call</a:t>
                </a:r>
                <a:endParaRPr lang="zh-CN" sz="2200"/>
              </a:p>
            </p:txBody>
          </p:sp>
          <p:sp>
            <p:nvSpPr>
              <p:cNvPr id="68" name="execution-success-label"/>
              <p:cNvSpPr txBox="1"/>
              <p:nvPr/>
            </p:nvSpPr>
            <p:spPr>
              <a:xfrm>
                <a:off x="11096625" y="100965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Result</a:t>
                </a:r>
                <a:endParaRPr lang="zh-CN" sz="2300"/>
              </a:p>
            </p:txBody>
          </p:sp>
          <p:sp>
            <p:nvSpPr>
              <p:cNvPr id="69" name="execution-fail-label"/>
              <p:cNvSpPr txBox="1"/>
              <p:nvPr/>
            </p:nvSpPr>
            <p:spPr>
              <a:xfrm>
                <a:off x="10763250" y="2266950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AA625E"/>
                    </a:solidFill>
                    <a:latin typeface="Times New Roman"/>
                    <a:ea typeface="Times New Roman"/>
                    <a:cs typeface="Times New Roman"/>
                  </a:rPr>
                  <a:t>Failure</a:t>
                </a:r>
                <a:endParaRPr lang="zh-CN" sz="2300"/>
              </a:p>
            </p:txBody>
          </p:sp>
        </p:grpSp>
        <p:grpSp>
          <p:nvGrpSpPr>
            <p:cNvPr id="10003" name="Artifact"/>
            <p:cNvGrpSpPr/>
            <p:nvPr/>
          </p:nvGrpSpPr>
          <p:grpSpPr>
            <a:xfrm>
              <a:off x="13049250" y="333375"/>
              <a:ext cx="3629025" cy="2381250"/>
              <a:chOff x="13049250" y="333375"/>
              <a:chExt cx="3629025" cy="2381250"/>
            </a:xfrm>
          </p:grpSpPr>
          <p:sp>
            <p:nvSpPr>
              <p:cNvPr id="5" name="artifact-boundary"/>
              <p:cNvSpPr/>
              <p:nvPr/>
            </p:nvSpPr>
            <p:spPr>
              <a:xfrm>
                <a:off x="13049250" y="333375"/>
                <a:ext cx="3629025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artifact-axis"/>
              <p:cNvSpPr/>
              <p:nvPr/>
            </p:nvSpPr>
            <p:spPr>
              <a:xfrm>
                <a:off x="13344525" y="1143000"/>
                <a:ext cx="17145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2700">
                <a:solidFill>
                  <a:srgbClr val="2446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2" name="artifact-curve"/>
              <p:cNvSpPr/>
              <p:nvPr/>
            </p:nvSpPr>
            <p:spPr>
              <a:xfrm>
                <a:off x="13354050" y="1152525"/>
                <a:ext cx="1619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0" name="artifact-file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763875" y="1057275"/>
                <a:ext cx="552450" cy="714375"/>
              </a:xfrm>
              <a:prstGeom prst="rect">
                <a:avLst/>
              </a:prstGeom>
            </p:spPr>
          </p:pic>
          <p:sp>
            <p:nvSpPr>
              <p:cNvPr id="60" name="artifact-title"/>
              <p:cNvSpPr txBox="1"/>
              <p:nvPr/>
            </p:nvSpPr>
            <p:spPr>
              <a:xfrm>
                <a:off x="13144500" y="438150"/>
                <a:ext cx="34385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Artifact</a:t>
                </a:r>
                <a:endParaRPr lang="zh-CN" sz="2900"/>
              </a:p>
            </p:txBody>
          </p:sp>
          <p:sp>
            <p:nvSpPr>
              <p:cNvPr id="70" name="artifact-pred-label"/>
              <p:cNvSpPr txBox="1"/>
              <p:nvPr/>
            </p:nvSpPr>
            <p:spPr>
              <a:xfrm>
                <a:off x="13239750" y="1952625"/>
                <a:ext cx="200025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Prediction</a:t>
                </a:r>
                <a:endParaRPr lang="zh-CN" sz="2300"/>
              </a:p>
            </p:txBody>
          </p:sp>
          <p:sp>
            <p:nvSpPr>
              <p:cNvPr id="71" name="artifact-file-label"/>
              <p:cNvSpPr txBox="1"/>
              <p:nvPr/>
            </p:nvSpPr>
            <p:spPr>
              <a:xfrm>
                <a:off x="15306675" y="1952625"/>
                <a:ext cx="12858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Output file</a:t>
                </a:r>
                <a:endParaRPr lang="zh-CN" sz="2300"/>
              </a:p>
            </p:txBody>
          </p:sp>
        </p:grpSp>
        <p:grpSp>
          <p:nvGrpSpPr>
            <p:cNvPr id="10004" name="Performance"/>
            <p:cNvGrpSpPr/>
            <p:nvPr/>
          </p:nvGrpSpPr>
          <p:grpSpPr>
            <a:xfrm>
              <a:off x="238125" y="3905250"/>
              <a:ext cx="5286375" cy="3981450"/>
              <a:chOff x="238125" y="3905250"/>
              <a:chExt cx="5286375" cy="3981450"/>
            </a:xfrm>
          </p:grpSpPr>
          <p:sp>
            <p:nvSpPr>
              <p:cNvPr id="9" name="performance-residual0"/>
              <p:cNvSpPr/>
              <p:nvPr/>
            </p:nvSpPr>
            <p:spPr>
              <a:xfrm>
                <a:off x="3705225" y="5581650"/>
                <a:ext cx="66675" cy="47625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performance-residual1"/>
              <p:cNvSpPr/>
              <p:nvPr/>
            </p:nvSpPr>
            <p:spPr>
              <a:xfrm>
                <a:off x="3876675" y="5600700"/>
                <a:ext cx="66675" cy="28575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performance-residual2"/>
              <p:cNvSpPr/>
              <p:nvPr/>
            </p:nvSpPr>
            <p:spPr>
              <a:xfrm>
                <a:off x="4048125" y="5629275"/>
                <a:ext cx="66675" cy="238125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performance-residual3"/>
              <p:cNvSpPr/>
              <p:nvPr/>
            </p:nvSpPr>
            <p:spPr>
              <a:xfrm>
                <a:off x="4219575" y="5629275"/>
                <a:ext cx="66675" cy="266700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performance-residual4"/>
              <p:cNvSpPr/>
              <p:nvPr/>
            </p:nvSpPr>
            <p:spPr>
              <a:xfrm>
                <a:off x="4391025" y="5629275"/>
                <a:ext cx="66675" cy="285750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performance-residual5"/>
              <p:cNvSpPr/>
              <p:nvPr/>
            </p:nvSpPr>
            <p:spPr>
              <a:xfrm>
                <a:off x="4562475" y="5629275"/>
                <a:ext cx="66675" cy="333375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performance-residual6"/>
              <p:cNvSpPr/>
              <p:nvPr/>
            </p:nvSpPr>
            <p:spPr>
              <a:xfrm>
                <a:off x="4733925" y="5629275"/>
                <a:ext cx="66675" cy="28575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performance-residual7"/>
              <p:cNvSpPr/>
              <p:nvPr/>
            </p:nvSpPr>
            <p:spPr>
              <a:xfrm>
                <a:off x="4905375" y="5362575"/>
                <a:ext cx="66675" cy="266700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performance-residual8"/>
              <p:cNvSpPr/>
              <p:nvPr/>
            </p:nvSpPr>
            <p:spPr>
              <a:xfrm>
                <a:off x="5076825" y="5334000"/>
                <a:ext cx="66675" cy="295275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erformance-rule"/>
              <p:cNvSpPr/>
              <p:nvPr/>
            </p:nvSpPr>
            <p:spPr>
              <a:xfrm>
                <a:off x="23812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erformance-axes"/>
              <p:cNvSpPr/>
              <p:nvPr/>
            </p:nvSpPr>
            <p:spPr>
              <a:xfrm>
                <a:off x="581025" y="4819650"/>
                <a:ext cx="2162175" cy="1562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2700">
                <a:solidFill>
                  <a:srgbClr val="2446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3" name="performance-prediction"/>
              <p:cNvSpPr/>
              <p:nvPr/>
            </p:nvSpPr>
            <p:spPr>
              <a:xfrm>
                <a:off x="590550" y="4953000"/>
                <a:ext cx="2000250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413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erformance-reference"/>
              <p:cNvSpPr/>
              <p:nvPr/>
            </p:nvSpPr>
            <p:spPr>
              <a:xfrm>
                <a:off x="590550" y="5248275"/>
                <a:ext cx="2000250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5259"/>
                    </a:lnTo>
                    <a:lnTo>
                      <a:pt x="4937" y="6738"/>
                    </a:lnTo>
                    <a:lnTo>
                      <a:pt x="7714" y="4756"/>
                    </a:lnTo>
                    <a:lnTo>
                      <a:pt x="10594" y="6341"/>
                    </a:lnTo>
                    <a:lnTo>
                      <a:pt x="13166" y="6539"/>
                    </a:lnTo>
                    <a:lnTo>
                      <a:pt x="15943" y="9710"/>
                    </a:lnTo>
                    <a:lnTo>
                      <a:pt x="19234" y="5350"/>
                    </a:ln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performance-key1"/>
              <p:cNvSpPr/>
              <p:nvPr/>
            </p:nvSpPr>
            <p:spPr>
              <a:xfrm>
                <a:off x="409575" y="68389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performance-key2"/>
              <p:cNvSpPr/>
              <p:nvPr/>
            </p:nvSpPr>
            <p:spPr>
              <a:xfrm>
                <a:off x="409575" y="72485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performance-residual-axis"/>
              <p:cNvSpPr/>
              <p:nvPr/>
            </p:nvSpPr>
            <p:spPr>
              <a:xfrm>
                <a:off x="3571875" y="4838700"/>
                <a:ext cx="9525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2446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erformance-residual-zero"/>
              <p:cNvSpPr/>
              <p:nvPr/>
            </p:nvSpPr>
            <p:spPr>
              <a:xfrm>
                <a:off x="3571875" y="5629275"/>
                <a:ext cx="1781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2446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2" name="performance-title"/>
              <p:cNvSpPr txBox="1"/>
              <p:nvPr/>
            </p:nvSpPr>
            <p:spPr>
              <a:xfrm>
                <a:off x="23812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Task performance</a:t>
                </a:r>
                <a:endParaRPr lang="zh-CN" sz="2900"/>
              </a:p>
            </p:txBody>
          </p:sp>
          <p:sp>
            <p:nvSpPr>
              <p:cNvPr id="75" name="performance-output-label"/>
              <p:cNvSpPr txBox="1"/>
              <p:nvPr/>
            </p:nvSpPr>
            <p:spPr>
              <a:xfrm>
                <a:off x="619125" y="6648450"/>
                <a:ext cx="1428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Prediction</a:t>
                </a:r>
                <a:endParaRPr lang="zh-CN" sz="2300"/>
              </a:p>
            </p:txBody>
          </p:sp>
          <p:sp>
            <p:nvSpPr>
              <p:cNvPr id="76" name="performance-reference-label"/>
              <p:cNvSpPr txBox="1"/>
              <p:nvPr/>
            </p:nvSpPr>
            <p:spPr>
              <a:xfrm>
                <a:off x="619125" y="7058025"/>
                <a:ext cx="1428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Reference</a:t>
                </a:r>
                <a:endParaRPr lang="zh-CN" sz="2300"/>
              </a:p>
            </p:txBody>
          </p:sp>
          <p:sp>
            <p:nvSpPr>
              <p:cNvPr id="77" name="performance-residual-label"/>
              <p:cNvSpPr txBox="1"/>
              <p:nvPr/>
            </p:nvSpPr>
            <p:spPr>
              <a:xfrm>
                <a:off x="3438525" y="6648450"/>
                <a:ext cx="2000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Residuals</a:t>
                </a:r>
                <a:endParaRPr lang="zh-CN" sz="2300"/>
              </a:p>
            </p:txBody>
          </p:sp>
          <p:sp>
            <p:nvSpPr>
              <p:cNvPr id="78" name="performance-purpose"/>
              <p:cNvSpPr txBox="1"/>
              <p:nvPr/>
            </p:nvSpPr>
            <p:spPr>
              <a:xfrm>
                <a:off x="333375" y="7467600"/>
                <a:ext cx="50958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Compare outputs with held-out references</a:t>
                </a:r>
                <a:endParaRPr lang="zh-CN" sz="2400"/>
              </a:p>
            </p:txBody>
          </p:sp>
        </p:grpSp>
        <p:grpSp>
          <p:nvGrpSpPr>
            <p:cNvPr id="10005" name="Validity"/>
            <p:cNvGrpSpPr/>
            <p:nvPr/>
          </p:nvGrpSpPr>
          <p:grpSpPr>
            <a:xfrm>
              <a:off x="5810250" y="3905250"/>
              <a:ext cx="5286375" cy="3981450"/>
              <a:chOff x="5810250" y="3905250"/>
              <a:chExt cx="5286375" cy="3981450"/>
            </a:xfrm>
          </p:grpSpPr>
          <p:sp>
            <p:nvSpPr>
              <p:cNvPr id="30" name="validity-rule"/>
              <p:cNvSpPr/>
              <p:nvPr/>
            </p:nvSpPr>
            <p:spPr>
              <a:xfrm>
                <a:off x="5810250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1" name="validity-file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48400" y="4914900"/>
                <a:ext cx="638175" cy="790575"/>
              </a:xfrm>
              <a:prstGeom prst="rect">
                <a:avLst/>
              </a:prstGeom>
            </p:spPr>
          </p:pic>
          <p:pic>
            <p:nvPicPr>
              <p:cNvPr id="52" name="validity-schema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34350" y="4943475"/>
                <a:ext cx="695325" cy="704850"/>
              </a:xfrm>
              <a:prstGeom prst="rect">
                <a:avLst/>
              </a:prstGeom>
            </p:spPr>
          </p:pic>
          <p:pic>
            <p:nvPicPr>
              <p:cNvPr id="53" name="validity-runs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25050" y="4933950"/>
                <a:ext cx="781050" cy="781050"/>
              </a:xfrm>
              <a:prstGeom prst="rect">
                <a:avLst/>
              </a:prstGeom>
            </p:spPr>
          </p:pic>
          <p:sp>
            <p:nvSpPr>
              <p:cNvPr id="73" name="validity-title"/>
              <p:cNvSpPr txBox="1"/>
              <p:nvPr/>
            </p:nvSpPr>
            <p:spPr>
              <a:xfrm>
                <a:off x="5810250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Artifact validity</a:t>
                </a:r>
                <a:endParaRPr lang="zh-CN" sz="2900"/>
              </a:p>
            </p:txBody>
          </p:sp>
          <p:sp>
            <p:nvSpPr>
              <p:cNvPr id="79" name="validity-file-title"/>
              <p:cNvSpPr txBox="1"/>
              <p:nvPr/>
            </p:nvSpPr>
            <p:spPr>
              <a:xfrm>
                <a:off x="595312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File</a:t>
                </a:r>
                <a:endParaRPr lang="zh-CN" sz="2400"/>
              </a:p>
            </p:txBody>
          </p:sp>
          <p:sp>
            <p:nvSpPr>
              <p:cNvPr id="80" name="validity-file-desc"/>
              <p:cNvSpPr txBox="1"/>
              <p:nvPr/>
            </p:nvSpPr>
            <p:spPr>
              <a:xfrm>
                <a:off x="585787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Complete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and readable</a:t>
                </a:r>
                <a:endParaRPr lang="zh-CN" sz="2200"/>
              </a:p>
            </p:txBody>
          </p:sp>
          <p:sp>
            <p:nvSpPr>
              <p:cNvPr id="81" name="validity-schema-title"/>
              <p:cNvSpPr txBox="1"/>
              <p:nvPr/>
            </p:nvSpPr>
            <p:spPr>
              <a:xfrm>
                <a:off x="78390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Schema</a:t>
                </a:r>
                <a:endParaRPr lang="zh-CN" sz="2400"/>
              </a:p>
            </p:txBody>
          </p:sp>
          <p:sp>
            <p:nvSpPr>
              <p:cNvPr id="82" name="validity-schema-desc"/>
              <p:cNvSpPr txBox="1"/>
              <p:nvPr/>
            </p:nvSpPr>
            <p:spPr>
              <a:xfrm>
                <a:off x="77438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Required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structure</a:t>
                </a:r>
                <a:endParaRPr lang="zh-CN" sz="2200"/>
              </a:p>
            </p:txBody>
          </p:sp>
          <p:sp>
            <p:nvSpPr>
              <p:cNvPr id="83" name="validity-runs-title"/>
              <p:cNvSpPr txBox="1"/>
              <p:nvPr/>
            </p:nvSpPr>
            <p:spPr>
              <a:xfrm>
                <a:off x="96297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Execution</a:t>
                </a:r>
                <a:endParaRPr lang="zh-CN" sz="2400"/>
              </a:p>
            </p:txBody>
          </p:sp>
          <p:sp>
            <p:nvSpPr>
              <p:cNvPr id="84" name="validity-runs-desc"/>
              <p:cNvSpPr txBox="1"/>
              <p:nvPr/>
            </p:nvSpPr>
            <p:spPr>
              <a:xfrm>
                <a:off x="95345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Runs, loads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or parses</a:t>
                </a:r>
                <a:endParaRPr lang="zh-CN" sz="2200"/>
              </a:p>
            </p:txBody>
          </p:sp>
          <p:sp>
            <p:nvSpPr>
              <p:cNvPr id="85" name="validity-purpose"/>
              <p:cNvSpPr txBox="1"/>
              <p:nvPr/>
            </p:nvSpPr>
            <p:spPr>
              <a:xfrm>
                <a:off x="6000750" y="7467600"/>
                <a:ext cx="485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Check the required artifact</a:t>
                </a:r>
                <a:endParaRPr lang="zh-CN" sz="2400"/>
              </a:p>
            </p:txBody>
          </p:sp>
        </p:grpSp>
        <p:grpSp>
          <p:nvGrpSpPr>
            <p:cNvPr id="10006" name="Record"/>
            <p:cNvGrpSpPr/>
            <p:nvPr/>
          </p:nvGrpSpPr>
          <p:grpSpPr>
            <a:xfrm>
              <a:off x="11382375" y="3905250"/>
              <a:ext cx="5286375" cy="3905250"/>
              <a:chOff x="11382375" y="3905250"/>
              <a:chExt cx="5286375" cy="3905250"/>
            </a:xfrm>
          </p:grpSpPr>
          <p:sp>
            <p:nvSpPr>
              <p:cNvPr id="31" name="record-rule"/>
              <p:cNvSpPr/>
              <p:nvPr/>
            </p:nvSpPr>
            <p:spPr>
              <a:xfrm>
                <a:off x="1138237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record-rule0"/>
              <p:cNvSpPr/>
              <p:nvPr/>
            </p:nvSpPr>
            <p:spPr>
              <a:xfrm>
                <a:off x="11639550" y="537210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record-rule1"/>
              <p:cNvSpPr/>
              <p:nvPr/>
            </p:nvSpPr>
            <p:spPr>
              <a:xfrm>
                <a:off x="11639550" y="6238875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ord-rule2"/>
              <p:cNvSpPr/>
              <p:nvPr/>
            </p:nvSpPr>
            <p:spPr>
              <a:xfrm>
                <a:off x="11639550" y="710565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4" name="record-clock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687175" y="7448550"/>
                <a:ext cx="342900" cy="333375"/>
              </a:xfrm>
              <a:prstGeom prst="rect">
                <a:avLst/>
              </a:prstGeom>
            </p:spPr>
          </p:pic>
          <p:pic>
            <p:nvPicPr>
              <p:cNvPr id="55" name="record-cost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11200" y="7448550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56" name="record-tools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954250" y="74485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74" name="record-title"/>
              <p:cNvSpPr txBox="1"/>
              <p:nvPr/>
            </p:nvSpPr>
            <p:spPr>
              <a:xfrm>
                <a:off x="1138237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Execution record</a:t>
                </a:r>
                <a:endParaRPr lang="zh-CN" sz="2900"/>
              </a:p>
            </p:txBody>
          </p:sp>
          <p:sp>
            <p:nvSpPr>
              <p:cNvPr id="86" name="record-key0"/>
              <p:cNvSpPr txBox="1"/>
              <p:nvPr/>
            </p:nvSpPr>
            <p:spPr>
              <a:xfrm>
                <a:off x="11620500" y="481012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Call</a:t>
                </a:r>
                <a:endParaRPr lang="zh-CN" sz="2300"/>
              </a:p>
            </p:txBody>
          </p:sp>
          <p:sp>
            <p:nvSpPr>
              <p:cNvPr id="87" name="record-value0"/>
              <p:cNvSpPr txBox="1"/>
              <p:nvPr/>
            </p:nvSpPr>
            <p:spPr>
              <a:xfrm>
                <a:off x="12906375" y="481012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tool(input)</a:t>
                </a:r>
                <a:endParaRPr lang="zh-CN" sz="2300"/>
              </a:p>
            </p:txBody>
          </p:sp>
          <p:sp>
            <p:nvSpPr>
              <p:cNvPr id="88" name="record-key1"/>
              <p:cNvSpPr txBox="1"/>
              <p:nvPr/>
            </p:nvSpPr>
            <p:spPr>
              <a:xfrm>
                <a:off x="11620500" y="5676900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Status</a:t>
                </a:r>
                <a:endParaRPr lang="zh-CN" sz="2300"/>
              </a:p>
            </p:txBody>
          </p:sp>
          <p:sp>
            <p:nvSpPr>
              <p:cNvPr id="89" name="record-value1"/>
              <p:cNvSpPr txBox="1"/>
              <p:nvPr/>
            </p:nvSpPr>
            <p:spPr>
              <a:xfrm>
                <a:off x="12906375" y="5676900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result or error</a:t>
                </a:r>
                <a:endParaRPr lang="zh-CN" sz="2300"/>
              </a:p>
            </p:txBody>
          </p:sp>
          <p:sp>
            <p:nvSpPr>
              <p:cNvPr id="90" name="record-key2"/>
              <p:cNvSpPr txBox="1"/>
              <p:nvPr/>
            </p:nvSpPr>
            <p:spPr>
              <a:xfrm>
                <a:off x="11620500" y="654367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Artifact</a:t>
                </a:r>
                <a:endParaRPr lang="zh-CN" sz="2300"/>
              </a:p>
            </p:txBody>
          </p:sp>
          <p:sp>
            <p:nvSpPr>
              <p:cNvPr id="91" name="record-value2"/>
              <p:cNvSpPr txBox="1"/>
              <p:nvPr/>
            </p:nvSpPr>
            <p:spPr>
              <a:xfrm>
                <a:off x="12906375" y="654367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output reference</a:t>
                </a:r>
                <a:endParaRPr lang="zh-CN" sz="2300"/>
              </a:p>
            </p:txBody>
          </p:sp>
          <p:sp>
            <p:nvSpPr>
              <p:cNvPr id="92" name="record-latency"/>
              <p:cNvSpPr txBox="1"/>
              <p:nvPr/>
            </p:nvSpPr>
            <p:spPr>
              <a:xfrm>
                <a:off x="12096750" y="7391400"/>
                <a:ext cx="104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Latency</a:t>
                </a:r>
                <a:endParaRPr lang="zh-CN" sz="2200"/>
              </a:p>
            </p:txBody>
          </p:sp>
          <p:sp>
            <p:nvSpPr>
              <p:cNvPr id="93" name="record-cost-label"/>
              <p:cNvSpPr txBox="1"/>
              <p:nvPr/>
            </p:nvSpPr>
            <p:spPr>
              <a:xfrm>
                <a:off x="13811250" y="7391400"/>
                <a:ext cx="857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Cost</a:t>
                </a:r>
                <a:endParaRPr lang="zh-CN" sz="2200"/>
              </a:p>
            </p:txBody>
          </p:sp>
          <p:sp>
            <p:nvSpPr>
              <p:cNvPr id="94" name="record-tool-label"/>
              <p:cNvSpPr txBox="1"/>
              <p:nvPr/>
            </p:nvSpPr>
            <p:spPr>
              <a:xfrm>
                <a:off x="15354300" y="7391400"/>
                <a:ext cx="1238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Tool use</a:t>
                </a:r>
                <a:endParaRPr lang="zh-CN" sz="2200"/>
              </a:p>
            </p:txBody>
          </p:sp>
        </p:grpSp>
        <p:grpSp>
          <p:nvGrpSpPr>
            <p:cNvPr id="10007" name="Connectors"/>
            <p:cNvGrpSpPr/>
            <p:nvPr/>
          </p:nvGrpSpPr>
          <p:grpSpPr>
            <a:xfrm>
              <a:off x="2857500" y="1514475"/>
              <a:ext cx="11953875" cy="2286000"/>
              <a:chOff x="2857500" y="1514475"/>
              <a:chExt cx="11953875" cy="2286000"/>
            </a:xfrm>
          </p:grpSpPr>
          <p:sp>
            <p:nvSpPr>
              <p:cNvPr id="23" name="flow-stage0"/>
              <p:cNvSpPr/>
              <p:nvPr/>
            </p:nvSpPr>
            <p:spPr>
              <a:xfrm>
                <a:off x="4524375" y="151447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4" name="flow-stage1"/>
              <p:cNvSpPr/>
              <p:nvPr/>
            </p:nvSpPr>
            <p:spPr>
              <a:xfrm>
                <a:off x="8620125" y="1514475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5" name="flow-stage2"/>
              <p:cNvSpPr/>
              <p:nvPr/>
            </p:nvSpPr>
            <p:spPr>
              <a:xfrm>
                <a:off x="12763500" y="151447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flow-artifact-performance"/>
              <p:cNvSpPr/>
              <p:nvPr/>
            </p:nvSpPr>
            <p:spPr>
              <a:xfrm>
                <a:off x="2857500" y="2724150"/>
                <a:ext cx="119538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7455"/>
                    </a:lnTo>
                    <a:lnTo>
                      <a:pt x="0" y="7455"/>
                    </a:ln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flow-artifact-validity"/>
              <p:cNvSpPr/>
              <p:nvPr/>
            </p:nvSpPr>
            <p:spPr>
              <a:xfrm>
                <a:off x="8524875" y="3095625"/>
                <a:ext cx="952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8" name="flow-execution-record"/>
              <p:cNvSpPr/>
              <p:nvPr/>
            </p:nvSpPr>
            <p:spPr>
              <a:xfrm>
                <a:off x="10858500" y="2724150"/>
                <a:ext cx="33432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5352"/>
                    </a:lnTo>
                    <a:quadBezTo>
                      <a:pt x="1046" y="7455"/>
                      <a:pt x="0" y="9558"/>
                    </a:quadBezTo>
                    <a:lnTo>
                      <a:pt x="0" y="14145"/>
                    </a:lnTo>
                    <a:lnTo>
                      <a:pt x="21538" y="14145"/>
                    </a:lnTo>
                    <a:lnTo>
                      <a:pt x="21538" y="2160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