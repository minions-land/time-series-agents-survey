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7497425" cy="81534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1" name="Figure 10 — AnomaMind workflow"/>
          <p:cNvGrpSpPr/>
          <p:nvPr/>
        </p:nvGrpSpPr>
        <p:grpSpPr>
          <a:xfrm>
            <a:off x="285750" y="190500"/>
            <a:ext cx="16906875" cy="7696200"/>
            <a:chOff x="285750" y="190500"/>
            <a:chExt cx="16906875" cy="7696200"/>
          </a:xfrm>
        </p:grpSpPr>
        <p:grpSp>
          <p:nvGrpSpPr>
            <p:cNvPr id="1009" name="Inference workflow"/>
            <p:cNvGrpSpPr/>
            <p:nvPr/>
          </p:nvGrpSpPr>
          <p:grpSpPr>
            <a:xfrm>
              <a:off x="285750" y="190500"/>
              <a:ext cx="16906875" cy="5982652"/>
              <a:chOff x="285750" y="190500"/>
              <a:chExt cx="16906875" cy="5982652"/>
            </a:xfrm>
          </p:grpSpPr>
          <p:grpSp>
            <p:nvGrpSpPr>
              <p:cNvPr id="1000" name="Acquire evidence"/>
              <p:cNvGrpSpPr/>
              <p:nvPr/>
            </p:nvGrpSpPr>
            <p:grpSpPr>
              <a:xfrm>
                <a:off x="333375" y="190500"/>
                <a:ext cx="4048125" cy="5753100"/>
                <a:chOff x="333375" y="190500"/>
                <a:chExt cx="4048125" cy="5753100"/>
              </a:xfrm>
            </p:grpSpPr>
            <p:sp>
              <p:nvSpPr>
                <p:cNvPr id="2" name="Rect 2"/>
                <p:cNvSpPr/>
                <p:nvPr/>
              </p:nvSpPr>
              <p:spPr>
                <a:xfrm>
                  <a:off x="1695450" y="5162550"/>
                  <a:ext cx="876300" cy="247650"/>
                </a:xfrm>
                <a:prstGeom prst="rect">
                  <a:avLst/>
                </a:prstGeom>
                <a:solidFill>
                  <a:srgbClr val="E9F1F6"/>
                </a:solidFill>
                <a:ln>
                  <a:noFill/>
                </a:ln>
              </p:spPr>
              <p:txBody>
                <a:bodyPr/>
                <a:lstStyle/>
                <a:p/>
              </p:txBody>
            </p:sp>
            <p:pic>
              <p:nvPicPr>
                <p:cNvPr id="3" name="pattern0"/>
                <p:cNvPicPr/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28625" y="1476375"/>
                  <a:ext cx="2238375" cy="352425"/>
                </a:xfrm>
                <a:prstGeom prst="rect">
                  <a:avLst/>
                </a:prstGeom>
              </p:spPr>
            </p:pic>
            <p:pic>
              <p:nvPicPr>
                <p:cNvPr id="4" name="pattern1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8625" y="1857375"/>
                  <a:ext cx="2238375" cy="352425"/>
                </a:xfrm>
                <a:prstGeom prst="rect">
                  <a:avLst/>
                </a:prstGeom>
              </p:spPr>
            </p:pic>
            <p:pic>
              <p:nvPicPr>
                <p:cNvPr id="5" name="pattern2"/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28625" y="2238375"/>
                  <a:ext cx="2238375" cy="352425"/>
                </a:xfrm>
                <a:prstGeom prst="rect">
                  <a:avLst/>
                </a:prstGeom>
              </p:spPr>
            </p:pic>
            <p:pic>
              <p:nvPicPr>
                <p:cNvPr id="6" name="knowledge"/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625" y="3286125"/>
                  <a:ext cx="790575" cy="609600"/>
                </a:xfrm>
                <a:prstGeom prst="rect">
                  <a:avLst/>
                </a:prstGeom>
              </p:spPr>
            </p:pic>
            <p:pic>
              <p:nvPicPr>
                <p:cNvPr id="7" name="tool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76250" y="4219575"/>
                  <a:ext cx="685800" cy="647700"/>
                </a:xfrm>
                <a:prstGeom prst="rect">
                  <a:avLst/>
                </a:prstGeom>
              </p:spPr>
            </p:pic>
            <p:sp>
              <p:nvSpPr>
                <p:cNvPr id="8" name="Path 8"/>
                <p:cNvSpPr/>
                <p:nvPr/>
              </p:nvSpPr>
              <p:spPr>
                <a:xfrm>
                  <a:off x="457200" y="5286375"/>
                  <a:ext cx="30194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5240">
                  <a:solidFill>
                    <a:srgbClr val="327AA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9" name="Path 9"/>
                <p:cNvSpPr/>
                <p:nvPr/>
              </p:nvSpPr>
              <p:spPr>
                <a:xfrm>
                  <a:off x="1695450" y="5286375"/>
                  <a:ext cx="87630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50800">
                  <a:solidFill>
                    <a:srgbClr val="327AA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333375" y="190500"/>
                  <a:ext cx="38100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3000" b="1">
                      <a:solidFill>
                        <a:srgbClr val="327AA6"/>
                      </a:solidFill>
                      <a:latin typeface="Times New Roman"/>
                      <a:ea typeface="Times New Roman"/>
                      <a:cs typeface="Times New Roman"/>
                    </a:rPr>
                    <a:t>1  Acquire</a:t>
                  </a:r>
                  <a:endParaRPr lang="zh-CN" sz="3000"/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333375" y="762000"/>
                  <a:ext cx="38100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5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Coarse localization</a:t>
                  </a:r>
                  <a:endParaRPr lang="zh-CN" sz="2500"/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381000" y="2619375"/>
                  <a:ext cx="347662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5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Visual anomaly patterns</a:t>
                  </a:r>
                  <a:endParaRPr lang="zh-CN" sz="2500"/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1428750" y="3333750"/>
                  <a:ext cx="27622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5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Domain knowledge</a:t>
                  </a:r>
                  <a:endParaRPr lang="zh-CN" sz="2500"/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428750" y="4257675"/>
                  <a:ext cx="2952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5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Diagnostic tools</a:t>
                  </a:r>
                  <a:endParaRPr lang="zh-CN" sz="2500"/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428625" y="5543550"/>
                  <a:ext cx="3333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5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Candidate intervals</a:t>
                  </a:r>
                  <a:endParaRPr lang="zh-CN" sz="2500"/>
                </a:p>
              </p:txBody>
            </p:sp>
          </p:grpSp>
          <p:grpSp>
            <p:nvGrpSpPr>
              <p:cNvPr id="1001" name="Construct evidence state"/>
              <p:cNvGrpSpPr/>
              <p:nvPr/>
            </p:nvGrpSpPr>
            <p:grpSpPr>
              <a:xfrm>
                <a:off x="4695825" y="190500"/>
                <a:ext cx="4000500" cy="5753100"/>
                <a:chOff x="4695825" y="190500"/>
                <a:chExt cx="4000500" cy="5753100"/>
              </a:xfrm>
            </p:grpSpPr>
            <p:sp>
              <p:nvSpPr>
                <p:cNvPr id="16" name="Rect 16"/>
                <p:cNvSpPr/>
                <p:nvPr/>
              </p:nvSpPr>
              <p:spPr>
                <a:xfrm>
                  <a:off x="4705350" y="1504950"/>
                  <a:ext cx="3609975" cy="1095375"/>
                </a:xfrm>
                <a:prstGeom prst="rect">
                  <a:avLst/>
                </a:prstGeom>
                <a:solidFill>
                  <a:srgbClr val="FAF9FC"/>
                </a:solidFill>
                <a:ln w="10160">
                  <a:solidFill>
                    <a:srgbClr val="B7C4CC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17" name="Rect 17"/>
                <p:cNvSpPr/>
                <p:nvPr/>
              </p:nvSpPr>
              <p:spPr>
                <a:xfrm>
                  <a:off x="4705350" y="2828925"/>
                  <a:ext cx="3609975" cy="1095375"/>
                </a:xfrm>
                <a:prstGeom prst="rect">
                  <a:avLst/>
                </a:prstGeom>
                <a:solidFill>
                  <a:srgbClr val="FAF9FC"/>
                </a:solidFill>
                <a:ln w="10160">
                  <a:solidFill>
                    <a:srgbClr val="B7C4CC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18" name="Rect 18"/>
                <p:cNvSpPr/>
                <p:nvPr/>
              </p:nvSpPr>
              <p:spPr>
                <a:xfrm>
                  <a:off x="4705350" y="4152900"/>
                  <a:ext cx="3609975" cy="1095375"/>
                </a:xfrm>
                <a:prstGeom prst="rect">
                  <a:avLst/>
                </a:prstGeom>
                <a:solidFill>
                  <a:srgbClr val="FAF9FC"/>
                </a:solidFill>
                <a:ln w="10160">
                  <a:solidFill>
                    <a:srgbClr val="B7C4CC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4695825" y="190500"/>
                  <a:ext cx="40005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3000" b="1">
                      <a:solidFill>
                        <a:srgbClr val="68538F"/>
                      </a:solidFill>
                      <a:latin typeface="Times New Roman"/>
                      <a:ea typeface="Times New Roman"/>
                      <a:cs typeface="Times New Roman"/>
                    </a:rPr>
                    <a:t>2  Construct</a:t>
                  </a:r>
                  <a:endParaRPr lang="zh-CN" sz="3000"/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4695825" y="762000"/>
                  <a:ext cx="40005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5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Accumulate tool results</a:t>
                  </a:r>
                  <a:endParaRPr lang="zh-CN" sz="2500"/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4876800" y="1552575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500" b="1">
                      <a:solidFill>
                        <a:srgbClr val="68538F"/>
                      </a:solidFill>
                      <a:latin typeface="Times New Roman"/>
                      <a:ea typeface="Times New Roman"/>
                      <a:cs typeface="Times New Roman"/>
                    </a:rPr>
                    <a:t>Intervals</a:t>
                  </a:r>
                  <a:endParaRPr lang="zh-CN" sz="2500"/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4876800" y="2009775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3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Candidate boundaries</a:t>
                  </a:r>
                  <a:endParaRPr lang="zh-CN" sz="2300"/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4876800" y="2876550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500" b="1">
                      <a:solidFill>
                        <a:srgbClr val="68538F"/>
                      </a:solidFill>
                      <a:latin typeface="Times New Roman"/>
                      <a:ea typeface="Times New Roman"/>
                      <a:cs typeface="Times New Roman"/>
                    </a:rPr>
                    <a:t>Numerical evidence</a:t>
                  </a:r>
                  <a:endParaRPr lang="zh-CN" sz="2500"/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4876800" y="3333750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3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Statistics · changes</a:t>
                  </a:r>
                  <a:endParaRPr lang="zh-CN" sz="2300"/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4876800" y="4200525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500" b="1">
                      <a:solidFill>
                        <a:srgbClr val="68538F"/>
                      </a:solidFill>
                      <a:latin typeface="Times New Roman"/>
                      <a:ea typeface="Times New Roman"/>
                      <a:cs typeface="Times New Roman"/>
                    </a:rPr>
                    <a:t>Context</a:t>
                  </a:r>
                  <a:endParaRPr lang="zh-CN" sz="2500"/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4876800" y="4657725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3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Retrieved knowledge</a:t>
                  </a:r>
                  <a:endParaRPr lang="zh-CN" sz="2300"/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4714875" y="5543550"/>
                  <a:ext cx="366712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4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Retained state</a:t>
                  </a:r>
                  <a:endParaRPr lang="zh-CN" sz="2400"/>
                </a:p>
              </p:txBody>
            </p:sp>
          </p:grpSp>
          <p:grpSp>
            <p:nvGrpSpPr>
              <p:cNvPr id="1002" name="Detect intervals"/>
              <p:cNvGrpSpPr/>
              <p:nvPr/>
            </p:nvGrpSpPr>
            <p:grpSpPr>
              <a:xfrm>
                <a:off x="9020175" y="190500"/>
                <a:ext cx="3905250" cy="5038725"/>
                <a:chOff x="9020175" y="190500"/>
                <a:chExt cx="3905250" cy="5038725"/>
              </a:xfrm>
            </p:grpSpPr>
            <p:sp>
              <p:nvSpPr>
                <p:cNvPr id="28" name="Rect 28"/>
                <p:cNvSpPr/>
                <p:nvPr/>
              </p:nvSpPr>
              <p:spPr>
                <a:xfrm>
                  <a:off x="10495598" y="1952625"/>
                  <a:ext cx="1183481" cy="2324100"/>
                </a:xfrm>
                <a:prstGeom prst="rect">
                  <a:avLst/>
                </a:prstGeom>
                <a:solidFill>
                  <a:srgbClr val="ECF4EF"/>
                </a:solidFill>
                <a:ln>
                  <a:noFill/>
                </a:ln>
              </p:spPr>
              <p:txBody>
                <a:bodyPr/>
                <a:lstStyle/>
                <a:p/>
              </p:txBody>
            </p:sp>
            <p:sp>
              <p:nvSpPr>
                <p:cNvPr id="29" name="Path 29"/>
                <p:cNvSpPr/>
                <p:nvPr/>
              </p:nvSpPr>
              <p:spPr>
                <a:xfrm>
                  <a:off x="9210675" y="1905000"/>
                  <a:ext cx="3381375" cy="237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5240">
                  <a:solidFill>
                    <a:srgbClr val="25475E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30" name="Path 30"/>
                <p:cNvSpPr/>
                <p:nvPr/>
              </p:nvSpPr>
              <p:spPr>
                <a:xfrm>
                  <a:off x="9210675" y="2274199"/>
                  <a:ext cx="3371430" cy="1768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20618"/>
                      </a:moveTo>
                      <a:lnTo>
                        <a:pt x="191" y="20172"/>
                      </a:lnTo>
                      <a:lnTo>
                        <a:pt x="382" y="20707"/>
                      </a:lnTo>
                      <a:lnTo>
                        <a:pt x="573" y="20172"/>
                      </a:lnTo>
                      <a:lnTo>
                        <a:pt x="765" y="19012"/>
                      </a:lnTo>
                      <a:lnTo>
                        <a:pt x="956" y="19458"/>
                      </a:lnTo>
                      <a:lnTo>
                        <a:pt x="1147" y="17226"/>
                      </a:lnTo>
                      <a:lnTo>
                        <a:pt x="1338" y="15620"/>
                      </a:lnTo>
                      <a:lnTo>
                        <a:pt x="1529" y="18565"/>
                      </a:lnTo>
                      <a:lnTo>
                        <a:pt x="1720" y="19547"/>
                      </a:lnTo>
                      <a:lnTo>
                        <a:pt x="1912" y="19101"/>
                      </a:lnTo>
                      <a:lnTo>
                        <a:pt x="2103" y="20618"/>
                      </a:lnTo>
                      <a:lnTo>
                        <a:pt x="2294" y="21243"/>
                      </a:lnTo>
                      <a:lnTo>
                        <a:pt x="2485" y="20529"/>
                      </a:lnTo>
                      <a:lnTo>
                        <a:pt x="2676" y="21511"/>
                      </a:lnTo>
                      <a:lnTo>
                        <a:pt x="2867" y="21600"/>
                      </a:lnTo>
                      <a:lnTo>
                        <a:pt x="3058" y="20350"/>
                      </a:lnTo>
                      <a:lnTo>
                        <a:pt x="3250" y="20172"/>
                      </a:lnTo>
                      <a:lnTo>
                        <a:pt x="3441" y="18030"/>
                      </a:lnTo>
                      <a:lnTo>
                        <a:pt x="3632" y="18655"/>
                      </a:lnTo>
                      <a:lnTo>
                        <a:pt x="3823" y="20350"/>
                      </a:lnTo>
                      <a:lnTo>
                        <a:pt x="4014" y="19190"/>
                      </a:lnTo>
                      <a:lnTo>
                        <a:pt x="4205" y="20350"/>
                      </a:lnTo>
                      <a:lnTo>
                        <a:pt x="4396" y="20886"/>
                      </a:lnTo>
                      <a:lnTo>
                        <a:pt x="4588" y="18476"/>
                      </a:lnTo>
                      <a:lnTo>
                        <a:pt x="4779" y="17048"/>
                      </a:lnTo>
                      <a:lnTo>
                        <a:pt x="4970" y="15709"/>
                      </a:lnTo>
                      <a:lnTo>
                        <a:pt x="5161" y="17405"/>
                      </a:lnTo>
                      <a:lnTo>
                        <a:pt x="5352" y="15709"/>
                      </a:lnTo>
                      <a:lnTo>
                        <a:pt x="5543" y="14549"/>
                      </a:lnTo>
                      <a:lnTo>
                        <a:pt x="5735" y="17940"/>
                      </a:lnTo>
                      <a:lnTo>
                        <a:pt x="5926" y="18833"/>
                      </a:lnTo>
                      <a:lnTo>
                        <a:pt x="6117" y="18030"/>
                      </a:lnTo>
                      <a:lnTo>
                        <a:pt x="6308" y="20083"/>
                      </a:lnTo>
                      <a:lnTo>
                        <a:pt x="6499" y="18744"/>
                      </a:lnTo>
                      <a:lnTo>
                        <a:pt x="6690" y="20083"/>
                      </a:lnTo>
                      <a:lnTo>
                        <a:pt x="6881" y="20886"/>
                      </a:lnTo>
                      <a:lnTo>
                        <a:pt x="7073" y="19547"/>
                      </a:lnTo>
                      <a:lnTo>
                        <a:pt x="7264" y="18119"/>
                      </a:lnTo>
                      <a:lnTo>
                        <a:pt x="7455" y="20083"/>
                      </a:lnTo>
                      <a:lnTo>
                        <a:pt x="7646" y="19904"/>
                      </a:lnTo>
                      <a:lnTo>
                        <a:pt x="7837" y="20618"/>
                      </a:lnTo>
                      <a:lnTo>
                        <a:pt x="8028" y="21332"/>
                      </a:lnTo>
                      <a:lnTo>
                        <a:pt x="8219" y="20083"/>
                      </a:lnTo>
                      <a:lnTo>
                        <a:pt x="8411" y="19993"/>
                      </a:lnTo>
                      <a:lnTo>
                        <a:pt x="8602" y="19904"/>
                      </a:lnTo>
                      <a:lnTo>
                        <a:pt x="8793" y="18298"/>
                      </a:lnTo>
                      <a:lnTo>
                        <a:pt x="8984" y="18833"/>
                      </a:lnTo>
                      <a:lnTo>
                        <a:pt x="9175" y="20440"/>
                      </a:lnTo>
                      <a:lnTo>
                        <a:pt x="9366" y="19190"/>
                      </a:lnTo>
                      <a:lnTo>
                        <a:pt x="9558" y="19369"/>
                      </a:lnTo>
                      <a:lnTo>
                        <a:pt x="9749" y="15888"/>
                      </a:lnTo>
                      <a:lnTo>
                        <a:pt x="9940" y="13299"/>
                      </a:lnTo>
                      <a:lnTo>
                        <a:pt x="10131" y="15174"/>
                      </a:lnTo>
                      <a:lnTo>
                        <a:pt x="10322" y="15531"/>
                      </a:lnTo>
                      <a:lnTo>
                        <a:pt x="10513" y="14192"/>
                      </a:lnTo>
                      <a:lnTo>
                        <a:pt x="10704" y="11505"/>
                      </a:lnTo>
                      <a:lnTo>
                        <a:pt x="10896" y="8212"/>
                      </a:lnTo>
                      <a:lnTo>
                        <a:pt x="11087" y="7051"/>
                      </a:lnTo>
                      <a:lnTo>
                        <a:pt x="11278" y="10175"/>
                      </a:lnTo>
                      <a:lnTo>
                        <a:pt x="11469" y="8390"/>
                      </a:lnTo>
                      <a:lnTo>
                        <a:pt x="11660" y="5266"/>
                      </a:lnTo>
                      <a:lnTo>
                        <a:pt x="11851" y="3927"/>
                      </a:lnTo>
                      <a:lnTo>
                        <a:pt x="12042" y="0"/>
                      </a:lnTo>
                      <a:lnTo>
                        <a:pt x="12234" y="3124"/>
                      </a:lnTo>
                      <a:lnTo>
                        <a:pt x="12425" y="3302"/>
                      </a:lnTo>
                      <a:lnTo>
                        <a:pt x="12616" y="7498"/>
                      </a:lnTo>
                      <a:lnTo>
                        <a:pt x="12807" y="8122"/>
                      </a:lnTo>
                      <a:lnTo>
                        <a:pt x="12998" y="9640"/>
                      </a:lnTo>
                      <a:lnTo>
                        <a:pt x="13189" y="9907"/>
                      </a:lnTo>
                      <a:lnTo>
                        <a:pt x="13381" y="7765"/>
                      </a:lnTo>
                      <a:lnTo>
                        <a:pt x="13572" y="9104"/>
                      </a:lnTo>
                      <a:lnTo>
                        <a:pt x="13763" y="12764"/>
                      </a:lnTo>
                      <a:lnTo>
                        <a:pt x="13954" y="14906"/>
                      </a:lnTo>
                      <a:lnTo>
                        <a:pt x="14145" y="13121"/>
                      </a:lnTo>
                      <a:lnTo>
                        <a:pt x="14336" y="12228"/>
                      </a:lnTo>
                      <a:lnTo>
                        <a:pt x="14527" y="13478"/>
                      </a:lnTo>
                      <a:lnTo>
                        <a:pt x="14719" y="14460"/>
                      </a:lnTo>
                      <a:lnTo>
                        <a:pt x="14910" y="17940"/>
                      </a:lnTo>
                      <a:lnTo>
                        <a:pt x="15101" y="19279"/>
                      </a:lnTo>
                      <a:lnTo>
                        <a:pt x="15292" y="20350"/>
                      </a:lnTo>
                      <a:lnTo>
                        <a:pt x="15483" y="20797"/>
                      </a:lnTo>
                      <a:lnTo>
                        <a:pt x="15674" y="20350"/>
                      </a:lnTo>
                      <a:lnTo>
                        <a:pt x="15865" y="18922"/>
                      </a:lnTo>
                      <a:lnTo>
                        <a:pt x="16057" y="18833"/>
                      </a:lnTo>
                      <a:lnTo>
                        <a:pt x="16248" y="20886"/>
                      </a:lnTo>
                      <a:lnTo>
                        <a:pt x="16439" y="20261"/>
                      </a:lnTo>
                      <a:lnTo>
                        <a:pt x="16630" y="18744"/>
                      </a:lnTo>
                      <a:lnTo>
                        <a:pt x="16821" y="19636"/>
                      </a:lnTo>
                      <a:lnTo>
                        <a:pt x="17012" y="18298"/>
                      </a:lnTo>
                      <a:lnTo>
                        <a:pt x="17204" y="17137"/>
                      </a:lnTo>
                      <a:lnTo>
                        <a:pt x="17395" y="19012"/>
                      </a:lnTo>
                      <a:lnTo>
                        <a:pt x="17586" y="19458"/>
                      </a:lnTo>
                      <a:lnTo>
                        <a:pt x="17777" y="19101"/>
                      </a:lnTo>
                      <a:lnTo>
                        <a:pt x="17968" y="20440"/>
                      </a:lnTo>
                      <a:lnTo>
                        <a:pt x="18159" y="20618"/>
                      </a:lnTo>
                      <a:lnTo>
                        <a:pt x="18350" y="18565"/>
                      </a:lnTo>
                      <a:lnTo>
                        <a:pt x="18542" y="18030"/>
                      </a:lnTo>
                      <a:lnTo>
                        <a:pt x="18733" y="19815"/>
                      </a:lnTo>
                      <a:lnTo>
                        <a:pt x="18924" y="20975"/>
                      </a:lnTo>
                      <a:lnTo>
                        <a:pt x="19115" y="20886"/>
                      </a:lnTo>
                      <a:lnTo>
                        <a:pt x="19306" y="18387"/>
                      </a:lnTo>
                      <a:lnTo>
                        <a:pt x="19497" y="18565"/>
                      </a:lnTo>
                      <a:lnTo>
                        <a:pt x="19688" y="18744"/>
                      </a:lnTo>
                      <a:lnTo>
                        <a:pt x="19880" y="16602"/>
                      </a:lnTo>
                      <a:lnTo>
                        <a:pt x="20071" y="17583"/>
                      </a:lnTo>
                      <a:lnTo>
                        <a:pt x="20262" y="19726"/>
                      </a:lnTo>
                      <a:lnTo>
                        <a:pt x="20453" y="18744"/>
                      </a:lnTo>
                      <a:lnTo>
                        <a:pt x="20644" y="18744"/>
                      </a:lnTo>
                      <a:lnTo>
                        <a:pt x="20835" y="19636"/>
                      </a:lnTo>
                      <a:lnTo>
                        <a:pt x="21027" y="19190"/>
                      </a:lnTo>
                      <a:lnTo>
                        <a:pt x="21218" y="20172"/>
                      </a:lnTo>
                      <a:lnTo>
                        <a:pt x="21409" y="19636"/>
                      </a:lnTo>
                      <a:lnTo>
                        <a:pt x="21600" y="19190"/>
                      </a:lnTo>
                    </a:path>
                  </a:pathLst>
                </a:custGeom>
                <a:noFill/>
                <a:ln w="22860">
                  <a:solidFill>
                    <a:srgbClr val="327AA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1" name="Path 31"/>
                <p:cNvSpPr/>
                <p:nvPr/>
              </p:nvSpPr>
              <p:spPr>
                <a:xfrm>
                  <a:off x="10495598" y="1952625"/>
                  <a:ext cx="952" cy="232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2700">
                  <a:solidFill>
                    <a:srgbClr val="37856F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2" name="Path 32"/>
                <p:cNvSpPr/>
                <p:nvPr/>
              </p:nvSpPr>
              <p:spPr>
                <a:xfrm>
                  <a:off x="11679079" y="1952625"/>
                  <a:ext cx="952" cy="232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2700">
                  <a:solidFill>
                    <a:srgbClr val="37856F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9020175" y="190500"/>
                  <a:ext cx="3762375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3000" b="1">
                      <a:solidFill>
                        <a:srgbClr val="37856F"/>
                      </a:solidFill>
                      <a:latin typeface="Times New Roman"/>
                      <a:ea typeface="Times New Roman"/>
                      <a:cs typeface="Times New Roman"/>
                    </a:rPr>
                    <a:t>3  Detect</a:t>
                  </a:r>
                  <a:endParaRPr lang="zh-CN" sz="3000"/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9020175" y="762000"/>
                  <a:ext cx="39052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4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Apply learned detector</a:t>
                  </a:r>
                  <a:endParaRPr lang="zh-CN" sz="2400"/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9134475" y="1476375"/>
                  <a:ext cx="366712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400">
                      <a:solidFill>
                        <a:srgbClr val="37856F"/>
                      </a:solidFill>
                      <a:latin typeface="Times New Roman"/>
                      <a:ea typeface="Times New Roman"/>
                      <a:cs typeface="Times New Roman"/>
                    </a:rPr>
                    <a:t>Candidate region</a:t>
                  </a:r>
                  <a:endParaRPr lang="zh-CN" sz="2400"/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11849100" y="4324350"/>
                  <a:ext cx="76200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Time</a:t>
                  </a:r>
                  <a:endParaRPr lang="zh-CN" sz="2200"/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9134475" y="4829175"/>
                  <a:ext cx="366712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5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Interval decisions</a:t>
                  </a:r>
                  <a:endParaRPr lang="zh-CN" sz="2500"/>
                </a:p>
              </p:txBody>
            </p:sp>
          </p:grpSp>
          <p:grpSp>
            <p:nvGrpSpPr>
              <p:cNvPr id="1003" name="Refine boundaries"/>
              <p:cNvGrpSpPr/>
              <p:nvPr/>
            </p:nvGrpSpPr>
            <p:grpSpPr>
              <a:xfrm>
                <a:off x="13268325" y="190500"/>
                <a:ext cx="3848100" cy="5038725"/>
                <a:chOff x="13268325" y="190500"/>
                <a:chExt cx="3848100" cy="5038725"/>
              </a:xfrm>
            </p:grpSpPr>
            <p:sp>
              <p:nvSpPr>
                <p:cNvPr id="38" name="Rect 38"/>
                <p:cNvSpPr/>
                <p:nvPr/>
              </p:nvSpPr>
              <p:spPr>
                <a:xfrm>
                  <a:off x="15115699" y="1952625"/>
                  <a:ext cx="574834" cy="2324100"/>
                </a:xfrm>
                <a:prstGeom prst="rect">
                  <a:avLst/>
                </a:prstGeom>
                <a:solidFill>
                  <a:srgbClr val="E9F1F7"/>
                </a:solidFill>
                <a:ln>
                  <a:noFill/>
                </a:ln>
              </p:spPr>
              <p:txBody>
                <a:bodyPr/>
                <a:lstStyle/>
                <a:p/>
              </p:txBody>
            </p:sp>
            <p:sp>
              <p:nvSpPr>
                <p:cNvPr id="39" name="Path 39"/>
                <p:cNvSpPr/>
                <p:nvPr/>
              </p:nvSpPr>
              <p:spPr>
                <a:xfrm>
                  <a:off x="13458825" y="1905000"/>
                  <a:ext cx="3381375" cy="237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5240">
                  <a:solidFill>
                    <a:srgbClr val="25475E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40" name="Path 40"/>
                <p:cNvSpPr/>
                <p:nvPr/>
              </p:nvSpPr>
              <p:spPr>
                <a:xfrm>
                  <a:off x="13458825" y="2274199"/>
                  <a:ext cx="3371430" cy="1768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20618"/>
                      </a:moveTo>
                      <a:lnTo>
                        <a:pt x="191" y="20172"/>
                      </a:lnTo>
                      <a:lnTo>
                        <a:pt x="382" y="20707"/>
                      </a:lnTo>
                      <a:lnTo>
                        <a:pt x="573" y="20172"/>
                      </a:lnTo>
                      <a:lnTo>
                        <a:pt x="765" y="19012"/>
                      </a:lnTo>
                      <a:lnTo>
                        <a:pt x="956" y="19458"/>
                      </a:lnTo>
                      <a:lnTo>
                        <a:pt x="1147" y="17226"/>
                      </a:lnTo>
                      <a:lnTo>
                        <a:pt x="1338" y="15620"/>
                      </a:lnTo>
                      <a:lnTo>
                        <a:pt x="1529" y="18565"/>
                      </a:lnTo>
                      <a:lnTo>
                        <a:pt x="1720" y="19547"/>
                      </a:lnTo>
                      <a:lnTo>
                        <a:pt x="1912" y="19101"/>
                      </a:lnTo>
                      <a:lnTo>
                        <a:pt x="2103" y="20618"/>
                      </a:lnTo>
                      <a:lnTo>
                        <a:pt x="2294" y="21243"/>
                      </a:lnTo>
                      <a:lnTo>
                        <a:pt x="2485" y="20529"/>
                      </a:lnTo>
                      <a:lnTo>
                        <a:pt x="2676" y="21511"/>
                      </a:lnTo>
                      <a:lnTo>
                        <a:pt x="2867" y="21600"/>
                      </a:lnTo>
                      <a:lnTo>
                        <a:pt x="3058" y="20350"/>
                      </a:lnTo>
                      <a:lnTo>
                        <a:pt x="3250" y="20172"/>
                      </a:lnTo>
                      <a:lnTo>
                        <a:pt x="3441" y="18030"/>
                      </a:lnTo>
                      <a:lnTo>
                        <a:pt x="3632" y="18655"/>
                      </a:lnTo>
                      <a:lnTo>
                        <a:pt x="3823" y="20350"/>
                      </a:lnTo>
                      <a:lnTo>
                        <a:pt x="4014" y="19190"/>
                      </a:lnTo>
                      <a:lnTo>
                        <a:pt x="4205" y="20350"/>
                      </a:lnTo>
                      <a:lnTo>
                        <a:pt x="4396" y="20886"/>
                      </a:lnTo>
                      <a:lnTo>
                        <a:pt x="4588" y="18476"/>
                      </a:lnTo>
                      <a:lnTo>
                        <a:pt x="4779" y="17048"/>
                      </a:lnTo>
                      <a:lnTo>
                        <a:pt x="4970" y="15709"/>
                      </a:lnTo>
                      <a:lnTo>
                        <a:pt x="5161" y="17405"/>
                      </a:lnTo>
                      <a:lnTo>
                        <a:pt x="5352" y="15709"/>
                      </a:lnTo>
                      <a:lnTo>
                        <a:pt x="5543" y="14549"/>
                      </a:lnTo>
                      <a:lnTo>
                        <a:pt x="5735" y="17940"/>
                      </a:lnTo>
                      <a:lnTo>
                        <a:pt x="5926" y="18833"/>
                      </a:lnTo>
                      <a:lnTo>
                        <a:pt x="6117" y="18030"/>
                      </a:lnTo>
                      <a:lnTo>
                        <a:pt x="6308" y="20083"/>
                      </a:lnTo>
                      <a:lnTo>
                        <a:pt x="6499" y="18744"/>
                      </a:lnTo>
                      <a:lnTo>
                        <a:pt x="6690" y="20083"/>
                      </a:lnTo>
                      <a:lnTo>
                        <a:pt x="6881" y="20886"/>
                      </a:lnTo>
                      <a:lnTo>
                        <a:pt x="7073" y="19547"/>
                      </a:lnTo>
                      <a:lnTo>
                        <a:pt x="7264" y="18119"/>
                      </a:lnTo>
                      <a:lnTo>
                        <a:pt x="7455" y="20083"/>
                      </a:lnTo>
                      <a:lnTo>
                        <a:pt x="7646" y="19904"/>
                      </a:lnTo>
                      <a:lnTo>
                        <a:pt x="7837" y="20618"/>
                      </a:lnTo>
                      <a:lnTo>
                        <a:pt x="8028" y="21332"/>
                      </a:lnTo>
                      <a:lnTo>
                        <a:pt x="8219" y="20083"/>
                      </a:lnTo>
                      <a:lnTo>
                        <a:pt x="8411" y="19993"/>
                      </a:lnTo>
                      <a:lnTo>
                        <a:pt x="8602" y="19904"/>
                      </a:lnTo>
                      <a:lnTo>
                        <a:pt x="8793" y="18298"/>
                      </a:lnTo>
                      <a:lnTo>
                        <a:pt x="8984" y="18833"/>
                      </a:lnTo>
                      <a:lnTo>
                        <a:pt x="9175" y="20440"/>
                      </a:lnTo>
                      <a:lnTo>
                        <a:pt x="9366" y="19190"/>
                      </a:lnTo>
                      <a:lnTo>
                        <a:pt x="9558" y="19369"/>
                      </a:lnTo>
                      <a:lnTo>
                        <a:pt x="9749" y="15888"/>
                      </a:lnTo>
                      <a:lnTo>
                        <a:pt x="9940" y="13299"/>
                      </a:lnTo>
                      <a:lnTo>
                        <a:pt x="10131" y="15174"/>
                      </a:lnTo>
                      <a:lnTo>
                        <a:pt x="10322" y="15531"/>
                      </a:lnTo>
                      <a:lnTo>
                        <a:pt x="10513" y="14192"/>
                      </a:lnTo>
                      <a:lnTo>
                        <a:pt x="10704" y="11505"/>
                      </a:lnTo>
                      <a:lnTo>
                        <a:pt x="10896" y="8212"/>
                      </a:lnTo>
                      <a:lnTo>
                        <a:pt x="11087" y="7051"/>
                      </a:lnTo>
                      <a:lnTo>
                        <a:pt x="11278" y="10175"/>
                      </a:lnTo>
                      <a:lnTo>
                        <a:pt x="11469" y="8390"/>
                      </a:lnTo>
                      <a:lnTo>
                        <a:pt x="11660" y="5266"/>
                      </a:lnTo>
                      <a:lnTo>
                        <a:pt x="11851" y="3927"/>
                      </a:lnTo>
                      <a:lnTo>
                        <a:pt x="12042" y="0"/>
                      </a:lnTo>
                      <a:lnTo>
                        <a:pt x="12234" y="3124"/>
                      </a:lnTo>
                      <a:lnTo>
                        <a:pt x="12425" y="3302"/>
                      </a:lnTo>
                      <a:lnTo>
                        <a:pt x="12616" y="7498"/>
                      </a:lnTo>
                      <a:lnTo>
                        <a:pt x="12807" y="8122"/>
                      </a:lnTo>
                      <a:lnTo>
                        <a:pt x="12998" y="9640"/>
                      </a:lnTo>
                      <a:lnTo>
                        <a:pt x="13189" y="9907"/>
                      </a:lnTo>
                      <a:lnTo>
                        <a:pt x="13381" y="7765"/>
                      </a:lnTo>
                      <a:lnTo>
                        <a:pt x="13572" y="9104"/>
                      </a:lnTo>
                      <a:lnTo>
                        <a:pt x="13763" y="12764"/>
                      </a:lnTo>
                      <a:lnTo>
                        <a:pt x="13954" y="14906"/>
                      </a:lnTo>
                      <a:lnTo>
                        <a:pt x="14145" y="13121"/>
                      </a:lnTo>
                      <a:lnTo>
                        <a:pt x="14336" y="12228"/>
                      </a:lnTo>
                      <a:lnTo>
                        <a:pt x="14527" y="13478"/>
                      </a:lnTo>
                      <a:lnTo>
                        <a:pt x="14719" y="14460"/>
                      </a:lnTo>
                      <a:lnTo>
                        <a:pt x="14910" y="17940"/>
                      </a:lnTo>
                      <a:lnTo>
                        <a:pt x="15101" y="19279"/>
                      </a:lnTo>
                      <a:lnTo>
                        <a:pt x="15292" y="20350"/>
                      </a:lnTo>
                      <a:lnTo>
                        <a:pt x="15483" y="20797"/>
                      </a:lnTo>
                      <a:lnTo>
                        <a:pt x="15674" y="20350"/>
                      </a:lnTo>
                      <a:lnTo>
                        <a:pt x="15865" y="18922"/>
                      </a:lnTo>
                      <a:lnTo>
                        <a:pt x="16057" y="18833"/>
                      </a:lnTo>
                      <a:lnTo>
                        <a:pt x="16248" y="20886"/>
                      </a:lnTo>
                      <a:lnTo>
                        <a:pt x="16439" y="20261"/>
                      </a:lnTo>
                      <a:lnTo>
                        <a:pt x="16630" y="18744"/>
                      </a:lnTo>
                      <a:lnTo>
                        <a:pt x="16821" y="19636"/>
                      </a:lnTo>
                      <a:lnTo>
                        <a:pt x="17012" y="18298"/>
                      </a:lnTo>
                      <a:lnTo>
                        <a:pt x="17204" y="17137"/>
                      </a:lnTo>
                      <a:lnTo>
                        <a:pt x="17395" y="19012"/>
                      </a:lnTo>
                      <a:lnTo>
                        <a:pt x="17586" y="19458"/>
                      </a:lnTo>
                      <a:lnTo>
                        <a:pt x="17777" y="19101"/>
                      </a:lnTo>
                      <a:lnTo>
                        <a:pt x="17968" y="20440"/>
                      </a:lnTo>
                      <a:lnTo>
                        <a:pt x="18159" y="20618"/>
                      </a:lnTo>
                      <a:lnTo>
                        <a:pt x="18350" y="18565"/>
                      </a:lnTo>
                      <a:lnTo>
                        <a:pt x="18542" y="18030"/>
                      </a:lnTo>
                      <a:lnTo>
                        <a:pt x="18733" y="19815"/>
                      </a:lnTo>
                      <a:lnTo>
                        <a:pt x="18924" y="20975"/>
                      </a:lnTo>
                      <a:lnTo>
                        <a:pt x="19115" y="20886"/>
                      </a:lnTo>
                      <a:lnTo>
                        <a:pt x="19306" y="18387"/>
                      </a:lnTo>
                      <a:lnTo>
                        <a:pt x="19497" y="18565"/>
                      </a:lnTo>
                      <a:lnTo>
                        <a:pt x="19688" y="18744"/>
                      </a:lnTo>
                      <a:lnTo>
                        <a:pt x="19880" y="16602"/>
                      </a:lnTo>
                      <a:lnTo>
                        <a:pt x="20071" y="17583"/>
                      </a:lnTo>
                      <a:lnTo>
                        <a:pt x="20262" y="19726"/>
                      </a:lnTo>
                      <a:lnTo>
                        <a:pt x="20453" y="18744"/>
                      </a:lnTo>
                      <a:lnTo>
                        <a:pt x="20644" y="18744"/>
                      </a:lnTo>
                      <a:lnTo>
                        <a:pt x="20835" y="19636"/>
                      </a:lnTo>
                      <a:lnTo>
                        <a:pt x="21027" y="19190"/>
                      </a:lnTo>
                      <a:lnTo>
                        <a:pt x="21218" y="20172"/>
                      </a:lnTo>
                      <a:lnTo>
                        <a:pt x="21409" y="19636"/>
                      </a:lnTo>
                      <a:lnTo>
                        <a:pt x="21600" y="19190"/>
                      </a:lnTo>
                    </a:path>
                  </a:pathLst>
                </a:custGeom>
                <a:noFill/>
                <a:ln w="22860">
                  <a:solidFill>
                    <a:srgbClr val="327AA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41" name="Path 41"/>
                <p:cNvSpPr/>
                <p:nvPr/>
              </p:nvSpPr>
              <p:spPr>
                <a:xfrm>
                  <a:off x="15115699" y="1952625"/>
                  <a:ext cx="952" cy="232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2700">
                  <a:solidFill>
                    <a:srgbClr val="327AA6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42" name="Path 42"/>
                <p:cNvSpPr/>
                <p:nvPr/>
              </p:nvSpPr>
              <p:spPr>
                <a:xfrm>
                  <a:off x="15690532" y="1952625"/>
                  <a:ext cx="952" cy="232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2700">
                  <a:solidFill>
                    <a:srgbClr val="327AA6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13268325" y="190500"/>
                  <a:ext cx="38481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3000" b="1">
                      <a:solidFill>
                        <a:srgbClr val="327AA6"/>
                      </a:solidFill>
                      <a:latin typeface="Times New Roman"/>
                      <a:ea typeface="Times New Roman"/>
                      <a:cs typeface="Times New Roman"/>
                    </a:rPr>
                    <a:t>4  Refine</a:t>
                  </a:r>
                  <a:endParaRPr lang="zh-CN" sz="3000"/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13268325" y="762000"/>
                  <a:ext cx="38481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4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Review uncertain intervals</a:t>
                  </a:r>
                  <a:endParaRPr lang="zh-CN" sz="2400"/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13382625" y="1476375"/>
                  <a:ext cx="366712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400">
                      <a:solidFill>
                        <a:srgbClr val="327AA6"/>
                      </a:solidFill>
                      <a:latin typeface="Times New Roman"/>
                      <a:ea typeface="Times New Roman"/>
                      <a:cs typeface="Times New Roman"/>
                    </a:rPr>
                    <a:t>Refined interval</a:t>
                  </a:r>
                  <a:endParaRPr lang="zh-CN" sz="2400"/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16097250" y="4324350"/>
                  <a:ext cx="76200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Time</a:t>
                  </a:r>
                  <a:endParaRPr lang="zh-CN" sz="2200"/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13382625" y="4829175"/>
                  <a:ext cx="366712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5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Accept or revise</a:t>
                  </a:r>
                  <a:endParaRPr lang="zh-CN" sz="2500"/>
                </a:p>
              </p:txBody>
            </p:sp>
          </p:grpSp>
          <p:grpSp>
            <p:nvGrpSpPr>
              <p:cNvPr id="1004" name="Flow and revision"/>
              <p:cNvGrpSpPr/>
              <p:nvPr/>
            </p:nvGrpSpPr>
            <p:grpSpPr>
              <a:xfrm>
                <a:off x="285750" y="3190875"/>
                <a:ext cx="16906875" cy="2982277"/>
                <a:chOff x="285750" y="3190875"/>
                <a:chExt cx="16906875" cy="2982277"/>
              </a:xfrm>
            </p:grpSpPr>
            <p:sp>
              <p:nvSpPr>
                <p:cNvPr id="48" name="Path 48"/>
                <p:cNvSpPr/>
                <p:nvPr/>
              </p:nvSpPr>
              <p:spPr>
                <a:xfrm>
                  <a:off x="4114800" y="3190875"/>
                  <a:ext cx="47625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9050">
                  <a:solidFill>
                    <a:srgbClr val="25475E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49" name="Path 49"/>
                <p:cNvSpPr/>
                <p:nvPr/>
              </p:nvSpPr>
              <p:spPr>
                <a:xfrm>
                  <a:off x="8429625" y="3190875"/>
                  <a:ext cx="5048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9050">
                  <a:solidFill>
                    <a:srgbClr val="25475E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50" name="Path 50"/>
                <p:cNvSpPr/>
                <p:nvPr/>
              </p:nvSpPr>
              <p:spPr>
                <a:xfrm>
                  <a:off x="12763500" y="3190875"/>
                  <a:ext cx="4667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9050">
                  <a:solidFill>
                    <a:srgbClr val="25475E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51" name="Path 51"/>
                <p:cNvSpPr/>
                <p:nvPr/>
              </p:nvSpPr>
              <p:spPr>
                <a:xfrm>
                  <a:off x="8172450" y="5276850"/>
                  <a:ext cx="7115175" cy="50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21600" y="2445"/>
                      </a:moveTo>
                      <a:lnTo>
                        <a:pt x="21600" y="21600"/>
                      </a:lnTo>
                      <a:lnTo>
                        <a:pt x="1128" y="21600"/>
                      </a:lnTo>
                      <a:lnTo>
                        <a:pt x="1128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7780">
                  <a:solidFill>
                    <a:srgbClr val="68538F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52" name="Path 52"/>
                <p:cNvSpPr/>
                <p:nvPr/>
              </p:nvSpPr>
              <p:spPr>
                <a:xfrm>
                  <a:off x="285750" y="6172200"/>
                  <a:ext cx="1690687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8890">
                  <a:solidFill>
                    <a:srgbClr val="B7C4CC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10325100" y="5324475"/>
                  <a:ext cx="2952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400">
                      <a:solidFill>
                        <a:srgbClr val="68538F"/>
                      </a:solidFill>
                      <a:latin typeface="Times New Roman"/>
                      <a:ea typeface="Times New Roman"/>
                      <a:cs typeface="Times New Roman"/>
                    </a:rPr>
                    <a:t>Update evidence</a:t>
                  </a:r>
                  <a:endParaRPr lang="zh-CN" sz="2400"/>
                </a:p>
              </p:txBody>
            </p:sp>
          </p:grpSp>
        </p:grpSp>
        <p:grpSp>
          <p:nvGrpSpPr>
            <p:cNvPr id="1010" name="Detector training signals"/>
            <p:cNvGrpSpPr/>
            <p:nvPr/>
          </p:nvGrpSpPr>
          <p:grpSpPr>
            <a:xfrm>
              <a:off x="342900" y="6505575"/>
              <a:ext cx="16668750" cy="1381125"/>
              <a:chOff x="342900" y="6505575"/>
              <a:chExt cx="16668750" cy="1381125"/>
            </a:xfrm>
          </p:grpSpPr>
          <p:grpSp>
            <p:nvGrpSpPr>
              <p:cNvPr id="1005" name="Detector training"/>
              <p:cNvGrpSpPr/>
              <p:nvPr/>
            </p:nvGrpSpPr>
            <p:grpSpPr>
              <a:xfrm>
                <a:off x="342900" y="6505575"/>
                <a:ext cx="3524250" cy="942975"/>
                <a:chOff x="342900" y="6505575"/>
                <a:chExt cx="3524250" cy="942975"/>
              </a:xfrm>
            </p:grpSpPr>
            <p:sp>
              <p:nvSpPr>
                <p:cNvPr id="54" name="TextBox 54"/>
                <p:cNvSpPr txBox="1"/>
                <p:nvPr/>
              </p:nvSpPr>
              <p:spPr>
                <a:xfrm>
                  <a:off x="342900" y="6505575"/>
                  <a:ext cx="3476625" cy="4476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800" b="1">
                      <a:solidFill>
                        <a:srgbClr val="68538F"/>
                      </a:solidFill>
                      <a:latin typeface="Times New Roman"/>
                      <a:ea typeface="Times New Roman"/>
                      <a:cs typeface="Times New Roman"/>
                    </a:rPr>
                    <a:t>Detector training</a:t>
                  </a:r>
                  <a:endParaRPr lang="zh-CN" sz="2800"/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342900" y="7029450"/>
                  <a:ext cx="352425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4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SFT initialization → RL</a:t>
                  </a:r>
                  <a:endParaRPr lang="zh-CN" sz="2400"/>
                </a:p>
              </p:txBody>
            </p:sp>
          </p:grpSp>
          <p:grpSp>
            <p:nvGrpSpPr>
              <p:cNvPr id="1006" name="Parse reward"/>
              <p:cNvGrpSpPr/>
              <p:nvPr/>
            </p:nvGrpSpPr>
            <p:grpSpPr>
              <a:xfrm>
                <a:off x="4333875" y="6543675"/>
                <a:ext cx="4143375" cy="1047750"/>
                <a:chOff x="4333875" y="6543675"/>
                <a:chExt cx="4143375" cy="1047750"/>
              </a:xfrm>
            </p:grpSpPr>
            <p:pic>
              <p:nvPicPr>
                <p:cNvPr id="56" name="parsed-document"/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33875" y="6543675"/>
                  <a:ext cx="952500" cy="781050"/>
                </a:xfrm>
                <a:prstGeom prst="rect">
                  <a:avLst/>
                </a:prstGeom>
              </p:spPr>
            </p:pic>
            <p:sp>
              <p:nvSpPr>
                <p:cNvPr id="57" name="TextBox 57"/>
                <p:cNvSpPr txBox="1"/>
                <p:nvPr/>
              </p:nvSpPr>
              <p:spPr>
                <a:xfrm>
                  <a:off x="5524500" y="6724650"/>
                  <a:ext cx="28575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5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Parse validity</a:t>
                  </a:r>
                  <a:endParaRPr lang="zh-CN" sz="2500"/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5524500" y="7210425"/>
                  <a:ext cx="2952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3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Valid output format</a:t>
                  </a:r>
                  <a:endParaRPr lang="zh-CN" sz="2300"/>
                </a:p>
              </p:txBody>
            </p:sp>
          </p:grpSp>
          <p:grpSp>
            <p:nvGrpSpPr>
              <p:cNvPr id="1007" name="Interval reward"/>
              <p:cNvGrpSpPr/>
              <p:nvPr/>
            </p:nvGrpSpPr>
            <p:grpSpPr>
              <a:xfrm>
                <a:off x="8820150" y="6515100"/>
                <a:ext cx="3238500" cy="1371600"/>
                <a:chOff x="8820150" y="6515100"/>
                <a:chExt cx="3238500" cy="1371600"/>
              </a:xfrm>
            </p:grpSpPr>
            <p:sp>
              <p:nvSpPr>
                <p:cNvPr id="59" name="Rect 59"/>
                <p:cNvSpPr/>
                <p:nvPr/>
              </p:nvSpPr>
              <p:spPr>
                <a:xfrm>
                  <a:off x="9620250" y="6515100"/>
                  <a:ext cx="1000125" cy="695325"/>
                </a:xfrm>
                <a:prstGeom prst="rect">
                  <a:avLst/>
                </a:prstGeom>
                <a:solidFill>
                  <a:srgbClr val="E9EFF5"/>
                </a:solidFill>
                <a:ln>
                  <a:noFill/>
                </a:ln>
              </p:spPr>
              <p:txBody>
                <a:bodyPr/>
                <a:lstStyle/>
                <a:p/>
              </p:txBody>
            </p:sp>
            <p:sp>
              <p:nvSpPr>
                <p:cNvPr id="60" name="Path 60"/>
                <p:cNvSpPr/>
                <p:nvPr/>
              </p:nvSpPr>
              <p:spPr>
                <a:xfrm>
                  <a:off x="9010650" y="6686550"/>
                  <a:ext cx="16097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50800">
                  <a:solidFill>
                    <a:srgbClr val="327AA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1" name="Path 61"/>
                <p:cNvSpPr/>
                <p:nvPr/>
              </p:nvSpPr>
              <p:spPr>
                <a:xfrm>
                  <a:off x="9620250" y="7038975"/>
                  <a:ext cx="174307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50800">
                  <a:solidFill>
                    <a:srgbClr val="68538F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2" name="Path 62"/>
                <p:cNvSpPr/>
                <p:nvPr/>
              </p:nvSpPr>
              <p:spPr>
                <a:xfrm>
                  <a:off x="9010650" y="6591300"/>
                  <a:ext cx="952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327AA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3" name="Path 63"/>
                <p:cNvSpPr/>
                <p:nvPr/>
              </p:nvSpPr>
              <p:spPr>
                <a:xfrm>
                  <a:off x="10620375" y="6591300"/>
                  <a:ext cx="952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327AA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4" name="Path 64"/>
                <p:cNvSpPr/>
                <p:nvPr/>
              </p:nvSpPr>
              <p:spPr>
                <a:xfrm>
                  <a:off x="9620250" y="6943725"/>
                  <a:ext cx="952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68538F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5" name="Path 65"/>
                <p:cNvSpPr/>
                <p:nvPr/>
              </p:nvSpPr>
              <p:spPr>
                <a:xfrm>
                  <a:off x="11363325" y="6943725"/>
                  <a:ext cx="952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68538F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8820150" y="7486650"/>
                  <a:ext cx="32385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5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Interval agreement</a:t>
                  </a:r>
                  <a:endParaRPr lang="zh-CN" sz="2500"/>
                </a:p>
              </p:txBody>
            </p:sp>
          </p:grpSp>
          <p:grpSp>
            <p:nvGrpSpPr>
              <p:cNvPr id="1008" name="False positive penalty"/>
              <p:cNvGrpSpPr/>
              <p:nvPr/>
            </p:nvGrpSpPr>
            <p:grpSpPr>
              <a:xfrm>
                <a:off x="12725400" y="6515100"/>
                <a:ext cx="4286250" cy="1371600"/>
                <a:chOff x="12725400" y="6515100"/>
                <a:chExt cx="4286250" cy="1371600"/>
              </a:xfrm>
            </p:grpSpPr>
            <p:pic>
              <p:nvPicPr>
                <p:cNvPr id="67" name="false-alert"/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887325" y="6515100"/>
                  <a:ext cx="3362325" cy="981075"/>
                </a:xfrm>
                <a:prstGeom prst="rect">
                  <a:avLst/>
                </a:prstGeom>
              </p:spPr>
            </p:pic>
            <p:sp>
              <p:nvSpPr>
                <p:cNvPr id="68" name="TextBox 68"/>
                <p:cNvSpPr txBox="1"/>
                <p:nvPr/>
              </p:nvSpPr>
              <p:spPr>
                <a:xfrm>
                  <a:off x="12725400" y="7486650"/>
                  <a:ext cx="42862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500">
                      <a:solidFill>
                        <a:srgbClr val="25475E"/>
                      </a:solidFill>
                      <a:latin typeface="Times New Roman"/>
                      <a:ea typeface="Times New Roman"/>
                      <a:cs typeface="Times New Roman"/>
                    </a:rPr>
                    <a:t>False-positive penalty</a:t>
                  </a:r>
                  <a:endParaRPr lang="zh-CN" sz="2500"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