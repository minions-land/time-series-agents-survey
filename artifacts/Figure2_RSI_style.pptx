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18355D"/>
                </a:solidFill>
                <a:latin typeface="Aptos"/>
              </a:rPr>
              <a:t>How a Time-Series Agent is organized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385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626D7D"/>
                </a:solidFill>
                <a:latin typeface="Aptos"/>
              </a:rPr>
              <a:t>A module-level view: LLM-side capability is independent; Harness modules form a reusable stack.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2148840" cy="4297680"/>
          </a:xfrm>
          <a:prstGeom prst="roundRect">
            <a:avLst/>
          </a:prstGeom>
          <a:solidFill>
            <a:srgbClr val="F5F1FB"/>
          </a:solidFill>
          <a:ln w="19050">
            <a:solidFill>
              <a:srgbClr val="6F4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61872"/>
            <a:ext cx="1810512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6F4F9D"/>
                </a:solidFill>
                <a:latin typeface="Aptos"/>
              </a:rPr>
              <a:t>LLM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6916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6F4F9D"/>
                </a:solidFill>
                <a:latin typeface="Aptos"/>
              </a:rPr>
              <a:t>Language
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6916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6F4F9D"/>
                </a:solidFill>
                <a:latin typeface="Aptos"/>
              </a:rPr>
              <a:t>Temporal
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6916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6F4F9D"/>
                </a:solidFill>
                <a:latin typeface="Aptos"/>
              </a:rPr>
              <a:t>Reasoning &amp;
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4343400"/>
            <a:ext cx="1810512" cy="5943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626D7D"/>
                </a:solidFill>
                <a:latin typeface="Aptos"/>
              </a:rPr>
              <a:t>ChatTS and related
model-side works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78608" y="3154680"/>
            <a:ext cx="365760" cy="0"/>
          </a:xfrm>
          <a:prstGeom prst="line">
            <a:avLst/>
          </a:prstGeom>
          <a:ln w="22860">
            <a:solidFill>
              <a:srgbClr val="6F4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987552"/>
            <a:ext cx="5806440" cy="4572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83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8" y="1115568"/>
            <a:ext cx="539496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18355D"/>
                </a:solidFill>
                <a:latin typeface="Aptos"/>
              </a:rPr>
              <a:t>Time-Series Agent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2112" y="1572768"/>
            <a:ext cx="5303520" cy="960120"/>
          </a:xfrm>
          <a:prstGeom prst="roundRect">
            <a:avLst/>
          </a:prstGeom>
          <a:solidFill>
            <a:srgbClr val="EEF5FD"/>
          </a:solidFill>
          <a:ln w="17780">
            <a:solidFill>
              <a:srgbClr val="4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664208"/>
            <a:ext cx="48920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4070B8"/>
                </a:solidFill>
                <a:latin typeface="Aptos"/>
              </a:rPr>
              <a:t>General 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956816"/>
            <a:ext cx="48463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0">
                <a:solidFill>
                  <a:srgbClr val="626D7D"/>
                </a:solidFill>
                <a:latin typeface="Aptos"/>
              </a:rPr>
              <a:t>orchestration  ·  memory  ·  tools  ·  control  · 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2679192"/>
            <a:ext cx="4864608" cy="1325880"/>
          </a:xfrm>
          <a:prstGeom prst="roundRect">
            <a:avLst/>
          </a:prstGeom>
          <a:solidFill>
            <a:srgbClr val="FEF8EB"/>
          </a:solidFill>
          <a:ln w="17780">
            <a:solidFill>
              <a:srgbClr val="C5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770632"/>
            <a:ext cx="4443984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C58516"/>
                </a:solidFill>
                <a:latin typeface="Aptos"/>
              </a:rPr>
              <a:t>General Time-Series Harness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21024" y="3127248"/>
            <a:ext cx="960120" cy="274320"/>
          </a:xfrm>
          <a:prstGeom prst="roundRect">
            <a:avLst/>
          </a:prstGeom>
          <a:solidFill>
            <a:srgbClr val="FFFCF3"/>
          </a:solidFill>
          <a:ln w="8890">
            <a:solidFill>
              <a:srgbClr val="C5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3136391"/>
            <a:ext cx="92354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0">
                <a:solidFill>
                  <a:srgbClr val="C58516"/>
                </a:solidFill>
                <a:latin typeface="Aptos"/>
              </a:rPr>
              <a:t>interface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81728" y="3127248"/>
            <a:ext cx="960120" cy="274320"/>
          </a:xfrm>
          <a:prstGeom prst="roundRect">
            <a:avLst/>
          </a:prstGeom>
          <a:solidFill>
            <a:srgbClr val="FFFCF3"/>
          </a:solidFill>
          <a:ln w="8890">
            <a:solidFill>
              <a:srgbClr val="C5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136391"/>
            <a:ext cx="92354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0">
                <a:solidFill>
                  <a:srgbClr val="C58516"/>
                </a:solidFill>
                <a:latin typeface="Aptos"/>
              </a:rPr>
              <a:t>memory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1" y="3127248"/>
            <a:ext cx="960120" cy="274320"/>
          </a:xfrm>
          <a:prstGeom prst="roundRect">
            <a:avLst/>
          </a:prstGeom>
          <a:solidFill>
            <a:srgbClr val="FFFCF3"/>
          </a:solidFill>
          <a:ln w="8890">
            <a:solidFill>
              <a:srgbClr val="C5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19" y="3136391"/>
            <a:ext cx="92354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0">
                <a:solidFill>
                  <a:srgbClr val="C58516"/>
                </a:solidFill>
                <a:latin typeface="Aptos"/>
              </a:rPr>
              <a:t>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03136" y="3127248"/>
            <a:ext cx="1024128" cy="274320"/>
          </a:xfrm>
          <a:prstGeom prst="roundRect">
            <a:avLst/>
          </a:prstGeom>
          <a:solidFill>
            <a:srgbClr val="FFFCF3"/>
          </a:solidFill>
          <a:ln w="8890">
            <a:solidFill>
              <a:srgbClr val="C5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1423" y="3136391"/>
            <a:ext cx="987552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0">
                <a:solidFill>
                  <a:srgbClr val="C58516"/>
                </a:solidFill>
                <a:latin typeface="Aptos"/>
              </a:rPr>
              <a:t>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21024" y="3566160"/>
            <a:ext cx="960120" cy="274320"/>
          </a:xfrm>
          <a:prstGeom prst="roundRect">
            <a:avLst/>
          </a:prstGeom>
          <a:solidFill>
            <a:srgbClr val="FFFCF3"/>
          </a:solidFill>
          <a:ln w="8890">
            <a:solidFill>
              <a:srgbClr val="C5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2" y="3575303"/>
            <a:ext cx="92354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0">
                <a:solidFill>
                  <a:srgbClr val="C58516"/>
                </a:solidFill>
                <a:latin typeface="Aptos"/>
              </a:rPr>
              <a:t>planning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81728" y="3566160"/>
            <a:ext cx="960120" cy="274320"/>
          </a:xfrm>
          <a:prstGeom prst="roundRect">
            <a:avLst/>
          </a:prstGeom>
          <a:solidFill>
            <a:srgbClr val="FFFCF3"/>
          </a:solidFill>
          <a:ln w="8890">
            <a:solidFill>
              <a:srgbClr val="C5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3575303"/>
            <a:ext cx="92354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0">
                <a:solidFill>
                  <a:srgbClr val="C58516"/>
                </a:solidFill>
                <a:latin typeface="Aptos"/>
              </a:rPr>
              <a:t>optimization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42431" y="3566160"/>
            <a:ext cx="960120" cy="274320"/>
          </a:xfrm>
          <a:prstGeom prst="roundRect">
            <a:avLst/>
          </a:prstGeom>
          <a:solidFill>
            <a:srgbClr val="FFFCF3"/>
          </a:solidFill>
          <a:ln w="8890">
            <a:solidFill>
              <a:srgbClr val="C5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19" y="3575303"/>
            <a:ext cx="92354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0">
                <a:solidFill>
                  <a:srgbClr val="C58516"/>
                </a:solidFill>
                <a:latin typeface="Aptos"/>
              </a:rPr>
              <a:t>coordination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4315968"/>
            <a:ext cx="4443984" cy="950976"/>
          </a:xfrm>
          <a:prstGeom prst="roundRect">
            <a:avLst/>
          </a:prstGeom>
          <a:solidFill>
            <a:srgbClr val="EFF9F4"/>
          </a:solidFill>
          <a:ln w="17780">
            <a:solidFill>
              <a:srgbClr val="2F8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4407408"/>
            <a:ext cx="4078224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2F855D"/>
                </a:solidFill>
                <a:latin typeface="Aptos"/>
              </a:rPr>
              <a:t>Task-Specific Harness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7328" y="4727448"/>
            <a:ext cx="4133087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69" b="0">
                <a:solidFill>
                  <a:srgbClr val="626D7D"/>
                </a:solidFill>
                <a:latin typeface="Aptos"/>
              </a:rPr>
              <a:t>forecasting  ·  augmentation  ·  anomaly  ·  decision support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0848" y="1078992"/>
            <a:ext cx="26974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7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1261872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257E71"/>
                </a:solidFill>
                <a:latin typeface="Aptos"/>
              </a:rPr>
              <a:t>Task families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08592" y="1783080"/>
            <a:ext cx="2212848" cy="548640"/>
          </a:xfrm>
          <a:prstGeom prst="roundRect">
            <a:avLst/>
          </a:prstGeom>
          <a:solidFill>
            <a:srgbClr val="EFF9F4"/>
          </a:solidFill>
          <a:ln w="11430">
            <a:solidFill>
              <a:srgbClr val="257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00032" y="1847088"/>
            <a:ext cx="2029968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257E71"/>
                </a:solidFill>
                <a:latin typeface="Aptos"/>
              </a:rPr>
              <a:t>Forecasting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0032" y="2075688"/>
            <a:ext cx="2029968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0">
                <a:solidFill>
                  <a:srgbClr val="626D7D"/>
                </a:solidFill>
                <a:latin typeface="Aptos"/>
              </a:rPr>
              <a:t>predict future values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2560320"/>
            <a:ext cx="2212848" cy="548640"/>
          </a:xfrm>
          <a:prstGeom prst="roundRect">
            <a:avLst/>
          </a:prstGeom>
          <a:solidFill>
            <a:srgbClr val="EFF9F4"/>
          </a:solidFill>
          <a:ln w="11430">
            <a:solidFill>
              <a:srgbClr val="257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00032" y="2624327"/>
            <a:ext cx="2029968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257E71"/>
                </a:solidFill>
                <a:latin typeface="Aptos"/>
              </a:rPr>
              <a:t>Augmentation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0032" y="2852927"/>
            <a:ext cx="2029968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0">
                <a:solidFill>
                  <a:srgbClr val="626D7D"/>
                </a:solidFill>
                <a:latin typeface="Aptos"/>
              </a:rPr>
              <a:t>synthesize useful series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08592" y="3337560"/>
            <a:ext cx="2212848" cy="548640"/>
          </a:xfrm>
          <a:prstGeom prst="roundRect">
            <a:avLst/>
          </a:prstGeom>
          <a:solidFill>
            <a:srgbClr val="EFF9F4"/>
          </a:solidFill>
          <a:ln w="11430">
            <a:solidFill>
              <a:srgbClr val="257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3401568"/>
            <a:ext cx="2029968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257E71"/>
                </a:solidFill>
                <a:latin typeface="Aptos"/>
              </a:rPr>
              <a:t>Anomaly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00032" y="3630168"/>
            <a:ext cx="2029968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0">
                <a:solidFill>
                  <a:srgbClr val="626D7D"/>
                </a:solidFill>
                <a:latin typeface="Aptos"/>
              </a:rPr>
              <a:t>detect and diagnose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08592" y="4114800"/>
            <a:ext cx="2212848" cy="548640"/>
          </a:xfrm>
          <a:prstGeom prst="roundRect">
            <a:avLst/>
          </a:prstGeom>
          <a:solidFill>
            <a:srgbClr val="EFF9F4"/>
          </a:solidFill>
          <a:ln w="11430">
            <a:solidFill>
              <a:srgbClr val="257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0032" y="4178808"/>
            <a:ext cx="2029968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50" b="1">
                <a:solidFill>
                  <a:srgbClr val="257E71"/>
                </a:solidFill>
                <a:latin typeface="Aptos"/>
              </a:rPr>
              <a:t>Decision support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0032" y="4407408"/>
            <a:ext cx="2029968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00" b="0">
                <a:solidFill>
                  <a:srgbClr val="626D7D"/>
                </a:solidFill>
                <a:latin typeface="Aptos"/>
              </a:rPr>
              <a:t>act on predictions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750808" y="3154680"/>
            <a:ext cx="320040" cy="0"/>
          </a:xfrm>
          <a:prstGeom prst="line">
            <a:avLst/>
          </a:prstGeom>
          <a:ln w="22860">
            <a:solidFill>
              <a:srgbClr val="257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024128" y="5806440"/>
            <a:ext cx="1010412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83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4440" y="5925312"/>
            <a:ext cx="14173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8355D"/>
                </a:solidFill>
                <a:latin typeface="Aptos"/>
              </a:rPr>
              <a:t>Paper card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97480" y="5907024"/>
            <a:ext cx="8183879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626D7D"/>
                </a:solidFill>
                <a:latin typeface="Aptos"/>
              </a:rPr>
              <a:t>claim  ·  evidence locator  ·  module labels  ·  task family  ·  BibTeX  ·  source status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053328" y="2532888"/>
            <a:ext cx="0" cy="146304"/>
          </a:xfrm>
          <a:prstGeom prst="line">
            <a:avLst/>
          </a:prstGeom>
          <a:ln w="15240">
            <a:solidFill>
              <a:srgbClr val="4070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053328" y="4005072"/>
            <a:ext cx="0" cy="310896"/>
          </a:xfrm>
          <a:prstGeom prst="line">
            <a:avLst/>
          </a:prstGeom>
          <a:ln w="15240">
            <a:solidFill>
              <a:srgbClr val="C585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57200" y="6537960"/>
            <a:ext cx="11247120" cy="1645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50" b="0">
                <a:solidFill>
                  <a:srgbClr val="626D7D"/>
                </a:solidFill>
                <a:latin typeface="Aptos"/>
              </a:rPr>
              <a:t>Modules are recorded independently: one paper may contribute to several locations, while each contribution is assigned to its deepest applicable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