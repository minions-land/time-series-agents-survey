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5a4c041734b7e" /><Relationship Type="http://schemas.openxmlformats.org/officeDocument/2006/relationships/extended-properties" Target="/docProps/app.xml" Id="R48633c54fd134b36" /><Relationship Type="http://schemas.openxmlformats.org/officeDocument/2006/relationships/officeDocument" Target="/ppt/presentation.xml" Id="Rccfefabd99c743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56" r:id="Rd1305feb30af4bb8"/>
    <p:sldId xmlns:r="http://schemas.openxmlformats.org/officeDocument/2006/relationships" id="257" r:id="R11368af45d274d01"/>
    <p:sldId xmlns:r="http://schemas.openxmlformats.org/officeDocument/2006/relationships" id="258" r:id="R8ce2543125d447a8"/>
    <p:sldId xmlns:r="http://schemas.openxmlformats.org/officeDocument/2006/relationships" id="259" r:id="Rb96d7f6ff03f411d"/>
    <p:sldId xmlns:r="http://schemas.openxmlformats.org/officeDocument/2006/relationships" id="260" r:id="R640bb15e93f4400c"/>
    <p:sldId xmlns:r="http://schemas.openxmlformats.org/officeDocument/2006/relationships" id="261" r:id="R227420fe42174bcd"/>
    <p:sldId xmlns:r="http://schemas.openxmlformats.org/officeDocument/2006/relationships" id="262" r:id="R2ae91240b0ad4399"/>
    <p:sldId xmlns:r="http://schemas.openxmlformats.org/officeDocument/2006/relationships" id="263" r:id="R3665eaac08524741"/>
    <p:sldId xmlns:r="http://schemas.openxmlformats.org/officeDocument/2006/relationships" id="264" r:id="R0fe2da08869b49a4"/>
    <p:sldId xmlns:r="http://schemas.openxmlformats.org/officeDocument/2006/relationships" id="265" r:id="Re291f37a51814f1b"/>
    <p:sldId xmlns:r="http://schemas.openxmlformats.org/officeDocument/2006/relationships" id="266" r:id="R7644e5a33fb24e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f80b000b64034" /><Relationship Type="http://schemas.openxmlformats.org/officeDocument/2006/relationships/slideMaster" Target="/ppt/slideMasters/slideMaster1.xml" Id="Rc62dd2e32af54760" /><Relationship Type="http://schemas.openxmlformats.org/officeDocument/2006/relationships/notesMaster" Target="/ppt/notesMasters/notesMaster1.xml" Id="Ra0a1e8e05023462b" /><Relationship Type="http://schemas.openxmlformats.org/officeDocument/2006/relationships/presProps" Target="/ppt/presProps.xml" Id="R04131d18dade4c29" /><Relationship Type="http://schemas.openxmlformats.org/officeDocument/2006/relationships/tableStyles" Target="/ppt/tableStyles.xml" Id="R806215ee825044a7" /><Relationship Type="http://schemas.openxmlformats.org/officeDocument/2006/relationships/slide" Target="/ppt/slides/slide1.xml" Id="Rd1305feb30af4bb8" /><Relationship Type="http://schemas.openxmlformats.org/officeDocument/2006/relationships/slide" Target="/ppt/slides/slide2.xml" Id="R11368af45d274d01" /><Relationship Type="http://schemas.openxmlformats.org/officeDocument/2006/relationships/slide" Target="/ppt/slides/slide3.xml" Id="R8ce2543125d447a8" /><Relationship Type="http://schemas.openxmlformats.org/officeDocument/2006/relationships/slide" Target="/ppt/slides/slide4.xml" Id="Rb96d7f6ff03f411d" /><Relationship Type="http://schemas.openxmlformats.org/officeDocument/2006/relationships/slide" Target="/ppt/slides/slide5.xml" Id="R640bb15e93f4400c" /><Relationship Type="http://schemas.openxmlformats.org/officeDocument/2006/relationships/slide" Target="/ppt/slides/slide6.xml" Id="R227420fe42174bcd" /><Relationship Type="http://schemas.openxmlformats.org/officeDocument/2006/relationships/slide" Target="/ppt/slides/slide7.xml" Id="R2ae91240b0ad4399" /><Relationship Type="http://schemas.openxmlformats.org/officeDocument/2006/relationships/slide" Target="/ppt/slides/slide8.xml" Id="R3665eaac08524741" /><Relationship Type="http://schemas.openxmlformats.org/officeDocument/2006/relationships/slide" Target="/ppt/slides/slide9.xml" Id="R0fe2da08869b49a4" /><Relationship Type="http://schemas.openxmlformats.org/officeDocument/2006/relationships/slide" Target="/ppt/slides/slide10.xml" Id="Re291f37a51814f1b" /><Relationship Type="http://schemas.openxmlformats.org/officeDocument/2006/relationships/slide" Target="/ppt/slides/slide11.xml" Id="R7644e5a33fb24e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a0963fee6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f983c1876e455f" /><Relationship Type="http://schemas.openxmlformats.org/officeDocument/2006/relationships/notesMaster" Target="/ppt/notesMasters/notesMaster1.xml" Id="Rf7d6e62ed41c49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121d44a5b24761" /><Relationship Type="http://schemas.openxmlformats.org/officeDocument/2006/relationships/notesMaster" Target="/ppt/notesMasters/notesMaster1.xml" Id="R7cc6038a4e3049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a08eebbbc64b7a" /><Relationship Type="http://schemas.openxmlformats.org/officeDocument/2006/relationships/notesMaster" Target="/ppt/notesMasters/notesMaster1.xml" Id="R82327a06e9c545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239c0e6ff34b0b" /><Relationship Type="http://schemas.openxmlformats.org/officeDocument/2006/relationships/notesMaster" Target="/ppt/notesMasters/notesMaster1.xml" Id="R43912d87f06d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c242d1bb8484a" /><Relationship Type="http://schemas.openxmlformats.org/officeDocument/2006/relationships/notesMaster" Target="/ppt/notesMasters/notesMaster1.xml" Id="Rce6492a74d2549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9a8f8dfafa49c1" /><Relationship Type="http://schemas.openxmlformats.org/officeDocument/2006/relationships/notesMaster" Target="/ppt/notesMasters/notesMaster1.xml" Id="R7dc3b8765c714e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6a4889dee44287" /><Relationship Type="http://schemas.openxmlformats.org/officeDocument/2006/relationships/notesMaster" Target="/ppt/notesMasters/notesMaster1.xml" Id="R5f4fd2b6746343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7a03559f9c42aa" /><Relationship Type="http://schemas.openxmlformats.org/officeDocument/2006/relationships/notesMaster" Target="/ppt/notesMasters/notesMaster1.xml" Id="Rf68906d46ddd43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13dcfb27fc4293" /><Relationship Type="http://schemas.openxmlformats.org/officeDocument/2006/relationships/notesMaster" Target="/ppt/notesMasters/notesMaster1.xml" Id="R5cece6a9992842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00dd57c67146cb" /><Relationship Type="http://schemas.openxmlformats.org/officeDocument/2006/relationships/notesMaster" Target="/ppt/notesMasters/notesMaster1.xml" Id="R05e150c79b4249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5a2f19b4ca42cb" /><Relationship Type="http://schemas.openxmlformats.org/officeDocument/2006/relationships/notesMaster" Target="/ppt/notesMasters/notesMaster1.xml" Id="R41b26c7c4b434e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03514d1b-0ebc-4946-8261-3b775509d1f7.png.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250411b2-1d1f-4bba-a7bd-241fd0ec6be1.png.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2ee58a4a-5ea6-43c1-b6cd-fa97801e2762.png.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473be8a2-e4eb-4cca-bfdd-97302b50480b.png.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70181ba7-3a8e-4452-9f50-ffa240cc6655.png.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7572f4b2-a5e3-4239-800f-b94ac30e4317.png.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93b9b499-6e13-4dd0-bbe2-28235f020bfe.png.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a5f5d981-2117-48b5-8cb6-bcbbbbe0f3e6.png.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cc759328-3690-4186-9986-fe51794f5931.png.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ded9e63e-c562-44fb-941d-7de354ae4c7d.png.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c4471a69-b143-4c54-8d60-2b3909aec7b0.png.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87c7bc4a445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5b395724ca46a6" /><Relationship Type="http://schemas.openxmlformats.org/officeDocument/2006/relationships/slideLayout" Target="/ppt/slideLayouts/slideLayout1.xml" Id="Rb3adc2a7e132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e1d664c56496e" /><Relationship Type="http://schemas.openxmlformats.org/officeDocument/2006/relationships/notesSlide" Target="/ppt/notesSlides/notesSlide1.xml" Id="R9791a5ed204c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8e3d348c24189" /><Relationship Type="http://schemas.openxmlformats.org/officeDocument/2006/relationships/notesSlide" Target="/ppt/notesSlides/notesSlide2.xml" Id="R7a16ad3240744f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b1d178c4b43bd" /><Relationship Type="http://schemas.openxmlformats.org/officeDocument/2006/relationships/notesSlide" Target="/ppt/notesSlides/notesSlide3.xml" Id="R5bbf00482a5a48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8c70c3c434278" /><Relationship Type="http://schemas.openxmlformats.org/officeDocument/2006/relationships/notesSlide" Target="/ppt/notesSlides/notesSlide4.xml" Id="Ra43ecb4c66914a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7042ac14844b5" /><Relationship Type="http://schemas.openxmlformats.org/officeDocument/2006/relationships/notesSlide" Target="/ppt/notesSlides/notesSlide5.xml" Id="Rfbb97f2a090845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e8eef519c4eae" /><Relationship Type="http://schemas.openxmlformats.org/officeDocument/2006/relationships/notesSlide" Target="/ppt/notesSlides/notesSlide6.xml" Id="R19bcccd94a064f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39af500eb4566" /><Relationship Type="http://schemas.openxmlformats.org/officeDocument/2006/relationships/notesSlide" Target="/ppt/notesSlides/notesSlide7.xml" Id="R5400297a799e40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18a17e9b5416e" /><Relationship Type="http://schemas.openxmlformats.org/officeDocument/2006/relationships/notesSlide" Target="/ppt/notesSlides/notesSlide8.xml" Id="Rd4a59c9bbf1a47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2b17da9224cdb" /><Relationship Type="http://schemas.openxmlformats.org/officeDocument/2006/relationships/notesSlide" Target="/ppt/notesSlides/notesSlide9.xml" Id="Re71b6c58797a43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c48d2ac854514" /><Relationship Type="http://schemas.openxmlformats.org/officeDocument/2006/relationships/notesSlide" Target="/ppt/notesSlides/notesSlide10.xml" Id="R8dff0fe8a4b643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d63d9fa0c4c07" /><Relationship Type="http://schemas.openxmlformats.org/officeDocument/2006/relationships/notesSlide" Target="/ppt/notesSlides/notesSlide11.xml" Id="Ra6da79d3b6724e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964CC8F-D356-4907-AAE9-09B6D4D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Module-level contributions across the reviewed corpus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70E87-6BB5-449D-AAA9-28E0786D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Cumulative module counts on a logarithmic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46AC1-9445-405F-902C-A5C4D3E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EDBCD-DD10-4097-B720-6D5173E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136EC-E21B-4B36-8C08-5CEA5834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7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D878C-285C-4752-A009-A3988917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19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91026-AEE0-44BA-9709-C939AB54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7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F7B65-E724-4FF5-BC5F-6BA1A882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385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152FD-505F-4C80-B71B-09A43114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7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CB9B6-91E1-430E-ADDB-A1BE31A4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574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68E9F-42DD-4BCD-8279-D6D4A3F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Oct 2023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4C429-0E30-4861-B32A-99A04638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Feb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F64D8-0C08-473E-B382-5020028A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Jun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2B7B5-DF04-44B8-AF53-52DAC35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Oct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502FD-1FE6-444F-BE50-E5E5FE2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Feb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149B9-9EBE-49D3-808D-08EB4E42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Jun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06723-270D-4969-ABE2-6D66DCF3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Oct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224EB-273D-4779-BF13-08B698EA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Feb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B2F19-5001-4669-B34C-8A7BCD5E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4864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Jun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DD9C6-C0A7-4B8A-B9B6-736C9052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D7830-92BE-49E8-8467-B9D5650E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EB5A7-1918-459B-9C1C-12357E7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881D9-86BD-4543-89E7-1330350F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3A625-2759-4B09-8FF0-E5F79CDF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8473B-42EA-4FAD-B65C-D8C3D292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91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C8BC7-5CD3-4BDA-8151-A47792DF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246210-47CB-41CD-B4AB-56C8C65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1191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D850C-17A4-41FA-8175-FBD477ED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032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cxnSp>
        <p:nvCxnSpPr>
          <p:cNvPr id="126" name=""/>
          <p:cNvCxnSpPr>
            <a:stCxn xmlns:a="http://schemas.openxmlformats.org/drawingml/2006/main" id="2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1000125" y="525970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127" name=""/>
          <p:cNvCxnSpPr>
            <a:stCxn xmlns:a="http://schemas.openxmlformats.org/drawingml/2006/main" id="21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2238375" y="525970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128" name=""/>
          <p:cNvCxnSpPr>
            <a:stCxn xmlns:a="http://schemas.openxmlformats.org/drawingml/2006/main" id="22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3476625" y="4962525"/>
            <a:ext cx="1143000" cy="29718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129" name=""/>
          <p:cNvCxnSpPr>
            <a:stCxn xmlns:a="http://schemas.openxmlformats.org/drawingml/2006/main" id="23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4714875" y="49625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130" name=""/>
          <p:cNvCxnSpPr>
            <a:stCxn xmlns:a="http://schemas.openxmlformats.org/drawingml/2006/main" id="24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5953125" y="4516755"/>
            <a:ext cx="1143000" cy="44577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131" name=""/>
          <p:cNvCxnSpPr>
            <a:stCxn xmlns:a="http://schemas.openxmlformats.org/drawingml/2006/main" id="25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7191375" y="4219575"/>
            <a:ext cx="1143000" cy="29718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132" name=""/>
          <p:cNvCxnSpPr>
            <a:stCxn xmlns:a="http://schemas.openxmlformats.org/drawingml/2006/main" id="26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8429625" y="3959543"/>
            <a:ext cx="1143000" cy="26003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133" name=""/>
          <p:cNvCxnSpPr>
            <a:stCxn xmlns:a="http://schemas.openxmlformats.org/drawingml/2006/main" id="27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9667875" y="3550920"/>
            <a:ext cx="1143000" cy="40862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5E0A19-BAE2-4530-BE28-CDFF1A3B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33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BD0C7-05C8-4164-8C64-84F3383A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6A65E9-A07F-4575-9E95-62FAA026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AC74B3-0882-4E70-9E43-A0B68CE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E9560-19C5-495C-94DF-50A5A47E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233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61C67D-CD55-4E16-9B98-CB78936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1191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BCE07-C815-4110-9599-04A03C7C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032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2FAE5F-DA8C-4BE5-8FF5-401D1916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432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B555A2-62C3-49C2-A439-152C5871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893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12D3D3-0B71-454E-988D-7694028D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117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6C5DA8-CF6C-4F69-8788-CF7ED871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240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cxnSp>
        <p:nvCxnSpPr>
          <p:cNvPr id="145" name=""/>
          <p:cNvCxnSpPr>
            <a:stCxn xmlns:a="http://schemas.openxmlformats.org/drawingml/2006/main" id="39" idx="6"/>
            <a:endCxn xmlns:a="http://schemas.openxmlformats.org/drawingml/2006/main" id="40" idx="2"/>
          </p:cNvCxnSpPr>
          <p:nvPr/>
        </p:nvCxnSpPr>
        <p:spPr>
          <a:xfrm xmlns:a="http://schemas.openxmlformats.org/drawingml/2006/main" flipV="1">
            <a:off x="1000125" y="4219575"/>
            <a:ext cx="1143000" cy="104013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146" name=""/>
          <p:cNvCxnSpPr>
            <a:stCxn xmlns:a="http://schemas.openxmlformats.org/drawingml/2006/main" id="40" idx="6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2238375" y="4070985"/>
            <a:ext cx="1143000" cy="14859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147" name=""/>
          <p:cNvCxnSpPr>
            <a:stCxn xmlns:a="http://schemas.openxmlformats.org/drawingml/2006/main" id="41" idx="6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3476625" y="3959543"/>
            <a:ext cx="1143000" cy="11144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148" name=""/>
          <p:cNvCxnSpPr>
            <a:stCxn xmlns:a="http://schemas.openxmlformats.org/drawingml/2006/main" id="42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 flipV="1">
            <a:off x="4714875" y="3550920"/>
            <a:ext cx="1143000" cy="40862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149" name=""/>
          <p:cNvCxnSpPr>
            <a:stCxn xmlns:a="http://schemas.openxmlformats.org/drawingml/2006/main" id="43" idx="6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5953125" y="3290888"/>
            <a:ext cx="1143000" cy="26003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150" name=""/>
          <p:cNvCxnSpPr>
            <a:stCxn xmlns:a="http://schemas.openxmlformats.org/drawingml/2006/main" id="44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7191375" y="2956560"/>
            <a:ext cx="1143000" cy="33432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151" name=""/>
          <p:cNvCxnSpPr>
            <a:stCxn xmlns:a="http://schemas.openxmlformats.org/drawingml/2006/main" id="45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8429625" y="2659380"/>
            <a:ext cx="1143000" cy="29718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152" name=""/>
          <p:cNvCxnSpPr>
            <a:stCxn xmlns:a="http://schemas.openxmlformats.org/drawingml/2006/main" id="46" idx="6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9667875" y="2287905"/>
            <a:ext cx="114300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B284CB-0FF7-487D-A8E7-3FCBEC39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8D3A64-D378-4769-9DB8-EDAF0154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668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Task-Specific Harness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D16C7F-46A8-446C-9A8C-9BDED0DC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E05BD9-F84C-4393-8F68-9C89A16D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291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121902-C4BF-4E0E-929A-3E959A7E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291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19BEE4-6F28-4FB9-A772-B8D205E2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291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69743E-F4AE-4A86-8F1D-9DDDA054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57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04FC24-D3FC-472D-9908-9EB7AF54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57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027B82-2A0A-42BC-ADA8-68B84265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57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B1A59B-D811-4FEC-9B78-3359E2D8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57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3C6A1B-CCCB-47C5-B9C2-AD5FC2E1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357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cxnSp>
        <p:nvCxnSpPr>
          <p:cNvPr id="164" name=""/>
          <p:cNvCxnSpPr>
            <a:stCxn xmlns:a="http://schemas.openxmlformats.org/drawingml/2006/main" id="58" idx="6"/>
            <a:endCxn xmlns:a="http://schemas.openxmlformats.org/drawingml/2006/main" id="59" idx="2"/>
          </p:cNvCxnSpPr>
          <p:nvPr/>
        </p:nvCxnSpPr>
        <p:spPr>
          <a:xfrm xmlns:a="http://schemas.openxmlformats.org/drawingml/2006/main" flipV="1">
            <a:off x="1000125" y="4776788"/>
            <a:ext cx="1143000" cy="48291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165" name=""/>
          <p:cNvCxnSpPr>
            <a:stCxn xmlns:a="http://schemas.openxmlformats.org/drawingml/2006/main" id="59" idx="6"/>
            <a:endCxn xmlns:a="http://schemas.openxmlformats.org/drawingml/2006/main" id="60" idx="2"/>
          </p:cNvCxnSpPr>
          <p:nvPr/>
        </p:nvCxnSpPr>
        <p:spPr>
          <a:xfrm xmlns:a="http://schemas.openxmlformats.org/drawingml/2006/main">
            <a:off x="2238375" y="477678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166" name=""/>
          <p:cNvCxnSpPr>
            <a:stCxn xmlns:a="http://schemas.openxmlformats.org/drawingml/2006/main" id="60" idx="6"/>
            <a:endCxn xmlns:a="http://schemas.openxmlformats.org/drawingml/2006/main" id="61" idx="2"/>
          </p:cNvCxnSpPr>
          <p:nvPr/>
        </p:nvCxnSpPr>
        <p:spPr>
          <a:xfrm xmlns:a="http://schemas.openxmlformats.org/drawingml/2006/main">
            <a:off x="3476625" y="477678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167" name=""/>
          <p:cNvCxnSpPr>
            <a:stCxn xmlns:a="http://schemas.openxmlformats.org/drawingml/2006/main" id="61" idx="6"/>
            <a:endCxn xmlns:a="http://schemas.openxmlformats.org/drawingml/2006/main" id="62" idx="2"/>
          </p:cNvCxnSpPr>
          <p:nvPr/>
        </p:nvCxnSpPr>
        <p:spPr>
          <a:xfrm xmlns:a="http://schemas.openxmlformats.org/drawingml/2006/main" flipV="1">
            <a:off x="4714875" y="4405313"/>
            <a:ext cx="114300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168" name=""/>
          <p:cNvCxnSpPr>
            <a:stCxn xmlns:a="http://schemas.openxmlformats.org/drawingml/2006/main" id="62" idx="6"/>
            <a:endCxn xmlns:a="http://schemas.openxmlformats.org/drawingml/2006/main" id="63" idx="2"/>
          </p:cNvCxnSpPr>
          <p:nvPr/>
        </p:nvCxnSpPr>
        <p:spPr>
          <a:xfrm xmlns:a="http://schemas.openxmlformats.org/drawingml/2006/main">
            <a:off x="5953125" y="4405313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169" name=""/>
          <p:cNvCxnSpPr>
            <a:stCxn xmlns:a="http://schemas.openxmlformats.org/drawingml/2006/main" id="63" idx="6"/>
            <a:endCxn xmlns:a="http://schemas.openxmlformats.org/drawingml/2006/main" id="64" idx="2"/>
          </p:cNvCxnSpPr>
          <p:nvPr/>
        </p:nvCxnSpPr>
        <p:spPr>
          <a:xfrm xmlns:a="http://schemas.openxmlformats.org/drawingml/2006/main">
            <a:off x="7191375" y="4405313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170" name=""/>
          <p:cNvCxnSpPr>
            <a:stCxn xmlns:a="http://schemas.openxmlformats.org/drawingml/2006/main" id="64" idx="6"/>
            <a:endCxn xmlns:a="http://schemas.openxmlformats.org/drawingml/2006/main" id="65" idx="2"/>
          </p:cNvCxnSpPr>
          <p:nvPr/>
        </p:nvCxnSpPr>
        <p:spPr>
          <a:xfrm xmlns:a="http://schemas.openxmlformats.org/drawingml/2006/main">
            <a:off x="8429625" y="4405313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171" name=""/>
          <p:cNvCxnSpPr>
            <a:stCxn xmlns:a="http://schemas.openxmlformats.org/drawingml/2006/main" id="65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9667875" y="4405313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5F4525-B7FF-4B19-8747-2FA435A9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50FEFD-76A2-40C4-B589-B7C2F3BF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7635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LLM-side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3079FF-A760-4C98-A6B4-B8343A1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6A4730-1D97-4C0A-887B-3DFCA586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A0E24A-0039-4076-93EE-5C3BFDD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120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7BC0A8-E149-44F8-87D6-92E8315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747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522E97A-4C09-45ED-A948-4EE27B6A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14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17CC099-AC8E-498E-91B8-C96302C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547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4F1017-4B9F-4850-8530-253376FE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832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F829D6-6FC6-46D4-AB36-045D641F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117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194BDF-CE4A-4E17-A639-903A0448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3888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cxnSp>
        <p:nvCxnSpPr>
          <p:cNvPr id="183" name=""/>
          <p:cNvCxnSpPr>
            <a:stCxn xmlns:a="http://schemas.openxmlformats.org/drawingml/2006/main" id="77" idx="6"/>
            <a:endCxn xmlns:a="http://schemas.openxmlformats.org/drawingml/2006/main" id="78" idx="2"/>
          </p:cNvCxnSpPr>
          <p:nvPr/>
        </p:nvCxnSpPr>
        <p:spPr>
          <a:xfrm xmlns:a="http://schemas.openxmlformats.org/drawingml/2006/main">
            <a:off x="1000125" y="525970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cxnSp>
        <p:nvCxnSpPr>
          <p:cNvPr id="184" name=""/>
          <p:cNvCxnSpPr>
            <a:stCxn xmlns:a="http://schemas.openxmlformats.org/drawingml/2006/main" id="78" idx="6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2238375" y="525970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cxnSp>
        <p:nvCxnSpPr>
          <p:cNvPr id="185" name=""/>
          <p:cNvCxnSpPr>
            <a:stCxn xmlns:a="http://schemas.openxmlformats.org/drawingml/2006/main" id="79" idx="6"/>
            <a:endCxn xmlns:a="http://schemas.openxmlformats.org/drawingml/2006/main" id="80" idx="2"/>
          </p:cNvCxnSpPr>
          <p:nvPr/>
        </p:nvCxnSpPr>
        <p:spPr>
          <a:xfrm xmlns:a="http://schemas.openxmlformats.org/drawingml/2006/main" flipV="1">
            <a:off x="3476625" y="3922395"/>
            <a:ext cx="1143000" cy="133731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cxnSp>
        <p:nvCxnSpPr>
          <p:cNvPr id="186" name=""/>
          <p:cNvCxnSpPr>
            <a:stCxn xmlns:a="http://schemas.openxmlformats.org/drawingml/2006/main" id="80" idx="6"/>
            <a:endCxn xmlns:a="http://schemas.openxmlformats.org/drawingml/2006/main" id="81" idx="2"/>
          </p:cNvCxnSpPr>
          <p:nvPr/>
        </p:nvCxnSpPr>
        <p:spPr>
          <a:xfrm xmlns:a="http://schemas.openxmlformats.org/drawingml/2006/main" flipV="1">
            <a:off x="4714875" y="3662363"/>
            <a:ext cx="1143000" cy="26003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cxnSp>
        <p:nvCxnSpPr>
          <p:cNvPr id="187" name=""/>
          <p:cNvCxnSpPr>
            <a:stCxn xmlns:a="http://schemas.openxmlformats.org/drawingml/2006/main" id="81" idx="6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5953125" y="3402330"/>
            <a:ext cx="1143000" cy="26003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cxnSp>
        <p:nvCxnSpPr>
          <p:cNvPr id="188" name=""/>
          <p:cNvCxnSpPr>
            <a:stCxn xmlns:a="http://schemas.openxmlformats.org/drawingml/2006/main" id="82" idx="6"/>
            <a:endCxn xmlns:a="http://schemas.openxmlformats.org/drawingml/2006/main" id="83" idx="2"/>
          </p:cNvCxnSpPr>
          <p:nvPr/>
        </p:nvCxnSpPr>
        <p:spPr>
          <a:xfrm xmlns:a="http://schemas.openxmlformats.org/drawingml/2006/main" flipV="1">
            <a:off x="7191375" y="3030855"/>
            <a:ext cx="114300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cxnSp>
        <p:nvCxnSpPr>
          <p:cNvPr id="189" name=""/>
          <p:cNvCxnSpPr>
            <a:stCxn xmlns:a="http://schemas.openxmlformats.org/drawingml/2006/main" id="83" idx="6"/>
            <a:endCxn xmlns:a="http://schemas.openxmlformats.org/drawingml/2006/main" id="84" idx="2"/>
          </p:cNvCxnSpPr>
          <p:nvPr/>
        </p:nvCxnSpPr>
        <p:spPr>
          <a:xfrm xmlns:a="http://schemas.openxmlformats.org/drawingml/2006/main" flipV="1">
            <a:off x="8429625" y="2659380"/>
            <a:ext cx="114300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cxnSp>
        <p:nvCxnSpPr>
          <p:cNvPr id="190" name=""/>
          <p:cNvCxnSpPr>
            <a:stCxn xmlns:a="http://schemas.openxmlformats.org/drawingml/2006/main" id="84" idx="6"/>
            <a:endCxn xmlns:a="http://schemas.openxmlformats.org/drawingml/2006/main" id="85" idx="2"/>
          </p:cNvCxnSpPr>
          <p:nvPr/>
        </p:nvCxnSpPr>
        <p:spPr>
          <a:xfrm xmlns:a="http://schemas.openxmlformats.org/drawingml/2006/main" flipV="1">
            <a:off x="9667875" y="2436495"/>
            <a:ext cx="1143000" cy="22288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7896"/>
            </a:solidFill>
            <a:prstDash val="solid"/>
            <a:headEnd type="arrow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872F1E-E815-4FEC-AC97-B9D334F1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896"/>
          </a:solidFill>
          <a:ln xmlns:a="http://schemas.openxmlformats.org/drawingml/2006/main" w="0">
            <a:solidFill>
              <a:srgbClr val="4D789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8BC6BCA-6EE4-4792-B509-A31915D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859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0272552-0D47-4D43-ABF9-7E94DF0C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Cumulative module contributions (log scale)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BC6CAEF-0E20-45A5-853E-316F1581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Figure-style reconstruction: counts are recorded at the module level, so one paper may contribute to multiple curves.</a:t>
            </a:r>
          </a:p>
        </p:txBody>
      </p:sp>
    </p:spTree>
    <p:extLst>
      <p:ext uri="{BB962C8B-B14F-4D97-AF65-F5344CB8AC3E}">
        <p14:creationId xmlns:p14="http://schemas.microsoft.com/office/powerpoint/2010/main" val="1635480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41CDFF-71BA-4C70-B859-C759C343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Organization of the survey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62427-1940-4279-A5C4-888881A9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Sections follow the construction of a system and the evidence used to evaluate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39C10-A5B2-49D9-8BBC-A40621BB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81100"/>
            <a:ext cx="381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081DF-3CFE-4B12-89A5-6F188AF8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2C1E8-8223-4274-844E-CAAB9D19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4300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1430">
            <a:solidFill>
              <a:srgbClr val="B47B24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696D3-B409-4F25-A992-4C4D5730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192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§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F271E-D1FD-4EDC-B955-07251E7A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906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03B44-8894-4EB8-BAF8-37296B3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43000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A2E2C-75B9-49F7-864D-09D135A9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09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Scope, motivation, and central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55BE4-4415-4467-98B0-CF359065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19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A83F5-4F06-400B-817B-88EB408B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47825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1430">
            <a:solidFill>
              <a:srgbClr val="B47B24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20FA5-6AD3-46AF-ACB5-96134CE6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240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§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2D0D9-A91F-407E-880F-10AFF8A9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95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Scope and Review Methodology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0EA61-3CB5-44F4-B6EC-8C006FB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47825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967FA-0FED-4C74-86E7-C2D7EDF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Inclusion and evidence-led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858E1-F99C-4113-A098-4D576DEC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3D3CF-3DD9-43FD-A1A7-E84C41F3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1430">
            <a:solidFill>
              <a:srgbClr val="6D6396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B8EC7-CE38-417B-8E9E-52E1DDB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rPr>
              <a:t>§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8EB6A-E2C5-4795-8284-ED038376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00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Foundations and Problem Formulation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F6E6C-11C1-435F-9508-EEC90F72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E3742-9748-41F7-A1A6-7105350B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19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Agent, LLM, and time-series layers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B03D0-9DB0-4D48-9275-5CA00234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0A83E-05C1-4A02-A951-F7416BD2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57475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1430">
            <a:solidFill>
              <a:srgbClr val="4F8F89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0C4F6-9DFC-470D-9413-9D9D907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rPr>
              <a:t>§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91B58-6817-452B-9739-E54B651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05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Taxonomy of Time-Series Agents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B3592-BEA1-42B6-852E-582AD7ED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7475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A82BB-9409-4B90-8860-1B3CAAB7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Reusable modules and task contracts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EEC41-E92E-4742-B460-F30C66A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259A1-1B64-4E4E-A38A-499509E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6230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1430">
            <a:solidFill>
              <a:srgbClr val="6B9F80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EB9059-0E82-40BA-9990-6A35746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§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F29190-AB97-41DB-B39B-CBE9EE4C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99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Automated Design and Infrastructure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F1376-8642-4579-A352-0247670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2B468-4DC2-45A6-A0A5-3332685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28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Tools, memory, and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2235CE-B526-4DA1-9543-455B820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940E3-3850-47A1-8268-20D3597F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1430">
            <a:solidFill>
              <a:srgbClr val="6B9F80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4468CA-1234-4A01-B814-E71B238C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§ 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0DDB62-EA06-43CB-8303-57ECBF6F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Repair and Experimentation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F0FCBB-A6FA-4F97-943B-CC0F8872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F89AD2-2495-4CF1-8A82-F7E5BCF8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Trace, revision, and validation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A8FDF0-FDB1-48B9-969E-A276D02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00C5EC-366F-4879-B305-C0ECA9D3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7195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1430">
            <a:solidFill>
              <a:srgbClr val="4F8F89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9A0524-B7D8-40E3-92F4-72349AD3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rPr>
              <a:t>§ 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2C869C-5FD3-4E4E-9FAA-B523B0C9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95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Benchmarks and Evaluation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773B91-D513-4DDB-8A19-B05D15E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F091EC-276D-4529-A187-819CFEE1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38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Goal-matched tests and reports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F70DB5-FCCC-4CB3-880F-C29E6DB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8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21C886-5FAA-4BFC-9C71-8AD76AB5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76775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1430">
            <a:solidFill>
              <a:srgbClr val="6D6396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AC888D-182F-4353-AA83-8A432E08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529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rPr>
              <a:t>§ 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D97BF2-9DE4-4653-A301-C00C72F6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24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Challenges and Future Directions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9FB8D7-C4D5-4497-9799-6E8F5BF0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76775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3E1EF9-288C-4892-AD76-21F8EC18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43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Open problems and coverage gaps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B204E9-CF87-42CB-9245-36406CE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0DF391-6014-401A-BC6E-69345238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28575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1430">
            <a:solidFill>
              <a:srgbClr val="6D6396"/>
            </a:solidFill>
            <a:prstDash val="dash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26DC94-A84B-486A-97A0-5650BCE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rPr>
              <a:t>§ 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24B7B-233D-4871-A1C2-75794EC4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292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963712-3582-45EE-9F2B-D50D6DF5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81600"/>
            <a:ext cx="31432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4656A3-898F-4ECC-A67E-1D0C7DBF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248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Open limits and next tests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45CEEB-E4B6-4F1D-92DC-B736A4E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476250" cy="2762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1430">
            <a:solidFill>
              <a:srgbClr val="4F8F89"/>
            </a:solidFill>
            <a:prstDash val="dash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68E131-3D43-4210-94F8-C72323DA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04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rPr>
              <a:t>RSI</a:t>
            </a:r>
          </a:p>
          <a:p xmlns:a="http://schemas.openxmlformats.org/drawingml/2006/main">
            <a:pPr>
              <a:defRPr sz="12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E7E6F2-70CD-4A33-8FCF-F611077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7096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1D2309-A3CE-4E5A-8BFC-F2975E6B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681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Paper-card fields: claim · evidence locator · module layer · task family · BibTeX · review status</a:t>
            </a:r>
          </a:p>
        </p:txBody>
      </p:sp>
    </p:spTree>
    <p:extLst>
      <p:ext uri="{BB962C8B-B14F-4D97-AF65-F5344CB8AC3E}">
        <p14:creationId xmlns:p14="http://schemas.microsoft.com/office/powerpoint/2010/main" val="1245577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33BEF1-5F6C-440D-A8C5-1379290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The landscape of recursive self-improvement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B1C43-BDC0-43B1-A455-AD1A1FBF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Mechanisms, evaluation evidence, and improvement objectives occupy different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6567B-417E-4359-B055-98A77A00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38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14288">
            <a:solidFill>
              <a:srgbClr val="4550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A8F68-55BE-4C22-873A-39D1AFD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A8CAF-3E6D-48CE-A094-0CB4B17D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632" y="12730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6076950" y="1311143"/>
            <a:ext cx="522682" cy="192735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88441-A7D7-4382-BCA4-A293C534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242" y="15969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54" name=""/>
          <p:cNvCxnSpPr>
            <a:stCxn xmlns:a="http://schemas.openxmlformats.org/drawingml/2006/main" id="4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076950" y="1635060"/>
            <a:ext cx="1309292" cy="160344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644D5-381C-4155-8FC3-4FA9568A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176" y="21378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56" name=""/>
          <p:cNvCxnSpPr>
            <a:stCxn xmlns:a="http://schemas.openxmlformats.org/drawingml/2006/main" id="4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6076950" y="2175995"/>
            <a:ext cx="1903226" cy="106250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66F9E-C859-4F32-80DA-7732552D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48" y="28226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4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6076950" y="2860735"/>
            <a:ext cx="2224098" cy="37776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625AD-5DEF-4FF7-B8EE-CB98467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428" y="355850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60" name=""/>
          <p:cNvCxnSpPr>
            <a:stCxn xmlns:a="http://schemas.openxmlformats.org/drawingml/2006/main" id="4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6076950" y="3238500"/>
            <a:ext cx="2228478" cy="358104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42DBB-E75A-428A-B2AB-5F214B71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724" y="42459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076950" y="3238500"/>
            <a:ext cx="1915774" cy="104550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2E10A-FC88-4320-A082-C856204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259" y="479180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64" name=""/>
          <p:cNvCxnSpPr>
            <a:stCxn xmlns:a="http://schemas.openxmlformats.org/drawingml/2006/main" id="4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6076950" y="3238500"/>
            <a:ext cx="1328309" cy="159140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38371-94C9-4401-AB90-FC670CA3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544" y="51223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cxnSp>
        <p:nvCxnSpPr>
          <p:cNvPr id="66" name=""/>
          <p:cNvCxnSpPr>
            <a:stCxn xmlns:a="http://schemas.openxmlformats.org/drawingml/2006/main" id="4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6076950" y="3238500"/>
            <a:ext cx="545594" cy="192191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5505A"/>
            </a:solidFill>
            <a:prstDash val="solid"/>
            <a:head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23035-5C9F-42AA-9FC8-601B01F6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0"/>
            <a:ext cx="1428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143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CC6A6-E75B-4CC0-A0F2-9D2D9041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09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62272-2E00-4F31-9372-9C14336A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43000"/>
            <a:ext cx="1428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143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32DCE-C33C-4721-9075-ABB67389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09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Improvement mechanism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63744-444E-469E-89F2-77DAB5D1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1428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143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362BF-1E3C-4063-AB57-37E950F5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09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B9F7BE-A9D7-427C-94BA-D352CCEA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143000"/>
            <a:ext cx="1428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1430"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EE664-7D64-4D3C-B8D0-D4EDAA6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209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Data / feedback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9B9277-FEDB-47C0-ACA9-D1E0D63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605" y="160884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48C1BA-63F1-4F53-B5E1-CF8BE5C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905" y="1866018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1DEEF0-05CD-4F40-8E96-4D9C59EE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909" y="1853416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58B32-D918-4BF1-89D6-2E9FB1A6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209" y="2110591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CBE3C-0D0D-4215-8A0F-98DC27E8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806" y="223821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792432-B3D5-41AF-B2DF-3295561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106" y="2495393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E2700-D953-45AE-B1E4-FA3B2AB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625" y="271659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5E"/>
          </a:solidFill>
          <a:ln xmlns:a="http://schemas.openxmlformats.org/drawingml/2006/main" w="0">
            <a:solidFill>
              <a:srgbClr val="B967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87F36-A945-404B-A67A-284C873E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925" y="297376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FA780E-629B-440B-8FE0-3F3E389A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378" y="3230527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9D796D-0694-4552-9574-EE9BAFFC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678" y="3487702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Planner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1989C-1EF6-4C6D-AF1E-2404C52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155" y="371771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26DDEC-7BED-4A16-9E5C-03BBE12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455" y="3974887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Verifier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8C6702-7F48-4159-83C1-E3D8FE8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354" y="411907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27FD9A-75BA-4445-95D1-B25EF3B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654" y="4376247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Benchmarks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77AF94-9415-4C9C-B46E-813C3AB0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727" y="4385939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5E"/>
          </a:solidFill>
          <a:ln xmlns:a="http://schemas.openxmlformats.org/drawingml/2006/main" w="0">
            <a:solidFill>
              <a:srgbClr val="B967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2B95D6-8D54-4D1B-A64D-8A87230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027" y="4643114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Deployment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737693-4879-4A66-A3AC-D9850B23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7375"/>
            <a:ext cx="962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CBF6C0-AEB5-4A06-8997-2A34C59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43575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Interpreted outputs: module maps, evaluation evidence, and research routes toward improvement.</a:t>
            </a:r>
          </a:p>
        </p:txBody>
      </p:sp>
    </p:spTree>
    <p:extLst>
      <p:ext uri="{BB962C8B-B14F-4D97-AF65-F5344CB8AC3E}">
        <p14:creationId xmlns:p14="http://schemas.microsoft.com/office/powerpoint/2010/main" val="1925009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1663C1-36D9-4530-B505-899F189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Open problems for recursive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AFCEC-1A1E-4F1B-A38C-6EEDC274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Bottleneck  →  research question  →  targeted probe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C5F75-5ED5-421E-B099-3EA500F3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95375"/>
            <a:ext cx="3524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3C188-2B03-46AD-8B0F-7BD1AFC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209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(a)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1BFE9-A791-4DDD-BD88-6B182FB9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Judge bias / weak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C6E33-CECA-429E-BB18-03C062E9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997AE-4CF7-43C6-9D05-1ECC6B5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24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mechanism sketch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88F2F-E73D-4D4D-8B4D-057DCFB1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56222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37060-1570-4413-9DAC-A0D0B882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24175"/>
            <a:ext cx="1333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B851F-7449-42E4-A67B-D3D5E0F6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48000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External checks + judge 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D473B-D70C-4AA7-9523-5A4DE98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95375"/>
            <a:ext cx="3524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EDB26-76EC-44B4-95F9-6007083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09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(b)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745D1-77DF-4621-901D-8EACBB23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Diversity / retention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ED414-A570-48F6-BA9F-7928B873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71675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C39EB-09EE-43F8-AAFC-3724A340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24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mechanism sketch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627FA-7CE8-4A87-8E65-CFE121C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6222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90EC9-2F46-46EF-964A-F0B93173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1333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822D0-843D-45FF-996E-257C888A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Replay mix + retention under shift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E1FD5-758F-42FF-B5C0-4B59C8E5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095375"/>
            <a:ext cx="3524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A9AFE-7689-4095-A87C-1DAFB452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209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(c) Stability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37794-FA85-408E-99E0-FC0C44D3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Regression across rounds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4A5CC-672C-4413-8A23-D2F63A17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71675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73401-4272-4C54-8AD4-05CFB76A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24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rPr>
              <a:t>mechanism sketch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73CA3-E6EC-47B3-B152-B9C69343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56222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1B4B7-62F9-4846-B554-BB66274C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924175"/>
            <a:ext cx="1333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6DFEA-2B14-4C98-AB9D-40B36D1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rPr>
              <a:t>Long-run replay + rollback ablation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2C3E8-2649-4D22-BD05-6DDC26D5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0"/>
            <a:ext cx="3524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AE98B-7C33-46EC-9F0D-18066D23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24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(d) Integrity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86C38-EE55-4FEA-93D0-58A52936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Contamination / gaming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2E099-7DC2-4695-8124-90551850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28A163-1C91-40EF-878D-1876CB99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38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mechanism sketch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D0DFC-07F9-4FE8-A940-9F8DE3F8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2768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5022B-6CDA-436F-8D6E-3AD4A82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638800"/>
            <a:ext cx="1333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4C0A1B-B962-4BB3-BF39-A24B6338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6262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Sealed tasks + protected evaluator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DB7537-B81C-4EA9-A8BD-ABB51DCB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524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98CD09-381E-4197-BF72-1930F9D6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(e) Compute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6014E6-8821-4DDB-9532-EFDF4537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Search and checking cost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B34AB3-7449-4A72-81CD-63DE6A4E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8101F8-9C3E-4241-A108-9900080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mechanism sketch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826472-CF61-40D5-BAF2-159B959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768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4C088-365F-4B1D-8479-2CFB0C2B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38800"/>
            <a:ext cx="1333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2B1B3B-A866-47AA-933B-65DA1DF1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76262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Allocation sweep at fixed total cost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2E89CB-2432-47CC-9421-D64D89B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3524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9D6108-E450-446D-BF95-DD7F8FAC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24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(f) Transfer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75CF41-8CF2-4831-B07D-AA7DE39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86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Task gain ≠ improver gain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891612-D9EC-483C-B3AA-49FA584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639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C3888A-B413-43E8-8C8C-00744826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38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rPr>
              <a:t>mechanism sketch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95668D-6C8A-4AF2-AE39-E0453953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2768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69F463-5E54-41A4-AE3D-3C9A4A4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638800"/>
            <a:ext cx="13335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FFDBD9-7868-4462-A18A-05ED682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762625"/>
            <a:ext cx="2990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rPr>
              <a:t>Same starting solver across new domains</a:t>
            </a:r>
          </a:p>
        </p:txBody>
      </p:sp>
    </p:spTree>
    <p:extLst>
      <p:ext uri="{BB962C8B-B14F-4D97-AF65-F5344CB8AC3E}">
        <p14:creationId xmlns:p14="http://schemas.microsoft.com/office/powerpoint/2010/main" val="1084059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0075B8-F051-41B6-8291-A0771B3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Coverage of survey-relevant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C00EE-BEE5-4BC3-AF39-1AB8A25F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Survey rows and evaluation columns use the same compact check vocabulary.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E4BBC-7159-49E3-B0F0-4008E123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79D4-DD9D-4302-9B1C-B37D3666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0C494-F5C6-456E-BD71-98F7E637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90625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6916E-33FC-474D-9604-FF8AD1DB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6682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System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ABD58-C54E-43A9-9A46-8EB6A5EA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190625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628FC-10D9-4AD1-B899-B20D49E3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26682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Recursive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agency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D1727-FAEB-451E-AB34-D0E2C514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90625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062A2-B1EB-4BF1-9EF5-EC85F0E4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66825"/>
            <a:ext cx="1495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Evaluation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96AE0-4A2E-496A-96A1-2B11346F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90625"/>
            <a:ext cx="95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47048-61BB-4387-AADB-54D6FA1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266825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9D481-C334-4B91-9739-7EADAFB4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190625"/>
            <a:ext cx="76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7EA69-4A0F-4E9D-AC49-2E7AD90B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2668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3E5F6-5E22-4E7E-B367-62AE9D52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2476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EF9AA-26DA-4F6F-8AED-B6917286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General RSI survey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E71D0-3BC2-4CDD-9371-B62AD955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43075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6BDAA-2074-4B07-A885-032324B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383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C4217-E188-4878-9D59-BB1C0003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43075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6B610-E931-4698-AF8F-213561C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C711A-44AE-44E6-BBA5-38D26557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43075"/>
            <a:ext cx="1571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E4151-549A-4472-B32E-2CEFBF4C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383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1F518-730B-4CA5-9F07-B4FA9D42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43075"/>
            <a:ext cx="952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989C3-C5DD-4A42-82C1-6695E414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383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453A6-D67D-4C03-9803-486559D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43075"/>
            <a:ext cx="7620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B49F0-EDEA-4E5A-AFEA-9C022FC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B0836-34CE-4314-B61E-06BDCBF7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2476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08073-F0C8-47C8-85A4-7155B8EC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Agentic forecasting survey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6207F-6691-47A2-B29F-88EC69F4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47900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B5D40-50A9-44DB-BC7C-0CAB7EEC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1272E-2F4B-4CC7-8C7A-246782F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33B34-245F-45A5-AC4F-865C8148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EEE4E-43EF-435B-93B1-21DEA79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1571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BFA305-0266-4B0C-B799-1494E54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9140C9-75B8-43E3-B74C-C863F90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47900"/>
            <a:ext cx="952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0D6B5E-C8F1-4079-AA87-C0E4E29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4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DB5201-BB01-47D8-AF10-9270BF6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47900"/>
            <a:ext cx="7620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18646C-6C44-4522-9E1A-AD70E1F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1E171D-B0D1-475A-8468-6D8DBBF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2476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E35749-EC3E-4F2E-BA43-3B32B7F8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TS Agent survey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90C97-6E90-44C8-9AA6-BCF9DADF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52725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700A7B-77D8-4AEC-AB05-0CE8344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BF7E1A-66A1-4CB9-989F-956720F0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52725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EB6B35-B007-4F5F-8763-77B3C708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5E69D6-B7F2-4E7F-A2ED-79BB9107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52725"/>
            <a:ext cx="1571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4145B7-1FB6-4629-81AD-D7A8BF5B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479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82DA2E-14B9-4551-9065-C6A22971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52725"/>
            <a:ext cx="952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3984A-4CC2-427B-A7E5-E50E8760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479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10EA21-F6E2-42D6-9B3D-216B1E95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52725"/>
            <a:ext cx="7620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F9D66F-94A7-490A-BA07-ABDDD382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479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41AC7D-3981-4FB9-BAD3-783D30F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2476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BA1B0F-44D1-463D-97A7-94A48921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Harness survey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49DAE5-2897-4927-85A8-0A1EF491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53B03F-7E2F-41C6-960A-F41B11F5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145A54-E8DC-4011-849B-F6B0A1B9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57550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A3BA16-F8C0-4982-ABA6-A8C4E036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4573CD-9B76-48AE-B887-72951A60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57550"/>
            <a:ext cx="1571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A3F140-9E7E-4141-AA85-64D66507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4D1170-4495-469F-8EAD-4616F47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57550"/>
            <a:ext cx="952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3B0A1E-F678-4372-A9B3-6F217C50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52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F9A84A-DA84-45D7-B083-DADAD9B1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57550"/>
            <a:ext cx="7620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17B53D-5D7D-4390-8F56-AFB5DEE6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528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DEBCBC-E556-443E-BF37-EE8AC4AD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476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0E6A97-7317-4C0A-BFB0-AFAC6A4F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This survey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E12754-8189-40B0-B496-C3AB7CFB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08CDCC-5813-4E98-AC35-1EC231C8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576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C6E23B-6F85-4256-8A81-E3C62610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1190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0D4E86-B9E7-4E54-86CF-39A98AE5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576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1FB16D-7195-4434-AB0F-6DBD598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62375"/>
            <a:ext cx="157162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DC838C-214B-4011-9F4C-385338F1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059774-710B-4480-908B-B7700C3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9525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684418-2AA5-4F51-AA28-6149F7AC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57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0B11CBC-715C-42E8-9386-0D287717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62375"/>
            <a:ext cx="7620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E35665-57BA-4BCD-A5C9-E963455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320B90-BFBA-4B82-9A47-96CAD333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✓ reported   △ partial   — not explicit. The comparison is descriptive and follows the source survey’s stated scope.</a:t>
            </a:r>
          </a:p>
        </p:txBody>
      </p:sp>
    </p:spTree>
    <p:extLst>
      <p:ext uri="{BB962C8B-B14F-4D97-AF65-F5344CB8AC3E}">
        <p14:creationId xmlns:p14="http://schemas.microsoft.com/office/powerpoint/2010/main" val="1660917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243349-AD46-4485-B715-96E5D97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Four perspectives on recursive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B3D4-CFB3-4B36-9D4A-F170C329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Each perspective highlights a distinct object of change.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6EAC5-4338-4ADA-9F73-C2E3F532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1430">
            <a:solidFill>
              <a:srgbClr val="B47B24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ADB3F-57CB-4FDA-A448-459C4CB3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F15FF-B44D-4D94-BED1-F6176F5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5A71D-3437-4CC6-AC2B-7A9F6CB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native 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98099-5FB4-4E9E-BCEF-7633B871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98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what will be checked?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B4D9A-CEE4-4E9E-A2B3-52ED04E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45DDE-954D-4431-BC1C-086462F9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433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check → revise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945A7-B97B-4497-B921-09FAC14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335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1430">
            <a:solidFill>
              <a:srgbClr val="4F8F89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35B4E-EC14-4FB1-99AF-EE7525F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24DEF-3CCE-49E6-84F5-AC59C9A8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5C665-A7A5-4780-81D5-20F542BC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52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4F8F89"/>
                </a:solidFill>
                <a:latin typeface="Times New Roman"/>
                <a:ea typeface="Times New Roman"/>
                <a:cs typeface="Times New Roman"/>
              </a:rPr>
              <a:t>native components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669F6-FB27-42DD-989E-519B6EDF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98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what remains available?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B5D56-C065-474A-8917-5B58EE1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52875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9CCF-7F75-4F48-99C2-F842339D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433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retain → retrieve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3AE18-0D7C-458A-932C-CD251BFB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335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1430">
            <a:solidFill>
              <a:srgbClr val="6B9F80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72A77-0864-434F-A9E4-36C01EDA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Parameters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7715C-27F0-4791-9672-9ED4A67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4C360-0097-4349-B234-844C1AC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native components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D8457-BE48-4105-8943-BB09493A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what is learned?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947EC-FD36-4D56-9578-86573B9C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68686-D20A-4908-8723-8433D597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433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fit →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6088A-4909-47A2-87A0-5E83F00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335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1430">
            <a:solidFill>
              <a:srgbClr val="6D6396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4E80D-DA7B-485D-BCF1-73E912AA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Improver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8B60F-C4CF-4362-8B83-6357B22B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5262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639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AA316-8F28-46B2-BA53-7795FED8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52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6D6396"/>
                </a:solidFill>
                <a:latin typeface="Times New Roman"/>
                <a:ea typeface="Times New Roman"/>
                <a:cs typeface="Times New Roman"/>
              </a:rPr>
              <a:t>native components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9D356-EC00-4872-A436-5C4CF652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what proposes change?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432F0-279E-411A-900A-A29A9DBA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C97D1-8B43-4F71-BC1E-1FD25C06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433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propose → select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0A4B9-D647-4F95-8D61-6B91C86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52C6FC-A221-4798-A128-0ACA4B7C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Local checking and memory are coupled by a retained state; the improver closes the loop.</a:t>
            </a:r>
          </a:p>
        </p:txBody>
      </p:sp>
    </p:spTree>
    <p:extLst>
      <p:ext uri="{BB962C8B-B14F-4D97-AF65-F5344CB8AC3E}">
        <p14:creationId xmlns:p14="http://schemas.microsoft.com/office/powerpoint/2010/main" val="1976415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A8C2E-DE89-42FD-9D4A-E7559A6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Recursive self-improvement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F441D-CC44-4A0C-8729-A7C69F0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A mechanism-level view of task systems, experience, candidate changes, and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A1CE4-8301-4499-BDD5-C28963E8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2383">
            <a:solidFill>
              <a:srgbClr val="4F8F8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F1198-FE63-423E-8157-4F0695FF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Task systems $T_0$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1BC2D-3C98-49CE-80FF-052F0128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model, data,</a:t>
            </a:r>
          </a:p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known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425B-4B05-4415-BEC1-F35FF71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2383">
            <a:solidFill>
              <a:srgbClr val="6B9F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C49FF-ADF6-4E4D-B4DD-FF75950B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81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Experiences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7DDB0-499D-4739-B212-5CB2FA28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traces, outcomes,</a:t>
            </a:r>
          </a:p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FA1AE-6651-49AA-BFD1-1DA3E766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2383">
            <a:solidFill>
              <a:srgbClr val="4F8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73081-C3FB-4A98-9A9F-DF51D2C2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Updated systems $T_{i+1}$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97B70-D623-45D2-9560-C343D76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accepted state</a:t>
            </a:r>
          </a:p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and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16BF6-9F5F-4658-852A-9FA74CD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2383">
            <a:solidFill>
              <a:srgbClr val="6D63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95D0B-78AD-4584-A3BF-28A47D5F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Improvement process $I_i$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4BDBF-59C3-4D0A-BE1D-980FD7A9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diagnose, search,</a:t>
            </a:r>
          </a:p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propose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96CD1-AA34-4AF6-A29D-533766CE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2383">
            <a:solidFill>
              <a:srgbClr val="B47B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D8F75-8348-4F25-80D8-FDE0BC9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52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Candidate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AB950-5EF0-4132-830C-ED747E6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24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proposals, tests,</a:t>
            </a:r>
          </a:p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0CB0F-A5D6-4DB6-AF57-A94CD416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005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2383">
            <a:solidFill>
              <a:srgbClr val="6B9F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B694F-6918-432C-8C8E-8CC5776B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Validate &amp; select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F5AF0-3AE4-46B9-B72E-6D2C4B0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243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gain, regression,</a:t>
            </a:r>
          </a:p>
          <a:p xmlns:a="http://schemas.openxmlformats.org/drawingml/2006/main">
            <a:pPr>
              <a:def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resource bounds</a:t>
            </a:r>
          </a:p>
        </p:txBody>
      </p:sp>
      <p:cxnSp>
        <p:nvCxnSpPr>
          <p:cNvPr id="4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05125" y="20240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05500" y="20240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6715125" y="2024063"/>
            <a:ext cx="219075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B9F80"/>
            </a:solidFill>
            <a:prstDash val="solid"/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3714750" y="4595813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714375" y="4595813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 flipV="1">
            <a:off x="714375" y="2024063"/>
            <a:ext cx="219075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D6396"/>
            </a:solidFill>
            <a:prstDash val="solid"/>
            <a:head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3AE7F-E9F0-48C2-935F-BFE2E107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execute  →  learn  →  propose  →  validate  →  update</a:t>
            </a:r>
          </a:p>
        </p:txBody>
      </p:sp>
    </p:spTree>
    <p:extLst>
      <p:ext uri="{BB962C8B-B14F-4D97-AF65-F5344CB8AC3E}">
        <p14:creationId xmlns:p14="http://schemas.microsoft.com/office/powerpoint/2010/main" val="1123176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10F38BE-FD1C-41A2-9991-0D20FF9D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From update mechanisms to evaluation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2D555-5472-4017-9FC0-5D3B12BB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Selected, source-checked configurations; evidence coverage is not a method ranking.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77FF5-461D-4CCC-935D-E7EF3A8F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55721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9B435-EB00-4CAD-9985-CC786EA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95375"/>
            <a:ext cx="55721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5505A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1D81B-D6EF-4D24-ACF5-9E55F55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(a) What is updated?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99E69-E8CF-4428-8280-DA43A3F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85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(b) What is tested?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31DCA-62D3-4F3E-83DB-A78ABEDD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039BE-2EB5-4173-88B4-4F0E3B65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8 works with protocol-level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EEBEA-1199-423E-8EC8-603046C5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F81B3-BE13-4A5C-8F83-7BA60E25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3837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A705-1FD2-4D3F-BF5E-7C3F7F1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478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FCE58-EAC1-406E-9132-2E49B42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3837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24E1F-3CD7-4B46-8B97-320E8E7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AE3CA-E33B-4663-AFA5-F44CEA4D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75C8C-6878-4613-9DE6-F17A0D91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478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000D5-A704-45FE-8B3E-50BC9606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3837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C1DE9-D964-4419-AC44-F62781A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Judge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04102-22CC-439D-BF34-C8BAAE27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3837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E0AAD-35E3-4D7B-81EF-7FA16C21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1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Improver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1CF37-1965-44C3-80FA-5C66DFA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3837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5E"/>
          </a:solidFill>
          <a:ln xmlns:a="http://schemas.openxmlformats.org/drawingml/2006/main" w="0">
            <a:solidFill>
              <a:srgbClr val="B967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3A53F-F8AD-4EFD-B062-8C300E80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76308-A2BF-4805-BEA7-896999A2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77DD3-62E9-4400-8323-CAD712C4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DF0EB-BFC4-4E04-BB12-FCE30631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Self-Instruct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F44DF-C26B-4F37-8CB7-EC0A3E92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62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40CA2-F379-4BDE-A775-55BBF05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62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6C212-4068-45B5-9128-5D39C1A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SPIN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09A56-D6D4-4938-A01E-C0281B44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B333B-45F0-4E70-A3A6-A5EF7FE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D97EEC-DCC5-4435-BBC2-67813F0E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Self-Rewarding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BC63E3-BE8F-4A5E-A95A-D6BD472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E420AD-9E43-421F-AC99-91E7CE0D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F79AF-7DAC-4A00-9168-405DA112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90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Meta-Rewarding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8E80E3-8859-4019-A450-EDEA39B8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99138D-54BB-4617-A9DC-D5BE80B7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A5F343-26F9-446C-BE48-3900E173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Absolute Zero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D1E82D-47D1-4ABD-BE14-B3E2121B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6C195F-F705-499A-A705-79C3BCF5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2AF5B-76FE-4309-94B2-4FF5FD97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Reflexion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A049D9-A8E1-4744-AB78-05382843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720521-4BE9-4EA5-AA1A-0B0826F6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4DD0EB-789C-4017-8AF4-45305CD0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480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Voyager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E95C50-29E1-45C0-828E-0B6FA3D3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84331A-0483-4936-A361-2F6D6D92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3EC1FC-9EC6-4B66-90BF-E9B7BE84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Expel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568D09-5E02-4046-8271-283D2A8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482D18-9998-4FB7-BCC7-DD5CEF29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1E9AA0-F6D2-4400-B81B-CB3FAEC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OPRO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D66095-DFDB-4FAC-9F91-07356822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F5E902-EED3-43AC-B06B-47A87F6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4D0F65-A73C-4003-8754-B87A3856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TextGrad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165485-DDAF-450C-A34F-C07D32FF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C18E1E-D571-4F87-B24C-2B29D39C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DFB1A7-7300-4DA4-A3CD-2D7B40FC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ADAS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F9959D-A3D7-4353-B63F-CDE48E9E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03DA7F-B924-4120-9530-9B13BF29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5E7A26-66D6-4361-8F2C-82CE9862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GEPA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006EF9-B874-4FFC-B035-207C9F18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305558-390D-489C-9F94-D4A1CEA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ADB8B2-3FCD-438B-A801-D8D00D32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624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AlphaEvolve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6BFDC8-9592-4163-81ED-E517E0BD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A2FB08-271E-4165-97BD-E9E1EA09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591DC6-1EA9-4083-A302-84E0D53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Promptbreeder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DE4BAB-33E2-4EA4-9B43-70F98508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5AB7F7-83BB-4CD7-A712-3F81143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033318-BF6C-45DE-9218-DAE3397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STOP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90BDCF-D990-403C-8605-909EB1D4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9D5D71-92D9-4D6B-BDB8-5246D92A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4794EE-5F59-454B-B66C-B0E835E6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96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SICA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FAA3298-1113-476C-A2A6-491F3FB6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48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AB099D-59A0-4113-9FF4-0A1B594B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48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029A71-9A0E-4911-AFE7-96F13EF6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720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DGM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3135211-D59A-498D-B326-9BCB6C9C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7C18DC-6A33-4B9C-8EBC-190779D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3CF011-FF8B-457A-999C-1D156E37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Hyperagents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C1690E-93FC-4DDA-9921-4C2CFEC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53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C3C98B-A6D6-46DA-83EF-9679E825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153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1D4C7A-E6C9-4DF0-A81E-AFF27C8F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76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Metan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0F8289B-A152-4409-9EB9-0E8F2CB3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DB987E-5476-44B7-88A7-D4C20296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5F267DB-A83F-4EA0-B93F-3A6B1A28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Held-out tests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9EB6E7-D06E-42B2-84D6-3A5A5A0C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C66096-561E-4C46-AE97-52A4B329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9EF7BD4-89E1-4A0D-86A9-2E54BA50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E7B485-7EDE-47B4-B9E6-C3BC9747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ECD4AD-1886-4943-A1DF-09AA9381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897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FCBEC9-3773-4C25-B467-C180FED9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051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1CBB911-5A60-4B39-A1AC-69C51D9F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413FD9-77ED-4401-AE11-EF1AA3FA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C23448E-C651-48D0-9C6E-7BEAA1B8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A9C59F-B70B-4BBD-9EC7-064D67A4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0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DBE1C6-9933-4E28-921F-1C715893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91BE120-186C-4D85-BFE5-D46D1ECD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13874E5-D156-4363-9B7A-386DF466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786A78-58C0-4A22-BF2B-03323ABB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990C85F-A3D1-4733-B9DF-02C28465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9110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4EEAD4-BB13-49C9-A747-CBD5D72D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90D52FD-EA54-4EB7-A24D-FF517333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Budget control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74360C-DDDA-40FC-9711-F424044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400F52-5E28-4A41-93A4-E4A0CA9D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03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158787-FB7A-47EE-9F1D-D0B3778A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BEB046-1C13-447E-A2ED-259E761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4D5E11-54DD-415D-B60E-443A344E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2897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0ED15AA-0E41-492D-995F-2D0D8A19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051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FFF790E-CF72-48B8-9F09-0E11B616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21D64D-1D75-445B-8EA6-1F8E89CF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576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B7C7609-399F-4015-93B1-5FF6A93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3382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C739F6-F5C9-4123-BA12-F1084C18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0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854F032-E05F-49E1-A8F5-16FB332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8625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50F3C2-BC72-49AF-855F-35733BBB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62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364089-4D89-44BF-B4A0-8A4FC630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3867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7D7DC0-3496-43C9-9F11-CC5427BE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A59E324-61E0-46D9-9173-F60E5D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9110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7AF5C36-DF9B-4731-B3F0-F692BF5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67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E653724-AD07-415C-B139-372A983B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Improver transfer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E92E0FE-2060-4D1B-A922-7563FADC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2412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5E5CF0E-1D82-405B-8E10-863DEF4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03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94CE569-266D-4379-858B-5FD692CC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3837CC7-B54E-4B7A-94E8-E40DC46D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F726FEB-E24D-4CEC-9208-D87A10C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2897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9807468-CBE9-4FB7-8E84-B0EC9CD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051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1623AC7-C765-44D3-8636-B1BFBBB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8140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99E6747-0ECB-4573-87A3-937605E9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576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A11BC3E-701E-4B63-B914-9CA8AFC0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3382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FD24E5-1C47-48ED-911D-CED19697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0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2230F5C-71E2-4E39-9566-535EDD4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F868A4F-A1C1-4F44-98BA-FE719CC7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B47B24"/>
                </a:solidFill>
                <a:latin typeface="Times New Roman"/>
                <a:ea typeface="Times New Roman"/>
                <a:cs typeface="Times New Roman"/>
              </a:rPr>
              <a:t>△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0EFDAE5-FF55-444F-903F-6335BB4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38675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6985300-F0B5-49B5-9FF7-DEC406A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148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B9F80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56E15B2-4CC3-4B56-A9EF-360F71D7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91100"/>
            <a:ext cx="11430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7A131DE-3741-4481-803E-2D9504BA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67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NR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81715E6-E22C-43E3-A8E8-ED533765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Filled circles denote update objects; ✓ reported · △ qualified · NR not reported.</a:t>
            </a:r>
          </a:p>
        </p:txBody>
      </p:sp>
    </p:spTree>
    <p:extLst>
      <p:ext uri="{BB962C8B-B14F-4D97-AF65-F5344CB8AC3E}">
        <p14:creationId xmlns:p14="http://schemas.microsoft.com/office/powerpoint/2010/main" val="286437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9C01C-38FE-494F-B89F-AFFE50DD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Perspectives on self-improvement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053CE-2A33-4E78-9665-D00259F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A cross-cutting synthesis from lifecycle, components, and recursive improvement.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45928-B78F-46F0-8B41-73420279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1430">
            <a:solidFill>
              <a:srgbClr val="B47B24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8266B-D526-4592-99F1-A9DA87A0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Lifecycles and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93C6E-2E72-4D12-BF00-E73E98F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86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What changes?</a:t>
            </a:r>
          </a:p>
          <a:p xmlns:a="http://schemas.openxmlformats.org/drawingml/2006/main">
            <a:pPr>
              <a:def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When and where?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26603-3156-4F10-9D65-C7AC09BD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1430">
            <a:solidFill>
              <a:srgbClr val="6B9F80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FD52B-8371-45C7-9661-2B04F3D8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E11D6-13C5-41AE-806F-1EF4C835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How does it work?</a:t>
            </a:r>
          </a:p>
          <a:p xmlns:a="http://schemas.openxmlformats.org/drawingml/2006/main">
            <a:pPr>
              <a:def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Which state persists?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14F0A-CB1B-4251-9084-4536AAB3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1430">
            <a:solidFill>
              <a:srgbClr val="4F8F89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740E6-D8CC-4F6A-A143-98CC255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Recursive improvement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687D8-DF20-47F4-A4BE-43E48C23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How is the loop closed?</a:t>
            </a:r>
          </a:p>
          <a:p xmlns:a="http://schemas.openxmlformats.org/drawingml/2006/main">
            <a:pPr>
              <a:def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What evidence supports 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B72DC-5CF8-439E-AC36-FA31F75B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8667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D0609-2E74-4A70-B14C-CE505DBE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This survey: a cross-cutting synthesis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DF1B1-5CD2-40BF-AE9B-0E4510FE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720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Engineering goal → testable question → tested redistribution</a:t>
            </a:r>
          </a:p>
        </p:txBody>
      </p:sp>
    </p:spTree>
    <p:extLst>
      <p:ext uri="{BB962C8B-B14F-4D97-AF65-F5344CB8AC3E}">
        <p14:creationId xmlns:p14="http://schemas.microsoft.com/office/powerpoint/2010/main" val="1932645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4C49CD-172C-4D57-B68E-E83ACC1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Research routes toward recursive self-improvement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7F4F2-5443-4650-82BC-E673460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Method families by public year; placement is a map of routes, not a ranking.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135AF-592C-4C96-B23A-EFD6280D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5250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30670-B03D-44D6-8B55-3B18FC3A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76325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Data &amp;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updates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2C3D5-66FF-4E10-9CDB-1E7E1181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B24"/>
          </a:solidFill>
          <a:ln xmlns:a="http://schemas.openxmlformats.org/drawingml/2006/main" w="0">
            <a:solidFill>
              <a:srgbClr val="B47B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DFF9D-DE7B-4CE2-B2B0-C51C1D76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3969C-445E-4087-A9C1-4A104BF3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9FEED-6D63-442A-9035-380BFDB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38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58E31-7C02-4094-93E4-6D9441BE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FC070-206D-4BF7-8FA3-96526DE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14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BB307-85BC-4A27-A174-7C3F144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90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77FBC-0AF3-4734-89BD-455E2FDF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CB6F2-B1CE-447C-BA72-EE112CBC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67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96835-A1BC-4C66-A5B3-E6056C20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43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96DB5-6530-46C6-A4E5-4192E9B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9BB0A-AA79-47FA-AB66-C232F52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9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9525">
            <a:solidFill>
              <a:srgbClr val="B47B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C3DF4-1134-4EA2-9D0E-E89051E7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95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CD069-2C3B-49BE-9022-DD5306A4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4277A-202D-4007-BB64-89777DC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076325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Models &amp;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84CBE-636C-474D-8A5E-E259078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80"/>
          </a:solidFill>
          <a:ln xmlns:a="http://schemas.openxmlformats.org/drawingml/2006/main" w="0">
            <a:solidFill>
              <a:srgbClr val="6B9F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8454A-7710-45C5-BD4B-08C42ACA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8A031-F8D2-4357-B2AD-081609CE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62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4FC79-5C6F-43BA-BC0F-B01772AF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38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CAF5B-8DE8-48A6-9CE7-AB8985E5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488EF-4786-4B1D-A41F-522A583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EE035-034A-46CC-85B7-C630A8C8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90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86477-2F28-41F7-93EC-4017410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CDA28B-EC9C-455A-8813-7B3F688C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67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1BC71-9BEE-4D75-91AB-2547C6A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43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6C95C-5F46-4595-9017-9398E1D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657E37-B8F8-4DB1-BEAD-C80C3506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9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9525">
            <a:solidFill>
              <a:srgbClr val="6B9F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C20BF-32C2-40A3-A060-CF7BD556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95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6721DF-FCAF-417E-BE86-C52AAD61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5250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8F58BB-EFD1-43F8-8C98-AF0F453F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76325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Memory &amp;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retrieval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D76DA0-FBD6-48F6-89E2-480D353B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2400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FADBBE-BA76-420E-8D82-C1D45A2E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FD90E1-DD6D-4A75-8F2E-157A765C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65C27E-DAD3-4FA6-AA0D-212488E5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38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6B65A1-E1AF-45A9-8128-3151F0A0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8ACEBC-7D9C-4587-8D22-D2960FB2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C2D54B-7F45-4667-A1B1-0181CA1A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CE51AA-F278-4B32-9379-59E6F5D6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85134-48EE-4543-98B4-58211F3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67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31EF98-D145-4433-B973-5B36EB6C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43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094819-F9AB-4905-A461-BF87650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D35803-5A38-4FD3-A597-3D362686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9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0A8FF7-5A41-4601-AC6B-1D10CE7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95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2F804D-59B3-4328-AEB9-78618FFE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5250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6D639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6FB852-E51D-471E-9CB5-DA76196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76325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Code &amp;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D6D8A5-2FFC-413A-B023-B5711B1F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96"/>
          </a:solidFill>
          <a:ln xmlns:a="http://schemas.openxmlformats.org/drawingml/2006/main" w="0">
            <a:solidFill>
              <a:srgbClr val="6D639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0F35BB-3E9A-42CD-B7E2-AF988D8F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319E1E-A907-4A11-8AA1-DACDDA53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62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6D639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E5B742-2AA5-43F3-B4BE-FF2D500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38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DE9B66-E3E0-449D-A5B0-62A9A599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68EF8E-2E7B-4346-BCC3-DA7D732B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6D639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9D7B86-9C3D-486E-BC5C-3BCE9E51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90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E66792-69F3-467B-A285-B2813874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851E1C-E6EA-4D48-ACAE-17B7E51A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67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6D639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76D5DC-8391-4BB2-8F38-BB46612A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43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3A22C7-B5CE-4DFB-AE73-DC9DFDB8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7A8626-9424-4663-A84A-B245269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19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9525">
            <a:solidFill>
              <a:srgbClr val="6D639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D47665-40A5-4143-A75E-B1130D2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95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89583F-5ABC-48FD-A05A-7445F9C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5250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FDD"/>
          </a:solidFill>
          <a:ln xmlns:a="http://schemas.openxmlformats.org/drawingml/2006/main" w="9525">
            <a:solidFill>
              <a:srgbClr val="B9675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48D9D7-9181-41B0-8598-052FF63B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076325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Evaluation &amp;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judges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5F9D77-C9A3-4853-B11C-5CA90B13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5E"/>
          </a:solidFill>
          <a:ln xmlns:a="http://schemas.openxmlformats.org/drawingml/2006/main" w="0">
            <a:solidFill>
              <a:srgbClr val="B9675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FFC5B3-356E-46F7-BC98-F1E2DFCC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BCDD96-95E6-4E88-BB28-BDED0BDC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62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DFDD"/>
          </a:solidFill>
          <a:ln xmlns:a="http://schemas.openxmlformats.org/drawingml/2006/main" w="9525">
            <a:solidFill>
              <a:srgbClr val="B9675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6E8D7A-3551-4404-B8B3-F5FC4F1C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38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77EA76-D303-4207-9E3C-13CE7C01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5F0C1D-6687-4C41-9EB8-B59716D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14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DFDD"/>
          </a:solidFill>
          <a:ln xmlns:a="http://schemas.openxmlformats.org/drawingml/2006/main" w="9525">
            <a:solidFill>
              <a:srgbClr val="B9675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8C7E1A-7939-4813-9D17-5FB1B327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90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0EFD51-6183-40B6-8EE2-B7CEC398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9A3441-2C32-49B8-9B78-6AE78EC3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DFDD"/>
          </a:solidFill>
          <a:ln xmlns:a="http://schemas.openxmlformats.org/drawingml/2006/main" w="9525">
            <a:solidFill>
              <a:srgbClr val="B9675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106BED-028D-43E6-B9D9-084CF4AF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43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0A0EFB-8C18-4330-B2A1-148DD64E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D7C564-C867-44B7-B11F-73C722A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19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DFDD"/>
          </a:solidFill>
          <a:ln xmlns:a="http://schemas.openxmlformats.org/drawingml/2006/main" w="9525">
            <a:solidFill>
              <a:srgbClr val="B9675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5C6F6F-97E8-4ED1-9367-E8087A3D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95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EDA8DC-33A4-4896-8C79-FC0E106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52500"/>
            <a:ext cx="114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01FF53-4831-42E6-AAFE-F83F9FB2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76325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Multi-agent</a:t>
            </a:r>
          </a:p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loops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8E31FCF-EB4F-48B3-8039-4D6A131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89"/>
          </a:solidFill>
          <a:ln xmlns:a="http://schemas.openxmlformats.org/drawingml/2006/main" w="0">
            <a:solidFill>
              <a:srgbClr val="4F8F8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5800DB-2542-43A0-B23D-CEB6464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7C541FB-5C3D-4888-84D3-516D6ACB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62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64C85A-AD53-4B29-9F4A-762BFDB0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38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CAA813E-25F8-441E-8D54-BE75E71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7469030-FF1E-4A51-8D42-515B8E4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2D7B45-F2AB-44A4-ABFD-BB98AE2E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90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FDA7780-C89E-48D6-8D00-1DCFA10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9FCB3A3-F317-4A57-B4DF-9CB2FA0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671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99EA6E1-0ED6-45A2-B261-E973383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433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F9BBF7-1CE0-43B4-9062-766DDC2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18BFDF-EF70-4E3E-8813-2C7F7B9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19625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9525">
            <a:solidFill>
              <a:srgbClr val="4F8F8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FFAE67F-8CB0-437C-90EA-C9D859F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958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T3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ED7EDF-0256-4045-B078-6BE5C6CE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096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505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0EF979B-38A1-47C4-915A-D9EFCE46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10275"/>
            <a:ext cx="852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Adjacent routes can contribute to the same evolving system; the map emphasizes module-level links.</a:t>
            </a:r>
          </a:p>
        </p:txBody>
      </p:sp>
    </p:spTree>
    <p:extLst>
      <p:ext uri="{BB962C8B-B14F-4D97-AF65-F5344CB8AC3E}">
        <p14:creationId xmlns:p14="http://schemas.microsoft.com/office/powerpoint/2010/main" val="253992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E2335-9CF2-4EDE-8CC2-AA0AE70E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0242B"/>
                </a:solidFill>
                <a:latin typeface="Times New Roman"/>
                <a:ea typeface="Times New Roman"/>
                <a:cs typeface="Times New Roman"/>
              </a:rPr>
              <a:t>Scenario-grounded temporal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ADD2D-09B9-41D2-ABE9-C30C6438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15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87078"/>
                </a:solidFill>
                <a:latin typeface="Times New Roman"/>
                <a:ea typeface="Times New Roman"/>
                <a:cs typeface="Times New Roman"/>
              </a:rPr>
              <a:t>A compact text-panel style for concrete application contexts.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1DA15-1502-4AA2-92DB-3D63B9A2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F4F4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D836D-6AC3-4687-A1EC-5AAA311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• 气候：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97EA4-AC7C-4237-B0B0-BA8207E0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天气模式的变化可能预示着气候异常或长期变化。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50DA6-0606-4887-A8BC-ADED4729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• 行业：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46062-9EC7-452F-A5B7-338ACD2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67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预测设备故障或维护需求的机械传感器读数的变化。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A358A-4472-4177-A3EC-F5651934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81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• 医疗健康：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1E4C2-20E6-4DE4-A31D-AC4FFFD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81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生理信号的突然变化可能表明健康风险。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71301-8979-41C4-863F-5B0389B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• 财务：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00D59-DD6B-49F0-A821-97EB1F50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与风险管理和投资组合决策相关的市场或赔行为的转变。</a:t>
            </a:r>
          </a:p>
        </p:txBody>
      </p:sp>
    </p:spTree>
    <p:extLst>
      <p:ext uri="{BB962C8B-B14F-4D97-AF65-F5344CB8AC3E}">
        <p14:creationId xmlns:p14="http://schemas.microsoft.com/office/powerpoint/2010/main" val="925461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