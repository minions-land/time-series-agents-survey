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0cba69fe848bd" /><Relationship Type="http://schemas.openxmlformats.org/officeDocument/2006/relationships/extended-properties" Target="/docProps/app.xml" Id="R726296310be64730" /><Relationship Type="http://schemas.openxmlformats.org/officeDocument/2006/relationships/officeDocument" Target="/ppt/presentation.xml" Id="Rc14424a12e2b4e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d2d11cd9e741be"/>
  </p:sldMasterIdLst>
  <p:notesMasterIdLst>
    <p:notesMasterId xmlns:r="http://schemas.openxmlformats.org/officeDocument/2006/relationships" r:id="R40497b9773924fc6"/>
  </p:notesMasterIdLst>
  <p:sldIdLst>
    <p:sldId xmlns:r="http://schemas.openxmlformats.org/officeDocument/2006/relationships" id="256" r:id="R2d137d57f8e74dd3"/>
  </p:sldIdLst>
  <p:sldSz cx="11430000" cy="719137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1cae3c100447d9" /><Relationship Type="http://schemas.openxmlformats.org/officeDocument/2006/relationships/slideMaster" Target="/ppt/slideMasters/slideMaster1.xml" Id="R62d2d11cd9e741be" /><Relationship Type="http://schemas.openxmlformats.org/officeDocument/2006/relationships/notesMaster" Target="/ppt/notesMasters/notesMaster1.xml" Id="R40497b9773924fc6" /><Relationship Type="http://schemas.openxmlformats.org/officeDocument/2006/relationships/presProps" Target="/ppt/presProps.xml" Id="Rdc38535f99e14d12" /><Relationship Type="http://schemas.openxmlformats.org/officeDocument/2006/relationships/tableStyles" Target="/ppt/tableStyles.xml" Id="R1c100f5d167c426e" /><Relationship Type="http://schemas.openxmlformats.org/officeDocument/2006/relationships/slide" Target="/ppt/slides/slide1.xml" Id="R2d137d57f8e74d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8d6cdfeadb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5c6e62484447c5" /><Relationship Type="http://schemas.openxmlformats.org/officeDocument/2006/relationships/notesMaster" Target="/ppt/notesMasters/notesMaster1.xml" Id="R9e8e7e0ed366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15.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3abe1465a4c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ddf29043b94a5b" /><Relationship Type="http://schemas.openxmlformats.org/officeDocument/2006/relationships/slideLayout" Target="/ppt/slideLayouts/slideLayout1.xml" Id="R92c323f9e40041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c323f9e40041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3f449134b4d59" /><Relationship Type="http://schemas.openxmlformats.org/officeDocument/2006/relationships/notesSlide" Target="/ppt/notesSlides/notesSlide1.xml" Id="R5edc627300b84282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597" name="Figure 15 — ungroup to edit modules"/>
          <p:cNvGrpSpPr/>
          <p:nvPr/>
        </p:nvGrpSpPr>
        <p:grpSpPr>
          <ns1:xfrm xmlns:ns1="http://schemas.openxmlformats.org/drawingml/2006/main">
            <ns1:off x="190500" y="47625"/>
            <ns1:ext cx="11096625" cy="6981825"/>
            <ns1:chOff x="190500" y="47625"/>
            <ns1:chExt cx="11096625" cy="6981825"/>
          </ns1:xfrm>
        </p:grpSpPr>
        <p:sp>
          <p:nvSpPr>
            <p:cNvPr id="10507" name="Open question"/>
            <p:cNvSpPr/>
            <p:nvPr/>
          </p:nvSpPr>
          <p:spPr>
            <ns1:xfrm xmlns:ns1="http://schemas.openxmlformats.org/drawingml/2006/main">
              <ns1:off x="190500" y="47625"/>
              <ns1:ext cx="3048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82" b="1">
                  <ns7:solidFill>
                    <ns7:srgbClr val="3376A0"/>
                  </ns7:solidFill>
                  <ns7:latin typeface="Comic Sans MS"/>
                  <ns7:ea typeface="Times New Roman"/>
                </ns7:rPr>
                <ns7:t>Open question</ns7:t>
              </ns7:r>
            </ns7:p>
          </p:txBody>
        </p:sp>
        <p:sp>
          <p:nvSpPr>
            <p:cNvPr id="10508" name="Controlled comparison"/>
            <p:cNvSpPr/>
            <p:nvPr/>
          </p:nvSpPr>
          <p:spPr>
            <ns1:xfrm xmlns:ns1="http://schemas.openxmlformats.org/drawingml/2006/main">
              <ns1:off x="3524250" y="47625"/>
              <ns1:ext cx="4762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82" b="1">
                  <ns7:solidFill>
                    <ns7:srgbClr val="39846C"/>
                  </ns7:solidFill>
                  <ns7:latin typeface="Comic Sans MS"/>
                  <ns7:ea typeface="Times New Roman"/>
                </ns7:rPr>
                <ns7:t>Controlled comparison</ns7:t>
              </ns7:r>
            </ns7:p>
          </p:txBody>
        </p:sp>
        <p:sp>
          <p:nvSpPr>
            <p:cNvPr id="10509" name="Evidence to record"/>
            <p:cNvSpPr/>
            <p:nvPr/>
          </p:nvSpPr>
          <p:spPr>
            <ns1:xfrm xmlns:ns1="http://schemas.openxmlformats.org/drawingml/2006/main">
              <ns1:off x="8667750" y="47625"/>
              <ns1:ext cx="2571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82" b="1">
                  <ns7:solidFill>
                    <ns7:srgbClr val="68528D"/>
                  </ns7:solidFill>
                  <ns7:latin typeface="Comic Sans MS"/>
                  <ns7:ea typeface="Times New Roman"/>
                </ns7:rPr>
                <ns7:t>Evidence to record</ns7:t>
              </ns7:r>
            </ns7:p>
          </p:txBody>
        </p:sp>
        <p:sp>
          <p:nvSpPr>
            <p:cNvPr id="10510" name="Row rule"/>
            <p:cNvSpPr/>
            <p:nvPr/>
          </p:nvSpPr>
          <p:spPr>
            <ns1:xfrm xmlns:ns1="http://schemas.openxmlformats.org/drawingml/2006/main">
              <ns1:off x="190500" y="5715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11" name="Perception or execution"/>
            <p:cNvSpPr/>
            <p:nvPr/>
          </p:nvSpPr>
          <p:spPr>
            <ns1:xfrm xmlns:ns1="http://schemas.openxmlformats.org/drawingml/2006/main">
              <ns1:off x="190500" y="80962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3376A0"/>
                  </ns7:solidFill>
                  <ns7:latin typeface="Comic Sans MS"/>
                  <ns7:ea typeface="Times New Roman"/>
                </ns7:rPr>
                <ns7:t>Perception or execution</ns7:t>
              </ns7:r>
            </ns7:p>
          </p:txBody>
        </p:sp>
        <p:sp>
          <p:nvSpPr>
            <p:cNvPr id="10512" name="Numerical error&#10;Execution cost"/>
            <p:cNvSpPr/>
            <p:nvPr/>
          </p:nvSpPr>
          <p:spPr>
            <ns1:xfrm xmlns:ns1="http://schemas.openxmlformats.org/drawingml/2006/main">
              <ns1:off x="8667750" y="80962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Numerical error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Execution cost</ns8:t>
              </ns8:r>
            </ns8:p>
          </p:txBody>
        </p:sp>
        <p:grpSp>
          <p:nvGrpSpPr>
            <p:cNvPr id="10534" name="Perception or execution"/>
            <p:cNvGrpSpPr/>
            <p:nvPr/>
          </p:nvGrpSpPr>
          <p:grpSpPr>
            <ns1:xfrm xmlns:ns1="http://schemas.openxmlformats.org/drawingml/2006/main">
              <ns1:off x="3381375" y="704850"/>
              <ns1:ext cx="4762500" cy="809625"/>
              <ns1:chOff x="3381375" y="704850"/>
              <ns1:chExt cx="4762500" cy="809625"/>
            </ns1:xfrm>
          </p:grpSpPr>
          <p:grpSp>
            <p:nvGrpSpPr>
              <p:cNvPr id="10519" name="bot editable icon"/>
              <p:cNvGrpSpPr/>
              <p:nvPr/>
            </p:nvGrpSpPr>
            <p:grpSpPr>
              <ns1:xfrm xmlns:ns1="http://schemas.openxmlformats.org/drawingml/2006/main">
                <ns1:off x="3886200" y="704850"/>
                <ns1:ext cx="381000" cy="381000"/>
                <ns1:chOff x="3886200" y="704850"/>
                <ns1:chExt cx="381000" cy="381000"/>
              </ns1:xfrm>
            </p:grpSpPr>
            <p:sp>
              <p:nvSpPr>
                <p:cNvPr id="10513" name="bot-0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12000" y="4000"/>
                      </ns2:lnTo>
                      <ns2:lnTo>
                        <ns2:pt x="8000" y="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  <p:sp>
              <p:nvSpPr>
                <p:cNvPr id="10514" name="bot-1"/>
                <p:cNvSpPr/>
                <p:nvPr/>
              </p:nvSpPr>
              <p:spPr>
                <ns1:xfrm xmlns:ns1="http://schemas.openxmlformats.org/drawingml/2006/main">
                  <ns1:off x="3949700" y="831850"/>
                  <ns1:ext cx="254000" cy="190500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3812" cap="rnd">
                  <ns5:solidFill>
                    <ns5:srgbClr val="68528D"/>
                  </ns5:solidFill>
                </ns5:ln>
              </p:spPr>
            </p:sp>
            <p:sp>
              <p:nvSpPr>
                <p:cNvPr id="10515" name="bot-2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4000"/>
                      </ns2:moveTo>
                      <ns2:lnTo>
                        <ns2:pt x="4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  <p:sp>
              <p:nvSpPr>
                <p:cNvPr id="10516" name="bot-3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4000"/>
                      </ns2:moveTo>
                      <ns2:lnTo>
                        <ns2:pt x="22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  <p:sp>
              <p:nvSpPr>
                <p:cNvPr id="10517" name="bot-4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13000"/>
                      </ns2:moveTo>
                      <ns2:lnTo>
                        <ns2:pt x="15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  <p:sp>
              <p:nvSpPr>
                <p:cNvPr id="10518" name="bot-5"/>
                <p:cNvSpPr/>
                <p:nvPr/>
              </p:nvSpPr>
              <p:spPr>
                <ns1:xfrm xmlns:ns1="http://schemas.openxmlformats.org/drawingml/2006/main">
                  <ns1:off x="38862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3000"/>
                      </ns2:move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8528D"/>
                  </ns4:solidFill>
                </ns4:ln>
              </p:spPr>
            </p:sp>
          </p:grpSp>
          <p:sp>
            <p:nvSpPr>
              <p:cNvPr id="10520" name="Model judgment"/>
              <p:cNvSpPr/>
              <p:nvPr/>
            </p:nvSpPr>
            <p:spPr>
              <ns1:xfrm xmlns:ns1="http://schemas.openxmlformats.org/drawingml/2006/main">
                <ns1:off x="3381375" y="1228725"/>
                <ns1:ext cx="1809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Model judgment</ns7:t>
                </ns7:r>
              </ns7:p>
            </p:txBody>
          </p:sp>
          <p:sp>
            <p:nvSpPr>
              <p:cNvPr id="10521" name="vs."/>
              <p:cNvSpPr/>
              <p:nvPr/>
            </p:nvSpPr>
            <p:spPr>
              <ns1:xfrm xmlns:ns1="http://schemas.openxmlformats.org/drawingml/2006/main">
                <ns1:off x="5591175" y="895350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20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vs.</ns7:t>
                </ns7:r>
              </ns7:p>
            </p:txBody>
          </p:sp>
          <p:grpSp>
            <p:nvGrpSpPr>
              <p:cNvPr id="10532" name="calculator editable icon"/>
              <p:cNvGrpSpPr/>
              <p:nvPr/>
            </p:nvGrpSpPr>
            <p:grpSpPr>
              <ns1:xfrm xmlns:ns1="http://schemas.openxmlformats.org/drawingml/2006/main">
                <ns1:off x="6819900" y="704850"/>
                <ns1:ext cx="381000" cy="381000"/>
                <ns1:chOff x="6819900" y="704850"/>
                <ns1:chExt cx="381000" cy="381000"/>
              </ns1:xfrm>
            </p:grpSpPr>
            <p:sp>
              <p:nvSpPr>
                <p:cNvPr id="10522" name="calculator-0"/>
                <p:cNvSpPr/>
                <p:nvPr/>
              </p:nvSpPr>
              <p:spPr>
                <ns1:xfrm xmlns:ns1="http://schemas.openxmlformats.org/drawingml/2006/main">
                  <ns1:off x="6883400" y="736600"/>
                  <ns1:ext cx="254000" cy="317500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3812" cap="rnd">
                  <ns5:solidFill>
                    <ns5:srgbClr val="39846C"/>
                  </ns5:solidFill>
                </ns5:ln>
              </p:spPr>
            </p:sp>
            <p:sp>
              <p:nvSpPr>
                <p:cNvPr id="10523" name="calculator-1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6000"/>
                      </ns2:moveTo>
                      <ns2:lnTo>
                        <ns2:pt x="16000" y="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4" name="calculator-2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000"/>
                      </ns2:moveTo>
                      <ns2:lnTo>
                        <ns2:pt x="1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5" name="calculator-3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0000"/>
                      </ns2:moveTo>
                      <ns2:lnTo>
                        <ns2:pt x="16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6" name="calculator-4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0000"/>
                      </ns2:moveTo>
                      <ns2:lnTo>
                        <ns2:pt x="12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7" name="calculator-5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1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8" name="calculator-6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4000"/>
                      </ns2:moveTo>
                      <ns2:lnTo>
                        <ns2:pt x="12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29" name="calculator-7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000"/>
                      </ns2:moveTo>
                      <ns2:lnTo>
                        <ns2:pt x="801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30" name="calculator-8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2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31" name="calculator-9"/>
                <p:cNvSpPr/>
                <p:nvPr/>
              </p:nvSpPr>
              <p:spPr>
                <ns1:xfrm xmlns:ns1="http://schemas.openxmlformats.org/drawingml/2006/main">
                  <ns1:off x="6819900" y="70485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8000"/>
                      </ns2:moveTo>
                      <ns2:lnTo>
                        <ns2:pt x="801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533" name="Numerical tool"/>
              <p:cNvSpPr/>
              <p:nvPr/>
            </p:nvSpPr>
            <p:spPr>
              <ns1:xfrm xmlns:ns1="http://schemas.openxmlformats.org/drawingml/2006/main">
                <ns1:off x="6238875" y="1228725"/>
                <ns1:ext cx="19050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Numerical tool</ns7:t>
                </ns7:r>
              </ns7:p>
            </p:txBody>
          </p:sp>
        </p:grpSp>
        <p:sp>
          <p:nvSpPr>
            <p:cNvPr id="10535" name="Row rule"/>
            <p:cNvSpPr/>
            <p:nvPr/>
          </p:nvSpPr>
          <p:spPr>
            <ns1:xfrm xmlns:ns1="http://schemas.openxmlformats.org/drawingml/2006/main">
              <ns1:off x="190500" y="1743075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36" name="Memory under change"/>
            <p:cNvSpPr/>
            <p:nvPr/>
          </p:nvSpPr>
          <p:spPr>
            <ns1:xfrm xmlns:ns1="http://schemas.openxmlformats.org/drawingml/2006/main">
              <ns1:off x="190500" y="1981200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3376A0"/>
                  </ns7:solidFill>
                  <ns7:latin typeface="Comic Sans MS"/>
                  <ns7:ea typeface="Times New Roman"/>
                </ns7:rPr>
                <ns7:t>Memory under change</ns7:t>
              </ns7:r>
            </ns7:p>
          </p:txBody>
        </p:sp>
        <p:sp>
          <p:nvSpPr>
            <p:cNvPr id="10537" name="Revalidation&#10;Updated conclusions"/>
            <p:cNvSpPr/>
            <p:nvPr/>
          </p:nvSpPr>
          <p:spPr>
            <ns1:xfrm xmlns:ns1="http://schemas.openxmlformats.org/drawingml/2006/main">
              <ns1:off x="8667750" y="1981200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Revalidation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Updated conclusions</ns8:t>
              </ns8:r>
            </ns8:p>
          </p:txBody>
        </p:sp>
        <p:grpSp>
          <p:nvGrpSpPr>
            <p:cNvPr id="10545" name="Memory under change"/>
            <p:cNvGrpSpPr/>
            <p:nvPr/>
          </p:nvGrpSpPr>
          <p:grpSpPr>
            <ns1:xfrm xmlns:ns1="http://schemas.openxmlformats.org/drawingml/2006/main">
              <ns1:off x="3476625" y="1876425"/>
              <ns1:ext cx="4495800" cy="790575"/>
              <ns1:chOff x="3476625" y="1876425"/>
              <ns1:chExt cx="4495800" cy="790575"/>
            </ns1:xfrm>
          </p:grpSpPr>
          <p:sp>
            <p:nvSpPr>
              <p:cNvPr id="10538" name="Document Release v₁"/>
              <p:cNvSpPr/>
              <p:nvPr/>
            </p:nvSpPr>
            <p:spPr>
              <ns1:xfrm xmlns:ns1="http://schemas.openxmlformats.org/drawingml/2006/main">
                <ns1:off x="3476625" y="1876425"/>
                <ns1:ext cx="1524000" cy="790575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539" name="Release v₁"/>
              <p:cNvSpPr/>
              <p:nvPr/>
            </p:nvSpPr>
            <p:spPr>
              <ns1:xfrm xmlns:ns1="http://schemas.openxmlformats.org/drawingml/2006/main">
                <ns1:off x="3524250" y="1914525"/>
                <ns1:ext cx="1428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1">
                    <ns7:solidFill>
                      <ns7:srgbClr val="3376A0"/>
                    </ns7:solidFill>
                    <ns7:latin typeface="Comic Sans MS"/>
                    <ns7:ea typeface="Times New Roman"/>
                  </ns7:rPr>
                  <ns7:t>Release v₁</ns7:t>
                </ns7:r>
              </ns7:p>
            </p:txBody>
          </p:sp>
          <p:sp>
            <p:nvSpPr>
              <p:cNvPr id="10540" name="Prior evidence"/>
              <p:cNvSpPr/>
              <p:nvPr/>
            </p:nvSpPr>
            <p:spPr>
              <ns1:xfrm xmlns:ns1="http://schemas.openxmlformats.org/drawingml/2006/main">
                <ns1:off x="3562350" y="2238375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188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Prior evidence</ns7:t>
                </ns7:r>
              </ns7:p>
            </p:txBody>
          </p:sp>
          <p:sp>
            <p:nvSpPr>
              <p:cNvPr id="10541" name="flow"/>
              <p:cNvSpPr/>
              <p:nvPr/>
            </p:nvSpPr>
            <p:spPr>
              <ns1:xfrm xmlns:ns1="http://schemas.openxmlformats.org/drawingml/2006/main">
                <ns1:off x="5314950" y="2228850"/>
                <ns1:ext cx="7620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80000" h="1000" fill="none">
                    <ns2:moveTo>
                      <ns2:pt x="0" y="0"/>
                    </ns2:moveTo>
                    <ns2:lnTo>
                      <ns2:pt x="80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47788"/>
                </ns4:solidFill>
                <ns4:tailEnd type="triangle"/>
              </ns4:ln>
            </p:spPr>
          </p:sp>
          <p:sp>
            <p:nvSpPr>
              <p:cNvPr id="10542" name="Document Release v₂"/>
              <p:cNvSpPr/>
              <p:nvPr/>
            </p:nvSpPr>
            <p:spPr>
              <ns1:xfrm xmlns:ns1="http://schemas.openxmlformats.org/drawingml/2006/main">
                <ns1:off x="6448425" y="1876425"/>
                <ns1:ext cx="1524000" cy="790575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543" name="Release v₂"/>
              <p:cNvSpPr/>
              <p:nvPr/>
            </p:nvSpPr>
            <p:spPr>
              <ns1:xfrm xmlns:ns1="http://schemas.openxmlformats.org/drawingml/2006/main">
                <ns1:off x="6496050" y="1914525"/>
                <ns1:ext cx="14287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1">
                    <ns7:solidFill>
                      <ns7:srgbClr val="39846C"/>
                    </ns7:solidFill>
                    <ns7:latin typeface="Comic Sans MS"/>
                    <ns7:ea typeface="Times New Roman"/>
                  </ns7:rPr>
                  <ns7:t>Release v₂</ns7:t>
                </ns7:r>
              </ns7:p>
            </p:txBody>
          </p:sp>
          <p:sp>
            <p:nvSpPr>
              <p:cNvPr id="10544" name="Revised values"/>
              <p:cNvSpPr/>
              <p:nvPr/>
            </p:nvSpPr>
            <p:spPr>
              <ns1:xfrm xmlns:ns1="http://schemas.openxmlformats.org/drawingml/2006/main">
                <ns1:off x="6534150" y="2238375"/>
                <ns1:ext cx="1352550" cy="2190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188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Revised values</ns7:t>
                </ns7:r>
              </ns7:p>
            </p:txBody>
          </p:sp>
        </p:grpSp>
        <p:sp>
          <p:nvSpPr>
            <p:cNvPr id="10546" name="Row rule"/>
            <p:cNvSpPr/>
            <p:nvPr/>
          </p:nvSpPr>
          <p:spPr>
            <ns1:xfrm xmlns:ns1="http://schemas.openxmlformats.org/drawingml/2006/main">
              <ns1:off x="190500" y="291465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47" name="Procedure transfer"/>
            <p:cNvSpPr/>
            <p:nvPr/>
          </p:nvSpPr>
          <p:spPr>
            <ns1:xfrm xmlns:ns1="http://schemas.openxmlformats.org/drawingml/2006/main">
              <ns1:off x="190500" y="315277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3376A0"/>
                  </ns7:solidFill>
                  <ns7:latin typeface="Comic Sans MS"/>
                  <ns7:ea typeface="Times New Roman"/>
                </ns7:rPr>
                <ns7:t>Procedure transfer</ns7:t>
              </ns7:r>
            </ns7:p>
          </p:txBody>
        </p:sp>
        <p:sp>
          <p:nvSpPr>
            <p:cNvPr id="10548" name="Held-out performance&#10;Reuse success"/>
            <p:cNvSpPr/>
            <p:nvPr/>
          </p:nvSpPr>
          <p:spPr>
            <ns1:xfrm xmlns:ns1="http://schemas.openxmlformats.org/drawingml/2006/main">
              <ns1:off x="8667750" y="315277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Held-out performance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Reuse success</ns8:t>
              </ns8:r>
            </ns8:p>
          </p:txBody>
        </p:sp>
        <p:grpSp>
          <p:nvGrpSpPr>
            <p:cNvPr id="10556" name="Procedure transfer"/>
            <p:cNvGrpSpPr/>
            <p:nvPr/>
          </p:nvGrpSpPr>
          <p:grpSpPr>
            <ns1:xfrm xmlns:ns1="http://schemas.openxmlformats.org/drawingml/2006/main">
              <ns1:off x="3286125" y="3028950"/>
              <ns1:ext cx="4972050" cy="847725"/>
              <ns1:chOff x="3286125" y="3028950"/>
              <ns1:chExt cx="4972050" cy="847725"/>
            </ns1:xfrm>
          </p:grpSpPr>
          <p:sp>
            <p:nvSpPr>
              <p:cNvPr id="10549" name="Time axis"/>
              <p:cNvSpPr/>
              <p:nvPr/>
            </p:nvSpPr>
            <p:spPr>
              <ns1:xfrm xmlns:ns1="http://schemas.openxmlformats.org/drawingml/2006/main">
                <ns1:off x="3476625" y="302895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000" cap="rnd">
                <ns4:gradFill rotWithShape="1">
                  <ns4:gsLst>
                    <ns4:gs pos="0">
                      <ns4:srgbClr val="B4BAC0"/>
                    </ns4:gs>
                    <ns4:gs pos="45000">
                      <ns4:srgbClr val="747C83"/>
                    </ns4:gs>
                    <ns4:gs pos="100000">
                      <ns4:srgbClr val="343B41"/>
                    </ns4:gs>
                  </ns4:gsLst>
                  <ns4:lin ang="0" scaled="1"/>
                </ns4:gradFill>
                <ns4:tailEnd type="triangle" w="med" len="med"/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550" name="Schematic series"/>
              <p:cNvSpPr/>
              <p:nvPr/>
            </p:nvSpPr>
            <p:spPr>
              <ns1:xfrm xmlns:ns1="http://schemas.openxmlformats.org/drawingml/2006/main">
                <ns1:off x="3476625" y="3228022"/>
                <ns1:ext cx="1571625" cy="157162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16500" fill="none">
                    <ns2:moveTo>
                      <ns2:pt x="0" y="11000"/>
                    </ns2:moveTo>
                    <ns2:lnTo>
                      <ns2:pt x="13750" y="6600"/>
                    </ns2:lnTo>
                    <ns2:lnTo>
                      <ns2:pt x="27500" y="14300"/>
                    </ns2:lnTo>
                    <ns2:lnTo>
                      <ns2:pt x="41250" y="3300"/>
                    </ns2:lnTo>
                    <ns2:lnTo>
                      <ns2:pt x="55000" y="7700"/>
                    </ns2:lnTo>
                    <ns2:lnTo>
                      <ns2:pt x="68750" y="16500"/>
                    </ns2:lnTo>
                    <ns2:lnTo>
                      <ns2:pt x="82500" y="9350"/>
                    </ns2:lnTo>
                    <ns2:lnTo>
                      <ns2:pt x="96250" y="1650"/>
                    </ns2:lnTo>
                    <ns2:lnTo>
                      <ns2:pt x="110000" y="11550"/>
                    </ns2:lnTo>
                    <ns2:lnTo>
                      <ns2:pt x="123750" y="7700"/>
                    </ns2:lnTo>
                    <ns2:lnTo>
                      <ns2:pt x="137500" y="0"/>
                    </ns2:lnTo>
                    <ns2:lnTo>
                      <ns2:pt x="151250" y="9350"/>
                    </ns2:lnTo>
                    <ns2:lnTo>
                      <ns2:pt x="165000" y="38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000000"/>
                </ns4:solidFill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551" name="Seen setting"/>
              <p:cNvSpPr/>
              <p:nvPr/>
            </p:nvSpPr>
            <p:spPr>
              <ns1:xfrm xmlns:ns1="http://schemas.openxmlformats.org/drawingml/2006/main">
                <ns1:off x="3286125" y="361950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Seen setting</ns7:t>
                </ns7:r>
              </ns7:p>
            </p:txBody>
          </p:sp>
          <p:sp>
            <p:nvSpPr>
              <p:cNvPr id="10552" name="vs."/>
              <p:cNvSpPr/>
              <p:nvPr/>
            </p:nvSpPr>
            <p:spPr>
              <ns1:xfrm xmlns:ns1="http://schemas.openxmlformats.org/drawingml/2006/main">
                <ns1:off x="5591175" y="3238500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20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vs.</ns7:t>
                </ns7:r>
              </ns7:p>
            </p:txBody>
          </p:sp>
          <p:sp>
            <p:nvSpPr>
              <p:cNvPr id="10553" name="Time axis"/>
              <p:cNvSpPr/>
              <p:nvPr/>
            </p:nvSpPr>
            <p:spPr>
              <ns1:xfrm xmlns:ns1="http://schemas.openxmlformats.org/drawingml/2006/main">
                <ns1:off x="6477000" y="302895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000" cap="rnd">
                <ns4:gradFill rotWithShape="1">
                  <ns4:gsLst>
                    <ns4:gs pos="0">
                      <ns4:srgbClr val="B4BAC0"/>
                    </ns4:gs>
                    <ns4:gs pos="45000">
                      <ns4:srgbClr val="747C83"/>
                    </ns4:gs>
                    <ns4:gs pos="100000">
                      <ns4:srgbClr val="343B41"/>
                    </ns4:gs>
                  </ns4:gsLst>
                  <ns4:lin ang="0" scaled="1"/>
                </ns4:gradFill>
                <ns4:tailEnd type="triangle" w="med" len="med"/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554" name="Schematic series"/>
              <p:cNvSpPr/>
              <p:nvPr/>
            </p:nvSpPr>
            <p:spPr>
              <ns1:xfrm xmlns:ns1="http://schemas.openxmlformats.org/drawingml/2006/main">
                <ns1:off x="6477000" y="3157299"/>
                <ns1:ext cx="1571625" cy="311706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32725" fill="none">
                    <ns2:moveTo>
                      <ns2:pt x="0" y="32725"/>
                    </ns2:moveTo>
                    <ns2:lnTo>
                      <ns2:pt x="13750" y="24750"/>
                    </ns2:lnTo>
                    <ns2:lnTo>
                      <ns2:pt x="27500" y="27775"/>
                    </ns2:lnTo>
                    <ns2:lnTo>
                      <ns2:pt x="41250" y="19800"/>
                    </ns2:lnTo>
                    <ns2:lnTo>
                      <ns2:pt x="55000" y="22825"/>
                    </ns2:lnTo>
                    <ns2:lnTo>
                      <ns2:pt x="68750" y="14850"/>
                    </ns2:lnTo>
                    <ns2:lnTo>
                      <ns2:pt x="82500" y="17875"/>
                    </ns2:lnTo>
                    <ns2:lnTo>
                      <ns2:pt x="96250" y="9900"/>
                    </ns2:lnTo>
                    <ns2:lnTo>
                      <ns2:pt x="110000" y="12925"/>
                    </ns2:lnTo>
                    <ns2:lnTo>
                      <ns2:pt x="123750" y="4950"/>
                    </ns2:lnTo>
                    <ns2:lnTo>
                      <ns2:pt x="137500" y="7975"/>
                    </ns2:lnTo>
                    <ns2:lnTo>
                      <ns2:pt x="151250" y="0"/>
                    </ns2:lnTo>
                    <ns2:lnTo>
                      <ns2:pt x="165000" y="3025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000000"/>
                </ns4:solidFill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555" name="Held-out setting"/>
              <p:cNvSpPr/>
              <p:nvPr/>
            </p:nvSpPr>
            <p:spPr>
              <ns1:xfrm xmlns:ns1="http://schemas.openxmlformats.org/drawingml/2006/main">
                <ns1:off x="6257925" y="361950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Held-out setting</ns7:t>
                </ns7:r>
              </ns7:p>
            </p:txBody>
          </p:sp>
        </p:grpSp>
        <p:sp>
          <p:nvSpPr>
            <p:cNvPr id="10557" name="Row rule"/>
            <p:cNvSpPr/>
            <p:nvPr/>
          </p:nvSpPr>
          <p:spPr>
            <ns1:xfrm xmlns:ns1="http://schemas.openxmlformats.org/drawingml/2006/main">
              <ns1:off x="190500" y="4086225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58" name="Evidence sensitivity"/>
            <p:cNvSpPr/>
            <p:nvPr/>
          </p:nvSpPr>
          <p:spPr>
            <ns1:xfrm xmlns:ns1="http://schemas.openxmlformats.org/drawingml/2006/main">
              <ns1:off x="190500" y="4324350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3376A0"/>
                  </ns7:solidFill>
                  <ns7:latin typeface="Comic Sans MS"/>
                  <ns7:ea typeface="Times New Roman"/>
                </ns7:rPr>
                <ns7:t>Evidence sensitivity</ns7:t>
              </ns7:r>
            </ns7:p>
          </p:txBody>
        </p:sp>
        <p:sp>
          <p:nvSpPr>
            <p:cNvPr id="10559" name="Response to removal&#10;Grounded claims"/>
            <p:cNvSpPr/>
            <p:nvPr/>
          </p:nvSpPr>
          <p:spPr>
            <ns1:xfrm xmlns:ns1="http://schemas.openxmlformats.org/drawingml/2006/main">
              <ns1:off x="8667750" y="4324350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Response to removal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Grounded claims</ns8:t>
              </ns8:r>
            </ns8:p>
          </p:txBody>
        </p:sp>
        <p:grpSp>
          <p:nvGrpSpPr>
            <p:cNvPr id="10580" name="Evidence sensitivity"/>
            <p:cNvGrpSpPr/>
            <p:nvPr/>
          </p:nvGrpSpPr>
          <p:grpSpPr>
            <ns1:xfrm xmlns:ns1="http://schemas.openxmlformats.org/drawingml/2006/main">
              <ns1:off x="3286125" y="4229100"/>
              <ns1:ext cx="5143500" cy="809625"/>
              <ns1:chOff x="3286125" y="4229100"/>
              <ns1:chExt cx="5143500" cy="809625"/>
            </ns1:xfrm>
          </p:grpSpPr>
          <p:grpSp>
            <p:nvGrpSpPr>
              <p:cNvPr id="10565" name="file-text editable icon"/>
              <p:cNvGrpSpPr/>
              <p:nvPr/>
            </p:nvGrpSpPr>
            <p:grpSpPr>
              <ns1:xfrm xmlns:ns1="http://schemas.openxmlformats.org/drawingml/2006/main">
                <ns1:off x="4038600" y="4229100"/>
                <ns1:ext cx="381000" cy="381000"/>
                <ns1:chOff x="4038600" y="4229100"/>
                <ns1:chExt cx="381000" cy="381000"/>
              </ns1:xfrm>
            </p:grpSpPr>
            <p:sp>
              <p:nvSpPr>
                <p:cNvPr id="10560" name="file-text-0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61" name="file-text-1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62" name="file-text-2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63" name="file-text-3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  <p:sp>
              <p:nvSpPr>
                <p:cNvPr id="10564" name="file-text-4"/>
                <p:cNvSpPr/>
                <p:nvPr/>
              </p:nvSpPr>
              <p:spPr>
                <ns1:xfrm xmlns:ns1="http://schemas.openxmlformats.org/drawingml/2006/main">
                  <ns1:off x="4038600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9846C"/>
                  </ns4:solidFill>
                </ns4:ln>
              </p:spPr>
            </p:sp>
          </p:grpSp>
          <p:grpSp>
            <p:nvGrpSpPr>
              <p:cNvPr id="10567" name="check editable icon"/>
              <p:cNvGrpSpPr/>
              <p:nvPr/>
            </p:nvGrpSpPr>
            <p:grpSpPr>
              <ns1:xfrm xmlns:ns1="http://schemas.openxmlformats.org/drawingml/2006/main">
                <ns1:off x="4438650" y="4467225"/>
                <ns1:ext cx="266700" cy="266700"/>
                <ns1:chOff x="4438650" y="4467225"/>
                <ns1:chExt cx="266700" cy="266700"/>
              </ns1:xfrm>
            </p:grpSpPr>
            <p:sp>
              <p:nvSpPr>
                <p:cNvPr id="10566" name="check-0"/>
                <p:cNvSpPr/>
                <p:nvPr/>
              </p:nvSpPr>
              <p:spPr>
                <ns1:xfrm xmlns:ns1="http://schemas.openxmlformats.org/drawingml/2006/main">
                  <ns1:off x="4438650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6000"/>
                      </ns2:moveTo>
                      <ns2:lnTo>
                        <ns2:pt x="9000" y="17000"/>
                      </ns2:lnTo>
                      <ns2:lnTo>
                        <ns2:pt x="4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568" name="Evidence present"/>
              <p:cNvSpPr/>
              <p:nvPr/>
            </p:nvSpPr>
            <p:spPr>
              <ns1:xfrm xmlns:ns1="http://schemas.openxmlformats.org/drawingml/2006/main">
                <ns1:off x="3286125" y="4762500"/>
                <ns1:ext cx="2143125" cy="2762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Evidence present</ns7:t>
                </ns7:r>
              </ns7:p>
            </p:txBody>
          </p:sp>
          <p:sp>
            <p:nvSpPr>
              <p:cNvPr id="10569" name="vs."/>
              <p:cNvSpPr/>
              <p:nvPr/>
            </p:nvSpPr>
            <p:spPr>
              <ns1:xfrm xmlns:ns1="http://schemas.openxmlformats.org/drawingml/2006/main">
                <ns1:off x="5591175" y="4410075"/>
                <ns1:ext cx="47625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20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vs.</ns7:t>
                </ns7:r>
              </ns7:p>
            </p:txBody>
          </p:sp>
          <p:grpSp>
            <p:nvGrpSpPr>
              <p:cNvPr id="10575" name="file-text editable icon"/>
              <p:cNvGrpSpPr/>
              <p:nvPr/>
            </p:nvGrpSpPr>
            <p:grpSpPr>
              <ns1:xfrm xmlns:ns1="http://schemas.openxmlformats.org/drawingml/2006/main">
                <ns1:off x="7000875" y="4229100"/>
                <ns1:ext cx="381000" cy="381000"/>
                <ns1:chOff x="7000875" y="4229100"/>
                <ns1:chExt cx="381000" cy="381000"/>
              </ns1:xfrm>
            </p:grpSpPr>
            <p:sp>
              <p:nvSpPr>
                <p:cNvPr id="10570" name="file-text-0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  <p:sp>
              <p:nvSpPr>
                <p:cNvPr id="10571" name="file-text-1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  <p:sp>
              <p:nvSpPr>
                <p:cNvPr id="10572" name="file-text-2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  <p:sp>
              <p:nvSpPr>
                <p:cNvPr id="10573" name="file-text-3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  <p:sp>
              <p:nvSpPr>
                <p:cNvPr id="10574" name="file-text-4"/>
                <p:cNvSpPr/>
                <p:nvPr/>
              </p:nvSpPr>
              <p:spPr>
                <ns1:xfrm xmlns:ns1="http://schemas.openxmlformats.org/drawingml/2006/main">
                  <ns1:off x="7000875" y="4229100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647788"/>
                  </ns4:solidFill>
                </ns4:ln>
              </p:spPr>
            </p:sp>
          </p:grpSp>
          <p:grpSp>
            <p:nvGrpSpPr>
              <p:cNvPr id="10578" name="x editable icon"/>
              <p:cNvGrpSpPr/>
              <p:nvPr/>
            </p:nvGrpSpPr>
            <p:grpSpPr>
              <ns1:xfrm xmlns:ns1="http://schemas.openxmlformats.org/drawingml/2006/main">
                <ns1:off x="7419975" y="4467225"/>
                <ns1:ext cx="266700" cy="266700"/>
                <ns1:chOff x="7419975" y="4467225"/>
                <ns1:chExt cx="266700" cy="266700"/>
              </ns1:xfrm>
            </p:grpSpPr>
            <p:sp>
              <p:nvSpPr>
                <p:cNvPr id="10576" name="x-0"/>
                <p:cNvSpPr/>
                <p:nvPr/>
              </p:nvSpPr>
              <p:spPr>
                <ns1:xfrm xmlns:ns1="http://schemas.openxmlformats.org/drawingml/2006/main">
                  <ns1:off x="7419975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8000" y="6000"/>
                      </ns2:moveTo>
                      <ns2:lnTo>
                        <ns2:pt x="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B7524A"/>
                  </ns4:solidFill>
                </ns4:ln>
              </p:spPr>
            </p:sp>
            <p:sp>
              <p:nvSpPr>
                <p:cNvPr id="10577" name="x-1"/>
                <p:cNvSpPr/>
                <p:nvPr/>
              </p:nvSpPr>
              <p:spPr>
                <ns1:xfrm xmlns:ns1="http://schemas.openxmlformats.org/drawingml/2006/main">
                  <ns1:off x="7419975" y="4467225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6000"/>
                      </ns2:moveTo>
                      <ns2:lnTo>
                        <ns2:pt x="18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B7524A"/>
                  </ns4:solidFill>
                </ns4:ln>
              </p:spPr>
            </p:sp>
          </p:grpSp>
          <p:sp>
            <p:nvSpPr>
              <p:cNvPr id="10579" name="Evidence removed"/>
              <p:cNvSpPr/>
              <p:nvPr/>
            </p:nvSpPr>
            <p:spPr>
              <ns1:xfrm xmlns:ns1="http://schemas.openxmlformats.org/drawingml/2006/main">
                <ns1:off x="6286500" y="4762500"/>
                <ns1:ext cx="2143125" cy="2762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Evidence removed</ns7:t>
                </ns7:r>
              </ns7:p>
            </p:txBody>
          </p:sp>
        </p:grpSp>
        <p:sp>
          <p:nvSpPr>
            <p:cNvPr id="10581" name="Row rule"/>
            <p:cNvSpPr/>
            <p:nvPr/>
          </p:nvSpPr>
          <p:spPr>
            <ns1:xfrm xmlns:ns1="http://schemas.openxmlformats.org/drawingml/2006/main">
              <ns1:off x="190500" y="52578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82" name="Prediction to decision"/>
            <p:cNvSpPr/>
            <p:nvPr/>
          </p:nvSpPr>
          <p:spPr>
            <ns1:xfrm xmlns:ns1="http://schemas.openxmlformats.org/drawingml/2006/main">
              <ns1:off x="190500" y="5495925"/>
              <ns1:ext cx="2952750" cy="5905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1">
                  <ns7:solidFill>
                    <ns7:srgbClr val="3376A0"/>
                  </ns7:solidFill>
                  <ns7:latin typeface="Comic Sans MS"/>
                  <ns7:ea typeface="Times New Roman"/>
                </ns7:rPr>
                <ns7:t>Prediction to decision</ns7:t>
              </ns7:r>
            </ns7:p>
          </p:txBody>
        </p:sp>
        <p:sp>
          <p:nvSpPr>
            <p:cNvPr id="10583" name="Forecast error&#10;Action utility"/>
            <p:cNvSpPr/>
            <p:nvPr/>
          </p:nvSpPr>
          <p:spPr>
            <ns1:xfrm xmlns:ns1="http://schemas.openxmlformats.org/drawingml/2006/main">
              <ns1:off x="8667750" y="5495925"/>
              <ns1:ext cx="2619375" cy="666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Forecast error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Action utility</ns8:t>
              </ns8:r>
            </ns8:p>
          </p:txBody>
        </p:sp>
        <p:grpSp>
          <p:nvGrpSpPr>
            <p:cNvPr id="10594" name="Prediction to decision"/>
            <p:cNvGrpSpPr/>
            <p:nvPr/>
          </p:nvGrpSpPr>
          <p:grpSpPr>
            <ns1:xfrm xmlns:ns1="http://schemas.openxmlformats.org/drawingml/2006/main">
              <ns1:off x="3286125" y="5372100"/>
              <ns1:ext cx="5143500" cy="847725"/>
              <ns1:chOff x="3286125" y="5372100"/>
              <ns1:chExt cx="5143500" cy="847725"/>
            </ns1:xfrm>
          </p:grpSpPr>
          <p:sp>
            <p:nvSpPr>
              <p:cNvPr id="10584" name="Time axis"/>
              <p:cNvSpPr/>
              <p:nvPr/>
            </p:nvSpPr>
            <p:spPr>
              <ns1:xfrm xmlns:ns1="http://schemas.openxmlformats.org/drawingml/2006/main">
                <ns1:off x="3476625" y="5372100"/>
                <ns1:ext cx="1571625" cy="5238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55000" fill="none">
                    <ns2:moveTo>
                      <ns2:pt x="0" y="0"/>
                    </ns2:moveTo>
                    <ns2:lnTo>
                      <ns2:pt x="0" y="55000"/>
                    </ns2:lnTo>
                    <ns2:lnTo>
                      <ns2:pt x="165000" y="5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000" cap="rnd">
                <ns4:gradFill rotWithShape="1">
                  <ns4:gsLst>
                    <ns4:gs pos="0">
                      <ns4:srgbClr val="B4BAC0"/>
                    </ns4:gs>
                    <ns4:gs pos="45000">
                      <ns4:srgbClr val="747C83"/>
                    </ns4:gs>
                    <ns4:gs pos="100000">
                      <ns4:srgbClr val="343B41"/>
                    </ns4:gs>
                  </ns4:gsLst>
                  <ns4:lin ang="0" scaled="1"/>
                </ns4:gradFill>
                <ns4:tailEnd type="triangle" w="med" len="med"/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585" name="Schematic series"/>
              <p:cNvSpPr/>
              <p:nvPr/>
            </p:nvSpPr>
            <p:spPr>
              <ns1:xfrm xmlns:ns1="http://schemas.openxmlformats.org/drawingml/2006/main">
                <ns1:off x="3476625" y="5571172"/>
                <ns1:ext cx="1571625" cy="157162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65000" h="16500" fill="none">
                    <ns2:moveTo>
                      <ns2:pt x="0" y="11000"/>
                    </ns2:moveTo>
                    <ns2:lnTo>
                      <ns2:pt x="13750" y="6600"/>
                    </ns2:lnTo>
                    <ns2:lnTo>
                      <ns2:pt x="27500" y="14300"/>
                    </ns2:lnTo>
                    <ns2:lnTo>
                      <ns2:pt x="41250" y="3300"/>
                    </ns2:lnTo>
                    <ns2:lnTo>
                      <ns2:pt x="55000" y="7700"/>
                    </ns2:lnTo>
                    <ns2:lnTo>
                      <ns2:pt x="68750" y="16500"/>
                    </ns2:lnTo>
                    <ns2:lnTo>
                      <ns2:pt x="82500" y="9350"/>
                    </ns2:lnTo>
                    <ns2:lnTo>
                      <ns2:pt x="96250" y="1650"/>
                    </ns2:lnTo>
                    <ns2:lnTo>
                      <ns2:pt x="110000" y="11550"/>
                    </ns2:lnTo>
                    <ns2:lnTo>
                      <ns2:pt x="123750" y="7700"/>
                    </ns2:lnTo>
                    <ns2:lnTo>
                      <ns2:pt x="137500" y="0"/>
                    </ns2:lnTo>
                    <ns2:lnTo>
                      <ns2:pt x="151250" y="9350"/>
                    </ns2:lnTo>
                    <ns2:lnTo>
                      <ns2:pt x="165000" y="385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000000"/>
                </ns4:solidFill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586" name="Forecast"/>
              <p:cNvSpPr/>
              <p:nvPr/>
            </p:nvSpPr>
            <p:spPr>
              <ns1:xfrm xmlns:ns1="http://schemas.openxmlformats.org/drawingml/2006/main">
                <ns1:off x="3286125" y="5962650"/>
                <ns1:ext cx="2000250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Forecast</ns7:t>
                </ns7:r>
              </ns7:p>
            </p:txBody>
          </p:sp>
          <p:sp>
            <p:nvSpPr>
              <p:cNvPr id="10587" name="flow"/>
              <p:cNvSpPr/>
              <p:nvPr/>
            </p:nvSpPr>
            <p:spPr>
              <ns1:xfrm xmlns:ns1="http://schemas.openxmlformats.org/drawingml/2006/main">
                <ns1:off x="5334000" y="5724525"/>
                <ns1:ext cx="78105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82000" h="1000" fill="none">
                    <ns2:moveTo>
                      <ns2:pt x="0" y="0"/>
                    </ns2:moveTo>
                    <ns2:lnTo>
                      <ns2:pt x="82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47788"/>
                </ns4:solidFill>
                <ns4:tailEnd type="triangle"/>
              </ns4:ln>
            </p:spPr>
          </p:sp>
          <p:grpSp>
            <p:nvGrpSpPr>
              <p:cNvPr id="10592" name="package editable icon"/>
              <p:cNvGrpSpPr/>
              <p:nvPr/>
            </p:nvGrpSpPr>
            <p:grpSpPr>
              <ns1:xfrm xmlns:ns1="http://schemas.openxmlformats.org/drawingml/2006/main">
                <ns1:off x="6838950" y="5391150"/>
                <ns1:ext cx="428625" cy="428625"/>
                <ns1:chOff x="6838950" y="5391150"/>
                <ns1:chExt cx="428625" cy="428625"/>
              </ns1:xfrm>
            </p:grpSpPr>
            <p:sp>
              <p:nvSpPr>
                <p:cNvPr id="10588" name="package-0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1000" y="21730"/>
                      </ns2:moveTo>
                      <ns2:cubicBezTo>
                        <ns2:pt x="11619" y="22087"/>
                        <ns2:pt x="12381" y="22087"/>
                        <ns2:pt x="13000" y="21730"/>
                      </ns2:cubicBezTo>
                      <ns2:lnTo>
                        <ns2:pt x="20000" y="17730"/>
                      </ns2:lnTo>
                      <ns2:cubicBezTo>
                        <ns2:pt x="20618" y="17373"/>
                        <ns2:pt x="20999" y="16714"/>
                        <ns2:pt x="21000" y="16000"/>
                      </ns2:cubicBezTo>
                      <ns2:lnTo>
                        <ns2:pt x="21000" y="8000"/>
                      </ns2:lnTo>
                      <ns2:cubicBezTo>
                        <ns2:pt x="20999" y="7286"/>
                        <ns2:pt x="20618" y="6627"/>
                        <ns2:pt x="20000" y="6270"/>
                      </ns2:cubicBezTo>
                      <ns2:lnTo>
                        <ns2:pt x="13000" y="2270"/>
                      </ns2:lnTo>
                      <ns2:cubicBezTo>
                        <ns2:pt x="12381" y="1913"/>
                        <ns2:pt x="11619" y="1913"/>
                        <ns2:pt x="11000" y="2270"/>
                      </ns2:cubicBezTo>
                      <ns2:lnTo>
                        <ns2:pt x="4000" y="6270"/>
                      </ns2:lnTo>
                      <ns2:cubicBezTo>
                        <ns2:pt x="3382" y="6627"/>
                        <ns2:pt x="3001" y="7286"/>
                        <ns2:pt x="3000" y="8000"/>
                      </ns2:cubicBezTo>
                      <ns2:lnTo>
                        <ns2:pt x="3000" y="16000"/>
                      </ns2:lnTo>
                      <ns2:cubicBezTo>
                        <ns2:pt x="3001" y="16714"/>
                        <ns2:pt x="3382" y="17373"/>
                        <ns2:pt x="4000" y="17730"/>
                      </ns2:cubicBezTo>
                      <ns2:lnTo>
                        <ns2:pt x="11000" y="2173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87835"/>
                  </ns4:solidFill>
                </ns4:ln>
              </p:spPr>
            </p:sp>
            <p:sp>
              <p:nvSpPr>
                <p:cNvPr id="10589" name="package-1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2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87835"/>
                  </ns4:solidFill>
                </ns4:ln>
              </p:spPr>
            </p:sp>
            <p:sp>
              <p:nvSpPr>
                <p:cNvPr id="10590" name="package-2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290" y="7000"/>
                      </ns2:moveTo>
                      <ns2:lnTo>
                        <ns2:pt x="12000" y="12000"/>
                      </ns2:lnTo>
                      <ns2:lnTo>
                        <ns2:pt x="2071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87835"/>
                  </ns4:solidFill>
                </ns4:ln>
              </p:spPr>
            </p:sp>
            <p:sp>
              <p:nvSpPr>
                <p:cNvPr id="10591" name="package-3"/>
                <p:cNvSpPr/>
                <p:nvPr/>
              </p:nvSpPr>
              <p:spPr>
                <ns1:xfrm xmlns:ns1="http://schemas.openxmlformats.org/drawingml/2006/main">
                  <ns1:off x="6838950" y="5391150"/>
                  <ns1:ext cx="428625" cy="42862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500" y="4270"/>
                      </ns2:moveTo>
                      <ns2:lnTo>
                        <ns2:pt x="16500" y="942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6789" cap="rnd">
                  <ns4:solidFill>
                    <ns4:srgbClr val="A87835"/>
                  </ns4:solidFill>
                </ns4:ln>
              </p:spPr>
            </p:sp>
          </p:grpSp>
          <p:sp>
            <p:nvSpPr>
              <p:cNvPr id="10593" name="Inventory action"/>
              <p:cNvSpPr/>
              <p:nvPr/>
            </p:nvSpPr>
            <p:spPr>
              <ns1:xfrm xmlns:ns1="http://schemas.openxmlformats.org/drawingml/2006/main">
                <ns1:off x="6286500" y="5962650"/>
                <ns1:ext cx="2143125" cy="2571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647788"/>
                    </ns7:solidFill>
                    <ns7:latin typeface="Comic Sans MS"/>
                    <ns7:ea typeface="Times New Roman"/>
                  </ns7:rPr>
                  <ns7:t>Inventory action</ns7:t>
                </ns7:r>
              </ns7:p>
            </p:txBody>
          </p:sp>
        </p:grpSp>
        <p:sp>
          <p:nvSpPr>
            <p:cNvPr id="10595" name="Footer rule"/>
            <p:cNvSpPr/>
            <p:nvPr/>
          </p:nvSpPr>
          <p:spPr>
            <ns1:xfrm xmlns:ns1="http://schemas.openxmlformats.org/drawingml/2006/main">
              <ns1:off x="190500" y="65532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596" name="Match the backbone, information boundary and resource budget"/>
            <p:cNvSpPr/>
            <p:nvPr/>
          </p:nvSpPr>
          <p:spPr>
            <ns1:xfrm xmlns:ns1="http://schemas.openxmlformats.org/drawingml/2006/main">
              <ns1:off x="904875" y="6696075"/>
              <ns1:ext cx="96202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Match the backbone, information boundary and resource budget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2026-10-21T08:48:18.1700000Z</dcterms:created>
  <dcterms:modified xsi:type="dcterms:W3CDTF">2026-10-21T08:48:18.1700000Z</dcterms:modified>
</coreProperties>
</file>