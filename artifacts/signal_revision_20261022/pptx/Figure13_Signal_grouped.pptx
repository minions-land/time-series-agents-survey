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6897350" cy="8448675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Figure 13 — ungroup into analytical stages"/>
          <p:cNvGrpSpPr/>
          <p:nvPr/>
        </p:nvGrpSpPr>
        <p:grpSpPr>
          <a:xfrm>
            <a:off x="238125" y="210179"/>
            <a:ext cx="16563975" cy="7905121"/>
            <a:chOff x="238125" y="210179"/>
            <a:chExt cx="16563975" cy="7905121"/>
          </a:xfrm>
        </p:grpSpPr>
        <p:grpSp>
          <p:nvGrpSpPr>
            <p:cNvPr id="96" name="Question and series"/>
            <p:cNvGrpSpPr/>
            <p:nvPr/>
          </p:nvGrpSpPr>
          <p:grpSpPr>
            <a:xfrm>
              <a:off x="285750" y="228600"/>
              <a:ext cx="4267200" cy="4295775"/>
              <a:chOff x="285750" y="228600"/>
              <a:chExt cx="4267200" cy="4295775"/>
            </a:xfrm>
          </p:grpSpPr>
          <p:sp>
            <p:nvSpPr>
              <p:cNvPr id="10" name="Path 10"/>
              <p:cNvSpPr/>
              <p:nvPr/>
            </p:nvSpPr>
            <p:spPr>
              <a:xfrm>
                <a:off x="552450" y="4219575"/>
                <a:ext cx="3286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2860">
                <a:gradFill rotWithShape="1">
                  <a:gsLst>
                    <a:gs pos="0">
                      <a:srgbClr val="B4BAC0"/>
                    </a:gs>
                    <a:gs pos="45000">
                      <a:srgbClr val="747C83"/>
                    </a:gs>
                    <a:gs pos="100000">
                      <a:srgbClr val="343B41"/>
                    </a:gs>
                  </a:gsLst>
                  <a:lin ang="0" scaled="1"/>
                </a:gradFill>
                <a:prstDash val="solid"/>
                <a:tailEnd type="non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1" name="Path 11"/>
              <p:cNvSpPr/>
              <p:nvPr/>
            </p:nvSpPr>
            <p:spPr>
              <a:xfrm>
                <a:off x="552450" y="2181225"/>
                <a:ext cx="9525" cy="20383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24485E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2" name="Path 12"/>
              <p:cNvSpPr/>
              <p:nvPr/>
            </p:nvSpPr>
            <p:spPr>
              <a:xfrm>
                <a:off x="552450" y="2661404"/>
                <a:ext cx="3286125" cy="1260038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8453"/>
                    </a:moveTo>
                    <a:lnTo>
                      <a:pt x="450" y="18002"/>
                    </a:lnTo>
                    <a:lnTo>
                      <a:pt x="900" y="21319"/>
                    </a:lnTo>
                    <a:lnTo>
                      <a:pt x="1350" y="18466"/>
                    </a:lnTo>
                    <a:lnTo>
                      <a:pt x="1800" y="17767"/>
                    </a:lnTo>
                    <a:lnTo>
                      <a:pt x="2250" y="21492"/>
                    </a:lnTo>
                    <a:lnTo>
                      <a:pt x="2700" y="18560"/>
                    </a:lnTo>
                    <a:lnTo>
                      <a:pt x="3150" y="17524"/>
                    </a:lnTo>
                    <a:lnTo>
                      <a:pt x="3600" y="21589"/>
                    </a:lnTo>
                    <a:lnTo>
                      <a:pt x="4050" y="18722"/>
                    </a:lnTo>
                    <a:lnTo>
                      <a:pt x="4500" y="17304"/>
                    </a:lnTo>
                    <a:lnTo>
                      <a:pt x="4950" y="21600"/>
                    </a:lnTo>
                    <a:lnTo>
                      <a:pt x="5400" y="18930"/>
                    </a:lnTo>
                    <a:lnTo>
                      <a:pt x="5850" y="17132"/>
                    </a:lnTo>
                    <a:lnTo>
                      <a:pt x="6300" y="21526"/>
                    </a:lnTo>
                    <a:lnTo>
                      <a:pt x="6750" y="19158"/>
                    </a:lnTo>
                    <a:lnTo>
                      <a:pt x="7200" y="17030"/>
                    </a:lnTo>
                    <a:lnTo>
                      <a:pt x="7650" y="21377"/>
                    </a:lnTo>
                    <a:lnTo>
                      <a:pt x="8100" y="19378"/>
                    </a:lnTo>
                    <a:lnTo>
                      <a:pt x="8550" y="17009"/>
                    </a:lnTo>
                    <a:lnTo>
                      <a:pt x="9000" y="21170"/>
                    </a:lnTo>
                    <a:lnTo>
                      <a:pt x="9450" y="19562"/>
                    </a:lnTo>
                    <a:lnTo>
                      <a:pt x="9900" y="17074"/>
                    </a:lnTo>
                    <a:lnTo>
                      <a:pt x="10350" y="20929"/>
                    </a:lnTo>
                    <a:lnTo>
                      <a:pt x="10800" y="10914"/>
                    </a:lnTo>
                    <a:lnTo>
                      <a:pt x="11250" y="0"/>
                    </a:lnTo>
                    <a:lnTo>
                      <a:pt x="11700" y="3462"/>
                    </a:lnTo>
                    <a:lnTo>
                      <a:pt x="12150" y="2514"/>
                    </a:lnTo>
                    <a:lnTo>
                      <a:pt x="12600" y="214"/>
                    </a:lnTo>
                    <a:lnTo>
                      <a:pt x="13050" y="3238"/>
                    </a:lnTo>
                    <a:lnTo>
                      <a:pt x="13500" y="2477"/>
                    </a:lnTo>
                    <a:lnTo>
                      <a:pt x="13950" y="473"/>
                    </a:lnTo>
                    <a:lnTo>
                      <a:pt x="14400" y="3063"/>
                    </a:lnTo>
                    <a:lnTo>
                      <a:pt x="14850" y="2356"/>
                    </a:lnTo>
                    <a:lnTo>
                      <a:pt x="15300" y="751"/>
                    </a:lnTo>
                    <a:lnTo>
                      <a:pt x="15750" y="2958"/>
                    </a:lnTo>
                    <a:lnTo>
                      <a:pt x="16200" y="2161"/>
                    </a:lnTo>
                    <a:lnTo>
                      <a:pt x="16650" y="1020"/>
                    </a:lnTo>
                    <a:lnTo>
                      <a:pt x="17100" y="2934"/>
                    </a:lnTo>
                    <a:lnTo>
                      <a:pt x="17550" y="1909"/>
                    </a:lnTo>
                    <a:lnTo>
                      <a:pt x="18000" y="1251"/>
                    </a:lnTo>
                    <a:lnTo>
                      <a:pt x="18450" y="2995"/>
                    </a:lnTo>
                    <a:lnTo>
                      <a:pt x="18900" y="1627"/>
                    </a:lnTo>
                    <a:lnTo>
                      <a:pt x="19350" y="1422"/>
                    </a:lnTo>
                    <a:lnTo>
                      <a:pt x="19800" y="3136"/>
                    </a:lnTo>
                    <a:lnTo>
                      <a:pt x="20250" y="1341"/>
                    </a:lnTo>
                    <a:lnTo>
                      <a:pt x="20700" y="1517"/>
                    </a:lnTo>
                    <a:lnTo>
                      <a:pt x="21150" y="3342"/>
                    </a:lnTo>
                    <a:lnTo>
                      <a:pt x="21600" y="1079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3" name="Path 13"/>
              <p:cNvSpPr/>
              <p:nvPr/>
            </p:nvSpPr>
            <p:spPr>
              <a:xfrm>
                <a:off x="4048125" y="2771775"/>
                <a:ext cx="5048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0320">
                <a:solidFill>
                  <a:srgbClr val="317DA4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63" name="question-bubble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1893" y="1028700"/>
                <a:ext cx="498288" cy="438150"/>
              </a:xfrm>
              <a:prstGeom prst="rect">
                <a:avLst/>
              </a:prstGeom>
            </p:spPr>
          </p:pic>
          <p:sp>
            <p:nvSpPr>
              <p:cNvPr id="71" name="TextBox 71"/>
              <p:cNvSpPr txBox="1"/>
              <p:nvPr/>
            </p:nvSpPr>
            <p:spPr>
              <a:xfrm>
                <a:off x="285750" y="228600"/>
                <a:ext cx="395287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00" b="1">
                    <a:solidFill>
                      <a:srgbClr val="317DA4"/>
                    </a:solidFill>
                    <a:latin typeface="Comic Sans MS"/>
                    <a:ea typeface="Times New Roman"/>
                    <a:cs typeface="Times New Roman"/>
                  </a:rPr>
                  <a:t>1. Question and series</a:t>
                </a:r>
                <a:endParaRPr lang="zh-CN" sz="2200">
                  <a:latin typeface="Comic Sans MS"/>
                </a:endParaRP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1123950" y="876300"/>
                <a:ext cx="2857500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300">
                    <a:solidFill>
                      <a:srgbClr val="317DA4"/>
                    </a:solidFill>
                    <a:latin typeface="Times New Roman"/>
                    <a:ea typeface="Times New Roman"/>
                    <a:cs typeface="Times New Roman"/>
                  </a:rPr>
                  <a:t>Where did the</a:t>
                </a:r>
                <a:endParaRPr lang="zh-CN" sz="2300"/>
              </a:p>
              <a:p>
                <a:pPr algn="l"/>
                <a:r>
                  <a:rPr lang="zh-CN" sz="2300">
                    <a:solidFill>
                      <a:srgbClr val="317DA4"/>
                    </a:solidFill>
                    <a:latin typeface="Times New Roman"/>
                    <a:ea typeface="Times New Roman"/>
                    <a:cs typeface="Times New Roman"/>
                  </a:rPr>
                  <a:t>level shift occur?</a:t>
                </a:r>
                <a:endParaRPr lang="zh-CN" sz="2300"/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1795462" y="4248150"/>
                <a:ext cx="809625" cy="27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672">
                    <a:solidFill>
                      <a:srgbClr val="24485E"/>
                    </a:solidFill>
                    <a:latin typeface="Comic Sans MS"/>
                    <a:ea typeface="Times New Roman"/>
                    <a:cs typeface="Times New Roman"/>
                  </a:rPr>
                  <a:t>Time</a:t>
                </a:r>
                <a:endParaRPr lang="zh-CN" sz="1672">
                  <a:latin typeface="Comic Sans MS"/>
                </a:endParaRPr>
              </a:p>
            </p:txBody>
          </p:sp>
        </p:grpSp>
        <p:grpSp>
          <p:nvGrpSpPr>
            <p:cNvPr id="97" name="Numerical tools"/>
            <p:cNvGrpSpPr/>
            <p:nvPr/>
          </p:nvGrpSpPr>
          <p:grpSpPr>
            <a:xfrm>
              <a:off x="4676775" y="210179"/>
              <a:ext cx="4229100" cy="4952371"/>
              <a:chOff x="4676775" y="210179"/>
              <a:chExt cx="4229100" cy="4952371"/>
            </a:xfrm>
          </p:grpSpPr>
          <p:sp>
            <p:nvSpPr>
              <p:cNvPr id="2" name="Rect 2"/>
              <p:cNvSpPr/>
              <p:nvPr/>
            </p:nvSpPr>
            <p:spPr>
              <a:xfrm>
                <a:off x="6481961" y="1400175"/>
                <a:ext cx="199430" cy="1285875"/>
              </a:xfrm>
              <a:prstGeom prst="rect">
                <a:avLst/>
              </a:prstGeom>
              <a:solidFill>
                <a:srgbClr val="F1EAF7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3" name="Rect 3"/>
              <p:cNvSpPr/>
              <p:nvPr/>
            </p:nvSpPr>
            <p:spPr>
              <a:xfrm>
                <a:off x="6481961" y="3571875"/>
                <a:ext cx="199430" cy="1285875"/>
              </a:xfrm>
              <a:prstGeom prst="rect">
                <a:avLst/>
              </a:prstGeom>
              <a:solidFill>
                <a:srgbClr val="F1EAF7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14" name="Path 14"/>
              <p:cNvSpPr/>
              <p:nvPr/>
            </p:nvSpPr>
            <p:spPr>
              <a:xfrm>
                <a:off x="4953000" y="2686050"/>
                <a:ext cx="3190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2860">
                <a:gradFill rotWithShape="1">
                  <a:gsLst>
                    <a:gs pos="0">
                      <a:srgbClr val="B4BAC0"/>
                    </a:gs>
                    <a:gs pos="45000">
                      <a:srgbClr val="747C83"/>
                    </a:gs>
                    <a:gs pos="100000">
                      <a:srgbClr val="343B41"/>
                    </a:gs>
                  </a:gsLst>
                  <a:lin ang="0" scaled="1"/>
                </a:gradFill>
                <a:prstDash val="solid"/>
                <a:tailEnd type="non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5" name="Path 15"/>
              <p:cNvSpPr/>
              <p:nvPr/>
            </p:nvSpPr>
            <p:spPr>
              <a:xfrm>
                <a:off x="4953000" y="1400175"/>
                <a:ext cx="9525" cy="12858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24485E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6" name="Path 16"/>
              <p:cNvSpPr/>
              <p:nvPr/>
            </p:nvSpPr>
            <p:spPr>
              <a:xfrm>
                <a:off x="4953000" y="1723762"/>
                <a:ext cx="3190875" cy="75982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8453"/>
                    </a:moveTo>
                    <a:lnTo>
                      <a:pt x="450" y="18002"/>
                    </a:lnTo>
                    <a:lnTo>
                      <a:pt x="900" y="21319"/>
                    </a:lnTo>
                    <a:lnTo>
                      <a:pt x="1350" y="18466"/>
                    </a:lnTo>
                    <a:lnTo>
                      <a:pt x="1800" y="17767"/>
                    </a:lnTo>
                    <a:lnTo>
                      <a:pt x="2250" y="21492"/>
                    </a:lnTo>
                    <a:lnTo>
                      <a:pt x="2700" y="18560"/>
                    </a:lnTo>
                    <a:lnTo>
                      <a:pt x="3150" y="17524"/>
                    </a:lnTo>
                    <a:lnTo>
                      <a:pt x="3600" y="21589"/>
                    </a:lnTo>
                    <a:lnTo>
                      <a:pt x="4050" y="18722"/>
                    </a:lnTo>
                    <a:lnTo>
                      <a:pt x="4500" y="17304"/>
                    </a:lnTo>
                    <a:lnTo>
                      <a:pt x="4950" y="21600"/>
                    </a:lnTo>
                    <a:lnTo>
                      <a:pt x="5400" y="18930"/>
                    </a:lnTo>
                    <a:lnTo>
                      <a:pt x="5850" y="17132"/>
                    </a:lnTo>
                    <a:lnTo>
                      <a:pt x="6300" y="21526"/>
                    </a:lnTo>
                    <a:lnTo>
                      <a:pt x="6750" y="19158"/>
                    </a:lnTo>
                    <a:lnTo>
                      <a:pt x="7200" y="17030"/>
                    </a:lnTo>
                    <a:lnTo>
                      <a:pt x="7650" y="21377"/>
                    </a:lnTo>
                    <a:lnTo>
                      <a:pt x="8100" y="19378"/>
                    </a:lnTo>
                    <a:lnTo>
                      <a:pt x="8550" y="17009"/>
                    </a:lnTo>
                    <a:lnTo>
                      <a:pt x="9000" y="21170"/>
                    </a:lnTo>
                    <a:lnTo>
                      <a:pt x="9450" y="19562"/>
                    </a:lnTo>
                    <a:lnTo>
                      <a:pt x="9900" y="17074"/>
                    </a:lnTo>
                    <a:lnTo>
                      <a:pt x="10350" y="20929"/>
                    </a:lnTo>
                    <a:lnTo>
                      <a:pt x="10800" y="10914"/>
                    </a:lnTo>
                    <a:lnTo>
                      <a:pt x="11250" y="0"/>
                    </a:lnTo>
                    <a:lnTo>
                      <a:pt x="11700" y="3462"/>
                    </a:lnTo>
                    <a:lnTo>
                      <a:pt x="12150" y="2514"/>
                    </a:lnTo>
                    <a:lnTo>
                      <a:pt x="12600" y="214"/>
                    </a:lnTo>
                    <a:lnTo>
                      <a:pt x="13050" y="3238"/>
                    </a:lnTo>
                    <a:lnTo>
                      <a:pt x="13500" y="2477"/>
                    </a:lnTo>
                    <a:lnTo>
                      <a:pt x="13950" y="473"/>
                    </a:lnTo>
                    <a:lnTo>
                      <a:pt x="14400" y="3063"/>
                    </a:lnTo>
                    <a:lnTo>
                      <a:pt x="14850" y="2356"/>
                    </a:lnTo>
                    <a:lnTo>
                      <a:pt x="15300" y="751"/>
                    </a:lnTo>
                    <a:lnTo>
                      <a:pt x="15750" y="2958"/>
                    </a:lnTo>
                    <a:lnTo>
                      <a:pt x="16200" y="2161"/>
                    </a:lnTo>
                    <a:lnTo>
                      <a:pt x="16650" y="1020"/>
                    </a:lnTo>
                    <a:lnTo>
                      <a:pt x="17100" y="2934"/>
                    </a:lnTo>
                    <a:lnTo>
                      <a:pt x="17550" y="1909"/>
                    </a:lnTo>
                    <a:lnTo>
                      <a:pt x="18000" y="1251"/>
                    </a:lnTo>
                    <a:lnTo>
                      <a:pt x="18450" y="2995"/>
                    </a:lnTo>
                    <a:lnTo>
                      <a:pt x="18900" y="1627"/>
                    </a:lnTo>
                    <a:lnTo>
                      <a:pt x="19350" y="1422"/>
                    </a:lnTo>
                    <a:lnTo>
                      <a:pt x="19800" y="3136"/>
                    </a:lnTo>
                    <a:lnTo>
                      <a:pt x="20250" y="1341"/>
                    </a:lnTo>
                    <a:lnTo>
                      <a:pt x="20700" y="1517"/>
                    </a:lnTo>
                    <a:lnTo>
                      <a:pt x="21150" y="3342"/>
                    </a:lnTo>
                    <a:lnTo>
                      <a:pt x="21600" y="1079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7" name="Path 17"/>
              <p:cNvSpPr/>
              <p:nvPr/>
            </p:nvSpPr>
            <p:spPr>
              <a:xfrm>
                <a:off x="6481961" y="1400175"/>
                <a:ext cx="9525" cy="12858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705795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8" name="Path 18"/>
              <p:cNvSpPr/>
              <p:nvPr/>
            </p:nvSpPr>
            <p:spPr>
              <a:xfrm>
                <a:off x="6681391" y="1400175"/>
                <a:ext cx="9525" cy="12858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705795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9" name="Path 19"/>
              <p:cNvSpPr/>
              <p:nvPr/>
            </p:nvSpPr>
            <p:spPr>
              <a:xfrm>
                <a:off x="4953000" y="4857750"/>
                <a:ext cx="3190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2860">
                <a:gradFill rotWithShape="1">
                  <a:gsLst>
                    <a:gs pos="0">
                      <a:srgbClr val="B4BAC0"/>
                    </a:gs>
                    <a:gs pos="45000">
                      <a:srgbClr val="747C83"/>
                    </a:gs>
                    <a:gs pos="100000">
                      <a:srgbClr val="343B41"/>
                    </a:gs>
                  </a:gsLst>
                  <a:lin ang="0" scaled="1"/>
                </a:gradFill>
                <a:prstDash val="solid"/>
                <a:tailEnd type="non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20" name="Path 20"/>
              <p:cNvSpPr/>
              <p:nvPr/>
            </p:nvSpPr>
            <p:spPr>
              <a:xfrm>
                <a:off x="4953000" y="3571875"/>
                <a:ext cx="9525" cy="12858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24485E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1" name="Path 21"/>
              <p:cNvSpPr/>
              <p:nvPr/>
            </p:nvSpPr>
            <p:spPr>
              <a:xfrm>
                <a:off x="4953000" y="3895462"/>
                <a:ext cx="3190875" cy="75982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8453"/>
                    </a:moveTo>
                    <a:lnTo>
                      <a:pt x="450" y="18002"/>
                    </a:lnTo>
                    <a:lnTo>
                      <a:pt x="900" y="21319"/>
                    </a:lnTo>
                    <a:lnTo>
                      <a:pt x="1350" y="18466"/>
                    </a:lnTo>
                    <a:lnTo>
                      <a:pt x="1800" y="17767"/>
                    </a:lnTo>
                    <a:lnTo>
                      <a:pt x="2250" y="21492"/>
                    </a:lnTo>
                    <a:lnTo>
                      <a:pt x="2700" y="18560"/>
                    </a:lnTo>
                    <a:lnTo>
                      <a:pt x="3150" y="17524"/>
                    </a:lnTo>
                    <a:lnTo>
                      <a:pt x="3600" y="21589"/>
                    </a:lnTo>
                    <a:lnTo>
                      <a:pt x="4050" y="18722"/>
                    </a:lnTo>
                    <a:lnTo>
                      <a:pt x="4500" y="17304"/>
                    </a:lnTo>
                    <a:lnTo>
                      <a:pt x="4950" y="21600"/>
                    </a:lnTo>
                    <a:lnTo>
                      <a:pt x="5400" y="18930"/>
                    </a:lnTo>
                    <a:lnTo>
                      <a:pt x="5850" y="17132"/>
                    </a:lnTo>
                    <a:lnTo>
                      <a:pt x="6300" y="21526"/>
                    </a:lnTo>
                    <a:lnTo>
                      <a:pt x="6750" y="19158"/>
                    </a:lnTo>
                    <a:lnTo>
                      <a:pt x="7200" y="17030"/>
                    </a:lnTo>
                    <a:lnTo>
                      <a:pt x="7650" y="21377"/>
                    </a:lnTo>
                    <a:lnTo>
                      <a:pt x="8100" y="19378"/>
                    </a:lnTo>
                    <a:lnTo>
                      <a:pt x="8550" y="17009"/>
                    </a:lnTo>
                    <a:lnTo>
                      <a:pt x="9000" y="21170"/>
                    </a:lnTo>
                    <a:lnTo>
                      <a:pt x="9450" y="19562"/>
                    </a:lnTo>
                    <a:lnTo>
                      <a:pt x="9900" y="17074"/>
                    </a:lnTo>
                    <a:lnTo>
                      <a:pt x="10350" y="20929"/>
                    </a:lnTo>
                    <a:lnTo>
                      <a:pt x="10800" y="10914"/>
                    </a:lnTo>
                    <a:lnTo>
                      <a:pt x="11250" y="0"/>
                    </a:lnTo>
                    <a:lnTo>
                      <a:pt x="11700" y="3462"/>
                    </a:lnTo>
                    <a:lnTo>
                      <a:pt x="12150" y="2514"/>
                    </a:lnTo>
                    <a:lnTo>
                      <a:pt x="12600" y="214"/>
                    </a:lnTo>
                    <a:lnTo>
                      <a:pt x="13050" y="3238"/>
                    </a:lnTo>
                    <a:lnTo>
                      <a:pt x="13500" y="2477"/>
                    </a:lnTo>
                    <a:lnTo>
                      <a:pt x="13950" y="473"/>
                    </a:lnTo>
                    <a:lnTo>
                      <a:pt x="14400" y="3063"/>
                    </a:lnTo>
                    <a:lnTo>
                      <a:pt x="14850" y="2356"/>
                    </a:lnTo>
                    <a:lnTo>
                      <a:pt x="15300" y="751"/>
                    </a:lnTo>
                    <a:lnTo>
                      <a:pt x="15750" y="2958"/>
                    </a:lnTo>
                    <a:lnTo>
                      <a:pt x="16200" y="2161"/>
                    </a:lnTo>
                    <a:lnTo>
                      <a:pt x="16650" y="1020"/>
                    </a:lnTo>
                    <a:lnTo>
                      <a:pt x="17100" y="2934"/>
                    </a:lnTo>
                    <a:lnTo>
                      <a:pt x="17550" y="1909"/>
                    </a:lnTo>
                    <a:lnTo>
                      <a:pt x="18000" y="1251"/>
                    </a:lnTo>
                    <a:lnTo>
                      <a:pt x="18450" y="2995"/>
                    </a:lnTo>
                    <a:lnTo>
                      <a:pt x="18900" y="1627"/>
                    </a:lnTo>
                    <a:lnTo>
                      <a:pt x="19350" y="1422"/>
                    </a:lnTo>
                    <a:lnTo>
                      <a:pt x="19800" y="3136"/>
                    </a:lnTo>
                    <a:lnTo>
                      <a:pt x="20250" y="1341"/>
                    </a:lnTo>
                    <a:lnTo>
                      <a:pt x="20700" y="1517"/>
                    </a:lnTo>
                    <a:lnTo>
                      <a:pt x="21150" y="3342"/>
                    </a:lnTo>
                    <a:lnTo>
                      <a:pt x="21600" y="1079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tailEnd type="none"/>
                <a:prstDash val="dash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22" name="Path 22"/>
              <p:cNvSpPr/>
              <p:nvPr/>
            </p:nvSpPr>
            <p:spPr>
              <a:xfrm>
                <a:off x="4953000" y="3958190"/>
                <a:ext cx="3190875" cy="63022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068"/>
                    </a:moveTo>
                    <a:lnTo>
                      <a:pt x="450" y="20829"/>
                    </a:lnTo>
                    <a:lnTo>
                      <a:pt x="900" y="20518"/>
                    </a:lnTo>
                    <a:lnTo>
                      <a:pt x="1350" y="21250"/>
                    </a:lnTo>
                    <a:lnTo>
                      <a:pt x="1800" y="21385"/>
                    </a:lnTo>
                    <a:lnTo>
                      <a:pt x="2250" y="20470"/>
                    </a:lnTo>
                    <a:lnTo>
                      <a:pt x="2700" y="21223"/>
                    </a:lnTo>
                    <a:lnTo>
                      <a:pt x="3150" y="21453"/>
                    </a:lnTo>
                    <a:lnTo>
                      <a:pt x="3600" y="20443"/>
                    </a:lnTo>
                    <a:lnTo>
                      <a:pt x="4050" y="21176"/>
                    </a:lnTo>
                    <a:lnTo>
                      <a:pt x="4500" y="21515"/>
                    </a:lnTo>
                    <a:lnTo>
                      <a:pt x="4950" y="20441"/>
                    </a:lnTo>
                    <a:lnTo>
                      <a:pt x="5400" y="21117"/>
                    </a:lnTo>
                    <a:lnTo>
                      <a:pt x="5850" y="21564"/>
                    </a:lnTo>
                    <a:lnTo>
                      <a:pt x="6300" y="20462"/>
                    </a:lnTo>
                    <a:lnTo>
                      <a:pt x="6750" y="21052"/>
                    </a:lnTo>
                    <a:lnTo>
                      <a:pt x="7200" y="21593"/>
                    </a:lnTo>
                    <a:lnTo>
                      <a:pt x="7650" y="20504"/>
                    </a:lnTo>
                    <a:lnTo>
                      <a:pt x="8100" y="20989"/>
                    </a:lnTo>
                    <a:lnTo>
                      <a:pt x="8550" y="21600"/>
                    </a:lnTo>
                    <a:lnTo>
                      <a:pt x="9000" y="20563"/>
                    </a:lnTo>
                    <a:lnTo>
                      <a:pt x="9450" y="20937"/>
                    </a:lnTo>
                    <a:lnTo>
                      <a:pt x="9900" y="19467"/>
                    </a:lnTo>
                    <a:lnTo>
                      <a:pt x="10350" y="14362"/>
                    </a:lnTo>
                    <a:lnTo>
                      <a:pt x="10800" y="10480"/>
                    </a:lnTo>
                    <a:lnTo>
                      <a:pt x="11250" y="6969"/>
                    </a:lnTo>
                    <a:lnTo>
                      <a:pt x="11700" y="1974"/>
                    </a:lnTo>
                    <a:lnTo>
                      <a:pt x="12150" y="123"/>
                    </a:lnTo>
                    <a:lnTo>
                      <a:pt x="12600" y="721"/>
                    </a:lnTo>
                    <a:lnTo>
                      <a:pt x="13050" y="0"/>
                    </a:lnTo>
                    <a:lnTo>
                      <a:pt x="13500" y="132"/>
                    </a:lnTo>
                    <a:lnTo>
                      <a:pt x="13950" y="649"/>
                    </a:lnTo>
                    <a:lnTo>
                      <a:pt x="14400" y="49"/>
                    </a:lnTo>
                    <a:lnTo>
                      <a:pt x="14850" y="165"/>
                    </a:lnTo>
                    <a:lnTo>
                      <a:pt x="15300" y="572"/>
                    </a:lnTo>
                    <a:lnTo>
                      <a:pt x="15750" y="79"/>
                    </a:lnTo>
                    <a:lnTo>
                      <a:pt x="16200" y="219"/>
                    </a:lnTo>
                    <a:lnTo>
                      <a:pt x="16650" y="498"/>
                    </a:lnTo>
                    <a:lnTo>
                      <a:pt x="17100" y="86"/>
                    </a:lnTo>
                    <a:lnTo>
                      <a:pt x="17550" y="288"/>
                    </a:lnTo>
                    <a:lnTo>
                      <a:pt x="18000" y="434"/>
                    </a:lnTo>
                    <a:lnTo>
                      <a:pt x="18450" y="70"/>
                    </a:lnTo>
                    <a:lnTo>
                      <a:pt x="18900" y="365"/>
                    </a:lnTo>
                    <a:lnTo>
                      <a:pt x="19350" y="387"/>
                    </a:lnTo>
                    <a:lnTo>
                      <a:pt x="19800" y="30"/>
                    </a:lnTo>
                    <a:lnTo>
                      <a:pt x="20250" y="444"/>
                    </a:lnTo>
                    <a:lnTo>
                      <a:pt x="20700" y="361"/>
                    </a:lnTo>
                    <a:lnTo>
                      <a:pt x="21150" y="44"/>
                    </a:lnTo>
                    <a:lnTo>
                      <a:pt x="21600" y="237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23" name="Path 23"/>
              <p:cNvSpPr/>
              <p:nvPr/>
            </p:nvSpPr>
            <p:spPr>
              <a:xfrm>
                <a:off x="6481961" y="3571875"/>
                <a:ext cx="9525" cy="12858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705795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4" name="Path 24"/>
              <p:cNvSpPr/>
              <p:nvPr/>
            </p:nvSpPr>
            <p:spPr>
              <a:xfrm>
                <a:off x="6681391" y="3571875"/>
                <a:ext cx="9525" cy="12858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705795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5" name="Path 25"/>
              <p:cNvSpPr/>
              <p:nvPr/>
            </p:nvSpPr>
            <p:spPr>
              <a:xfrm>
                <a:off x="8334375" y="2038350"/>
                <a:ext cx="228600" cy="21812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</a:path>
                </a:pathLst>
              </a:custGeom>
              <a:noFill/>
              <a:ln w="13970">
                <a:solidFill>
                  <a:srgbClr val="348A71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6" name="Path 26"/>
              <p:cNvSpPr/>
              <p:nvPr/>
            </p:nvSpPr>
            <p:spPr>
              <a:xfrm>
                <a:off x="8562975" y="2905125"/>
                <a:ext cx="342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5240">
                <a:solidFill>
                  <a:srgbClr val="348A71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61" name="tool-wrench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676775" y="210179"/>
                <a:ext cx="438150" cy="446417"/>
              </a:xfrm>
              <a:prstGeom prst="rect">
                <a:avLst/>
              </a:prstGeom>
            </p:spPr>
          </p:pic>
          <p:sp>
            <p:nvSpPr>
              <p:cNvPr id="72" name="TextBox 72"/>
              <p:cNvSpPr txBox="1"/>
              <p:nvPr/>
            </p:nvSpPr>
            <p:spPr>
              <a:xfrm>
                <a:off x="5257800" y="228600"/>
                <a:ext cx="3238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00" b="1">
                    <a:solidFill>
                      <a:srgbClr val="705795"/>
                    </a:solidFill>
                    <a:latin typeface="Comic Sans MS"/>
                    <a:ea typeface="Times New Roman"/>
                    <a:cs typeface="Times New Roman"/>
                  </a:rPr>
                  <a:t>2. Numerical tools</a:t>
                </a:r>
                <a:endParaRPr lang="zh-CN" sz="2200">
                  <a:latin typeface="Comic Sans MS"/>
                </a:endParaRP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4933950" y="914400"/>
                <a:ext cx="2667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36">
                    <a:solidFill>
                      <a:srgbClr val="705795"/>
                    </a:solidFill>
                    <a:latin typeface="Comic Sans MS"/>
                    <a:ea typeface="Times New Roman"/>
                    <a:cs typeface="Times New Roman"/>
                  </a:rPr>
                  <a:t>Change point</a:t>
                </a:r>
                <a:endParaRPr lang="zh-CN" sz="1936">
                  <a:latin typeface="Comic Sans MS"/>
                </a:endParaRP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6148388" y="2714625"/>
                <a:ext cx="809625" cy="27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672">
                    <a:solidFill>
                      <a:srgbClr val="24485E"/>
                    </a:solidFill>
                    <a:latin typeface="Comic Sans MS"/>
                    <a:ea typeface="Times New Roman"/>
                    <a:cs typeface="Times New Roman"/>
                  </a:rPr>
                  <a:t>Time</a:t>
                </a:r>
                <a:endParaRPr lang="zh-CN" sz="1672">
                  <a:latin typeface="Comic Sans MS"/>
                </a:endParaRP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4933950" y="3114675"/>
                <a:ext cx="24765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36">
                    <a:solidFill>
                      <a:srgbClr val="705795"/>
                    </a:solidFill>
                    <a:latin typeface="Comic Sans MS"/>
                    <a:ea typeface="Times New Roman"/>
                    <a:cs typeface="Times New Roman"/>
                  </a:rPr>
                  <a:t>Trend</a:t>
                </a:r>
                <a:endParaRPr lang="zh-CN" sz="1936">
                  <a:latin typeface="Comic Sans MS"/>
                </a:endParaRP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6148388" y="4886325"/>
                <a:ext cx="809625" cy="27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672">
                    <a:solidFill>
                      <a:srgbClr val="24485E"/>
                    </a:solidFill>
                    <a:latin typeface="Comic Sans MS"/>
                    <a:ea typeface="Times New Roman"/>
                    <a:cs typeface="Times New Roman"/>
                  </a:rPr>
                  <a:t>Time</a:t>
                </a:r>
                <a:endParaRPr lang="zh-CN" sz="1672">
                  <a:latin typeface="Comic Sans MS"/>
                </a:endParaRPr>
              </a:p>
            </p:txBody>
          </p:sp>
        </p:grpSp>
        <p:grpSp>
          <p:nvGrpSpPr>
            <p:cNvPr id="98" name="Evidence review"/>
            <p:cNvGrpSpPr/>
            <p:nvPr/>
          </p:nvGrpSpPr>
          <p:grpSpPr>
            <a:xfrm>
              <a:off x="8953500" y="228600"/>
              <a:ext cx="4305300" cy="4695825"/>
              <a:chOff x="8953500" y="228600"/>
              <a:chExt cx="4305300" cy="4695825"/>
            </a:xfrm>
          </p:grpSpPr>
          <p:sp>
            <p:nvSpPr>
              <p:cNvPr id="4" name="Rect 4"/>
              <p:cNvSpPr/>
              <p:nvPr/>
            </p:nvSpPr>
            <p:spPr>
              <a:xfrm>
                <a:off x="9696450" y="1838325"/>
                <a:ext cx="2038350" cy="161925"/>
              </a:xfrm>
              <a:prstGeom prst="rect">
                <a:avLst/>
              </a:prstGeom>
              <a:solidFill>
                <a:srgbClr val="F1EAF7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5" name="Rect 5"/>
              <p:cNvSpPr/>
              <p:nvPr/>
            </p:nvSpPr>
            <p:spPr>
              <a:xfrm>
                <a:off x="9824641" y="2800350"/>
                <a:ext cx="101203" cy="809625"/>
              </a:xfrm>
              <a:prstGeom prst="rect">
                <a:avLst/>
              </a:prstGeom>
              <a:solidFill>
                <a:srgbClr val="F1EAF7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6" name="Rect 6"/>
              <p:cNvSpPr/>
              <p:nvPr/>
            </p:nvSpPr>
            <p:spPr>
              <a:xfrm>
                <a:off x="9824641" y="4105275"/>
                <a:ext cx="101203" cy="809625"/>
              </a:xfrm>
              <a:prstGeom prst="rect">
                <a:avLst/>
              </a:prstGeom>
              <a:solidFill>
                <a:srgbClr val="F1EAF7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27" name="Path 27"/>
              <p:cNvSpPr/>
              <p:nvPr/>
            </p:nvSpPr>
            <p:spPr>
              <a:xfrm>
                <a:off x="9696450" y="1743075"/>
                <a:ext cx="9525" cy="3524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705795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8" name="Path 28"/>
              <p:cNvSpPr/>
              <p:nvPr/>
            </p:nvSpPr>
            <p:spPr>
              <a:xfrm>
                <a:off x="11734800" y="1743075"/>
                <a:ext cx="9525" cy="3524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705795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9" name="Path 29"/>
              <p:cNvSpPr/>
              <p:nvPr/>
            </p:nvSpPr>
            <p:spPr>
              <a:xfrm>
                <a:off x="8982075" y="2562225"/>
                <a:ext cx="3667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8890">
                <a:solidFill>
                  <a:srgbClr val="D0DEE6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0" name="Path 30"/>
              <p:cNvSpPr/>
              <p:nvPr/>
            </p:nvSpPr>
            <p:spPr>
              <a:xfrm>
                <a:off x="9048750" y="3609975"/>
                <a:ext cx="1619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2860">
                <a:gradFill rotWithShape="1">
                  <a:gsLst>
                    <a:gs pos="0">
                      <a:srgbClr val="B4BAC0"/>
                    </a:gs>
                    <a:gs pos="45000">
                      <a:srgbClr val="747C83"/>
                    </a:gs>
                    <a:gs pos="100000">
                      <a:srgbClr val="343B41"/>
                    </a:gs>
                  </a:gsLst>
                  <a:lin ang="0" scaled="1"/>
                </a:gradFill>
                <a:prstDash val="solid"/>
                <a:tailEnd type="non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31" name="Path 31"/>
              <p:cNvSpPr/>
              <p:nvPr/>
            </p:nvSpPr>
            <p:spPr>
              <a:xfrm>
                <a:off x="9048750" y="2800350"/>
                <a:ext cx="952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24485E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2" name="Path 32"/>
              <p:cNvSpPr/>
              <p:nvPr/>
            </p:nvSpPr>
            <p:spPr>
              <a:xfrm>
                <a:off x="9048750" y="3024828"/>
                <a:ext cx="1619250" cy="44322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8453"/>
                    </a:moveTo>
                    <a:lnTo>
                      <a:pt x="450" y="18002"/>
                    </a:lnTo>
                    <a:lnTo>
                      <a:pt x="900" y="21319"/>
                    </a:lnTo>
                    <a:lnTo>
                      <a:pt x="1350" y="18466"/>
                    </a:lnTo>
                    <a:lnTo>
                      <a:pt x="1800" y="17767"/>
                    </a:lnTo>
                    <a:lnTo>
                      <a:pt x="2250" y="21492"/>
                    </a:lnTo>
                    <a:lnTo>
                      <a:pt x="2700" y="18560"/>
                    </a:lnTo>
                    <a:lnTo>
                      <a:pt x="3150" y="17524"/>
                    </a:lnTo>
                    <a:lnTo>
                      <a:pt x="3600" y="21589"/>
                    </a:lnTo>
                    <a:lnTo>
                      <a:pt x="4050" y="18722"/>
                    </a:lnTo>
                    <a:lnTo>
                      <a:pt x="4500" y="17304"/>
                    </a:lnTo>
                    <a:lnTo>
                      <a:pt x="4950" y="21600"/>
                    </a:lnTo>
                    <a:lnTo>
                      <a:pt x="5400" y="18930"/>
                    </a:lnTo>
                    <a:lnTo>
                      <a:pt x="5850" y="17132"/>
                    </a:lnTo>
                    <a:lnTo>
                      <a:pt x="6300" y="21526"/>
                    </a:lnTo>
                    <a:lnTo>
                      <a:pt x="6750" y="19158"/>
                    </a:lnTo>
                    <a:lnTo>
                      <a:pt x="7200" y="17030"/>
                    </a:lnTo>
                    <a:lnTo>
                      <a:pt x="7650" y="21377"/>
                    </a:lnTo>
                    <a:lnTo>
                      <a:pt x="8100" y="19378"/>
                    </a:lnTo>
                    <a:lnTo>
                      <a:pt x="8550" y="17009"/>
                    </a:lnTo>
                    <a:lnTo>
                      <a:pt x="9000" y="21170"/>
                    </a:lnTo>
                    <a:lnTo>
                      <a:pt x="9450" y="19562"/>
                    </a:lnTo>
                    <a:lnTo>
                      <a:pt x="9900" y="17074"/>
                    </a:lnTo>
                    <a:lnTo>
                      <a:pt x="10350" y="20929"/>
                    </a:lnTo>
                    <a:lnTo>
                      <a:pt x="10800" y="10914"/>
                    </a:lnTo>
                    <a:lnTo>
                      <a:pt x="11250" y="0"/>
                    </a:lnTo>
                    <a:lnTo>
                      <a:pt x="11700" y="3462"/>
                    </a:lnTo>
                    <a:lnTo>
                      <a:pt x="12150" y="2514"/>
                    </a:lnTo>
                    <a:lnTo>
                      <a:pt x="12600" y="214"/>
                    </a:lnTo>
                    <a:lnTo>
                      <a:pt x="13050" y="3238"/>
                    </a:lnTo>
                    <a:lnTo>
                      <a:pt x="13500" y="2477"/>
                    </a:lnTo>
                    <a:lnTo>
                      <a:pt x="13950" y="473"/>
                    </a:lnTo>
                    <a:lnTo>
                      <a:pt x="14400" y="3063"/>
                    </a:lnTo>
                    <a:lnTo>
                      <a:pt x="14850" y="2356"/>
                    </a:lnTo>
                    <a:lnTo>
                      <a:pt x="15300" y="751"/>
                    </a:lnTo>
                    <a:lnTo>
                      <a:pt x="15750" y="2958"/>
                    </a:lnTo>
                    <a:lnTo>
                      <a:pt x="16200" y="2161"/>
                    </a:lnTo>
                    <a:lnTo>
                      <a:pt x="16650" y="1020"/>
                    </a:lnTo>
                    <a:lnTo>
                      <a:pt x="17100" y="2934"/>
                    </a:lnTo>
                    <a:lnTo>
                      <a:pt x="17550" y="1909"/>
                    </a:lnTo>
                    <a:lnTo>
                      <a:pt x="18000" y="1251"/>
                    </a:lnTo>
                    <a:lnTo>
                      <a:pt x="18450" y="2995"/>
                    </a:lnTo>
                    <a:lnTo>
                      <a:pt x="18900" y="1627"/>
                    </a:lnTo>
                    <a:lnTo>
                      <a:pt x="19350" y="1422"/>
                    </a:lnTo>
                    <a:lnTo>
                      <a:pt x="19800" y="3136"/>
                    </a:lnTo>
                    <a:lnTo>
                      <a:pt x="20250" y="1341"/>
                    </a:lnTo>
                    <a:lnTo>
                      <a:pt x="20700" y="1517"/>
                    </a:lnTo>
                    <a:lnTo>
                      <a:pt x="21150" y="3342"/>
                    </a:lnTo>
                    <a:lnTo>
                      <a:pt x="21600" y="1079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33" name="Path 33"/>
              <p:cNvSpPr/>
              <p:nvPr/>
            </p:nvSpPr>
            <p:spPr>
              <a:xfrm>
                <a:off x="9824641" y="2800350"/>
                <a:ext cx="952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705795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4" name="Path 34"/>
              <p:cNvSpPr/>
              <p:nvPr/>
            </p:nvSpPr>
            <p:spPr>
              <a:xfrm>
                <a:off x="9925844" y="2800350"/>
                <a:ext cx="952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705795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5" name="Path 35"/>
              <p:cNvSpPr/>
              <p:nvPr/>
            </p:nvSpPr>
            <p:spPr>
              <a:xfrm>
                <a:off x="8982075" y="3867150"/>
                <a:ext cx="3667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8890">
                <a:solidFill>
                  <a:srgbClr val="D0DEE6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6" name="Path 36"/>
              <p:cNvSpPr/>
              <p:nvPr/>
            </p:nvSpPr>
            <p:spPr>
              <a:xfrm>
                <a:off x="9048750" y="4914900"/>
                <a:ext cx="1619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2860">
                <a:gradFill rotWithShape="1">
                  <a:gsLst>
                    <a:gs pos="0">
                      <a:srgbClr val="B4BAC0"/>
                    </a:gs>
                    <a:gs pos="45000">
                      <a:srgbClr val="747C83"/>
                    </a:gs>
                    <a:gs pos="100000">
                      <a:srgbClr val="343B41"/>
                    </a:gs>
                  </a:gsLst>
                  <a:lin ang="0" scaled="1"/>
                </a:gradFill>
                <a:prstDash val="solid"/>
                <a:tailEnd type="non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37" name="Path 37"/>
              <p:cNvSpPr/>
              <p:nvPr/>
            </p:nvSpPr>
            <p:spPr>
              <a:xfrm>
                <a:off x="9048750" y="4105275"/>
                <a:ext cx="952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24485E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8" name="Path 38"/>
              <p:cNvSpPr/>
              <p:nvPr/>
            </p:nvSpPr>
            <p:spPr>
              <a:xfrm>
                <a:off x="9048750" y="4329753"/>
                <a:ext cx="1619250" cy="44322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8453"/>
                    </a:moveTo>
                    <a:lnTo>
                      <a:pt x="450" y="18002"/>
                    </a:lnTo>
                    <a:lnTo>
                      <a:pt x="900" y="21319"/>
                    </a:lnTo>
                    <a:lnTo>
                      <a:pt x="1350" y="18466"/>
                    </a:lnTo>
                    <a:lnTo>
                      <a:pt x="1800" y="17767"/>
                    </a:lnTo>
                    <a:lnTo>
                      <a:pt x="2250" y="21492"/>
                    </a:lnTo>
                    <a:lnTo>
                      <a:pt x="2700" y="18560"/>
                    </a:lnTo>
                    <a:lnTo>
                      <a:pt x="3150" y="17524"/>
                    </a:lnTo>
                    <a:lnTo>
                      <a:pt x="3600" y="21589"/>
                    </a:lnTo>
                    <a:lnTo>
                      <a:pt x="4050" y="18722"/>
                    </a:lnTo>
                    <a:lnTo>
                      <a:pt x="4500" y="17304"/>
                    </a:lnTo>
                    <a:lnTo>
                      <a:pt x="4950" y="21600"/>
                    </a:lnTo>
                    <a:lnTo>
                      <a:pt x="5400" y="18930"/>
                    </a:lnTo>
                    <a:lnTo>
                      <a:pt x="5850" y="17132"/>
                    </a:lnTo>
                    <a:lnTo>
                      <a:pt x="6300" y="21526"/>
                    </a:lnTo>
                    <a:lnTo>
                      <a:pt x="6750" y="19158"/>
                    </a:lnTo>
                    <a:lnTo>
                      <a:pt x="7200" y="17030"/>
                    </a:lnTo>
                    <a:lnTo>
                      <a:pt x="7650" y="21377"/>
                    </a:lnTo>
                    <a:lnTo>
                      <a:pt x="8100" y="19378"/>
                    </a:lnTo>
                    <a:lnTo>
                      <a:pt x="8550" y="17009"/>
                    </a:lnTo>
                    <a:lnTo>
                      <a:pt x="9000" y="21170"/>
                    </a:lnTo>
                    <a:lnTo>
                      <a:pt x="9450" y="19562"/>
                    </a:lnTo>
                    <a:lnTo>
                      <a:pt x="9900" y="17074"/>
                    </a:lnTo>
                    <a:lnTo>
                      <a:pt x="10350" y="20929"/>
                    </a:lnTo>
                    <a:lnTo>
                      <a:pt x="10800" y="10914"/>
                    </a:lnTo>
                    <a:lnTo>
                      <a:pt x="11250" y="0"/>
                    </a:lnTo>
                    <a:lnTo>
                      <a:pt x="11700" y="3462"/>
                    </a:lnTo>
                    <a:lnTo>
                      <a:pt x="12150" y="2514"/>
                    </a:lnTo>
                    <a:lnTo>
                      <a:pt x="12600" y="214"/>
                    </a:lnTo>
                    <a:lnTo>
                      <a:pt x="13050" y="3238"/>
                    </a:lnTo>
                    <a:lnTo>
                      <a:pt x="13500" y="2477"/>
                    </a:lnTo>
                    <a:lnTo>
                      <a:pt x="13950" y="473"/>
                    </a:lnTo>
                    <a:lnTo>
                      <a:pt x="14400" y="3063"/>
                    </a:lnTo>
                    <a:lnTo>
                      <a:pt x="14850" y="2356"/>
                    </a:lnTo>
                    <a:lnTo>
                      <a:pt x="15300" y="751"/>
                    </a:lnTo>
                    <a:lnTo>
                      <a:pt x="15750" y="2958"/>
                    </a:lnTo>
                    <a:lnTo>
                      <a:pt x="16200" y="2161"/>
                    </a:lnTo>
                    <a:lnTo>
                      <a:pt x="16650" y="1020"/>
                    </a:lnTo>
                    <a:lnTo>
                      <a:pt x="17100" y="2934"/>
                    </a:lnTo>
                    <a:lnTo>
                      <a:pt x="17550" y="1909"/>
                    </a:lnTo>
                    <a:lnTo>
                      <a:pt x="18000" y="1251"/>
                    </a:lnTo>
                    <a:lnTo>
                      <a:pt x="18450" y="2995"/>
                    </a:lnTo>
                    <a:lnTo>
                      <a:pt x="18900" y="1627"/>
                    </a:lnTo>
                    <a:lnTo>
                      <a:pt x="19350" y="1422"/>
                    </a:lnTo>
                    <a:lnTo>
                      <a:pt x="19800" y="3136"/>
                    </a:lnTo>
                    <a:lnTo>
                      <a:pt x="20250" y="1341"/>
                    </a:lnTo>
                    <a:lnTo>
                      <a:pt x="20700" y="1517"/>
                    </a:lnTo>
                    <a:lnTo>
                      <a:pt x="21150" y="3342"/>
                    </a:lnTo>
                    <a:lnTo>
                      <a:pt x="21600" y="1079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tailEnd type="none"/>
                <a:prstDash val="dash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39" name="Path 39"/>
              <p:cNvSpPr/>
              <p:nvPr/>
            </p:nvSpPr>
            <p:spPr>
              <a:xfrm>
                <a:off x="9048750" y="4366344"/>
                <a:ext cx="1619250" cy="36763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068"/>
                    </a:moveTo>
                    <a:lnTo>
                      <a:pt x="450" y="20829"/>
                    </a:lnTo>
                    <a:lnTo>
                      <a:pt x="900" y="20518"/>
                    </a:lnTo>
                    <a:lnTo>
                      <a:pt x="1350" y="21250"/>
                    </a:lnTo>
                    <a:lnTo>
                      <a:pt x="1800" y="21385"/>
                    </a:lnTo>
                    <a:lnTo>
                      <a:pt x="2250" y="20470"/>
                    </a:lnTo>
                    <a:lnTo>
                      <a:pt x="2700" y="21223"/>
                    </a:lnTo>
                    <a:lnTo>
                      <a:pt x="3150" y="21453"/>
                    </a:lnTo>
                    <a:lnTo>
                      <a:pt x="3600" y="20443"/>
                    </a:lnTo>
                    <a:lnTo>
                      <a:pt x="4050" y="21176"/>
                    </a:lnTo>
                    <a:lnTo>
                      <a:pt x="4500" y="21515"/>
                    </a:lnTo>
                    <a:lnTo>
                      <a:pt x="4950" y="20441"/>
                    </a:lnTo>
                    <a:lnTo>
                      <a:pt x="5400" y="21117"/>
                    </a:lnTo>
                    <a:lnTo>
                      <a:pt x="5850" y="21564"/>
                    </a:lnTo>
                    <a:lnTo>
                      <a:pt x="6300" y="20462"/>
                    </a:lnTo>
                    <a:lnTo>
                      <a:pt x="6750" y="21052"/>
                    </a:lnTo>
                    <a:lnTo>
                      <a:pt x="7200" y="21593"/>
                    </a:lnTo>
                    <a:lnTo>
                      <a:pt x="7650" y="20504"/>
                    </a:lnTo>
                    <a:lnTo>
                      <a:pt x="8100" y="20989"/>
                    </a:lnTo>
                    <a:lnTo>
                      <a:pt x="8550" y="21600"/>
                    </a:lnTo>
                    <a:lnTo>
                      <a:pt x="9000" y="20563"/>
                    </a:lnTo>
                    <a:lnTo>
                      <a:pt x="9450" y="20937"/>
                    </a:lnTo>
                    <a:lnTo>
                      <a:pt x="9900" y="19467"/>
                    </a:lnTo>
                    <a:lnTo>
                      <a:pt x="10350" y="14362"/>
                    </a:lnTo>
                    <a:lnTo>
                      <a:pt x="10800" y="10480"/>
                    </a:lnTo>
                    <a:lnTo>
                      <a:pt x="11250" y="6969"/>
                    </a:lnTo>
                    <a:lnTo>
                      <a:pt x="11700" y="1974"/>
                    </a:lnTo>
                    <a:lnTo>
                      <a:pt x="12150" y="123"/>
                    </a:lnTo>
                    <a:lnTo>
                      <a:pt x="12600" y="721"/>
                    </a:lnTo>
                    <a:lnTo>
                      <a:pt x="13050" y="0"/>
                    </a:lnTo>
                    <a:lnTo>
                      <a:pt x="13500" y="132"/>
                    </a:lnTo>
                    <a:lnTo>
                      <a:pt x="13950" y="649"/>
                    </a:lnTo>
                    <a:lnTo>
                      <a:pt x="14400" y="49"/>
                    </a:lnTo>
                    <a:lnTo>
                      <a:pt x="14850" y="165"/>
                    </a:lnTo>
                    <a:lnTo>
                      <a:pt x="15300" y="572"/>
                    </a:lnTo>
                    <a:lnTo>
                      <a:pt x="15750" y="79"/>
                    </a:lnTo>
                    <a:lnTo>
                      <a:pt x="16200" y="219"/>
                    </a:lnTo>
                    <a:lnTo>
                      <a:pt x="16650" y="498"/>
                    </a:lnTo>
                    <a:lnTo>
                      <a:pt x="17100" y="86"/>
                    </a:lnTo>
                    <a:lnTo>
                      <a:pt x="17550" y="288"/>
                    </a:lnTo>
                    <a:lnTo>
                      <a:pt x="18000" y="434"/>
                    </a:lnTo>
                    <a:lnTo>
                      <a:pt x="18450" y="70"/>
                    </a:lnTo>
                    <a:lnTo>
                      <a:pt x="18900" y="365"/>
                    </a:lnTo>
                    <a:lnTo>
                      <a:pt x="19350" y="387"/>
                    </a:lnTo>
                    <a:lnTo>
                      <a:pt x="19800" y="30"/>
                    </a:lnTo>
                    <a:lnTo>
                      <a:pt x="20250" y="444"/>
                    </a:lnTo>
                    <a:lnTo>
                      <a:pt x="20700" y="361"/>
                    </a:lnTo>
                    <a:lnTo>
                      <a:pt x="21150" y="44"/>
                    </a:lnTo>
                    <a:lnTo>
                      <a:pt x="21600" y="237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40" name="Path 40"/>
              <p:cNvSpPr/>
              <p:nvPr/>
            </p:nvSpPr>
            <p:spPr>
              <a:xfrm>
                <a:off x="9824641" y="4105275"/>
                <a:ext cx="952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705795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41" name="Path 41"/>
              <p:cNvSpPr/>
              <p:nvPr/>
            </p:nvSpPr>
            <p:spPr>
              <a:xfrm>
                <a:off x="9925844" y="4105275"/>
                <a:ext cx="952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705795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42" name="Path 42"/>
              <p:cNvSpPr/>
              <p:nvPr/>
            </p:nvSpPr>
            <p:spPr>
              <a:xfrm>
                <a:off x="12811125" y="2905125"/>
                <a:ext cx="447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0320">
                <a:solidFill>
                  <a:srgbClr val="317DA4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62" name="review-magnifier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53500" y="228600"/>
                <a:ext cx="409575" cy="409575"/>
              </a:xfrm>
              <a:prstGeom prst="rect">
                <a:avLst/>
              </a:prstGeom>
            </p:spPr>
          </p:pic>
          <p:sp>
            <p:nvSpPr>
              <p:cNvPr id="73" name="TextBox 73"/>
              <p:cNvSpPr txBox="1"/>
              <p:nvPr/>
            </p:nvSpPr>
            <p:spPr>
              <a:xfrm>
                <a:off x="9477375" y="228600"/>
                <a:ext cx="314325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00" b="1">
                    <a:solidFill>
                      <a:srgbClr val="348A71"/>
                    </a:solidFill>
                    <a:latin typeface="Comic Sans MS"/>
                    <a:ea typeface="Times New Roman"/>
                    <a:cs typeface="Times New Roman"/>
                  </a:rPr>
                  <a:t>3. Evidence review</a:t>
                </a:r>
                <a:endParaRPr lang="zh-CN" sz="2200">
                  <a:latin typeface="Comic Sans MS"/>
                </a:endParaRP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9048750" y="981075"/>
                <a:ext cx="3429000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024" b="1">
                    <a:solidFill>
                      <a:srgbClr val="348A71"/>
                    </a:solidFill>
                    <a:latin typeface="Comic Sans MS"/>
                    <a:ea typeface="Times New Roman"/>
                    <a:cs typeface="Times New Roman"/>
                  </a:rPr>
                  <a:t>Intent: locate change</a:t>
                </a:r>
                <a:endParaRPr lang="zh-CN" sz="2024">
                  <a:latin typeface="Comic Sans MS"/>
                </a:endParaRP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9048750" y="1371600"/>
                <a:ext cx="323850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848">
                    <a:solidFill>
                      <a:srgbClr val="24485E"/>
                    </a:solidFill>
                    <a:latin typeface="Comic Sans MS"/>
                    <a:ea typeface="Times New Roman"/>
                    <a:cs typeface="Times New Roman"/>
                  </a:rPr>
                  <a:t>Required evidence</a:t>
                </a:r>
                <a:endParaRPr lang="zh-CN" sz="1848">
                  <a:latin typeface="Comic Sans MS"/>
                </a:endParaRP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9239250" y="2105025"/>
                <a:ext cx="29527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48">
                    <a:solidFill>
                      <a:srgbClr val="24485E"/>
                    </a:solidFill>
                    <a:latin typeface="Comic Sans MS"/>
                    <a:ea typeface="Times New Roman"/>
                    <a:cs typeface="Times New Roman"/>
                  </a:rPr>
                  <a:t>supported interval</a:t>
                </a:r>
                <a:endParaRPr lang="zh-CN" sz="1848">
                  <a:latin typeface="Comic Sans MS"/>
                </a:endParaRP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10858500" y="2914650"/>
                <a:ext cx="1952625" cy="628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848" b="1">
                    <a:solidFill>
                      <a:srgbClr val="348A71"/>
                    </a:solidFill>
                    <a:latin typeface="Comic Sans MS"/>
                    <a:ea typeface="Times New Roman"/>
                    <a:cs typeface="Times New Roman"/>
                  </a:rPr>
                  <a:t>Observed interval</a:t>
                </a:r>
                <a:endParaRPr lang="zh-CN" sz="1848">
                  <a:latin typeface="Comic Sans MS"/>
                </a:endParaRP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10858500" y="4229100"/>
                <a:ext cx="1952625" cy="619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848" b="1">
                    <a:solidFill>
                      <a:srgbClr val="348A71"/>
                    </a:solidFill>
                    <a:latin typeface="Comic Sans MS"/>
                    <a:ea typeface="Times New Roman"/>
                    <a:cs typeface="Times New Roman"/>
                  </a:rPr>
                  <a:t>Trend agreement</a:t>
                </a:r>
                <a:endParaRPr lang="zh-CN" sz="1848">
                  <a:latin typeface="Comic Sans MS"/>
                </a:endParaRPr>
              </a:p>
            </p:txBody>
          </p:sp>
        </p:grpSp>
        <p:grpSp>
          <p:nvGrpSpPr>
            <p:cNvPr id="99" name="Grounded answer"/>
            <p:cNvGrpSpPr/>
            <p:nvPr/>
          </p:nvGrpSpPr>
          <p:grpSpPr>
            <a:xfrm>
              <a:off x="13373100" y="228600"/>
              <a:ext cx="3429000" cy="4295775"/>
              <a:chOff x="13373100" y="228600"/>
              <a:chExt cx="3429000" cy="4295775"/>
            </a:xfrm>
          </p:grpSpPr>
          <p:sp>
            <p:nvSpPr>
              <p:cNvPr id="7" name="Rect 7"/>
              <p:cNvSpPr/>
              <p:nvPr/>
            </p:nvSpPr>
            <p:spPr>
              <a:xfrm>
                <a:off x="15008820" y="2181225"/>
                <a:ext cx="193477" cy="2038350"/>
              </a:xfrm>
              <a:prstGeom prst="rect">
                <a:avLst/>
              </a:prstGeom>
              <a:solidFill>
                <a:srgbClr val="F1EAF7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43" name="Path 43"/>
              <p:cNvSpPr/>
              <p:nvPr/>
            </p:nvSpPr>
            <p:spPr>
              <a:xfrm>
                <a:off x="13525500" y="4219575"/>
                <a:ext cx="3095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2860">
                <a:gradFill rotWithShape="1">
                  <a:gsLst>
                    <a:gs pos="0">
                      <a:srgbClr val="B4BAC0"/>
                    </a:gs>
                    <a:gs pos="45000">
                      <a:srgbClr val="747C83"/>
                    </a:gs>
                    <a:gs pos="100000">
                      <a:srgbClr val="343B41"/>
                    </a:gs>
                  </a:gsLst>
                  <a:lin ang="0" scaled="1"/>
                </a:gradFill>
                <a:prstDash val="solid"/>
                <a:tailEnd type="non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44" name="Path 44"/>
              <p:cNvSpPr/>
              <p:nvPr/>
            </p:nvSpPr>
            <p:spPr>
              <a:xfrm>
                <a:off x="13525500" y="2181225"/>
                <a:ext cx="9525" cy="20383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24485E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45" name="Path 45"/>
              <p:cNvSpPr/>
              <p:nvPr/>
            </p:nvSpPr>
            <p:spPr>
              <a:xfrm>
                <a:off x="13525500" y="2661404"/>
                <a:ext cx="3095625" cy="1260038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8453"/>
                    </a:moveTo>
                    <a:lnTo>
                      <a:pt x="450" y="18002"/>
                    </a:lnTo>
                    <a:lnTo>
                      <a:pt x="900" y="21319"/>
                    </a:lnTo>
                    <a:lnTo>
                      <a:pt x="1350" y="18466"/>
                    </a:lnTo>
                    <a:lnTo>
                      <a:pt x="1800" y="17767"/>
                    </a:lnTo>
                    <a:lnTo>
                      <a:pt x="2250" y="21492"/>
                    </a:lnTo>
                    <a:lnTo>
                      <a:pt x="2700" y="18560"/>
                    </a:lnTo>
                    <a:lnTo>
                      <a:pt x="3150" y="17524"/>
                    </a:lnTo>
                    <a:lnTo>
                      <a:pt x="3600" y="21589"/>
                    </a:lnTo>
                    <a:lnTo>
                      <a:pt x="4050" y="18722"/>
                    </a:lnTo>
                    <a:lnTo>
                      <a:pt x="4500" y="17304"/>
                    </a:lnTo>
                    <a:lnTo>
                      <a:pt x="4950" y="21600"/>
                    </a:lnTo>
                    <a:lnTo>
                      <a:pt x="5400" y="18930"/>
                    </a:lnTo>
                    <a:lnTo>
                      <a:pt x="5850" y="17132"/>
                    </a:lnTo>
                    <a:lnTo>
                      <a:pt x="6300" y="21526"/>
                    </a:lnTo>
                    <a:lnTo>
                      <a:pt x="6750" y="19158"/>
                    </a:lnTo>
                    <a:lnTo>
                      <a:pt x="7200" y="17030"/>
                    </a:lnTo>
                    <a:lnTo>
                      <a:pt x="7650" y="21377"/>
                    </a:lnTo>
                    <a:lnTo>
                      <a:pt x="8100" y="19378"/>
                    </a:lnTo>
                    <a:lnTo>
                      <a:pt x="8550" y="17009"/>
                    </a:lnTo>
                    <a:lnTo>
                      <a:pt x="9000" y="21170"/>
                    </a:lnTo>
                    <a:lnTo>
                      <a:pt x="9450" y="19562"/>
                    </a:lnTo>
                    <a:lnTo>
                      <a:pt x="9900" y="17074"/>
                    </a:lnTo>
                    <a:lnTo>
                      <a:pt x="10350" y="20929"/>
                    </a:lnTo>
                    <a:lnTo>
                      <a:pt x="10800" y="10914"/>
                    </a:lnTo>
                    <a:lnTo>
                      <a:pt x="11250" y="0"/>
                    </a:lnTo>
                    <a:lnTo>
                      <a:pt x="11700" y="3462"/>
                    </a:lnTo>
                    <a:lnTo>
                      <a:pt x="12150" y="2514"/>
                    </a:lnTo>
                    <a:lnTo>
                      <a:pt x="12600" y="214"/>
                    </a:lnTo>
                    <a:lnTo>
                      <a:pt x="13050" y="3238"/>
                    </a:lnTo>
                    <a:lnTo>
                      <a:pt x="13500" y="2477"/>
                    </a:lnTo>
                    <a:lnTo>
                      <a:pt x="13950" y="473"/>
                    </a:lnTo>
                    <a:lnTo>
                      <a:pt x="14400" y="3063"/>
                    </a:lnTo>
                    <a:lnTo>
                      <a:pt x="14850" y="2356"/>
                    </a:lnTo>
                    <a:lnTo>
                      <a:pt x="15300" y="751"/>
                    </a:lnTo>
                    <a:lnTo>
                      <a:pt x="15750" y="2958"/>
                    </a:lnTo>
                    <a:lnTo>
                      <a:pt x="16200" y="2161"/>
                    </a:lnTo>
                    <a:lnTo>
                      <a:pt x="16650" y="1020"/>
                    </a:lnTo>
                    <a:lnTo>
                      <a:pt x="17100" y="2934"/>
                    </a:lnTo>
                    <a:lnTo>
                      <a:pt x="17550" y="1909"/>
                    </a:lnTo>
                    <a:lnTo>
                      <a:pt x="18000" y="1251"/>
                    </a:lnTo>
                    <a:lnTo>
                      <a:pt x="18450" y="2995"/>
                    </a:lnTo>
                    <a:lnTo>
                      <a:pt x="18900" y="1627"/>
                    </a:lnTo>
                    <a:lnTo>
                      <a:pt x="19350" y="1422"/>
                    </a:lnTo>
                    <a:lnTo>
                      <a:pt x="19800" y="3136"/>
                    </a:lnTo>
                    <a:lnTo>
                      <a:pt x="20250" y="1341"/>
                    </a:lnTo>
                    <a:lnTo>
                      <a:pt x="20700" y="1517"/>
                    </a:lnTo>
                    <a:lnTo>
                      <a:pt x="21150" y="3342"/>
                    </a:lnTo>
                    <a:lnTo>
                      <a:pt x="21600" y="1079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46" name="Path 46"/>
              <p:cNvSpPr/>
              <p:nvPr/>
            </p:nvSpPr>
            <p:spPr>
              <a:xfrm>
                <a:off x="15008820" y="2181225"/>
                <a:ext cx="9525" cy="20383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705795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47" name="Path 47"/>
              <p:cNvSpPr/>
              <p:nvPr/>
            </p:nvSpPr>
            <p:spPr>
              <a:xfrm>
                <a:off x="15202297" y="2181225"/>
                <a:ext cx="9525" cy="20383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705795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pic>
            <p:nvPicPr>
              <p:cNvPr id="64" name="response-bubble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492529" y="1028700"/>
                <a:ext cx="465992" cy="457200"/>
              </a:xfrm>
              <a:prstGeom prst="rect">
                <a:avLst/>
              </a:prstGeom>
            </p:spPr>
          </p:pic>
          <p:sp>
            <p:nvSpPr>
              <p:cNvPr id="74" name="TextBox 74"/>
              <p:cNvSpPr txBox="1"/>
              <p:nvPr/>
            </p:nvSpPr>
            <p:spPr>
              <a:xfrm>
                <a:off x="13373100" y="228600"/>
                <a:ext cx="3429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00" b="1">
                    <a:solidFill>
                      <a:srgbClr val="317DA4"/>
                    </a:solidFill>
                    <a:latin typeface="Comic Sans MS"/>
                    <a:ea typeface="Times New Roman"/>
                    <a:cs typeface="Times New Roman"/>
                  </a:rPr>
                  <a:t>4. Grounded answer</a:t>
                </a:r>
                <a:endParaRPr lang="zh-CN" sz="2200">
                  <a:latin typeface="Comic Sans MS"/>
                </a:endParaRPr>
              </a:p>
            </p:txBody>
          </p:sp>
          <p:sp>
            <p:nvSpPr>
              <p:cNvPr id="86" name="TextBox 86"/>
              <p:cNvSpPr txBox="1"/>
              <p:nvPr/>
            </p:nvSpPr>
            <p:spPr>
              <a:xfrm>
                <a:off x="14135100" y="885825"/>
                <a:ext cx="2571750" cy="733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024">
                    <a:solidFill>
                      <a:srgbClr val="317DA4"/>
                    </a:solidFill>
                    <a:latin typeface="Comic Sans MS"/>
                    <a:ea typeface="Times New Roman"/>
                    <a:cs typeface="Times New Roman"/>
                  </a:rPr>
                  <a:t>Change in the</a:t>
                </a:r>
                <a:endParaRPr lang="zh-CN" sz="2024">
                  <a:latin typeface="Comic Sans MS"/>
                </a:endParaRPr>
              </a:p>
              <a:p>
                <a:pPr algn="l"/>
                <a:r>
                  <a:rPr lang="zh-CN" sz="2024">
                    <a:solidFill>
                      <a:srgbClr val="317DA4"/>
                    </a:solidFill>
                    <a:latin typeface="Comic Sans MS"/>
                    <a:ea typeface="Times New Roman"/>
                    <a:cs typeface="Times New Roman"/>
                  </a:rPr>
                  <a:t>highlighted interval</a:t>
                </a:r>
                <a:endParaRPr lang="zh-CN" sz="2024">
                  <a:latin typeface="Comic Sans MS"/>
                </a:endParaRPr>
              </a:p>
            </p:txBody>
          </p:sp>
          <p:sp>
            <p:nvSpPr>
              <p:cNvPr id="87" name="TextBox 87"/>
              <p:cNvSpPr txBox="1"/>
              <p:nvPr/>
            </p:nvSpPr>
            <p:spPr>
              <a:xfrm>
                <a:off x="14673262" y="4248150"/>
                <a:ext cx="809625" cy="27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672">
                    <a:solidFill>
                      <a:srgbClr val="24485E"/>
                    </a:solidFill>
                    <a:latin typeface="Comic Sans MS"/>
                    <a:ea typeface="Times New Roman"/>
                    <a:cs typeface="Times New Roman"/>
                  </a:rPr>
                  <a:t>Time</a:t>
                </a:r>
                <a:endParaRPr lang="zh-CN" sz="1672">
                  <a:latin typeface="Comic Sans MS"/>
                </a:endParaRPr>
              </a:p>
            </p:txBody>
          </p:sp>
        </p:grpSp>
        <p:grpSp>
          <p:nvGrpSpPr>
            <p:cNvPr id="100" name="Series and window"/>
            <p:cNvGrpSpPr/>
            <p:nvPr/>
          </p:nvGrpSpPr>
          <p:grpSpPr>
            <a:xfrm>
              <a:off x="384362" y="6591300"/>
              <a:ext cx="4168588" cy="1438275"/>
              <a:chOff x="384362" y="6591300"/>
              <a:chExt cx="4168588" cy="1438275"/>
            </a:xfrm>
          </p:grpSpPr>
          <p:sp>
            <p:nvSpPr>
              <p:cNvPr id="8" name="Rect 8"/>
              <p:cNvSpPr/>
              <p:nvPr/>
            </p:nvSpPr>
            <p:spPr>
              <a:xfrm>
                <a:off x="2127052" y="7172325"/>
                <a:ext cx="205383" cy="847725"/>
              </a:xfrm>
              <a:prstGeom prst="rect">
                <a:avLst/>
              </a:prstGeom>
              <a:solidFill>
                <a:srgbClr val="F1EAF7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50" name="Path 50"/>
              <p:cNvSpPr/>
              <p:nvPr/>
            </p:nvSpPr>
            <p:spPr>
              <a:xfrm>
                <a:off x="552450" y="8020050"/>
                <a:ext cx="3286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2860">
                <a:gradFill rotWithShape="1">
                  <a:gsLst>
                    <a:gs pos="0">
                      <a:srgbClr val="B4BAC0"/>
                    </a:gs>
                    <a:gs pos="45000">
                      <a:srgbClr val="747C83"/>
                    </a:gs>
                    <a:gs pos="100000">
                      <a:srgbClr val="343B41"/>
                    </a:gs>
                  </a:gsLst>
                  <a:lin ang="0" scaled="1"/>
                </a:gradFill>
                <a:prstDash val="solid"/>
                <a:tailEnd type="non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51" name="Path 51"/>
              <p:cNvSpPr/>
              <p:nvPr/>
            </p:nvSpPr>
            <p:spPr>
              <a:xfrm>
                <a:off x="552450" y="7172325"/>
                <a:ext cx="9525" cy="8477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24485E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2" name="Path 52"/>
              <p:cNvSpPr/>
              <p:nvPr/>
            </p:nvSpPr>
            <p:spPr>
              <a:xfrm>
                <a:off x="552450" y="7404731"/>
                <a:ext cx="3286125" cy="46855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8453"/>
                    </a:moveTo>
                    <a:lnTo>
                      <a:pt x="450" y="18002"/>
                    </a:lnTo>
                    <a:lnTo>
                      <a:pt x="900" y="21319"/>
                    </a:lnTo>
                    <a:lnTo>
                      <a:pt x="1350" y="18466"/>
                    </a:lnTo>
                    <a:lnTo>
                      <a:pt x="1800" y="17767"/>
                    </a:lnTo>
                    <a:lnTo>
                      <a:pt x="2250" y="21492"/>
                    </a:lnTo>
                    <a:lnTo>
                      <a:pt x="2700" y="18560"/>
                    </a:lnTo>
                    <a:lnTo>
                      <a:pt x="3150" y="17524"/>
                    </a:lnTo>
                    <a:lnTo>
                      <a:pt x="3600" y="21589"/>
                    </a:lnTo>
                    <a:lnTo>
                      <a:pt x="4050" y="18722"/>
                    </a:lnTo>
                    <a:lnTo>
                      <a:pt x="4500" y="17304"/>
                    </a:lnTo>
                    <a:lnTo>
                      <a:pt x="4950" y="21600"/>
                    </a:lnTo>
                    <a:lnTo>
                      <a:pt x="5400" y="18930"/>
                    </a:lnTo>
                    <a:lnTo>
                      <a:pt x="5850" y="17132"/>
                    </a:lnTo>
                    <a:lnTo>
                      <a:pt x="6300" y="21526"/>
                    </a:lnTo>
                    <a:lnTo>
                      <a:pt x="6750" y="19158"/>
                    </a:lnTo>
                    <a:lnTo>
                      <a:pt x="7200" y="17030"/>
                    </a:lnTo>
                    <a:lnTo>
                      <a:pt x="7650" y="21377"/>
                    </a:lnTo>
                    <a:lnTo>
                      <a:pt x="8100" y="19378"/>
                    </a:lnTo>
                    <a:lnTo>
                      <a:pt x="8550" y="17009"/>
                    </a:lnTo>
                    <a:lnTo>
                      <a:pt x="9000" y="21170"/>
                    </a:lnTo>
                    <a:lnTo>
                      <a:pt x="9450" y="19562"/>
                    </a:lnTo>
                    <a:lnTo>
                      <a:pt x="9900" y="17074"/>
                    </a:lnTo>
                    <a:lnTo>
                      <a:pt x="10350" y="20929"/>
                    </a:lnTo>
                    <a:lnTo>
                      <a:pt x="10800" y="10914"/>
                    </a:lnTo>
                    <a:lnTo>
                      <a:pt x="11250" y="0"/>
                    </a:lnTo>
                    <a:lnTo>
                      <a:pt x="11700" y="3462"/>
                    </a:lnTo>
                    <a:lnTo>
                      <a:pt x="12150" y="2514"/>
                    </a:lnTo>
                    <a:lnTo>
                      <a:pt x="12600" y="214"/>
                    </a:lnTo>
                    <a:lnTo>
                      <a:pt x="13050" y="3238"/>
                    </a:lnTo>
                    <a:lnTo>
                      <a:pt x="13500" y="2477"/>
                    </a:lnTo>
                    <a:lnTo>
                      <a:pt x="13950" y="473"/>
                    </a:lnTo>
                    <a:lnTo>
                      <a:pt x="14400" y="3063"/>
                    </a:lnTo>
                    <a:lnTo>
                      <a:pt x="14850" y="2356"/>
                    </a:lnTo>
                    <a:lnTo>
                      <a:pt x="15300" y="751"/>
                    </a:lnTo>
                    <a:lnTo>
                      <a:pt x="15750" y="2958"/>
                    </a:lnTo>
                    <a:lnTo>
                      <a:pt x="16200" y="2161"/>
                    </a:lnTo>
                    <a:lnTo>
                      <a:pt x="16650" y="1020"/>
                    </a:lnTo>
                    <a:lnTo>
                      <a:pt x="17100" y="2934"/>
                    </a:lnTo>
                    <a:lnTo>
                      <a:pt x="17550" y="1909"/>
                    </a:lnTo>
                    <a:lnTo>
                      <a:pt x="18000" y="1251"/>
                    </a:lnTo>
                    <a:lnTo>
                      <a:pt x="18450" y="2995"/>
                    </a:lnTo>
                    <a:lnTo>
                      <a:pt x="18900" y="1627"/>
                    </a:lnTo>
                    <a:lnTo>
                      <a:pt x="19350" y="1422"/>
                    </a:lnTo>
                    <a:lnTo>
                      <a:pt x="19800" y="3136"/>
                    </a:lnTo>
                    <a:lnTo>
                      <a:pt x="20250" y="1341"/>
                    </a:lnTo>
                    <a:lnTo>
                      <a:pt x="20700" y="1517"/>
                    </a:lnTo>
                    <a:lnTo>
                      <a:pt x="21150" y="3342"/>
                    </a:lnTo>
                    <a:lnTo>
                      <a:pt x="21600" y="1079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53" name="Path 53"/>
              <p:cNvSpPr/>
              <p:nvPr/>
            </p:nvSpPr>
            <p:spPr>
              <a:xfrm>
                <a:off x="2127052" y="7172325"/>
                <a:ext cx="9525" cy="8477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705795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4" name="Path 54"/>
              <p:cNvSpPr/>
              <p:nvPr/>
            </p:nvSpPr>
            <p:spPr>
              <a:xfrm>
                <a:off x="2332434" y="7172325"/>
                <a:ext cx="9525" cy="8477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705795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5" name="Path 55"/>
              <p:cNvSpPr/>
              <p:nvPr/>
            </p:nvSpPr>
            <p:spPr>
              <a:xfrm>
                <a:off x="4048125" y="7496175"/>
                <a:ext cx="5048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7780">
                <a:solidFill>
                  <a:srgbClr val="317DA4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65" name="series-storage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4362" y="6591300"/>
                <a:ext cx="412376" cy="438150"/>
              </a:xfrm>
              <a:prstGeom prst="rect">
                <a:avLst/>
              </a:prstGeom>
            </p:spPr>
          </p:pic>
          <p:sp>
            <p:nvSpPr>
              <p:cNvPr id="90" name="TextBox 90"/>
              <p:cNvSpPr txBox="1"/>
              <p:nvPr/>
            </p:nvSpPr>
            <p:spPr>
              <a:xfrm>
                <a:off x="923925" y="6638925"/>
                <a:ext cx="2857500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36" b="1">
                    <a:solidFill>
                      <a:srgbClr val="317DA4"/>
                    </a:solidFill>
                    <a:latin typeface="Comic Sans MS"/>
                    <a:ea typeface="Times New Roman"/>
                    <a:cs typeface="Times New Roman"/>
                  </a:rPr>
                  <a:t>Series and window</a:t>
                </a:r>
                <a:endParaRPr lang="zh-CN" sz="1936">
                  <a:latin typeface="Comic Sans MS"/>
                </a:endParaRPr>
              </a:p>
            </p:txBody>
          </p:sp>
        </p:grpSp>
        <p:grpSp>
          <p:nvGrpSpPr>
            <p:cNvPr id="101" name="Operation and arguments"/>
            <p:cNvGrpSpPr/>
            <p:nvPr/>
          </p:nvGrpSpPr>
          <p:grpSpPr>
            <a:xfrm>
              <a:off x="4713684" y="6581775"/>
              <a:ext cx="4163616" cy="1533525"/>
              <a:chOff x="4713684" y="6581775"/>
              <a:chExt cx="4163616" cy="1533525"/>
            </a:xfrm>
          </p:grpSpPr>
          <p:sp>
            <p:nvSpPr>
              <p:cNvPr id="56" name="Path 56"/>
              <p:cNvSpPr/>
              <p:nvPr/>
            </p:nvSpPr>
            <p:spPr>
              <a:xfrm>
                <a:off x="8429625" y="7496175"/>
                <a:ext cx="447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7780">
                <a:solidFill>
                  <a:srgbClr val="317DA4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66" name="operation-code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13684" y="6581775"/>
                <a:ext cx="383381" cy="466725"/>
              </a:xfrm>
              <a:prstGeom prst="rect">
                <a:avLst/>
              </a:prstGeom>
            </p:spPr>
          </p:pic>
          <p:graphicFrame>
            <p:nvGraphicFramePr>
              <p:cNvPr id="70" name="Table 70"/>
              <p:cNvGraphicFramePr/>
              <p:nvPr/>
            </p:nvGraphicFramePr>
            <p:xfrm>
              <a:off x="4933950" y="7124700"/>
              <a:ext cx="3305175" cy="990600"/>
            </p:xfrm>
            <a:graphic>
              <a:graphicData uri="http://schemas.openxmlformats.org/drawingml/2006/table">
                <a:tbl>
                  <a:tblPr/>
                  <a:tblGrid>
                    <a:gridCol w="1537291"/>
                    <a:gridCol w="1767884"/>
                  </a:tblGrid>
                  <a:tr h="495300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207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Operation</a:t>
                          </a:r>
                          <a:endParaRPr lang="zh-CN" sz="2070"/>
                        </a:p>
                      </a:txBody>
                      <a:tcPr marL="64008" marR="27432" marT="9144" marB="9144" anchor="ctr">
                        <a:lnL w="7620">
                          <a:solidFill>
                            <a:srgbClr val="D8D1E4"/>
                          </a:solidFill>
                        </a:lnL>
                        <a:lnR w="7620">
                          <a:solidFill>
                            <a:srgbClr val="D8D1E4"/>
                          </a:solidFill>
                        </a:lnR>
                        <a:lnT w="7620">
                          <a:solidFill>
                            <a:srgbClr val="D8D1E4"/>
                          </a:solidFill>
                        </a:lnT>
                        <a:lnB w="7620">
                          <a:solidFill>
                            <a:srgbClr val="D8D1E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Detect</a:t>
                          </a:r>
                          <a:endParaRPr lang="zh-CN" sz="2100"/>
                        </a:p>
                      </a:txBody>
                      <a:tcPr marL="64008" marR="27432" marT="9144" marB="9144" anchor="ctr">
                        <a:lnL w="7620">
                          <a:solidFill>
                            <a:srgbClr val="D8D1E4"/>
                          </a:solidFill>
                        </a:lnL>
                        <a:lnR w="7620">
                          <a:solidFill>
                            <a:srgbClr val="D8D1E4"/>
                          </a:solidFill>
                        </a:lnR>
                        <a:lnT w="7620">
                          <a:solidFill>
                            <a:srgbClr val="D8D1E4"/>
                          </a:solidFill>
                        </a:lnT>
                        <a:lnB w="7620">
                          <a:solidFill>
                            <a:srgbClr val="D8D1E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495300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207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Arguments</a:t>
                          </a:r>
                          <a:endParaRPr lang="zh-CN" sz="2070"/>
                        </a:p>
                      </a:txBody>
                      <a:tcPr marL="64008" marR="27432" marT="9144" marB="9144" anchor="ctr">
                        <a:lnL w="7620">
                          <a:solidFill>
                            <a:srgbClr val="D8D1E4"/>
                          </a:solidFill>
                        </a:lnL>
                        <a:lnR w="7620">
                          <a:solidFill>
                            <a:srgbClr val="D8D1E4"/>
                          </a:solidFill>
                        </a:lnR>
                        <a:lnT w="7620">
                          <a:solidFill>
                            <a:srgbClr val="D8D1E4"/>
                          </a:solidFill>
                        </a:lnT>
                        <a:lnB w="7620">
                          <a:solidFill>
                            <a:srgbClr val="D8D1E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59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Series, window</a:t>
                          </a:r>
                          <a:endParaRPr lang="zh-CN" sz="1590"/>
                        </a:p>
                      </a:txBody>
                      <a:tcPr marL="64008" marR="27432" marT="9144" marB="9144" anchor="ctr">
                        <a:lnL w="7620">
                          <a:solidFill>
                            <a:srgbClr val="D8D1E4"/>
                          </a:solidFill>
                        </a:lnL>
                        <a:lnR w="7620">
                          <a:solidFill>
                            <a:srgbClr val="D8D1E4"/>
                          </a:solidFill>
                        </a:lnR>
                        <a:lnT w="7620">
                          <a:solidFill>
                            <a:srgbClr val="D8D1E4"/>
                          </a:solidFill>
                        </a:lnT>
                        <a:lnB w="7620">
                          <a:solidFill>
                            <a:srgbClr val="D8D1E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</a:tbl>
              </a:graphicData>
            </a:graphic>
          </p:graphicFrame>
          <p:sp>
            <p:nvSpPr>
              <p:cNvPr id="91" name="TextBox 91"/>
              <p:cNvSpPr txBox="1"/>
              <p:nvPr/>
            </p:nvSpPr>
            <p:spPr>
              <a:xfrm>
                <a:off x="5238750" y="6638925"/>
                <a:ext cx="3333750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36" b="1">
                    <a:solidFill>
                      <a:srgbClr val="705795"/>
                    </a:solidFill>
                    <a:latin typeface="Comic Sans MS"/>
                    <a:ea typeface="Times New Roman"/>
                    <a:cs typeface="Times New Roman"/>
                  </a:rPr>
                  <a:t>Operation and arguments</a:t>
                </a:r>
                <a:endParaRPr lang="zh-CN" sz="1936">
                  <a:latin typeface="Comic Sans MS"/>
                </a:endParaRPr>
              </a:p>
            </p:txBody>
          </p:sp>
        </p:grpSp>
        <p:grpSp>
          <p:nvGrpSpPr>
            <p:cNvPr id="102" name="Numerical output"/>
            <p:cNvGrpSpPr/>
            <p:nvPr/>
          </p:nvGrpSpPr>
          <p:grpSpPr>
            <a:xfrm>
              <a:off x="9039225" y="6601396"/>
              <a:ext cx="4219575" cy="1390079"/>
              <a:chOff x="9039225" y="6601396"/>
              <a:chExt cx="4219575" cy="1390079"/>
            </a:xfrm>
          </p:grpSpPr>
          <p:sp>
            <p:nvSpPr>
              <p:cNvPr id="9" name="Rect 9"/>
              <p:cNvSpPr/>
              <p:nvPr/>
            </p:nvSpPr>
            <p:spPr>
              <a:xfrm>
                <a:off x="10729516" y="7219950"/>
                <a:ext cx="215503" cy="152400"/>
              </a:xfrm>
              <a:prstGeom prst="rect">
                <a:avLst/>
              </a:prstGeom>
              <a:solidFill>
                <a:srgbClr val="E7D9F2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57" name="Path 57"/>
              <p:cNvSpPr/>
              <p:nvPr/>
            </p:nvSpPr>
            <p:spPr>
              <a:xfrm>
                <a:off x="9077325" y="7296150"/>
                <a:ext cx="3448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3970">
                <a:solidFill>
                  <a:srgbClr val="348A71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8" name="Path 58"/>
              <p:cNvSpPr/>
              <p:nvPr/>
            </p:nvSpPr>
            <p:spPr>
              <a:xfrm>
                <a:off x="10729516" y="7105650"/>
                <a:ext cx="9525" cy="4095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705795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9" name="Path 59"/>
              <p:cNvSpPr/>
              <p:nvPr/>
            </p:nvSpPr>
            <p:spPr>
              <a:xfrm>
                <a:off x="10945019" y="7105650"/>
                <a:ext cx="9525" cy="4095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705795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60" name="Path 60"/>
              <p:cNvSpPr/>
              <p:nvPr/>
            </p:nvSpPr>
            <p:spPr>
              <a:xfrm>
                <a:off x="12811125" y="7496175"/>
                <a:ext cx="447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7780">
                <a:solidFill>
                  <a:srgbClr val="317DA4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67" name="numerical-output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039225" y="6601396"/>
                <a:ext cx="419100" cy="427482"/>
              </a:xfrm>
              <a:prstGeom prst="rect">
                <a:avLst/>
              </a:prstGeom>
            </p:spPr>
          </p:pic>
          <p:sp>
            <p:nvSpPr>
              <p:cNvPr id="92" name="TextBox 92"/>
              <p:cNvSpPr txBox="1"/>
              <p:nvPr/>
            </p:nvSpPr>
            <p:spPr>
              <a:xfrm>
                <a:off x="9610725" y="6638925"/>
                <a:ext cx="2952750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36" b="1">
                    <a:solidFill>
                      <a:srgbClr val="348A71"/>
                    </a:solidFill>
                    <a:latin typeface="Comic Sans MS"/>
                    <a:ea typeface="Times New Roman"/>
                    <a:cs typeface="Times New Roman"/>
                  </a:rPr>
                  <a:t>Numerical output</a:t>
                </a:r>
                <a:endParaRPr lang="zh-CN" sz="1936">
                  <a:latin typeface="Comic Sans MS"/>
                </a:endParaRPr>
              </a:p>
            </p:txBody>
          </p:sp>
          <p:sp>
            <p:nvSpPr>
              <p:cNvPr id="93" name="TextBox 93"/>
              <p:cNvSpPr txBox="1"/>
              <p:nvPr/>
            </p:nvSpPr>
            <p:spPr>
              <a:xfrm>
                <a:off x="9372600" y="7667625"/>
                <a:ext cx="2857500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36">
                    <a:solidFill>
                      <a:srgbClr val="24485E"/>
                    </a:solidFill>
                    <a:latin typeface="Comic Sans MS"/>
                    <a:ea typeface="Times New Roman"/>
                    <a:cs typeface="Times New Roman"/>
                  </a:rPr>
                  <a:t>Change interval</a:t>
                </a:r>
                <a:endParaRPr lang="zh-CN" sz="1936">
                  <a:latin typeface="Comic Sans MS"/>
                </a:endParaRPr>
              </a:p>
            </p:txBody>
          </p:sp>
        </p:grpSp>
        <p:grpSp>
          <p:nvGrpSpPr>
            <p:cNvPr id="103" name="Source link"/>
            <p:cNvGrpSpPr/>
            <p:nvPr/>
          </p:nvGrpSpPr>
          <p:grpSpPr>
            <a:xfrm>
              <a:off x="13457301" y="6600825"/>
              <a:ext cx="3211449" cy="1362075"/>
              <a:chOff x="13457301" y="6600825"/>
              <a:chExt cx="3211449" cy="1362075"/>
            </a:xfrm>
          </p:grpSpPr>
          <p:pic>
            <p:nvPicPr>
              <p:cNvPr id="68" name="source-link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457301" y="6600825"/>
                <a:ext cx="403098" cy="438150"/>
              </a:xfrm>
              <a:prstGeom prst="rect">
                <a:avLst/>
              </a:prstGeom>
            </p:spPr>
          </p:pic>
          <p:pic>
            <p:nvPicPr>
              <p:cNvPr id="69" name="source-document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515975" y="7210954"/>
                <a:ext cx="552450" cy="675217"/>
              </a:xfrm>
              <a:prstGeom prst="rect">
                <a:avLst/>
              </a:prstGeom>
            </p:spPr>
          </p:pic>
          <p:sp>
            <p:nvSpPr>
              <p:cNvPr id="94" name="TextBox 94"/>
              <p:cNvSpPr txBox="1"/>
              <p:nvPr/>
            </p:nvSpPr>
            <p:spPr>
              <a:xfrm>
                <a:off x="14097000" y="6638925"/>
                <a:ext cx="2571750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36" b="1">
                    <a:solidFill>
                      <a:srgbClr val="317DA4"/>
                    </a:solidFill>
                    <a:latin typeface="Comic Sans MS"/>
                    <a:ea typeface="Times New Roman"/>
                    <a:cs typeface="Times New Roman"/>
                  </a:rPr>
                  <a:t>Source link</a:t>
                </a:r>
                <a:endParaRPr lang="zh-CN" sz="1936">
                  <a:latin typeface="Comic Sans MS"/>
                </a:endParaRPr>
              </a:p>
            </p:txBody>
          </p:sp>
          <p:sp>
            <p:nvSpPr>
              <p:cNvPr id="95" name="TextBox 95"/>
              <p:cNvSpPr txBox="1"/>
              <p:nvPr/>
            </p:nvSpPr>
            <p:spPr>
              <a:xfrm>
                <a:off x="14287500" y="7172325"/>
                <a:ext cx="2371725" cy="790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36">
                    <a:solidFill>
                      <a:srgbClr val="24485E"/>
                    </a:solidFill>
                    <a:latin typeface="Comic Sans MS"/>
                    <a:ea typeface="Times New Roman"/>
                    <a:cs typeface="Times New Roman"/>
                  </a:rPr>
                  <a:t>Series origin</a:t>
                </a:r>
                <a:endParaRPr lang="zh-CN" sz="1936">
                  <a:latin typeface="Comic Sans MS"/>
                </a:endParaRPr>
              </a:p>
              <a:p>
                <a:pPr algn="l"/>
                <a:r>
                  <a:rPr lang="zh-CN" sz="1936">
                    <a:solidFill>
                      <a:srgbClr val="24485E"/>
                    </a:solidFill>
                    <a:latin typeface="Comic Sans MS"/>
                    <a:ea typeface="Times New Roman"/>
                    <a:cs typeface="Times New Roman"/>
                  </a:rPr>
                  <a:t>Tool and trace</a:t>
                </a:r>
                <a:endParaRPr lang="zh-CN" sz="1936">
                  <a:latin typeface="Comic Sans MS"/>
                </a:endParaRPr>
              </a:p>
            </p:txBody>
          </p:sp>
        </p:grpSp>
        <p:grpSp>
          <p:nvGrpSpPr>
            <p:cNvPr id="104" name="Additional operation and provenance"/>
            <p:cNvGrpSpPr/>
            <p:nvPr/>
          </p:nvGrpSpPr>
          <p:grpSpPr>
            <a:xfrm>
              <a:off x="238125" y="5133975"/>
              <a:ext cx="16411575" cy="1314450"/>
              <a:chOff x="238125" y="5133975"/>
              <a:chExt cx="16411575" cy="1314450"/>
            </a:xfrm>
          </p:grpSpPr>
          <p:sp>
            <p:nvSpPr>
              <p:cNvPr id="48" name="Path 48"/>
              <p:cNvSpPr/>
              <p:nvPr/>
            </p:nvSpPr>
            <p:spPr>
              <a:xfrm>
                <a:off x="6543675" y="5133975"/>
                <a:ext cx="5362575" cy="2762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21600" y="3724"/>
                    </a:move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</a:path>
                </a:pathLst>
              </a:custGeom>
              <a:noFill/>
              <a:ln w="16510">
                <a:solidFill>
                  <a:srgbClr val="705795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49" name="Path 49"/>
              <p:cNvSpPr/>
              <p:nvPr/>
            </p:nvSpPr>
            <p:spPr>
              <a:xfrm>
                <a:off x="238125" y="5953125"/>
                <a:ext cx="16411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0160">
                <a:solidFill>
                  <a:srgbClr val="D0DEE6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7629525" y="5486400"/>
                <a:ext cx="3524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48">
                    <a:solidFill>
                      <a:srgbClr val="705795"/>
                    </a:solidFill>
                    <a:latin typeface="Comic Sans MS"/>
                    <a:ea typeface="Times New Roman"/>
                    <a:cs typeface="Times New Roman"/>
                  </a:rPr>
                  <a:t>Additional operation</a:t>
                </a:r>
                <a:endParaRPr lang="zh-CN" sz="1848">
                  <a:latin typeface="Comic Sans MS"/>
                </a:endParaRP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285750" y="6096000"/>
                <a:ext cx="5619750" cy="352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12" b="1">
                    <a:solidFill>
                      <a:srgbClr val="317DA4"/>
                    </a:solidFill>
                    <a:latin typeface="Comic Sans MS"/>
                    <a:ea typeface="Times New Roman"/>
                    <a:cs typeface="Times New Roman"/>
                  </a:rPr>
                  <a:t>Provenance of the answer</a:t>
                </a:r>
                <a:endParaRPr lang="zh-CN" sz="2112">
                  <a:latin typeface="Comic Sans MS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