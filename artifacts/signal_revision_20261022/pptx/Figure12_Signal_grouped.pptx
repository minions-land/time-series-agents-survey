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6897350" cy="8448675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0" name="Figure 12 — TimeSeriesGym"/>
          <p:cNvGrpSpPr/>
          <p:nvPr/>
        </p:nvGrpSpPr>
        <p:grpSpPr>
          <a:xfrm>
            <a:off x="266700" y="152400"/>
            <a:ext cx="16383000" cy="8086725"/>
            <a:chOff x="266700" y="152400"/>
            <a:chExt cx="16383000" cy="8086725"/>
          </a:xfrm>
        </p:grpSpPr>
        <p:grpSp>
          <p:nvGrpSpPr>
            <p:cNvPr id="1007" name="Challenge contract"/>
            <p:cNvGrpSpPr/>
            <p:nvPr/>
          </p:nvGrpSpPr>
          <p:grpSpPr>
            <a:xfrm>
              <a:off x="266700" y="152400"/>
              <a:ext cx="14020800" cy="7600950"/>
              <a:chOff x="266700" y="152400"/>
              <a:chExt cx="14020800" cy="7600950"/>
            </a:xfrm>
          </p:grpSpPr>
          <p:grpSp>
            <p:nvGrpSpPr>
              <p:cNvPr id="1000" name="Challenge requirements"/>
              <p:cNvGrpSpPr/>
              <p:nvPr/>
            </p:nvGrpSpPr>
            <p:grpSpPr>
              <a:xfrm>
                <a:off x="2428875" y="152400"/>
                <a:ext cx="11858625" cy="942975"/>
                <a:chOff x="2428875" y="152400"/>
                <a:chExt cx="11858625" cy="942975"/>
              </a:xfrm>
            </p:grpSpPr>
            <p:pic>
              <p:nvPicPr>
                <p:cNvPr id="2" name="requirements-icon"/>
                <p:cNvPicPr/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6486525" y="152400"/>
                  <a:ext cx="485775" cy="571500"/>
                </a:xfrm>
                <a:prstGeom prst="rect">
                  <a:avLst/>
                </a:prstGeom>
              </p:spPr>
            </p:pic>
            <p:sp>
              <p:nvSpPr>
                <p:cNvPr id="3" name="Path 3"/>
                <p:cNvSpPr/>
                <p:nvPr/>
              </p:nvSpPr>
              <p:spPr>
                <a:xfrm>
                  <a:off x="2428875" y="571500"/>
                  <a:ext cx="3895725" cy="523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21600" y="0"/>
                      </a:moveTo>
                      <a:lnTo>
                        <a:pt x="0" y="0"/>
                      </a:lnTo>
                      <a:lnTo>
                        <a:pt x="0" y="21600"/>
                      </a:lnTo>
                    </a:path>
                  </a:pathLst>
                </a:custGeom>
                <a:noFill/>
                <a:ln w="17780">
                  <a:solidFill>
                    <a:srgbClr val="327AA6"/>
                  </a:solidFill>
                  <a:prstDash val="solid"/>
                  <a:tailEnd type="triangle"/>
                </a:ln>
              </p:spPr>
              <p:txBody>
                <a:bodyPr/>
                <a:lstStyle/>
                <a:p/>
              </p:txBody>
            </p:sp>
            <p:sp>
              <p:nvSpPr>
                <p:cNvPr id="4" name="Path 4"/>
                <p:cNvSpPr/>
                <p:nvPr/>
              </p:nvSpPr>
              <p:spPr>
                <a:xfrm>
                  <a:off x="10382250" y="571500"/>
                  <a:ext cx="3905250" cy="523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21600"/>
                      </a:lnTo>
                    </a:path>
                  </a:pathLst>
                </a:custGeom>
                <a:noFill/>
                <a:ln w="17780">
                  <a:solidFill>
                    <a:srgbClr val="327AA6"/>
                  </a:solidFill>
                  <a:prstDash val="solid"/>
                  <a:tailEnd type="triangle"/>
                </a:ln>
              </p:spPr>
              <p:txBody>
                <a:bodyPr/>
                <a:lstStyle/>
                <a:p/>
              </p:txBody>
            </p:sp>
            <p:sp>
              <p:nvSpPr>
                <p:cNvPr id="5" name="TextBox 5"/>
                <p:cNvSpPr txBox="1"/>
                <p:nvPr/>
              </p:nvSpPr>
              <p:spPr>
                <a:xfrm>
                  <a:off x="7143750" y="219075"/>
                  <a:ext cx="3619500" cy="4286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464" b="1">
                      <a:solidFill>
                        <a:srgbClr val="25475E"/>
                      </a:solidFill>
                      <a:latin typeface="Comic Sans MS"/>
                      <a:ea typeface="Times New Roman"/>
                      <a:cs typeface="Times New Roman"/>
                    </a:rPr>
                    <a:t>Task requirements</a:t>
                  </a:r>
                  <a:endParaRPr lang="zh-CN" sz="2464">
                    <a:latin typeface="Comic Sans MS"/>
                  </a:endParaRPr>
                </a:p>
              </p:txBody>
            </p:sp>
          </p:grpSp>
          <p:grpSp>
            <p:nvGrpSpPr>
              <p:cNvPr id="1001" name="Challenge resources"/>
              <p:cNvGrpSpPr/>
              <p:nvPr/>
            </p:nvGrpSpPr>
            <p:grpSpPr>
              <a:xfrm>
                <a:off x="304800" y="1285875"/>
                <a:ext cx="4667250" cy="3705225"/>
                <a:chOff x="304800" y="1285875"/>
                <a:chExt cx="4667250" cy="3705225"/>
              </a:xfrm>
            </p:grpSpPr>
            <p:sp>
              <p:nvSpPr>
                <p:cNvPr id="6" name="Rect 6"/>
                <p:cNvSpPr/>
                <p:nvPr/>
              </p:nvSpPr>
              <p:spPr>
                <a:xfrm>
                  <a:off x="333375" y="4162425"/>
                  <a:ext cx="1323975" cy="314325"/>
                </a:xfrm>
                <a:prstGeom prst="rect">
                  <a:avLst/>
                </a:prstGeom>
                <a:solidFill>
                  <a:srgbClr val="EBF2F7"/>
                </a:solidFill>
                <a:ln w="10160">
                  <a:solidFill>
                    <a:srgbClr val="B7C4CC"/>
                  </a:solidFill>
                </a:ln>
              </p:spPr>
              <p:txBody>
                <a:bodyPr/>
                <a:lstStyle/>
                <a:p/>
              </p:txBody>
            </p:sp>
            <p:sp>
              <p:nvSpPr>
                <p:cNvPr id="7" name="Rect 7"/>
                <p:cNvSpPr/>
                <p:nvPr/>
              </p:nvSpPr>
              <p:spPr>
                <a:xfrm>
                  <a:off x="1714500" y="4162425"/>
                  <a:ext cx="1524000" cy="314325"/>
                </a:xfrm>
                <a:prstGeom prst="rect">
                  <a:avLst/>
                </a:prstGeom>
                <a:solidFill>
                  <a:srgbClr val="F0EDF6"/>
                </a:solidFill>
                <a:ln w="10160">
                  <a:solidFill>
                    <a:srgbClr val="B7C4CC"/>
                  </a:solidFill>
                </a:ln>
              </p:spPr>
              <p:txBody>
                <a:bodyPr/>
                <a:lstStyle/>
                <a:p/>
              </p:txBody>
            </p:sp>
            <p:sp>
              <p:nvSpPr>
                <p:cNvPr id="8" name="Rect 8"/>
                <p:cNvSpPr/>
                <p:nvPr/>
              </p:nvSpPr>
              <p:spPr>
                <a:xfrm>
                  <a:off x="3295650" y="4162425"/>
                  <a:ext cx="1352550" cy="314325"/>
                </a:xfrm>
                <a:prstGeom prst="rect">
                  <a:avLst/>
                </a:prstGeom>
                <a:solidFill>
                  <a:srgbClr val="EDF5F1"/>
                </a:solidFill>
                <a:ln w="10160">
                  <a:solidFill>
                    <a:srgbClr val="B7C4CC"/>
                  </a:solidFill>
                </a:ln>
              </p:spPr>
              <p:txBody>
                <a:bodyPr/>
                <a:lstStyle/>
                <a:p/>
              </p:txBody>
            </p:sp>
            <p:pic>
              <p:nvPicPr>
                <p:cNvPr id="9" name="data"/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19100" y="2076450"/>
                  <a:ext cx="666750" cy="714375"/>
                </a:xfrm>
                <a:prstGeom prst="rect">
                  <a:avLst/>
                </a:prstGeom>
              </p:spPr>
            </p:pic>
            <p:pic>
              <p:nvPicPr>
                <p:cNvPr id="10" name="code"/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562100" y="2076450"/>
                  <a:ext cx="666750" cy="714375"/>
                </a:xfrm>
                <a:prstGeom prst="rect">
                  <a:avLst/>
                </a:prstGeom>
              </p:spPr>
            </p:pic>
            <p:pic>
              <p:nvPicPr>
                <p:cNvPr id="11" name="papers"/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762250" y="2076450"/>
                  <a:ext cx="666750" cy="714375"/>
                </a:xfrm>
                <a:prstGeom prst="rect">
                  <a:avLst/>
                </a:prstGeom>
              </p:spPr>
            </p:pic>
            <p:pic>
              <p:nvPicPr>
                <p:cNvPr id="12" name="docs"/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943350" y="2076450"/>
                  <a:ext cx="666750" cy="714375"/>
                </a:xfrm>
                <a:prstGeom prst="rect">
                  <a:avLst/>
                </a:prstGeom>
              </p:spPr>
            </p:pic>
            <p:sp>
              <p:nvSpPr>
                <p:cNvPr id="13" name="TextBox 13"/>
                <p:cNvSpPr txBox="1"/>
                <p:nvPr/>
              </p:nvSpPr>
              <p:spPr>
                <a:xfrm>
                  <a:off x="304800" y="1285875"/>
                  <a:ext cx="4667250" cy="476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640" b="1">
                      <a:solidFill>
                        <a:srgbClr val="327AA6"/>
                      </a:solidFill>
                      <a:latin typeface="Comic Sans MS"/>
                      <a:ea typeface="Times New Roman"/>
                      <a:cs typeface="Times New Roman"/>
                    </a:rPr>
                    <a:t>Challenge package</a:t>
                  </a:r>
                  <a:endParaRPr lang="zh-CN" sz="2640">
                    <a:latin typeface="Comic Sans MS"/>
                  </a:endParaRPr>
                </a:p>
              </p:txBody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323850" y="2876550"/>
                  <a:ext cx="104775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2200" b="1">
                      <a:solidFill>
                        <a:srgbClr val="25475E"/>
                      </a:solidFill>
                      <a:latin typeface="Comic Sans MS"/>
                      <a:ea typeface="Times New Roman"/>
                      <a:cs typeface="Times New Roman"/>
                    </a:rPr>
                    <a:t>Data</a:t>
                  </a:r>
                  <a:endParaRPr lang="zh-CN" sz="2200">
                    <a:latin typeface="Comic Sans MS"/>
                  </a:endParaRPr>
                </a:p>
              </p:txBody>
            </p:sp>
            <p:sp>
              <p:nvSpPr>
                <p:cNvPr id="15" name="TextBox 15"/>
                <p:cNvSpPr txBox="1"/>
                <p:nvPr/>
              </p:nvSpPr>
              <p:spPr>
                <a:xfrm>
                  <a:off x="1466850" y="2876550"/>
                  <a:ext cx="104775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2200" b="1">
                      <a:solidFill>
                        <a:srgbClr val="25475E"/>
                      </a:solidFill>
                      <a:latin typeface="Comic Sans MS"/>
                      <a:ea typeface="Times New Roman"/>
                      <a:cs typeface="Times New Roman"/>
                    </a:rPr>
                    <a:t>Code</a:t>
                  </a:r>
                  <a:endParaRPr lang="zh-CN" sz="2200">
                    <a:latin typeface="Comic Sans MS"/>
                  </a:endParaRPr>
                </a:p>
              </p:txBody>
            </p:sp>
            <p:sp>
              <p:nvSpPr>
                <p:cNvPr id="16" name="TextBox 16"/>
                <p:cNvSpPr txBox="1"/>
                <p:nvPr/>
              </p:nvSpPr>
              <p:spPr>
                <a:xfrm>
                  <a:off x="2667000" y="2876550"/>
                  <a:ext cx="104775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2200" b="1">
                      <a:solidFill>
                        <a:srgbClr val="25475E"/>
                      </a:solidFill>
                      <a:latin typeface="Comic Sans MS"/>
                      <a:ea typeface="Times New Roman"/>
                      <a:cs typeface="Times New Roman"/>
                    </a:rPr>
                    <a:t>Papers</a:t>
                  </a:r>
                  <a:endParaRPr lang="zh-CN" sz="2200">
                    <a:latin typeface="Comic Sans MS"/>
                  </a:endParaRPr>
                </a:p>
              </p:txBody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3848100" y="2876550"/>
                  <a:ext cx="104775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2200" b="1">
                      <a:solidFill>
                        <a:srgbClr val="25475E"/>
                      </a:solidFill>
                      <a:latin typeface="Comic Sans MS"/>
                      <a:ea typeface="Times New Roman"/>
                      <a:cs typeface="Times New Roman"/>
                    </a:rPr>
                    <a:t>Docs</a:t>
                  </a:r>
                  <a:endParaRPr lang="zh-CN" sz="2200">
                    <a:latin typeface="Comic Sans MS"/>
                  </a:endParaRPr>
                </a:p>
              </p:txBody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314325" y="3581400"/>
                  <a:ext cx="4572000" cy="4286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200">
                      <a:solidFill>
                        <a:srgbClr val="25475E"/>
                      </a:solidFill>
                      <a:latin typeface="Comic Sans MS"/>
                      <a:ea typeface="Times New Roman"/>
                      <a:cs typeface="Times New Roman"/>
                    </a:rPr>
                    <a:t>Task-defined data split</a:t>
                  </a:r>
                  <a:endParaRPr lang="zh-CN" sz="2200">
                    <a:latin typeface="Comic Sans MS"/>
                  </a:endParaRPr>
                </a:p>
              </p:txBody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323850" y="4610100"/>
                  <a:ext cx="46101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300">
                      <a:solidFill>
                        <a:srgbClr val="25475E"/>
                      </a:solidFill>
                      <a:latin typeface="Times New Roman"/>
                      <a:ea typeface="Times New Roman"/>
                      <a:cs typeface="Times New Roman"/>
                    </a:rPr>
                    <a:t>Data availability and evaluation rules</a:t>
                  </a:r>
                  <a:endParaRPr lang="zh-CN" sz="2300"/>
                </a:p>
              </p:txBody>
            </p:sp>
          </p:grpSp>
          <p:grpSp>
            <p:nvGrpSpPr>
              <p:cNvPr id="1002" name="Task description"/>
              <p:cNvGrpSpPr/>
              <p:nvPr/>
            </p:nvGrpSpPr>
            <p:grpSpPr>
              <a:xfrm>
                <a:off x="266700" y="5286375"/>
                <a:ext cx="4591050" cy="2466975"/>
                <a:chOff x="266700" y="5286375"/>
                <a:chExt cx="4591050" cy="2466975"/>
              </a:xfrm>
            </p:grpSpPr>
            <p:sp>
              <p:nvSpPr>
                <p:cNvPr id="20" name="Rect 20"/>
                <p:cNvSpPr/>
                <p:nvPr/>
              </p:nvSpPr>
              <p:spPr>
                <a:xfrm>
                  <a:off x="266700" y="5286375"/>
                  <a:ext cx="4581525" cy="2466975"/>
                </a:xfrm>
                <a:prstGeom prst="rect">
                  <a:avLst/>
                </a:prstGeom>
                <a:solidFill>
                  <a:srgbClr val="FBFCFD"/>
                </a:solidFill>
                <a:ln w="10160">
                  <a:solidFill>
                    <a:srgbClr val="B7C4CC"/>
                  </a:solidFill>
                </a:ln>
              </p:spPr>
              <p:txBody>
                <a:bodyPr/>
                <a:lstStyle/>
                <a:p/>
              </p:txBody>
            </p:sp>
            <p:pic>
              <p:nvPicPr>
                <p:cNvPr id="21" name="task-doc"/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57200" y="6257925"/>
                  <a:ext cx="514350" cy="657225"/>
                </a:xfrm>
                <a:prstGeom prst="rect">
                  <a:avLst/>
                </a:prstGeom>
              </p:spPr>
            </p:pic>
            <p:sp>
              <p:nvSpPr>
                <p:cNvPr id="22" name="TextBox 22"/>
                <p:cNvSpPr txBox="1"/>
                <p:nvPr/>
              </p:nvSpPr>
              <p:spPr>
                <a:xfrm>
                  <a:off x="457200" y="5438775"/>
                  <a:ext cx="4000500" cy="4286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376" b="1">
                      <a:solidFill>
                        <a:srgbClr val="327AA6"/>
                      </a:solidFill>
                      <a:latin typeface="Comic Sans MS"/>
                      <a:ea typeface="Times New Roman"/>
                      <a:cs typeface="Times New Roman"/>
                    </a:rPr>
                    <a:t>Task description</a:t>
                  </a:r>
                  <a:endParaRPr lang="zh-CN" sz="2376">
                    <a:latin typeface="Comic Sans MS"/>
                  </a:endParaRPr>
                </a:p>
              </p:txBody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1257300" y="6076950"/>
                  <a:ext cx="123825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112" b="1">
                      <a:solidFill>
                        <a:srgbClr val="25475E"/>
                      </a:solidFill>
                      <a:latin typeface="Comic Sans MS"/>
                      <a:ea typeface="Times New Roman"/>
                      <a:cs typeface="Times New Roman"/>
                    </a:rPr>
                    <a:t>Output</a:t>
                  </a:r>
                  <a:endParaRPr lang="zh-CN" sz="2112">
                    <a:latin typeface="Comic Sans MS"/>
                  </a:endParaRPr>
                </a:p>
              </p:txBody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2476500" y="6076950"/>
                  <a:ext cx="238125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300">
                      <a:solidFill>
                        <a:srgbClr val="25475E"/>
                      </a:solidFill>
                      <a:latin typeface="Times New Roman"/>
                      <a:ea typeface="Times New Roman"/>
                      <a:cs typeface="Times New Roman"/>
                    </a:rPr>
                    <a:t>Task-defined artifact</a:t>
                  </a:r>
                  <a:endParaRPr lang="zh-CN" sz="2300"/>
                </a:p>
              </p:txBody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1257300" y="6619875"/>
                  <a:ext cx="123825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112" b="1">
                      <a:solidFill>
                        <a:srgbClr val="25475E"/>
                      </a:solidFill>
                      <a:latin typeface="Comic Sans MS"/>
                      <a:ea typeface="Times New Roman"/>
                      <a:cs typeface="Times New Roman"/>
                    </a:rPr>
                    <a:t>Budget</a:t>
                  </a:r>
                  <a:endParaRPr lang="zh-CN" sz="2112">
                    <a:latin typeface="Comic Sans MS"/>
                  </a:endParaRPr>
                </a:p>
              </p:txBody>
            </p:sp>
            <p:sp>
              <p:nvSpPr>
                <p:cNvPr id="26" name="TextBox 26"/>
                <p:cNvSpPr txBox="1"/>
                <p:nvPr/>
              </p:nvSpPr>
              <p:spPr>
                <a:xfrm>
                  <a:off x="2476500" y="6619875"/>
                  <a:ext cx="238125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300">
                      <a:solidFill>
                        <a:srgbClr val="25475E"/>
                      </a:solidFill>
                      <a:latin typeface="Times New Roman"/>
                      <a:ea typeface="Times New Roman"/>
                      <a:cs typeface="Times New Roman"/>
                    </a:rPr>
                    <a:t>Time and resources</a:t>
                  </a:r>
                  <a:endParaRPr lang="zh-CN" sz="2300"/>
                </a:p>
              </p:txBody>
            </p:sp>
            <p:sp>
              <p:nvSpPr>
                <p:cNvPr id="27" name="TextBox 27"/>
                <p:cNvSpPr txBox="1"/>
                <p:nvPr/>
              </p:nvSpPr>
              <p:spPr>
                <a:xfrm>
                  <a:off x="1257300" y="7162800"/>
                  <a:ext cx="123825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112" b="1">
                      <a:solidFill>
                        <a:srgbClr val="25475E"/>
                      </a:solidFill>
                      <a:latin typeface="Comic Sans MS"/>
                      <a:ea typeface="Times New Roman"/>
                      <a:cs typeface="Times New Roman"/>
                    </a:rPr>
                    <a:t>Grader</a:t>
                  </a:r>
                  <a:endParaRPr lang="zh-CN" sz="2112">
                    <a:latin typeface="Comic Sans MS"/>
                  </a:endParaRPr>
                </a:p>
              </p:txBody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2476500" y="7162800"/>
                  <a:ext cx="238125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300">
                      <a:solidFill>
                        <a:srgbClr val="25475E"/>
                      </a:solidFill>
                      <a:latin typeface="Times New Roman"/>
                      <a:ea typeface="Times New Roman"/>
                      <a:cs typeface="Times New Roman"/>
                    </a:rPr>
                    <a:t>Task-specific criteria</a:t>
                  </a:r>
                  <a:endParaRPr lang="zh-CN" sz="2300"/>
                </a:p>
              </p:txBody>
            </p:sp>
          </p:grpSp>
        </p:grpSp>
        <p:grpSp>
          <p:nvGrpSpPr>
            <p:cNvPr id="1008" name="Execution workspace"/>
            <p:cNvGrpSpPr/>
            <p:nvPr/>
          </p:nvGrpSpPr>
          <p:grpSpPr>
            <a:xfrm>
              <a:off x="4981575" y="1285875"/>
              <a:ext cx="7210425" cy="6953250"/>
              <a:chOff x="4981575" y="1285875"/>
              <a:chExt cx="7210425" cy="6953250"/>
            </a:xfrm>
          </p:grpSpPr>
          <p:grpSp>
            <p:nvGrpSpPr>
              <p:cNvPr id="1003" name="Agent workspace"/>
              <p:cNvGrpSpPr/>
              <p:nvPr/>
            </p:nvGrpSpPr>
            <p:grpSpPr>
              <a:xfrm>
                <a:off x="6124575" y="1285875"/>
                <a:ext cx="5953125" cy="5210175"/>
                <a:chOff x="6124575" y="1285875"/>
                <a:chExt cx="5953125" cy="5210175"/>
              </a:xfrm>
            </p:grpSpPr>
            <p:sp>
              <p:nvSpPr>
                <p:cNvPr id="29" name="Rect 29"/>
                <p:cNvSpPr/>
                <p:nvPr/>
              </p:nvSpPr>
              <p:spPr>
                <a:xfrm>
                  <a:off x="6124575" y="3895725"/>
                  <a:ext cx="1619250" cy="1152525"/>
                </a:xfrm>
                <a:prstGeom prst="rect">
                  <a:avLst/>
                </a:prstGeom>
                <a:solidFill>
                  <a:srgbClr val="FDFCFD"/>
                </a:solidFill>
                <a:ln w="10160">
                  <a:solidFill>
                    <a:srgbClr val="68538F"/>
                  </a:solidFill>
                </a:ln>
              </p:spPr>
              <p:txBody>
                <a:bodyPr/>
                <a:lstStyle/>
                <a:p/>
              </p:txBody>
            </p:sp>
            <p:sp>
              <p:nvSpPr>
                <p:cNvPr id="30" name="Rect 30"/>
                <p:cNvSpPr/>
                <p:nvPr/>
              </p:nvSpPr>
              <p:spPr>
                <a:xfrm>
                  <a:off x="8181975" y="3448050"/>
                  <a:ext cx="1695450" cy="1095375"/>
                </a:xfrm>
                <a:prstGeom prst="rect">
                  <a:avLst/>
                </a:prstGeom>
                <a:solidFill>
                  <a:srgbClr val="FDFCFD"/>
                </a:solidFill>
                <a:ln w="10160">
                  <a:solidFill>
                    <a:srgbClr val="68538F"/>
                  </a:solidFill>
                </a:ln>
              </p:spPr>
              <p:txBody>
                <a:bodyPr/>
                <a:lstStyle/>
                <a:p/>
              </p:txBody>
            </p:sp>
            <p:sp>
              <p:nvSpPr>
                <p:cNvPr id="31" name="Rect 31"/>
                <p:cNvSpPr/>
                <p:nvPr/>
              </p:nvSpPr>
              <p:spPr>
                <a:xfrm>
                  <a:off x="8124825" y="5334000"/>
                  <a:ext cx="2181225" cy="1162050"/>
                </a:xfrm>
                <a:prstGeom prst="rect">
                  <a:avLst/>
                </a:prstGeom>
                <a:solidFill>
                  <a:srgbClr val="FDFCFD"/>
                </a:solidFill>
                <a:ln w="10160">
                  <a:solidFill>
                    <a:srgbClr val="68538F"/>
                  </a:solidFill>
                </a:ln>
              </p:spPr>
              <p:txBody>
                <a:bodyPr/>
                <a:lstStyle/>
                <a:p/>
              </p:txBody>
            </p:sp>
            <p:pic>
              <p:nvPicPr>
                <p:cNvPr id="32" name="agent"/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915275" y="2000250"/>
                  <a:ext cx="942975" cy="723900"/>
                </a:xfrm>
                <a:prstGeom prst="rect">
                  <a:avLst/>
                </a:prstGeom>
              </p:spPr>
            </p:pic>
            <p:pic>
              <p:nvPicPr>
                <p:cNvPr id="33" name="code-glyph"/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391275" y="4429125"/>
                  <a:ext cx="1057275" cy="495300"/>
                </a:xfrm>
                <a:prstGeom prst="rect">
                  <a:avLst/>
                </a:prstGeom>
              </p:spPr>
            </p:pic>
            <p:pic>
              <p:nvPicPr>
                <p:cNvPr id="34" name="run-icon"/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782050" y="3971925"/>
                  <a:ext cx="438150" cy="428625"/>
                </a:xfrm>
                <a:prstGeom prst="rect">
                  <a:avLst/>
                </a:prstGeom>
              </p:spPr>
            </p:pic>
            <p:pic>
              <p:nvPicPr>
                <p:cNvPr id="35" name="terminal"/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487025" y="3295650"/>
                  <a:ext cx="695325" cy="561975"/>
                </a:xfrm>
                <a:prstGeom prst="rect">
                  <a:avLst/>
                </a:prstGeom>
              </p:spPr>
            </p:pic>
            <p:sp>
              <p:nvSpPr>
                <p:cNvPr id="36" name="Path 36"/>
                <p:cNvSpPr/>
                <p:nvPr/>
              </p:nvSpPr>
              <p:spPr>
                <a:xfrm>
                  <a:off x="8353425" y="5924129"/>
                  <a:ext cx="1714500" cy="4371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9904"/>
                      </a:moveTo>
                      <a:lnTo>
                        <a:pt x="300" y="7090"/>
                      </a:lnTo>
                      <a:lnTo>
                        <a:pt x="600" y="4523"/>
                      </a:lnTo>
                      <a:lnTo>
                        <a:pt x="900" y="2417"/>
                      </a:lnTo>
                      <a:lnTo>
                        <a:pt x="1200" y="927"/>
                      </a:lnTo>
                      <a:lnTo>
                        <a:pt x="1500" y="125"/>
                      </a:lnTo>
                      <a:lnTo>
                        <a:pt x="1800" y="0"/>
                      </a:lnTo>
                      <a:lnTo>
                        <a:pt x="2100" y="463"/>
                      </a:lnTo>
                      <a:lnTo>
                        <a:pt x="2400" y="1363"/>
                      </a:lnTo>
                      <a:lnTo>
                        <a:pt x="2700" y="2521"/>
                      </a:lnTo>
                      <a:lnTo>
                        <a:pt x="3000" y="3753"/>
                      </a:lnTo>
                      <a:lnTo>
                        <a:pt x="3300" y="4907"/>
                      </a:lnTo>
                      <a:lnTo>
                        <a:pt x="3600" y="5881"/>
                      </a:lnTo>
                      <a:lnTo>
                        <a:pt x="3900" y="6642"/>
                      </a:lnTo>
                      <a:lnTo>
                        <a:pt x="4200" y="7222"/>
                      </a:lnTo>
                      <a:lnTo>
                        <a:pt x="4500" y="7708"/>
                      </a:lnTo>
                      <a:lnTo>
                        <a:pt x="4800" y="8225"/>
                      </a:lnTo>
                      <a:lnTo>
                        <a:pt x="5100" y="8903"/>
                      </a:lnTo>
                      <a:lnTo>
                        <a:pt x="5400" y="9849"/>
                      </a:lnTo>
                      <a:lnTo>
                        <a:pt x="5700" y="11123"/>
                      </a:lnTo>
                      <a:lnTo>
                        <a:pt x="6000" y="12719"/>
                      </a:lnTo>
                      <a:lnTo>
                        <a:pt x="6300" y="14558"/>
                      </a:lnTo>
                      <a:lnTo>
                        <a:pt x="6600" y="16496"/>
                      </a:lnTo>
                      <a:lnTo>
                        <a:pt x="6900" y="18342"/>
                      </a:lnTo>
                      <a:lnTo>
                        <a:pt x="7200" y="19881"/>
                      </a:lnTo>
                      <a:lnTo>
                        <a:pt x="7500" y="20914"/>
                      </a:lnTo>
                      <a:lnTo>
                        <a:pt x="7800" y="21281"/>
                      </a:lnTo>
                      <a:lnTo>
                        <a:pt x="8100" y="20893"/>
                      </a:lnTo>
                      <a:lnTo>
                        <a:pt x="8400" y="19744"/>
                      </a:lnTo>
                      <a:lnTo>
                        <a:pt x="8700" y="17917"/>
                      </a:lnTo>
                      <a:lnTo>
                        <a:pt x="9000" y="15571"/>
                      </a:lnTo>
                      <a:lnTo>
                        <a:pt x="9300" y="12926"/>
                      </a:lnTo>
                      <a:lnTo>
                        <a:pt x="9600" y="10224"/>
                      </a:lnTo>
                      <a:lnTo>
                        <a:pt x="9900" y="7703"/>
                      </a:lnTo>
                      <a:lnTo>
                        <a:pt x="10200" y="5562"/>
                      </a:lnTo>
                      <a:lnTo>
                        <a:pt x="10500" y="3937"/>
                      </a:lnTo>
                      <a:lnTo>
                        <a:pt x="10800" y="2885"/>
                      </a:lnTo>
                      <a:lnTo>
                        <a:pt x="11100" y="2383"/>
                      </a:lnTo>
                      <a:lnTo>
                        <a:pt x="11400" y="2339"/>
                      </a:lnTo>
                      <a:lnTo>
                        <a:pt x="11700" y="2615"/>
                      </a:lnTo>
                      <a:lnTo>
                        <a:pt x="12000" y="3051"/>
                      </a:lnTo>
                      <a:lnTo>
                        <a:pt x="12300" y="3500"/>
                      </a:lnTo>
                      <a:lnTo>
                        <a:pt x="12600" y="3852"/>
                      </a:lnTo>
                      <a:lnTo>
                        <a:pt x="12900" y="4056"/>
                      </a:lnTo>
                      <a:lnTo>
                        <a:pt x="13200" y="4127"/>
                      </a:lnTo>
                      <a:lnTo>
                        <a:pt x="13500" y="4140"/>
                      </a:lnTo>
                      <a:lnTo>
                        <a:pt x="13800" y="4219"/>
                      </a:lnTo>
                      <a:lnTo>
                        <a:pt x="14100" y="4505"/>
                      </a:lnTo>
                      <a:lnTo>
                        <a:pt x="14400" y="5136"/>
                      </a:lnTo>
                      <a:lnTo>
                        <a:pt x="14700" y="6209"/>
                      </a:lnTo>
                      <a:lnTo>
                        <a:pt x="15000" y="7761"/>
                      </a:lnTo>
                      <a:lnTo>
                        <a:pt x="15300" y="9756"/>
                      </a:lnTo>
                      <a:lnTo>
                        <a:pt x="15600" y="12079"/>
                      </a:lnTo>
                      <a:lnTo>
                        <a:pt x="15900" y="14552"/>
                      </a:lnTo>
                      <a:lnTo>
                        <a:pt x="16200" y="16953"/>
                      </a:lnTo>
                      <a:lnTo>
                        <a:pt x="16500" y="19045"/>
                      </a:lnTo>
                      <a:lnTo>
                        <a:pt x="16800" y="20614"/>
                      </a:lnTo>
                      <a:lnTo>
                        <a:pt x="17100" y="21495"/>
                      </a:lnTo>
                      <a:lnTo>
                        <a:pt x="17400" y="21600"/>
                      </a:lnTo>
                      <a:lnTo>
                        <a:pt x="17700" y="20926"/>
                      </a:lnTo>
                      <a:lnTo>
                        <a:pt x="18000" y="19559"/>
                      </a:lnTo>
                      <a:lnTo>
                        <a:pt x="18300" y="17658"/>
                      </a:lnTo>
                      <a:lnTo>
                        <a:pt x="18600" y="15433"/>
                      </a:lnTo>
                      <a:lnTo>
                        <a:pt x="18900" y="13113"/>
                      </a:lnTo>
                      <a:lnTo>
                        <a:pt x="19200" y="10913"/>
                      </a:lnTo>
                      <a:lnTo>
                        <a:pt x="19500" y="9004"/>
                      </a:lnTo>
                      <a:lnTo>
                        <a:pt x="19800" y="7493"/>
                      </a:lnTo>
                      <a:lnTo>
                        <a:pt x="20100" y="6413"/>
                      </a:lnTo>
                      <a:lnTo>
                        <a:pt x="20400" y="5722"/>
                      </a:lnTo>
                      <a:lnTo>
                        <a:pt x="20700" y="5323"/>
                      </a:lnTo>
                      <a:lnTo>
                        <a:pt x="21000" y="5083"/>
                      </a:lnTo>
                      <a:lnTo>
                        <a:pt x="21300" y="4865"/>
                      </a:lnTo>
                      <a:lnTo>
                        <a:pt x="21600" y="4556"/>
                      </a:lnTo>
                    </a:path>
                  </a:pathLst>
                </a:custGeom>
                <a:noFill/>
                <a:ln w="15240" cap="rnd">
                  <a:solidFill>
                    <a:srgbClr val="000000"/>
                  </a:solidFill>
                  <a:prstDash val="solid"/>
                  <a:tailEnd type="none"/>
                </a:ln>
                <a:effectLst>
                  <a:outerShdw blurRad="12700" dist="9000" dir="2700000" algn="ctr" rotWithShape="0">
                    <a:srgbClr val="000000">
                      <a:alpha val="22000"/>
                    </a:srgbClr>
                  </a:outerShdw>
                </a:effectLst>
              </p:spPr>
              <p:txBody>
                <a:bodyPr/>
                <a:lstStyle/>
                <a:p/>
              </p:txBody>
            </p:sp>
            <p:sp>
              <p:nvSpPr>
                <p:cNvPr id="37" name="Path 37"/>
                <p:cNvSpPr/>
                <p:nvPr/>
              </p:nvSpPr>
              <p:spPr>
                <a:xfrm>
                  <a:off x="8353425" y="5886597"/>
                  <a:ext cx="1714500" cy="4484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5209"/>
                      </a:moveTo>
                      <a:lnTo>
                        <a:pt x="300" y="3077"/>
                      </a:lnTo>
                      <a:lnTo>
                        <a:pt x="600" y="1390"/>
                      </a:lnTo>
                      <a:lnTo>
                        <a:pt x="900" y="326"/>
                      </a:lnTo>
                      <a:lnTo>
                        <a:pt x="1200" y="0"/>
                      </a:lnTo>
                      <a:lnTo>
                        <a:pt x="1500" y="443"/>
                      </a:lnTo>
                      <a:lnTo>
                        <a:pt x="1800" y="1599"/>
                      </a:lnTo>
                      <a:lnTo>
                        <a:pt x="2100" y="3335"/>
                      </a:lnTo>
                      <a:lnTo>
                        <a:pt x="2400" y="5459"/>
                      </a:lnTo>
                      <a:lnTo>
                        <a:pt x="2700" y="7750"/>
                      </a:lnTo>
                      <a:lnTo>
                        <a:pt x="3000" y="9989"/>
                      </a:lnTo>
                      <a:lnTo>
                        <a:pt x="3300" y="11988"/>
                      </a:lnTo>
                      <a:lnTo>
                        <a:pt x="3600" y="13619"/>
                      </a:lnTo>
                      <a:lnTo>
                        <a:pt x="3900" y="14822"/>
                      </a:lnTo>
                      <a:lnTo>
                        <a:pt x="4200" y="15613"/>
                      </a:lnTo>
                      <a:lnTo>
                        <a:pt x="4500" y="16070"/>
                      </a:lnTo>
                      <a:lnTo>
                        <a:pt x="4800" y="16314"/>
                      </a:lnTo>
                      <a:lnTo>
                        <a:pt x="5100" y="16481"/>
                      </a:lnTo>
                      <a:lnTo>
                        <a:pt x="5400" y="16693"/>
                      </a:lnTo>
                      <a:lnTo>
                        <a:pt x="5700" y="17036"/>
                      </a:lnTo>
                      <a:lnTo>
                        <a:pt x="6000" y="17534"/>
                      </a:lnTo>
                      <a:lnTo>
                        <a:pt x="6300" y="18149"/>
                      </a:lnTo>
                      <a:lnTo>
                        <a:pt x="6600" y="18784"/>
                      </a:lnTo>
                      <a:lnTo>
                        <a:pt x="6900" y="19296"/>
                      </a:lnTo>
                      <a:lnTo>
                        <a:pt x="7200" y="19524"/>
                      </a:lnTo>
                      <a:lnTo>
                        <a:pt x="7500" y="19317"/>
                      </a:lnTo>
                      <a:lnTo>
                        <a:pt x="7800" y="18566"/>
                      </a:lnTo>
                      <a:lnTo>
                        <a:pt x="8100" y="17221"/>
                      </a:lnTo>
                      <a:lnTo>
                        <a:pt x="8400" y="15314"/>
                      </a:lnTo>
                      <a:lnTo>
                        <a:pt x="8700" y="12951"/>
                      </a:lnTo>
                      <a:lnTo>
                        <a:pt x="9000" y="10311"/>
                      </a:lnTo>
                      <a:lnTo>
                        <a:pt x="9300" y="7619"/>
                      </a:lnTo>
                      <a:lnTo>
                        <a:pt x="9600" y="5116"/>
                      </a:lnTo>
                      <a:lnTo>
                        <a:pt x="9900" y="3029"/>
                      </a:lnTo>
                      <a:lnTo>
                        <a:pt x="10200" y="1539"/>
                      </a:lnTo>
                      <a:lnTo>
                        <a:pt x="10500" y="757"/>
                      </a:lnTo>
                      <a:lnTo>
                        <a:pt x="10800" y="709"/>
                      </a:lnTo>
                      <a:lnTo>
                        <a:pt x="11100" y="1338"/>
                      </a:lnTo>
                      <a:lnTo>
                        <a:pt x="11400" y="2514"/>
                      </a:lnTo>
                      <a:lnTo>
                        <a:pt x="11700" y="4058"/>
                      </a:lnTo>
                      <a:lnTo>
                        <a:pt x="12000" y="5769"/>
                      </a:lnTo>
                      <a:lnTo>
                        <a:pt x="12300" y="7457"/>
                      </a:lnTo>
                      <a:lnTo>
                        <a:pt x="12600" y="8971"/>
                      </a:lnTo>
                      <a:lnTo>
                        <a:pt x="12900" y="10217"/>
                      </a:lnTo>
                      <a:lnTo>
                        <a:pt x="13200" y="11173"/>
                      </a:lnTo>
                      <a:lnTo>
                        <a:pt x="13500" y="11881"/>
                      </a:lnTo>
                      <a:lnTo>
                        <a:pt x="13800" y="12435"/>
                      </a:lnTo>
                      <a:lnTo>
                        <a:pt x="14100" y="12958"/>
                      </a:lnTo>
                      <a:lnTo>
                        <a:pt x="14400" y="13572"/>
                      </a:lnTo>
                      <a:lnTo>
                        <a:pt x="14700" y="14374"/>
                      </a:lnTo>
                      <a:lnTo>
                        <a:pt x="15000" y="15409"/>
                      </a:lnTo>
                      <a:lnTo>
                        <a:pt x="15300" y="16658"/>
                      </a:lnTo>
                      <a:lnTo>
                        <a:pt x="15600" y="18036"/>
                      </a:lnTo>
                      <a:lnTo>
                        <a:pt x="15900" y="19399"/>
                      </a:lnTo>
                      <a:lnTo>
                        <a:pt x="16200" y="20568"/>
                      </a:lnTo>
                      <a:lnTo>
                        <a:pt x="16500" y="21357"/>
                      </a:lnTo>
                      <a:lnTo>
                        <a:pt x="16800" y="21600"/>
                      </a:lnTo>
                      <a:lnTo>
                        <a:pt x="17100" y="21184"/>
                      </a:lnTo>
                      <a:lnTo>
                        <a:pt x="17400" y="20067"/>
                      </a:lnTo>
                      <a:lnTo>
                        <a:pt x="17700" y="18292"/>
                      </a:lnTo>
                      <a:lnTo>
                        <a:pt x="18000" y="15982"/>
                      </a:lnTo>
                      <a:lnTo>
                        <a:pt x="18300" y="13328"/>
                      </a:lnTo>
                      <a:lnTo>
                        <a:pt x="18600" y="10563"/>
                      </a:lnTo>
                      <a:lnTo>
                        <a:pt x="18900" y="7932"/>
                      </a:lnTo>
                      <a:lnTo>
                        <a:pt x="19200" y="5657"/>
                      </a:lnTo>
                      <a:lnTo>
                        <a:pt x="19500" y="3910"/>
                      </a:lnTo>
                      <a:lnTo>
                        <a:pt x="19800" y="2792"/>
                      </a:lnTo>
                      <a:lnTo>
                        <a:pt x="20100" y="2320"/>
                      </a:lnTo>
                      <a:lnTo>
                        <a:pt x="20400" y="2435"/>
                      </a:lnTo>
                      <a:lnTo>
                        <a:pt x="20700" y="3012"/>
                      </a:lnTo>
                      <a:lnTo>
                        <a:pt x="21000" y="3888"/>
                      </a:lnTo>
                      <a:lnTo>
                        <a:pt x="21300" y="4889"/>
                      </a:lnTo>
                      <a:lnTo>
                        <a:pt x="21600" y="5861"/>
                      </a:lnTo>
                    </a:path>
                  </a:pathLst>
                </a:custGeom>
                <a:noFill/>
                <a:ln w="15240" cap="rnd">
                  <a:solidFill>
                    <a:srgbClr val="000000"/>
                  </a:solidFill>
                  <a:tailEnd type="none"/>
                  <a:prstDash val="dash"/>
                </a:ln>
                <a:effectLst>
                  <a:outerShdw blurRad="12700" dist="9000" dir="2700000" algn="ctr" rotWithShape="0">
                    <a:srgbClr val="000000">
                      <a:alpha val="22000"/>
                    </a:srgbClr>
                  </a:outerShdw>
                </a:effectLst>
              </p:spPr>
              <p:txBody>
                <a:bodyPr/>
                <a:lstStyle/>
                <a:p/>
              </p:txBody>
            </p:sp>
            <p:sp>
              <p:nvSpPr>
                <p:cNvPr id="38" name="Path 38"/>
                <p:cNvSpPr/>
                <p:nvPr/>
              </p:nvSpPr>
              <p:spPr>
                <a:xfrm>
                  <a:off x="6934200" y="3590925"/>
                  <a:ext cx="1133475" cy="200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21600"/>
                      </a:moveTo>
                      <a:lnTo>
                        <a:pt x="0" y="0"/>
                      </a:lnTo>
                      <a:lnTo>
                        <a:pt x="21600" y="0"/>
                      </a:lnTo>
                    </a:path>
                  </a:pathLst>
                </a:custGeom>
                <a:noFill/>
                <a:ln w="17780">
                  <a:solidFill>
                    <a:srgbClr val="68538F"/>
                  </a:solidFill>
                  <a:prstDash val="solid"/>
                  <a:tailEnd type="triangle"/>
                </a:ln>
              </p:spPr>
              <p:txBody>
                <a:bodyPr/>
                <a:lstStyle/>
                <a:p/>
              </p:txBody>
            </p:sp>
            <p:sp>
              <p:nvSpPr>
                <p:cNvPr id="39" name="Path 39"/>
                <p:cNvSpPr/>
                <p:nvPr/>
              </p:nvSpPr>
              <p:spPr>
                <a:xfrm>
                  <a:off x="9029700" y="4648200"/>
                  <a:ext cx="953" cy="590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0" y="21600"/>
                      </a:lnTo>
                    </a:path>
                  </a:pathLst>
                </a:custGeom>
                <a:noFill/>
                <a:ln w="17780">
                  <a:solidFill>
                    <a:srgbClr val="68538F"/>
                  </a:solidFill>
                  <a:prstDash val="solid"/>
                  <a:tailEnd type="triangle"/>
                </a:ln>
              </p:spPr>
              <p:txBody>
                <a:bodyPr/>
                <a:lstStyle/>
                <a:p/>
              </p:txBody>
            </p:sp>
            <p:sp>
              <p:nvSpPr>
                <p:cNvPr id="40" name="Path 40"/>
                <p:cNvSpPr/>
                <p:nvPr/>
              </p:nvSpPr>
              <p:spPr>
                <a:xfrm>
                  <a:off x="6934200" y="5153025"/>
                  <a:ext cx="1104900" cy="866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21600" y="21600"/>
                      </a:moveTo>
                      <a:lnTo>
                        <a:pt x="0" y="2160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7780">
                  <a:solidFill>
                    <a:srgbClr val="68538F"/>
                  </a:solidFill>
                  <a:prstDash val="solid"/>
                  <a:tailEnd type="triangle"/>
                </a:ln>
              </p:spPr>
              <p:txBody>
                <a:bodyPr/>
                <a:lstStyle/>
                <a:p/>
              </p:txBody>
            </p:sp>
            <p:sp>
              <p:nvSpPr>
                <p:cNvPr id="41" name="Path 41"/>
                <p:cNvSpPr/>
                <p:nvPr/>
              </p:nvSpPr>
              <p:spPr>
                <a:xfrm>
                  <a:off x="9972675" y="3724275"/>
                  <a:ext cx="409575" cy="9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21600" y="0"/>
                      </a:lnTo>
                    </a:path>
                  </a:pathLst>
                </a:custGeom>
                <a:noFill/>
                <a:ln w="15240">
                  <a:solidFill>
                    <a:srgbClr val="68538F"/>
                  </a:solidFill>
                  <a:prstDash val="solid"/>
                  <a:tailEnd type="triangle"/>
                </a:ln>
              </p:spPr>
              <p:txBody>
                <a:bodyPr/>
                <a:lstStyle/>
                <a:p/>
              </p:txBody>
            </p:sp>
            <p:sp>
              <p:nvSpPr>
                <p:cNvPr id="42" name="TextBox 42"/>
                <p:cNvSpPr txBox="1"/>
                <p:nvPr/>
              </p:nvSpPr>
              <p:spPr>
                <a:xfrm>
                  <a:off x="6381750" y="1285875"/>
                  <a:ext cx="4191000" cy="476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2640" b="1">
                      <a:solidFill>
                        <a:srgbClr val="68538F"/>
                      </a:solidFill>
                      <a:latin typeface="Comic Sans MS"/>
                      <a:ea typeface="Times New Roman"/>
                      <a:cs typeface="Times New Roman"/>
                    </a:rPr>
                    <a:t>Workspace</a:t>
                  </a:r>
                  <a:endParaRPr lang="zh-CN" sz="2640">
                    <a:latin typeface="Comic Sans MS"/>
                  </a:endParaRPr>
                </a:p>
              </p:txBody>
            </p:sp>
            <p:sp>
              <p:nvSpPr>
                <p:cNvPr id="43" name="TextBox 43"/>
                <p:cNvSpPr txBox="1"/>
                <p:nvPr/>
              </p:nvSpPr>
              <p:spPr>
                <a:xfrm>
                  <a:off x="7858125" y="2781300"/>
                  <a:ext cx="11049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2200" b="1">
                      <a:solidFill>
                        <a:srgbClr val="68538F"/>
                      </a:solidFill>
                      <a:latin typeface="Comic Sans MS"/>
                      <a:ea typeface="Times New Roman"/>
                      <a:cs typeface="Times New Roman"/>
                    </a:rPr>
                    <a:t>Agent</a:t>
                  </a:r>
                  <a:endParaRPr lang="zh-CN" sz="2200">
                    <a:latin typeface="Comic Sans MS"/>
                  </a:endParaRPr>
                </a:p>
              </p:txBody>
            </p:sp>
            <p:sp>
              <p:nvSpPr>
                <p:cNvPr id="44" name="TextBox 44"/>
                <p:cNvSpPr txBox="1"/>
                <p:nvPr/>
              </p:nvSpPr>
              <p:spPr>
                <a:xfrm>
                  <a:off x="6200775" y="3962400"/>
                  <a:ext cx="1476375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2200" b="1">
                      <a:solidFill>
                        <a:srgbClr val="68538F"/>
                      </a:solidFill>
                      <a:latin typeface="Comic Sans MS"/>
                      <a:ea typeface="Times New Roman"/>
                      <a:cs typeface="Times New Roman"/>
                    </a:rPr>
                    <a:t>Edit code</a:t>
                  </a:r>
                  <a:endParaRPr lang="zh-CN" sz="2200">
                    <a:latin typeface="Comic Sans MS"/>
                  </a:endParaRPr>
                </a:p>
              </p:txBody>
            </p:sp>
            <p:sp>
              <p:nvSpPr>
                <p:cNvPr id="45" name="TextBox 45"/>
                <p:cNvSpPr txBox="1"/>
                <p:nvPr/>
              </p:nvSpPr>
              <p:spPr>
                <a:xfrm>
                  <a:off x="8258175" y="3524250"/>
                  <a:ext cx="1533525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2200" b="1">
                      <a:solidFill>
                        <a:srgbClr val="68538F"/>
                      </a:solidFill>
                      <a:latin typeface="Comic Sans MS"/>
                      <a:ea typeface="Times New Roman"/>
                      <a:cs typeface="Times New Roman"/>
                    </a:rPr>
                    <a:t>Execute</a:t>
                  </a:r>
                  <a:endParaRPr lang="zh-CN" sz="2200">
                    <a:latin typeface="Comic Sans MS"/>
                  </a:endParaRPr>
                </a:p>
              </p:txBody>
            </p:sp>
            <p:sp>
              <p:nvSpPr>
                <p:cNvPr id="46" name="TextBox 46"/>
                <p:cNvSpPr txBox="1"/>
                <p:nvPr/>
              </p:nvSpPr>
              <p:spPr>
                <a:xfrm>
                  <a:off x="8210550" y="5391150"/>
                  <a:ext cx="200025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2200" b="1">
                      <a:solidFill>
                        <a:srgbClr val="68538F"/>
                      </a:solidFill>
                      <a:latin typeface="Comic Sans MS"/>
                      <a:ea typeface="Times New Roman"/>
                      <a:cs typeface="Times New Roman"/>
                    </a:rPr>
                    <a:t>Inspect output</a:t>
                  </a:r>
                  <a:endParaRPr lang="zh-CN" sz="2200">
                    <a:latin typeface="Comic Sans MS"/>
                  </a:endParaRPr>
                </a:p>
              </p:txBody>
            </p:sp>
            <p:sp>
              <p:nvSpPr>
                <p:cNvPr id="47" name="TextBox 47"/>
                <p:cNvSpPr txBox="1"/>
                <p:nvPr/>
              </p:nvSpPr>
              <p:spPr>
                <a:xfrm>
                  <a:off x="10306050" y="4000500"/>
                  <a:ext cx="1762125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300">
                      <a:solidFill>
                        <a:srgbClr val="25475E"/>
                      </a:solidFill>
                      <a:latin typeface="Times New Roman"/>
                      <a:ea typeface="Times New Roman"/>
                      <a:cs typeface="Times New Roman"/>
                    </a:rPr>
                    <a:t>Execution record</a:t>
                  </a:r>
                  <a:endParaRPr lang="zh-CN" sz="2300"/>
                </a:p>
              </p:txBody>
            </p:sp>
            <p:sp>
              <p:nvSpPr>
                <p:cNvPr id="48" name="TextBox 48"/>
                <p:cNvSpPr txBox="1"/>
                <p:nvPr/>
              </p:nvSpPr>
              <p:spPr>
                <a:xfrm>
                  <a:off x="10382250" y="4438650"/>
                  <a:ext cx="1695450" cy="3619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1936">
                      <a:solidFill>
                        <a:srgbClr val="25475E"/>
                      </a:solidFill>
                      <a:latin typeface="Comic Sans MS"/>
                      <a:ea typeface="Times New Roman"/>
                      <a:cs typeface="Times New Roman"/>
                    </a:rPr>
                    <a:t>Calls · status</a:t>
                  </a:r>
                  <a:endParaRPr lang="zh-CN" sz="1936">
                    <a:latin typeface="Comic Sans MS"/>
                  </a:endParaRPr>
                </a:p>
              </p:txBody>
            </p:sp>
            <p:sp>
              <p:nvSpPr>
                <p:cNvPr id="49" name="TextBox 49"/>
                <p:cNvSpPr txBox="1"/>
                <p:nvPr/>
              </p:nvSpPr>
              <p:spPr>
                <a:xfrm>
                  <a:off x="10382250" y="4791075"/>
                  <a:ext cx="1695450" cy="3619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1936">
                      <a:solidFill>
                        <a:srgbClr val="25475E"/>
                      </a:solidFill>
                      <a:latin typeface="Comic Sans MS"/>
                      <a:ea typeface="Times New Roman"/>
                      <a:cs typeface="Times New Roman"/>
                    </a:rPr>
                    <a:t>Logs · errors</a:t>
                  </a:r>
                  <a:endParaRPr lang="zh-CN" sz="1936">
                    <a:latin typeface="Comic Sans MS"/>
                  </a:endParaRPr>
                </a:p>
              </p:txBody>
            </p:sp>
          </p:grpSp>
          <p:grpSp>
            <p:nvGrpSpPr>
              <p:cNvPr id="1004" name="Saved artifact and submission"/>
              <p:cNvGrpSpPr/>
              <p:nvPr/>
            </p:nvGrpSpPr>
            <p:grpSpPr>
              <a:xfrm>
                <a:off x="4981575" y="3295650"/>
                <a:ext cx="7210425" cy="4943475"/>
                <a:chOff x="4981575" y="3295650"/>
                <a:chExt cx="7210425" cy="4943475"/>
              </a:xfrm>
            </p:grpSpPr>
            <p:pic>
              <p:nvPicPr>
                <p:cNvPr id="50" name="artifact"/>
                <p:cNvPicPr/>
                <p:nvPr/>
              </p:nvPicPr>
              <p:blipFill>
                <a:blip r:embed="rId12">
                  <a:grayscl/>
                </a:blip>
                <a:stretch>
                  <a:fillRect/>
                </a:stretch>
              </p:blipFill>
              <p:spPr>
                <a:xfrm>
                  <a:off x="8648700" y="7067550"/>
                  <a:ext cx="657225" cy="714375"/>
                </a:xfrm>
                <a:prstGeom prst="rect">
                  <a:avLst/>
                </a:prstGeom>
                <a:effectLst>
                  <a:outerShdw blurRad="12700" dist="9000" dir="2700000" algn="ctr" rotWithShape="0">
                    <a:srgbClr val="000000">
                      <a:alpha val="22000"/>
                    </a:srgbClr>
                  </a:outerShdw>
                </a:effectLst>
              </p:spPr>
            </p:pic>
            <p:sp>
              <p:nvSpPr>
                <p:cNvPr id="51" name="Path 51"/>
                <p:cNvSpPr/>
                <p:nvPr/>
              </p:nvSpPr>
              <p:spPr>
                <a:xfrm>
                  <a:off x="9077325" y="6581775"/>
                  <a:ext cx="953" cy="381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0" y="21600"/>
                      </a:lnTo>
                    </a:path>
                  </a:pathLst>
                </a:custGeom>
                <a:noFill/>
                <a:ln w="17780">
                  <a:solidFill>
                    <a:srgbClr val="68538F"/>
                  </a:solidFill>
                  <a:prstDash val="solid"/>
                  <a:tailEnd type="triangle"/>
                </a:ln>
              </p:spPr>
              <p:txBody>
                <a:bodyPr/>
                <a:lstStyle/>
                <a:p/>
              </p:txBody>
            </p:sp>
            <p:sp>
              <p:nvSpPr>
                <p:cNvPr id="52" name="Path 52"/>
                <p:cNvSpPr/>
                <p:nvPr/>
              </p:nvSpPr>
              <p:spPr>
                <a:xfrm>
                  <a:off x="9525000" y="7467600"/>
                  <a:ext cx="2667000" cy="9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21600" y="0"/>
                      </a:lnTo>
                    </a:path>
                  </a:pathLst>
                </a:custGeom>
                <a:noFill/>
                <a:ln w="20320">
                  <a:solidFill>
                    <a:srgbClr val="327AA6"/>
                  </a:solidFill>
                  <a:prstDash val="solid"/>
                  <a:tailEnd type="triangle"/>
                </a:ln>
              </p:spPr>
              <p:txBody>
                <a:bodyPr/>
                <a:lstStyle/>
                <a:p/>
              </p:txBody>
            </p:sp>
            <p:sp>
              <p:nvSpPr>
                <p:cNvPr id="53" name="Path 53"/>
                <p:cNvSpPr/>
                <p:nvPr/>
              </p:nvSpPr>
              <p:spPr>
                <a:xfrm>
                  <a:off x="4981575" y="4257675"/>
                  <a:ext cx="1028700" cy="9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21600" y="0"/>
                      </a:lnTo>
                    </a:path>
                  </a:pathLst>
                </a:custGeom>
                <a:noFill/>
                <a:ln w="17780">
                  <a:solidFill>
                    <a:srgbClr val="327AA6"/>
                  </a:solidFill>
                  <a:prstDash val="solid"/>
                  <a:tailEnd type="triangle"/>
                </a:ln>
              </p:spPr>
              <p:txBody>
                <a:bodyPr/>
                <a:lstStyle/>
                <a:p/>
              </p:txBody>
            </p:sp>
            <p:sp>
              <p:nvSpPr>
                <p:cNvPr id="54" name="TextBox 54"/>
                <p:cNvSpPr txBox="1"/>
                <p:nvPr/>
              </p:nvSpPr>
              <p:spPr>
                <a:xfrm>
                  <a:off x="8153400" y="7858125"/>
                  <a:ext cx="19050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2200" b="1">
                      <a:solidFill>
                        <a:srgbClr val="25475E"/>
                      </a:solidFill>
                      <a:latin typeface="Comic Sans MS"/>
                      <a:ea typeface="Times New Roman"/>
                      <a:cs typeface="Times New Roman"/>
                    </a:rPr>
                    <a:t>Saved artifact</a:t>
                  </a:r>
                  <a:endParaRPr lang="zh-CN" sz="2200">
                    <a:latin typeface="Comic Sans MS"/>
                  </a:endParaRPr>
                </a:p>
              </p:txBody>
            </p:sp>
            <p:sp>
              <p:nvSpPr>
                <p:cNvPr id="55" name="TextBox 55"/>
                <p:cNvSpPr txBox="1"/>
                <p:nvPr/>
              </p:nvSpPr>
              <p:spPr>
                <a:xfrm>
                  <a:off x="10287000" y="6981825"/>
                  <a:ext cx="142875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2200">
                      <a:solidFill>
                        <a:srgbClr val="327AA6"/>
                      </a:solidFill>
                      <a:latin typeface="Comic Sans MS"/>
                      <a:ea typeface="Times New Roman"/>
                      <a:cs typeface="Times New Roman"/>
                    </a:rPr>
                    <a:t>Submit</a:t>
                  </a:r>
                  <a:endParaRPr lang="zh-CN" sz="2200">
                    <a:latin typeface="Comic Sans MS"/>
                  </a:endParaRPr>
                </a:p>
              </p:txBody>
            </p:sp>
            <p:sp>
              <p:nvSpPr>
                <p:cNvPr id="56" name="TextBox 56"/>
                <p:cNvSpPr txBox="1"/>
                <p:nvPr/>
              </p:nvSpPr>
              <p:spPr>
                <a:xfrm>
                  <a:off x="5057775" y="3295650"/>
                  <a:ext cx="1047750" cy="7905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2112">
                      <a:solidFill>
                        <a:srgbClr val="327AA6"/>
                      </a:solidFill>
                      <a:latin typeface="Comic Sans MS"/>
                      <a:ea typeface="Times New Roman"/>
                      <a:cs typeface="Times New Roman"/>
                    </a:rPr>
                    <a:t>Access</a:t>
                  </a:r>
                  <a:endParaRPr lang="zh-CN" sz="2112">
                    <a:latin typeface="Comic Sans MS"/>
                  </a:endParaRPr>
                </a:p>
                <a:p>
                  <a:pPr algn="ctr"/>
                  <a:r>
                    <a:rPr lang="zh-CN" sz="2112">
                      <a:solidFill>
                        <a:srgbClr val="327AA6"/>
                      </a:solidFill>
                      <a:latin typeface="Comic Sans MS"/>
                      <a:ea typeface="Times New Roman"/>
                      <a:cs typeface="Times New Roman"/>
                    </a:rPr>
                    <a:t>resources</a:t>
                  </a:r>
                  <a:endParaRPr lang="zh-CN" sz="2112">
                    <a:latin typeface="Comic Sans MS"/>
                  </a:endParaRPr>
                </a:p>
              </p:txBody>
            </p:sp>
          </p:grpSp>
        </p:grpSp>
        <p:grpSp>
          <p:nvGrpSpPr>
            <p:cNvPr id="1009" name="Challenge grader"/>
            <p:cNvGrpSpPr/>
            <p:nvPr/>
          </p:nvGrpSpPr>
          <p:grpSpPr>
            <a:xfrm>
              <a:off x="12306300" y="1285875"/>
              <a:ext cx="4343400" cy="6686550"/>
              <a:chOff x="12306300" y="1285875"/>
              <a:chExt cx="4343400" cy="6686550"/>
            </a:xfrm>
          </p:grpSpPr>
          <p:grpSp>
            <p:nvGrpSpPr>
              <p:cNvPr id="1005" name="Grader validity checks"/>
              <p:cNvGrpSpPr/>
              <p:nvPr/>
            </p:nvGrpSpPr>
            <p:grpSpPr>
              <a:xfrm>
                <a:off x="12306300" y="1285875"/>
                <a:ext cx="4324350" cy="3391853"/>
                <a:chOff x="12306300" y="1285875"/>
                <a:chExt cx="4324350" cy="3391853"/>
              </a:xfrm>
            </p:grpSpPr>
            <p:pic>
              <p:nvPicPr>
                <p:cNvPr id="57" name="validity"/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2496800" y="2133600"/>
                  <a:ext cx="647700" cy="638175"/>
                </a:xfrm>
                <a:prstGeom prst="rect">
                  <a:avLst/>
                </a:prstGeom>
              </p:spPr>
            </p:pic>
            <p:sp>
              <p:nvSpPr>
                <p:cNvPr id="58" name="Path 58"/>
                <p:cNvSpPr/>
                <p:nvPr/>
              </p:nvSpPr>
              <p:spPr>
                <a:xfrm>
                  <a:off x="12306300" y="4676775"/>
                  <a:ext cx="4286250" cy="9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21600" y="0"/>
                      </a:lnTo>
                    </a:path>
                  </a:pathLst>
                </a:custGeom>
                <a:noFill/>
                <a:ln w="10160">
                  <a:solidFill>
                    <a:srgbClr val="B7C4CC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59" name="TextBox 59"/>
                <p:cNvSpPr txBox="1"/>
                <p:nvPr/>
              </p:nvSpPr>
              <p:spPr>
                <a:xfrm>
                  <a:off x="12411075" y="1285875"/>
                  <a:ext cx="4219575" cy="476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640" b="1">
                      <a:solidFill>
                        <a:srgbClr val="37856F"/>
                      </a:solidFill>
                      <a:latin typeface="Comic Sans MS"/>
                      <a:ea typeface="Times New Roman"/>
                      <a:cs typeface="Times New Roman"/>
                    </a:rPr>
                    <a:t>Challenge grader</a:t>
                  </a:r>
                  <a:endParaRPr lang="zh-CN" sz="2640">
                    <a:latin typeface="Comic Sans MS"/>
                  </a:endParaRPr>
                </a:p>
              </p:txBody>
            </p:sp>
            <p:sp>
              <p:nvSpPr>
                <p:cNvPr id="60" name="TextBox 60"/>
                <p:cNvSpPr txBox="1"/>
                <p:nvPr/>
              </p:nvSpPr>
              <p:spPr>
                <a:xfrm>
                  <a:off x="13411200" y="2190750"/>
                  <a:ext cx="2857500" cy="4286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376" b="1">
                      <a:solidFill>
                        <a:srgbClr val="37856F"/>
                      </a:solidFill>
                      <a:latin typeface="Comic Sans MS"/>
                      <a:ea typeface="Times New Roman"/>
                      <a:cs typeface="Times New Roman"/>
                    </a:rPr>
                    <a:t>Validity</a:t>
                  </a:r>
                  <a:endParaRPr lang="zh-CN" sz="2376">
                    <a:latin typeface="Comic Sans MS"/>
                  </a:endParaRPr>
                </a:p>
              </p:txBody>
            </p:sp>
            <p:sp>
              <p:nvSpPr>
                <p:cNvPr id="61" name="TextBox 61"/>
                <p:cNvSpPr txBox="1"/>
                <p:nvPr/>
              </p:nvSpPr>
              <p:spPr>
                <a:xfrm>
                  <a:off x="12515850" y="3057525"/>
                  <a:ext cx="4095750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500">
                      <a:solidFill>
                        <a:srgbClr val="25475E"/>
                      </a:solidFill>
                      <a:latin typeface="Times New Roman"/>
                      <a:ea typeface="Times New Roman"/>
                      <a:cs typeface="Times New Roman"/>
                    </a:rPr>
                    <a:t>File format and structure</a:t>
                  </a:r>
                  <a:endParaRPr lang="zh-CN" sz="2500"/>
                </a:p>
              </p:txBody>
            </p:sp>
            <p:sp>
              <p:nvSpPr>
                <p:cNvPr id="62" name="TextBox 62"/>
                <p:cNvSpPr txBox="1"/>
                <p:nvPr/>
              </p:nvSpPr>
              <p:spPr>
                <a:xfrm>
                  <a:off x="12515850" y="3543300"/>
                  <a:ext cx="4095750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500">
                      <a:solidFill>
                        <a:srgbClr val="25475E"/>
                      </a:solidFill>
                      <a:latin typeface="Times New Roman"/>
                      <a:ea typeface="Times New Roman"/>
                      <a:cs typeface="Times New Roman"/>
                    </a:rPr>
                    <a:t>Required outputs</a:t>
                  </a:r>
                  <a:endParaRPr lang="zh-CN" sz="2500"/>
                </a:p>
              </p:txBody>
            </p:sp>
            <p:sp>
              <p:nvSpPr>
                <p:cNvPr id="63" name="TextBox 63"/>
                <p:cNvSpPr txBox="1"/>
                <p:nvPr/>
              </p:nvSpPr>
              <p:spPr>
                <a:xfrm>
                  <a:off x="12515850" y="4029075"/>
                  <a:ext cx="4095750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500">
                      <a:solidFill>
                        <a:srgbClr val="25475E"/>
                      </a:solidFill>
                      <a:latin typeface="Times New Roman"/>
                      <a:ea typeface="Times New Roman"/>
                      <a:cs typeface="Times New Roman"/>
                    </a:rPr>
                    <a:t>Executable output</a:t>
                  </a:r>
                  <a:endParaRPr lang="zh-CN" sz="2500"/>
                </a:p>
              </p:txBody>
            </p:sp>
          </p:grpSp>
          <p:grpSp>
            <p:nvGrpSpPr>
              <p:cNvPr id="1006" name="Task performance grader"/>
              <p:cNvGrpSpPr/>
              <p:nvPr/>
            </p:nvGrpSpPr>
            <p:grpSpPr>
              <a:xfrm>
                <a:off x="12515850" y="5057775"/>
                <a:ext cx="4133850" cy="2914650"/>
                <a:chOff x="12515850" y="5057775"/>
                <a:chExt cx="4133850" cy="2914650"/>
              </a:xfrm>
            </p:grpSpPr>
            <p:pic>
              <p:nvPicPr>
                <p:cNvPr id="64" name="score-bars"/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2515850" y="5057775"/>
                  <a:ext cx="619125" cy="552450"/>
                </a:xfrm>
                <a:prstGeom prst="rect">
                  <a:avLst/>
                </a:prstGeom>
              </p:spPr>
            </p:pic>
            <p:sp>
              <p:nvSpPr>
                <p:cNvPr id="65" name="Path 65"/>
                <p:cNvSpPr/>
                <p:nvPr/>
              </p:nvSpPr>
              <p:spPr>
                <a:xfrm>
                  <a:off x="12592050" y="5876925"/>
                  <a:ext cx="2152650" cy="895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0" y="21600"/>
                      </a:lnTo>
                      <a:lnTo>
                        <a:pt x="21600" y="21600"/>
                      </a:lnTo>
                    </a:path>
                  </a:pathLst>
                </a:custGeom>
                <a:noFill/>
                <a:ln w="25400">
                  <a:gradFill rotWithShape="1">
                    <a:gsLst>
                      <a:gs pos="0">
                        <a:srgbClr val="B4BAC0"/>
                      </a:gs>
                      <a:gs pos="45000">
                        <a:srgbClr val="747C83"/>
                      </a:gs>
                      <a:gs pos="100000">
                        <a:srgbClr val="343B41"/>
                      </a:gs>
                    </a:gsLst>
                    <a:lin ang="0" scaled="1"/>
                  </a:gradFill>
                  <a:prstDash val="solid"/>
                  <a:tailEnd type="triangle"/>
                </a:ln>
                <a:effectLst>
                  <a:outerShdw blurRad="12700" dist="9000" dir="2700000" algn="ctr" rotWithShape="0">
                    <a:srgbClr val="000000">
                      <a:alpha val="22000"/>
                    </a:srgbClr>
                  </a:outerShdw>
                </a:effectLst>
              </p:spPr>
              <p:txBody>
                <a:bodyPr/>
                <a:lstStyle/>
                <a:p/>
              </p:txBody>
            </p:sp>
            <p:sp>
              <p:nvSpPr>
                <p:cNvPr id="66" name="Path 66"/>
                <p:cNvSpPr/>
                <p:nvPr/>
              </p:nvSpPr>
              <p:spPr>
                <a:xfrm>
                  <a:off x="12592050" y="6061706"/>
                  <a:ext cx="2057400" cy="6579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10820"/>
                      </a:moveTo>
                      <a:lnTo>
                        <a:pt x="300" y="8475"/>
                      </a:lnTo>
                      <a:lnTo>
                        <a:pt x="600" y="6247"/>
                      </a:lnTo>
                      <a:lnTo>
                        <a:pt x="900" y="4244"/>
                      </a:lnTo>
                      <a:lnTo>
                        <a:pt x="1200" y="2560"/>
                      </a:lnTo>
                      <a:lnTo>
                        <a:pt x="1500" y="1268"/>
                      </a:lnTo>
                      <a:lnTo>
                        <a:pt x="1800" y="414"/>
                      </a:lnTo>
                      <a:lnTo>
                        <a:pt x="2100" y="17"/>
                      </a:lnTo>
                      <a:lnTo>
                        <a:pt x="2400" y="68"/>
                      </a:lnTo>
                      <a:lnTo>
                        <a:pt x="2700" y="530"/>
                      </a:lnTo>
                      <a:lnTo>
                        <a:pt x="3000" y="1341"/>
                      </a:lnTo>
                      <a:lnTo>
                        <a:pt x="3300" y="2424"/>
                      </a:lnTo>
                      <a:lnTo>
                        <a:pt x="3600" y="3686"/>
                      </a:lnTo>
                      <a:lnTo>
                        <a:pt x="3900" y="5033"/>
                      </a:lnTo>
                      <a:lnTo>
                        <a:pt x="4200" y="6371"/>
                      </a:lnTo>
                      <a:lnTo>
                        <a:pt x="4500" y="7617"/>
                      </a:lnTo>
                      <a:lnTo>
                        <a:pt x="4800" y="8703"/>
                      </a:lnTo>
                      <a:lnTo>
                        <a:pt x="5100" y="9582"/>
                      </a:lnTo>
                      <a:lnTo>
                        <a:pt x="5400" y="10230"/>
                      </a:lnTo>
                      <a:lnTo>
                        <a:pt x="5700" y="10648"/>
                      </a:lnTo>
                      <a:lnTo>
                        <a:pt x="6000" y="10860"/>
                      </a:lnTo>
                      <a:lnTo>
                        <a:pt x="6300" y="10909"/>
                      </a:lnTo>
                      <a:lnTo>
                        <a:pt x="6600" y="10857"/>
                      </a:lnTo>
                      <a:lnTo>
                        <a:pt x="6900" y="10773"/>
                      </a:lnTo>
                      <a:lnTo>
                        <a:pt x="7200" y="10729"/>
                      </a:lnTo>
                      <a:lnTo>
                        <a:pt x="7500" y="10795"/>
                      </a:lnTo>
                      <a:lnTo>
                        <a:pt x="7800" y="11030"/>
                      </a:lnTo>
                      <a:lnTo>
                        <a:pt x="8100" y="11475"/>
                      </a:lnTo>
                      <a:lnTo>
                        <a:pt x="8400" y="12151"/>
                      </a:lnTo>
                      <a:lnTo>
                        <a:pt x="8700" y="13056"/>
                      </a:lnTo>
                      <a:lnTo>
                        <a:pt x="9000" y="14164"/>
                      </a:lnTo>
                      <a:lnTo>
                        <a:pt x="9300" y="15425"/>
                      </a:lnTo>
                      <a:lnTo>
                        <a:pt x="9600" y="16769"/>
                      </a:lnTo>
                      <a:lnTo>
                        <a:pt x="9900" y="18111"/>
                      </a:lnTo>
                      <a:lnTo>
                        <a:pt x="10200" y="19357"/>
                      </a:lnTo>
                      <a:lnTo>
                        <a:pt x="10500" y="20412"/>
                      </a:lnTo>
                      <a:lnTo>
                        <a:pt x="10800" y="21185"/>
                      </a:lnTo>
                      <a:lnTo>
                        <a:pt x="11100" y="21600"/>
                      </a:lnTo>
                      <a:lnTo>
                        <a:pt x="11400" y="21599"/>
                      </a:lnTo>
                      <a:lnTo>
                        <a:pt x="11700" y="21147"/>
                      </a:lnTo>
                      <a:lnTo>
                        <a:pt x="12000" y="20239"/>
                      </a:lnTo>
                      <a:lnTo>
                        <a:pt x="12300" y="18896"/>
                      </a:lnTo>
                      <a:lnTo>
                        <a:pt x="12600" y="17169"/>
                      </a:lnTo>
                      <a:lnTo>
                        <a:pt x="12900" y="15134"/>
                      </a:lnTo>
                      <a:lnTo>
                        <a:pt x="13200" y="12886"/>
                      </a:lnTo>
                      <a:lnTo>
                        <a:pt x="13500" y="10536"/>
                      </a:lnTo>
                      <a:lnTo>
                        <a:pt x="13800" y="8199"/>
                      </a:lnTo>
                      <a:lnTo>
                        <a:pt x="14100" y="5993"/>
                      </a:lnTo>
                      <a:lnTo>
                        <a:pt x="14400" y="4024"/>
                      </a:lnTo>
                      <a:lnTo>
                        <a:pt x="14700" y="2383"/>
                      </a:lnTo>
                      <a:lnTo>
                        <a:pt x="15000" y="1141"/>
                      </a:lnTo>
                      <a:lnTo>
                        <a:pt x="15300" y="342"/>
                      </a:lnTo>
                      <a:lnTo>
                        <a:pt x="15600" y="0"/>
                      </a:lnTo>
                      <a:lnTo>
                        <a:pt x="15900" y="103"/>
                      </a:lnTo>
                      <a:lnTo>
                        <a:pt x="16200" y="610"/>
                      </a:lnTo>
                      <a:lnTo>
                        <a:pt x="16500" y="1459"/>
                      </a:lnTo>
                      <a:lnTo>
                        <a:pt x="16800" y="2568"/>
                      </a:lnTo>
                      <a:lnTo>
                        <a:pt x="17100" y="3846"/>
                      </a:lnTo>
                      <a:lnTo>
                        <a:pt x="17400" y="5196"/>
                      </a:lnTo>
                      <a:lnTo>
                        <a:pt x="17700" y="6527"/>
                      </a:lnTo>
                      <a:lnTo>
                        <a:pt x="18000" y="7757"/>
                      </a:lnTo>
                      <a:lnTo>
                        <a:pt x="18300" y="8820"/>
                      </a:lnTo>
                      <a:lnTo>
                        <a:pt x="18600" y="9672"/>
                      </a:lnTo>
                      <a:lnTo>
                        <a:pt x="18900" y="10292"/>
                      </a:lnTo>
                      <a:lnTo>
                        <a:pt x="19200" y="10684"/>
                      </a:lnTo>
                      <a:lnTo>
                        <a:pt x="19500" y="10873"/>
                      </a:lnTo>
                      <a:lnTo>
                        <a:pt x="19800" y="10907"/>
                      </a:lnTo>
                      <a:lnTo>
                        <a:pt x="20100" y="10847"/>
                      </a:lnTo>
                      <a:lnTo>
                        <a:pt x="20400" y="10764"/>
                      </a:lnTo>
                      <a:lnTo>
                        <a:pt x="20700" y="10730"/>
                      </a:lnTo>
                      <a:lnTo>
                        <a:pt x="21000" y="10814"/>
                      </a:lnTo>
                      <a:lnTo>
                        <a:pt x="21300" y="11071"/>
                      </a:lnTo>
                      <a:lnTo>
                        <a:pt x="21600" y="11543"/>
                      </a:lnTo>
                    </a:path>
                  </a:pathLst>
                </a:custGeom>
                <a:noFill/>
                <a:ln w="16510" cap="rnd">
                  <a:solidFill>
                    <a:srgbClr val="000000"/>
                  </a:solidFill>
                  <a:prstDash val="solid"/>
                  <a:tailEnd type="none"/>
                </a:ln>
                <a:effectLst>
                  <a:outerShdw blurRad="12700" dist="9000" dir="2700000" algn="ctr" rotWithShape="0">
                    <a:srgbClr val="000000">
                      <a:alpha val="22000"/>
                    </a:srgbClr>
                  </a:outerShdw>
                </a:effectLst>
              </p:spPr>
              <p:txBody>
                <a:bodyPr/>
                <a:lstStyle/>
                <a:p/>
              </p:txBody>
            </p:sp>
            <p:sp>
              <p:nvSpPr>
                <p:cNvPr id="67" name="Path 67"/>
                <p:cNvSpPr/>
                <p:nvPr/>
              </p:nvSpPr>
              <p:spPr>
                <a:xfrm>
                  <a:off x="12592050" y="6023740"/>
                  <a:ext cx="2057400" cy="6349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9222"/>
                      </a:moveTo>
                      <a:lnTo>
                        <a:pt x="300" y="6917"/>
                      </a:lnTo>
                      <a:lnTo>
                        <a:pt x="600" y="4796"/>
                      </a:lnTo>
                      <a:lnTo>
                        <a:pt x="900" y="2965"/>
                      </a:lnTo>
                      <a:lnTo>
                        <a:pt x="1200" y="1518"/>
                      </a:lnTo>
                      <a:lnTo>
                        <a:pt x="1500" y="524"/>
                      </a:lnTo>
                      <a:lnTo>
                        <a:pt x="1800" y="26"/>
                      </a:lnTo>
                      <a:lnTo>
                        <a:pt x="2100" y="34"/>
                      </a:lnTo>
                      <a:lnTo>
                        <a:pt x="2400" y="531"/>
                      </a:lnTo>
                      <a:lnTo>
                        <a:pt x="2700" y="1470"/>
                      </a:lnTo>
                      <a:lnTo>
                        <a:pt x="3000" y="2779"/>
                      </a:lnTo>
                      <a:lnTo>
                        <a:pt x="3300" y="4366"/>
                      </a:lnTo>
                      <a:lnTo>
                        <a:pt x="3600" y="6130"/>
                      </a:lnTo>
                      <a:lnTo>
                        <a:pt x="3900" y="7960"/>
                      </a:lnTo>
                      <a:lnTo>
                        <a:pt x="4200" y="9753"/>
                      </a:lnTo>
                      <a:lnTo>
                        <a:pt x="4500" y="11414"/>
                      </a:lnTo>
                      <a:lnTo>
                        <a:pt x="4800" y="12866"/>
                      </a:lnTo>
                      <a:lnTo>
                        <a:pt x="5100" y="14053"/>
                      </a:lnTo>
                      <a:lnTo>
                        <a:pt x="5400" y="14946"/>
                      </a:lnTo>
                      <a:lnTo>
                        <a:pt x="5700" y="15540"/>
                      </a:lnTo>
                      <a:lnTo>
                        <a:pt x="6000" y="15857"/>
                      </a:lnTo>
                      <a:lnTo>
                        <a:pt x="6300" y="15942"/>
                      </a:lnTo>
                      <a:lnTo>
                        <a:pt x="6600" y="15856"/>
                      </a:lnTo>
                      <a:lnTo>
                        <a:pt x="6900" y="15672"/>
                      </a:lnTo>
                      <a:lnTo>
                        <a:pt x="7200" y="15467"/>
                      </a:lnTo>
                      <a:lnTo>
                        <a:pt x="7500" y="15316"/>
                      </a:lnTo>
                      <a:lnTo>
                        <a:pt x="7800" y="15284"/>
                      </a:lnTo>
                      <a:lnTo>
                        <a:pt x="8100" y="15419"/>
                      </a:lnTo>
                      <a:lnTo>
                        <a:pt x="8400" y="15750"/>
                      </a:lnTo>
                      <a:lnTo>
                        <a:pt x="8700" y="16283"/>
                      </a:lnTo>
                      <a:lnTo>
                        <a:pt x="9000" y="16997"/>
                      </a:lnTo>
                      <a:lnTo>
                        <a:pt x="9300" y="17849"/>
                      </a:lnTo>
                      <a:lnTo>
                        <a:pt x="9600" y="18775"/>
                      </a:lnTo>
                      <a:lnTo>
                        <a:pt x="9900" y="19698"/>
                      </a:lnTo>
                      <a:lnTo>
                        <a:pt x="10200" y="20528"/>
                      </a:lnTo>
                      <a:lnTo>
                        <a:pt x="10500" y="21176"/>
                      </a:lnTo>
                      <a:lnTo>
                        <a:pt x="10800" y="21557"/>
                      </a:lnTo>
                      <a:lnTo>
                        <a:pt x="11100" y="21600"/>
                      </a:lnTo>
                      <a:lnTo>
                        <a:pt x="11400" y="21252"/>
                      </a:lnTo>
                      <a:lnTo>
                        <a:pt x="11700" y="20485"/>
                      </a:lnTo>
                      <a:lnTo>
                        <a:pt x="12000" y="19298"/>
                      </a:lnTo>
                      <a:lnTo>
                        <a:pt x="12300" y="17718"/>
                      </a:lnTo>
                      <a:lnTo>
                        <a:pt x="12600" y="15803"/>
                      </a:lnTo>
                      <a:lnTo>
                        <a:pt x="12900" y="13632"/>
                      </a:lnTo>
                      <a:lnTo>
                        <a:pt x="13200" y="11306"/>
                      </a:lnTo>
                      <a:lnTo>
                        <a:pt x="13500" y="8939"/>
                      </a:lnTo>
                      <a:lnTo>
                        <a:pt x="13800" y="6651"/>
                      </a:lnTo>
                      <a:lnTo>
                        <a:pt x="14100" y="4558"/>
                      </a:lnTo>
                      <a:lnTo>
                        <a:pt x="14400" y="2769"/>
                      </a:lnTo>
                      <a:lnTo>
                        <a:pt x="14700" y="1374"/>
                      </a:lnTo>
                      <a:lnTo>
                        <a:pt x="15000" y="438"/>
                      </a:lnTo>
                      <a:lnTo>
                        <a:pt x="15300" y="0"/>
                      </a:lnTo>
                      <a:lnTo>
                        <a:pt x="15600" y="69"/>
                      </a:lnTo>
                      <a:lnTo>
                        <a:pt x="15900" y="622"/>
                      </a:lnTo>
                      <a:lnTo>
                        <a:pt x="16200" y="1609"/>
                      </a:lnTo>
                      <a:lnTo>
                        <a:pt x="16500" y="2957"/>
                      </a:lnTo>
                      <a:lnTo>
                        <a:pt x="16800" y="4571"/>
                      </a:lnTo>
                      <a:lnTo>
                        <a:pt x="17100" y="6348"/>
                      </a:lnTo>
                      <a:lnTo>
                        <a:pt x="17400" y="8179"/>
                      </a:lnTo>
                      <a:lnTo>
                        <a:pt x="17700" y="9961"/>
                      </a:lnTo>
                      <a:lnTo>
                        <a:pt x="18000" y="11601"/>
                      </a:lnTo>
                      <a:lnTo>
                        <a:pt x="18300" y="13023"/>
                      </a:lnTo>
                      <a:lnTo>
                        <a:pt x="18600" y="14176"/>
                      </a:lnTo>
                      <a:lnTo>
                        <a:pt x="18900" y="15032"/>
                      </a:lnTo>
                      <a:lnTo>
                        <a:pt x="19200" y="15592"/>
                      </a:lnTo>
                      <a:lnTo>
                        <a:pt x="19500" y="15879"/>
                      </a:lnTo>
                      <a:lnTo>
                        <a:pt x="19800" y="15940"/>
                      </a:lnTo>
                      <a:lnTo>
                        <a:pt x="20100" y="15838"/>
                      </a:lnTo>
                      <a:lnTo>
                        <a:pt x="20400" y="15647"/>
                      </a:lnTo>
                      <a:lnTo>
                        <a:pt x="20700" y="15445"/>
                      </a:lnTo>
                      <a:lnTo>
                        <a:pt x="21000" y="15305"/>
                      </a:lnTo>
                      <a:lnTo>
                        <a:pt x="21300" y="15290"/>
                      </a:lnTo>
                      <a:lnTo>
                        <a:pt x="21600" y="15448"/>
                      </a:lnTo>
                    </a:path>
                  </a:pathLst>
                </a:custGeom>
                <a:noFill/>
                <a:ln w="16510" cap="rnd">
                  <a:solidFill>
                    <a:srgbClr val="000000"/>
                  </a:solidFill>
                  <a:tailEnd type="none"/>
                  <a:prstDash val="dash"/>
                </a:ln>
                <a:effectLst>
                  <a:outerShdw blurRad="12700" dist="9000" dir="2700000" algn="ctr" rotWithShape="0">
                    <a:srgbClr val="000000">
                      <a:alpha val="22000"/>
                    </a:srgbClr>
                  </a:outerShdw>
                </a:effectLst>
              </p:spPr>
              <p:txBody>
                <a:bodyPr/>
                <a:lstStyle/>
                <a:p/>
              </p:txBody>
            </p:sp>
            <p:sp>
              <p:nvSpPr>
                <p:cNvPr id="68" name="Path 68"/>
                <p:cNvSpPr/>
                <p:nvPr/>
              </p:nvSpPr>
              <p:spPr>
                <a:xfrm>
                  <a:off x="14992350" y="6038850"/>
                  <a:ext cx="323850" cy="9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21600" y="0"/>
                      </a:lnTo>
                    </a:path>
                  </a:pathLst>
                </a:custGeom>
                <a:noFill/>
                <a:ln w="16510" cap="rnd">
                  <a:solidFill>
                    <a:srgbClr val="000000"/>
                  </a:solidFill>
                  <a:prstDash val="solid"/>
                  <a:tailEnd type="none"/>
                </a:ln>
                <a:effectLst>
                  <a:outerShdw blurRad="12700" dist="9000" dir="2700000" algn="ctr" rotWithShape="0">
                    <a:srgbClr val="000000">
                      <a:alpha val="22000"/>
                    </a:srgbClr>
                  </a:outerShdw>
                </a:effectLst>
              </p:spPr>
              <p:txBody>
                <a:bodyPr/>
                <a:lstStyle/>
                <a:p/>
              </p:txBody>
            </p:sp>
            <p:sp>
              <p:nvSpPr>
                <p:cNvPr id="69" name="Path 69"/>
                <p:cNvSpPr/>
                <p:nvPr/>
              </p:nvSpPr>
              <p:spPr>
                <a:xfrm>
                  <a:off x="14992350" y="6429375"/>
                  <a:ext cx="323850" cy="9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21600" y="0"/>
                      </a:lnTo>
                    </a:path>
                  </a:pathLst>
                </a:custGeom>
                <a:noFill/>
                <a:ln w="16510" cap="rnd">
                  <a:solidFill>
                    <a:srgbClr val="000000"/>
                  </a:solidFill>
                  <a:tailEnd type="none"/>
                  <a:prstDash val="dash"/>
                </a:ln>
                <a:effectLst>
                  <a:outerShdw blurRad="12700" dist="9000" dir="2700000" algn="ctr" rotWithShape="0">
                    <a:srgbClr val="000000">
                      <a:alpha val="22000"/>
                    </a:srgbClr>
                  </a:outerShdw>
                </a:effectLst>
              </p:spPr>
              <p:txBody>
                <a:bodyPr/>
                <a:lstStyle/>
                <a:p/>
              </p:txBody>
            </p:sp>
            <p:sp>
              <p:nvSpPr>
                <p:cNvPr id="70" name="TextBox 70"/>
                <p:cNvSpPr txBox="1"/>
                <p:nvPr/>
              </p:nvSpPr>
              <p:spPr>
                <a:xfrm>
                  <a:off x="13430250" y="5105400"/>
                  <a:ext cx="2857500" cy="4286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376" b="1">
                      <a:solidFill>
                        <a:srgbClr val="37856F"/>
                      </a:solidFill>
                      <a:latin typeface="Comic Sans MS"/>
                      <a:ea typeface="Times New Roman"/>
                      <a:cs typeface="Times New Roman"/>
                    </a:rPr>
                    <a:t>Task score</a:t>
                  </a:r>
                  <a:endParaRPr lang="zh-CN" sz="2376">
                    <a:latin typeface="Comic Sans MS"/>
                  </a:endParaRPr>
                </a:p>
              </p:txBody>
            </p:sp>
            <p:sp>
              <p:nvSpPr>
                <p:cNvPr id="71" name="TextBox 71"/>
                <p:cNvSpPr txBox="1"/>
                <p:nvPr/>
              </p:nvSpPr>
              <p:spPr>
                <a:xfrm>
                  <a:off x="15411450" y="5848350"/>
                  <a:ext cx="123825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1936">
                      <a:solidFill>
                        <a:srgbClr val="25475E"/>
                      </a:solidFill>
                      <a:latin typeface="Comic Sans MS"/>
                      <a:ea typeface="Times New Roman"/>
                      <a:cs typeface="Times New Roman"/>
                    </a:rPr>
                    <a:t>Output</a:t>
                  </a:r>
                  <a:endParaRPr lang="zh-CN" sz="1936">
                    <a:latin typeface="Comic Sans MS"/>
                  </a:endParaRPr>
                </a:p>
              </p:txBody>
            </p:sp>
            <p:sp>
              <p:nvSpPr>
                <p:cNvPr id="72" name="TextBox 72"/>
                <p:cNvSpPr txBox="1"/>
                <p:nvPr/>
              </p:nvSpPr>
              <p:spPr>
                <a:xfrm>
                  <a:off x="15411450" y="6238875"/>
                  <a:ext cx="123825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1936">
                      <a:solidFill>
                        <a:srgbClr val="25475E"/>
                      </a:solidFill>
                      <a:latin typeface="Comic Sans MS"/>
                      <a:ea typeface="Times New Roman"/>
                      <a:cs typeface="Times New Roman"/>
                    </a:rPr>
                    <a:t>Reference</a:t>
                  </a:r>
                  <a:endParaRPr lang="zh-CN" sz="1936">
                    <a:latin typeface="Comic Sans MS"/>
                  </a:endParaRPr>
                </a:p>
              </p:txBody>
            </p:sp>
            <p:sp>
              <p:nvSpPr>
                <p:cNvPr id="73" name="TextBox 73"/>
                <p:cNvSpPr txBox="1"/>
                <p:nvPr/>
              </p:nvSpPr>
              <p:spPr>
                <a:xfrm>
                  <a:off x="12515850" y="7077075"/>
                  <a:ext cx="4095750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500">
                      <a:solidFill>
                        <a:srgbClr val="25475E"/>
                      </a:solidFill>
                      <a:latin typeface="Times New Roman"/>
                      <a:ea typeface="Times New Roman"/>
                      <a:cs typeface="Times New Roman"/>
                    </a:rPr>
                    <a:t>Task-specific evaluation</a:t>
                  </a:r>
                  <a:endParaRPr lang="zh-CN" sz="2500"/>
                </a:p>
              </p:txBody>
            </p:sp>
            <p:sp>
              <p:nvSpPr>
                <p:cNvPr id="74" name="TextBox 74"/>
                <p:cNvSpPr txBox="1"/>
                <p:nvPr/>
              </p:nvSpPr>
              <p:spPr>
                <a:xfrm>
                  <a:off x="12515850" y="7572375"/>
                  <a:ext cx="4095750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400">
                      <a:solidFill>
                        <a:srgbClr val="25475E"/>
                      </a:solidFill>
                      <a:latin typeface="Times New Roman"/>
                      <a:ea typeface="Times New Roman"/>
                      <a:cs typeface="Times New Roman"/>
                    </a:rPr>
                    <a:t>Metrics follow the challenge</a:t>
                  </a:r>
                  <a:endParaRPr lang="zh-CN" sz="2400"/>
                </a:p>
              </p:txBody>
            </p:sp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Custom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