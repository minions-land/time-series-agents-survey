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209550" y="457200"/>
            <a:ext cx="16468725" cy="7705725"/>
            <a:chOff x="209550" y="457200"/>
            <a:chExt cx="16468725" cy="7705725"/>
          </a:xfrm>
        </p:grpSpPr>
        <p:grpSp>
          <p:nvGrpSpPr>
            <p:cNvPr id="10000" name="Retrieval"/>
            <p:cNvGrpSpPr/>
            <p:nvPr/>
          </p:nvGrpSpPr>
          <p:grpSpPr>
            <a:xfrm>
              <a:off x="209550" y="457200"/>
              <a:ext cx="3810000" cy="6543675"/>
              <a:chOff x="209550" y="457200"/>
              <a:chExt cx="3810000" cy="6543675"/>
            </a:xfrm>
          </p:grpSpPr>
          <p:sp>
            <p:nvSpPr>
              <p:cNvPr id="2" name="retrieve-panel"/>
              <p:cNvSpPr/>
              <p:nvPr/>
            </p:nvSpPr>
            <p:spPr>
              <a:xfrm>
                <a:off x="209550" y="1143000"/>
                <a:ext cx="3810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retrieve-bar0"/>
              <p:cNvSpPr/>
              <p:nvPr/>
            </p:nvSpPr>
            <p:spPr>
              <a:xfrm>
                <a:off x="3276600" y="3314700"/>
                <a:ext cx="476250" cy="95250"/>
              </a:xfrm>
              <a:prstGeom prst="rect">
                <a:avLst/>
              </a:prstGeom>
              <a:solidFill>
                <a:srgbClr val="347FA8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retrieve-bar1"/>
              <p:cNvSpPr/>
              <p:nvPr/>
            </p:nvSpPr>
            <p:spPr>
              <a:xfrm>
                <a:off x="3276600" y="4210050"/>
                <a:ext cx="361950" cy="95250"/>
              </a:xfrm>
              <a:prstGeom prst="rect">
                <a:avLst/>
              </a:prstGeom>
              <a:solidFill>
                <a:srgbClr val="348C72"/>
              </a:solidFill>
              <a:ln w="8890">
                <a:solidFill>
                  <a:srgbClr val="348C72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retrieve-bar2"/>
              <p:cNvSpPr/>
              <p:nvPr/>
            </p:nvSpPr>
            <p:spPr>
              <a:xfrm>
                <a:off x="3276600" y="5105400"/>
                <a:ext cx="247650" cy="95250"/>
              </a:xfrm>
              <a:prstGeom prst="rect">
                <a:avLst/>
              </a:prstGeom>
              <a:solidFill>
                <a:srgbClr val="6C5595"/>
              </a:solidFill>
              <a:ln w="8890">
                <a:solidFill>
                  <a:srgbClr val="6C55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retrieve-anchor-wave"/>
              <p:cNvSpPr/>
              <p:nvPr/>
            </p:nvSpPr>
            <p:spPr>
              <a:xfrm>
                <a:off x="476100" y="1812054"/>
                <a:ext cx="1762374" cy="5292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48" y="18543"/>
                    </a:lnTo>
                    <a:lnTo>
                      <a:pt x="697" y="13653"/>
                    </a:lnTo>
                    <a:lnTo>
                      <a:pt x="1045" y="11819"/>
                    </a:lnTo>
                    <a:lnTo>
                      <a:pt x="1394" y="16709"/>
                    </a:lnTo>
                    <a:lnTo>
                      <a:pt x="1742" y="18543"/>
                    </a:lnTo>
                    <a:lnTo>
                      <a:pt x="2090" y="15691"/>
                    </a:lnTo>
                    <a:lnTo>
                      <a:pt x="2439" y="18543"/>
                    </a:lnTo>
                    <a:lnTo>
                      <a:pt x="2787" y="18747"/>
                    </a:lnTo>
                    <a:lnTo>
                      <a:pt x="3135" y="17525"/>
                    </a:lnTo>
                    <a:lnTo>
                      <a:pt x="3484" y="15079"/>
                    </a:lnTo>
                    <a:lnTo>
                      <a:pt x="3832" y="11208"/>
                    </a:lnTo>
                    <a:lnTo>
                      <a:pt x="4181" y="2853"/>
                    </a:lnTo>
                    <a:lnTo>
                      <a:pt x="4529" y="11004"/>
                    </a:lnTo>
                    <a:lnTo>
                      <a:pt x="4877" y="10392"/>
                    </a:lnTo>
                    <a:lnTo>
                      <a:pt x="5226" y="11208"/>
                    </a:lnTo>
                    <a:lnTo>
                      <a:pt x="5574" y="15487"/>
                    </a:lnTo>
                    <a:lnTo>
                      <a:pt x="5923" y="14264"/>
                    </a:lnTo>
                    <a:lnTo>
                      <a:pt x="6271" y="17525"/>
                    </a:lnTo>
                    <a:lnTo>
                      <a:pt x="6619" y="15079"/>
                    </a:lnTo>
                    <a:lnTo>
                      <a:pt x="6968" y="14264"/>
                    </a:lnTo>
                    <a:lnTo>
                      <a:pt x="7316" y="17728"/>
                    </a:lnTo>
                    <a:lnTo>
                      <a:pt x="7665" y="16709"/>
                    </a:lnTo>
                    <a:lnTo>
                      <a:pt x="8013" y="20989"/>
                    </a:lnTo>
                    <a:lnTo>
                      <a:pt x="8361" y="16302"/>
                    </a:lnTo>
                    <a:lnTo>
                      <a:pt x="8710" y="15894"/>
                    </a:lnTo>
                    <a:lnTo>
                      <a:pt x="9058" y="18136"/>
                    </a:lnTo>
                    <a:lnTo>
                      <a:pt x="9406" y="17117"/>
                    </a:lnTo>
                    <a:lnTo>
                      <a:pt x="9755" y="16302"/>
                    </a:lnTo>
                    <a:lnTo>
                      <a:pt x="10103" y="16098"/>
                    </a:lnTo>
                    <a:lnTo>
                      <a:pt x="10452" y="15283"/>
                    </a:lnTo>
                    <a:lnTo>
                      <a:pt x="10800" y="18747"/>
                    </a:lnTo>
                    <a:lnTo>
                      <a:pt x="11148" y="17117"/>
                    </a:lnTo>
                    <a:lnTo>
                      <a:pt x="11497" y="17728"/>
                    </a:lnTo>
                    <a:lnTo>
                      <a:pt x="11845" y="15283"/>
                    </a:lnTo>
                    <a:lnTo>
                      <a:pt x="12194" y="17525"/>
                    </a:lnTo>
                    <a:lnTo>
                      <a:pt x="12542" y="16913"/>
                    </a:lnTo>
                    <a:lnTo>
                      <a:pt x="12890" y="15894"/>
                    </a:lnTo>
                    <a:lnTo>
                      <a:pt x="13239" y="16302"/>
                    </a:lnTo>
                    <a:lnTo>
                      <a:pt x="13587" y="12023"/>
                    </a:lnTo>
                    <a:lnTo>
                      <a:pt x="13935" y="12838"/>
                    </a:lnTo>
                    <a:lnTo>
                      <a:pt x="14284" y="5706"/>
                    </a:lnTo>
                    <a:lnTo>
                      <a:pt x="14632" y="0"/>
                    </a:lnTo>
                    <a:lnTo>
                      <a:pt x="14981" y="7336"/>
                    </a:lnTo>
                    <a:lnTo>
                      <a:pt x="15329" y="10189"/>
                    </a:lnTo>
                    <a:lnTo>
                      <a:pt x="15677" y="14264"/>
                    </a:lnTo>
                    <a:lnTo>
                      <a:pt x="16026" y="18747"/>
                    </a:lnTo>
                    <a:lnTo>
                      <a:pt x="16374" y="20174"/>
                    </a:lnTo>
                    <a:lnTo>
                      <a:pt x="16723" y="19970"/>
                    </a:lnTo>
                    <a:lnTo>
                      <a:pt x="17071" y="14875"/>
                    </a:lnTo>
                    <a:lnTo>
                      <a:pt x="17419" y="6113"/>
                    </a:lnTo>
                    <a:lnTo>
                      <a:pt x="17768" y="9170"/>
                    </a:lnTo>
                    <a:lnTo>
                      <a:pt x="18116" y="16709"/>
                    </a:lnTo>
                    <a:lnTo>
                      <a:pt x="18465" y="20377"/>
                    </a:lnTo>
                    <a:lnTo>
                      <a:pt x="18813" y="18340"/>
                    </a:lnTo>
                    <a:lnTo>
                      <a:pt x="19161" y="18340"/>
                    </a:lnTo>
                    <a:lnTo>
                      <a:pt x="19510" y="13653"/>
                    </a:lnTo>
                    <a:lnTo>
                      <a:pt x="19858" y="15487"/>
                    </a:lnTo>
                    <a:lnTo>
                      <a:pt x="20206" y="15691"/>
                    </a:lnTo>
                    <a:lnTo>
                      <a:pt x="20555" y="12430"/>
                    </a:lnTo>
                    <a:lnTo>
                      <a:pt x="20903" y="14468"/>
                    </a:lnTo>
                    <a:lnTo>
                      <a:pt x="21252" y="14060"/>
                    </a:lnTo>
                    <a:lnTo>
                      <a:pt x="21600" y="1589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" name="retrieve-candidate0"/>
              <p:cNvSpPr/>
              <p:nvPr/>
            </p:nvSpPr>
            <p:spPr>
              <a:xfrm>
                <a:off x="838200" y="3254644"/>
                <a:ext cx="2265312" cy="370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584"/>
                    </a:moveTo>
                    <a:lnTo>
                      <a:pt x="296" y="16264"/>
                    </a:lnTo>
                    <a:lnTo>
                      <a:pt x="592" y="11181"/>
                    </a:lnTo>
                    <a:lnTo>
                      <a:pt x="888" y="17534"/>
                    </a:lnTo>
                    <a:lnTo>
                      <a:pt x="1184" y="18296"/>
                    </a:lnTo>
                    <a:lnTo>
                      <a:pt x="1479" y="20838"/>
                    </a:lnTo>
                    <a:lnTo>
                      <a:pt x="1775" y="17026"/>
                    </a:lnTo>
                    <a:lnTo>
                      <a:pt x="2071" y="16009"/>
                    </a:lnTo>
                    <a:lnTo>
                      <a:pt x="2367" y="11435"/>
                    </a:lnTo>
                    <a:lnTo>
                      <a:pt x="2663" y="13468"/>
                    </a:lnTo>
                    <a:lnTo>
                      <a:pt x="2959" y="13214"/>
                    </a:lnTo>
                    <a:lnTo>
                      <a:pt x="3255" y="16009"/>
                    </a:lnTo>
                    <a:lnTo>
                      <a:pt x="3551" y="10673"/>
                    </a:lnTo>
                    <a:lnTo>
                      <a:pt x="3847" y="16009"/>
                    </a:lnTo>
                    <a:lnTo>
                      <a:pt x="4142" y="17788"/>
                    </a:lnTo>
                    <a:lnTo>
                      <a:pt x="4438" y="14739"/>
                    </a:lnTo>
                    <a:lnTo>
                      <a:pt x="4734" y="15501"/>
                    </a:lnTo>
                    <a:lnTo>
                      <a:pt x="5030" y="20838"/>
                    </a:lnTo>
                    <a:lnTo>
                      <a:pt x="5326" y="20329"/>
                    </a:lnTo>
                    <a:lnTo>
                      <a:pt x="5622" y="16772"/>
                    </a:lnTo>
                    <a:lnTo>
                      <a:pt x="5918" y="15247"/>
                    </a:lnTo>
                    <a:lnTo>
                      <a:pt x="6214" y="6861"/>
                    </a:lnTo>
                    <a:lnTo>
                      <a:pt x="6510" y="3304"/>
                    </a:lnTo>
                    <a:lnTo>
                      <a:pt x="6805" y="11944"/>
                    </a:lnTo>
                    <a:lnTo>
                      <a:pt x="7101" y="7369"/>
                    </a:lnTo>
                    <a:lnTo>
                      <a:pt x="7397" y="13214"/>
                    </a:lnTo>
                    <a:lnTo>
                      <a:pt x="7693" y="12706"/>
                    </a:lnTo>
                    <a:lnTo>
                      <a:pt x="7989" y="12198"/>
                    </a:lnTo>
                    <a:lnTo>
                      <a:pt x="8285" y="12960"/>
                    </a:lnTo>
                    <a:lnTo>
                      <a:pt x="8581" y="11689"/>
                    </a:lnTo>
                    <a:lnTo>
                      <a:pt x="8877" y="16264"/>
                    </a:lnTo>
                    <a:lnTo>
                      <a:pt x="9173" y="18551"/>
                    </a:lnTo>
                    <a:lnTo>
                      <a:pt x="9468" y="18805"/>
                    </a:lnTo>
                    <a:lnTo>
                      <a:pt x="9764" y="13214"/>
                    </a:lnTo>
                    <a:lnTo>
                      <a:pt x="10060" y="11689"/>
                    </a:lnTo>
                    <a:lnTo>
                      <a:pt x="10356" y="9911"/>
                    </a:lnTo>
                    <a:lnTo>
                      <a:pt x="10652" y="10419"/>
                    </a:lnTo>
                    <a:lnTo>
                      <a:pt x="10948" y="7369"/>
                    </a:lnTo>
                    <a:lnTo>
                      <a:pt x="11244" y="12452"/>
                    </a:lnTo>
                    <a:lnTo>
                      <a:pt x="11540" y="11944"/>
                    </a:lnTo>
                    <a:lnTo>
                      <a:pt x="11836" y="11435"/>
                    </a:lnTo>
                    <a:lnTo>
                      <a:pt x="12132" y="10165"/>
                    </a:lnTo>
                    <a:lnTo>
                      <a:pt x="12427" y="9402"/>
                    </a:lnTo>
                    <a:lnTo>
                      <a:pt x="12723" y="0"/>
                    </a:lnTo>
                    <a:lnTo>
                      <a:pt x="13019" y="2287"/>
                    </a:lnTo>
                    <a:lnTo>
                      <a:pt x="13315" y="7369"/>
                    </a:lnTo>
                    <a:lnTo>
                      <a:pt x="13611" y="9911"/>
                    </a:lnTo>
                    <a:lnTo>
                      <a:pt x="13907" y="15247"/>
                    </a:lnTo>
                    <a:lnTo>
                      <a:pt x="14203" y="19313"/>
                    </a:lnTo>
                    <a:lnTo>
                      <a:pt x="14499" y="17788"/>
                    </a:lnTo>
                    <a:lnTo>
                      <a:pt x="14795" y="12452"/>
                    </a:lnTo>
                    <a:lnTo>
                      <a:pt x="15090" y="1271"/>
                    </a:lnTo>
                    <a:lnTo>
                      <a:pt x="15386" y="7624"/>
                    </a:lnTo>
                    <a:lnTo>
                      <a:pt x="15682" y="14739"/>
                    </a:lnTo>
                    <a:lnTo>
                      <a:pt x="15978" y="17788"/>
                    </a:lnTo>
                    <a:lnTo>
                      <a:pt x="16274" y="17534"/>
                    </a:lnTo>
                    <a:lnTo>
                      <a:pt x="16570" y="18551"/>
                    </a:lnTo>
                    <a:lnTo>
                      <a:pt x="16866" y="18805"/>
                    </a:lnTo>
                    <a:lnTo>
                      <a:pt x="17162" y="14231"/>
                    </a:lnTo>
                    <a:lnTo>
                      <a:pt x="17458" y="19313"/>
                    </a:lnTo>
                    <a:lnTo>
                      <a:pt x="17753" y="15501"/>
                    </a:lnTo>
                    <a:lnTo>
                      <a:pt x="18049" y="13976"/>
                    </a:lnTo>
                    <a:lnTo>
                      <a:pt x="18345" y="18042"/>
                    </a:lnTo>
                    <a:lnTo>
                      <a:pt x="18641" y="16009"/>
                    </a:lnTo>
                    <a:lnTo>
                      <a:pt x="18937" y="17280"/>
                    </a:lnTo>
                    <a:lnTo>
                      <a:pt x="19233" y="17534"/>
                    </a:lnTo>
                    <a:lnTo>
                      <a:pt x="19529" y="21600"/>
                    </a:lnTo>
                    <a:lnTo>
                      <a:pt x="19825" y="20075"/>
                    </a:lnTo>
                    <a:lnTo>
                      <a:pt x="20121" y="20075"/>
                    </a:lnTo>
                    <a:lnTo>
                      <a:pt x="20416" y="16518"/>
                    </a:lnTo>
                    <a:lnTo>
                      <a:pt x="20712" y="17534"/>
                    </a:lnTo>
                    <a:lnTo>
                      <a:pt x="21008" y="16009"/>
                    </a:lnTo>
                    <a:lnTo>
                      <a:pt x="21304" y="13976"/>
                    </a:lnTo>
                    <a:lnTo>
                      <a:pt x="21600" y="19821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" name="retrieve-candidate1"/>
              <p:cNvSpPr/>
              <p:nvPr/>
            </p:nvSpPr>
            <p:spPr>
              <a:xfrm>
                <a:off x="869232" y="4170947"/>
                <a:ext cx="2234281" cy="3068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" name="retrieve-candidate2"/>
              <p:cNvSpPr/>
              <p:nvPr/>
            </p:nvSpPr>
            <p:spPr>
              <a:xfrm>
                <a:off x="869232" y="5088686"/>
                <a:ext cx="2234281" cy="31540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6615"/>
                    </a:moveTo>
                    <a:lnTo>
                      <a:pt x="300" y="10302"/>
                    </a:lnTo>
                    <a:lnTo>
                      <a:pt x="600" y="7643"/>
                    </a:lnTo>
                    <a:lnTo>
                      <a:pt x="900" y="15286"/>
                    </a:lnTo>
                    <a:lnTo>
                      <a:pt x="1200" y="14843"/>
                    </a:lnTo>
                    <a:lnTo>
                      <a:pt x="1500" y="11797"/>
                    </a:lnTo>
                    <a:lnTo>
                      <a:pt x="1800" y="10634"/>
                    </a:lnTo>
                    <a:lnTo>
                      <a:pt x="2100" y="13957"/>
                    </a:lnTo>
                    <a:lnTo>
                      <a:pt x="2400" y="8308"/>
                    </a:lnTo>
                    <a:lnTo>
                      <a:pt x="2700" y="0"/>
                    </a:lnTo>
                    <a:lnTo>
                      <a:pt x="3000" y="8308"/>
                    </a:lnTo>
                    <a:lnTo>
                      <a:pt x="3300" y="12628"/>
                    </a:lnTo>
                    <a:lnTo>
                      <a:pt x="3600" y="11298"/>
                    </a:lnTo>
                    <a:lnTo>
                      <a:pt x="3900" y="12295"/>
                    </a:lnTo>
                    <a:lnTo>
                      <a:pt x="4200" y="13625"/>
                    </a:lnTo>
                    <a:lnTo>
                      <a:pt x="4500" y="7643"/>
                    </a:lnTo>
                    <a:lnTo>
                      <a:pt x="4800" y="13625"/>
                    </a:lnTo>
                    <a:lnTo>
                      <a:pt x="5100" y="9637"/>
                    </a:lnTo>
                    <a:lnTo>
                      <a:pt x="5400" y="6314"/>
                    </a:lnTo>
                    <a:lnTo>
                      <a:pt x="5700" y="11298"/>
                    </a:lnTo>
                    <a:lnTo>
                      <a:pt x="6000" y="4320"/>
                    </a:lnTo>
                    <a:lnTo>
                      <a:pt x="6300" y="2658"/>
                    </a:lnTo>
                    <a:lnTo>
                      <a:pt x="6600" y="13292"/>
                    </a:lnTo>
                    <a:lnTo>
                      <a:pt x="6900" y="14289"/>
                    </a:lnTo>
                    <a:lnTo>
                      <a:pt x="7200" y="19274"/>
                    </a:lnTo>
                    <a:lnTo>
                      <a:pt x="7500" y="18942"/>
                    </a:lnTo>
                    <a:lnTo>
                      <a:pt x="7800" y="21600"/>
                    </a:lnTo>
                    <a:lnTo>
                      <a:pt x="8100" y="18942"/>
                    </a:lnTo>
                    <a:lnTo>
                      <a:pt x="8400" y="11963"/>
                    </a:lnTo>
                    <a:lnTo>
                      <a:pt x="8700" y="7311"/>
                    </a:lnTo>
                    <a:lnTo>
                      <a:pt x="9000" y="10302"/>
                    </a:lnTo>
                    <a:lnTo>
                      <a:pt x="9300" y="7311"/>
                    </a:lnTo>
                    <a:lnTo>
                      <a:pt x="9600" y="6314"/>
                    </a:lnTo>
                    <a:lnTo>
                      <a:pt x="9900" y="7975"/>
                    </a:lnTo>
                    <a:lnTo>
                      <a:pt x="10200" y="5317"/>
                    </a:lnTo>
                    <a:lnTo>
                      <a:pt x="10500" y="6314"/>
                    </a:lnTo>
                    <a:lnTo>
                      <a:pt x="10800" y="9969"/>
                    </a:lnTo>
                    <a:lnTo>
                      <a:pt x="11100" y="7311"/>
                    </a:lnTo>
                    <a:lnTo>
                      <a:pt x="11400" y="6646"/>
                    </a:lnTo>
                    <a:lnTo>
                      <a:pt x="11700" y="4320"/>
                    </a:lnTo>
                    <a:lnTo>
                      <a:pt x="12000" y="9969"/>
                    </a:lnTo>
                    <a:lnTo>
                      <a:pt x="12300" y="8640"/>
                    </a:lnTo>
                    <a:lnTo>
                      <a:pt x="12600" y="8972"/>
                    </a:lnTo>
                    <a:lnTo>
                      <a:pt x="12900" y="10634"/>
                    </a:lnTo>
                    <a:lnTo>
                      <a:pt x="13200" y="8972"/>
                    </a:lnTo>
                    <a:lnTo>
                      <a:pt x="13500" y="997"/>
                    </a:lnTo>
                    <a:lnTo>
                      <a:pt x="13800" y="2991"/>
                    </a:lnTo>
                    <a:lnTo>
                      <a:pt x="14100" y="10634"/>
                    </a:lnTo>
                    <a:lnTo>
                      <a:pt x="14400" y="12960"/>
                    </a:lnTo>
                    <a:lnTo>
                      <a:pt x="14700" y="12960"/>
                    </a:lnTo>
                    <a:lnTo>
                      <a:pt x="15000" y="7643"/>
                    </a:lnTo>
                    <a:lnTo>
                      <a:pt x="15300" y="8640"/>
                    </a:lnTo>
                    <a:lnTo>
                      <a:pt x="15600" y="7643"/>
                    </a:lnTo>
                    <a:lnTo>
                      <a:pt x="15900" y="7975"/>
                    </a:lnTo>
                    <a:lnTo>
                      <a:pt x="16200" y="3988"/>
                    </a:lnTo>
                    <a:lnTo>
                      <a:pt x="16500" y="8640"/>
                    </a:lnTo>
                    <a:lnTo>
                      <a:pt x="16800" y="9637"/>
                    </a:lnTo>
                    <a:lnTo>
                      <a:pt x="17100" y="4320"/>
                    </a:lnTo>
                    <a:lnTo>
                      <a:pt x="17400" y="2326"/>
                    </a:lnTo>
                    <a:lnTo>
                      <a:pt x="17700" y="2991"/>
                    </a:lnTo>
                    <a:lnTo>
                      <a:pt x="18000" y="5317"/>
                    </a:lnTo>
                    <a:lnTo>
                      <a:pt x="18300" y="14622"/>
                    </a:lnTo>
                    <a:lnTo>
                      <a:pt x="18600" y="14622"/>
                    </a:lnTo>
                    <a:lnTo>
                      <a:pt x="18900" y="17612"/>
                    </a:lnTo>
                    <a:lnTo>
                      <a:pt x="19200" y="19938"/>
                    </a:lnTo>
                    <a:lnTo>
                      <a:pt x="19500" y="14954"/>
                    </a:lnTo>
                    <a:lnTo>
                      <a:pt x="19800" y="16948"/>
                    </a:lnTo>
                    <a:lnTo>
                      <a:pt x="20100" y="11963"/>
                    </a:lnTo>
                    <a:lnTo>
                      <a:pt x="20400" y="11631"/>
                    </a:lnTo>
                    <a:lnTo>
                      <a:pt x="20700" y="18277"/>
                    </a:lnTo>
                    <a:lnTo>
                      <a:pt x="21000" y="14954"/>
                    </a:lnTo>
                    <a:lnTo>
                      <a:pt x="21300" y="12960"/>
                    </a:lnTo>
                    <a:lnTo>
                      <a:pt x="21600" y="1728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" name="retrieve-selection"/>
              <p:cNvSpPr/>
              <p:nvPr/>
            </p:nvSpPr>
            <p:spPr>
              <a:xfrm>
                <a:off x="2114550" y="5734050"/>
                <a:ext cx="95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1" name="retrieve-anchor-candidates"/>
              <p:cNvSpPr/>
              <p:nvPr/>
            </p:nvSpPr>
            <p:spPr>
              <a:xfrm>
                <a:off x="3238500" y="24479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3" name="retrieve-icon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24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7" name="retrieve-search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9400" y="1485900"/>
                <a:ext cx="428625" cy="409575"/>
              </a:xfrm>
              <a:prstGeom prst="rect">
                <a:avLst/>
              </a:prstGeom>
            </p:spPr>
          </p:pic>
          <p:sp>
            <p:nvSpPr>
              <p:cNvPr id="51" name="retrieve-title"/>
              <p:cNvSpPr txBox="1"/>
              <p:nvPr/>
            </p:nvSpPr>
            <p:spPr>
              <a:xfrm>
                <a:off x="9525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Retrieval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55" name="retrieve-anchor"/>
              <p:cNvSpPr txBox="1"/>
              <p:nvPr/>
            </p:nvSpPr>
            <p:spPr>
              <a:xfrm>
                <a:off x="428625" y="1238250"/>
                <a:ext cx="1905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Anchor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56" name="retrieve-similarity"/>
              <p:cNvSpPr txBox="1"/>
              <p:nvPr/>
            </p:nvSpPr>
            <p:spPr>
              <a:xfrm>
                <a:off x="2381250" y="1971675"/>
                <a:ext cx="1428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Similarity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57" name="retrieve-candidates"/>
              <p:cNvSpPr txBox="1"/>
              <p:nvPr/>
            </p:nvSpPr>
            <p:spPr>
              <a:xfrm>
                <a:off x="428625" y="26384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Ranked candidates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58" name="retrieve-rank0"/>
              <p:cNvSpPr txBox="1"/>
              <p:nvPr/>
            </p:nvSpPr>
            <p:spPr>
              <a:xfrm>
                <a:off x="381000" y="31718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1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59" name="retrieve-rank1"/>
              <p:cNvSpPr txBox="1"/>
              <p:nvPr/>
            </p:nvSpPr>
            <p:spPr>
              <a:xfrm>
                <a:off x="381000" y="406717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2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0" name="retrieve-rank2"/>
              <p:cNvSpPr txBox="1"/>
              <p:nvPr/>
            </p:nvSpPr>
            <p:spPr>
              <a:xfrm>
                <a:off x="381000" y="49625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3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1" name="retrieve-selected"/>
              <p:cNvSpPr txBox="1"/>
              <p:nvPr/>
            </p:nvSpPr>
            <p:spPr>
              <a:xfrm>
                <a:off x="428625" y="6153150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Selected neighbors</a:t>
                </a:r>
                <a:endParaRPr lang="zh-CN" sz="2112">
                  <a:latin typeface="Comic Sans MS"/>
                </a:endParaRPr>
              </a:p>
            </p:txBody>
          </p:sp>
        </p:grpSp>
        <p:grpSp>
          <p:nvGrpSpPr>
            <p:cNvPr id="10001" name="View construction"/>
            <p:cNvGrpSpPr/>
            <p:nvPr/>
          </p:nvGrpSpPr>
          <p:grpSpPr>
            <a:xfrm>
              <a:off x="4238625" y="457200"/>
              <a:ext cx="3905250" cy="6543675"/>
              <a:chOff x="4238625" y="457200"/>
              <a:chExt cx="3905250" cy="6543675"/>
            </a:xfrm>
          </p:grpSpPr>
          <p:sp>
            <p:nvSpPr>
              <p:cNvPr id="3" name="augment-panel"/>
              <p:cNvSpPr/>
              <p:nvPr/>
            </p:nvSpPr>
            <p:spPr>
              <a:xfrm>
                <a:off x="4238625" y="1143000"/>
                <a:ext cx="3905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augment-operation-route"/>
              <p:cNvSpPr/>
              <p:nvPr/>
            </p:nvSpPr>
            <p:spPr>
              <a:xfrm>
                <a:off x="6267450" y="2028825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augment-wave0"/>
              <p:cNvSpPr/>
              <p:nvPr/>
            </p:nvSpPr>
            <p:spPr>
              <a:xfrm>
                <a:off x="5744196" y="2707534"/>
                <a:ext cx="2189715" cy="757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augment-wave1"/>
              <p:cNvSpPr/>
              <p:nvPr/>
            </p:nvSpPr>
            <p:spPr>
              <a:xfrm>
                <a:off x="5715000" y="4043209"/>
                <a:ext cx="2228600" cy="70259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8" name="augment-wave2"/>
              <p:cNvSpPr/>
              <p:nvPr/>
            </p:nvSpPr>
            <p:spPr>
              <a:xfrm>
                <a:off x="5715000" y="5323084"/>
                <a:ext cx="2169953" cy="7656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4" name="augment-icon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15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8" name="augment-operation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5800" y="14859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52" name="augment-title"/>
              <p:cNvSpPr txBox="1"/>
              <p:nvPr/>
            </p:nvSpPr>
            <p:spPr>
              <a:xfrm>
                <a:off x="49815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Augmentation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2" name="augment-select"/>
              <p:cNvSpPr txBox="1"/>
              <p:nvPr/>
            </p:nvSpPr>
            <p:spPr>
              <a:xfrm>
                <a:off x="5048250" y="1524000"/>
                <a:ext cx="27622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Strategy selection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63" name="augment-label0"/>
              <p:cNvSpPr txBox="1"/>
              <p:nvPr/>
            </p:nvSpPr>
            <p:spPr>
              <a:xfrm>
                <a:off x="4381500" y="2838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Original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64" name="augment-label1"/>
              <p:cNvSpPr txBox="1"/>
              <p:nvPr/>
            </p:nvSpPr>
            <p:spPr>
              <a:xfrm>
                <a:off x="4381500" y="41719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View 1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65" name="augment-label2"/>
              <p:cNvSpPr txBox="1"/>
              <p:nvPr/>
            </p:nvSpPr>
            <p:spPr>
              <a:xfrm>
                <a:off x="4381500" y="5505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View 2</a:t>
                </a:r>
                <a:endParaRPr lang="zh-CN" sz="2112">
                  <a:latin typeface="Comic Sans MS"/>
                </a:endParaRPr>
              </a:p>
            </p:txBody>
          </p:sp>
        </p:grpSp>
        <p:grpSp>
          <p:nvGrpSpPr>
            <p:cNvPr id="10002" name="Review"/>
            <p:cNvGrpSpPr/>
            <p:nvPr/>
          </p:nvGrpSpPr>
          <p:grpSpPr>
            <a:xfrm>
              <a:off x="8362950" y="457200"/>
              <a:ext cx="3790950" cy="6543675"/>
              <a:chOff x="8362950" y="457200"/>
              <a:chExt cx="3790950" cy="6543675"/>
            </a:xfrm>
          </p:grpSpPr>
          <p:sp>
            <p:nvSpPr>
              <p:cNvPr id="4" name="review-panel"/>
              <p:cNvSpPr/>
              <p:nvPr/>
            </p:nvSpPr>
            <p:spPr>
              <a:xfrm>
                <a:off x="8362950" y="1143000"/>
                <a:ext cx="3429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review-wave0"/>
              <p:cNvSpPr/>
              <p:nvPr/>
            </p:nvSpPr>
            <p:spPr>
              <a:xfrm>
                <a:off x="8595112" y="2667794"/>
                <a:ext cx="1695864" cy="5794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0" name="review-evidence00"/>
              <p:cNvSpPr/>
              <p:nvPr/>
            </p:nvSpPr>
            <p:spPr>
              <a:xfrm>
                <a:off x="8620125" y="345757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review-evidence01"/>
              <p:cNvSpPr/>
              <p:nvPr/>
            </p:nvSpPr>
            <p:spPr>
              <a:xfrm>
                <a:off x="8620125" y="352425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review-evidence02"/>
              <p:cNvSpPr/>
              <p:nvPr/>
            </p:nvSpPr>
            <p:spPr>
              <a:xfrm>
                <a:off x="8620125" y="359092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review-wave1"/>
              <p:cNvSpPr/>
              <p:nvPr/>
            </p:nvSpPr>
            <p:spPr>
              <a:xfrm>
                <a:off x="8572500" y="3993433"/>
                <a:ext cx="1725980" cy="53770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4" name="review-evidence10"/>
              <p:cNvSpPr/>
              <p:nvPr/>
            </p:nvSpPr>
            <p:spPr>
              <a:xfrm>
                <a:off x="8620125" y="4781550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review-evidence11"/>
              <p:cNvSpPr/>
              <p:nvPr/>
            </p:nvSpPr>
            <p:spPr>
              <a:xfrm>
                <a:off x="8620125" y="4848225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review-evidence12"/>
              <p:cNvSpPr/>
              <p:nvPr/>
            </p:nvSpPr>
            <p:spPr>
              <a:xfrm>
                <a:off x="8620125" y="4914900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review-wave2"/>
              <p:cNvSpPr/>
              <p:nvPr/>
            </p:nvSpPr>
            <p:spPr>
              <a:xfrm>
                <a:off x="8572500" y="5276368"/>
                <a:ext cx="1680559" cy="5859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8" name="review-evidence20"/>
              <p:cNvSpPr/>
              <p:nvPr/>
            </p:nvSpPr>
            <p:spPr>
              <a:xfrm>
                <a:off x="8620125" y="610552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review-evidence21"/>
              <p:cNvSpPr/>
              <p:nvPr/>
            </p:nvSpPr>
            <p:spPr>
              <a:xfrm>
                <a:off x="8620125" y="61722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review-evidence22"/>
              <p:cNvSpPr/>
              <p:nvPr/>
            </p:nvSpPr>
            <p:spPr>
              <a:xfrm>
                <a:off x="8620125" y="623887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9D5DC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5" name="review-icon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58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9" name="review-agen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91575" y="1428750"/>
                <a:ext cx="628650" cy="533400"/>
              </a:xfrm>
              <a:prstGeom prst="rect">
                <a:avLst/>
              </a:prstGeom>
            </p:spPr>
          </p:pic>
          <p:sp>
            <p:nvSpPr>
              <p:cNvPr id="53" name="review-title"/>
              <p:cNvSpPr txBox="1"/>
              <p:nvPr/>
            </p:nvSpPr>
            <p:spPr>
              <a:xfrm>
                <a:off x="91059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Review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6" name="review-agentlabel"/>
              <p:cNvSpPr txBox="1"/>
              <p:nvPr/>
            </p:nvSpPr>
            <p:spPr>
              <a:xfrm>
                <a:off x="9525000" y="1504950"/>
                <a:ext cx="2047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Review agent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67" name="review-decision0"/>
              <p:cNvSpPr txBox="1"/>
              <p:nvPr/>
            </p:nvSpPr>
            <p:spPr>
              <a:xfrm>
                <a:off x="10401300" y="273367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Accept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8" name="review-decision1"/>
              <p:cNvSpPr txBox="1"/>
              <p:nvPr/>
            </p:nvSpPr>
            <p:spPr>
              <a:xfrm>
                <a:off x="10401300" y="4057650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Accept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9" name="review-decision2"/>
              <p:cNvSpPr txBox="1"/>
              <p:nvPr/>
            </p:nvSpPr>
            <p:spPr>
              <a:xfrm>
                <a:off x="10401300" y="538162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 b="1">
                    <a:solidFill>
                      <a:srgbClr val="AA625E"/>
                    </a:solidFill>
                    <a:latin typeface="Comic Sans MS"/>
                    <a:ea typeface="Times New Roman"/>
                    <a:cs typeface="Times New Roman"/>
                  </a:rPr>
                  <a:t>Reject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004" name="Learning"/>
            <p:cNvGrpSpPr/>
            <p:nvPr/>
          </p:nvGrpSpPr>
          <p:grpSpPr>
            <a:xfrm>
              <a:off x="12011025" y="457200"/>
              <a:ext cx="4667250" cy="6543675"/>
              <a:chOff x="12011025" y="457200"/>
              <a:chExt cx="4667250" cy="6543675"/>
            </a:xfrm>
          </p:grpSpPr>
          <p:sp>
            <p:nvSpPr>
              <p:cNvPr id="5" name="learn-panel"/>
              <p:cNvSpPr/>
              <p:nvPr/>
            </p:nvSpPr>
            <p:spPr>
              <a:xfrm>
                <a:off x="12011025" y="1143000"/>
                <a:ext cx="4667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learn-encoder"/>
              <p:cNvSpPr/>
              <p:nvPr/>
            </p:nvSpPr>
            <p:spPr>
              <a:xfrm>
                <a:off x="12668250" y="4267200"/>
                <a:ext cx="3238500" cy="695325"/>
              </a:xfrm>
              <a:prstGeom prst="rect">
                <a:avLst/>
              </a:prstGeom>
              <a:solidFill>
                <a:srgbClr val="F7F8FB"/>
              </a:solidFill>
              <a:ln w="8890">
                <a:solidFill>
                  <a:srgbClr val="B9B0CA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learn-memview1"/>
              <p:cNvSpPr/>
              <p:nvPr/>
            </p:nvSpPr>
            <p:spPr>
              <a:xfrm>
                <a:off x="12430125" y="2422730"/>
                <a:ext cx="1659596" cy="5448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4" name="learn-memview2"/>
              <p:cNvSpPr/>
              <p:nvPr/>
            </p:nvSpPr>
            <p:spPr>
              <a:xfrm>
                <a:off x="14594992" y="2421043"/>
                <a:ext cx="1630639" cy="5871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6" name="learn-memory-encoder"/>
              <p:cNvSpPr/>
              <p:nvPr/>
            </p:nvSpPr>
            <p:spPr>
              <a:xfrm>
                <a:off x="14287500" y="36004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learn-neighbors"/>
              <p:cNvSpPr/>
              <p:nvPr/>
            </p:nvSpPr>
            <p:spPr>
              <a:xfrm>
                <a:off x="12351856" y="5921709"/>
                <a:ext cx="1908448" cy="3295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learn-neighbor-encoder"/>
              <p:cNvSpPr/>
              <p:nvPr/>
            </p:nvSpPr>
            <p:spPr>
              <a:xfrm>
                <a:off x="15182850" y="4600575"/>
                <a:ext cx="117157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14224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2" name="learn-output"/>
              <p:cNvSpPr/>
              <p:nvPr/>
            </p:nvSpPr>
            <p:spPr>
              <a:xfrm>
                <a:off x="15811500" y="5019675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6" name="learn-icon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539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50" name="learn-memory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77725" y="1476375"/>
                <a:ext cx="600075" cy="628650"/>
              </a:xfrm>
              <a:prstGeom prst="rect">
                <a:avLst/>
              </a:prstGeom>
            </p:spPr>
          </p:pic>
          <p:sp>
            <p:nvSpPr>
              <p:cNvPr id="54" name="learn-title"/>
              <p:cNvSpPr txBox="1"/>
              <p:nvPr/>
            </p:nvSpPr>
            <p:spPr>
              <a:xfrm>
                <a:off x="127539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Representation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0" name="learn-memorytitle"/>
              <p:cNvSpPr txBox="1"/>
              <p:nvPr/>
            </p:nvSpPr>
            <p:spPr>
              <a:xfrm>
                <a:off x="13011150" y="1590675"/>
                <a:ext cx="3352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Positive memory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71" name="learn-views"/>
              <p:cNvSpPr txBox="1"/>
              <p:nvPr/>
            </p:nvSpPr>
            <p:spPr>
              <a:xfrm>
                <a:off x="12296775" y="3162300"/>
                <a:ext cx="4095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Accepted augmented views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72" name="learn-encoderlabel"/>
              <p:cNvSpPr txBox="1"/>
              <p:nvPr/>
            </p:nvSpPr>
            <p:spPr>
              <a:xfrm>
                <a:off x="12715875" y="4381500"/>
                <a:ext cx="3143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8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Shared encoder</a:t>
                </a:r>
                <a:endParaRPr lang="zh-CN" sz="2288">
                  <a:latin typeface="Comic Sans MS"/>
                </a:endParaRPr>
              </a:p>
            </p:txBody>
          </p:sp>
          <p:sp>
            <p:nvSpPr>
              <p:cNvPr id="73" name="learn-neighborlabel"/>
              <p:cNvSpPr txBox="1"/>
              <p:nvPr/>
            </p:nvSpPr>
            <p:spPr>
              <a:xfrm>
                <a:off x="12182475" y="533400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Retrieved neighbors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74" name="learn-positive-label"/>
              <p:cNvSpPr txBox="1"/>
              <p:nvPr/>
            </p:nvSpPr>
            <p:spPr>
              <a:xfrm>
                <a:off x="12287250" y="65722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Contrastive learning</a:t>
                </a:r>
                <a:endParaRPr lang="zh-CN" sz="2200">
                  <a:latin typeface="Comic Sans MS"/>
                </a:endParaRPr>
              </a:p>
            </p:txBody>
          </p:sp>
        </p:grpSp>
        <p:grpSp>
          <p:nvGrpSpPr>
            <p:cNvPr id="10005" name="Connectors"/>
            <p:cNvGrpSpPr/>
            <p:nvPr/>
          </p:nvGrpSpPr>
          <p:grpSpPr>
            <a:xfrm>
              <a:off x="285750" y="1847850"/>
              <a:ext cx="11925300" cy="6315075"/>
              <a:chOff x="285750" y="1847850"/>
              <a:chExt cx="11925300" cy="6315075"/>
            </a:xfrm>
          </p:grpSpPr>
          <p:sp>
            <p:nvSpPr>
              <p:cNvPr id="31" name="flow-retrieve-augment"/>
              <p:cNvSpPr/>
              <p:nvPr/>
            </p:nvSpPr>
            <p:spPr>
              <a:xfrm>
                <a:off x="4029075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flow-augment-review"/>
              <p:cNvSpPr/>
              <p:nvPr/>
            </p:nvSpPr>
            <p:spPr>
              <a:xfrm>
                <a:off x="8153400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6C5595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flow-accepted"/>
              <p:cNvSpPr/>
              <p:nvPr/>
            </p:nvSpPr>
            <p:spPr>
              <a:xfrm>
                <a:off x="11639550" y="1847850"/>
                <a:ext cx="5524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7503" y="21600"/>
                    </a:lnTo>
                    <a:lnTo>
                      <a:pt x="17503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9" name="flow-neighbors"/>
              <p:cNvSpPr/>
              <p:nvPr/>
            </p:nvSpPr>
            <p:spPr>
              <a:xfrm>
                <a:off x="2047875" y="6038850"/>
                <a:ext cx="101631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715"/>
                    </a:moveTo>
                    <a:lnTo>
                      <a:pt x="0" y="21600"/>
                    </a:lnTo>
                    <a:lnTo>
                      <a:pt x="20972" y="21600"/>
                    </a:lnTo>
                    <a:lnTo>
                      <a:pt x="20972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0" name="flow-rejected"/>
              <p:cNvSpPr/>
              <p:nvPr/>
            </p:nvSpPr>
            <p:spPr>
              <a:xfrm>
                <a:off x="285750" y="3028950"/>
                <a:ext cx="11430000" cy="4705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384" y="12374"/>
                    </a:moveTo>
                    <a:lnTo>
                      <a:pt x="21600" y="1237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A62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5" name="flow-neighbors-label"/>
              <p:cNvSpPr txBox="1"/>
              <p:nvPr/>
            </p:nvSpPr>
            <p:spPr>
              <a:xfrm>
                <a:off x="5657850" y="7229475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Neighbor positives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76" name="flow-rejected-label"/>
              <p:cNvSpPr txBox="1"/>
              <p:nvPr/>
            </p:nvSpPr>
            <p:spPr>
              <a:xfrm>
                <a:off x="5162550" y="7762875"/>
                <a:ext cx="57150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>
                    <a:solidFill>
                      <a:srgbClr val="AA625E"/>
                    </a:solidFill>
                    <a:latin typeface="Comic Sans MS"/>
                    <a:ea typeface="Times New Roman"/>
                    <a:cs typeface="Times New Roman"/>
                  </a:rPr>
                  <a:t>Rejected views: refine retrieval</a:t>
                </a:r>
                <a:endParaRPr lang="zh-CN" sz="2112">
                  <a:latin typeface="Comic Sans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