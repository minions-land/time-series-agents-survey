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1912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09" name="LLM-side contributions"/>
          <p:cNvGrpSpPr/>
          <p:nvPr/>
        </p:nvGrpSpPr>
        <p:grpSpPr>
          <ns1:xfrm xmlns:ns1="http://schemas.openxmlformats.org/drawingml/2006/main">
            <ns1:off x="190500" y="152400"/>
            <ns1:ext cx="11496675" cy="5800725"/>
            <ns1:chOff x="190500" y="152400"/>
            <ns1:chExt cx="11496675" cy="5800725"/>
          </ns1:xfrm>
        </p:grpSpPr>
        <p:grpSp>
          <p:nvGrpSpPr>
            <p:cNvPr id="10017" name="Representation &amp; alignment"/>
            <p:cNvGrpSpPr/>
            <p:nvPr/>
          </p:nvGrpSpPr>
          <p:grpSpPr>
            <ns1:xfrm xmlns:ns1="http://schemas.openxmlformats.org/drawingml/2006/main">
              <ns1:off x="285750" y="152400"/>
              <ns1:ext cx="3276600" cy="2266950"/>
              <ns1:chOff x="285750" y="152400"/>
              <ns1:chExt cx="3276600" cy="2266950"/>
            </ns1:xfrm>
          </p:grpSpPr>
          <p:sp>
            <p:nvSpPr>
              <p:cNvPr id="10001" name="Representation &amp; alignment"/>
              <p:cNvSpPr/>
              <p:nvPr/>
            </p:nvSpPr>
            <p:spPr>
              <ns1:xfrm xmlns:ns1="http://schemas.openxmlformats.org/drawingml/2006/main">
                <ns1:off x="28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3376A0"/>
                    </ns7:solidFill>
                    <ns7:latin typeface="Comic Sans MS"/>
                    <ns7:ea typeface="Times New Roman"/>
                  </ns7:rPr>
                  <ns7:t>Representation &amp; alignment</ns7:t>
                </ns7:r>
              </ns7:p>
            </p:txBody>
          </p:sp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647700" y="819150"/>
                <ns1:ext cx="723900" cy="723900"/>
                <ns1:chOff x="647700" y="819150"/>
                <ns1:chExt cx="723900" cy="723900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64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000000"/>
                  </ns4:solidFill>
                </ns4:ln>
                <ns0:effectLst xmlns:ns0="http://schemas.openxmlformats.org/drawingml/2006/main">
                  <ns0:outerShdw blurRad="12700" dist="9000" dir="2700000" algn="ctr" rotWithShape="0">
                    <ns0:srgbClr val="000000">
                      <ns0:alpha val="22000"/>
                    </ns0:srgbClr>
                  </ns0:outerShdw>
                </ns0:effectLst>
              </p:spPr>
            </p:sp>
          </p:grpSp>
          <p:grpSp>
            <p:nvGrpSpPr>
              <p:cNvPr id="10012" name="layers editable icon"/>
              <p:cNvGrpSpPr/>
              <p:nvPr/>
            </p:nvGrpSpPr>
            <p:grpSpPr>
              <ns1:xfrm xmlns:ns1="http://schemas.openxmlformats.org/drawingml/2006/main">
                <ns1:off x="2457450" y="819150"/>
                <ns1:ext cx="723900" cy="723900"/>
                <ns1:chOff x="2457450" y="819150"/>
                <ns1:chExt cx="723900" cy="723900"/>
              </ns1:xfrm>
            </p:grpSpPr>
            <p:sp>
              <p:nvSpPr>
                <p:cNvPr id="10009" name="layers-0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0" name="layers-1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  <p:sp>
              <p:nvSpPr>
                <p:cNvPr id="10011" name="layers-2"/>
                <p:cNvSpPr/>
                <p:nvPr/>
              </p:nvSpPr>
              <p:spPr>
                <ns1:xfrm xmlns:ns1="http://schemas.openxmlformats.org/drawingml/2006/main">
                  <ns1:off x="245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013" name="learned mapping"/>
              <p:cNvSpPr/>
              <p:nvPr/>
            </p:nvSpPr>
            <p:spPr>
              <ns1:xfrm xmlns:ns1="http://schemas.openxmlformats.org/drawingml/2006/main">
                <ns1:off x="154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376A0"/>
                </ns4:solidFill>
                <ns4:tailEnd type="triangle"/>
              </ns4:ln>
            </p:spPr>
          </p:sp>
          <p:sp>
            <p:nvSpPr>
              <p:cNvPr id="10014" name="input"/>
              <p:cNvSpPr/>
              <p:nvPr/>
            </p:nvSpPr>
            <p:spPr>
              <ns1:xfrm xmlns:ns1="http://schemas.openxmlformats.org/drawingml/2006/main">
                <ns1:off x="33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Series patches</ns7:t>
                </ns7:r>
              </ns7:p>
            </p:txBody>
          </p:sp>
          <p:sp>
            <p:nvSpPr>
              <p:cNvPr id="10015" name="output"/>
              <p:cNvSpPr/>
              <p:nvPr/>
            </p:nvSpPr>
            <p:spPr>
              <ns1:xfrm xmlns:ns1="http://schemas.openxmlformats.org/drawingml/2006/main">
                <ns1:off x="213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Language space</ns7:t>
                </ns7:r>
              </ns7:p>
            </p:txBody>
          </p:sp>
          <p:sp>
            <p:nvSpPr>
              <p:cNvPr id="10016" name="learning signal"/>
              <p:cNvSpPr/>
              <p:nvPr/>
            </p:nvSpPr>
            <p:spPr>
              <ns1:xfrm xmlns:ns1="http://schemas.openxmlformats.org/drawingml/2006/main">
                <ns1:off x="28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Scale and temporal structure</ns7:t>
                </ns7:r>
              </ns7:p>
            </p:txBody>
          </p:sp>
        </p:grpSp>
        <p:grpSp>
          <p:nvGrpSpPr>
            <p:cNvPr id="10042" name="Instruction &amp; reasoning"/>
            <p:cNvGrpSpPr/>
            <p:nvPr/>
          </p:nvGrpSpPr>
          <p:grpSpPr>
            <ns1:xfrm xmlns:ns1="http://schemas.openxmlformats.org/drawingml/2006/main">
              <ns1:off x="4095750" y="152400"/>
              <ns1:ext cx="3276600" cy="2266950"/>
              <ns1:chOff x="4095750" y="152400"/>
              <ns1:chExt cx="3276600" cy="2266950"/>
            </ns1:xfrm>
          </p:grpSpPr>
          <p:sp>
            <p:nvSpPr>
              <p:cNvPr id="10018" name="Instruction &amp; reasoning"/>
              <p:cNvSpPr/>
              <p:nvPr/>
            </p:nvSpPr>
            <p:spPr>
              <ns1:xfrm xmlns:ns1="http://schemas.openxmlformats.org/drawingml/2006/main">
                <ns1:off x="409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68528D"/>
                    </ns7:solidFill>
                    <ns7:latin typeface="Comic Sans MS"/>
                    <ns7:ea typeface="Times New Roman"/>
                  </ns7:rPr>
                  <ns7:t>Instruction &amp; reasoning</ns7:t>
                </ns7:r>
              </ns7:p>
            </p:txBody>
          </p:sp>
          <p:grpSp>
            <p:nvGrpSpPr>
              <p:cNvPr id="10024" name="file-text editable icon"/>
              <p:cNvGrpSpPr/>
              <p:nvPr/>
            </p:nvGrpSpPr>
            <p:grpSpPr>
              <ns1:xfrm xmlns:ns1="http://schemas.openxmlformats.org/drawingml/2006/main">
                <ns1:off x="4457700" y="819150"/>
                <ns1:ext cx="723900" cy="723900"/>
                <ns1:chOff x="4457700" y="819150"/>
                <ns1:chExt cx="723900" cy="723900"/>
              </ns1:xfrm>
            </p:grpSpPr>
            <p:sp>
              <p:nvSpPr>
                <p:cNvPr id="10019" name="file-text-0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0" name="file-text-1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1" name="file-text-2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2" name="file-text-3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3" name="file-text-4"/>
                <p:cNvSpPr/>
                <p:nvPr/>
              </p:nvSpPr>
              <p:spPr>
                <ns1:xfrm xmlns:ns1="http://schemas.openxmlformats.org/drawingml/2006/main">
                  <ns1:off x="445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</p:grpSp>
          <p:grpSp>
            <p:nvGrpSpPr>
              <p:cNvPr id="10037" name="brain-circuit editable icon"/>
              <p:cNvGrpSpPr/>
              <p:nvPr/>
            </p:nvGrpSpPr>
            <p:grpSpPr>
              <ns1:xfrm xmlns:ns1="http://schemas.openxmlformats.org/drawingml/2006/main">
                <ns1:off x="6267450" y="819150"/>
                <ns1:ext cx="723900" cy="723900"/>
                <ns1:chOff x="6267450" y="819150"/>
                <ns1:chExt cx="723900" cy="723900"/>
              </ns1:xfrm>
            </p:grpSpPr>
            <p:sp>
              <p:nvSpPr>
                <p:cNvPr id="10025" name="brain-circuit-0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6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6" name="brain-circuit-1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8000"/>
                      </ns2:moveTo>
                      <ns2:lnTo>
                        <ns2:pt x="18000" y="18000"/>
                      </ns2:lnTo>
                      <ns2:cubicBezTo>
                        <ns2:pt x="19105" y="18000"/>
                        <ns2:pt x="20000" y="18895"/>
                        <ns2:pt x="20000" y="20000"/>
                      </ns2:cubicBez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7" name="brain-circuit-2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8000"/>
                      </ns2:move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8" name="brain-circuit-3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9000"/>
                      </ns2:moveTo>
                      <ns2:cubicBezTo>
                        <ns2:pt x="11999" y="10851"/>
                        <ns2:pt x="10777" y="12481"/>
                        <ns2:pt x="9000" y="1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29" name="brain-circuit-4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8000"/>
                      </ns2:moveTo>
                      <ns2:lnTo>
                        <ns2:pt x="16000" y="5000"/>
                      </ns2:lnTo>
                      <ns2:cubicBezTo>
                        <ns2:pt x="16000" y="3895"/>
                        <ns2:pt x="16895" y="3000"/>
                        <ns2:pt x="18000" y="3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0" name="brain-circuit-5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18000"/>
                      </ns2:moveTo>
                      <ns2:cubicBezTo>
                        <ns2:pt x="4189" y="18001"/>
                        <ns2:pt x="2603" y="16785"/>
                        <ns2:pt x="2135" y="15035"/>
                      </ns2:cubicBezTo>
                      <ns2:cubicBezTo>
                        <ns2:pt x="1666" y="13286"/>
                        <ns2:pt x="2431" y="11440"/>
                        <ns2:pt x="4000" y="1053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1" name="brain-circuit-6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4" y="5125"/>
                      </ns2:moveTo>
                      <ns2:cubicBezTo>
                        <ns2:pt x="4813" y="5431"/>
                        <ns2:pt x="3829" y="6268"/>
                        <ns2:pt x="3336" y="7395"/>
                      </ns2:cubicBezTo>
                      <ns2:cubicBezTo>
                        <ns2:pt x="2843" y="8521"/>
                        <ns2:pt x="2895" y="9812"/>
                        <ns2:pt x="3478" y="10895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2" name="brain-circuit-7"/>
                <p:cNvSpPr/>
                <p:nvPr/>
              </p:nvSpPr>
              <p:spPr>
                <ns1:xfrm xmlns:ns1="http://schemas.openxmlformats.org/drawingml/2006/main">
                  <ns1:off x="626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294" y="6294"/>
                      </ns2:moveTo>
                      <ns2:cubicBezTo>
                        <ns2:pt x="5762" y="5182"/>
                        <ns2:pt x="5964" y="3857"/>
                        <ns2:pt x="6804" y="2954"/>
                      </ns2:cubicBezTo>
                      <ns2:cubicBezTo>
                        <ns2:pt x="7645" y="2052"/>
                        <ns2:pt x="8952" y="1756"/>
                        <ns2:pt x="10099" y="2207"/>
                      </ns2:cubicBezTo>
                      <ns2:cubicBezTo>
                        <ns2:pt x="11246" y="2659"/>
                        <ns2:pt x="12000" y="3767"/>
                        <ns2:pt x="12000" y="5000"/>
                      </ns2:cubicBezTo>
                      <ns2:lnTo>
                        <ns2:pt x="12000" y="18000"/>
                      </ns2:lnTo>
                      <ns2:cubicBezTo>
                        <ns2:pt x="11998" y="19490"/>
                        <ns2:pt x="11168" y="20855"/>
                        <ns2:pt x="9847" y="21543"/>
                      </ns2:cubicBezTo>
                      <ns2:cubicBezTo>
                        <ns2:pt x="8525" y="22231"/>
                        <ns2:pt x="6931" y="22127"/>
                        <ns2:pt x="5709" y="21274"/>
                      </ns2:cubicBezTo>
                      <ns2:cubicBezTo>
                        <ns2:pt x="4488" y="20421"/>
                        <ns2:pt x="3842" y="18960"/>
                        <ns2:pt x="4033" y="17482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68528D"/>
                  </ns4:solidFill>
                </ns4:ln>
              </p:spPr>
            </p:sp>
            <p:sp>
              <p:nvSpPr>
                <p:cNvPr id="10033" name="brain-circuit-8"/>
                <p:cNvSpPr/>
                <p:nvPr/>
              </p:nvSpPr>
              <p:spPr>
                <ns1:xfrm xmlns:ns1="http://schemas.openxmlformats.org/drawingml/2006/main">
                  <ns1:off x="6734969" y="11961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4" name="brain-circuit-9"/>
                <p:cNvSpPr/>
                <p:nvPr/>
              </p:nvSpPr>
              <p:spPr>
                <ns1:xfrm xmlns:ns1="http://schemas.openxmlformats.org/drawingml/2006/main">
                  <ns1:off x="6795294" y="894556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5" name="brain-circuit-10"/>
                <p:cNvSpPr/>
                <p:nvPr/>
              </p:nvSpPr>
              <p:spPr>
                <ns1:xfrm xmlns:ns1="http://schemas.openxmlformats.org/drawingml/2006/main">
                  <ns1:off x="6855619" y="1437481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  <p:sp>
              <p:nvSpPr>
                <p:cNvPr id="10036" name="brain-circuit-11"/>
                <p:cNvSpPr/>
                <p:nvPr/>
              </p:nvSpPr>
              <p:spPr>
                <ns1:xfrm xmlns:ns1="http://schemas.openxmlformats.org/drawingml/2006/main">
                  <ns1:off x="6855619" y="1045369"/>
                  <ns1:ext cx="30162" cy="30162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45244" cap="rnd">
                  <ns5:solidFill>
                    <ns5:srgbClr val="68528D"/>
                  </ns5:solidFill>
                </ns5:ln>
              </p:spPr>
            </p:sp>
          </p:grpSp>
          <p:sp>
            <p:nvSpPr>
              <p:cNvPr id="10038" name="learned mapping"/>
              <p:cNvSpPr/>
              <p:nvPr/>
            </p:nvSpPr>
            <p:spPr>
              <ns1:xfrm xmlns:ns1="http://schemas.openxmlformats.org/drawingml/2006/main">
                <ns1:off x="535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68528D"/>
                </ns4:solidFill>
                <ns4:tailEnd type="triangle"/>
              </ns4:ln>
            </p:spPr>
          </p:sp>
          <p:sp>
            <p:nvSpPr>
              <p:cNvPr id="10039" name="input"/>
              <p:cNvSpPr/>
              <p:nvPr/>
            </p:nvSpPr>
            <p:spPr>
              <ns1:xfrm xmlns:ns1="http://schemas.openxmlformats.org/drawingml/2006/main">
                <ns1:off x="414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Temporal questions</ns7:t>
                </ns7:r>
              </ns7:p>
            </p:txBody>
          </p:sp>
          <p:sp>
            <p:nvSpPr>
              <p:cNvPr id="10040" name="output"/>
              <p:cNvSpPr/>
              <p:nvPr/>
            </p:nvSpPr>
            <p:spPr>
              <ns1:xfrm xmlns:ns1="http://schemas.openxmlformats.org/drawingml/2006/main">
                <ns1:off x="594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Grounded answers</ns7:t>
                </ns7:r>
              </ns7:p>
            </p:txBody>
          </p:sp>
          <p:sp>
            <p:nvSpPr>
              <p:cNvPr id="10041" name="learning signal"/>
              <p:cNvSpPr/>
              <p:nvPr/>
            </p:nvSpPr>
            <p:spPr>
              <ns1:xfrm xmlns:ns1="http://schemas.openxmlformats.org/drawingml/2006/main">
                <ns1:off x="409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68528D"/>
                    </ns7:solidFill>
                    <ns7:latin typeface="Times New Roman"/>
                    <ns7:ea typeface="Times New Roman"/>
                  </ns7:rPr>
                  <ns7:t>Instructions and outcome feedback</ns7:t>
                </ns7:r>
              </ns7:p>
            </p:txBody>
          </p:sp>
        </p:grpSp>
        <p:grpSp>
          <p:nvGrpSpPr>
            <p:cNvPr id="10056" name="Workflow learning"/>
            <p:cNvGrpSpPr/>
            <p:nvPr/>
          </p:nvGrpSpPr>
          <p:grpSpPr>
            <ns1:xfrm xmlns:ns1="http://schemas.openxmlformats.org/drawingml/2006/main">
              <ns1:off x="7905750" y="152400"/>
              <ns1:ext cx="3276600" cy="2266950"/>
              <ns1:chOff x="7905750" y="152400"/>
              <ns1:chExt cx="3276600" cy="2266950"/>
            </ns1:xfrm>
          </p:grpSpPr>
          <p:sp>
            <p:nvSpPr>
              <p:cNvPr id="10043" name="Workflow learning"/>
              <p:cNvSpPr/>
              <p:nvPr/>
            </p:nvSpPr>
            <p:spPr>
              <ns1:xfrm xmlns:ns1="http://schemas.openxmlformats.org/drawingml/2006/main">
                <ns1:off x="7905750" y="152400"/>
                <ns1:ext cx="3238500" cy="3429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16" b="1">
                    <ns7:solidFill>
                      <ns7:srgbClr val="39846C"/>
                    </ns7:solidFill>
                    <ns7:latin typeface="Comic Sans MS"/>
                    <ns7:ea typeface="Times New Roman"/>
                  </ns7:rPr>
                  <ns7:t>Workflow learning</ns7:t>
                </ns7:r>
              </ns7:p>
            </p:txBody>
          </p:sp>
          <p:grpSp>
            <p:nvGrpSpPr>
              <p:cNvPr id="10049" name="list-checks editable icon"/>
              <p:cNvGrpSpPr/>
              <p:nvPr/>
            </p:nvGrpSpPr>
            <p:grpSpPr>
              <ns1:xfrm xmlns:ns1="http://schemas.openxmlformats.org/drawingml/2006/main">
                <ns1:off x="8267700" y="819150"/>
                <ns1:ext cx="723900" cy="723900"/>
                <ns1:chOff x="8267700" y="819150"/>
                <ns1:chExt cx="723900" cy="723900"/>
              </ns1:xfrm>
            </p:grpSpPr>
            <p:sp>
              <p:nvSpPr>
                <p:cNvPr id="10044" name="list-checks-0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5" name="list-checks-1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6" name="list-checks-2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7" name="list-checks-3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  <p:sp>
              <p:nvSpPr>
                <p:cNvPr id="10048" name="list-checks-4"/>
                <p:cNvSpPr/>
                <p:nvPr/>
              </p:nvSpPr>
              <p:spPr>
                <ns1:xfrm xmlns:ns1="http://schemas.openxmlformats.org/drawingml/2006/main">
                  <ns1:off x="826770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grpSp>
            <p:nvGrpSpPr>
              <p:cNvPr id="10051" name="wrench editable icon"/>
              <p:cNvGrpSpPr/>
              <p:nvPr/>
            </p:nvGrpSpPr>
            <p:grpSpPr>
              <ns1:xfrm xmlns:ns1="http://schemas.openxmlformats.org/drawingml/2006/main">
                <ns1:off x="10077450" y="819150"/>
                <ns1:ext cx="723900" cy="723900"/>
                <ns1:chOff x="10077450" y="819150"/>
                <ns1:chExt cx="723900" cy="723900"/>
              </ns1:xfrm>
            </p:grpSpPr>
            <p:sp>
              <p:nvSpPr>
                <p:cNvPr id="10050" name="wrench-0"/>
                <p:cNvSpPr/>
                <p:nvPr/>
              </p:nvSpPr>
              <p:spPr>
                <ns1:xfrm xmlns:ns1="http://schemas.openxmlformats.org/drawingml/2006/main">
                  <ns1:off x="10077450" y="819150"/>
                  <ns1:ext cx="723900" cy="7239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45244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052" name="learned mapping"/>
              <p:cNvSpPr/>
              <p:nvPr/>
            </p:nvSpPr>
            <p:spPr>
              <ns1:xfrm xmlns:ns1="http://schemas.openxmlformats.org/drawingml/2006/main">
                <ns1:off x="9163050" y="1181100"/>
                <ns1:ext cx="723900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76000" h="1000" fill="none">
                    <ns2:moveTo>
                      <ns2:pt x="0" y="0"/>
                    </ns2:moveTo>
                    <ns2:lnTo>
                      <ns2:pt x="76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860" cap="rnd">
                <ns4:solidFill>
                  <ns4:srgbClr val="39846C"/>
                </ns4:solidFill>
                <ns4:tailEnd type="triangle"/>
              </ns4:ln>
            </p:spPr>
          </p:sp>
          <p:sp>
            <p:nvSpPr>
              <p:cNvPr id="10053" name="input"/>
              <p:cNvSpPr/>
              <p:nvPr/>
            </p:nvSpPr>
            <p:spPr>
              <ns1:xfrm xmlns:ns1="http://schemas.openxmlformats.org/drawingml/2006/main">
                <ns1:off x="7953375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Tool trajectories</ns7:t>
                </ns7:r>
              </ns7:p>
            </p:txBody>
          </p:sp>
          <p:sp>
            <p:nvSpPr>
              <p:cNvPr id="10054" name="output"/>
              <p:cNvSpPr/>
              <p:nvPr/>
            </p:nvSpPr>
            <p:spPr>
              <ns1:xfrm xmlns:ns1="http://schemas.openxmlformats.org/drawingml/2006/main">
                <ns1:off x="9753600" y="1657350"/>
                <ns1:ext cx="1428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52" b="0">
                    <ns7:solidFill>
                      <ns7:srgbClr val="25465E"/>
                    </ns7:solidFill>
                    <ns7:latin typeface="Comic Sans MS"/>
                    <ns7:ea typeface="Times New Roman"/>
                  </ns7:rPr>
                  <ns7:t>Action policy</ns7:t>
                </ns7:r>
              </ns7:p>
            </p:txBody>
          </p:sp>
          <p:sp>
            <p:nvSpPr>
              <p:cNvPr id="10055" name="learning signal"/>
              <p:cNvSpPr/>
              <p:nvPr/>
            </p:nvSpPr>
            <p:spPr>
              <ns1:xfrm xmlns:ns1="http://schemas.openxmlformats.org/drawingml/2006/main">
                <ns1:off x="7905750" y="2095500"/>
                <ns1:ext cx="3238500" cy="3238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00" b="0">
                    <ns7:solidFill>
                      <ns7:srgbClr val="39846C"/>
                    </ns7:solidFill>
                    <ns7:latin typeface="Times New Roman"/>
                    <ns7:ea typeface="Times New Roman"/>
                  </ns7:rPr>
                  <ns7:t>Execution and preference feedback</ns7:t>
                </ns7:r>
              </ns7:p>
            </p:txBody>
          </p:sp>
        </p:grpSp>
        <p:sp>
          <p:nvSpPr>
            <p:cNvPr id="10057" name="divider"/>
            <p:cNvSpPr/>
            <p:nvPr/>
          </p:nvSpPr>
          <p:spPr>
            <ns1:xfrm xmlns:ns1="http://schemas.openxmlformats.org/drawingml/2006/main">
              <ns1:off x="285750" y="2619375"/>
              <ns1:ext cx="10858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40000" h="1000" fill="none">
                  <ns2:moveTo>
                    <ns2:pt x="0" y="0"/>
                  </ns2:moveTo>
                  <ns2:lnTo>
                    <ns2:pt x="114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9DFE4"/>
              </ns4:solidFill>
            </ns4:ln>
          </p:spPr>
        </p:sp>
        <p:grpSp>
          <p:nvGrpSpPr>
            <p:cNvPr id="10060" name="messages-square editable icon"/>
            <p:cNvGrpSpPr/>
            <p:nvPr/>
          </p:nvGrpSpPr>
          <p:grpSpPr>
            <ns1:xfrm xmlns:ns1="http://schemas.openxmlformats.org/drawingml/2006/main">
              <ns1:off x="523875" y="3171825"/>
              <ns1:ext cx="619125" cy="619125"/>
              <ns1:chOff x="523875" y="3171825"/>
              <ns1:chExt cx="619125" cy="619125"/>
            </ns1:xfrm>
          </p:grpSpPr>
          <p:sp>
            <p:nvSpPr>
              <p:cNvPr id="10058" name="messages-square-0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0000"/>
                    </ns2:moveTo>
                    <ns2:cubicBezTo>
                      <ns2:pt x="16000" y="11105"/>
                      <ns2:pt x="15105" y="12000"/>
                      <ns2:pt x="14000" y="12000"/>
                    </ns2:cubicBezTo>
                    <ns2:lnTo>
                      <ns2:pt x="6828" y="12000"/>
                    </ns2:lnTo>
                    <ns2:cubicBezTo>
                      <ns2:pt x="6298" y="12000"/>
                      <ns2:pt x="5789" y="12211"/>
                      <ns2:pt x="5414" y="12586"/>
                    </ns2:cubicBezTo>
                    <ns2:lnTo>
                      <ns2:pt x="3212" y="14788"/>
                    </ns2:lnTo>
                    <ns2:cubicBezTo>
                      <ns2:pt x="3009" y="14991"/>
                      <ns2:pt x="2704" y="15052"/>
                      <ns2:pt x="2438" y="14942"/>
                    </ns2:cubicBezTo>
                    <ns2:cubicBezTo>
                      <ns2:pt x="2173" y="14832"/>
                      <ns2:pt x="2000" y="14573"/>
                      <ns2:pt x="2000" y="14286"/>
                    </ns2:cubicBezTo>
                    <ns2:lnTo>
                      <ns2:pt x="2000" y="4000"/>
                    </ns2:lnTo>
                    <ns2:cubicBezTo>
                      <ns2:pt x="2000" y="2895"/>
                      <ns2:pt x="2895" y="2000"/>
                      <ns2:pt x="4000" y="2000"/>
                    </ns2:cubicBezTo>
                    <ns2:lnTo>
                      <ns2:pt x="14000" y="2000"/>
                    </ns2:lnTo>
                    <ns2:cubicBezTo>
                      <ns2:pt x="15105" y="2000"/>
                      <ns2:pt x="16000" y="2895"/>
                      <ns2:pt x="16000" y="4000"/>
                    </ns2:cubicBezTo>
                    <ns2:lnTo>
                      <ns2:pt x="16000" y="10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059" name="messages-square-1"/>
              <p:cNvSpPr/>
              <p:nvPr/>
            </p:nvSpPr>
            <p:spPr>
              <ns1:xfrm xmlns:ns1="http://schemas.openxmlformats.org/drawingml/2006/main">
                <ns1:off x="523875" y="3171825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9000"/>
                    </ns2:moveTo>
                    <ns2:cubicBezTo>
                      <ns2:pt x="21105" y="9000"/>
                      <ns2:pt x="22000" y="9895"/>
                      <ns2:pt x="22000" y="11000"/>
                    </ns2:cubicBezTo>
                    <ns2:lnTo>
                      <ns2:pt x="22000" y="21286"/>
                    </ns2:lnTo>
                    <ns2:cubicBezTo>
                      <ns2:pt x="22000" y="21573"/>
                      <ns2:pt x="21827" y="21832"/>
                      <ns2:pt x="21562" y="21942"/>
                    </ns2:cubicBezTo>
                    <ns2:cubicBezTo>
                      <ns2:pt x="21296" y="22052"/>
                      <ns2:pt x="20991" y="21991"/>
                      <ns2:pt x="20788" y="21788"/>
                    </ns2:cubicBezTo>
                    <ns2:lnTo>
                      <ns2:pt x="18586" y="19586"/>
                    </ns2:lnTo>
                    <ns2:cubicBezTo>
                      <ns2:pt x="18211" y="19211"/>
                      <ns2:pt x="17702" y="19000"/>
                      <ns2:pt x="17172" y="19000"/>
                    </ns2:cubicBezTo>
                    <ns2:lnTo>
                      <ns2:pt x="10000" y="19000"/>
                    </ns2:lnTo>
                    <ns2:cubicBezTo>
                      <ns2:pt x="8895" y="19000"/>
                      <ns2:pt x="8000" y="18105"/>
                      <ns2:pt x="8000" y="17000"/>
                    </ns2:cubicBezTo>
                    <ns2:lnTo>
                      <ns2:pt x="8000" y="16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061" name="temporal signal"/>
            <p:cNvSpPr/>
            <p:nvPr/>
          </p:nvSpPr>
          <p:spPr>
            <ns1:xfrm xmlns:ns1="http://schemas.openxmlformats.org/drawingml/2006/main">
              <ns1:off x="523875" y="3948210"/>
              <ns1:ext cx="619125" cy="183309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5000" h="19245" fill="none">
                  <ns2:moveTo>
                    <ns2:pt x="0" y="13490"/>
                  </ns2:moveTo>
                  <ns2:lnTo>
                    <ns2:pt x="5417" y="19245"/>
                  </ns2:lnTo>
                  <ns2:lnTo>
                    <ns2:pt x="10833" y="4657"/>
                  </ns2:lnTo>
                  <ns2:lnTo>
                    <ns2:pt x="16250" y="14013"/>
                  </ns2:lnTo>
                  <ns2:lnTo>
                    <ns2:pt x="21667" y="15530"/>
                  </ns2:lnTo>
                  <ns2:lnTo>
                    <ns2:pt x="27083" y="2330"/>
                  </ns2:lnTo>
                  <ns2:lnTo>
                    <ns2:pt x="32500" y="14291"/>
                  </ns2:lnTo>
                  <ns2:lnTo>
                    <ns2:pt x="37917" y="11354"/>
                  </ns2:lnTo>
                  <ns2:lnTo>
                    <ns2:pt x="43333" y="791"/>
                  </ns2:lnTo>
                  <ns2:lnTo>
                    <ns2:pt x="48750" y="14102"/>
                  </ns2:lnTo>
                  <ns2:lnTo>
                    <ns2:pt x="54167" y="6940"/>
                  </ns2:lnTo>
                  <ns2:lnTo>
                    <ns2:pt x="59583" y="0"/>
                  </ns2:lnTo>
                  <ns2:lnTo>
                    <ns2:pt x="65000" y="13272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000000"/>
              </ns4:solidFill>
            </ns4:ln>
            <ns0:effectLst xmlns:ns0="http://schemas.openxmlformats.org/drawingml/2006/main">
              <ns0:outerShdw blurRad="12700" dist="9000" dir="2700000" algn="ctr" rotWithShape="0">
                <ns0:srgbClr val="000000">
                  <ns0:alpha val="22000"/>
                </ns0:srgbClr>
              </ns0:outerShdw>
            </ns0:effectLst>
          </p:spPr>
        </p:sp>
        <p:sp>
          <p:nvSpPr>
            <p:cNvPr id="10062" name="observations"/>
            <p:cNvSpPr/>
            <p:nvPr/>
          </p:nvSpPr>
          <p:spPr>
            <ns1:xfrm xmlns:ns1="http://schemas.openxmlformats.org/drawingml/2006/main">
              <ns1:off x="190500" y="4429125"/>
              <ns1:ext cx="133350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Observations</ns7:t>
              </ns7:r>
            </ns7:p>
          </p:txBody>
        </p:sp>
        <p:grpSp>
          <p:nvGrpSpPr>
            <p:cNvPr id="10069" name="bot editable icon"/>
            <p:cNvGrpSpPr/>
            <p:nvPr/>
          </p:nvGrpSpPr>
          <p:grpSpPr>
            <ns1:xfrm xmlns:ns1="http://schemas.openxmlformats.org/drawingml/2006/main">
              <ns1:off x="4381500" y="3095625"/>
              <ns1:ext cx="1047750" cy="1047750"/>
              <ns1:chOff x="4381500" y="3095625"/>
              <ns1:chExt cx="1047750" cy="1047750"/>
            </ns1:xfrm>
          </p:grpSpPr>
          <p:sp>
            <p:nvSpPr>
              <p:cNvPr id="10063" name="bot-0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4" name="bot-1"/>
              <p:cNvSpPr/>
              <p:nvPr/>
            </p:nvSpPr>
            <p:spPr>
              <ns1:xfrm xmlns:ns1="http://schemas.openxmlformats.org/drawingml/2006/main">
                <ns1:off x="4556125" y="3444875"/>
                <ns1:ext cx="698500" cy="523875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65484" cap="rnd">
                <ns5:solidFill>
                  <ns5:srgbClr val="68528D"/>
                </ns5:solidFill>
              </ns5:ln>
            </p:spPr>
          </p:sp>
          <p:sp>
            <p:nvSpPr>
              <p:cNvPr id="10065" name="bot-2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6" name="bot-3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7" name="bot-4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  <p:sp>
            <p:nvSpPr>
              <p:cNvPr id="10068" name="bot-5"/>
              <p:cNvSpPr/>
              <p:nvPr/>
            </p:nvSpPr>
            <p:spPr>
              <ns1:xfrm xmlns:ns1="http://schemas.openxmlformats.org/drawingml/2006/main">
                <ns1:off x="4381500" y="3095625"/>
                <ns1:ext cx="1047750" cy="1047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65484" cap="rnd">
                <ns4:solidFill>
                  <ns4:srgbClr val="68528D"/>
                </ns4:solidFill>
              </ns4:ln>
            </p:spPr>
          </p:sp>
        </p:grpSp>
        <p:sp>
          <p:nvSpPr>
            <p:cNvPr id="10070" name="llm"/>
            <p:cNvSpPr/>
            <p:nvPr/>
          </p:nvSpPr>
          <p:spPr>
            <ns1:xfrm xmlns:ns1="http://schemas.openxmlformats.org/drawingml/2006/main">
              <ns1:off x="4286250" y="4238625"/>
              <ns1:ext cx="123825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14" b="1">
                  <ns7:solidFill>
                    <ns7:srgbClr val="68528D"/>
                  </ns7:solidFill>
                  <ns7:latin typeface="Comic Sans MS"/>
                  <ns7:ea typeface="Times New Roman"/>
                </ns7:rPr>
                <ns7:t>LLM</ns7:t>
              </ns7:r>
            </ns7:p>
          </p:txBody>
        </p:sp>
        <p:grpSp>
          <p:nvGrpSpPr>
            <p:cNvPr id="10072" name="wrench editable icon"/>
            <p:cNvGrpSpPr/>
            <p:nvPr/>
          </p:nvGrpSpPr>
          <p:grpSpPr>
            <ns1:xfrm xmlns:ns1="http://schemas.openxmlformats.org/drawingml/2006/main">
              <ns1:off x="8572500" y="3124200"/>
              <ns1:ext cx="666750" cy="666750"/>
              <ns1:chOff x="8572500" y="3124200"/>
              <ns1:chExt cx="666750" cy="666750"/>
            </ns1:xfrm>
          </p:grpSpPr>
          <p:sp>
            <p:nvSpPr>
              <p:cNvPr id="10071" name="wrench-0"/>
              <p:cNvSpPr/>
              <p:nvPr/>
            </p:nvSpPr>
            <p:spPr>
              <ns1:xfrm xmlns:ns1="http://schemas.openxmlformats.org/drawingml/2006/main">
                <ns1:off x="85725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700" y="6300"/>
                    </ns2:moveTo>
                    <ns2:cubicBezTo>
                      <ns2:pt x="14319" y="6689"/>
                      <ns2:pt x="14319" y="7311"/>
                      <ns2:pt x="14700" y="7700"/>
                    </ns2:cubicBezTo>
                    <ns2:lnTo>
                      <ns2:pt x="16300" y="9300"/>
                    </ns2:lnTo>
                    <ns2:cubicBezTo>
                      <ns2:pt x="16689" y="9681"/>
                      <ns2:pt x="17311" y="9681"/>
                      <ns2:pt x="17700" y="9300"/>
                    </ns2:cubicBezTo>
                    <ns2:lnTo>
                      <ns2:pt x="20806" y="6195"/>
                    </ns2:lnTo>
                    <ns2:cubicBezTo>
                      <ns2:pt x="21126" y="5873"/>
                      <ns2:pt x="21669" y="5975"/>
                      <ns2:pt x="21789" y="6413"/>
                    </ns2:cubicBezTo>
                    <ns2:cubicBezTo>
                      <ns2:pt x="22406" y="8656"/>
                      <ns2:pt x="21670" y="11054"/>
                      <ns2:pt x="19901" y="12565"/>
                    </ns2:cubicBezTo>
                    <ns2:cubicBezTo>
                      <ns2:pt x="18133" y="14077"/>
                      <ns2:pt x="15650" y="14429"/>
                      <ns2:pt x="13530" y="13470"/>
                    </ns2:cubicBezTo>
                    <ns2:lnTo>
                      <ns2:pt x="5620" y="21380"/>
                    </ns2:lnTo>
                    <ns2:cubicBezTo>
                      <ns2:pt x="4792" y="22208"/>
                      <ns2:pt x="3449" y="22208"/>
                      <ns2:pt x="2620" y="21380"/>
                    </ns2:cubicBezTo>
                    <ns2:cubicBezTo>
                      <ns2:pt x="1792" y="20551"/>
                      <ns2:pt x="1793" y="19208"/>
                      <ns2:pt x="2621" y="18380"/>
                    </ns2:cubicBezTo>
                    <ns2:lnTo>
                      <ns2:pt x="10531" y="10470"/>
                    </ns2:lnTo>
                    <ns2:cubicBezTo>
                      <ns2:pt x="9572" y="8350"/>
                      <ns2:pt x="9924" y="5867"/>
                      <ns2:pt x="11436" y="4099"/>
                    </ns2:cubicBezTo>
                    <ns2:cubicBezTo>
                      <ns2:pt x="12947" y="2330"/>
                      <ns2:pt x="15345" y="1594"/>
                      <ns2:pt x="17588" y="2211"/>
                    </ns2:cubicBezTo>
                    <ns2:cubicBezTo>
                      <ns2:pt x="18026" y="2331"/>
                      <ns2:pt x="18128" y="2873"/>
                      <ns2:pt x="17807" y="3195"/>
                    </ns2:cubicBezTo>
                    <ns2:lnTo>
                      <ns2:pt x="14700" y="63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39846C"/>
                </ns4:solidFill>
              </ns4:ln>
            </p:spPr>
          </p:sp>
        </p:grpSp>
        <p:sp>
          <p:nvSpPr>
            <p:cNvPr id="10073" name="actions"/>
            <p:cNvSpPr/>
            <p:nvPr/>
          </p:nvSpPr>
          <p:spPr>
            <ns1:xfrm xmlns:ns1="http://schemas.openxmlformats.org/drawingml/2006/main">
              <ns1:off x="8096250" y="4019550"/>
              <ns1:ext cx="1619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39846C"/>
                  </ns7:solidFill>
                  <ns7:latin typeface="Comic Sans MS"/>
                  <ns7:ea typeface="Times New Roman"/>
                </ns7:rPr>
                <ns7:t>Tool actions</ns7:t>
              </ns7:r>
            </ns7:p>
          </p:txBody>
        </p:sp>
        <p:grpSp>
          <p:nvGrpSpPr>
            <p:cNvPr id="10080" name="chart-no-axes-combined editable icon"/>
            <p:cNvGrpSpPr/>
            <p:nvPr/>
          </p:nvGrpSpPr>
          <p:grpSpPr>
            <ns1:xfrm xmlns:ns1="http://schemas.openxmlformats.org/drawingml/2006/main">
              <ns1:off x="10020300" y="3124200"/>
              <ns1:ext cx="666750" cy="666750"/>
              <ns1:chOff x="10020300" y="3124200"/>
              <ns1:chExt cx="666750" cy="666750"/>
            </ns1:xfrm>
          </p:grpSpPr>
          <p:sp>
            <p:nvSpPr>
              <p:cNvPr id="10074" name="chart-no-axes-combined-0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075" name="chart-no-axes-combined-1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076" name="chart-no-axes-combined-2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077" name="chart-no-axes-combined-3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078" name="chart-no-axes-combined-4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  <p:sp>
            <p:nvSpPr>
              <p:cNvPr id="10079" name="chart-no-axes-combined-5"/>
              <p:cNvSpPr/>
              <p:nvPr/>
            </p:nvSpPr>
            <p:spPr>
              <ns1:xfrm xmlns:ns1="http://schemas.openxmlformats.org/drawingml/2006/main">
                <ns1:off x="10020300" y="3124200"/>
                <ns1:ext cx="666750" cy="6667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1672" cap="rnd">
                <ns4:solidFill>
                  <ns4:srgbClr val="000000"/>
                </ns4:solidFill>
              </ns4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</p:sp>
        </p:grpSp>
        <p:sp>
          <p:nvSpPr>
            <p:cNvPr id="10081" name="answers"/>
            <p:cNvSpPr/>
            <p:nvPr/>
          </p:nvSpPr>
          <p:spPr>
            <ns1:xfrm xmlns:ns1="http://schemas.openxmlformats.org/drawingml/2006/main">
              <ns1:off x="9763125" y="4019550"/>
              <ns1:ext cx="1238250" cy="3238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84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Outputs</ns7:t>
              </ns7:r>
            </ns7:p>
          </p:txBody>
        </p:sp>
        <p:sp>
          <p:nvSpPr>
            <p:cNvPr id="10082" name="encode"/>
            <p:cNvSpPr/>
            <p:nvPr/>
          </p:nvSpPr>
          <p:spPr>
            <ns1:xfrm xmlns:ns1="http://schemas.openxmlformats.org/drawingml/2006/main">
              <ns1:off x="1524000" y="367665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3" name="encoding"/>
            <p:cNvSpPr/>
            <p:nvPr/>
          </p:nvSpPr>
          <p:spPr>
            <ns1:xfrm xmlns:ns1="http://schemas.openxmlformats.org/drawingml/2006/main">
              <ns1:off x="1714500" y="3286125"/>
              <ns1:ext cx="21907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Encode / retrieve</ns7:t>
              </ns7:r>
            </ns7:p>
          </p:txBody>
        </p:sp>
        <p:sp>
          <p:nvSpPr>
            <p:cNvPr id="10084" name="act"/>
            <p:cNvSpPr/>
            <p:nvPr/>
          </p:nvSpPr>
          <p:spPr>
            <ns1:xfrm xmlns:ns1="http://schemas.openxmlformats.org/drawingml/2006/main">
              <ns1:off x="5619750" y="3676650"/>
              <ns1:ext cx="26289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6000" h="1000" fill="none">
                  <ns2:moveTo>
                    <ns2:pt x="0" y="0"/>
                  </ns2:moveTo>
                  <ns2:lnTo>
                    <ns2:pt x="276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085" name="selection"/>
            <p:cNvSpPr/>
            <p:nvPr/>
          </p:nvSpPr>
          <p:spPr>
            <ns1:xfrm xmlns:ns1="http://schemas.openxmlformats.org/drawingml/2006/main">
              <ns1:off x="5905500" y="3286125"/>
              <ns1:ext cx="2095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452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Select and assess</ns7:t>
              </ns7:r>
            </ns7:p>
          </p:txBody>
        </p:sp>
        <p:sp>
          <p:nvSpPr>
            <p:cNvPr id="10086" name="feedback"/>
            <p:cNvSpPr/>
            <p:nvPr/>
          </p:nvSpPr>
          <p:spPr>
            <ns1:xfrm xmlns:ns1="http://schemas.openxmlformats.org/drawingml/2006/main">
              <ns1:off x="1076325" y="4476750"/>
              <ns1:ext cx="9544050" cy="5715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2000" h="60000" fill="none">
                  <ns2:moveTo>
                    <ns2:pt x="1002000" y="0"/>
                  </ns2:moveTo>
                  <ns2:lnTo>
                    <ns2:pt x="1002000" y="60000"/>
                  </ns2:lnTo>
                  <ns2:lnTo>
                    <ns2:pt x="0" y="60000"/>
                  </ns2:lnTo>
                  <ns2:lnTo>
                    <ns2:pt x="0" y="30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087" name="feedback label"/>
            <p:cNvSpPr/>
            <p:nvPr/>
          </p:nvSpPr>
          <p:spPr>
            <ns1:xfrm xmlns:ns1="http://schemas.openxmlformats.org/drawingml/2006/main">
              <ns1:off x="3048000" y="5162550"/>
              <ns1:ext cx="4762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18" b="1">
                  <ns7:solidFill>
                    <ns7:srgbClr val="3376A0"/>
                  </ns7:solidFill>
                  <ns7:latin typeface="Comic Sans MS"/>
                  <ns7:ea typeface="Times New Roman"/>
                </ns7:rPr>
                <ns7:t>Harness: execution, state and feedback</ns7:t>
              </ns7:r>
            </ns7:p>
          </p:txBody>
        </p:sp>
        <p:grpSp>
          <p:nvGrpSpPr>
            <p:cNvPr id="10091" name="target editable icon"/>
            <p:cNvGrpSpPr/>
            <p:nvPr/>
          </p:nvGrpSpPr>
          <p:grpSpPr>
            <ns1:xfrm xmlns:ns1="http://schemas.openxmlformats.org/drawingml/2006/main">
              <ns1:off x="596900" y="5645150"/>
              <ns1:ext cx="254000" cy="254000"/>
              <ns1:chOff x="596900" y="5645150"/>
              <ns1:chExt cx="254000" cy="254000"/>
            </ns1:xfrm>
          </p:grpSpPr>
          <p:sp>
            <p:nvSpPr>
              <p:cNvPr id="10088" name="target-0"/>
              <p:cNvSpPr/>
              <p:nvPr/>
            </p:nvSpPr>
            <p:spPr>
              <ns1:xfrm xmlns:ns1="http://schemas.openxmlformats.org/drawingml/2006/main">
                <ns1:off x="596900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89" name="target-1"/>
              <p:cNvSpPr/>
              <p:nvPr/>
            </p:nvSpPr>
            <p:spPr>
              <ns1:xfrm xmlns:ns1="http://schemas.openxmlformats.org/drawingml/2006/main">
                <ns1:off x="647700" y="5695950"/>
                <ns1:ext cx="152400" cy="1524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0" name="target-2"/>
              <p:cNvSpPr/>
              <p:nvPr/>
            </p:nvSpPr>
            <p:spPr>
              <ns1:xfrm xmlns:ns1="http://schemas.openxmlformats.org/drawingml/2006/main">
                <ns1:off x="698500" y="5746750"/>
                <ns1:ext cx="50800" cy="508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</p:grpSp>
        <p:sp>
          <p:nvSpPr>
            <p:cNvPr id="10092" name="Forecast accuracy"/>
            <p:cNvSpPr/>
            <p:nvPr/>
          </p:nvSpPr>
          <p:spPr>
            <ns1:xfrm xmlns:ns1="http://schemas.openxmlformats.org/drawingml/2006/main">
              <ns1:off x="971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Forecast accuracy</ns7:t>
              </ns7:r>
            </ns7:p>
          </p:txBody>
        </p:sp>
        <p:grpSp>
          <p:nvGrpSpPr>
            <p:cNvPr id="10099" name="scan-search editable icon"/>
            <p:cNvGrpSpPr/>
            <p:nvPr/>
          </p:nvGrpSpPr>
          <p:grpSpPr>
            <ns1:xfrm xmlns:ns1="http://schemas.openxmlformats.org/drawingml/2006/main">
              <ns1:off x="3381375" y="5619750"/>
              <ns1:ext cx="304800" cy="304800"/>
              <ns1:chOff x="3381375" y="5619750"/>
              <ns1:chExt cx="304800" cy="304800"/>
            </ns1:xfrm>
          </p:grpSpPr>
          <p:sp>
            <p:nvSpPr>
              <p:cNvPr id="10093" name="scan-search-0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4" name="scan-search-1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5" name="scan-search-2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6" name="scan-search-3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097" name="scan-search-4"/>
              <p:cNvSpPr/>
              <p:nvPr/>
            </p:nvSpPr>
            <p:spPr>
              <ns1:xfrm xmlns:ns1="http://schemas.openxmlformats.org/drawingml/2006/main">
                <ns1:off x="3495675" y="5734050"/>
                <ns1:ext cx="76200" cy="762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098" name="scan-search-5"/>
              <p:cNvSpPr/>
              <p:nvPr/>
            </p:nvSpPr>
            <p:spPr>
              <ns1:xfrm xmlns:ns1="http://schemas.openxmlformats.org/drawingml/2006/main">
                <ns1:off x="338137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0" name="Explanation faithfulness"/>
            <p:cNvSpPr/>
            <p:nvPr/>
          </p:nvSpPr>
          <p:spPr>
            <ns1:xfrm xmlns:ns1="http://schemas.openxmlformats.org/drawingml/2006/main">
              <ns1:off x="378142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Explanation faithfulness</ns7:t>
              </ns7:r>
            </ns7:p>
          </p:txBody>
        </p:sp>
        <p:grpSp>
          <p:nvGrpSpPr>
            <p:cNvPr id="10103" name="book-open editable icon"/>
            <p:cNvGrpSpPr/>
            <p:nvPr/>
          </p:nvGrpSpPr>
          <p:grpSpPr>
            <ns1:xfrm xmlns:ns1="http://schemas.openxmlformats.org/drawingml/2006/main">
              <ns1:off x="6286500" y="5619750"/>
              <ns1:ext cx="304800" cy="304800"/>
              <ns1:chOff x="6286500" y="5619750"/>
              <ns1:chExt cx="304800" cy="304800"/>
            </ns1:xfrm>
          </p:grpSpPr>
          <p:sp>
            <p:nvSpPr>
              <p:cNvPr id="10101" name="book-open-0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5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  <p:sp>
            <p:nvSpPr>
              <p:cNvPr id="10102" name="book-open-1"/>
              <p:cNvSpPr/>
              <p:nvPr/>
            </p:nvSpPr>
            <p:spPr>
              <ns1:xfrm xmlns:ns1="http://schemas.openxmlformats.org/drawingml/2006/main">
                <ns1:off x="6286500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1" y="19000"/>
                    </ns2:moveTo>
                    <ns2:cubicBezTo>
                      <ns2:pt x="21105" y="18999"/>
                      <ns2:pt x="22000" y="18104"/>
                      <ns2:pt x="22000" y="17000"/>
                    </ns2:cubicBezTo>
                    <ns2:lnTo>
                      <ns2:pt x="22000" y="5000"/>
                    </ns2:lnTo>
                    <ns2:cubicBezTo>
                      <ns2:pt x="22000" y="3896"/>
                      <ns2:pt x="21105" y="3001"/>
                      <ns2:pt x="20001" y="3000"/>
                    </ns2:cubicBezTo>
                    <ns2:lnTo>
                      <ns2:pt x="16000" y="3002"/>
                    </ns2:lnTo>
                    <ns2:cubicBezTo>
                      <ns2:pt x="14427" y="3002"/>
                      <ns2:pt x="12945" y="3742"/>
                      <ns2:pt x="12000" y="5000"/>
                    </ns2:cubicBezTo>
                    <ns2:cubicBezTo>
                      <ns2:pt x="11056" y="3741"/>
                      <ns2:pt x="9574" y="3000"/>
                      <ns2:pt x="8000" y="3000"/>
                    </ns2:cubicBezTo>
                    <ns2:lnTo>
                      <ns2:pt x="4000" y="3000"/>
                    </ns2:lnTo>
                    <ns2:cubicBezTo>
                      <ns2:pt x="2895" y="3000"/>
                      <ns2:pt x="2000" y="3895"/>
                      <ns2:pt x="2000" y="5000"/>
                    </ns2:cubicBezTo>
                    <ns2:lnTo>
                      <ns2:pt x="2000" y="17000"/>
                    </ns2:lnTo>
                    <ns2:cubicBezTo>
                      <ns2:pt x="2000" y="18104"/>
                      <ns2:pt x="2895" y="18999"/>
                      <ns2:pt x="3999" y="19000"/>
                    </ns2:cubicBezTo>
                    <ns2:lnTo>
                      <ns2:pt x="8000" y="19000"/>
                    </ns2:lnTo>
                    <ns2:cubicBezTo>
                      <ns2:pt x="9574" y="19000"/>
                      <ns2:pt x="11056" y="19741"/>
                      <ns2:pt x="12000" y="21000"/>
                    </ns2:cubicBezTo>
                    <ns2:cubicBezTo>
                      <ns2:pt x="12944" y="19741"/>
                      <ns2:pt x="14426" y="19000"/>
                      <ns2:pt x="16000" y="19000"/>
                    </ns2:cubicBezTo>
                    <ns2:lnTo>
                      <ns2:pt x="20001" y="19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4" name="Evidence grounding"/>
            <p:cNvSpPr/>
            <p:nvPr/>
          </p:nvSpPr>
          <p:spPr>
            <ns1:xfrm xmlns:ns1="http://schemas.openxmlformats.org/drawingml/2006/main">
              <ns1:off x="6686550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Evidence grounding</ns7:t>
              </ns7:r>
            </ns7:p>
          </p:txBody>
        </p:sp>
        <p:grpSp>
          <p:nvGrpSpPr>
            <p:cNvPr id="10107" name="circle-check editable icon"/>
            <p:cNvGrpSpPr/>
            <p:nvPr/>
          </p:nvGrpSpPr>
          <p:grpSpPr>
            <ns1:xfrm xmlns:ns1="http://schemas.openxmlformats.org/drawingml/2006/main">
              <ns1:off x="9001125" y="5619750"/>
              <ns1:ext cx="304800" cy="304800"/>
              <ns1:chOff x="9001125" y="5619750"/>
              <ns1:chExt cx="304800" cy="304800"/>
            </ns1:xfrm>
          </p:grpSpPr>
          <p:sp>
            <p:nvSpPr>
              <p:cNvPr id="10105" name="circle-check-0"/>
              <p:cNvSpPr/>
              <p:nvPr/>
            </p:nvSpPr>
            <p:spPr>
              <ns1:xfrm xmlns:ns1="http://schemas.openxmlformats.org/drawingml/2006/main">
                <ns1:off x="9026525" y="5645150"/>
                <ns1:ext cx="254000" cy="25400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19050" cap="rnd">
                <ns5:solidFill>
                  <ns5:srgbClr val="68528D"/>
                </ns5:solidFill>
              </ns5:ln>
            </p:spPr>
          </p:sp>
          <p:sp>
            <p:nvSpPr>
              <p:cNvPr id="10106" name="circle-check-1"/>
              <p:cNvSpPr/>
              <p:nvPr/>
            </p:nvSpPr>
            <p:spPr>
              <ns1:xfrm xmlns:ns1="http://schemas.openxmlformats.org/drawingml/2006/main">
                <ns1:off x="9001125" y="5619750"/>
                <ns1:ext cx="304800" cy="3048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9000"/>
                    </ns2:moveTo>
                    <ns2:lnTo>
                      <ns2:pt x="10500" y="14500"/>
                    </ns2:lnTo>
                    <ns2:lnTo>
                      <ns2:pt x="8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9050" cap="rnd">
                <ns4:solidFill>
                  <ns4:srgbClr val="68528D"/>
                </ns4:solidFill>
              </ns4:ln>
            </p:spPr>
          </p:sp>
        </p:grpSp>
        <p:sp>
          <p:nvSpPr>
            <p:cNvPr id="10108" name="Action quality"/>
            <p:cNvSpPr/>
            <p:nvPr/>
          </p:nvSpPr>
          <p:spPr>
            <ns1:xfrm xmlns:ns1="http://schemas.openxmlformats.org/drawingml/2006/main">
              <ns1:off x="9401175" y="5591175"/>
              <ns1:ext cx="22860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386" b="0">
                  <ns7:solidFill>
                    <ns7:srgbClr val="25465E"/>
                  </ns7:solidFill>
                  <ns7:latin typeface="Comic Sans MS"/>
                  <ns7:ea typeface="Times New Roman"/>
                </ns7:rPr>
                <ns7:t>Action quality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