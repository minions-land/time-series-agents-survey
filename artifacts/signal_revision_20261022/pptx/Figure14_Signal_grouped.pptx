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Figure 14 — ungroup into runtime and tool promotion"/>
          <p:cNvGrpSpPr/>
          <p:nvPr/>
        </p:nvGrpSpPr>
        <p:grpSpPr>
          <a:xfrm>
            <a:off x="238125" y="476250"/>
            <a:ext cx="14201775" cy="9096375"/>
            <a:chOff x="238125" y="476250"/>
            <a:chExt cx="14201775" cy="9096375"/>
          </a:xfrm>
        </p:grpSpPr>
        <p:grpSp>
          <p:nvGrpSpPr>
            <p:cNvPr id="69" name="Numerical workspace"/>
            <p:cNvGrpSpPr/>
            <p:nvPr/>
          </p:nvGrpSpPr>
          <p:grpSpPr>
            <a:xfrm>
              <a:off x="238125" y="476250"/>
              <a:ext cx="4572000" cy="4391025"/>
              <a:chOff x="238125" y="476250"/>
              <a:chExt cx="4572000" cy="4391025"/>
            </a:xfrm>
          </p:grpSpPr>
          <p:pic>
            <p:nvPicPr>
              <p:cNvPr id="3" name="asset_0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750" y="1095375"/>
                <a:ext cx="3857625" cy="2476500"/>
              </a:xfrm>
              <a:prstGeom prst="rect">
                <a:avLst/>
              </a:prstGeom>
            </p:spPr>
          </p:pic>
          <p:pic>
            <p:nvPicPr>
              <p:cNvPr id="4" name="asset_0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4010025"/>
                <a:ext cx="3238500" cy="857250"/>
              </a:xfrm>
              <a:prstGeom prst="rect">
                <a:avLst/>
              </a:prstGeom>
            </p:spPr>
          </p:pic>
          <p:sp>
            <p:nvSpPr>
              <p:cNvPr id="18" name="Line 18"/>
              <p:cNvSpPr/>
              <p:nvPr/>
            </p:nvSpPr>
            <p:spPr>
              <a:xfrm>
                <a:off x="4219575" y="2476500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" name="Line 19"/>
              <p:cNvSpPr/>
              <p:nvPr/>
            </p:nvSpPr>
            <p:spPr>
              <a:xfrm flipH="1">
                <a:off x="4219575" y="2657475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666875" y="14554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666875" y="18554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1666875" y="22555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1666875" y="26555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1666875" y="30556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809625" y="4192905"/>
                <a:ext cx="264795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8125" y="476250"/>
                <a:ext cx="3905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Numerical workspace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23875" y="14192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Series A</a:t>
                </a:r>
                <a:endParaRPr lang="zh-CN" sz="1496">
                  <a:latin typeface="Comic Sans M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23875" y="18192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Series B</a:t>
                </a:r>
                <a:endParaRPr lang="zh-CN" sz="1496">
                  <a:latin typeface="Comic Sans M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23875" y="22193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Series C</a:t>
                </a:r>
                <a:endParaRPr lang="zh-CN" sz="1496">
                  <a:latin typeface="Comic Sans M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3875" y="26193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Series D</a:t>
                </a:r>
                <a:endParaRPr lang="zh-CN" sz="1496">
                  <a:latin typeface="Comic Sans M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3875" y="30194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Series E</a:t>
                </a:r>
                <a:endParaRPr lang="zh-CN" sz="1496">
                  <a:latin typeface="Comic Sans M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5800" y="3571875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Full precision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70" name="Temporal tools"/>
            <p:cNvGrpSpPr/>
            <p:nvPr/>
          </p:nvGrpSpPr>
          <p:grpSpPr>
            <a:xfrm>
              <a:off x="4667250" y="476250"/>
              <a:ext cx="5219700" cy="4029075"/>
              <a:chOff x="4667250" y="476250"/>
              <a:chExt cx="5219700" cy="4029075"/>
            </a:xfrm>
          </p:grpSpPr>
          <p:pic>
            <p:nvPicPr>
              <p:cNvPr id="2" name="asset_0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7250" y="3028950"/>
                <a:ext cx="5219700" cy="1476375"/>
              </a:xfrm>
              <a:prstGeom prst="rect">
                <a:avLst/>
              </a:prstGeom>
            </p:spPr>
          </p:pic>
          <p:pic>
            <p:nvPicPr>
              <p:cNvPr id="5" name="asset_0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0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6" name="asset_0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32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7" name="asset_0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3400" y="1238250"/>
                <a:ext cx="1485900" cy="2209800"/>
              </a:xfrm>
              <a:prstGeom prst="rect">
                <a:avLst/>
              </a:prstGeom>
            </p:spPr>
          </p:pic>
          <p:sp>
            <p:nvSpPr>
              <p:cNvPr id="15" name="Rect 15"/>
              <p:cNvSpPr/>
              <p:nvPr/>
            </p:nvSpPr>
            <p:spPr>
              <a:xfrm>
                <a:off x="5505450" y="1990725"/>
                <a:ext cx="314325" cy="923925"/>
              </a:xfrm>
              <a:prstGeom prst="rect">
                <a:avLst/>
              </a:prstGeom>
              <a:solidFill>
                <a:srgbClr val="EADADD"/>
              </a:solidFill>
              <a:ln w="1016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Line 16"/>
              <p:cNvSpPr/>
              <p:nvPr/>
            </p:nvSpPr>
            <p:spPr>
              <a:xfrm>
                <a:off x="7277100" y="2409825"/>
                <a:ext cx="0" cy="238125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8372475" y="1981200"/>
                <a:ext cx="923925" cy="819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344" y="14065"/>
                    </a:lnTo>
                    <a:lnTo>
                      <a:pt x="10689" y="17581"/>
                    </a:lnTo>
                    <a:lnTo>
                      <a:pt x="15588" y="5777"/>
                    </a:lnTo>
                    <a:lnTo>
                      <a:pt x="21600" y="0"/>
                    </a:lnTo>
                  </a:path>
                </a:pathLst>
              </a:custGeom>
              <a:noFill/>
              <a:ln w="2286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5172075" y="2053590"/>
                <a:ext cx="1019175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753225" y="1962150"/>
                <a:ext cx="1047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753225" y="2708910"/>
                <a:ext cx="104775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762500" y="476250"/>
                <a:ext cx="50958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Temporal tools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101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Slice</a:t>
                </a:r>
                <a:endParaRPr lang="zh-CN" sz="1584">
                  <a:latin typeface="Comic Sans M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103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Transform</a:t>
                </a:r>
                <a:endParaRPr lang="zh-CN" sz="1584">
                  <a:latin typeface="Comic Sans M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105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Analyze</a:t>
                </a:r>
                <a:endParaRPr lang="zh-CN" sz="1584">
                  <a:latin typeface="Comic Sans M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734050" y="3714750"/>
                <a:ext cx="3000375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Native runtime</a:t>
                </a:r>
                <a:endParaRPr lang="zh-CN" sz="2200">
                  <a:latin typeface="Comic Sans MS"/>
                </a:endParaRPr>
              </a:p>
            </p:txBody>
          </p:sp>
        </p:grpSp>
        <p:grpSp>
          <p:nvGrpSpPr>
            <p:cNvPr id="71" name="Multimodal memory"/>
            <p:cNvGrpSpPr/>
            <p:nvPr/>
          </p:nvGrpSpPr>
          <p:grpSpPr>
            <a:xfrm>
              <a:off x="9886950" y="476250"/>
              <a:ext cx="4552950" cy="4286250"/>
              <a:chOff x="9886950" y="476250"/>
              <a:chExt cx="4552950" cy="4286250"/>
            </a:xfrm>
          </p:grpSpPr>
          <p:pic>
            <p:nvPicPr>
              <p:cNvPr id="8" name="asset_0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525" y="1162050"/>
                <a:ext cx="2486025" cy="1562100"/>
              </a:xfrm>
              <a:prstGeom prst="rect">
                <a:avLst/>
              </a:prstGeom>
            </p:spPr>
          </p:pic>
          <p:pic>
            <p:nvPicPr>
              <p:cNvPr id="9" name="asset_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6050" y="2771775"/>
                <a:ext cx="2152650" cy="1990725"/>
              </a:xfrm>
              <a:prstGeom prst="rect">
                <a:avLst/>
              </a:prstGeom>
            </p:spPr>
          </p:pic>
          <p:pic>
            <p:nvPicPr>
              <p:cNvPr id="10" name="asset_0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5825" y="1809750"/>
                <a:ext cx="2124075" cy="2867025"/>
              </a:xfrm>
              <a:prstGeom prst="rect">
                <a:avLst/>
              </a:prstGeom>
            </p:spPr>
          </p:pic>
          <p:sp>
            <p:nvSpPr>
              <p:cNvPr id="20" name="Line 20"/>
              <p:cNvSpPr/>
              <p:nvPr/>
            </p:nvSpPr>
            <p:spPr>
              <a:xfrm>
                <a:off x="9886950" y="2476500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1" name="Line 21"/>
              <p:cNvSpPr/>
              <p:nvPr/>
            </p:nvSpPr>
            <p:spPr>
              <a:xfrm flipH="1">
                <a:off x="9886950" y="2657475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10648950" y="1829752"/>
                <a:ext cx="1628775" cy="502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87000" y="476250"/>
                <a:ext cx="40957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Multimodal memory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582275" y="1390650"/>
                <a:ext cx="16478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Signal</a:t>
                </a:r>
                <a:endParaRPr lang="zh-CN" sz="1760">
                  <a:latin typeface="Comic Sans M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53700" y="3019425"/>
                <a:ext cx="16478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Text</a:t>
                </a:r>
                <a:endParaRPr lang="zh-CN" sz="1760">
                  <a:latin typeface="Comic Sans M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515600" y="3429000"/>
                <a:ext cx="171450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context</a:t>
                </a:r>
                <a:endParaRPr lang="zh-CN" sz="1800"/>
              </a:p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Rationale</a:t>
                </a:r>
                <a:endParaRPr lang="zh-CN" sz="1800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734925" y="206692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Trace</a:t>
                </a:r>
                <a:endParaRPr lang="zh-CN" sz="1760">
                  <a:latin typeface="Comic Sans M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677775" y="2571750"/>
                <a:ext cx="1457325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Operation</a:t>
                </a:r>
                <a:endParaRPr lang="zh-CN" sz="1700"/>
              </a:p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Observation</a:t>
                </a:r>
                <a:endParaRPr lang="zh-CN" sz="1700"/>
              </a:p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Intent</a:t>
                </a:r>
                <a:endParaRPr lang="zh-CN" sz="1700"/>
              </a:p>
            </p:txBody>
          </p:sp>
        </p:grpSp>
        <p:grpSp>
          <p:nvGrpSpPr>
            <p:cNvPr id="72" name="Promotion route"/>
            <p:cNvGrpSpPr/>
            <p:nvPr/>
          </p:nvGrpSpPr>
          <p:grpSpPr>
            <a:xfrm>
              <a:off x="238125" y="4429125"/>
              <a:ext cx="14144625" cy="2914650"/>
              <a:chOff x="238125" y="4429125"/>
              <a:chExt cx="14144625" cy="291465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238125" y="5238750"/>
                <a:ext cx="14144625" cy="0"/>
              </a:xfrm>
              <a:prstGeom prst="line">
                <a:avLst/>
              </a:prstGeom>
              <a:noFill/>
              <a:ln w="12700">
                <a:solidFill>
                  <a:srgbClr val="A9AFB1"/>
                </a:solidFill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9705975" y="4429125"/>
                <a:ext cx="4581525" cy="2914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0522" y="21600"/>
                    </a:moveTo>
                    <a:lnTo>
                      <a:pt x="21600" y="21600"/>
                    </a:lnTo>
                    <a:lnTo>
                      <a:pt x="21600" y="10941"/>
                    </a:lnTo>
                    <a:lnTo>
                      <a:pt x="0" y="10941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813F46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38125" y="5495925"/>
                <a:ext cx="8572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64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From execution to reusable tools</a:t>
                </a:r>
                <a:endParaRPr lang="zh-CN" sz="2464">
                  <a:latin typeface="Comic Sans MS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287000" y="5524500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813F46"/>
                    </a:solidFill>
                    <a:latin typeface="Comic Sans MS"/>
                    <a:ea typeface="Times New Roman"/>
                    <a:cs typeface="Times New Roman"/>
                  </a:rPr>
                  <a:t>Accepted tools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73" name="Execution traces"/>
            <p:cNvGrpSpPr/>
            <p:nvPr/>
          </p:nvGrpSpPr>
          <p:grpSpPr>
            <a:xfrm>
              <a:off x="381000" y="6200775"/>
              <a:ext cx="3629025" cy="3238500"/>
              <a:chOff x="381000" y="6200775"/>
              <a:chExt cx="3629025" cy="3238500"/>
            </a:xfrm>
          </p:grpSpPr>
          <p:pic>
            <p:nvPicPr>
              <p:cNvPr id="11" name="asset_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3400" y="6724650"/>
                <a:ext cx="2714625" cy="2714625"/>
              </a:xfrm>
              <a:prstGeom prst="rect">
                <a:avLst/>
              </a:prstGeom>
            </p:spPr>
          </p:pic>
          <p:sp>
            <p:nvSpPr>
              <p:cNvPr id="23" name="Line 23"/>
              <p:cNvSpPr/>
              <p:nvPr/>
            </p:nvSpPr>
            <p:spPr>
              <a:xfrm>
                <a:off x="3295650" y="8029575"/>
                <a:ext cx="714375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1028700" y="8634412"/>
                <a:ext cx="1809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81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Execution traces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66800" y="7200900"/>
                <a:ext cx="1809750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clusters</a:t>
                </a:r>
                <a:endParaRPr lang="zh-CN" sz="2100"/>
              </a:p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Operations</a:t>
                </a:r>
                <a:endParaRPr lang="zh-CN" sz="2100"/>
              </a:p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2100"/>
              </a:p>
            </p:txBody>
          </p:sp>
        </p:grpSp>
        <p:grpSp>
          <p:nvGrpSpPr>
            <p:cNvPr id="74" name="Candidate tool"/>
            <p:cNvGrpSpPr/>
            <p:nvPr/>
          </p:nvGrpSpPr>
          <p:grpSpPr>
            <a:xfrm>
              <a:off x="4095750" y="6200775"/>
              <a:ext cx="2981325" cy="2981325"/>
              <a:chOff x="4095750" y="6200775"/>
              <a:chExt cx="2981325" cy="2981325"/>
            </a:xfrm>
          </p:grpSpPr>
          <p:pic>
            <p:nvPicPr>
              <p:cNvPr id="12" name="asset_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4800" y="6943725"/>
                <a:ext cx="2962275" cy="2238375"/>
              </a:xfrm>
              <a:prstGeom prst="rect">
                <a:avLst/>
              </a:prstGeom>
            </p:spPr>
          </p:pic>
          <p:sp>
            <p:nvSpPr>
              <p:cNvPr id="60" name="TextBox 60"/>
              <p:cNvSpPr txBox="1"/>
              <p:nvPr/>
            </p:nvSpPr>
            <p:spPr>
              <a:xfrm>
                <a:off x="40957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Candidate tool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57700" y="7286625"/>
                <a:ext cx="2333625" cy="126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Invocation</a:t>
                </a:r>
                <a:endParaRPr lang="zh-CN" sz="2200"/>
              </a:p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Implementation</a:t>
                </a:r>
                <a:endParaRPr lang="zh-CN" sz="2200"/>
              </a:p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Workspace access</a:t>
                </a:r>
                <a:endParaRPr lang="zh-CN" sz="2200"/>
              </a:p>
            </p:txBody>
          </p:sp>
        </p:grpSp>
        <p:grpSp>
          <p:nvGrpSpPr>
            <p:cNvPr id="75" name="Held-out tests"/>
            <p:cNvGrpSpPr/>
            <p:nvPr/>
          </p:nvGrpSpPr>
          <p:grpSpPr>
            <a:xfrm>
              <a:off x="7115175" y="6200775"/>
              <a:ext cx="3676650" cy="3371850"/>
              <a:chOff x="7115175" y="6200775"/>
              <a:chExt cx="3676650" cy="3371850"/>
            </a:xfrm>
          </p:grpSpPr>
          <p:pic>
            <p:nvPicPr>
              <p:cNvPr id="13" name="asset_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5725" y="6838950"/>
                <a:ext cx="3086100" cy="2457450"/>
              </a:xfrm>
              <a:prstGeom prst="rect">
                <a:avLst/>
              </a:prstGeom>
            </p:spPr>
          </p:pic>
          <p:sp>
            <p:nvSpPr>
              <p:cNvPr id="24" name="Line 24"/>
              <p:cNvSpPr/>
              <p:nvPr/>
            </p:nvSpPr>
            <p:spPr>
              <a:xfrm>
                <a:off x="7115175" y="8029575"/>
                <a:ext cx="495300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8039100" y="7140892"/>
                <a:ext cx="152400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8115300" y="7534275"/>
                <a:ext cx="14192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7152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Held-out tests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05750" y="9277350"/>
                <a:ext cx="2571750" cy="295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Similar tasks</a:t>
                </a:r>
                <a:endParaRPr lang="zh-CN" sz="1672">
                  <a:latin typeface="Comic Sans MS"/>
                </a:endParaRPr>
              </a:p>
            </p:txBody>
          </p:sp>
        </p:grpSp>
        <p:grpSp>
          <p:nvGrpSpPr>
            <p:cNvPr id="76" name="Registration"/>
            <p:cNvGrpSpPr/>
            <p:nvPr/>
          </p:nvGrpSpPr>
          <p:grpSpPr>
            <a:xfrm>
              <a:off x="10858500" y="6200775"/>
              <a:ext cx="3524250" cy="3257550"/>
              <a:chOff x="10858500" y="6200775"/>
              <a:chExt cx="3524250" cy="3257550"/>
            </a:xfrm>
          </p:grpSpPr>
          <p:pic>
            <p:nvPicPr>
              <p:cNvPr id="14" name="asset_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82400" y="6772275"/>
                <a:ext cx="2533650" cy="2686050"/>
              </a:xfrm>
              <a:prstGeom prst="rect">
                <a:avLst/>
              </a:prstGeom>
            </p:spPr>
          </p:pic>
          <p:sp>
            <p:nvSpPr>
              <p:cNvPr id="25" name="Line 25"/>
              <p:cNvSpPr/>
              <p:nvPr/>
            </p:nvSpPr>
            <p:spPr>
              <a:xfrm>
                <a:off x="10858500" y="8029575"/>
                <a:ext cx="638175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430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Registration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811000" y="7200900"/>
                <a:ext cx="20193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293238"/>
                    </a:solidFill>
                    <a:latin typeface="Comic Sans MS"/>
                    <a:ea typeface="Times New Roman"/>
                    <a:cs typeface="Times New Roman"/>
                  </a:rPr>
                  <a:t>Accepted tool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811000" y="7762875"/>
                <a:ext cx="20288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Held-out success</a:t>
                </a:r>
                <a:endParaRPr lang="zh-CN" sz="1800"/>
              </a:p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above threshold</a:t>
                </a:r>
                <a:endParaRPr lang="zh-CN" sz="18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