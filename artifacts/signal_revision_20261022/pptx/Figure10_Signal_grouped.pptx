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7497425" cy="81534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1" name="Figure 10 — AnomaMind workflow"/>
          <p:cNvGrpSpPr/>
          <p:nvPr/>
        </p:nvGrpSpPr>
        <p:grpSpPr>
          <a:xfrm>
            <a:off x="285750" y="190500"/>
            <a:ext cx="16906875" cy="7696200"/>
            <a:chOff x="285750" y="190500"/>
            <a:chExt cx="16906875" cy="7696200"/>
          </a:xfrm>
        </p:grpSpPr>
        <p:grpSp>
          <p:nvGrpSpPr>
            <p:cNvPr id="1009" name="Inference workflow"/>
            <p:cNvGrpSpPr/>
            <p:nvPr/>
          </p:nvGrpSpPr>
          <p:grpSpPr>
            <a:xfrm>
              <a:off x="285750" y="190500"/>
              <a:ext cx="16906875" cy="5982652"/>
              <a:chOff x="285750" y="190500"/>
              <a:chExt cx="16906875" cy="5982652"/>
            </a:xfrm>
          </p:grpSpPr>
          <p:grpSp>
            <p:nvGrpSpPr>
              <p:cNvPr id="1000" name="Acquire evidence"/>
              <p:cNvGrpSpPr/>
              <p:nvPr/>
            </p:nvGrpSpPr>
            <p:grpSpPr>
              <a:xfrm>
                <a:off x="333375" y="190500"/>
                <a:ext cx="4048125" cy="5753100"/>
                <a:chOff x="333375" y="190500"/>
                <a:chExt cx="4048125" cy="5753100"/>
              </a:xfrm>
            </p:grpSpPr>
            <p:sp>
              <p:nvSpPr>
                <p:cNvPr id="2" name="Rect 2"/>
                <p:cNvSpPr/>
                <p:nvPr/>
              </p:nvSpPr>
              <p:spPr>
                <a:xfrm>
                  <a:off x="1695450" y="5162550"/>
                  <a:ext cx="876300" cy="247650"/>
                </a:xfrm>
                <a:prstGeom prst="rect">
                  <a:avLst/>
                </a:prstGeom>
                <a:solidFill>
                  <a:srgbClr val="E9F1F6"/>
                </a:solidFill>
                <a:ln>
                  <a:noFill/>
                </a:ln>
              </p:spPr>
              <p:txBody>
                <a:bodyPr/>
                <a:lstStyle/>
                <a:p/>
              </p:txBody>
            </p:sp>
            <p:sp>
              <p:nvSpPr>
                <p:cNvPr id="50001" name="pattern0-editable-waveform"/>
                <p:cNvSpPr/>
                <p:nvPr/>
              </p:nvSpPr>
              <p:spPr>
                <a:xfrm>
                  <a:off x="428625" y="1476375"/>
                  <a:ext cx="2238375" cy="35242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3100" h="3700" fill="none" stroke="1">
                      <a:moveTo>
                        <a:pt x="300" y="2100"/>
                      </a:moveTo>
                      <a:lnTo>
                        <a:pt x="400" y="2150"/>
                      </a:lnTo>
                      <a:lnTo>
                        <a:pt x="500" y="2150"/>
                      </a:lnTo>
                      <a:lnTo>
                        <a:pt x="600" y="2150"/>
                      </a:lnTo>
                      <a:lnTo>
                        <a:pt x="700" y="2150"/>
                      </a:lnTo>
                      <a:lnTo>
                        <a:pt x="800" y="2150"/>
                      </a:lnTo>
                      <a:lnTo>
                        <a:pt x="900" y="2150"/>
                      </a:lnTo>
                      <a:lnTo>
                        <a:pt x="1000" y="2150"/>
                      </a:lnTo>
                      <a:lnTo>
                        <a:pt x="1100" y="2150"/>
                      </a:lnTo>
                      <a:lnTo>
                        <a:pt x="1200" y="2150"/>
                      </a:lnTo>
                      <a:lnTo>
                        <a:pt x="1300" y="2150"/>
                      </a:lnTo>
                      <a:lnTo>
                        <a:pt x="1400" y="2150"/>
                      </a:lnTo>
                      <a:lnTo>
                        <a:pt x="1500" y="2150"/>
                      </a:lnTo>
                      <a:lnTo>
                        <a:pt x="1600" y="2150"/>
                      </a:lnTo>
                      <a:lnTo>
                        <a:pt x="1700" y="2100"/>
                      </a:lnTo>
                      <a:lnTo>
                        <a:pt x="1800" y="2100"/>
                      </a:lnTo>
                      <a:lnTo>
                        <a:pt x="1900" y="2100"/>
                      </a:lnTo>
                      <a:lnTo>
                        <a:pt x="2000" y="2200"/>
                      </a:lnTo>
                      <a:lnTo>
                        <a:pt x="2100" y="2200"/>
                      </a:lnTo>
                      <a:lnTo>
                        <a:pt x="2200" y="2200"/>
                      </a:lnTo>
                      <a:lnTo>
                        <a:pt x="2300" y="2150"/>
                      </a:lnTo>
                      <a:lnTo>
                        <a:pt x="2400" y="2150"/>
                      </a:lnTo>
                      <a:lnTo>
                        <a:pt x="2500" y="2100"/>
                      </a:lnTo>
                      <a:lnTo>
                        <a:pt x="2600" y="2100"/>
                      </a:lnTo>
                      <a:lnTo>
                        <a:pt x="2700" y="2100"/>
                      </a:lnTo>
                      <a:lnTo>
                        <a:pt x="2800" y="2100"/>
                      </a:lnTo>
                      <a:lnTo>
                        <a:pt x="2900" y="2100"/>
                      </a:lnTo>
                      <a:lnTo>
                        <a:pt x="3000" y="2100"/>
                      </a:lnTo>
                      <a:lnTo>
                        <a:pt x="3100" y="2100"/>
                      </a:lnTo>
                      <a:lnTo>
                        <a:pt x="3200" y="2100"/>
                      </a:lnTo>
                      <a:lnTo>
                        <a:pt x="3300" y="2100"/>
                      </a:lnTo>
                      <a:lnTo>
                        <a:pt x="3400" y="2100"/>
                      </a:lnTo>
                      <a:lnTo>
                        <a:pt x="3500" y="2100"/>
                      </a:lnTo>
                      <a:lnTo>
                        <a:pt x="3600" y="2150"/>
                      </a:lnTo>
                      <a:lnTo>
                        <a:pt x="3700" y="2150"/>
                      </a:lnTo>
                      <a:lnTo>
                        <a:pt x="3800" y="2150"/>
                      </a:lnTo>
                      <a:lnTo>
                        <a:pt x="3900" y="2150"/>
                      </a:lnTo>
                      <a:lnTo>
                        <a:pt x="4000" y="2150"/>
                      </a:lnTo>
                      <a:lnTo>
                        <a:pt x="4100" y="2150"/>
                      </a:lnTo>
                      <a:lnTo>
                        <a:pt x="4200" y="2150"/>
                      </a:lnTo>
                      <a:lnTo>
                        <a:pt x="4300" y="2150"/>
                      </a:lnTo>
                      <a:lnTo>
                        <a:pt x="4400" y="2150"/>
                      </a:lnTo>
                      <a:lnTo>
                        <a:pt x="4500" y="2150"/>
                      </a:lnTo>
                      <a:lnTo>
                        <a:pt x="4600" y="2150"/>
                      </a:lnTo>
                      <a:lnTo>
                        <a:pt x="4700" y="2150"/>
                      </a:lnTo>
                      <a:lnTo>
                        <a:pt x="4800" y="2100"/>
                      </a:lnTo>
                      <a:lnTo>
                        <a:pt x="4900" y="2100"/>
                      </a:lnTo>
                      <a:lnTo>
                        <a:pt x="5000" y="2100"/>
                      </a:lnTo>
                      <a:lnTo>
                        <a:pt x="5100" y="2050"/>
                      </a:lnTo>
                      <a:lnTo>
                        <a:pt x="5200" y="1900"/>
                      </a:lnTo>
                      <a:lnTo>
                        <a:pt x="5300" y="1750"/>
                      </a:lnTo>
                      <a:lnTo>
                        <a:pt x="5400" y="1550"/>
                      </a:lnTo>
                      <a:lnTo>
                        <a:pt x="5500" y="1350"/>
                      </a:lnTo>
                      <a:lnTo>
                        <a:pt x="5600" y="1150"/>
                      </a:lnTo>
                      <a:lnTo>
                        <a:pt x="5700" y="900"/>
                      </a:lnTo>
                      <a:lnTo>
                        <a:pt x="5800" y="750"/>
                      </a:lnTo>
                      <a:lnTo>
                        <a:pt x="5900" y="700"/>
                      </a:lnTo>
                      <a:lnTo>
                        <a:pt x="6000" y="800"/>
                      </a:lnTo>
                      <a:lnTo>
                        <a:pt x="6100" y="1000"/>
                      </a:lnTo>
                      <a:lnTo>
                        <a:pt x="6200" y="1300"/>
                      </a:lnTo>
                      <a:lnTo>
                        <a:pt x="6300" y="1500"/>
                      </a:lnTo>
                      <a:lnTo>
                        <a:pt x="6400" y="1800"/>
                      </a:lnTo>
                      <a:lnTo>
                        <a:pt x="6500" y="1950"/>
                      </a:lnTo>
                      <a:lnTo>
                        <a:pt x="6600" y="2100"/>
                      </a:lnTo>
                      <a:lnTo>
                        <a:pt x="6700" y="2150"/>
                      </a:lnTo>
                      <a:lnTo>
                        <a:pt x="6800" y="2150"/>
                      </a:lnTo>
                      <a:lnTo>
                        <a:pt x="6900" y="2150"/>
                      </a:lnTo>
                      <a:lnTo>
                        <a:pt x="7000" y="2250"/>
                      </a:lnTo>
                      <a:lnTo>
                        <a:pt x="7100" y="2400"/>
                      </a:lnTo>
                      <a:lnTo>
                        <a:pt x="7200" y="2600"/>
                      </a:lnTo>
                      <a:lnTo>
                        <a:pt x="7300" y="2800"/>
                      </a:lnTo>
                      <a:lnTo>
                        <a:pt x="7400" y="2900"/>
                      </a:lnTo>
                      <a:lnTo>
                        <a:pt x="7500" y="2850"/>
                      </a:lnTo>
                      <a:lnTo>
                        <a:pt x="7600" y="2700"/>
                      </a:lnTo>
                      <a:lnTo>
                        <a:pt x="7700" y="2500"/>
                      </a:lnTo>
                      <a:lnTo>
                        <a:pt x="7800" y="2300"/>
                      </a:lnTo>
                      <a:lnTo>
                        <a:pt x="7900" y="2100"/>
                      </a:lnTo>
                      <a:lnTo>
                        <a:pt x="8000" y="2000"/>
                      </a:lnTo>
                      <a:lnTo>
                        <a:pt x="8100" y="1800"/>
                      </a:lnTo>
                      <a:lnTo>
                        <a:pt x="8200" y="1600"/>
                      </a:lnTo>
                      <a:lnTo>
                        <a:pt x="8300" y="1450"/>
                      </a:lnTo>
                      <a:lnTo>
                        <a:pt x="8400" y="1400"/>
                      </a:lnTo>
                      <a:lnTo>
                        <a:pt x="8500" y="1450"/>
                      </a:lnTo>
                      <a:lnTo>
                        <a:pt x="8600" y="1650"/>
                      </a:lnTo>
                      <a:lnTo>
                        <a:pt x="8700" y="1750"/>
                      </a:lnTo>
                      <a:lnTo>
                        <a:pt x="8800" y="1950"/>
                      </a:lnTo>
                      <a:lnTo>
                        <a:pt x="8900" y="2100"/>
                      </a:lnTo>
                      <a:lnTo>
                        <a:pt x="9000" y="2150"/>
                      </a:lnTo>
                      <a:lnTo>
                        <a:pt x="9100" y="2150"/>
                      </a:lnTo>
                      <a:lnTo>
                        <a:pt x="9200" y="2150"/>
                      </a:lnTo>
                      <a:lnTo>
                        <a:pt x="9300" y="2100"/>
                      </a:lnTo>
                      <a:lnTo>
                        <a:pt x="9400" y="2100"/>
                      </a:lnTo>
                      <a:lnTo>
                        <a:pt x="9500" y="2100"/>
                      </a:lnTo>
                      <a:lnTo>
                        <a:pt x="9600" y="2100"/>
                      </a:lnTo>
                      <a:lnTo>
                        <a:pt x="9700" y="2100"/>
                      </a:lnTo>
                      <a:lnTo>
                        <a:pt x="9800" y="2150"/>
                      </a:lnTo>
                      <a:lnTo>
                        <a:pt x="9900" y="2150"/>
                      </a:lnTo>
                      <a:lnTo>
                        <a:pt x="10000" y="2150"/>
                      </a:lnTo>
                      <a:lnTo>
                        <a:pt x="10100" y="2150"/>
                      </a:lnTo>
                      <a:lnTo>
                        <a:pt x="10200" y="2100"/>
                      </a:lnTo>
                      <a:lnTo>
                        <a:pt x="10300" y="2100"/>
                      </a:lnTo>
                      <a:lnTo>
                        <a:pt x="10400" y="2100"/>
                      </a:lnTo>
                      <a:lnTo>
                        <a:pt x="10500" y="2100"/>
                      </a:lnTo>
                      <a:lnTo>
                        <a:pt x="10600" y="2100"/>
                      </a:lnTo>
                      <a:lnTo>
                        <a:pt x="10700" y="2150"/>
                      </a:lnTo>
                      <a:lnTo>
                        <a:pt x="10800" y="2150"/>
                      </a:lnTo>
                      <a:lnTo>
                        <a:pt x="10900" y="2150"/>
                      </a:lnTo>
                      <a:lnTo>
                        <a:pt x="11000" y="2150"/>
                      </a:lnTo>
                      <a:lnTo>
                        <a:pt x="11100" y="2150"/>
                      </a:lnTo>
                      <a:lnTo>
                        <a:pt x="11200" y="2100"/>
                      </a:lnTo>
                      <a:lnTo>
                        <a:pt x="11300" y="2100"/>
                      </a:lnTo>
                      <a:lnTo>
                        <a:pt x="11400" y="2100"/>
                      </a:lnTo>
                      <a:lnTo>
                        <a:pt x="11500" y="2150"/>
                      </a:lnTo>
                      <a:lnTo>
                        <a:pt x="11600" y="2150"/>
                      </a:lnTo>
                      <a:lnTo>
                        <a:pt x="11700" y="2150"/>
                      </a:lnTo>
                      <a:lnTo>
                        <a:pt x="11800" y="2150"/>
                      </a:lnTo>
                      <a:lnTo>
                        <a:pt x="11900" y="2150"/>
                      </a:lnTo>
                      <a:lnTo>
                        <a:pt x="12000" y="2150"/>
                      </a:lnTo>
                      <a:lnTo>
                        <a:pt x="12100" y="2150"/>
                      </a:lnTo>
                      <a:lnTo>
                        <a:pt x="12200" y="2100"/>
                      </a:lnTo>
                      <a:lnTo>
                        <a:pt x="12300" y="2050"/>
                      </a:lnTo>
                      <a:lnTo>
                        <a:pt x="12400" y="2050"/>
                      </a:lnTo>
                      <a:lnTo>
                        <a:pt x="12500" y="2100"/>
                      </a:lnTo>
                      <a:lnTo>
                        <a:pt x="12600" y="2100"/>
                      </a:lnTo>
                      <a:lnTo>
                        <a:pt x="12700" y="2150"/>
                      </a:lnTo>
                      <a:lnTo>
                        <a:pt x="12800" y="2150"/>
                      </a:lnTo>
                      <a:lnTo>
                        <a:pt x="12900" y="2150"/>
                      </a:lnTo>
                      <a:lnTo>
                        <a:pt x="13000" y="2150"/>
                      </a:lnTo>
                      <a:lnTo>
                        <a:pt x="13100" y="2150"/>
                      </a:lnTo>
                      <a:lnTo>
                        <a:pt x="13200" y="2100"/>
                      </a:lnTo>
                      <a:lnTo>
                        <a:pt x="13300" y="2050"/>
                      </a:lnTo>
                      <a:lnTo>
                        <a:pt x="13400" y="2050"/>
                      </a:lnTo>
                      <a:lnTo>
                        <a:pt x="13500" y="2050"/>
                      </a:lnTo>
                      <a:lnTo>
                        <a:pt x="13600" y="2050"/>
                      </a:lnTo>
                      <a:lnTo>
                        <a:pt x="13700" y="1950"/>
                      </a:lnTo>
                      <a:lnTo>
                        <a:pt x="13800" y="1850"/>
                      </a:lnTo>
                      <a:lnTo>
                        <a:pt x="13900" y="1650"/>
                      </a:lnTo>
                      <a:lnTo>
                        <a:pt x="14000" y="1450"/>
                      </a:lnTo>
                      <a:lnTo>
                        <a:pt x="14100" y="1150"/>
                      </a:lnTo>
                      <a:lnTo>
                        <a:pt x="14200" y="950"/>
                      </a:lnTo>
                      <a:lnTo>
                        <a:pt x="14300" y="800"/>
                      </a:lnTo>
                      <a:lnTo>
                        <a:pt x="14400" y="650"/>
                      </a:lnTo>
                      <a:lnTo>
                        <a:pt x="14500" y="700"/>
                      </a:lnTo>
                      <a:lnTo>
                        <a:pt x="14600" y="900"/>
                      </a:lnTo>
                      <a:lnTo>
                        <a:pt x="14700" y="1150"/>
                      </a:lnTo>
                      <a:lnTo>
                        <a:pt x="14800" y="1450"/>
                      </a:lnTo>
                      <a:lnTo>
                        <a:pt x="14900" y="1750"/>
                      </a:lnTo>
                      <a:lnTo>
                        <a:pt x="15000" y="1900"/>
                      </a:lnTo>
                      <a:lnTo>
                        <a:pt x="15100" y="2050"/>
                      </a:lnTo>
                      <a:lnTo>
                        <a:pt x="15200" y="2150"/>
                      </a:lnTo>
                      <a:lnTo>
                        <a:pt x="15300" y="2200"/>
                      </a:lnTo>
                      <a:lnTo>
                        <a:pt x="15400" y="2300"/>
                      </a:lnTo>
                      <a:lnTo>
                        <a:pt x="15500" y="2500"/>
                      </a:lnTo>
                      <a:lnTo>
                        <a:pt x="15600" y="2700"/>
                      </a:lnTo>
                      <a:lnTo>
                        <a:pt x="15700" y="2850"/>
                      </a:lnTo>
                      <a:lnTo>
                        <a:pt x="15800" y="2900"/>
                      </a:lnTo>
                      <a:lnTo>
                        <a:pt x="15900" y="2800"/>
                      </a:lnTo>
                      <a:lnTo>
                        <a:pt x="16000" y="2650"/>
                      </a:lnTo>
                      <a:lnTo>
                        <a:pt x="16100" y="2450"/>
                      </a:lnTo>
                      <a:lnTo>
                        <a:pt x="16200" y="2300"/>
                      </a:lnTo>
                      <a:lnTo>
                        <a:pt x="16300" y="2150"/>
                      </a:lnTo>
                      <a:lnTo>
                        <a:pt x="16400" y="2050"/>
                      </a:lnTo>
                      <a:lnTo>
                        <a:pt x="16500" y="1850"/>
                      </a:lnTo>
                      <a:lnTo>
                        <a:pt x="16600" y="1700"/>
                      </a:lnTo>
                      <a:lnTo>
                        <a:pt x="16700" y="1550"/>
                      </a:lnTo>
                      <a:lnTo>
                        <a:pt x="16800" y="1400"/>
                      </a:lnTo>
                      <a:lnTo>
                        <a:pt x="16900" y="1400"/>
                      </a:lnTo>
                      <a:lnTo>
                        <a:pt x="17000" y="1450"/>
                      </a:lnTo>
                      <a:lnTo>
                        <a:pt x="17100" y="1600"/>
                      </a:lnTo>
                      <a:lnTo>
                        <a:pt x="17200" y="1750"/>
                      </a:lnTo>
                      <a:lnTo>
                        <a:pt x="17300" y="1900"/>
                      </a:lnTo>
                      <a:lnTo>
                        <a:pt x="17400" y="2050"/>
                      </a:lnTo>
                      <a:lnTo>
                        <a:pt x="17500" y="2150"/>
                      </a:lnTo>
                      <a:lnTo>
                        <a:pt x="17600" y="2150"/>
                      </a:lnTo>
                      <a:lnTo>
                        <a:pt x="17700" y="2150"/>
                      </a:lnTo>
                      <a:lnTo>
                        <a:pt x="17800" y="2100"/>
                      </a:lnTo>
                      <a:lnTo>
                        <a:pt x="17900" y="2100"/>
                      </a:lnTo>
                      <a:lnTo>
                        <a:pt x="18000" y="2100"/>
                      </a:lnTo>
                      <a:lnTo>
                        <a:pt x="18100" y="2000"/>
                      </a:lnTo>
                      <a:lnTo>
                        <a:pt x="18200" y="1950"/>
                      </a:lnTo>
                      <a:lnTo>
                        <a:pt x="18300" y="1900"/>
                      </a:lnTo>
                      <a:lnTo>
                        <a:pt x="18400" y="1800"/>
                      </a:lnTo>
                      <a:lnTo>
                        <a:pt x="18500" y="1650"/>
                      </a:lnTo>
                      <a:lnTo>
                        <a:pt x="18600" y="1500"/>
                      </a:lnTo>
                      <a:lnTo>
                        <a:pt x="18700" y="1350"/>
                      </a:lnTo>
                      <a:lnTo>
                        <a:pt x="18800" y="1250"/>
                      </a:lnTo>
                      <a:lnTo>
                        <a:pt x="18900" y="1200"/>
                      </a:lnTo>
                      <a:lnTo>
                        <a:pt x="19000" y="1350"/>
                      </a:lnTo>
                      <a:lnTo>
                        <a:pt x="19100" y="1500"/>
                      </a:lnTo>
                      <a:lnTo>
                        <a:pt x="19200" y="1650"/>
                      </a:lnTo>
                      <a:lnTo>
                        <a:pt x="19300" y="1800"/>
                      </a:lnTo>
                      <a:lnTo>
                        <a:pt x="19400" y="1950"/>
                      </a:lnTo>
                      <a:lnTo>
                        <a:pt x="19500" y="2100"/>
                      </a:lnTo>
                      <a:lnTo>
                        <a:pt x="19600" y="2150"/>
                      </a:lnTo>
                      <a:lnTo>
                        <a:pt x="19700" y="2150"/>
                      </a:lnTo>
                      <a:lnTo>
                        <a:pt x="19800" y="2150"/>
                      </a:lnTo>
                      <a:lnTo>
                        <a:pt x="19900" y="2150"/>
                      </a:lnTo>
                      <a:lnTo>
                        <a:pt x="20000" y="2100"/>
                      </a:lnTo>
                      <a:lnTo>
                        <a:pt x="20100" y="2100"/>
                      </a:lnTo>
                      <a:lnTo>
                        <a:pt x="20200" y="2100"/>
                      </a:lnTo>
                      <a:lnTo>
                        <a:pt x="20300" y="2100"/>
                      </a:lnTo>
                      <a:lnTo>
                        <a:pt x="20400" y="2100"/>
                      </a:lnTo>
                      <a:lnTo>
                        <a:pt x="20500" y="2100"/>
                      </a:lnTo>
                      <a:lnTo>
                        <a:pt x="20600" y="2100"/>
                      </a:lnTo>
                      <a:lnTo>
                        <a:pt x="20700" y="2100"/>
                      </a:lnTo>
                      <a:lnTo>
                        <a:pt x="20800" y="2050"/>
                      </a:lnTo>
                      <a:lnTo>
                        <a:pt x="20900" y="2050"/>
                      </a:lnTo>
                      <a:lnTo>
                        <a:pt x="21000" y="2150"/>
                      </a:lnTo>
                      <a:lnTo>
                        <a:pt x="21100" y="2150"/>
                      </a:lnTo>
                      <a:lnTo>
                        <a:pt x="21200" y="2200"/>
                      </a:lnTo>
                      <a:lnTo>
                        <a:pt x="21300" y="2200"/>
                      </a:lnTo>
                      <a:lnTo>
                        <a:pt x="21400" y="2200"/>
                      </a:lnTo>
                      <a:lnTo>
                        <a:pt x="21500" y="2150"/>
                      </a:lnTo>
                      <a:lnTo>
                        <a:pt x="21600" y="2100"/>
                      </a:lnTo>
                      <a:lnTo>
                        <a:pt x="21700" y="2100"/>
                      </a:lnTo>
                      <a:lnTo>
                        <a:pt x="21800" y="2100"/>
                      </a:lnTo>
                      <a:lnTo>
                        <a:pt x="21900" y="2100"/>
                      </a:lnTo>
                      <a:lnTo>
                        <a:pt x="22000" y="2100"/>
                      </a:lnTo>
                      <a:lnTo>
                        <a:pt x="22100" y="2150"/>
                      </a:lnTo>
                      <a:lnTo>
                        <a:pt x="22200" y="2150"/>
                      </a:lnTo>
                      <a:lnTo>
                        <a:pt x="22300" y="2150"/>
                      </a:lnTo>
                      <a:lnTo>
                        <a:pt x="22400" y="2150"/>
                      </a:lnTo>
                      <a:lnTo>
                        <a:pt x="22500" y="2150"/>
                      </a:lnTo>
                      <a:lnTo>
                        <a:pt x="22600" y="2100"/>
                      </a:lnTo>
                    </a:path>
                  </a:pathLst>
                </a:custGeom>
                <a:noFill/>
                <a:ln w="14000" cap="rnd">
                  <a:solidFill>
                    <a:srgbClr val="000000"/>
                  </a:solidFill>
                </a:ln>
                <a:effectLst>
                  <a:outerShdw blurRad="12700" dist="9000" dir="2700000" algn="ctr" rotWithShape="0">
                    <a:srgbClr val="000000">
                      <a:alpha val="22000"/>
                    </a:srgbClr>
                  </a:outerShdw>
                </a:effectLst>
              </p:spPr>
            </p:sp>
            <p:sp>
              <p:nvSpPr>
                <p:cNvPr id="50002" name="pattern1-editable-waveform"/>
                <p:cNvSpPr/>
                <p:nvPr/>
              </p:nvSpPr>
              <p:spPr>
                <a:xfrm>
                  <a:off x="428625" y="1857375"/>
                  <a:ext cx="2238375" cy="35242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3100" h="3700" fill="none" stroke="1">
                      <a:moveTo>
                        <a:pt x="300" y="2000"/>
                      </a:moveTo>
                      <a:lnTo>
                        <a:pt x="400" y="2050"/>
                      </a:lnTo>
                      <a:lnTo>
                        <a:pt x="500" y="2050"/>
                      </a:lnTo>
                      <a:lnTo>
                        <a:pt x="600" y="2050"/>
                      </a:lnTo>
                      <a:lnTo>
                        <a:pt x="700" y="2050"/>
                      </a:lnTo>
                      <a:lnTo>
                        <a:pt x="800" y="2000"/>
                      </a:lnTo>
                      <a:lnTo>
                        <a:pt x="900" y="2000"/>
                      </a:lnTo>
                      <a:lnTo>
                        <a:pt x="1000" y="2000"/>
                      </a:lnTo>
                      <a:lnTo>
                        <a:pt x="1100" y="2050"/>
                      </a:lnTo>
                      <a:lnTo>
                        <a:pt x="1200" y="2050"/>
                      </a:lnTo>
                      <a:lnTo>
                        <a:pt x="1300" y="2100"/>
                      </a:lnTo>
                      <a:lnTo>
                        <a:pt x="1400" y="2100"/>
                      </a:lnTo>
                      <a:lnTo>
                        <a:pt x="1500" y="2050"/>
                      </a:lnTo>
                      <a:lnTo>
                        <a:pt x="1600" y="2050"/>
                      </a:lnTo>
                      <a:lnTo>
                        <a:pt x="1700" y="1950"/>
                      </a:lnTo>
                      <a:lnTo>
                        <a:pt x="1800" y="1850"/>
                      </a:lnTo>
                      <a:lnTo>
                        <a:pt x="1900" y="1750"/>
                      </a:lnTo>
                      <a:lnTo>
                        <a:pt x="2000" y="1750"/>
                      </a:lnTo>
                      <a:lnTo>
                        <a:pt x="2100" y="1800"/>
                      </a:lnTo>
                      <a:lnTo>
                        <a:pt x="2200" y="1950"/>
                      </a:lnTo>
                      <a:lnTo>
                        <a:pt x="2300" y="2050"/>
                      </a:lnTo>
                      <a:lnTo>
                        <a:pt x="2400" y="2150"/>
                      </a:lnTo>
                      <a:lnTo>
                        <a:pt x="2500" y="2250"/>
                      </a:lnTo>
                      <a:lnTo>
                        <a:pt x="2600" y="2300"/>
                      </a:lnTo>
                      <a:lnTo>
                        <a:pt x="2700" y="2300"/>
                      </a:lnTo>
                      <a:lnTo>
                        <a:pt x="2800" y="2300"/>
                      </a:lnTo>
                      <a:lnTo>
                        <a:pt x="2900" y="2250"/>
                      </a:lnTo>
                      <a:lnTo>
                        <a:pt x="3000" y="2250"/>
                      </a:lnTo>
                      <a:lnTo>
                        <a:pt x="3100" y="2250"/>
                      </a:lnTo>
                      <a:lnTo>
                        <a:pt x="3200" y="2300"/>
                      </a:lnTo>
                      <a:lnTo>
                        <a:pt x="3300" y="2300"/>
                      </a:lnTo>
                      <a:lnTo>
                        <a:pt x="3400" y="2350"/>
                      </a:lnTo>
                      <a:lnTo>
                        <a:pt x="3500" y="2350"/>
                      </a:lnTo>
                      <a:lnTo>
                        <a:pt x="3600" y="2400"/>
                      </a:lnTo>
                      <a:lnTo>
                        <a:pt x="3700" y="2400"/>
                      </a:lnTo>
                      <a:lnTo>
                        <a:pt x="3800" y="2400"/>
                      </a:lnTo>
                      <a:lnTo>
                        <a:pt x="3900" y="2350"/>
                      </a:lnTo>
                      <a:lnTo>
                        <a:pt x="4000" y="2250"/>
                      </a:lnTo>
                      <a:lnTo>
                        <a:pt x="4100" y="2200"/>
                      </a:lnTo>
                      <a:lnTo>
                        <a:pt x="4200" y="2100"/>
                      </a:lnTo>
                      <a:lnTo>
                        <a:pt x="4300" y="1950"/>
                      </a:lnTo>
                      <a:lnTo>
                        <a:pt x="4400" y="1800"/>
                      </a:lnTo>
                      <a:lnTo>
                        <a:pt x="4500" y="1650"/>
                      </a:lnTo>
                      <a:lnTo>
                        <a:pt x="4600" y="1500"/>
                      </a:lnTo>
                      <a:lnTo>
                        <a:pt x="4700" y="1400"/>
                      </a:lnTo>
                      <a:lnTo>
                        <a:pt x="4800" y="1450"/>
                      </a:lnTo>
                      <a:lnTo>
                        <a:pt x="4900" y="1600"/>
                      </a:lnTo>
                      <a:lnTo>
                        <a:pt x="5000" y="1800"/>
                      </a:lnTo>
                      <a:lnTo>
                        <a:pt x="5100" y="2000"/>
                      </a:lnTo>
                      <a:lnTo>
                        <a:pt x="5200" y="2150"/>
                      </a:lnTo>
                      <a:lnTo>
                        <a:pt x="5300" y="2350"/>
                      </a:lnTo>
                      <a:lnTo>
                        <a:pt x="5400" y="2450"/>
                      </a:lnTo>
                      <a:lnTo>
                        <a:pt x="5500" y="2450"/>
                      </a:lnTo>
                      <a:lnTo>
                        <a:pt x="5600" y="2250"/>
                      </a:lnTo>
                      <a:lnTo>
                        <a:pt x="5700" y="2100"/>
                      </a:lnTo>
                      <a:lnTo>
                        <a:pt x="5800" y="1900"/>
                      </a:lnTo>
                      <a:lnTo>
                        <a:pt x="5900" y="1750"/>
                      </a:lnTo>
                      <a:lnTo>
                        <a:pt x="6000" y="1600"/>
                      </a:lnTo>
                      <a:lnTo>
                        <a:pt x="6100" y="1400"/>
                      </a:lnTo>
                      <a:lnTo>
                        <a:pt x="6200" y="1300"/>
                      </a:lnTo>
                      <a:lnTo>
                        <a:pt x="6300" y="1300"/>
                      </a:lnTo>
                      <a:lnTo>
                        <a:pt x="6400" y="1450"/>
                      </a:lnTo>
                      <a:lnTo>
                        <a:pt x="6500" y="1600"/>
                      </a:lnTo>
                      <a:lnTo>
                        <a:pt x="6600" y="1750"/>
                      </a:lnTo>
                      <a:lnTo>
                        <a:pt x="6700" y="1850"/>
                      </a:lnTo>
                      <a:lnTo>
                        <a:pt x="6800" y="2050"/>
                      </a:lnTo>
                      <a:lnTo>
                        <a:pt x="6900" y="2100"/>
                      </a:lnTo>
                      <a:lnTo>
                        <a:pt x="7000" y="2150"/>
                      </a:lnTo>
                      <a:lnTo>
                        <a:pt x="7100" y="2100"/>
                      </a:lnTo>
                      <a:lnTo>
                        <a:pt x="7200" y="1950"/>
                      </a:lnTo>
                      <a:lnTo>
                        <a:pt x="7300" y="1800"/>
                      </a:lnTo>
                      <a:lnTo>
                        <a:pt x="7400" y="1700"/>
                      </a:lnTo>
                      <a:lnTo>
                        <a:pt x="7500" y="1600"/>
                      </a:lnTo>
                      <a:lnTo>
                        <a:pt x="7600" y="1500"/>
                      </a:lnTo>
                      <a:lnTo>
                        <a:pt x="7700" y="1400"/>
                      </a:lnTo>
                      <a:lnTo>
                        <a:pt x="7800" y="1300"/>
                      </a:lnTo>
                      <a:lnTo>
                        <a:pt x="7900" y="1300"/>
                      </a:lnTo>
                      <a:lnTo>
                        <a:pt x="8000" y="1450"/>
                      </a:lnTo>
                      <a:lnTo>
                        <a:pt x="8100" y="1550"/>
                      </a:lnTo>
                      <a:lnTo>
                        <a:pt x="8200" y="1700"/>
                      </a:lnTo>
                      <a:lnTo>
                        <a:pt x="8300" y="1800"/>
                      </a:lnTo>
                      <a:lnTo>
                        <a:pt x="8400" y="1850"/>
                      </a:lnTo>
                      <a:lnTo>
                        <a:pt x="8500" y="1800"/>
                      </a:lnTo>
                      <a:lnTo>
                        <a:pt x="8600" y="1800"/>
                      </a:lnTo>
                      <a:lnTo>
                        <a:pt x="8700" y="1900"/>
                      </a:lnTo>
                      <a:lnTo>
                        <a:pt x="8800" y="2000"/>
                      </a:lnTo>
                      <a:lnTo>
                        <a:pt x="8900" y="2200"/>
                      </a:lnTo>
                      <a:lnTo>
                        <a:pt x="9000" y="2400"/>
                      </a:lnTo>
                      <a:lnTo>
                        <a:pt x="9100" y="2500"/>
                      </a:lnTo>
                      <a:lnTo>
                        <a:pt x="9200" y="2550"/>
                      </a:lnTo>
                      <a:lnTo>
                        <a:pt x="9300" y="2400"/>
                      </a:lnTo>
                      <a:lnTo>
                        <a:pt x="9400" y="2300"/>
                      </a:lnTo>
                      <a:lnTo>
                        <a:pt x="9500" y="2200"/>
                      </a:lnTo>
                      <a:lnTo>
                        <a:pt x="9600" y="2050"/>
                      </a:lnTo>
                      <a:lnTo>
                        <a:pt x="9700" y="1900"/>
                      </a:lnTo>
                      <a:lnTo>
                        <a:pt x="9800" y="1800"/>
                      </a:lnTo>
                      <a:lnTo>
                        <a:pt x="9900" y="1800"/>
                      </a:lnTo>
                      <a:lnTo>
                        <a:pt x="10000" y="1850"/>
                      </a:lnTo>
                      <a:lnTo>
                        <a:pt x="10100" y="1900"/>
                      </a:lnTo>
                      <a:lnTo>
                        <a:pt x="10200" y="1950"/>
                      </a:lnTo>
                      <a:lnTo>
                        <a:pt x="10300" y="2000"/>
                      </a:lnTo>
                      <a:lnTo>
                        <a:pt x="10400" y="1850"/>
                      </a:lnTo>
                      <a:lnTo>
                        <a:pt x="10500" y="1750"/>
                      </a:lnTo>
                      <a:lnTo>
                        <a:pt x="10600" y="1550"/>
                      </a:lnTo>
                      <a:lnTo>
                        <a:pt x="10700" y="1450"/>
                      </a:lnTo>
                      <a:lnTo>
                        <a:pt x="10800" y="1250"/>
                      </a:lnTo>
                      <a:lnTo>
                        <a:pt x="10900" y="1200"/>
                      </a:lnTo>
                      <a:lnTo>
                        <a:pt x="11000" y="1250"/>
                      </a:lnTo>
                      <a:lnTo>
                        <a:pt x="11100" y="1350"/>
                      </a:lnTo>
                      <a:lnTo>
                        <a:pt x="11200" y="1550"/>
                      </a:lnTo>
                      <a:lnTo>
                        <a:pt x="11300" y="1850"/>
                      </a:lnTo>
                      <a:lnTo>
                        <a:pt x="11400" y="2000"/>
                      </a:lnTo>
                      <a:lnTo>
                        <a:pt x="11500" y="2100"/>
                      </a:lnTo>
                      <a:lnTo>
                        <a:pt x="11600" y="2000"/>
                      </a:lnTo>
                      <a:lnTo>
                        <a:pt x="11700" y="1900"/>
                      </a:lnTo>
                      <a:lnTo>
                        <a:pt x="11800" y="1800"/>
                      </a:lnTo>
                      <a:lnTo>
                        <a:pt x="11900" y="1600"/>
                      </a:lnTo>
                      <a:lnTo>
                        <a:pt x="12000" y="1500"/>
                      </a:lnTo>
                      <a:lnTo>
                        <a:pt x="12100" y="1600"/>
                      </a:lnTo>
                      <a:lnTo>
                        <a:pt x="12200" y="1750"/>
                      </a:lnTo>
                      <a:lnTo>
                        <a:pt x="12300" y="1950"/>
                      </a:lnTo>
                      <a:lnTo>
                        <a:pt x="12400" y="2200"/>
                      </a:lnTo>
                      <a:lnTo>
                        <a:pt x="12500" y="2400"/>
                      </a:lnTo>
                      <a:lnTo>
                        <a:pt x="12600" y="2600"/>
                      </a:lnTo>
                      <a:lnTo>
                        <a:pt x="12700" y="2700"/>
                      </a:lnTo>
                      <a:lnTo>
                        <a:pt x="12800" y="2600"/>
                      </a:lnTo>
                      <a:lnTo>
                        <a:pt x="12900" y="2450"/>
                      </a:lnTo>
                      <a:lnTo>
                        <a:pt x="13000" y="2350"/>
                      </a:lnTo>
                      <a:lnTo>
                        <a:pt x="13100" y="2150"/>
                      </a:lnTo>
                      <a:lnTo>
                        <a:pt x="13200" y="2000"/>
                      </a:lnTo>
                      <a:lnTo>
                        <a:pt x="13300" y="1800"/>
                      </a:lnTo>
                      <a:lnTo>
                        <a:pt x="13400" y="1600"/>
                      </a:lnTo>
                      <a:lnTo>
                        <a:pt x="13500" y="1400"/>
                      </a:lnTo>
                      <a:lnTo>
                        <a:pt x="13600" y="1350"/>
                      </a:lnTo>
                      <a:lnTo>
                        <a:pt x="13700" y="1450"/>
                      </a:lnTo>
                      <a:lnTo>
                        <a:pt x="13800" y="1600"/>
                      </a:lnTo>
                      <a:lnTo>
                        <a:pt x="13900" y="1750"/>
                      </a:lnTo>
                      <a:lnTo>
                        <a:pt x="14000" y="1900"/>
                      </a:lnTo>
                      <a:lnTo>
                        <a:pt x="14100" y="2000"/>
                      </a:lnTo>
                      <a:lnTo>
                        <a:pt x="14200" y="2100"/>
                      </a:lnTo>
                      <a:lnTo>
                        <a:pt x="14300" y="2150"/>
                      </a:lnTo>
                      <a:lnTo>
                        <a:pt x="14400" y="2150"/>
                      </a:lnTo>
                      <a:lnTo>
                        <a:pt x="14500" y="2100"/>
                      </a:lnTo>
                      <a:lnTo>
                        <a:pt x="14600" y="1950"/>
                      </a:lnTo>
                      <a:lnTo>
                        <a:pt x="14700" y="1750"/>
                      </a:lnTo>
                      <a:lnTo>
                        <a:pt x="14800" y="1500"/>
                      </a:lnTo>
                      <a:lnTo>
                        <a:pt x="14900" y="1350"/>
                      </a:lnTo>
                      <a:lnTo>
                        <a:pt x="15000" y="1350"/>
                      </a:lnTo>
                      <a:lnTo>
                        <a:pt x="15100" y="1450"/>
                      </a:lnTo>
                      <a:lnTo>
                        <a:pt x="15200" y="1550"/>
                      </a:lnTo>
                      <a:lnTo>
                        <a:pt x="15300" y="1600"/>
                      </a:lnTo>
                      <a:lnTo>
                        <a:pt x="15400" y="1500"/>
                      </a:lnTo>
                      <a:lnTo>
                        <a:pt x="15500" y="1450"/>
                      </a:lnTo>
                      <a:lnTo>
                        <a:pt x="15600" y="1350"/>
                      </a:lnTo>
                      <a:lnTo>
                        <a:pt x="15700" y="1250"/>
                      </a:lnTo>
                      <a:lnTo>
                        <a:pt x="15800" y="1300"/>
                      </a:lnTo>
                      <a:lnTo>
                        <a:pt x="15900" y="1400"/>
                      </a:lnTo>
                      <a:lnTo>
                        <a:pt x="16000" y="1500"/>
                      </a:lnTo>
                      <a:lnTo>
                        <a:pt x="16100" y="1700"/>
                      </a:lnTo>
                      <a:lnTo>
                        <a:pt x="16200" y="1800"/>
                      </a:lnTo>
                      <a:lnTo>
                        <a:pt x="16300" y="1900"/>
                      </a:lnTo>
                      <a:lnTo>
                        <a:pt x="16400" y="2100"/>
                      </a:lnTo>
                      <a:lnTo>
                        <a:pt x="16500" y="2200"/>
                      </a:lnTo>
                      <a:lnTo>
                        <a:pt x="16600" y="2300"/>
                      </a:lnTo>
                      <a:lnTo>
                        <a:pt x="16700" y="2350"/>
                      </a:lnTo>
                      <a:lnTo>
                        <a:pt x="16800" y="2350"/>
                      </a:lnTo>
                      <a:lnTo>
                        <a:pt x="16900" y="2300"/>
                      </a:lnTo>
                      <a:lnTo>
                        <a:pt x="17000" y="2200"/>
                      </a:lnTo>
                      <a:lnTo>
                        <a:pt x="17100" y="2100"/>
                      </a:lnTo>
                      <a:lnTo>
                        <a:pt x="17200" y="1900"/>
                      </a:lnTo>
                      <a:lnTo>
                        <a:pt x="17300" y="1800"/>
                      </a:lnTo>
                      <a:lnTo>
                        <a:pt x="17400" y="1750"/>
                      </a:lnTo>
                      <a:lnTo>
                        <a:pt x="17500" y="1750"/>
                      </a:lnTo>
                      <a:lnTo>
                        <a:pt x="17600" y="1750"/>
                      </a:lnTo>
                      <a:lnTo>
                        <a:pt x="17700" y="1750"/>
                      </a:lnTo>
                      <a:lnTo>
                        <a:pt x="17800" y="1650"/>
                      </a:lnTo>
                      <a:lnTo>
                        <a:pt x="17900" y="1550"/>
                      </a:lnTo>
                      <a:lnTo>
                        <a:pt x="18000" y="1450"/>
                      </a:lnTo>
                      <a:lnTo>
                        <a:pt x="18100" y="1350"/>
                      </a:lnTo>
                      <a:lnTo>
                        <a:pt x="18200" y="1400"/>
                      </a:lnTo>
                      <a:lnTo>
                        <a:pt x="18300" y="1550"/>
                      </a:lnTo>
                      <a:lnTo>
                        <a:pt x="18400" y="1750"/>
                      </a:lnTo>
                      <a:lnTo>
                        <a:pt x="18500" y="1900"/>
                      </a:lnTo>
                      <a:lnTo>
                        <a:pt x="18600" y="2050"/>
                      </a:lnTo>
                      <a:lnTo>
                        <a:pt x="18700" y="2250"/>
                      </a:lnTo>
                      <a:lnTo>
                        <a:pt x="18800" y="2450"/>
                      </a:lnTo>
                      <a:lnTo>
                        <a:pt x="18900" y="2600"/>
                      </a:lnTo>
                      <a:lnTo>
                        <a:pt x="19000" y="2700"/>
                      </a:lnTo>
                      <a:lnTo>
                        <a:pt x="19100" y="2800"/>
                      </a:lnTo>
                      <a:lnTo>
                        <a:pt x="19200" y="2650"/>
                      </a:lnTo>
                      <a:lnTo>
                        <a:pt x="19300" y="2550"/>
                      </a:lnTo>
                      <a:lnTo>
                        <a:pt x="19400" y="2450"/>
                      </a:lnTo>
                      <a:lnTo>
                        <a:pt x="19500" y="2350"/>
                      </a:lnTo>
                      <a:lnTo>
                        <a:pt x="19600" y="2200"/>
                      </a:lnTo>
                      <a:lnTo>
                        <a:pt x="19700" y="2050"/>
                      </a:lnTo>
                      <a:lnTo>
                        <a:pt x="19800" y="1900"/>
                      </a:lnTo>
                      <a:lnTo>
                        <a:pt x="19900" y="1700"/>
                      </a:lnTo>
                      <a:lnTo>
                        <a:pt x="20000" y="1550"/>
                      </a:lnTo>
                      <a:lnTo>
                        <a:pt x="20100" y="1350"/>
                      </a:lnTo>
                      <a:lnTo>
                        <a:pt x="20200" y="1300"/>
                      </a:lnTo>
                      <a:lnTo>
                        <a:pt x="20300" y="1450"/>
                      </a:lnTo>
                      <a:lnTo>
                        <a:pt x="20400" y="1650"/>
                      </a:lnTo>
                      <a:lnTo>
                        <a:pt x="20500" y="1850"/>
                      </a:lnTo>
                      <a:lnTo>
                        <a:pt x="20600" y="2050"/>
                      </a:lnTo>
                      <a:lnTo>
                        <a:pt x="20700" y="2300"/>
                      </a:lnTo>
                      <a:lnTo>
                        <a:pt x="20800" y="2500"/>
                      </a:lnTo>
                      <a:lnTo>
                        <a:pt x="20900" y="2700"/>
                      </a:lnTo>
                      <a:lnTo>
                        <a:pt x="21000" y="2850"/>
                      </a:lnTo>
                      <a:lnTo>
                        <a:pt x="21100" y="2750"/>
                      </a:lnTo>
                      <a:lnTo>
                        <a:pt x="21200" y="2650"/>
                      </a:lnTo>
                      <a:lnTo>
                        <a:pt x="21300" y="2450"/>
                      </a:lnTo>
                      <a:lnTo>
                        <a:pt x="21400" y="2350"/>
                      </a:lnTo>
                      <a:lnTo>
                        <a:pt x="21500" y="2150"/>
                      </a:lnTo>
                      <a:lnTo>
                        <a:pt x="21600" y="2100"/>
                      </a:lnTo>
                      <a:lnTo>
                        <a:pt x="21700" y="2050"/>
                      </a:lnTo>
                      <a:lnTo>
                        <a:pt x="21800" y="2000"/>
                      </a:lnTo>
                      <a:lnTo>
                        <a:pt x="21900" y="1900"/>
                      </a:lnTo>
                      <a:lnTo>
                        <a:pt x="22000" y="1800"/>
                      </a:lnTo>
                      <a:lnTo>
                        <a:pt x="22100" y="1700"/>
                      </a:lnTo>
                      <a:lnTo>
                        <a:pt x="22200" y="1550"/>
                      </a:lnTo>
                      <a:lnTo>
                        <a:pt x="22300" y="1450"/>
                      </a:lnTo>
                      <a:lnTo>
                        <a:pt x="22400" y="1450"/>
                      </a:lnTo>
                      <a:lnTo>
                        <a:pt x="22500" y="1350"/>
                      </a:lnTo>
                      <a:lnTo>
                        <a:pt x="22600" y="1400"/>
                      </a:lnTo>
                    </a:path>
                  </a:pathLst>
                </a:custGeom>
                <a:noFill/>
                <a:ln w="14000" cap="rnd">
                  <a:solidFill>
                    <a:srgbClr val="000000"/>
                  </a:solidFill>
                </a:ln>
                <a:effectLst>
                  <a:outerShdw blurRad="12700" dist="9000" dir="2700000" algn="ctr" rotWithShape="0">
                    <a:srgbClr val="000000">
                      <a:alpha val="22000"/>
                    </a:srgbClr>
                  </a:outerShdw>
                </a:effectLst>
              </p:spPr>
            </p:sp>
            <p:sp>
              <p:nvSpPr>
                <p:cNvPr id="50003" name="pattern2-editable-waveform"/>
                <p:cNvSpPr/>
                <p:nvPr/>
              </p:nvSpPr>
              <p:spPr>
                <a:xfrm>
                  <a:off x="428625" y="2238375"/>
                  <a:ext cx="2238375" cy="35242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3100" h="3700" fill="none" stroke="1">
                      <a:moveTo>
                        <a:pt x="300" y="2300"/>
                      </a:moveTo>
                      <a:lnTo>
                        <a:pt x="400" y="2300"/>
                      </a:lnTo>
                      <a:lnTo>
                        <a:pt x="500" y="2300"/>
                      </a:lnTo>
                      <a:lnTo>
                        <a:pt x="600" y="2300"/>
                      </a:lnTo>
                      <a:lnTo>
                        <a:pt x="700" y="2300"/>
                      </a:lnTo>
                      <a:lnTo>
                        <a:pt x="800" y="2300"/>
                      </a:lnTo>
                      <a:lnTo>
                        <a:pt x="900" y="2300"/>
                      </a:lnTo>
                      <a:lnTo>
                        <a:pt x="1000" y="2300"/>
                      </a:lnTo>
                      <a:lnTo>
                        <a:pt x="1100" y="2300"/>
                      </a:lnTo>
                      <a:lnTo>
                        <a:pt x="1200" y="2300"/>
                      </a:lnTo>
                      <a:lnTo>
                        <a:pt x="1300" y="2300"/>
                      </a:lnTo>
                      <a:lnTo>
                        <a:pt x="1400" y="2300"/>
                      </a:lnTo>
                      <a:lnTo>
                        <a:pt x="1500" y="2300"/>
                      </a:lnTo>
                      <a:lnTo>
                        <a:pt x="1600" y="2300"/>
                      </a:lnTo>
                      <a:lnTo>
                        <a:pt x="1700" y="2300"/>
                      </a:lnTo>
                      <a:lnTo>
                        <a:pt x="1800" y="2250"/>
                      </a:lnTo>
                      <a:lnTo>
                        <a:pt x="1900" y="2250"/>
                      </a:lnTo>
                      <a:lnTo>
                        <a:pt x="2000" y="2250"/>
                      </a:lnTo>
                      <a:lnTo>
                        <a:pt x="2100" y="2250"/>
                      </a:lnTo>
                      <a:lnTo>
                        <a:pt x="2200" y="2250"/>
                      </a:lnTo>
                      <a:lnTo>
                        <a:pt x="2300" y="2250"/>
                      </a:lnTo>
                      <a:lnTo>
                        <a:pt x="2400" y="2150"/>
                      </a:lnTo>
                      <a:lnTo>
                        <a:pt x="2500" y="2000"/>
                      </a:lnTo>
                      <a:lnTo>
                        <a:pt x="2600" y="1850"/>
                      </a:lnTo>
                      <a:lnTo>
                        <a:pt x="2700" y="1700"/>
                      </a:lnTo>
                      <a:lnTo>
                        <a:pt x="2800" y="1500"/>
                      </a:lnTo>
                      <a:lnTo>
                        <a:pt x="2900" y="1300"/>
                      </a:lnTo>
                      <a:lnTo>
                        <a:pt x="3000" y="1150"/>
                      </a:lnTo>
                      <a:lnTo>
                        <a:pt x="3100" y="1100"/>
                      </a:lnTo>
                      <a:lnTo>
                        <a:pt x="3200" y="1300"/>
                      </a:lnTo>
                      <a:lnTo>
                        <a:pt x="3300" y="1500"/>
                      </a:lnTo>
                      <a:lnTo>
                        <a:pt x="3400" y="1650"/>
                      </a:lnTo>
                      <a:lnTo>
                        <a:pt x="3500" y="1850"/>
                      </a:lnTo>
                      <a:lnTo>
                        <a:pt x="3600" y="2000"/>
                      </a:lnTo>
                      <a:lnTo>
                        <a:pt x="3700" y="2150"/>
                      </a:lnTo>
                      <a:lnTo>
                        <a:pt x="3800" y="2250"/>
                      </a:lnTo>
                      <a:lnTo>
                        <a:pt x="3900" y="2300"/>
                      </a:lnTo>
                      <a:lnTo>
                        <a:pt x="4000" y="2250"/>
                      </a:lnTo>
                      <a:lnTo>
                        <a:pt x="4100" y="2250"/>
                      </a:lnTo>
                      <a:lnTo>
                        <a:pt x="4200" y="2250"/>
                      </a:lnTo>
                      <a:lnTo>
                        <a:pt x="4300" y="2300"/>
                      </a:lnTo>
                      <a:lnTo>
                        <a:pt x="4400" y="2350"/>
                      </a:lnTo>
                      <a:lnTo>
                        <a:pt x="4500" y="2350"/>
                      </a:lnTo>
                      <a:lnTo>
                        <a:pt x="4600" y="2350"/>
                      </a:lnTo>
                      <a:lnTo>
                        <a:pt x="4700" y="2350"/>
                      </a:lnTo>
                      <a:lnTo>
                        <a:pt x="4800" y="2250"/>
                      </a:lnTo>
                      <a:lnTo>
                        <a:pt x="4900" y="2250"/>
                      </a:lnTo>
                      <a:lnTo>
                        <a:pt x="5000" y="2250"/>
                      </a:lnTo>
                      <a:lnTo>
                        <a:pt x="5100" y="2250"/>
                      </a:lnTo>
                      <a:lnTo>
                        <a:pt x="5200" y="2150"/>
                      </a:lnTo>
                      <a:lnTo>
                        <a:pt x="5300" y="2000"/>
                      </a:lnTo>
                      <a:lnTo>
                        <a:pt x="5400" y="1750"/>
                      </a:lnTo>
                      <a:lnTo>
                        <a:pt x="5500" y="1550"/>
                      </a:lnTo>
                      <a:lnTo>
                        <a:pt x="5600" y="1350"/>
                      </a:lnTo>
                      <a:lnTo>
                        <a:pt x="5700" y="1150"/>
                      </a:lnTo>
                      <a:lnTo>
                        <a:pt x="5800" y="1000"/>
                      </a:lnTo>
                      <a:lnTo>
                        <a:pt x="5900" y="950"/>
                      </a:lnTo>
                      <a:lnTo>
                        <a:pt x="6000" y="1050"/>
                      </a:lnTo>
                      <a:lnTo>
                        <a:pt x="6100" y="1250"/>
                      </a:lnTo>
                      <a:lnTo>
                        <a:pt x="6200" y="1450"/>
                      </a:lnTo>
                      <a:lnTo>
                        <a:pt x="6300" y="1700"/>
                      </a:lnTo>
                      <a:lnTo>
                        <a:pt x="6400" y="1900"/>
                      </a:lnTo>
                      <a:lnTo>
                        <a:pt x="6500" y="2100"/>
                      </a:lnTo>
                      <a:lnTo>
                        <a:pt x="6600" y="2250"/>
                      </a:lnTo>
                      <a:lnTo>
                        <a:pt x="6700" y="2300"/>
                      </a:lnTo>
                      <a:lnTo>
                        <a:pt x="6800" y="2300"/>
                      </a:lnTo>
                      <a:lnTo>
                        <a:pt x="6900" y="2250"/>
                      </a:lnTo>
                      <a:lnTo>
                        <a:pt x="7000" y="2250"/>
                      </a:lnTo>
                      <a:lnTo>
                        <a:pt x="7100" y="2250"/>
                      </a:lnTo>
                      <a:lnTo>
                        <a:pt x="7200" y="2250"/>
                      </a:lnTo>
                      <a:lnTo>
                        <a:pt x="7300" y="2300"/>
                      </a:lnTo>
                      <a:lnTo>
                        <a:pt x="7400" y="2300"/>
                      </a:lnTo>
                      <a:lnTo>
                        <a:pt x="7500" y="2200"/>
                      </a:lnTo>
                      <a:lnTo>
                        <a:pt x="7600" y="2100"/>
                      </a:lnTo>
                      <a:lnTo>
                        <a:pt x="7700" y="1950"/>
                      </a:lnTo>
                      <a:lnTo>
                        <a:pt x="7800" y="1750"/>
                      </a:lnTo>
                      <a:lnTo>
                        <a:pt x="7900" y="1550"/>
                      </a:lnTo>
                      <a:lnTo>
                        <a:pt x="8000" y="1300"/>
                      </a:lnTo>
                      <a:lnTo>
                        <a:pt x="8100" y="1100"/>
                      </a:lnTo>
                      <a:lnTo>
                        <a:pt x="8200" y="900"/>
                      </a:lnTo>
                      <a:lnTo>
                        <a:pt x="8300" y="850"/>
                      </a:lnTo>
                      <a:lnTo>
                        <a:pt x="8400" y="1000"/>
                      </a:lnTo>
                      <a:lnTo>
                        <a:pt x="8500" y="1250"/>
                      </a:lnTo>
                      <a:lnTo>
                        <a:pt x="8600" y="1450"/>
                      </a:lnTo>
                      <a:lnTo>
                        <a:pt x="8700" y="1700"/>
                      </a:lnTo>
                      <a:lnTo>
                        <a:pt x="8800" y="1950"/>
                      </a:lnTo>
                      <a:lnTo>
                        <a:pt x="8900" y="2100"/>
                      </a:lnTo>
                      <a:lnTo>
                        <a:pt x="9000" y="2200"/>
                      </a:lnTo>
                      <a:lnTo>
                        <a:pt x="9100" y="2250"/>
                      </a:lnTo>
                      <a:lnTo>
                        <a:pt x="9200" y="2150"/>
                      </a:lnTo>
                      <a:lnTo>
                        <a:pt x="9300" y="2150"/>
                      </a:lnTo>
                      <a:lnTo>
                        <a:pt x="9400" y="2050"/>
                      </a:lnTo>
                      <a:lnTo>
                        <a:pt x="9500" y="2050"/>
                      </a:lnTo>
                      <a:lnTo>
                        <a:pt x="9600" y="2150"/>
                      </a:lnTo>
                      <a:lnTo>
                        <a:pt x="9700" y="2250"/>
                      </a:lnTo>
                      <a:lnTo>
                        <a:pt x="9800" y="2300"/>
                      </a:lnTo>
                      <a:lnTo>
                        <a:pt x="9900" y="2150"/>
                      </a:lnTo>
                      <a:lnTo>
                        <a:pt x="10000" y="2100"/>
                      </a:lnTo>
                      <a:lnTo>
                        <a:pt x="10100" y="1850"/>
                      </a:lnTo>
                      <a:lnTo>
                        <a:pt x="10200" y="1850"/>
                      </a:lnTo>
                      <a:lnTo>
                        <a:pt x="10300" y="1950"/>
                      </a:lnTo>
                      <a:lnTo>
                        <a:pt x="10400" y="2050"/>
                      </a:lnTo>
                      <a:lnTo>
                        <a:pt x="10500" y="2300"/>
                      </a:lnTo>
                      <a:lnTo>
                        <a:pt x="10600" y="2400"/>
                      </a:lnTo>
                      <a:lnTo>
                        <a:pt x="10700" y="2450"/>
                      </a:lnTo>
                      <a:lnTo>
                        <a:pt x="10800" y="2350"/>
                      </a:lnTo>
                      <a:lnTo>
                        <a:pt x="10900" y="2350"/>
                      </a:lnTo>
                      <a:lnTo>
                        <a:pt x="11000" y="2300"/>
                      </a:lnTo>
                      <a:lnTo>
                        <a:pt x="11100" y="2250"/>
                      </a:lnTo>
                      <a:lnTo>
                        <a:pt x="11200" y="2250"/>
                      </a:lnTo>
                      <a:lnTo>
                        <a:pt x="11300" y="2250"/>
                      </a:lnTo>
                      <a:lnTo>
                        <a:pt x="11400" y="2250"/>
                      </a:lnTo>
                      <a:lnTo>
                        <a:pt x="11500" y="2250"/>
                      </a:lnTo>
                      <a:lnTo>
                        <a:pt x="11600" y="2300"/>
                      </a:lnTo>
                      <a:lnTo>
                        <a:pt x="11700" y="2300"/>
                      </a:lnTo>
                      <a:lnTo>
                        <a:pt x="11800" y="2250"/>
                      </a:lnTo>
                      <a:lnTo>
                        <a:pt x="11900" y="2150"/>
                      </a:lnTo>
                      <a:lnTo>
                        <a:pt x="12000" y="2000"/>
                      </a:lnTo>
                      <a:lnTo>
                        <a:pt x="12100" y="1850"/>
                      </a:lnTo>
                      <a:lnTo>
                        <a:pt x="12200" y="1650"/>
                      </a:lnTo>
                      <a:lnTo>
                        <a:pt x="12300" y="1550"/>
                      </a:lnTo>
                      <a:lnTo>
                        <a:pt x="12400" y="1400"/>
                      </a:lnTo>
                      <a:lnTo>
                        <a:pt x="12500" y="1500"/>
                      </a:lnTo>
                      <a:lnTo>
                        <a:pt x="12600" y="1650"/>
                      </a:lnTo>
                      <a:lnTo>
                        <a:pt x="12700" y="1800"/>
                      </a:lnTo>
                      <a:lnTo>
                        <a:pt x="12800" y="1950"/>
                      </a:lnTo>
                      <a:lnTo>
                        <a:pt x="12900" y="2150"/>
                      </a:lnTo>
                      <a:lnTo>
                        <a:pt x="13000" y="2200"/>
                      </a:lnTo>
                      <a:lnTo>
                        <a:pt x="13100" y="2350"/>
                      </a:lnTo>
                      <a:lnTo>
                        <a:pt x="13200" y="2300"/>
                      </a:lnTo>
                      <a:lnTo>
                        <a:pt x="13300" y="2300"/>
                      </a:lnTo>
                      <a:lnTo>
                        <a:pt x="13400" y="2300"/>
                      </a:lnTo>
                      <a:lnTo>
                        <a:pt x="13500" y="2300"/>
                      </a:lnTo>
                      <a:lnTo>
                        <a:pt x="13600" y="2300"/>
                      </a:lnTo>
                      <a:lnTo>
                        <a:pt x="13700" y="2250"/>
                      </a:lnTo>
                      <a:lnTo>
                        <a:pt x="13800" y="2250"/>
                      </a:lnTo>
                      <a:lnTo>
                        <a:pt x="13900" y="2250"/>
                      </a:lnTo>
                      <a:lnTo>
                        <a:pt x="14000" y="2250"/>
                      </a:lnTo>
                      <a:lnTo>
                        <a:pt x="14100" y="2250"/>
                      </a:lnTo>
                      <a:lnTo>
                        <a:pt x="14200" y="2250"/>
                      </a:lnTo>
                      <a:lnTo>
                        <a:pt x="14300" y="2250"/>
                      </a:lnTo>
                      <a:lnTo>
                        <a:pt x="14400" y="2350"/>
                      </a:lnTo>
                      <a:lnTo>
                        <a:pt x="14500" y="2400"/>
                      </a:lnTo>
                      <a:lnTo>
                        <a:pt x="14600" y="2500"/>
                      </a:lnTo>
                      <a:lnTo>
                        <a:pt x="14700" y="2500"/>
                      </a:lnTo>
                      <a:lnTo>
                        <a:pt x="14800" y="2450"/>
                      </a:lnTo>
                      <a:lnTo>
                        <a:pt x="14900" y="2350"/>
                      </a:lnTo>
                      <a:lnTo>
                        <a:pt x="15000" y="2350"/>
                      </a:lnTo>
                      <a:lnTo>
                        <a:pt x="15100" y="2300"/>
                      </a:lnTo>
                      <a:lnTo>
                        <a:pt x="15200" y="2300"/>
                      </a:lnTo>
                      <a:lnTo>
                        <a:pt x="15300" y="2250"/>
                      </a:lnTo>
                      <a:lnTo>
                        <a:pt x="15400" y="2100"/>
                      </a:lnTo>
                      <a:lnTo>
                        <a:pt x="15500" y="1950"/>
                      </a:lnTo>
                      <a:lnTo>
                        <a:pt x="15600" y="1750"/>
                      </a:lnTo>
                      <a:lnTo>
                        <a:pt x="15700" y="1550"/>
                      </a:lnTo>
                      <a:lnTo>
                        <a:pt x="15800" y="1350"/>
                      </a:lnTo>
                      <a:lnTo>
                        <a:pt x="15900" y="1100"/>
                      </a:lnTo>
                      <a:lnTo>
                        <a:pt x="16000" y="950"/>
                      </a:lnTo>
                      <a:lnTo>
                        <a:pt x="16100" y="900"/>
                      </a:lnTo>
                      <a:lnTo>
                        <a:pt x="16200" y="1050"/>
                      </a:lnTo>
                      <a:lnTo>
                        <a:pt x="16300" y="1250"/>
                      </a:lnTo>
                      <a:lnTo>
                        <a:pt x="16400" y="1450"/>
                      </a:lnTo>
                      <a:lnTo>
                        <a:pt x="16500" y="1750"/>
                      </a:lnTo>
                      <a:lnTo>
                        <a:pt x="16600" y="1950"/>
                      </a:lnTo>
                      <a:lnTo>
                        <a:pt x="16700" y="2100"/>
                      </a:lnTo>
                      <a:lnTo>
                        <a:pt x="16800" y="2250"/>
                      </a:lnTo>
                      <a:lnTo>
                        <a:pt x="16900" y="2300"/>
                      </a:lnTo>
                      <a:lnTo>
                        <a:pt x="17000" y="2300"/>
                      </a:lnTo>
                      <a:lnTo>
                        <a:pt x="17100" y="2300"/>
                      </a:lnTo>
                      <a:lnTo>
                        <a:pt x="17200" y="2300"/>
                      </a:lnTo>
                      <a:lnTo>
                        <a:pt x="17300" y="2300"/>
                      </a:lnTo>
                      <a:lnTo>
                        <a:pt x="17400" y="2250"/>
                      </a:lnTo>
                      <a:lnTo>
                        <a:pt x="17500" y="2250"/>
                      </a:lnTo>
                      <a:lnTo>
                        <a:pt x="17600" y="2300"/>
                      </a:lnTo>
                      <a:lnTo>
                        <a:pt x="17700" y="2300"/>
                      </a:lnTo>
                      <a:lnTo>
                        <a:pt x="17800" y="2300"/>
                      </a:lnTo>
                      <a:lnTo>
                        <a:pt x="17900" y="2350"/>
                      </a:lnTo>
                      <a:lnTo>
                        <a:pt x="18000" y="2350"/>
                      </a:lnTo>
                      <a:lnTo>
                        <a:pt x="18100" y="2300"/>
                      </a:lnTo>
                      <a:lnTo>
                        <a:pt x="18200" y="2300"/>
                      </a:lnTo>
                      <a:lnTo>
                        <a:pt x="18300" y="2250"/>
                      </a:lnTo>
                      <a:lnTo>
                        <a:pt x="18400" y="2250"/>
                      </a:lnTo>
                      <a:lnTo>
                        <a:pt x="18500" y="2250"/>
                      </a:lnTo>
                      <a:lnTo>
                        <a:pt x="18600" y="2250"/>
                      </a:lnTo>
                      <a:lnTo>
                        <a:pt x="18700" y="2300"/>
                      </a:lnTo>
                      <a:lnTo>
                        <a:pt x="18800" y="2300"/>
                      </a:lnTo>
                      <a:lnTo>
                        <a:pt x="18900" y="2300"/>
                      </a:lnTo>
                      <a:lnTo>
                        <a:pt x="19000" y="2300"/>
                      </a:lnTo>
                      <a:lnTo>
                        <a:pt x="19100" y="2300"/>
                      </a:lnTo>
                      <a:lnTo>
                        <a:pt x="19200" y="2300"/>
                      </a:lnTo>
                      <a:lnTo>
                        <a:pt x="19300" y="2300"/>
                      </a:lnTo>
                      <a:lnTo>
                        <a:pt x="19400" y="2300"/>
                      </a:lnTo>
                      <a:lnTo>
                        <a:pt x="19500" y="2300"/>
                      </a:lnTo>
                      <a:lnTo>
                        <a:pt x="19600" y="2300"/>
                      </a:lnTo>
                      <a:lnTo>
                        <a:pt x="19700" y="2300"/>
                      </a:lnTo>
                      <a:lnTo>
                        <a:pt x="19800" y="2300"/>
                      </a:lnTo>
                      <a:lnTo>
                        <a:pt x="19900" y="2300"/>
                      </a:lnTo>
                      <a:lnTo>
                        <a:pt x="20000" y="2250"/>
                      </a:lnTo>
                      <a:lnTo>
                        <a:pt x="20100" y="2250"/>
                      </a:lnTo>
                      <a:lnTo>
                        <a:pt x="20200" y="2250"/>
                      </a:lnTo>
                      <a:lnTo>
                        <a:pt x="20300" y="2250"/>
                      </a:lnTo>
                      <a:lnTo>
                        <a:pt x="20400" y="2300"/>
                      </a:lnTo>
                      <a:lnTo>
                        <a:pt x="20500" y="2300"/>
                      </a:lnTo>
                      <a:lnTo>
                        <a:pt x="20600" y="2300"/>
                      </a:lnTo>
                      <a:lnTo>
                        <a:pt x="20700" y="2300"/>
                      </a:lnTo>
                      <a:lnTo>
                        <a:pt x="20800" y="2300"/>
                      </a:lnTo>
                      <a:lnTo>
                        <a:pt x="20900" y="2300"/>
                      </a:lnTo>
                      <a:lnTo>
                        <a:pt x="21000" y="2300"/>
                      </a:lnTo>
                      <a:lnTo>
                        <a:pt x="21100" y="2300"/>
                      </a:lnTo>
                      <a:lnTo>
                        <a:pt x="21200" y="2300"/>
                      </a:lnTo>
                      <a:lnTo>
                        <a:pt x="21300" y="2300"/>
                      </a:lnTo>
                      <a:lnTo>
                        <a:pt x="21400" y="2300"/>
                      </a:lnTo>
                      <a:lnTo>
                        <a:pt x="21500" y="2300"/>
                      </a:lnTo>
                      <a:lnTo>
                        <a:pt x="21600" y="2300"/>
                      </a:lnTo>
                      <a:lnTo>
                        <a:pt x="21700" y="2250"/>
                      </a:lnTo>
                      <a:lnTo>
                        <a:pt x="21800" y="2250"/>
                      </a:lnTo>
                      <a:lnTo>
                        <a:pt x="21900" y="2250"/>
                      </a:lnTo>
                      <a:lnTo>
                        <a:pt x="22000" y="2250"/>
                      </a:lnTo>
                      <a:lnTo>
                        <a:pt x="22100" y="2300"/>
                      </a:lnTo>
                      <a:lnTo>
                        <a:pt x="22200" y="2300"/>
                      </a:lnTo>
                      <a:lnTo>
                        <a:pt x="22300" y="2300"/>
                      </a:lnTo>
                      <a:lnTo>
                        <a:pt x="22400" y="2300"/>
                      </a:lnTo>
                      <a:lnTo>
                        <a:pt x="22500" y="2300"/>
                      </a:lnTo>
                      <a:lnTo>
                        <a:pt x="22600" y="2300"/>
                      </a:lnTo>
                    </a:path>
                  </a:pathLst>
                </a:custGeom>
                <a:noFill/>
                <a:ln w="14000" cap="rnd">
                  <a:solidFill>
                    <a:srgbClr val="000000"/>
                  </a:solidFill>
                </a:ln>
                <a:effectLst>
                  <a:outerShdw blurRad="12700" dist="9000" dir="2700000" algn="ctr" rotWithShape="0">
                    <a:srgbClr val="000000">
                      <a:alpha val="22000"/>
                    </a:srgbClr>
                  </a:outerShdw>
                </a:effectLst>
              </p:spPr>
            </p:sp>
            <p:pic>
              <p:nvPicPr>
                <p:cNvPr id="6" name="knowledge"/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8625" y="3286125"/>
                  <a:ext cx="790575" cy="609600"/>
                </a:xfrm>
                <a:prstGeom prst="rect">
                  <a:avLst/>
                </a:prstGeom>
              </p:spPr>
            </p:pic>
            <p:pic>
              <p:nvPicPr>
                <p:cNvPr id="7" name="tool"/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76250" y="4219575"/>
                  <a:ext cx="685800" cy="647700"/>
                </a:xfrm>
                <a:prstGeom prst="rect">
                  <a:avLst/>
                </a:prstGeom>
              </p:spPr>
            </p:pic>
            <p:sp>
              <p:nvSpPr>
                <p:cNvPr id="8" name="Path 8"/>
                <p:cNvSpPr/>
                <p:nvPr/>
              </p:nvSpPr>
              <p:spPr>
                <a:xfrm>
                  <a:off x="457200" y="5286375"/>
                  <a:ext cx="3019425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15240">
                  <a:solidFill>
                    <a:srgbClr val="327AA6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9" name="Path 9"/>
                <p:cNvSpPr/>
                <p:nvPr/>
              </p:nvSpPr>
              <p:spPr>
                <a:xfrm>
                  <a:off x="1695450" y="5286375"/>
                  <a:ext cx="876300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50800">
                  <a:solidFill>
                    <a:srgbClr val="327AA6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10" name="TextBox 10"/>
                <p:cNvSpPr txBox="1"/>
                <p:nvPr/>
              </p:nvSpPr>
              <p:spPr>
                <a:xfrm>
                  <a:off x="333375" y="190500"/>
                  <a:ext cx="3810000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640" b="1">
                      <a:solidFill>
                        <a:srgbClr val="327AA6"/>
                      </a:solidFill>
                      <a:latin typeface="Comic Sans MS"/>
                      <a:ea typeface="Times New Roman"/>
                      <a:cs typeface="Times New Roman"/>
                    </a:rPr>
                    <a:t>1  Acquire</a:t>
                  </a:r>
                  <a:endParaRPr lang="zh-CN" sz="2640">
                    <a:latin typeface="Comic Sans MS"/>
                  </a:endParaRPr>
                </a:p>
              </p:txBody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333375" y="762000"/>
                  <a:ext cx="381000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>
                      <a:solidFill>
                        <a:srgbClr val="25475E"/>
                      </a:solidFill>
                      <a:latin typeface="Comic Sans MS"/>
                      <a:ea typeface="Times New Roman"/>
                      <a:cs typeface="Times New Roman"/>
                    </a:rPr>
                    <a:t>Coarse localization</a:t>
                  </a:r>
                  <a:endParaRPr lang="zh-CN" sz="2200">
                    <a:latin typeface="Comic Sans MS"/>
                  </a:endParaRPr>
                </a:p>
              </p:txBody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381000" y="2619375"/>
                  <a:ext cx="3476625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>
                      <a:solidFill>
                        <a:srgbClr val="25475E"/>
                      </a:solidFill>
                      <a:latin typeface="Comic Sans MS"/>
                      <a:ea typeface="Times New Roman"/>
                      <a:cs typeface="Times New Roman"/>
                    </a:rPr>
                    <a:t>Visual anomaly patterns</a:t>
                  </a:r>
                  <a:endParaRPr lang="zh-CN" sz="2200">
                    <a:latin typeface="Comic Sans MS"/>
                  </a:endParaRPr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1428750" y="3333750"/>
                  <a:ext cx="27622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>
                      <a:solidFill>
                        <a:srgbClr val="25475E"/>
                      </a:solidFill>
                      <a:latin typeface="Comic Sans MS"/>
                      <a:ea typeface="Times New Roman"/>
                      <a:cs typeface="Times New Roman"/>
                    </a:rPr>
                    <a:t>Domain knowledge</a:t>
                  </a:r>
                  <a:endParaRPr lang="zh-CN" sz="2200">
                    <a:latin typeface="Comic Sans MS"/>
                  </a:endParaRP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1428750" y="4257675"/>
                  <a:ext cx="29527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>
                      <a:solidFill>
                        <a:srgbClr val="25475E"/>
                      </a:solidFill>
                      <a:latin typeface="Comic Sans MS"/>
                      <a:ea typeface="Times New Roman"/>
                      <a:cs typeface="Times New Roman"/>
                    </a:rPr>
                    <a:t>Diagnostic tools</a:t>
                  </a:r>
                  <a:endParaRPr lang="zh-CN" sz="2200">
                    <a:latin typeface="Comic Sans MS"/>
                  </a:endParaRP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428625" y="5543550"/>
                  <a:ext cx="33337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>
                      <a:solidFill>
                        <a:srgbClr val="25475E"/>
                      </a:solidFill>
                      <a:latin typeface="Comic Sans MS"/>
                      <a:ea typeface="Times New Roman"/>
                      <a:cs typeface="Times New Roman"/>
                    </a:rPr>
                    <a:t>Candidate intervals</a:t>
                  </a:r>
                  <a:endParaRPr lang="zh-CN" sz="2200">
                    <a:latin typeface="Comic Sans MS"/>
                  </a:endParaRPr>
                </a:p>
              </p:txBody>
            </p:sp>
          </p:grpSp>
          <p:grpSp>
            <p:nvGrpSpPr>
              <p:cNvPr id="1001" name="Construct evidence state"/>
              <p:cNvGrpSpPr/>
              <p:nvPr/>
            </p:nvGrpSpPr>
            <p:grpSpPr>
              <a:xfrm>
                <a:off x="4695825" y="190500"/>
                <a:ext cx="4000500" cy="5753100"/>
                <a:chOff x="4695825" y="190500"/>
                <a:chExt cx="4000500" cy="5753100"/>
              </a:xfrm>
            </p:grpSpPr>
            <p:sp>
              <p:nvSpPr>
                <p:cNvPr id="16" name="Rect 16"/>
                <p:cNvSpPr/>
                <p:nvPr/>
              </p:nvSpPr>
              <p:spPr>
                <a:xfrm>
                  <a:off x="4705350" y="1504950"/>
                  <a:ext cx="3609975" cy="1095375"/>
                </a:xfrm>
                <a:prstGeom prst="rect">
                  <a:avLst/>
                </a:prstGeom>
                <a:solidFill>
                  <a:srgbClr val="FAF9FC"/>
                </a:solidFill>
                <a:ln w="10160">
                  <a:solidFill>
                    <a:srgbClr val="B7C4CC"/>
                  </a:solidFill>
                </a:ln>
              </p:spPr>
              <p:txBody>
                <a:bodyPr/>
                <a:lstStyle/>
                <a:p/>
              </p:txBody>
            </p:sp>
            <p:sp>
              <p:nvSpPr>
                <p:cNvPr id="17" name="Rect 17"/>
                <p:cNvSpPr/>
                <p:nvPr/>
              </p:nvSpPr>
              <p:spPr>
                <a:xfrm>
                  <a:off x="4705350" y="2828925"/>
                  <a:ext cx="3609975" cy="1095375"/>
                </a:xfrm>
                <a:prstGeom prst="rect">
                  <a:avLst/>
                </a:prstGeom>
                <a:solidFill>
                  <a:srgbClr val="FAF9FC"/>
                </a:solidFill>
                <a:ln w="10160">
                  <a:solidFill>
                    <a:srgbClr val="B7C4CC"/>
                  </a:solidFill>
                </a:ln>
              </p:spPr>
              <p:txBody>
                <a:bodyPr/>
                <a:lstStyle/>
                <a:p/>
              </p:txBody>
            </p:sp>
            <p:sp>
              <p:nvSpPr>
                <p:cNvPr id="18" name="Rect 18"/>
                <p:cNvSpPr/>
                <p:nvPr/>
              </p:nvSpPr>
              <p:spPr>
                <a:xfrm>
                  <a:off x="4705350" y="4152900"/>
                  <a:ext cx="3609975" cy="1095375"/>
                </a:xfrm>
                <a:prstGeom prst="rect">
                  <a:avLst/>
                </a:prstGeom>
                <a:solidFill>
                  <a:srgbClr val="FAF9FC"/>
                </a:solidFill>
                <a:ln w="10160">
                  <a:solidFill>
                    <a:srgbClr val="B7C4CC"/>
                  </a:solidFill>
                </a:ln>
              </p:spPr>
              <p:txBody>
                <a:bodyPr/>
                <a:lstStyle/>
                <a:p/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4695825" y="190500"/>
                  <a:ext cx="4000500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640" b="1">
                      <a:solidFill>
                        <a:srgbClr val="68538F"/>
                      </a:solidFill>
                      <a:latin typeface="Comic Sans MS"/>
                      <a:ea typeface="Times New Roman"/>
                      <a:cs typeface="Times New Roman"/>
                    </a:rPr>
                    <a:t>2  Construct</a:t>
                  </a:r>
                  <a:endParaRPr lang="zh-CN" sz="2640">
                    <a:latin typeface="Comic Sans MS"/>
                  </a:endParaRP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4695825" y="762000"/>
                  <a:ext cx="400050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>
                      <a:solidFill>
                        <a:srgbClr val="25475E"/>
                      </a:solidFill>
                      <a:latin typeface="Comic Sans MS"/>
                      <a:ea typeface="Times New Roman"/>
                      <a:cs typeface="Times New Roman"/>
                    </a:rPr>
                    <a:t>Accumulate tool results</a:t>
                  </a:r>
                  <a:endParaRPr lang="zh-CN" sz="2200">
                    <a:latin typeface="Comic Sans MS"/>
                  </a:endParaRP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4876800" y="1552575"/>
                  <a:ext cx="3238500" cy="4095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 b="1">
                      <a:solidFill>
                        <a:srgbClr val="68538F"/>
                      </a:solidFill>
                      <a:latin typeface="Comic Sans MS"/>
                      <a:ea typeface="Times New Roman"/>
                      <a:cs typeface="Times New Roman"/>
                    </a:rPr>
                    <a:t>Intervals</a:t>
                  </a:r>
                  <a:endParaRPr lang="zh-CN" sz="2200">
                    <a:latin typeface="Comic Sans MS"/>
                  </a:endParaRP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4876800" y="2009775"/>
                  <a:ext cx="3238500" cy="4095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024">
                      <a:solidFill>
                        <a:srgbClr val="25475E"/>
                      </a:solidFill>
                      <a:latin typeface="Comic Sans MS"/>
                      <a:ea typeface="Times New Roman"/>
                      <a:cs typeface="Times New Roman"/>
                    </a:rPr>
                    <a:t>Candidate boundaries</a:t>
                  </a:r>
                  <a:endParaRPr lang="zh-CN" sz="2024">
                    <a:latin typeface="Comic Sans MS"/>
                  </a:endParaRP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4876800" y="2876550"/>
                  <a:ext cx="3238500" cy="4095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 b="1">
                      <a:solidFill>
                        <a:srgbClr val="68538F"/>
                      </a:solidFill>
                      <a:latin typeface="Comic Sans MS"/>
                      <a:ea typeface="Times New Roman"/>
                      <a:cs typeface="Times New Roman"/>
                    </a:rPr>
                    <a:t>Numerical evidence</a:t>
                  </a:r>
                  <a:endParaRPr lang="zh-CN" sz="2200">
                    <a:latin typeface="Comic Sans MS"/>
                  </a:endParaRP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4876800" y="3333750"/>
                  <a:ext cx="3238500" cy="4095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024">
                      <a:solidFill>
                        <a:srgbClr val="25475E"/>
                      </a:solidFill>
                      <a:latin typeface="Comic Sans MS"/>
                      <a:ea typeface="Times New Roman"/>
                      <a:cs typeface="Times New Roman"/>
                    </a:rPr>
                    <a:t>Statistics · changes</a:t>
                  </a:r>
                  <a:endParaRPr lang="zh-CN" sz="2024">
                    <a:latin typeface="Comic Sans MS"/>
                  </a:endParaRP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4876800" y="4200525"/>
                  <a:ext cx="3238500" cy="4095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 b="1">
                      <a:solidFill>
                        <a:srgbClr val="68538F"/>
                      </a:solidFill>
                      <a:latin typeface="Comic Sans MS"/>
                      <a:ea typeface="Times New Roman"/>
                      <a:cs typeface="Times New Roman"/>
                    </a:rPr>
                    <a:t>Context</a:t>
                  </a:r>
                  <a:endParaRPr lang="zh-CN" sz="2200">
                    <a:latin typeface="Comic Sans MS"/>
                  </a:endParaRP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4876800" y="4657725"/>
                  <a:ext cx="3238500" cy="4095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024">
                      <a:solidFill>
                        <a:srgbClr val="25475E"/>
                      </a:solidFill>
                      <a:latin typeface="Comic Sans MS"/>
                      <a:ea typeface="Times New Roman"/>
                      <a:cs typeface="Times New Roman"/>
                    </a:rPr>
                    <a:t>Retrieved knowledge</a:t>
                  </a:r>
                  <a:endParaRPr lang="zh-CN" sz="2024">
                    <a:latin typeface="Comic Sans MS"/>
                  </a:endParaRP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4714875" y="5543550"/>
                  <a:ext cx="3667125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112">
                      <a:solidFill>
                        <a:srgbClr val="25475E"/>
                      </a:solidFill>
                      <a:latin typeface="Comic Sans MS"/>
                      <a:ea typeface="Times New Roman"/>
                      <a:cs typeface="Times New Roman"/>
                    </a:rPr>
                    <a:t>Retained state</a:t>
                  </a:r>
                  <a:endParaRPr lang="zh-CN" sz="2112">
                    <a:latin typeface="Comic Sans MS"/>
                  </a:endParaRPr>
                </a:p>
              </p:txBody>
            </p:sp>
          </p:grpSp>
          <p:grpSp>
            <p:nvGrpSpPr>
              <p:cNvPr id="1002" name="Detect intervals"/>
              <p:cNvGrpSpPr/>
              <p:nvPr/>
            </p:nvGrpSpPr>
            <p:grpSpPr>
              <a:xfrm>
                <a:off x="9020175" y="190500"/>
                <a:ext cx="3905250" cy="5038725"/>
                <a:chOff x="9020175" y="190500"/>
                <a:chExt cx="3905250" cy="5038725"/>
              </a:xfrm>
            </p:grpSpPr>
            <p:sp>
              <p:nvSpPr>
                <p:cNvPr id="28" name="Rect 28"/>
                <p:cNvSpPr/>
                <p:nvPr/>
              </p:nvSpPr>
              <p:spPr>
                <a:xfrm>
                  <a:off x="10495598" y="1952625"/>
                  <a:ext cx="1183481" cy="2324100"/>
                </a:xfrm>
                <a:prstGeom prst="rect">
                  <a:avLst/>
                </a:prstGeom>
                <a:solidFill>
                  <a:srgbClr val="ECF4EF"/>
                </a:solidFill>
                <a:ln>
                  <a:noFill/>
                </a:ln>
              </p:spPr>
              <p:txBody>
                <a:bodyPr/>
                <a:lstStyle/>
                <a:p/>
              </p:txBody>
            </p:sp>
            <p:sp>
              <p:nvSpPr>
                <p:cNvPr id="29" name="Path 29"/>
                <p:cNvSpPr/>
                <p:nvPr/>
              </p:nvSpPr>
              <p:spPr>
                <a:xfrm>
                  <a:off x="9210675" y="1905000"/>
                  <a:ext cx="3381375" cy="237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1600" y="21600"/>
                      </a:lnTo>
                    </a:path>
                  </a:pathLst>
                </a:custGeom>
                <a:noFill/>
                <a:ln w="30480">
                  <a:gradFill rotWithShape="1">
                    <a:gsLst>
                      <a:gs pos="0">
                        <a:srgbClr val="B4BAC0"/>
                      </a:gs>
                      <a:gs pos="45000">
                        <a:srgbClr val="747C83"/>
                      </a:gs>
                      <a:gs pos="100000">
                        <a:srgbClr val="343B41"/>
                      </a:gs>
                    </a:gsLst>
                    <a:lin ang="0" scaled="1"/>
                  </a:gradFill>
                  <a:prstDash val="solid"/>
                  <a:tailEnd type="triangle"/>
                </a:ln>
                <a:effectLst>
                  <a:outerShdw blurRad="12700" dist="9000" dir="2700000" algn="ctr" rotWithShape="0">
                    <a:srgbClr val="000000">
                      <a:alpha val="22000"/>
                    </a:srgbClr>
                  </a:outerShdw>
                </a:effectLst>
              </p:spPr>
              <p:txBody>
                <a:bodyPr/>
                <a:lstStyle/>
                <a:p/>
              </p:txBody>
            </p:sp>
            <p:sp>
              <p:nvSpPr>
                <p:cNvPr id="30" name="Path 30"/>
                <p:cNvSpPr/>
                <p:nvPr/>
              </p:nvSpPr>
              <p:spPr>
                <a:xfrm>
                  <a:off x="9210675" y="2274199"/>
                  <a:ext cx="3371430" cy="17686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20618"/>
                      </a:moveTo>
                      <a:lnTo>
                        <a:pt x="191" y="20172"/>
                      </a:lnTo>
                      <a:lnTo>
                        <a:pt x="382" y="20707"/>
                      </a:lnTo>
                      <a:lnTo>
                        <a:pt x="573" y="20172"/>
                      </a:lnTo>
                      <a:lnTo>
                        <a:pt x="765" y="19012"/>
                      </a:lnTo>
                      <a:lnTo>
                        <a:pt x="956" y="19458"/>
                      </a:lnTo>
                      <a:lnTo>
                        <a:pt x="1147" y="17226"/>
                      </a:lnTo>
                      <a:lnTo>
                        <a:pt x="1338" y="15620"/>
                      </a:lnTo>
                      <a:lnTo>
                        <a:pt x="1529" y="18565"/>
                      </a:lnTo>
                      <a:lnTo>
                        <a:pt x="1720" y="19547"/>
                      </a:lnTo>
                      <a:lnTo>
                        <a:pt x="1912" y="19101"/>
                      </a:lnTo>
                      <a:lnTo>
                        <a:pt x="2103" y="20618"/>
                      </a:lnTo>
                      <a:lnTo>
                        <a:pt x="2294" y="21243"/>
                      </a:lnTo>
                      <a:lnTo>
                        <a:pt x="2485" y="20529"/>
                      </a:lnTo>
                      <a:lnTo>
                        <a:pt x="2676" y="21511"/>
                      </a:lnTo>
                      <a:lnTo>
                        <a:pt x="2867" y="21600"/>
                      </a:lnTo>
                      <a:lnTo>
                        <a:pt x="3058" y="20350"/>
                      </a:lnTo>
                      <a:lnTo>
                        <a:pt x="3250" y="20172"/>
                      </a:lnTo>
                      <a:lnTo>
                        <a:pt x="3441" y="18030"/>
                      </a:lnTo>
                      <a:lnTo>
                        <a:pt x="3632" y="18655"/>
                      </a:lnTo>
                      <a:lnTo>
                        <a:pt x="3823" y="20350"/>
                      </a:lnTo>
                      <a:lnTo>
                        <a:pt x="4014" y="19190"/>
                      </a:lnTo>
                      <a:lnTo>
                        <a:pt x="4205" y="20350"/>
                      </a:lnTo>
                      <a:lnTo>
                        <a:pt x="4396" y="20886"/>
                      </a:lnTo>
                      <a:lnTo>
                        <a:pt x="4588" y="18476"/>
                      </a:lnTo>
                      <a:lnTo>
                        <a:pt x="4779" y="17048"/>
                      </a:lnTo>
                      <a:lnTo>
                        <a:pt x="4970" y="15709"/>
                      </a:lnTo>
                      <a:lnTo>
                        <a:pt x="5161" y="17405"/>
                      </a:lnTo>
                      <a:lnTo>
                        <a:pt x="5352" y="15709"/>
                      </a:lnTo>
                      <a:lnTo>
                        <a:pt x="5543" y="14549"/>
                      </a:lnTo>
                      <a:lnTo>
                        <a:pt x="5735" y="17940"/>
                      </a:lnTo>
                      <a:lnTo>
                        <a:pt x="5926" y="18833"/>
                      </a:lnTo>
                      <a:lnTo>
                        <a:pt x="6117" y="18030"/>
                      </a:lnTo>
                      <a:lnTo>
                        <a:pt x="6308" y="20083"/>
                      </a:lnTo>
                      <a:lnTo>
                        <a:pt x="6499" y="18744"/>
                      </a:lnTo>
                      <a:lnTo>
                        <a:pt x="6690" y="20083"/>
                      </a:lnTo>
                      <a:lnTo>
                        <a:pt x="6881" y="20886"/>
                      </a:lnTo>
                      <a:lnTo>
                        <a:pt x="7073" y="19547"/>
                      </a:lnTo>
                      <a:lnTo>
                        <a:pt x="7264" y="18119"/>
                      </a:lnTo>
                      <a:lnTo>
                        <a:pt x="7455" y="20083"/>
                      </a:lnTo>
                      <a:lnTo>
                        <a:pt x="7646" y="19904"/>
                      </a:lnTo>
                      <a:lnTo>
                        <a:pt x="7837" y="20618"/>
                      </a:lnTo>
                      <a:lnTo>
                        <a:pt x="8028" y="21332"/>
                      </a:lnTo>
                      <a:lnTo>
                        <a:pt x="8219" y="20083"/>
                      </a:lnTo>
                      <a:lnTo>
                        <a:pt x="8411" y="19993"/>
                      </a:lnTo>
                      <a:lnTo>
                        <a:pt x="8602" y="19904"/>
                      </a:lnTo>
                      <a:lnTo>
                        <a:pt x="8793" y="18298"/>
                      </a:lnTo>
                      <a:lnTo>
                        <a:pt x="8984" y="18833"/>
                      </a:lnTo>
                      <a:lnTo>
                        <a:pt x="9175" y="20440"/>
                      </a:lnTo>
                      <a:lnTo>
                        <a:pt x="9366" y="19190"/>
                      </a:lnTo>
                      <a:lnTo>
                        <a:pt x="9558" y="19369"/>
                      </a:lnTo>
                      <a:lnTo>
                        <a:pt x="9749" y="15888"/>
                      </a:lnTo>
                      <a:lnTo>
                        <a:pt x="9940" y="13299"/>
                      </a:lnTo>
                      <a:lnTo>
                        <a:pt x="10131" y="15174"/>
                      </a:lnTo>
                      <a:lnTo>
                        <a:pt x="10322" y="15531"/>
                      </a:lnTo>
                      <a:lnTo>
                        <a:pt x="10513" y="14192"/>
                      </a:lnTo>
                      <a:lnTo>
                        <a:pt x="10704" y="11505"/>
                      </a:lnTo>
                      <a:lnTo>
                        <a:pt x="10896" y="8212"/>
                      </a:lnTo>
                      <a:lnTo>
                        <a:pt x="11087" y="7051"/>
                      </a:lnTo>
                      <a:lnTo>
                        <a:pt x="11278" y="10175"/>
                      </a:lnTo>
                      <a:lnTo>
                        <a:pt x="11469" y="8390"/>
                      </a:lnTo>
                      <a:lnTo>
                        <a:pt x="11660" y="5266"/>
                      </a:lnTo>
                      <a:lnTo>
                        <a:pt x="11851" y="3927"/>
                      </a:lnTo>
                      <a:lnTo>
                        <a:pt x="12042" y="0"/>
                      </a:lnTo>
                      <a:lnTo>
                        <a:pt x="12234" y="3124"/>
                      </a:lnTo>
                      <a:lnTo>
                        <a:pt x="12425" y="3302"/>
                      </a:lnTo>
                      <a:lnTo>
                        <a:pt x="12616" y="7498"/>
                      </a:lnTo>
                      <a:lnTo>
                        <a:pt x="12807" y="8122"/>
                      </a:lnTo>
                      <a:lnTo>
                        <a:pt x="12998" y="9640"/>
                      </a:lnTo>
                      <a:lnTo>
                        <a:pt x="13189" y="9907"/>
                      </a:lnTo>
                      <a:lnTo>
                        <a:pt x="13381" y="7765"/>
                      </a:lnTo>
                      <a:lnTo>
                        <a:pt x="13572" y="9104"/>
                      </a:lnTo>
                      <a:lnTo>
                        <a:pt x="13763" y="12764"/>
                      </a:lnTo>
                      <a:lnTo>
                        <a:pt x="13954" y="14906"/>
                      </a:lnTo>
                      <a:lnTo>
                        <a:pt x="14145" y="13121"/>
                      </a:lnTo>
                      <a:lnTo>
                        <a:pt x="14336" y="12228"/>
                      </a:lnTo>
                      <a:lnTo>
                        <a:pt x="14527" y="13478"/>
                      </a:lnTo>
                      <a:lnTo>
                        <a:pt x="14719" y="14460"/>
                      </a:lnTo>
                      <a:lnTo>
                        <a:pt x="14910" y="17940"/>
                      </a:lnTo>
                      <a:lnTo>
                        <a:pt x="15101" y="19279"/>
                      </a:lnTo>
                      <a:lnTo>
                        <a:pt x="15292" y="20350"/>
                      </a:lnTo>
                      <a:lnTo>
                        <a:pt x="15483" y="20797"/>
                      </a:lnTo>
                      <a:lnTo>
                        <a:pt x="15674" y="20350"/>
                      </a:lnTo>
                      <a:lnTo>
                        <a:pt x="15865" y="18922"/>
                      </a:lnTo>
                      <a:lnTo>
                        <a:pt x="16057" y="18833"/>
                      </a:lnTo>
                      <a:lnTo>
                        <a:pt x="16248" y="20886"/>
                      </a:lnTo>
                      <a:lnTo>
                        <a:pt x="16439" y="20261"/>
                      </a:lnTo>
                      <a:lnTo>
                        <a:pt x="16630" y="18744"/>
                      </a:lnTo>
                      <a:lnTo>
                        <a:pt x="16821" y="19636"/>
                      </a:lnTo>
                      <a:lnTo>
                        <a:pt x="17012" y="18298"/>
                      </a:lnTo>
                      <a:lnTo>
                        <a:pt x="17204" y="17137"/>
                      </a:lnTo>
                      <a:lnTo>
                        <a:pt x="17395" y="19012"/>
                      </a:lnTo>
                      <a:lnTo>
                        <a:pt x="17586" y="19458"/>
                      </a:lnTo>
                      <a:lnTo>
                        <a:pt x="17777" y="19101"/>
                      </a:lnTo>
                      <a:lnTo>
                        <a:pt x="17968" y="20440"/>
                      </a:lnTo>
                      <a:lnTo>
                        <a:pt x="18159" y="20618"/>
                      </a:lnTo>
                      <a:lnTo>
                        <a:pt x="18350" y="18565"/>
                      </a:lnTo>
                      <a:lnTo>
                        <a:pt x="18542" y="18030"/>
                      </a:lnTo>
                      <a:lnTo>
                        <a:pt x="18733" y="19815"/>
                      </a:lnTo>
                      <a:lnTo>
                        <a:pt x="18924" y="20975"/>
                      </a:lnTo>
                      <a:lnTo>
                        <a:pt x="19115" y="20886"/>
                      </a:lnTo>
                      <a:lnTo>
                        <a:pt x="19306" y="18387"/>
                      </a:lnTo>
                      <a:lnTo>
                        <a:pt x="19497" y="18565"/>
                      </a:lnTo>
                      <a:lnTo>
                        <a:pt x="19688" y="18744"/>
                      </a:lnTo>
                      <a:lnTo>
                        <a:pt x="19880" y="16602"/>
                      </a:lnTo>
                      <a:lnTo>
                        <a:pt x="20071" y="17583"/>
                      </a:lnTo>
                      <a:lnTo>
                        <a:pt x="20262" y="19726"/>
                      </a:lnTo>
                      <a:lnTo>
                        <a:pt x="20453" y="18744"/>
                      </a:lnTo>
                      <a:lnTo>
                        <a:pt x="20644" y="18744"/>
                      </a:lnTo>
                      <a:lnTo>
                        <a:pt x="20835" y="19636"/>
                      </a:lnTo>
                      <a:lnTo>
                        <a:pt x="21027" y="19190"/>
                      </a:lnTo>
                      <a:lnTo>
                        <a:pt x="21218" y="20172"/>
                      </a:lnTo>
                      <a:lnTo>
                        <a:pt x="21409" y="19636"/>
                      </a:lnTo>
                      <a:lnTo>
                        <a:pt x="21600" y="19190"/>
                      </a:lnTo>
                    </a:path>
                  </a:pathLst>
                </a:custGeom>
                <a:noFill/>
                <a:ln w="22860" cap="rnd">
                  <a:solidFill>
                    <a:srgbClr val="000000"/>
                  </a:solidFill>
                  <a:prstDash val="solid"/>
                  <a:tailEnd type="none"/>
                </a:ln>
                <a:effectLst>
                  <a:outerShdw blurRad="12700" dist="9000" dir="2700000" algn="ctr" rotWithShape="0">
                    <a:srgbClr val="000000">
                      <a:alpha val="22000"/>
                    </a:srgbClr>
                  </a:outerShdw>
                </a:effectLst>
              </p:spPr>
              <p:txBody>
                <a:bodyPr/>
                <a:lstStyle/>
                <a:p/>
              </p:txBody>
            </p:sp>
            <p:sp>
              <p:nvSpPr>
                <p:cNvPr id="31" name="Path 31"/>
                <p:cNvSpPr/>
                <p:nvPr/>
              </p:nvSpPr>
              <p:spPr>
                <a:xfrm>
                  <a:off x="10495598" y="1952625"/>
                  <a:ext cx="952" cy="232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2700">
                  <a:solidFill>
                    <a:srgbClr val="37856F"/>
                  </a:solidFill>
                  <a:prstDash val="dash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32" name="Path 32"/>
                <p:cNvSpPr/>
                <p:nvPr/>
              </p:nvSpPr>
              <p:spPr>
                <a:xfrm>
                  <a:off x="11679079" y="1952625"/>
                  <a:ext cx="952" cy="232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2700">
                  <a:solidFill>
                    <a:srgbClr val="37856F"/>
                  </a:solidFill>
                  <a:prstDash val="dash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9020175" y="190500"/>
                  <a:ext cx="3762375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640" b="1">
                      <a:solidFill>
                        <a:srgbClr val="37856F"/>
                      </a:solidFill>
                      <a:latin typeface="Comic Sans MS"/>
                      <a:ea typeface="Times New Roman"/>
                      <a:cs typeface="Times New Roman"/>
                    </a:rPr>
                    <a:t>3  Detect</a:t>
                  </a:r>
                  <a:endParaRPr lang="zh-CN" sz="2640">
                    <a:latin typeface="Comic Sans MS"/>
                  </a:endParaRP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9020175" y="762000"/>
                  <a:ext cx="39052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112">
                      <a:solidFill>
                        <a:srgbClr val="25475E"/>
                      </a:solidFill>
                      <a:latin typeface="Comic Sans MS"/>
                      <a:ea typeface="Times New Roman"/>
                      <a:cs typeface="Times New Roman"/>
                    </a:rPr>
                    <a:t>Apply learned detector</a:t>
                  </a:r>
                  <a:endParaRPr lang="zh-CN" sz="2112">
                    <a:latin typeface="Comic Sans MS"/>
                  </a:endParaRP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9134475" y="1476375"/>
                  <a:ext cx="3667125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112">
                      <a:solidFill>
                        <a:srgbClr val="37856F"/>
                      </a:solidFill>
                      <a:latin typeface="Comic Sans MS"/>
                      <a:ea typeface="Times New Roman"/>
                      <a:cs typeface="Times New Roman"/>
                    </a:rPr>
                    <a:t>Candidate region</a:t>
                  </a:r>
                  <a:endParaRPr lang="zh-CN" sz="2112">
                    <a:latin typeface="Comic Sans MS"/>
                  </a:endParaRP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11849100" y="4324350"/>
                  <a:ext cx="76200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1936">
                      <a:solidFill>
                        <a:srgbClr val="25475E"/>
                      </a:solidFill>
                      <a:latin typeface="Comic Sans MS"/>
                      <a:ea typeface="Times New Roman"/>
                      <a:cs typeface="Times New Roman"/>
                    </a:rPr>
                    <a:t>Time</a:t>
                  </a:r>
                  <a:endParaRPr lang="zh-CN" sz="1936">
                    <a:latin typeface="Comic Sans MS"/>
                  </a:endParaRP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9134475" y="4829175"/>
                  <a:ext cx="3667125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>
                      <a:solidFill>
                        <a:srgbClr val="25475E"/>
                      </a:solidFill>
                      <a:latin typeface="Comic Sans MS"/>
                      <a:ea typeface="Times New Roman"/>
                      <a:cs typeface="Times New Roman"/>
                    </a:rPr>
                    <a:t>Interval decisions</a:t>
                  </a:r>
                  <a:endParaRPr lang="zh-CN" sz="2200">
                    <a:latin typeface="Comic Sans MS"/>
                  </a:endParaRPr>
                </a:p>
              </p:txBody>
            </p:sp>
          </p:grpSp>
          <p:grpSp>
            <p:nvGrpSpPr>
              <p:cNvPr id="1003" name="Refine boundaries"/>
              <p:cNvGrpSpPr/>
              <p:nvPr/>
            </p:nvGrpSpPr>
            <p:grpSpPr>
              <a:xfrm>
                <a:off x="13268325" y="190500"/>
                <a:ext cx="3848100" cy="5038725"/>
                <a:chOff x="13268325" y="190500"/>
                <a:chExt cx="3848100" cy="5038725"/>
              </a:xfrm>
            </p:grpSpPr>
            <p:sp>
              <p:nvSpPr>
                <p:cNvPr id="38" name="Rect 38"/>
                <p:cNvSpPr/>
                <p:nvPr/>
              </p:nvSpPr>
              <p:spPr>
                <a:xfrm>
                  <a:off x="15115699" y="1952625"/>
                  <a:ext cx="574834" cy="2324100"/>
                </a:xfrm>
                <a:prstGeom prst="rect">
                  <a:avLst/>
                </a:prstGeom>
                <a:solidFill>
                  <a:srgbClr val="E9F1F7"/>
                </a:solidFill>
                <a:ln>
                  <a:noFill/>
                </a:ln>
              </p:spPr>
              <p:txBody>
                <a:bodyPr/>
                <a:lstStyle/>
                <a:p/>
              </p:txBody>
            </p:sp>
            <p:sp>
              <p:nvSpPr>
                <p:cNvPr id="39" name="Path 39"/>
                <p:cNvSpPr/>
                <p:nvPr/>
              </p:nvSpPr>
              <p:spPr>
                <a:xfrm>
                  <a:off x="13458825" y="1905000"/>
                  <a:ext cx="3381375" cy="237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1600" y="21600"/>
                      </a:lnTo>
                    </a:path>
                  </a:pathLst>
                </a:custGeom>
                <a:noFill/>
                <a:ln w="30480">
                  <a:gradFill rotWithShape="1">
                    <a:gsLst>
                      <a:gs pos="0">
                        <a:srgbClr val="B4BAC0"/>
                      </a:gs>
                      <a:gs pos="45000">
                        <a:srgbClr val="747C83"/>
                      </a:gs>
                      <a:gs pos="100000">
                        <a:srgbClr val="343B41"/>
                      </a:gs>
                    </a:gsLst>
                    <a:lin ang="0" scaled="1"/>
                  </a:gradFill>
                  <a:prstDash val="solid"/>
                  <a:tailEnd type="triangle"/>
                </a:ln>
                <a:effectLst>
                  <a:outerShdw blurRad="12700" dist="9000" dir="2700000" algn="ctr" rotWithShape="0">
                    <a:srgbClr val="000000">
                      <a:alpha val="22000"/>
                    </a:srgbClr>
                  </a:outerShdw>
                </a:effectLst>
              </p:spPr>
              <p:txBody>
                <a:bodyPr/>
                <a:lstStyle/>
                <a:p/>
              </p:txBody>
            </p:sp>
            <p:sp>
              <p:nvSpPr>
                <p:cNvPr id="40" name="Path 40"/>
                <p:cNvSpPr/>
                <p:nvPr/>
              </p:nvSpPr>
              <p:spPr>
                <a:xfrm>
                  <a:off x="13458825" y="2274199"/>
                  <a:ext cx="3371430" cy="17686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20618"/>
                      </a:moveTo>
                      <a:lnTo>
                        <a:pt x="191" y="20172"/>
                      </a:lnTo>
                      <a:lnTo>
                        <a:pt x="382" y="20707"/>
                      </a:lnTo>
                      <a:lnTo>
                        <a:pt x="573" y="20172"/>
                      </a:lnTo>
                      <a:lnTo>
                        <a:pt x="765" y="19012"/>
                      </a:lnTo>
                      <a:lnTo>
                        <a:pt x="956" y="19458"/>
                      </a:lnTo>
                      <a:lnTo>
                        <a:pt x="1147" y="17226"/>
                      </a:lnTo>
                      <a:lnTo>
                        <a:pt x="1338" y="15620"/>
                      </a:lnTo>
                      <a:lnTo>
                        <a:pt x="1529" y="18565"/>
                      </a:lnTo>
                      <a:lnTo>
                        <a:pt x="1720" y="19547"/>
                      </a:lnTo>
                      <a:lnTo>
                        <a:pt x="1912" y="19101"/>
                      </a:lnTo>
                      <a:lnTo>
                        <a:pt x="2103" y="20618"/>
                      </a:lnTo>
                      <a:lnTo>
                        <a:pt x="2294" y="21243"/>
                      </a:lnTo>
                      <a:lnTo>
                        <a:pt x="2485" y="20529"/>
                      </a:lnTo>
                      <a:lnTo>
                        <a:pt x="2676" y="21511"/>
                      </a:lnTo>
                      <a:lnTo>
                        <a:pt x="2867" y="21600"/>
                      </a:lnTo>
                      <a:lnTo>
                        <a:pt x="3058" y="20350"/>
                      </a:lnTo>
                      <a:lnTo>
                        <a:pt x="3250" y="20172"/>
                      </a:lnTo>
                      <a:lnTo>
                        <a:pt x="3441" y="18030"/>
                      </a:lnTo>
                      <a:lnTo>
                        <a:pt x="3632" y="18655"/>
                      </a:lnTo>
                      <a:lnTo>
                        <a:pt x="3823" y="20350"/>
                      </a:lnTo>
                      <a:lnTo>
                        <a:pt x="4014" y="19190"/>
                      </a:lnTo>
                      <a:lnTo>
                        <a:pt x="4205" y="20350"/>
                      </a:lnTo>
                      <a:lnTo>
                        <a:pt x="4396" y="20886"/>
                      </a:lnTo>
                      <a:lnTo>
                        <a:pt x="4588" y="18476"/>
                      </a:lnTo>
                      <a:lnTo>
                        <a:pt x="4779" y="17048"/>
                      </a:lnTo>
                      <a:lnTo>
                        <a:pt x="4970" y="15709"/>
                      </a:lnTo>
                      <a:lnTo>
                        <a:pt x="5161" y="17405"/>
                      </a:lnTo>
                      <a:lnTo>
                        <a:pt x="5352" y="15709"/>
                      </a:lnTo>
                      <a:lnTo>
                        <a:pt x="5543" y="14549"/>
                      </a:lnTo>
                      <a:lnTo>
                        <a:pt x="5735" y="17940"/>
                      </a:lnTo>
                      <a:lnTo>
                        <a:pt x="5926" y="18833"/>
                      </a:lnTo>
                      <a:lnTo>
                        <a:pt x="6117" y="18030"/>
                      </a:lnTo>
                      <a:lnTo>
                        <a:pt x="6308" y="20083"/>
                      </a:lnTo>
                      <a:lnTo>
                        <a:pt x="6499" y="18744"/>
                      </a:lnTo>
                      <a:lnTo>
                        <a:pt x="6690" y="20083"/>
                      </a:lnTo>
                      <a:lnTo>
                        <a:pt x="6881" y="20886"/>
                      </a:lnTo>
                      <a:lnTo>
                        <a:pt x="7073" y="19547"/>
                      </a:lnTo>
                      <a:lnTo>
                        <a:pt x="7264" y="18119"/>
                      </a:lnTo>
                      <a:lnTo>
                        <a:pt x="7455" y="20083"/>
                      </a:lnTo>
                      <a:lnTo>
                        <a:pt x="7646" y="19904"/>
                      </a:lnTo>
                      <a:lnTo>
                        <a:pt x="7837" y="20618"/>
                      </a:lnTo>
                      <a:lnTo>
                        <a:pt x="8028" y="21332"/>
                      </a:lnTo>
                      <a:lnTo>
                        <a:pt x="8219" y="20083"/>
                      </a:lnTo>
                      <a:lnTo>
                        <a:pt x="8411" y="19993"/>
                      </a:lnTo>
                      <a:lnTo>
                        <a:pt x="8602" y="19904"/>
                      </a:lnTo>
                      <a:lnTo>
                        <a:pt x="8793" y="18298"/>
                      </a:lnTo>
                      <a:lnTo>
                        <a:pt x="8984" y="18833"/>
                      </a:lnTo>
                      <a:lnTo>
                        <a:pt x="9175" y="20440"/>
                      </a:lnTo>
                      <a:lnTo>
                        <a:pt x="9366" y="19190"/>
                      </a:lnTo>
                      <a:lnTo>
                        <a:pt x="9558" y="19369"/>
                      </a:lnTo>
                      <a:lnTo>
                        <a:pt x="9749" y="15888"/>
                      </a:lnTo>
                      <a:lnTo>
                        <a:pt x="9940" y="13299"/>
                      </a:lnTo>
                      <a:lnTo>
                        <a:pt x="10131" y="15174"/>
                      </a:lnTo>
                      <a:lnTo>
                        <a:pt x="10322" y="15531"/>
                      </a:lnTo>
                      <a:lnTo>
                        <a:pt x="10513" y="14192"/>
                      </a:lnTo>
                      <a:lnTo>
                        <a:pt x="10704" y="11505"/>
                      </a:lnTo>
                      <a:lnTo>
                        <a:pt x="10896" y="8212"/>
                      </a:lnTo>
                      <a:lnTo>
                        <a:pt x="11087" y="7051"/>
                      </a:lnTo>
                      <a:lnTo>
                        <a:pt x="11278" y="10175"/>
                      </a:lnTo>
                      <a:lnTo>
                        <a:pt x="11469" y="8390"/>
                      </a:lnTo>
                      <a:lnTo>
                        <a:pt x="11660" y="5266"/>
                      </a:lnTo>
                      <a:lnTo>
                        <a:pt x="11851" y="3927"/>
                      </a:lnTo>
                      <a:lnTo>
                        <a:pt x="12042" y="0"/>
                      </a:lnTo>
                      <a:lnTo>
                        <a:pt x="12234" y="3124"/>
                      </a:lnTo>
                      <a:lnTo>
                        <a:pt x="12425" y="3302"/>
                      </a:lnTo>
                      <a:lnTo>
                        <a:pt x="12616" y="7498"/>
                      </a:lnTo>
                      <a:lnTo>
                        <a:pt x="12807" y="8122"/>
                      </a:lnTo>
                      <a:lnTo>
                        <a:pt x="12998" y="9640"/>
                      </a:lnTo>
                      <a:lnTo>
                        <a:pt x="13189" y="9907"/>
                      </a:lnTo>
                      <a:lnTo>
                        <a:pt x="13381" y="7765"/>
                      </a:lnTo>
                      <a:lnTo>
                        <a:pt x="13572" y="9104"/>
                      </a:lnTo>
                      <a:lnTo>
                        <a:pt x="13763" y="12764"/>
                      </a:lnTo>
                      <a:lnTo>
                        <a:pt x="13954" y="14906"/>
                      </a:lnTo>
                      <a:lnTo>
                        <a:pt x="14145" y="13121"/>
                      </a:lnTo>
                      <a:lnTo>
                        <a:pt x="14336" y="12228"/>
                      </a:lnTo>
                      <a:lnTo>
                        <a:pt x="14527" y="13478"/>
                      </a:lnTo>
                      <a:lnTo>
                        <a:pt x="14719" y="14460"/>
                      </a:lnTo>
                      <a:lnTo>
                        <a:pt x="14910" y="17940"/>
                      </a:lnTo>
                      <a:lnTo>
                        <a:pt x="15101" y="19279"/>
                      </a:lnTo>
                      <a:lnTo>
                        <a:pt x="15292" y="20350"/>
                      </a:lnTo>
                      <a:lnTo>
                        <a:pt x="15483" y="20797"/>
                      </a:lnTo>
                      <a:lnTo>
                        <a:pt x="15674" y="20350"/>
                      </a:lnTo>
                      <a:lnTo>
                        <a:pt x="15865" y="18922"/>
                      </a:lnTo>
                      <a:lnTo>
                        <a:pt x="16057" y="18833"/>
                      </a:lnTo>
                      <a:lnTo>
                        <a:pt x="16248" y="20886"/>
                      </a:lnTo>
                      <a:lnTo>
                        <a:pt x="16439" y="20261"/>
                      </a:lnTo>
                      <a:lnTo>
                        <a:pt x="16630" y="18744"/>
                      </a:lnTo>
                      <a:lnTo>
                        <a:pt x="16821" y="19636"/>
                      </a:lnTo>
                      <a:lnTo>
                        <a:pt x="17012" y="18298"/>
                      </a:lnTo>
                      <a:lnTo>
                        <a:pt x="17204" y="17137"/>
                      </a:lnTo>
                      <a:lnTo>
                        <a:pt x="17395" y="19012"/>
                      </a:lnTo>
                      <a:lnTo>
                        <a:pt x="17586" y="19458"/>
                      </a:lnTo>
                      <a:lnTo>
                        <a:pt x="17777" y="19101"/>
                      </a:lnTo>
                      <a:lnTo>
                        <a:pt x="17968" y="20440"/>
                      </a:lnTo>
                      <a:lnTo>
                        <a:pt x="18159" y="20618"/>
                      </a:lnTo>
                      <a:lnTo>
                        <a:pt x="18350" y="18565"/>
                      </a:lnTo>
                      <a:lnTo>
                        <a:pt x="18542" y="18030"/>
                      </a:lnTo>
                      <a:lnTo>
                        <a:pt x="18733" y="19815"/>
                      </a:lnTo>
                      <a:lnTo>
                        <a:pt x="18924" y="20975"/>
                      </a:lnTo>
                      <a:lnTo>
                        <a:pt x="19115" y="20886"/>
                      </a:lnTo>
                      <a:lnTo>
                        <a:pt x="19306" y="18387"/>
                      </a:lnTo>
                      <a:lnTo>
                        <a:pt x="19497" y="18565"/>
                      </a:lnTo>
                      <a:lnTo>
                        <a:pt x="19688" y="18744"/>
                      </a:lnTo>
                      <a:lnTo>
                        <a:pt x="19880" y="16602"/>
                      </a:lnTo>
                      <a:lnTo>
                        <a:pt x="20071" y="17583"/>
                      </a:lnTo>
                      <a:lnTo>
                        <a:pt x="20262" y="19726"/>
                      </a:lnTo>
                      <a:lnTo>
                        <a:pt x="20453" y="18744"/>
                      </a:lnTo>
                      <a:lnTo>
                        <a:pt x="20644" y="18744"/>
                      </a:lnTo>
                      <a:lnTo>
                        <a:pt x="20835" y="19636"/>
                      </a:lnTo>
                      <a:lnTo>
                        <a:pt x="21027" y="19190"/>
                      </a:lnTo>
                      <a:lnTo>
                        <a:pt x="21218" y="20172"/>
                      </a:lnTo>
                      <a:lnTo>
                        <a:pt x="21409" y="19636"/>
                      </a:lnTo>
                      <a:lnTo>
                        <a:pt x="21600" y="19190"/>
                      </a:lnTo>
                    </a:path>
                  </a:pathLst>
                </a:custGeom>
                <a:noFill/>
                <a:ln w="22860" cap="rnd">
                  <a:solidFill>
                    <a:srgbClr val="000000"/>
                  </a:solidFill>
                  <a:prstDash val="solid"/>
                  <a:tailEnd type="none"/>
                </a:ln>
                <a:effectLst>
                  <a:outerShdw blurRad="12700" dist="9000" dir="2700000" algn="ctr" rotWithShape="0">
                    <a:srgbClr val="000000">
                      <a:alpha val="22000"/>
                    </a:srgbClr>
                  </a:outerShdw>
                </a:effectLst>
              </p:spPr>
              <p:txBody>
                <a:bodyPr/>
                <a:lstStyle/>
                <a:p/>
              </p:txBody>
            </p:sp>
            <p:sp>
              <p:nvSpPr>
                <p:cNvPr id="41" name="Path 41"/>
                <p:cNvSpPr/>
                <p:nvPr/>
              </p:nvSpPr>
              <p:spPr>
                <a:xfrm>
                  <a:off x="15115699" y="1952625"/>
                  <a:ext cx="952" cy="232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2700">
                  <a:solidFill>
                    <a:srgbClr val="327AA6"/>
                  </a:solidFill>
                  <a:prstDash val="dash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42" name="Path 42"/>
                <p:cNvSpPr/>
                <p:nvPr/>
              </p:nvSpPr>
              <p:spPr>
                <a:xfrm>
                  <a:off x="15690532" y="1952625"/>
                  <a:ext cx="952" cy="232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2700">
                  <a:solidFill>
                    <a:srgbClr val="327AA6"/>
                  </a:solidFill>
                  <a:prstDash val="dash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13268325" y="190500"/>
                  <a:ext cx="3848100" cy="495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640" b="1">
                      <a:solidFill>
                        <a:srgbClr val="327AA6"/>
                      </a:solidFill>
                      <a:latin typeface="Comic Sans MS"/>
                      <a:ea typeface="Times New Roman"/>
                      <a:cs typeface="Times New Roman"/>
                    </a:rPr>
                    <a:t>4  Refine</a:t>
                  </a:r>
                  <a:endParaRPr lang="zh-CN" sz="2640">
                    <a:latin typeface="Comic Sans MS"/>
                  </a:endParaRP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13268325" y="762000"/>
                  <a:ext cx="384810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112">
                      <a:solidFill>
                        <a:srgbClr val="25475E"/>
                      </a:solidFill>
                      <a:latin typeface="Comic Sans MS"/>
                      <a:ea typeface="Times New Roman"/>
                      <a:cs typeface="Times New Roman"/>
                    </a:rPr>
                    <a:t>Review uncertain intervals</a:t>
                  </a:r>
                  <a:endParaRPr lang="zh-CN" sz="2112">
                    <a:latin typeface="Comic Sans MS"/>
                  </a:endParaRPr>
                </a:p>
              </p:txBody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13382625" y="1476375"/>
                  <a:ext cx="3667125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112">
                      <a:solidFill>
                        <a:srgbClr val="327AA6"/>
                      </a:solidFill>
                      <a:latin typeface="Comic Sans MS"/>
                      <a:ea typeface="Times New Roman"/>
                      <a:cs typeface="Times New Roman"/>
                    </a:rPr>
                    <a:t>Refined interval</a:t>
                  </a:r>
                  <a:endParaRPr lang="zh-CN" sz="2112">
                    <a:latin typeface="Comic Sans MS"/>
                  </a:endParaRPr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16097250" y="4324350"/>
                  <a:ext cx="762000" cy="342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1936">
                      <a:solidFill>
                        <a:srgbClr val="25475E"/>
                      </a:solidFill>
                      <a:latin typeface="Comic Sans MS"/>
                      <a:ea typeface="Times New Roman"/>
                      <a:cs typeface="Times New Roman"/>
                    </a:rPr>
                    <a:t>Time</a:t>
                  </a:r>
                  <a:endParaRPr lang="zh-CN" sz="1936">
                    <a:latin typeface="Comic Sans MS"/>
                  </a:endParaRPr>
                </a:p>
              </p:txBody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13382625" y="4829175"/>
                  <a:ext cx="3667125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>
                      <a:solidFill>
                        <a:srgbClr val="25475E"/>
                      </a:solidFill>
                      <a:latin typeface="Comic Sans MS"/>
                      <a:ea typeface="Times New Roman"/>
                      <a:cs typeface="Times New Roman"/>
                    </a:rPr>
                    <a:t>Accept or revise</a:t>
                  </a:r>
                  <a:endParaRPr lang="zh-CN" sz="2200">
                    <a:latin typeface="Comic Sans MS"/>
                  </a:endParaRPr>
                </a:p>
              </p:txBody>
            </p:sp>
          </p:grpSp>
          <p:grpSp>
            <p:nvGrpSpPr>
              <p:cNvPr id="1004" name="Flow and revision"/>
              <p:cNvGrpSpPr/>
              <p:nvPr/>
            </p:nvGrpSpPr>
            <p:grpSpPr>
              <a:xfrm>
                <a:off x="285750" y="3190875"/>
                <a:ext cx="16906875" cy="2982277"/>
                <a:chOff x="285750" y="3190875"/>
                <a:chExt cx="16906875" cy="2982277"/>
              </a:xfrm>
            </p:grpSpPr>
            <p:sp>
              <p:nvSpPr>
                <p:cNvPr id="48" name="Path 48"/>
                <p:cNvSpPr/>
                <p:nvPr/>
              </p:nvSpPr>
              <p:spPr>
                <a:xfrm>
                  <a:off x="4114800" y="3190875"/>
                  <a:ext cx="476250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19050">
                  <a:solidFill>
                    <a:srgbClr val="25475E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49" name="Path 49"/>
                <p:cNvSpPr/>
                <p:nvPr/>
              </p:nvSpPr>
              <p:spPr>
                <a:xfrm>
                  <a:off x="8429625" y="3190875"/>
                  <a:ext cx="504825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19050">
                  <a:solidFill>
                    <a:srgbClr val="25475E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50" name="Path 50"/>
                <p:cNvSpPr/>
                <p:nvPr/>
              </p:nvSpPr>
              <p:spPr>
                <a:xfrm>
                  <a:off x="12763500" y="3190875"/>
                  <a:ext cx="466725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19050">
                  <a:solidFill>
                    <a:srgbClr val="25475E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51" name="Path 51"/>
                <p:cNvSpPr/>
                <p:nvPr/>
              </p:nvSpPr>
              <p:spPr>
                <a:xfrm>
                  <a:off x="8172450" y="5276850"/>
                  <a:ext cx="7115175" cy="504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21600" y="2445"/>
                      </a:moveTo>
                      <a:lnTo>
                        <a:pt x="21600" y="21600"/>
                      </a:lnTo>
                      <a:lnTo>
                        <a:pt x="1128" y="21600"/>
                      </a:lnTo>
                      <a:lnTo>
                        <a:pt x="1128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7780">
                  <a:solidFill>
                    <a:srgbClr val="68538F"/>
                  </a:solidFill>
                  <a:prstDash val="solid"/>
                  <a:tailEnd type="triangle"/>
                </a:ln>
              </p:spPr>
              <p:txBody>
                <a:bodyPr/>
                <a:lstStyle/>
                <a:p/>
              </p:txBody>
            </p:sp>
            <p:sp>
              <p:nvSpPr>
                <p:cNvPr id="52" name="Path 52"/>
                <p:cNvSpPr/>
                <p:nvPr/>
              </p:nvSpPr>
              <p:spPr>
                <a:xfrm>
                  <a:off x="285750" y="6172200"/>
                  <a:ext cx="16906875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8890">
                  <a:solidFill>
                    <a:srgbClr val="B7C4CC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53" name="TextBox 53"/>
                <p:cNvSpPr txBox="1"/>
                <p:nvPr/>
              </p:nvSpPr>
              <p:spPr>
                <a:xfrm>
                  <a:off x="10325100" y="5324475"/>
                  <a:ext cx="29527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ctr"/>
                  <a:r>
                    <a:rPr lang="zh-CN" sz="2112">
                      <a:solidFill>
                        <a:srgbClr val="68538F"/>
                      </a:solidFill>
                      <a:latin typeface="Comic Sans MS"/>
                      <a:ea typeface="Times New Roman"/>
                      <a:cs typeface="Times New Roman"/>
                    </a:rPr>
                    <a:t>Update evidence</a:t>
                  </a:r>
                  <a:endParaRPr lang="zh-CN" sz="2112">
                    <a:latin typeface="Comic Sans MS"/>
                  </a:endParaRPr>
                </a:p>
              </p:txBody>
            </p:sp>
          </p:grpSp>
        </p:grpSp>
        <p:grpSp>
          <p:nvGrpSpPr>
            <p:cNvPr id="1010" name="Detector training signals"/>
            <p:cNvGrpSpPr/>
            <p:nvPr/>
          </p:nvGrpSpPr>
          <p:grpSpPr>
            <a:xfrm>
              <a:off x="342900" y="6505575"/>
              <a:ext cx="16668750" cy="1381125"/>
              <a:chOff x="342900" y="6505575"/>
              <a:chExt cx="16668750" cy="1381125"/>
            </a:xfrm>
          </p:grpSpPr>
          <p:grpSp>
            <p:nvGrpSpPr>
              <p:cNvPr id="1005" name="Detector training"/>
              <p:cNvGrpSpPr/>
              <p:nvPr/>
            </p:nvGrpSpPr>
            <p:grpSpPr>
              <a:xfrm>
                <a:off x="342900" y="6505575"/>
                <a:ext cx="3524250" cy="942975"/>
                <a:chOff x="342900" y="6505575"/>
                <a:chExt cx="3524250" cy="942975"/>
              </a:xfrm>
            </p:grpSpPr>
            <p:sp>
              <p:nvSpPr>
                <p:cNvPr id="54" name="TextBox 54"/>
                <p:cNvSpPr txBox="1"/>
                <p:nvPr/>
              </p:nvSpPr>
              <p:spPr>
                <a:xfrm>
                  <a:off x="342900" y="6505575"/>
                  <a:ext cx="3476625" cy="4476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464" b="1">
                      <a:solidFill>
                        <a:srgbClr val="68538F"/>
                      </a:solidFill>
                      <a:latin typeface="Comic Sans MS"/>
                      <a:ea typeface="Times New Roman"/>
                      <a:cs typeface="Times New Roman"/>
                    </a:rPr>
                    <a:t>Detector training</a:t>
                  </a:r>
                  <a:endParaRPr lang="zh-CN" sz="2464">
                    <a:latin typeface="Comic Sans MS"/>
                  </a:endParaRPr>
                </a:p>
              </p:txBody>
            </p:sp>
            <p:sp>
              <p:nvSpPr>
                <p:cNvPr id="55" name="TextBox 55"/>
                <p:cNvSpPr txBox="1"/>
                <p:nvPr/>
              </p:nvSpPr>
              <p:spPr>
                <a:xfrm>
                  <a:off x="342900" y="7029450"/>
                  <a:ext cx="3524250" cy="419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112">
                      <a:solidFill>
                        <a:srgbClr val="25475E"/>
                      </a:solidFill>
                      <a:latin typeface="Comic Sans MS"/>
                      <a:ea typeface="Times New Roman"/>
                      <a:cs typeface="Times New Roman"/>
                    </a:rPr>
                    <a:t>SFT initialization → RL</a:t>
                  </a:r>
                  <a:endParaRPr lang="zh-CN" sz="2112">
                    <a:latin typeface="Comic Sans MS"/>
                  </a:endParaRPr>
                </a:p>
              </p:txBody>
            </p:sp>
          </p:grpSp>
          <p:grpSp>
            <p:nvGrpSpPr>
              <p:cNvPr id="1006" name="Parse reward"/>
              <p:cNvGrpSpPr/>
              <p:nvPr/>
            </p:nvGrpSpPr>
            <p:grpSpPr>
              <a:xfrm>
                <a:off x="4333875" y="6543675"/>
                <a:ext cx="4143375" cy="1047750"/>
                <a:chOff x="4333875" y="6543675"/>
                <a:chExt cx="4143375" cy="1047750"/>
              </a:xfrm>
            </p:grpSpPr>
            <p:pic>
              <p:nvPicPr>
                <p:cNvPr id="56" name="parsed-document"/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333875" y="6543675"/>
                  <a:ext cx="952500" cy="781050"/>
                </a:xfrm>
                <a:prstGeom prst="rect">
                  <a:avLst/>
                </a:prstGeom>
              </p:spPr>
            </p:pic>
            <p:sp>
              <p:nvSpPr>
                <p:cNvPr id="57" name="TextBox 57"/>
                <p:cNvSpPr txBox="1"/>
                <p:nvPr/>
              </p:nvSpPr>
              <p:spPr>
                <a:xfrm>
                  <a:off x="5524500" y="6724650"/>
                  <a:ext cx="2857500" cy="4286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>
                      <a:solidFill>
                        <a:srgbClr val="25475E"/>
                      </a:solidFill>
                      <a:latin typeface="Comic Sans MS"/>
                      <a:ea typeface="Times New Roman"/>
                      <a:cs typeface="Times New Roman"/>
                    </a:rPr>
                    <a:t>Parse validity</a:t>
                  </a:r>
                  <a:endParaRPr lang="zh-CN" sz="2200">
                    <a:latin typeface="Comic Sans MS"/>
                  </a:endParaRPr>
                </a:p>
              </p:txBody>
            </p:sp>
            <p:sp>
              <p:nvSpPr>
                <p:cNvPr id="58" name="TextBox 58"/>
                <p:cNvSpPr txBox="1"/>
                <p:nvPr/>
              </p:nvSpPr>
              <p:spPr>
                <a:xfrm>
                  <a:off x="5524500" y="7210425"/>
                  <a:ext cx="295275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024">
                      <a:solidFill>
                        <a:srgbClr val="25475E"/>
                      </a:solidFill>
                      <a:latin typeface="Comic Sans MS"/>
                      <a:ea typeface="Times New Roman"/>
                      <a:cs typeface="Times New Roman"/>
                    </a:rPr>
                    <a:t>Valid output format</a:t>
                  </a:r>
                  <a:endParaRPr lang="zh-CN" sz="2024">
                    <a:latin typeface="Comic Sans MS"/>
                  </a:endParaRPr>
                </a:p>
              </p:txBody>
            </p:sp>
          </p:grpSp>
          <p:grpSp>
            <p:nvGrpSpPr>
              <p:cNvPr id="1007" name="Interval reward"/>
              <p:cNvGrpSpPr/>
              <p:nvPr/>
            </p:nvGrpSpPr>
            <p:grpSpPr>
              <a:xfrm>
                <a:off x="8820150" y="6515100"/>
                <a:ext cx="3238500" cy="1371600"/>
                <a:chOff x="8820150" y="6515100"/>
                <a:chExt cx="3238500" cy="1371600"/>
              </a:xfrm>
            </p:grpSpPr>
            <p:sp>
              <p:nvSpPr>
                <p:cNvPr id="59" name="Rect 59"/>
                <p:cNvSpPr/>
                <p:nvPr/>
              </p:nvSpPr>
              <p:spPr>
                <a:xfrm>
                  <a:off x="9620250" y="6515100"/>
                  <a:ext cx="1000125" cy="695325"/>
                </a:xfrm>
                <a:prstGeom prst="rect">
                  <a:avLst/>
                </a:prstGeom>
                <a:solidFill>
                  <a:srgbClr val="E9EFF5"/>
                </a:solidFill>
                <a:ln>
                  <a:noFill/>
                </a:ln>
              </p:spPr>
              <p:txBody>
                <a:bodyPr/>
                <a:lstStyle/>
                <a:p/>
              </p:txBody>
            </p:sp>
            <p:sp>
              <p:nvSpPr>
                <p:cNvPr id="60" name="Path 60"/>
                <p:cNvSpPr/>
                <p:nvPr/>
              </p:nvSpPr>
              <p:spPr>
                <a:xfrm>
                  <a:off x="9010650" y="6686550"/>
                  <a:ext cx="1609725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50800">
                  <a:solidFill>
                    <a:srgbClr val="327AA6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61" name="Path 61"/>
                <p:cNvSpPr/>
                <p:nvPr/>
              </p:nvSpPr>
              <p:spPr>
                <a:xfrm>
                  <a:off x="9620250" y="7038975"/>
                  <a:ext cx="1743075" cy="9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21600" y="0"/>
                      </a:lnTo>
                    </a:path>
                  </a:pathLst>
                </a:custGeom>
                <a:noFill/>
                <a:ln w="50800">
                  <a:solidFill>
                    <a:srgbClr val="68538F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62" name="Path 62"/>
                <p:cNvSpPr/>
                <p:nvPr/>
              </p:nvSpPr>
              <p:spPr>
                <a:xfrm>
                  <a:off x="9010650" y="6591300"/>
                  <a:ext cx="952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7780">
                  <a:solidFill>
                    <a:srgbClr val="327AA6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63" name="Path 63"/>
                <p:cNvSpPr/>
                <p:nvPr/>
              </p:nvSpPr>
              <p:spPr>
                <a:xfrm>
                  <a:off x="10620375" y="6591300"/>
                  <a:ext cx="952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7780">
                  <a:solidFill>
                    <a:srgbClr val="327AA6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64" name="Path 64"/>
                <p:cNvSpPr/>
                <p:nvPr/>
              </p:nvSpPr>
              <p:spPr>
                <a:xfrm>
                  <a:off x="9620250" y="6943725"/>
                  <a:ext cx="952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7780">
                  <a:solidFill>
                    <a:srgbClr val="68538F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65" name="Path 65"/>
                <p:cNvSpPr/>
                <p:nvPr/>
              </p:nvSpPr>
              <p:spPr>
                <a:xfrm>
                  <a:off x="11363325" y="6943725"/>
                  <a:ext cx="952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fill="none">
                      <a:moveTo>
                        <a:pt x="0" y="0"/>
                      </a:moveTo>
                      <a:lnTo>
                        <a:pt x="0" y="21600"/>
                      </a:lnTo>
                    </a:path>
                  </a:pathLst>
                </a:custGeom>
                <a:noFill/>
                <a:ln w="17780">
                  <a:solidFill>
                    <a:srgbClr val="68538F"/>
                  </a:solidFill>
                  <a:prstDash val="solid"/>
                  <a:tailEnd type="none"/>
                </a:ln>
              </p:spPr>
              <p:txBody>
                <a:bodyPr/>
                <a:lstStyle/>
                <a:p/>
              </p:txBody>
            </p:sp>
            <p:sp>
              <p:nvSpPr>
                <p:cNvPr id="66" name="TextBox 66"/>
                <p:cNvSpPr txBox="1"/>
                <p:nvPr/>
              </p:nvSpPr>
              <p:spPr>
                <a:xfrm>
                  <a:off x="8820150" y="7486650"/>
                  <a:ext cx="323850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>
                      <a:solidFill>
                        <a:srgbClr val="25475E"/>
                      </a:solidFill>
                      <a:latin typeface="Comic Sans MS"/>
                      <a:ea typeface="Times New Roman"/>
                      <a:cs typeface="Times New Roman"/>
                    </a:rPr>
                    <a:t>Interval agreement</a:t>
                  </a:r>
                  <a:endParaRPr lang="zh-CN" sz="2200">
                    <a:latin typeface="Comic Sans MS"/>
                  </a:endParaRPr>
                </a:p>
              </p:txBody>
            </p:sp>
          </p:grpSp>
          <p:grpSp>
            <p:nvGrpSpPr>
              <p:cNvPr id="1008" name="False positive penalty"/>
              <p:cNvGrpSpPr/>
              <p:nvPr/>
            </p:nvGrpSpPr>
            <p:grpSpPr>
              <a:xfrm>
                <a:off x="12725400" y="6515100"/>
                <a:ext cx="4286250" cy="1371600"/>
                <a:chOff x="12725400" y="6515100"/>
                <a:chExt cx="4286250" cy="1371600"/>
              </a:xfrm>
            </p:grpSpPr>
            <p:sp>
              <p:nvSpPr>
                <p:cNvPr id="50004" name="false-alert-editable-waveform"/>
                <p:cNvSpPr/>
                <p:nvPr/>
              </p:nvSpPr>
              <p:spPr>
                <a:xfrm>
                  <a:off x="12887325" y="6515100"/>
                  <a:ext cx="3362325" cy="9810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4500" h="10000" fill="none" stroke="1">
                      <a:moveTo>
                        <a:pt x="900" y="8700"/>
                      </a:moveTo>
                      <a:lnTo>
                        <a:pt x="1000" y="8650"/>
                      </a:lnTo>
                      <a:lnTo>
                        <a:pt x="1100" y="8650"/>
                      </a:lnTo>
                      <a:lnTo>
                        <a:pt x="1200" y="8550"/>
                      </a:lnTo>
                      <a:lnTo>
                        <a:pt x="1300" y="8550"/>
                      </a:lnTo>
                      <a:lnTo>
                        <a:pt x="1400" y="8450"/>
                      </a:lnTo>
                      <a:lnTo>
                        <a:pt x="1500" y="8350"/>
                      </a:lnTo>
                      <a:lnTo>
                        <a:pt x="1600" y="8350"/>
                      </a:lnTo>
                      <a:lnTo>
                        <a:pt x="1700" y="8250"/>
                      </a:lnTo>
                      <a:lnTo>
                        <a:pt x="1800" y="8250"/>
                      </a:lnTo>
                      <a:lnTo>
                        <a:pt x="1900" y="8250"/>
                      </a:lnTo>
                      <a:lnTo>
                        <a:pt x="2000" y="8250"/>
                      </a:lnTo>
                      <a:lnTo>
                        <a:pt x="2100" y="8300"/>
                      </a:lnTo>
                      <a:lnTo>
                        <a:pt x="2200" y="8300"/>
                      </a:lnTo>
                      <a:lnTo>
                        <a:pt x="2300" y="8350"/>
                      </a:lnTo>
                      <a:lnTo>
                        <a:pt x="2400" y="8350"/>
                      </a:lnTo>
                      <a:lnTo>
                        <a:pt x="2500" y="8400"/>
                      </a:lnTo>
                      <a:lnTo>
                        <a:pt x="2600" y="8400"/>
                      </a:lnTo>
                      <a:lnTo>
                        <a:pt x="2700" y="8450"/>
                      </a:lnTo>
                      <a:lnTo>
                        <a:pt x="2800" y="8350"/>
                      </a:lnTo>
                      <a:lnTo>
                        <a:pt x="2900" y="8300"/>
                      </a:lnTo>
                      <a:lnTo>
                        <a:pt x="3000" y="8200"/>
                      </a:lnTo>
                      <a:lnTo>
                        <a:pt x="3100" y="8100"/>
                      </a:lnTo>
                      <a:lnTo>
                        <a:pt x="3200" y="8000"/>
                      </a:lnTo>
                      <a:lnTo>
                        <a:pt x="3300" y="7950"/>
                      </a:lnTo>
                      <a:lnTo>
                        <a:pt x="3400" y="7850"/>
                      </a:lnTo>
                      <a:lnTo>
                        <a:pt x="3500" y="7900"/>
                      </a:lnTo>
                      <a:lnTo>
                        <a:pt x="3600" y="8000"/>
                      </a:lnTo>
                      <a:lnTo>
                        <a:pt x="3700" y="8100"/>
                      </a:lnTo>
                      <a:lnTo>
                        <a:pt x="3800" y="8200"/>
                      </a:lnTo>
                      <a:lnTo>
                        <a:pt x="3900" y="8350"/>
                      </a:lnTo>
                      <a:lnTo>
                        <a:pt x="4000" y="8500"/>
                      </a:lnTo>
                      <a:lnTo>
                        <a:pt x="4100" y="8550"/>
                      </a:lnTo>
                      <a:lnTo>
                        <a:pt x="4200" y="8650"/>
                      </a:lnTo>
                      <a:lnTo>
                        <a:pt x="4300" y="8700"/>
                      </a:lnTo>
                      <a:lnTo>
                        <a:pt x="4400" y="8700"/>
                      </a:lnTo>
                      <a:lnTo>
                        <a:pt x="4500" y="8650"/>
                      </a:lnTo>
                      <a:lnTo>
                        <a:pt x="4600" y="8650"/>
                      </a:lnTo>
                      <a:lnTo>
                        <a:pt x="4700" y="8600"/>
                      </a:lnTo>
                      <a:lnTo>
                        <a:pt x="4800" y="8600"/>
                      </a:lnTo>
                      <a:lnTo>
                        <a:pt x="4900" y="8550"/>
                      </a:lnTo>
                      <a:lnTo>
                        <a:pt x="5000" y="8500"/>
                      </a:lnTo>
                      <a:lnTo>
                        <a:pt x="5100" y="8500"/>
                      </a:lnTo>
                      <a:lnTo>
                        <a:pt x="5200" y="8550"/>
                      </a:lnTo>
                      <a:lnTo>
                        <a:pt x="5300" y="8600"/>
                      </a:lnTo>
                      <a:lnTo>
                        <a:pt x="5400" y="8650"/>
                      </a:lnTo>
                      <a:lnTo>
                        <a:pt x="5500" y="8650"/>
                      </a:lnTo>
                      <a:lnTo>
                        <a:pt x="5600" y="8700"/>
                      </a:lnTo>
                      <a:lnTo>
                        <a:pt x="5700" y="8700"/>
                      </a:lnTo>
                      <a:lnTo>
                        <a:pt x="5800" y="8750"/>
                      </a:lnTo>
                      <a:lnTo>
                        <a:pt x="5900" y="8800"/>
                      </a:lnTo>
                      <a:lnTo>
                        <a:pt x="6000" y="8800"/>
                      </a:lnTo>
                      <a:lnTo>
                        <a:pt x="6100" y="8750"/>
                      </a:lnTo>
                      <a:lnTo>
                        <a:pt x="6200" y="8700"/>
                      </a:lnTo>
                      <a:lnTo>
                        <a:pt x="6300" y="8650"/>
                      </a:lnTo>
                      <a:lnTo>
                        <a:pt x="6400" y="8550"/>
                      </a:lnTo>
                      <a:lnTo>
                        <a:pt x="6500" y="8500"/>
                      </a:lnTo>
                      <a:lnTo>
                        <a:pt x="6600" y="8350"/>
                      </a:lnTo>
                      <a:lnTo>
                        <a:pt x="6700" y="8250"/>
                      </a:lnTo>
                      <a:lnTo>
                        <a:pt x="6800" y="8050"/>
                      </a:lnTo>
                      <a:lnTo>
                        <a:pt x="6900" y="7950"/>
                      </a:lnTo>
                      <a:lnTo>
                        <a:pt x="7000" y="7850"/>
                      </a:lnTo>
                      <a:lnTo>
                        <a:pt x="7100" y="7650"/>
                      </a:lnTo>
                      <a:lnTo>
                        <a:pt x="7200" y="7550"/>
                      </a:lnTo>
                      <a:lnTo>
                        <a:pt x="7300" y="7500"/>
                      </a:lnTo>
                      <a:lnTo>
                        <a:pt x="7400" y="7550"/>
                      </a:lnTo>
                      <a:lnTo>
                        <a:pt x="7500" y="7700"/>
                      </a:lnTo>
                      <a:lnTo>
                        <a:pt x="7600" y="7850"/>
                      </a:lnTo>
                      <a:lnTo>
                        <a:pt x="7700" y="8050"/>
                      </a:lnTo>
                      <a:lnTo>
                        <a:pt x="7800" y="8200"/>
                      </a:lnTo>
                      <a:lnTo>
                        <a:pt x="7900" y="8350"/>
                      </a:lnTo>
                      <a:lnTo>
                        <a:pt x="8000" y="8550"/>
                      </a:lnTo>
                      <a:lnTo>
                        <a:pt x="8100" y="8650"/>
                      </a:lnTo>
                      <a:lnTo>
                        <a:pt x="8200" y="8800"/>
                      </a:lnTo>
                      <a:lnTo>
                        <a:pt x="8300" y="8800"/>
                      </a:lnTo>
                      <a:lnTo>
                        <a:pt x="8400" y="8650"/>
                      </a:lnTo>
                      <a:lnTo>
                        <a:pt x="8500" y="8500"/>
                      </a:lnTo>
                      <a:lnTo>
                        <a:pt x="8600" y="8350"/>
                      </a:lnTo>
                      <a:lnTo>
                        <a:pt x="8700" y="8150"/>
                      </a:lnTo>
                      <a:lnTo>
                        <a:pt x="8800" y="8000"/>
                      </a:lnTo>
                      <a:lnTo>
                        <a:pt x="8900" y="7850"/>
                      </a:lnTo>
                      <a:lnTo>
                        <a:pt x="9000" y="7650"/>
                      </a:lnTo>
                      <a:lnTo>
                        <a:pt x="9100" y="7550"/>
                      </a:lnTo>
                      <a:lnTo>
                        <a:pt x="9200" y="7400"/>
                      </a:lnTo>
                      <a:lnTo>
                        <a:pt x="9300" y="7300"/>
                      </a:lnTo>
                      <a:lnTo>
                        <a:pt x="9400" y="7300"/>
                      </a:lnTo>
                      <a:lnTo>
                        <a:pt x="9500" y="7400"/>
                      </a:lnTo>
                      <a:lnTo>
                        <a:pt x="9600" y="7550"/>
                      </a:lnTo>
                      <a:lnTo>
                        <a:pt x="9700" y="7700"/>
                      </a:lnTo>
                      <a:lnTo>
                        <a:pt x="9800" y="7850"/>
                      </a:lnTo>
                      <a:lnTo>
                        <a:pt x="9900" y="8000"/>
                      </a:lnTo>
                      <a:lnTo>
                        <a:pt x="10000" y="8150"/>
                      </a:lnTo>
                      <a:lnTo>
                        <a:pt x="10100" y="8250"/>
                      </a:lnTo>
                      <a:lnTo>
                        <a:pt x="10200" y="8400"/>
                      </a:lnTo>
                      <a:lnTo>
                        <a:pt x="10300" y="8450"/>
                      </a:lnTo>
                      <a:lnTo>
                        <a:pt x="10400" y="8400"/>
                      </a:lnTo>
                      <a:lnTo>
                        <a:pt x="10500" y="8300"/>
                      </a:lnTo>
                      <a:lnTo>
                        <a:pt x="10600" y="8200"/>
                      </a:lnTo>
                      <a:lnTo>
                        <a:pt x="10700" y="8100"/>
                      </a:lnTo>
                      <a:lnTo>
                        <a:pt x="10800" y="8000"/>
                      </a:lnTo>
                      <a:lnTo>
                        <a:pt x="10900" y="7900"/>
                      </a:lnTo>
                      <a:lnTo>
                        <a:pt x="11000" y="7800"/>
                      </a:lnTo>
                      <a:lnTo>
                        <a:pt x="11100" y="7700"/>
                      </a:lnTo>
                      <a:lnTo>
                        <a:pt x="11200" y="7600"/>
                      </a:lnTo>
                      <a:lnTo>
                        <a:pt x="11300" y="7500"/>
                      </a:lnTo>
                      <a:lnTo>
                        <a:pt x="11400" y="7400"/>
                      </a:lnTo>
                      <a:lnTo>
                        <a:pt x="11500" y="7300"/>
                      </a:lnTo>
                      <a:lnTo>
                        <a:pt x="11600" y="7300"/>
                      </a:lnTo>
                      <a:lnTo>
                        <a:pt x="11700" y="7400"/>
                      </a:lnTo>
                      <a:lnTo>
                        <a:pt x="11800" y="7550"/>
                      </a:lnTo>
                      <a:lnTo>
                        <a:pt x="11900" y="7750"/>
                      </a:lnTo>
                      <a:lnTo>
                        <a:pt x="12000" y="7850"/>
                      </a:lnTo>
                      <a:lnTo>
                        <a:pt x="12100" y="8000"/>
                      </a:lnTo>
                      <a:lnTo>
                        <a:pt x="12200" y="8100"/>
                      </a:lnTo>
                      <a:lnTo>
                        <a:pt x="12300" y="8050"/>
                      </a:lnTo>
                      <a:lnTo>
                        <a:pt x="12400" y="8050"/>
                      </a:lnTo>
                      <a:lnTo>
                        <a:pt x="12500" y="7950"/>
                      </a:lnTo>
                      <a:lnTo>
                        <a:pt x="12600" y="7950"/>
                      </a:lnTo>
                      <a:lnTo>
                        <a:pt x="12700" y="7950"/>
                      </a:lnTo>
                      <a:lnTo>
                        <a:pt x="12800" y="8000"/>
                      </a:lnTo>
                      <a:lnTo>
                        <a:pt x="12900" y="8150"/>
                      </a:lnTo>
                      <a:lnTo>
                        <a:pt x="13000" y="8350"/>
                      </a:lnTo>
                      <a:lnTo>
                        <a:pt x="13100" y="8550"/>
                      </a:lnTo>
                      <a:lnTo>
                        <a:pt x="13200" y="8650"/>
                      </a:lnTo>
                      <a:lnTo>
                        <a:pt x="13300" y="8800"/>
                      </a:lnTo>
                      <a:lnTo>
                        <a:pt x="13400" y="8900"/>
                      </a:lnTo>
                      <a:lnTo>
                        <a:pt x="13500" y="8850"/>
                      </a:lnTo>
                      <a:lnTo>
                        <a:pt x="13600" y="8700"/>
                      </a:lnTo>
                      <a:lnTo>
                        <a:pt x="13700" y="8600"/>
                      </a:lnTo>
                      <a:lnTo>
                        <a:pt x="13800" y="8450"/>
                      </a:lnTo>
                      <a:lnTo>
                        <a:pt x="13900" y="8300"/>
                      </a:lnTo>
                      <a:lnTo>
                        <a:pt x="14000" y="8150"/>
                      </a:lnTo>
                      <a:lnTo>
                        <a:pt x="14100" y="8050"/>
                      </a:lnTo>
                      <a:lnTo>
                        <a:pt x="14200" y="8000"/>
                      </a:lnTo>
                      <a:lnTo>
                        <a:pt x="14300" y="8050"/>
                      </a:lnTo>
                      <a:lnTo>
                        <a:pt x="14400" y="8050"/>
                      </a:lnTo>
                      <a:lnTo>
                        <a:pt x="14500" y="8150"/>
                      </a:lnTo>
                      <a:lnTo>
                        <a:pt x="14600" y="8250"/>
                      </a:lnTo>
                      <a:lnTo>
                        <a:pt x="14700" y="8300"/>
                      </a:lnTo>
                      <a:lnTo>
                        <a:pt x="14800" y="8350"/>
                      </a:lnTo>
                      <a:lnTo>
                        <a:pt x="14900" y="8250"/>
                      </a:lnTo>
                      <a:lnTo>
                        <a:pt x="15000" y="8100"/>
                      </a:lnTo>
                      <a:lnTo>
                        <a:pt x="15100" y="8000"/>
                      </a:lnTo>
                      <a:lnTo>
                        <a:pt x="15200" y="7850"/>
                      </a:lnTo>
                      <a:lnTo>
                        <a:pt x="15300" y="7650"/>
                      </a:lnTo>
                      <a:lnTo>
                        <a:pt x="15400" y="7550"/>
                      </a:lnTo>
                      <a:lnTo>
                        <a:pt x="15500" y="7350"/>
                      </a:lnTo>
                      <a:lnTo>
                        <a:pt x="15600" y="7300"/>
                      </a:lnTo>
                      <a:lnTo>
                        <a:pt x="15700" y="7350"/>
                      </a:lnTo>
                      <a:lnTo>
                        <a:pt x="15800" y="7550"/>
                      </a:lnTo>
                      <a:lnTo>
                        <a:pt x="15900" y="7700"/>
                      </a:lnTo>
                      <a:lnTo>
                        <a:pt x="16000" y="7950"/>
                      </a:lnTo>
                      <a:lnTo>
                        <a:pt x="16100" y="8150"/>
                      </a:lnTo>
                      <a:lnTo>
                        <a:pt x="16200" y="8350"/>
                      </a:lnTo>
                      <a:lnTo>
                        <a:pt x="16300" y="8550"/>
                      </a:lnTo>
                      <a:lnTo>
                        <a:pt x="16400" y="8750"/>
                      </a:lnTo>
                      <a:lnTo>
                        <a:pt x="16500" y="8950"/>
                      </a:lnTo>
                      <a:lnTo>
                        <a:pt x="16600" y="9050"/>
                      </a:lnTo>
                      <a:lnTo>
                        <a:pt x="16700" y="9100"/>
                      </a:lnTo>
                      <a:lnTo>
                        <a:pt x="16800" y="8950"/>
                      </a:lnTo>
                      <a:lnTo>
                        <a:pt x="16900" y="8800"/>
                      </a:lnTo>
                      <a:lnTo>
                        <a:pt x="17000" y="8800"/>
                      </a:lnTo>
                      <a:lnTo>
                        <a:pt x="17100" y="8750"/>
                      </a:lnTo>
                      <a:lnTo>
                        <a:pt x="17200" y="8700"/>
                      </a:lnTo>
                      <a:lnTo>
                        <a:pt x="17400" y="8250"/>
                      </a:lnTo>
                      <a:lnTo>
                        <a:pt x="17500" y="8050"/>
                      </a:lnTo>
                      <a:lnTo>
                        <a:pt x="17600" y="7850"/>
                      </a:lnTo>
                      <a:lnTo>
                        <a:pt x="17700" y="7700"/>
                      </a:lnTo>
                      <a:lnTo>
                        <a:pt x="17800" y="7750"/>
                      </a:lnTo>
                      <a:lnTo>
                        <a:pt x="17900" y="7800"/>
                      </a:lnTo>
                      <a:lnTo>
                        <a:pt x="18000" y="7500"/>
                      </a:lnTo>
                      <a:lnTo>
                        <a:pt x="18100" y="7250"/>
                      </a:lnTo>
                      <a:lnTo>
                        <a:pt x="18200" y="6800"/>
                      </a:lnTo>
                      <a:lnTo>
                        <a:pt x="18300" y="6300"/>
                      </a:lnTo>
                      <a:lnTo>
                        <a:pt x="18400" y="5800"/>
                      </a:lnTo>
                      <a:lnTo>
                        <a:pt x="18500" y="5150"/>
                      </a:lnTo>
                      <a:lnTo>
                        <a:pt x="18600" y="4650"/>
                      </a:lnTo>
                      <a:lnTo>
                        <a:pt x="18700" y="4050"/>
                      </a:lnTo>
                      <a:lnTo>
                        <a:pt x="18800" y="3700"/>
                      </a:lnTo>
                      <a:lnTo>
                        <a:pt x="18900" y="3350"/>
                      </a:lnTo>
                      <a:lnTo>
                        <a:pt x="19000" y="3350"/>
                      </a:lnTo>
                      <a:lnTo>
                        <a:pt x="19100" y="3650"/>
                      </a:lnTo>
                      <a:lnTo>
                        <a:pt x="19200" y="4000"/>
                      </a:lnTo>
                      <a:lnTo>
                        <a:pt x="19300" y="4450"/>
                      </a:lnTo>
                      <a:lnTo>
                        <a:pt x="19400" y="4900"/>
                      </a:lnTo>
                      <a:lnTo>
                        <a:pt x="19500" y="5350"/>
                      </a:lnTo>
                      <a:lnTo>
                        <a:pt x="19600" y="5800"/>
                      </a:lnTo>
                      <a:lnTo>
                        <a:pt x="19700" y="6200"/>
                      </a:lnTo>
                      <a:lnTo>
                        <a:pt x="19800" y="6750"/>
                      </a:lnTo>
                      <a:lnTo>
                        <a:pt x="19900" y="7150"/>
                      </a:lnTo>
                      <a:lnTo>
                        <a:pt x="20000" y="7450"/>
                      </a:lnTo>
                      <a:lnTo>
                        <a:pt x="20100" y="7650"/>
                      </a:lnTo>
                      <a:lnTo>
                        <a:pt x="20200" y="7650"/>
                      </a:lnTo>
                      <a:lnTo>
                        <a:pt x="20300" y="7500"/>
                      </a:lnTo>
                      <a:lnTo>
                        <a:pt x="20400" y="7450"/>
                      </a:lnTo>
                      <a:lnTo>
                        <a:pt x="20500" y="7400"/>
                      </a:lnTo>
                      <a:lnTo>
                        <a:pt x="20600" y="7500"/>
                      </a:lnTo>
                      <a:lnTo>
                        <a:pt x="20700" y="7550"/>
                      </a:lnTo>
                      <a:lnTo>
                        <a:pt x="20800" y="7550"/>
                      </a:lnTo>
                      <a:lnTo>
                        <a:pt x="20900" y="7600"/>
                      </a:lnTo>
                      <a:lnTo>
                        <a:pt x="21400" y="7400"/>
                      </a:lnTo>
                      <a:lnTo>
                        <a:pt x="21500" y="7450"/>
                      </a:lnTo>
                      <a:lnTo>
                        <a:pt x="21600" y="7500"/>
                      </a:lnTo>
                      <a:lnTo>
                        <a:pt x="21700" y="7500"/>
                      </a:lnTo>
                      <a:lnTo>
                        <a:pt x="21800" y="7450"/>
                      </a:lnTo>
                      <a:lnTo>
                        <a:pt x="21900" y="7450"/>
                      </a:lnTo>
                      <a:lnTo>
                        <a:pt x="22000" y="7350"/>
                      </a:lnTo>
                      <a:lnTo>
                        <a:pt x="22100" y="7350"/>
                      </a:lnTo>
                      <a:lnTo>
                        <a:pt x="22200" y="7350"/>
                      </a:lnTo>
                      <a:lnTo>
                        <a:pt x="22300" y="7350"/>
                      </a:lnTo>
                      <a:lnTo>
                        <a:pt x="22400" y="7500"/>
                      </a:lnTo>
                      <a:lnTo>
                        <a:pt x="22500" y="7600"/>
                      </a:lnTo>
                      <a:lnTo>
                        <a:pt x="22600" y="7800"/>
                      </a:lnTo>
                      <a:lnTo>
                        <a:pt x="22700" y="7900"/>
                      </a:lnTo>
                      <a:lnTo>
                        <a:pt x="22800" y="8050"/>
                      </a:lnTo>
                      <a:lnTo>
                        <a:pt x="22900" y="8200"/>
                      </a:lnTo>
                      <a:lnTo>
                        <a:pt x="23000" y="8300"/>
                      </a:lnTo>
                      <a:lnTo>
                        <a:pt x="23100" y="8450"/>
                      </a:lnTo>
                      <a:lnTo>
                        <a:pt x="23200" y="8550"/>
                      </a:lnTo>
                      <a:lnTo>
                        <a:pt x="23300" y="8500"/>
                      </a:lnTo>
                      <a:lnTo>
                        <a:pt x="23400" y="8400"/>
                      </a:lnTo>
                      <a:lnTo>
                        <a:pt x="23500" y="8300"/>
                      </a:lnTo>
                      <a:lnTo>
                        <a:pt x="23600" y="8250"/>
                      </a:lnTo>
                      <a:lnTo>
                        <a:pt x="23700" y="8150"/>
                      </a:lnTo>
                      <a:lnTo>
                        <a:pt x="23800" y="8100"/>
                      </a:lnTo>
                      <a:lnTo>
                        <a:pt x="23900" y="8050"/>
                      </a:lnTo>
                      <a:lnTo>
                        <a:pt x="24000" y="8000"/>
                      </a:lnTo>
                      <a:lnTo>
                        <a:pt x="24100" y="7950"/>
                      </a:lnTo>
                      <a:lnTo>
                        <a:pt x="24200" y="7850"/>
                      </a:lnTo>
                      <a:lnTo>
                        <a:pt x="24300" y="7800"/>
                      </a:lnTo>
                      <a:lnTo>
                        <a:pt x="24400" y="7700"/>
                      </a:lnTo>
                      <a:lnTo>
                        <a:pt x="24500" y="7600"/>
                      </a:lnTo>
                      <a:lnTo>
                        <a:pt x="24600" y="7550"/>
                      </a:lnTo>
                      <a:lnTo>
                        <a:pt x="24700" y="7650"/>
                      </a:lnTo>
                      <a:lnTo>
                        <a:pt x="24800" y="7750"/>
                      </a:lnTo>
                      <a:lnTo>
                        <a:pt x="24900" y="7950"/>
                      </a:lnTo>
                      <a:lnTo>
                        <a:pt x="25000" y="8150"/>
                      </a:lnTo>
                      <a:lnTo>
                        <a:pt x="25100" y="8300"/>
                      </a:lnTo>
                      <a:lnTo>
                        <a:pt x="25200" y="8500"/>
                      </a:lnTo>
                      <a:lnTo>
                        <a:pt x="25300" y="8700"/>
                      </a:lnTo>
                      <a:lnTo>
                        <a:pt x="25400" y="8900"/>
                      </a:lnTo>
                      <a:lnTo>
                        <a:pt x="25500" y="9050"/>
                      </a:lnTo>
                      <a:lnTo>
                        <a:pt x="25600" y="9200"/>
                      </a:lnTo>
                      <a:lnTo>
                        <a:pt x="25700" y="9150"/>
                      </a:lnTo>
                      <a:lnTo>
                        <a:pt x="25800" y="9050"/>
                      </a:lnTo>
                      <a:lnTo>
                        <a:pt x="25900" y="8950"/>
                      </a:lnTo>
                      <a:lnTo>
                        <a:pt x="26000" y="8850"/>
                      </a:lnTo>
                      <a:lnTo>
                        <a:pt x="26100" y="8750"/>
                      </a:lnTo>
                      <a:lnTo>
                        <a:pt x="26200" y="8650"/>
                      </a:lnTo>
                      <a:lnTo>
                        <a:pt x="26300" y="8650"/>
                      </a:lnTo>
                      <a:lnTo>
                        <a:pt x="26400" y="8650"/>
                      </a:lnTo>
                      <a:lnTo>
                        <a:pt x="26500" y="8750"/>
                      </a:lnTo>
                      <a:lnTo>
                        <a:pt x="26600" y="8850"/>
                      </a:lnTo>
                      <a:lnTo>
                        <a:pt x="26700" y="8850"/>
                      </a:lnTo>
                      <a:lnTo>
                        <a:pt x="26800" y="8950"/>
                      </a:lnTo>
                      <a:lnTo>
                        <a:pt x="26900" y="8950"/>
                      </a:lnTo>
                      <a:lnTo>
                        <a:pt x="27000" y="8800"/>
                      </a:lnTo>
                      <a:lnTo>
                        <a:pt x="27100" y="8700"/>
                      </a:lnTo>
                      <a:lnTo>
                        <a:pt x="27200" y="8600"/>
                      </a:lnTo>
                      <a:lnTo>
                        <a:pt x="27300" y="8450"/>
                      </a:lnTo>
                      <a:lnTo>
                        <a:pt x="27400" y="8350"/>
                      </a:lnTo>
                      <a:lnTo>
                        <a:pt x="27500" y="8200"/>
                      </a:lnTo>
                      <a:lnTo>
                        <a:pt x="27600" y="8100"/>
                      </a:lnTo>
                      <a:lnTo>
                        <a:pt x="27700" y="7950"/>
                      </a:lnTo>
                      <a:lnTo>
                        <a:pt x="27800" y="7850"/>
                      </a:lnTo>
                      <a:lnTo>
                        <a:pt x="27900" y="7900"/>
                      </a:lnTo>
                      <a:lnTo>
                        <a:pt x="28000" y="8000"/>
                      </a:lnTo>
                      <a:lnTo>
                        <a:pt x="28100" y="8150"/>
                      </a:lnTo>
                      <a:lnTo>
                        <a:pt x="28200" y="8250"/>
                      </a:lnTo>
                      <a:lnTo>
                        <a:pt x="28300" y="8450"/>
                      </a:lnTo>
                      <a:lnTo>
                        <a:pt x="28400" y="8550"/>
                      </a:lnTo>
                      <a:lnTo>
                        <a:pt x="28500" y="8650"/>
                      </a:lnTo>
                      <a:lnTo>
                        <a:pt x="28600" y="8850"/>
                      </a:lnTo>
                      <a:lnTo>
                        <a:pt x="28700" y="8950"/>
                      </a:lnTo>
                      <a:lnTo>
                        <a:pt x="28800" y="9100"/>
                      </a:lnTo>
                      <a:lnTo>
                        <a:pt x="28900" y="9150"/>
                      </a:lnTo>
                      <a:lnTo>
                        <a:pt x="29000" y="9100"/>
                      </a:lnTo>
                      <a:lnTo>
                        <a:pt x="29100" y="8950"/>
                      </a:lnTo>
                      <a:lnTo>
                        <a:pt x="29200" y="8800"/>
                      </a:lnTo>
                      <a:lnTo>
                        <a:pt x="29300" y="8700"/>
                      </a:lnTo>
                      <a:lnTo>
                        <a:pt x="29400" y="8600"/>
                      </a:lnTo>
                      <a:lnTo>
                        <a:pt x="29500" y="8450"/>
                      </a:lnTo>
                      <a:lnTo>
                        <a:pt x="29600" y="8350"/>
                      </a:lnTo>
                      <a:lnTo>
                        <a:pt x="29700" y="8150"/>
                      </a:lnTo>
                      <a:lnTo>
                        <a:pt x="29800" y="8000"/>
                      </a:lnTo>
                      <a:lnTo>
                        <a:pt x="29900" y="7850"/>
                      </a:lnTo>
                      <a:lnTo>
                        <a:pt x="30000" y="7750"/>
                      </a:lnTo>
                      <a:lnTo>
                        <a:pt x="30100" y="7550"/>
                      </a:lnTo>
                      <a:lnTo>
                        <a:pt x="30200" y="7450"/>
                      </a:lnTo>
                      <a:lnTo>
                        <a:pt x="30300" y="7300"/>
                      </a:lnTo>
                      <a:lnTo>
                        <a:pt x="30400" y="7300"/>
                      </a:lnTo>
                      <a:lnTo>
                        <a:pt x="30500" y="7450"/>
                      </a:lnTo>
                      <a:lnTo>
                        <a:pt x="30600" y="7550"/>
                      </a:lnTo>
                      <a:lnTo>
                        <a:pt x="30700" y="7750"/>
                      </a:lnTo>
                      <a:lnTo>
                        <a:pt x="30800" y="7850"/>
                      </a:lnTo>
                      <a:lnTo>
                        <a:pt x="30900" y="7950"/>
                      </a:lnTo>
                      <a:lnTo>
                        <a:pt x="31000" y="8150"/>
                      </a:lnTo>
                      <a:lnTo>
                        <a:pt x="31100" y="8250"/>
                      </a:lnTo>
                      <a:lnTo>
                        <a:pt x="31200" y="8400"/>
                      </a:lnTo>
                      <a:lnTo>
                        <a:pt x="31300" y="8500"/>
                      </a:lnTo>
                      <a:lnTo>
                        <a:pt x="31400" y="8550"/>
                      </a:lnTo>
                      <a:lnTo>
                        <a:pt x="31500" y="8600"/>
                      </a:lnTo>
                      <a:lnTo>
                        <a:pt x="31600" y="8550"/>
                      </a:lnTo>
                      <a:lnTo>
                        <a:pt x="31700" y="8550"/>
                      </a:lnTo>
                      <a:lnTo>
                        <a:pt x="31800" y="8500"/>
                      </a:lnTo>
                      <a:lnTo>
                        <a:pt x="31900" y="8450"/>
                      </a:lnTo>
                      <a:lnTo>
                        <a:pt x="32000" y="8400"/>
                      </a:lnTo>
                      <a:lnTo>
                        <a:pt x="32100" y="8350"/>
                      </a:lnTo>
                      <a:lnTo>
                        <a:pt x="32200" y="8350"/>
                      </a:lnTo>
                      <a:lnTo>
                        <a:pt x="32300" y="8300"/>
                      </a:lnTo>
                      <a:lnTo>
                        <a:pt x="32400" y="8250"/>
                      </a:lnTo>
                      <a:lnTo>
                        <a:pt x="32500" y="8200"/>
                      </a:lnTo>
                      <a:lnTo>
                        <a:pt x="32600" y="8150"/>
                      </a:lnTo>
                      <a:lnTo>
                        <a:pt x="32700" y="8150"/>
                      </a:lnTo>
                      <a:lnTo>
                        <a:pt x="32800" y="8250"/>
                      </a:lnTo>
                      <a:lnTo>
                        <a:pt x="32900" y="8350"/>
                      </a:lnTo>
                      <a:lnTo>
                        <a:pt x="33000" y="8400"/>
                      </a:lnTo>
                      <a:lnTo>
                        <a:pt x="33100" y="8500"/>
                      </a:lnTo>
                      <a:lnTo>
                        <a:pt x="33200" y="8600"/>
                      </a:lnTo>
                      <a:lnTo>
                        <a:pt x="33300" y="8650"/>
                      </a:lnTo>
                      <a:lnTo>
                        <a:pt x="33400" y="8650"/>
                      </a:lnTo>
                      <a:lnTo>
                        <a:pt x="33500" y="8650"/>
                      </a:lnTo>
                    </a:path>
                  </a:pathLst>
                </a:custGeom>
                <a:noFill/>
                <a:ln w="14000" cap="rnd">
                  <a:solidFill>
                    <a:srgbClr val="000000"/>
                  </a:solidFill>
                </a:ln>
                <a:effectLst>
                  <a:outerShdw blurRad="12700" dist="9000" dir="2700000" algn="ctr" rotWithShape="0">
                    <a:srgbClr val="000000">
                      <a:alpha val="22000"/>
                    </a:srgbClr>
                  </a:outerShdw>
                </a:effectLst>
              </p:spPr>
            </p:sp>
            <p:sp>
              <p:nvSpPr>
                <p:cNvPr id="50005" name="false-alert-annotation"/>
                <p:cNvSpPr/>
                <p:nvPr/>
              </p:nvSpPr>
              <p:spPr>
                <a:xfrm>
                  <a:off x="14456410" y="6583775"/>
                  <a:ext cx="828399" cy="882968"/>
                </a:xfrm>
                <a:prstGeom prst="ellipse">
                  <a:avLst/>
                </a:prstGeom>
                <a:noFill/>
                <a:ln w="14000" cap="rnd">
                  <a:solidFill>
                    <a:srgbClr val="AA625E"/>
                  </a:solidFill>
                  <a:prstDash val="dash"/>
                </a:ln>
                <a:effectLst>
                  <a:outerShdw blurRad="12700" dist="9000" dir="2700000" algn="ctr" rotWithShape="0">
                    <a:srgbClr val="000000">
                      <a:alpha val="22000"/>
                    </a:srgbClr>
                  </a:outerShdw>
                </a:effectLst>
              </p:spPr>
            </p:sp>
            <p:sp>
              <p:nvSpPr>
                <p:cNvPr id="68" name="TextBox 68"/>
                <p:cNvSpPr txBox="1"/>
                <p:nvPr/>
              </p:nvSpPr>
              <p:spPr>
                <a:xfrm>
                  <a:off x="12725400" y="7486650"/>
                  <a:ext cx="4286250" cy="4000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anchor="ctr" lIns="0" tIns="0" rIns="0" bIns="0">
                  <a:noAutofit/>
                </a:bodyPr>
                <a:lstStyle/>
                <a:p>
                  <a:pPr algn="l"/>
                  <a:r>
                    <a:rPr lang="zh-CN" sz="2200">
                      <a:solidFill>
                        <a:srgbClr val="25475E"/>
                      </a:solidFill>
                      <a:latin typeface="Comic Sans MS"/>
                      <a:ea typeface="Times New Roman"/>
                      <a:cs typeface="Times New Roman"/>
                    </a:rPr>
                    <a:t>False-positive penalty</a:t>
                  </a:r>
                  <a:endParaRPr lang="zh-CN" sz="2200">
                    <a:latin typeface="Comic Sans MS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