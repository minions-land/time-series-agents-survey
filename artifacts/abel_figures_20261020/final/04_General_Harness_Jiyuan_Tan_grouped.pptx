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962775" cy="42100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Complete figure — ungroup to edit modules"/>
          <p:cNvGrpSpPr/>
          <p:nvPr/>
        </p:nvGrpSpPr>
        <p:grpSpPr>
          <a:xfrm>
            <a:off x="90488" y="90488"/>
            <a:ext cx="6772275" cy="4033837"/>
            <a:chOff x="90488" y="90488"/>
            <a:chExt cx="6772275" cy="4033837"/>
          </a:xfrm>
        </p:grpSpPr>
        <p:sp>
          <p:nvSpPr>
            <p:cNvPr id="2" name="runtime-background"/>
            <p:cNvSpPr/>
            <p:nvPr/>
          </p:nvSpPr>
          <p:spPr>
            <a:xfrm>
              <a:off x="90488" y="90488"/>
              <a:ext cx="6772275" cy="3086100"/>
            </a:xfrm>
            <a:prstGeom prst="roundRect">
              <a:avLst>
                <a:gd name="adj" fmla="val 5556"/>
              </a:avLst>
            </a:prstGeom>
            <a:solidFill>
              <a:srgbClr val="F4F7FA"/>
            </a:solidFill>
            <a:ln w="16510">
              <a:solidFill>
                <a:srgbClr val="7C9AB7"/>
              </a:solidFill>
            </a:ln>
          </p:spPr>
          <p:txBody>
            <a:bodyPr/>
            <a:lstStyle/>
            <a:p/>
          </p:txBody>
        </p:sp>
        <p:grpSp>
          <p:nvGrpSpPr>
            <p:cNvPr id="1000" name="Interaction and execution flows"/>
            <p:cNvGrpSpPr/>
            <p:nvPr/>
          </p:nvGrpSpPr>
          <p:grpSpPr>
            <a:xfrm>
              <a:off x="2314575" y="828675"/>
              <a:ext cx="3381375" cy="2105025"/>
              <a:chOff x="2314575" y="828675"/>
              <a:chExt cx="3381375" cy="2105025"/>
            </a:xfrm>
          </p:grpSpPr>
          <p:sp>
            <p:nvSpPr>
              <p:cNvPr id="9" name="observe-link"/>
              <p:cNvSpPr/>
              <p:nvPr/>
            </p:nvSpPr>
            <p:spPr>
              <a:xfrm>
                <a:off x="2314575" y="1528762"/>
                <a:ext cx="652462" cy="0"/>
              </a:xfrm>
              <a:prstGeom prst="line">
                <a:avLst/>
              </a:prstGeom>
              <a:noFill/>
              <a:ln w="15240">
                <a:solidFill>
                  <a:srgbClr val="6488AB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0" name="respond-link"/>
              <p:cNvSpPr/>
              <p:nvPr/>
            </p:nvSpPr>
            <p:spPr>
              <a:xfrm flipH="1">
                <a:off x="2314575" y="1730692"/>
                <a:ext cx="652462" cy="0"/>
              </a:xfrm>
              <a:prstGeom prst="line">
                <a:avLst/>
              </a:prstGeom>
              <a:noFill/>
              <a:ln w="15240">
                <a:solidFill>
                  <a:srgbClr val="6488AB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1" name="plan-link"/>
              <p:cNvSpPr/>
              <p:nvPr/>
            </p:nvSpPr>
            <p:spPr>
              <a:xfrm flipV="1">
                <a:off x="3390900" y="838200"/>
                <a:ext cx="0" cy="523875"/>
              </a:xfrm>
              <a:prstGeom prst="line">
                <a:avLst/>
              </a:prstGeom>
              <a:noFill/>
              <a:ln w="15240">
                <a:solidFill>
                  <a:srgbClr val="6488AB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2" name="next-step-link"/>
              <p:cNvSpPr/>
              <p:nvPr/>
            </p:nvSpPr>
            <p:spPr>
              <a:xfrm>
                <a:off x="3609975" y="828675"/>
                <a:ext cx="0" cy="533400"/>
              </a:xfrm>
              <a:prstGeom prst="line">
                <a:avLst/>
              </a:prstGeom>
              <a:noFill/>
              <a:ln w="15240">
                <a:solidFill>
                  <a:srgbClr val="6488AB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3" name="call-link"/>
              <p:cNvSpPr/>
              <p:nvPr/>
            </p:nvSpPr>
            <p:spPr>
              <a:xfrm>
                <a:off x="4038600" y="1628775"/>
                <a:ext cx="695325" cy="0"/>
              </a:xfrm>
              <a:prstGeom prst="line">
                <a:avLst/>
              </a:prstGeom>
              <a:noFill/>
              <a:ln w="15240">
                <a:solidFill>
                  <a:srgbClr val="6488AB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4" name="write-link"/>
              <p:cNvSpPr/>
              <p:nvPr/>
            </p:nvSpPr>
            <p:spPr>
              <a:xfrm>
                <a:off x="3390900" y="1895475"/>
                <a:ext cx="0" cy="533400"/>
              </a:xfrm>
              <a:prstGeom prst="line">
                <a:avLst/>
              </a:prstGeom>
              <a:noFill/>
              <a:ln w="15240">
                <a:solidFill>
                  <a:srgbClr val="6488AB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5" name="recall-link"/>
              <p:cNvSpPr/>
              <p:nvPr/>
            </p:nvSpPr>
            <p:spPr>
              <a:xfrm flipV="1">
                <a:off x="3609975" y="1895475"/>
                <a:ext cx="0" cy="533400"/>
              </a:xfrm>
              <a:prstGeom prst="line">
                <a:avLst/>
              </a:prstGeom>
              <a:noFill/>
              <a:ln w="15240">
                <a:solidFill>
                  <a:srgbClr val="6488AB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6" name="results-link"/>
              <p:cNvSpPr/>
              <p:nvPr/>
            </p:nvSpPr>
            <p:spPr>
              <a:xfrm>
                <a:off x="4467225" y="1895475"/>
                <a:ext cx="1228725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6488AB"/>
                </a:solidFill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5" name="observe-label"/>
              <p:cNvSpPr txBox="1"/>
              <p:nvPr/>
            </p:nvSpPr>
            <p:spPr>
              <a:xfrm>
                <a:off x="2343150" y="1285875"/>
                <a:ext cx="619125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observe</a:t>
                </a:r>
                <a:endParaRPr lang="zh-CN" sz="1210"/>
              </a:p>
            </p:txBody>
          </p:sp>
          <p:sp>
            <p:nvSpPr>
              <p:cNvPr id="26" name="respond-label"/>
              <p:cNvSpPr txBox="1"/>
              <p:nvPr/>
            </p:nvSpPr>
            <p:spPr>
              <a:xfrm>
                <a:off x="2324100" y="1752600"/>
                <a:ext cx="647700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respond</a:t>
                </a:r>
                <a:endParaRPr lang="zh-CN" sz="1210"/>
              </a:p>
            </p:txBody>
          </p:sp>
          <p:sp>
            <p:nvSpPr>
              <p:cNvPr id="27" name="plan-label"/>
              <p:cNvSpPr txBox="1"/>
              <p:nvPr/>
            </p:nvSpPr>
            <p:spPr>
              <a:xfrm>
                <a:off x="2952750" y="971550"/>
                <a:ext cx="419100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plan</a:t>
                </a:r>
                <a:endParaRPr lang="zh-CN" sz="1210"/>
              </a:p>
            </p:txBody>
          </p:sp>
          <p:sp>
            <p:nvSpPr>
              <p:cNvPr id="28" name="next-step-label"/>
              <p:cNvSpPr txBox="1"/>
              <p:nvPr/>
            </p:nvSpPr>
            <p:spPr>
              <a:xfrm>
                <a:off x="3676650" y="971550"/>
                <a:ext cx="714375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next step</a:t>
                </a:r>
                <a:endParaRPr lang="zh-CN" sz="1210"/>
              </a:p>
            </p:txBody>
          </p:sp>
          <p:sp>
            <p:nvSpPr>
              <p:cNvPr id="29" name="call-label"/>
              <p:cNvSpPr txBox="1"/>
              <p:nvPr/>
            </p:nvSpPr>
            <p:spPr>
              <a:xfrm>
                <a:off x="4210050" y="1371600"/>
                <a:ext cx="381000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call</a:t>
                </a:r>
                <a:endParaRPr lang="zh-CN" sz="1210"/>
              </a:p>
            </p:txBody>
          </p:sp>
          <p:sp>
            <p:nvSpPr>
              <p:cNvPr id="30" name="write-label"/>
              <p:cNvSpPr txBox="1"/>
              <p:nvPr/>
            </p:nvSpPr>
            <p:spPr>
              <a:xfrm>
                <a:off x="2943225" y="2047875"/>
                <a:ext cx="419100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write</a:t>
                </a:r>
                <a:endParaRPr lang="zh-CN" sz="1210"/>
              </a:p>
            </p:txBody>
          </p:sp>
          <p:sp>
            <p:nvSpPr>
              <p:cNvPr id="31" name="recall-label"/>
              <p:cNvSpPr txBox="1"/>
              <p:nvPr/>
            </p:nvSpPr>
            <p:spPr>
              <a:xfrm>
                <a:off x="3667125" y="2047875"/>
                <a:ext cx="476250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recall</a:t>
                </a:r>
                <a:endParaRPr lang="zh-CN" sz="1210"/>
              </a:p>
            </p:txBody>
          </p:sp>
          <p:sp>
            <p:nvSpPr>
              <p:cNvPr id="32" name="results-label"/>
              <p:cNvSpPr txBox="1"/>
              <p:nvPr/>
            </p:nvSpPr>
            <p:spPr>
              <a:xfrm>
                <a:off x="4791075" y="2724150"/>
                <a:ext cx="628650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results</a:t>
                </a:r>
                <a:endParaRPr lang="zh-CN" sz="1210"/>
              </a:p>
            </p:txBody>
          </p:sp>
        </p:grpSp>
        <p:grpSp>
          <p:nvGrpSpPr>
            <p:cNvPr id="1001" name="Planning &amp; Orchestration"/>
            <p:cNvGrpSpPr/>
            <p:nvPr/>
          </p:nvGrpSpPr>
          <p:grpSpPr>
            <a:xfrm>
              <a:off x="2366962" y="295275"/>
              <a:ext cx="2276475" cy="533400"/>
              <a:chOff x="2366962" y="295275"/>
              <a:chExt cx="2276475" cy="533400"/>
            </a:xfrm>
          </p:grpSpPr>
          <p:sp>
            <p:nvSpPr>
              <p:cNvPr id="3" name="planning-box"/>
              <p:cNvSpPr/>
              <p:nvPr/>
            </p:nvSpPr>
            <p:spPr>
              <a:xfrm>
                <a:off x="2366962" y="295275"/>
                <a:ext cx="2276475" cy="533400"/>
              </a:xfrm>
              <a:prstGeom prst="roundRect">
                <a:avLst>
                  <a:gd name="adj" fmla="val 8929"/>
                </a:avLst>
              </a:prstGeom>
              <a:solidFill>
                <a:srgbClr val="FFFFFF"/>
              </a:solidFill>
              <a:ln w="16510">
                <a:solidFill>
                  <a:srgbClr val="24578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planning-label"/>
              <p:cNvSpPr txBox="1"/>
              <p:nvPr/>
            </p:nvSpPr>
            <p:spPr>
              <a:xfrm>
                <a:off x="2366962" y="295275"/>
                <a:ext cx="227647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30" b="1">
                    <a:solidFill>
                      <a:srgbClr val="215581"/>
                    </a:solidFill>
                    <a:latin typeface="Arial"/>
                    <a:ea typeface="Arial"/>
                    <a:cs typeface="Arial"/>
                  </a:rPr>
                  <a:t>Planning &amp; Orchestration</a:t>
                </a:r>
                <a:endParaRPr lang="zh-CN" sz="1430"/>
              </a:p>
            </p:txBody>
          </p:sp>
        </p:grpSp>
        <p:grpSp>
          <p:nvGrpSpPr>
            <p:cNvPr id="1002" name="Interface &amp; Interaction"/>
            <p:cNvGrpSpPr/>
            <p:nvPr/>
          </p:nvGrpSpPr>
          <p:grpSpPr>
            <a:xfrm>
              <a:off x="300038" y="1362075"/>
              <a:ext cx="2014537" cy="533400"/>
              <a:chOff x="300038" y="1362075"/>
              <a:chExt cx="2014537" cy="533400"/>
            </a:xfrm>
          </p:grpSpPr>
          <p:sp>
            <p:nvSpPr>
              <p:cNvPr id="4" name="interface-box"/>
              <p:cNvSpPr/>
              <p:nvPr/>
            </p:nvSpPr>
            <p:spPr>
              <a:xfrm>
                <a:off x="300038" y="1362075"/>
                <a:ext cx="2014537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6510">
                <a:solidFill>
                  <a:srgbClr val="24578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interface-label"/>
              <p:cNvSpPr txBox="1"/>
              <p:nvPr/>
            </p:nvSpPr>
            <p:spPr>
              <a:xfrm>
                <a:off x="300038" y="1362075"/>
                <a:ext cx="2014537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30" b="1">
                    <a:solidFill>
                      <a:srgbClr val="215581"/>
                    </a:solidFill>
                    <a:latin typeface="Arial"/>
                    <a:ea typeface="Arial"/>
                    <a:cs typeface="Arial"/>
                  </a:rPr>
                  <a:t>Interface &amp; Interaction</a:t>
                </a:r>
                <a:endParaRPr lang="zh-CN" sz="1430"/>
              </a:p>
            </p:txBody>
          </p:sp>
        </p:grpSp>
        <p:grpSp>
          <p:nvGrpSpPr>
            <p:cNvPr id="1003" name="LLM"/>
            <p:cNvGrpSpPr/>
            <p:nvPr/>
          </p:nvGrpSpPr>
          <p:grpSpPr>
            <a:xfrm>
              <a:off x="2967038" y="1362075"/>
              <a:ext cx="1071562" cy="533400"/>
              <a:chOff x="2967038" y="1362075"/>
              <a:chExt cx="1071562" cy="533400"/>
            </a:xfrm>
          </p:grpSpPr>
          <p:sp>
            <p:nvSpPr>
              <p:cNvPr id="5" name="llm-box"/>
              <p:cNvSpPr/>
              <p:nvPr/>
            </p:nvSpPr>
            <p:spPr>
              <a:xfrm>
                <a:off x="2967038" y="1362075"/>
                <a:ext cx="1071562" cy="533400"/>
              </a:xfrm>
              <a:prstGeom prst="roundRect">
                <a:avLst>
                  <a:gd name="adj" fmla="val 14286"/>
                </a:avLst>
              </a:prstGeom>
              <a:solidFill>
                <a:srgbClr val="215581"/>
              </a:solidFill>
              <a:ln w="12700">
                <a:solidFill>
                  <a:srgbClr val="21558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llm-label"/>
              <p:cNvSpPr txBox="1"/>
              <p:nvPr/>
            </p:nvSpPr>
            <p:spPr>
              <a:xfrm>
                <a:off x="2967038" y="1362075"/>
                <a:ext cx="1071562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2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LLM</a:t>
                </a:r>
                <a:endParaRPr lang="zh-CN" sz="1620"/>
              </a:p>
            </p:txBody>
          </p:sp>
        </p:grpSp>
        <p:grpSp>
          <p:nvGrpSpPr>
            <p:cNvPr id="1004" name="Tools &amp; Execution"/>
            <p:cNvGrpSpPr/>
            <p:nvPr/>
          </p:nvGrpSpPr>
          <p:grpSpPr>
            <a:xfrm>
              <a:off x="4738688" y="1362075"/>
              <a:ext cx="1914525" cy="533400"/>
              <a:chOff x="4738688" y="1362075"/>
              <a:chExt cx="1914525" cy="533400"/>
            </a:xfrm>
          </p:grpSpPr>
          <p:sp>
            <p:nvSpPr>
              <p:cNvPr id="6" name="tools-box"/>
              <p:cNvSpPr/>
              <p:nvPr/>
            </p:nvSpPr>
            <p:spPr>
              <a:xfrm>
                <a:off x="4738688" y="1362075"/>
                <a:ext cx="1914525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6510">
                <a:solidFill>
                  <a:srgbClr val="24578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tools-label"/>
              <p:cNvSpPr txBox="1"/>
              <p:nvPr/>
            </p:nvSpPr>
            <p:spPr>
              <a:xfrm>
                <a:off x="4738688" y="1362075"/>
                <a:ext cx="191452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30" b="1">
                    <a:solidFill>
                      <a:srgbClr val="215581"/>
                    </a:solidFill>
                    <a:latin typeface="Arial"/>
                    <a:ea typeface="Arial"/>
                    <a:cs typeface="Arial"/>
                  </a:rPr>
                  <a:t>Tools &amp; Execution</a:t>
                </a:r>
                <a:endParaRPr lang="zh-CN" sz="1430"/>
              </a:p>
            </p:txBody>
          </p:sp>
        </p:grpSp>
        <p:grpSp>
          <p:nvGrpSpPr>
            <p:cNvPr id="1005" name="Memory &amp; Context"/>
            <p:cNvGrpSpPr/>
            <p:nvPr/>
          </p:nvGrpSpPr>
          <p:grpSpPr>
            <a:xfrm>
              <a:off x="2547937" y="2433637"/>
              <a:ext cx="1914525" cy="533400"/>
              <a:chOff x="2547937" y="2433637"/>
              <a:chExt cx="1914525" cy="533400"/>
            </a:xfrm>
          </p:grpSpPr>
          <p:sp>
            <p:nvSpPr>
              <p:cNvPr id="7" name="memory-box"/>
              <p:cNvSpPr/>
              <p:nvPr/>
            </p:nvSpPr>
            <p:spPr>
              <a:xfrm>
                <a:off x="2547937" y="2433637"/>
                <a:ext cx="1914525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6510">
                <a:solidFill>
                  <a:srgbClr val="24578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memory-label"/>
              <p:cNvSpPr txBox="1"/>
              <p:nvPr/>
            </p:nvSpPr>
            <p:spPr>
              <a:xfrm>
                <a:off x="2547937" y="2433637"/>
                <a:ext cx="191452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30" b="1">
                    <a:solidFill>
                      <a:srgbClr val="215581"/>
                    </a:solidFill>
                    <a:latin typeface="Arial"/>
                    <a:ea typeface="Arial"/>
                    <a:cs typeface="Arial"/>
                  </a:rPr>
                  <a:t>Memory &amp; Context</a:t>
                </a:r>
                <a:endParaRPr lang="zh-CN" sz="1430"/>
              </a:p>
            </p:txBody>
          </p:sp>
        </p:grpSp>
        <p:grpSp>
          <p:nvGrpSpPr>
            <p:cNvPr id="1006" name="Optimization &amp; Evolution with trajectories and updates"/>
            <p:cNvGrpSpPr/>
            <p:nvPr/>
          </p:nvGrpSpPr>
          <p:grpSpPr>
            <a:xfrm>
              <a:off x="90488" y="3181350"/>
              <a:ext cx="6772275" cy="942975"/>
              <a:chOff x="90488" y="3181350"/>
              <a:chExt cx="6772275" cy="942975"/>
            </a:xfrm>
          </p:grpSpPr>
          <p:sp>
            <p:nvSpPr>
              <p:cNvPr id="8" name="optimization-box"/>
              <p:cNvSpPr/>
              <p:nvPr/>
            </p:nvSpPr>
            <p:spPr>
              <a:xfrm>
                <a:off x="90488" y="3638550"/>
                <a:ext cx="6772275" cy="485775"/>
              </a:xfrm>
              <a:prstGeom prst="roundRect">
                <a:avLst>
                  <a:gd name="adj" fmla="val 13725"/>
                </a:avLst>
              </a:prstGeom>
              <a:solidFill>
                <a:srgbClr val="F7F1E3"/>
              </a:solidFill>
              <a:ln w="16510">
                <a:solidFill>
                  <a:srgbClr val="D18A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trajectories-link"/>
              <p:cNvSpPr/>
              <p:nvPr/>
            </p:nvSpPr>
            <p:spPr>
              <a:xfrm>
                <a:off x="2800350" y="3181350"/>
                <a:ext cx="0" cy="447675"/>
              </a:xfrm>
              <a:prstGeom prst="line">
                <a:avLst/>
              </a:prstGeom>
              <a:noFill/>
              <a:ln w="15240">
                <a:solidFill>
                  <a:srgbClr val="D18A00"/>
                </a:solidFill>
                <a:prstDash val="dash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8" name="updates-link"/>
              <p:cNvSpPr/>
              <p:nvPr/>
            </p:nvSpPr>
            <p:spPr>
              <a:xfrm flipV="1">
                <a:off x="4152900" y="3190875"/>
                <a:ext cx="0" cy="447675"/>
              </a:xfrm>
              <a:prstGeom prst="line">
                <a:avLst/>
              </a:prstGeom>
              <a:noFill/>
              <a:ln w="15240">
                <a:solidFill>
                  <a:srgbClr val="D18A00"/>
                </a:solidFill>
                <a:prstDash val="dash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4" name="optimization-label"/>
              <p:cNvSpPr txBox="1"/>
              <p:nvPr/>
            </p:nvSpPr>
            <p:spPr>
              <a:xfrm>
                <a:off x="90488" y="3638550"/>
                <a:ext cx="6772275" cy="485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30" b="1">
                    <a:solidFill>
                      <a:srgbClr val="A56C00"/>
                    </a:solidFill>
                    <a:latin typeface="Arial"/>
                    <a:ea typeface="Arial"/>
                    <a:cs typeface="Arial"/>
                  </a:rPr>
                  <a:t>Optimization &amp; Evolution</a:t>
                </a:r>
                <a:endParaRPr lang="zh-CN" sz="1430"/>
              </a:p>
            </p:txBody>
          </p:sp>
          <p:sp>
            <p:nvSpPr>
              <p:cNvPr id="33" name="trajectories-label"/>
              <p:cNvSpPr txBox="1"/>
              <p:nvPr/>
            </p:nvSpPr>
            <p:spPr>
              <a:xfrm>
                <a:off x="1914525" y="3267075"/>
                <a:ext cx="85725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trajectories</a:t>
                </a:r>
                <a:endParaRPr lang="zh-CN" sz="1210"/>
              </a:p>
            </p:txBody>
          </p:sp>
          <p:sp>
            <p:nvSpPr>
              <p:cNvPr id="34" name="updates-label"/>
              <p:cNvSpPr txBox="1"/>
              <p:nvPr/>
            </p:nvSpPr>
            <p:spPr>
              <a:xfrm>
                <a:off x="4181475" y="3267075"/>
                <a:ext cx="6858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10" i="1">
                    <a:solidFill>
                      <a:srgbClr val="5C5C5C"/>
                    </a:solidFill>
                    <a:latin typeface="Arial"/>
                    <a:ea typeface="Arial"/>
                    <a:cs typeface="Arial"/>
                  </a:rPr>
                  <a:t>updates</a:t>
                </a:r>
                <a:endParaRPr lang="zh-CN" sz="121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