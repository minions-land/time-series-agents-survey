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60" name="Complete figure — ungroup to edit modules"/>
          <p:cNvGrpSpPr/>
          <p:nvPr/>
        </p:nvGrpSpPr>
        <p:grpSpPr>
          <ns1:xfrm xmlns:ns1="http://schemas.openxmlformats.org/drawingml/2006/main">
            <ns1:off x="685800" y="247650"/>
            <ns1:ext cx="13944600" cy="8134350"/>
            <ns1:chOff x="685800" y="247650"/>
            <ns1:chExt cx="13944600" cy="8134350"/>
          </ns1:xfrm>
        </p:grpSpPr>
        <p:grpSp>
          <p:nvGrpSpPr>
            <p:cNvPr id="156" name="Title and subtitle"/>
            <p:cNvGrpSpPr/>
            <p:nvPr/>
          </p:nvGrpSpPr>
          <p:grpSpPr>
            <ns1:xfrm xmlns:ns1="http://schemas.openxmlformats.org/drawingml/2006/main">
              <ns1:off x="685800" y="247650"/>
              <ns1:ext cx="13868400" cy="781050"/>
              <ns1:chOff x="685800" y="247650"/>
              <ns1:chExt cx="13868400" cy="781050"/>
            </ns1:xfrm>
          </p:grpSpPr>
          <p:sp>
            <p:nvSpPr>
              <p:cNvPr id="83" name="title-0">
                <a:extLst xmlns:a="http://schemas.openxmlformats.org/drawingml/2006/main">
                  <a:ext uri="{FF2B5EF4-FFF2-40B4-BE49-F238E27FC236}">
                    <a16:creationId xmlns:a16="http://schemas.microsoft.com/office/drawing/2014/main" id="{8A45BC6E-250F-4A79-9A3D-F2177522A8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247650"/>
                <a:ext cx="1386840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3000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LLM-side contributions to a Time-Series Agent</a:t>
                </a:r>
              </a:p>
            </p:txBody>
          </p:sp>
          <p:sp>
            <p:nvSpPr>
              <p:cNvPr id="2" name="subtitle-1">
                <a:extLst xmlns:a="http://schemas.openxmlformats.org/drawingml/2006/main">
                  <a:ext uri="{FF2B5EF4-FFF2-40B4-BE49-F238E27FC236}">
                    <a16:creationId xmlns:a16="http://schemas.microsoft.com/office/drawing/2014/main" id="{9407A7BA-50BF-408C-ADD7-C5AE515735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762000"/>
                <a:ext cx="138684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75" b="0" i="1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Three overlapping intervention points adapt the model. ChatTS, for example, contributes to both 3.1 and 3.2.</a:t>
                </a:r>
              </a:p>
            </p:txBody>
          </p:sp>
        </p:grpSp>
        <p:grpSp>
          <p:nvGrpSpPr>
            <p:cNvPr id="157" name="Three LLM intervention points"/>
            <p:cNvGrpSpPr/>
            <p:nvPr/>
          </p:nvGrpSpPr>
          <p:grpSpPr>
            <ns1:xfrm xmlns:ns1="http://schemas.openxmlformats.org/drawingml/2006/main">
              <ns1:off x="685800" y="1238250"/>
              <ns1:ext cx="13944600" cy="2590800"/>
              <ns1:chOff x="685800" y="1238250"/>
              <ns1:chExt cx="13944600" cy="2590800"/>
            </ns1:xfrm>
          </p:grpSpPr>
          <p:sp>
            <p:nvSpPr>
              <p:cNvPr id="3" name="badge-2">
                <a:extLst xmlns:a="http://schemas.openxmlformats.org/drawingml/2006/main">
                  <a:ext uri="{FF2B5EF4-FFF2-40B4-BE49-F238E27FC236}">
                    <a16:creationId xmlns:a16="http://schemas.microsoft.com/office/drawing/2014/main" id="{9C4BB4CD-AA9C-4970-AD66-E76BAE3DBB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57400" y="1238250"/>
                <a:ext cx="495300" cy="28575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5B4A8B"/>
              </a:solidFill>
              <a:ln xmlns:a="http://schemas.openxmlformats.org/drawingml/2006/main" w="23813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3.1</a:t>
                </a:r>
              </a:p>
            </p:txBody>
          </p:sp>
          <p:sp>
            <p:nvSpPr>
              <p:cNvPr id="4" name="col-head-3">
                <a:extLst xmlns:a="http://schemas.openxmlformats.org/drawingml/2006/main">
                  <a:ext uri="{FF2B5EF4-FFF2-40B4-BE49-F238E27FC236}">
                    <a16:creationId xmlns:a16="http://schemas.microsoft.com/office/drawing/2014/main" id="{052CD6C8-C538-40BC-AEF4-757F683154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09850" y="1266825"/>
                <a:ext cx="35433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75" b="1" i="0">
                    <a:solidFill>
                      <a:srgbClr val="46386F"/>
                    </a:solidFill>
                    <a:latin typeface="Times New Roman"/>
                    <a:ea typeface="Times New Roman"/>
                    <a:cs typeface="Times New Roman"/>
                  </a:rPr>
                  <a:t>Temporal representation and alignment</a:t>
                </a:r>
              </a:p>
            </p:txBody>
          </p:sp>
          <p:sp>
            <p:nvSpPr>
              <p:cNvPr id="5" name="badge-4">
                <a:extLst xmlns:a="http://schemas.openxmlformats.org/drawingml/2006/main">
                  <a:ext uri="{FF2B5EF4-FFF2-40B4-BE49-F238E27FC236}">
                    <a16:creationId xmlns:a16="http://schemas.microsoft.com/office/drawing/2014/main" id="{39B5CD46-44A4-4D22-BCBC-E1E39D8E57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96025" y="1238250"/>
                <a:ext cx="495300" cy="28575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5B4A8B"/>
              </a:solidFill>
              <a:ln xmlns:a="http://schemas.openxmlformats.org/drawingml/2006/main" w="23813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3.2</a:t>
                </a:r>
              </a:p>
            </p:txBody>
          </p:sp>
          <p:sp>
            <p:nvSpPr>
              <p:cNvPr id="6" name="col-head-5">
                <a:extLst xmlns:a="http://schemas.openxmlformats.org/drawingml/2006/main">
                  <a:ext uri="{FF2B5EF4-FFF2-40B4-BE49-F238E27FC236}">
                    <a16:creationId xmlns:a16="http://schemas.microsoft.com/office/drawing/2014/main" id="{8EF3EA40-CE06-4E7C-B852-0B26DCDE8CF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48475" y="1266825"/>
                <a:ext cx="35433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75" b="1" i="0">
                    <a:solidFill>
                      <a:srgbClr val="46386F"/>
                    </a:solidFill>
                    <a:latin typeface="Times New Roman"/>
                    <a:ea typeface="Times New Roman"/>
                    <a:cs typeface="Times New Roman"/>
                  </a:rPr>
                  <a:t>Temporal instruction and reasoning</a:t>
                </a:r>
              </a:p>
            </p:txBody>
          </p:sp>
          <p:sp>
            <p:nvSpPr>
              <p:cNvPr id="7" name="badge-6">
                <a:extLst xmlns:a="http://schemas.openxmlformats.org/drawingml/2006/main">
                  <a:ext uri="{FF2B5EF4-FFF2-40B4-BE49-F238E27FC236}">
                    <a16:creationId xmlns:a16="http://schemas.microsoft.com/office/drawing/2014/main" id="{FEAC1E20-65AB-4022-BF1D-6079507260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534650" y="1238250"/>
                <a:ext cx="495300" cy="28575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5B4A8B"/>
              </a:solidFill>
              <a:ln xmlns:a="http://schemas.openxmlformats.org/drawingml/2006/main" w="23813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3.3</a:t>
                </a:r>
              </a:p>
            </p:txBody>
          </p:sp>
          <p:sp>
            <p:nvSpPr>
              <p:cNvPr id="8" name="col-head-7">
                <a:extLst xmlns:a="http://schemas.openxmlformats.org/drawingml/2006/main">
                  <a:ext uri="{FF2B5EF4-FFF2-40B4-BE49-F238E27FC236}">
                    <a16:creationId xmlns:a16="http://schemas.microsoft.com/office/drawing/2014/main" id="{C4AF4122-0112-4207-A176-3F684CC6D61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087100" y="1266825"/>
                <a:ext cx="35433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75" b="1" i="0">
                    <a:solidFill>
                      <a:srgbClr val="46386F"/>
                    </a:solidFill>
                    <a:latin typeface="Times New Roman"/>
                    <a:ea typeface="Times New Roman"/>
                    <a:cs typeface="Times New Roman"/>
                  </a:rPr>
                  <a:t>Learning to operate temporal workflows</a:t>
                </a:r>
              </a:p>
            </p:txBody>
          </p:sp>
          <p:sp>
            <p:nvSpPr>
              <p:cNvPr id="9" name="rule-8">
                <a:extLst xmlns:a="http://schemas.openxmlformats.org/drawingml/2006/main">
                  <a:ext uri="{FF2B5EF4-FFF2-40B4-BE49-F238E27FC236}">
                    <a16:creationId xmlns:a16="http://schemas.microsoft.com/office/drawing/2014/main" id="{83E4D152-F113-465C-ADFD-CC08018E270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1638300"/>
                <a:ext cx="13868400" cy="190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8F80BF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10" name="row-label-9">
                <a:extLst xmlns:a="http://schemas.openxmlformats.org/drawingml/2006/main">
                  <a:ext uri="{FF2B5EF4-FFF2-40B4-BE49-F238E27FC236}">
                    <a16:creationId xmlns:a16="http://schemas.microsoft.com/office/drawing/2014/main" id="{10064296-C446-4320-B015-71EDA2A9B1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1771650"/>
                <a:ext cx="13335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275" b="1" i="0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What changes</a:t>
                </a:r>
              </a:p>
            </p:txBody>
          </p:sp>
          <p:sp>
            <p:nvSpPr>
              <p:cNvPr id="11" name="cell-10">
                <a:extLst xmlns:a="http://schemas.openxmlformats.org/drawingml/2006/main">
                  <a:ext uri="{FF2B5EF4-FFF2-40B4-BE49-F238E27FC236}">
                    <a16:creationId xmlns:a16="http://schemas.microsoft.com/office/drawing/2014/main" id="{336A4140-1E51-44AA-8F3B-6E6AF708EA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57400" y="17526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Learned input layers or prompt pools map series into the model’s embedding space.</a:t>
                </a:r>
              </a:p>
            </p:txBody>
          </p:sp>
          <p:sp>
            <p:nvSpPr>
              <p:cNvPr id="12" name="cell-11">
                <a:extLst xmlns:a="http://schemas.openxmlformats.org/drawingml/2006/main">
                  <a:ext uri="{FF2B5EF4-FFF2-40B4-BE49-F238E27FC236}">
                    <a16:creationId xmlns:a16="http://schemas.microsoft.com/office/drawing/2014/main" id="{CEE89BBC-6345-4088-8B72-2A0E04EF1C8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96025" y="17526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Supervision links temporal structure to answers, explanations and forecasts.</a:t>
                </a:r>
              </a:p>
            </p:txBody>
          </p:sp>
          <p:sp>
            <p:nvSpPr>
              <p:cNvPr id="13" name="cell-12">
                <a:extLst xmlns:a="http://schemas.openxmlformats.org/drawingml/2006/main">
                  <a:ext uri="{FF2B5EF4-FFF2-40B4-BE49-F238E27FC236}">
                    <a16:creationId xmlns:a16="http://schemas.microsoft.com/office/drawing/2014/main" id="{5FA1685C-49F7-4941-B327-174608DA8A3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534650" y="17526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The trained model selects or assesses actions within an analytical workflow.</a:t>
                </a:r>
              </a:p>
            </p:txBody>
          </p:sp>
          <p:sp>
            <p:nvSpPr>
              <p:cNvPr id="14" name="rule-13">
                <a:extLst xmlns:a="http://schemas.openxmlformats.org/drawingml/2006/main">
                  <a:ext uri="{FF2B5EF4-FFF2-40B4-BE49-F238E27FC236}">
                    <a16:creationId xmlns:a16="http://schemas.microsoft.com/office/drawing/2014/main" id="{A0EF8148-D8EF-4BA3-811E-C30CFED901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2247900"/>
                <a:ext cx="13868400" cy="9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DDD8E6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15" name="row-label-14">
                <a:extLst xmlns:a="http://schemas.openxmlformats.org/drawingml/2006/main">
                  <a:ext uri="{FF2B5EF4-FFF2-40B4-BE49-F238E27FC236}">
                    <a16:creationId xmlns:a16="http://schemas.microsoft.com/office/drawing/2014/main" id="{7A16B4E9-E2AF-4BE1-B19C-0C87DDE29D7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2381250"/>
                <a:ext cx="13335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275" b="1" i="0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Training signal</a:t>
                </a:r>
              </a:p>
            </p:txBody>
          </p:sp>
          <p:sp>
            <p:nvSpPr>
              <p:cNvPr id="16" name="cell-15">
                <a:extLst xmlns:a="http://schemas.openxmlformats.org/drawingml/2006/main">
                  <a:ext uri="{FF2B5EF4-FFF2-40B4-BE49-F238E27FC236}">
                    <a16:creationId xmlns:a16="http://schemas.microsoft.com/office/drawing/2014/main" id="{82F8EB7A-3634-4677-9731-3DA10D2814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57400" y="23622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Downstream task loss, such as forecast error, through a frozen or adapted backbone.</a:t>
                </a:r>
              </a:p>
            </p:txBody>
          </p:sp>
          <p:sp>
            <p:nvSpPr>
              <p:cNvPr id="17" name="cell-16">
                <a:extLst xmlns:a="http://schemas.openxmlformats.org/drawingml/2006/main">
                  <a:ext uri="{FF2B5EF4-FFF2-40B4-BE49-F238E27FC236}">
                    <a16:creationId xmlns:a16="http://schemas.microsoft.com/office/drawing/2014/main" id="{B88F061A-2FE8-47A7-9049-FA4DC3D3DEC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96025" y="23622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Attribute-based instructions, distilled reasoning or forecast rewards.</a:t>
                </a:r>
              </a:p>
            </p:txBody>
          </p:sp>
          <p:sp>
            <p:nvSpPr>
              <p:cNvPr id="18" name="cell-17">
                <a:extLst xmlns:a="http://schemas.openxmlformats.org/drawingml/2006/main">
                  <a:ext uri="{FF2B5EF4-FFF2-40B4-BE49-F238E27FC236}">
                    <a16:creationId xmlns:a16="http://schemas.microsoft.com/office/drawing/2014/main" id="{8091FBEB-3CF7-4FE0-8D27-76B94D015D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534650" y="23622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Supervised trajectories, then RL. ChatAD uses graded preferences.</a:t>
                </a:r>
              </a:p>
            </p:txBody>
          </p:sp>
          <p:sp>
            <p:nvSpPr>
              <p:cNvPr id="19" name="rule-18">
                <a:extLst xmlns:a="http://schemas.openxmlformats.org/drawingml/2006/main">
                  <a:ext uri="{FF2B5EF4-FFF2-40B4-BE49-F238E27FC236}">
                    <a16:creationId xmlns:a16="http://schemas.microsoft.com/office/drawing/2014/main" id="{8127C721-CD52-4D0C-8969-C7E0B3B619A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2857500"/>
                <a:ext cx="13868400" cy="9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DDD8E6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20" name="row-label-19">
                <a:extLst xmlns:a="http://schemas.openxmlformats.org/drawingml/2006/main">
                  <a:ext uri="{FF2B5EF4-FFF2-40B4-BE49-F238E27FC236}">
                    <a16:creationId xmlns:a16="http://schemas.microsoft.com/office/drawing/2014/main" id="{F2A8EAB0-C5B0-46B3-8432-C42A1D972B8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2990850"/>
                <a:ext cx="13335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275" b="1" i="0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Harness support</a:t>
                </a:r>
              </a:p>
            </p:txBody>
          </p:sp>
          <p:sp>
            <p:nvSpPr>
              <p:cNvPr id="21" name="cell-20">
                <a:extLst xmlns:a="http://schemas.openxmlformats.org/drawingml/2006/main">
                  <a:ext uri="{FF2B5EF4-FFF2-40B4-BE49-F238E27FC236}">
                    <a16:creationId xmlns:a16="http://schemas.microsoft.com/office/drawing/2014/main" id="{4B0AC133-1107-4088-AA3B-A0BB32C50B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57400" y="29718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Windows, channel, unit and scale metadata, consistent preprocessing, tool routing.</a:t>
                </a:r>
              </a:p>
            </p:txBody>
          </p:sp>
          <p:sp>
            <p:nvSpPr>
              <p:cNvPr id="22" name="cell-21">
                <a:extLst xmlns:a="http://schemas.openxmlformats.org/drawingml/2006/main">
                  <a:ext uri="{FF2B5EF4-FFF2-40B4-BE49-F238E27FC236}">
                    <a16:creationId xmlns:a16="http://schemas.microsoft.com/office/drawing/2014/main" id="{E959D1D1-F2F9-44DD-883B-FF694D6F0D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96025" y="29718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Series–text correspondence, chronological forecast scoring, feature synchronization.</a:t>
                </a:r>
              </a:p>
            </p:txBody>
          </p:sp>
          <p:sp>
            <p:nvSpPr>
              <p:cNvPr id="23" name="cell-22">
                <a:extLst xmlns:a="http://schemas.openxmlformats.org/drawingml/2006/main">
                  <a:ext uri="{FF2B5EF4-FFF2-40B4-BE49-F238E27FC236}">
                    <a16:creationId xmlns:a16="http://schemas.microsoft.com/office/drawing/2014/main" id="{372FC031-8DCE-4546-B875-EBFA6DA106F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534650" y="2971800"/>
                <a:ext cx="40195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Tool observations or optimizer histories, retained state, valid calls, recorded outcomes.</a:t>
                </a:r>
              </a:p>
            </p:txBody>
          </p:sp>
          <p:sp>
            <p:nvSpPr>
              <p:cNvPr id="24" name="rule-23">
                <a:extLst xmlns:a="http://schemas.openxmlformats.org/drawingml/2006/main">
                  <a:ext uri="{FF2B5EF4-FFF2-40B4-BE49-F238E27FC236}">
                    <a16:creationId xmlns:a16="http://schemas.microsoft.com/office/drawing/2014/main" id="{542492D0-E16F-41C7-9454-6C6A6AC48F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3467100"/>
                <a:ext cx="13868400" cy="95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DDD8E6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25" name="row-label-24">
                <a:extLst xmlns:a="http://schemas.openxmlformats.org/drawingml/2006/main">
                  <a:ext uri="{FF2B5EF4-FFF2-40B4-BE49-F238E27FC236}">
                    <a16:creationId xmlns:a16="http://schemas.microsoft.com/office/drawing/2014/main" id="{3543C6A9-7DF3-4AA0-9F28-5ECA8FFC92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3600450"/>
                <a:ext cx="13335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275" b="1" i="0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Examples</a:t>
                </a:r>
              </a:p>
            </p:txBody>
          </p:sp>
          <p:sp>
            <p:nvSpPr>
              <p:cNvPr id="26" name="cell-25">
                <a:extLst xmlns:a="http://schemas.openxmlformats.org/drawingml/2006/main">
                  <a:ext uri="{FF2B5EF4-FFF2-40B4-BE49-F238E27FC236}">
                    <a16:creationId xmlns:a16="http://schemas.microsoft.com/office/drawing/2014/main" id="{F12FA0BA-DE32-4C69-A6FC-091B7D560D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57400" y="3581400"/>
                <a:ext cx="40195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1">
                    <a:solidFill>
                      <a:srgbClr val="5B4A8B"/>
                    </a:solidFill>
                    <a:latin typeface="Times New Roman"/>
                    <a:ea typeface="Times New Roman"/>
                    <a:cs typeface="Times New Roman"/>
                  </a:rPr>
                  <a:t>Time-LLM, LLM4TS, ChatTS, Agentic RAG</a:t>
                </a:r>
              </a:p>
            </p:txBody>
          </p:sp>
          <p:sp>
            <p:nvSpPr>
              <p:cNvPr id="27" name="cell-26">
                <a:extLst xmlns:a="http://schemas.openxmlformats.org/drawingml/2006/main">
                  <a:ext uri="{FF2B5EF4-FFF2-40B4-BE49-F238E27FC236}">
                    <a16:creationId xmlns:a16="http://schemas.microsoft.com/office/drawing/2014/main" id="{58557B1C-D8E4-4611-8B1D-ED7B397506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96025" y="3581400"/>
                <a:ext cx="40195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1">
                    <a:solidFill>
                      <a:srgbClr val="5B4A8B"/>
                    </a:solidFill>
                    <a:latin typeface="Times New Roman"/>
                    <a:ea typeface="Times New Roman"/>
                    <a:cs typeface="Times New Roman"/>
                  </a:rPr>
                  <a:t>ChatTS, Chow et al., Time-R1, STRIDE</a:t>
                </a:r>
              </a:p>
            </p:txBody>
          </p:sp>
          <p:sp>
            <p:nvSpPr>
              <p:cNvPr id="28" name="cell-27">
                <a:extLst xmlns:a="http://schemas.openxmlformats.org/drawingml/2006/main">
                  <a:ext uri="{FF2B5EF4-FFF2-40B4-BE49-F238E27FC236}">
                    <a16:creationId xmlns:a16="http://schemas.microsoft.com/office/drawing/2014/main" id="{7EB4F08C-563F-4913-9717-A41A0B81827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534650" y="3581400"/>
                <a:ext cx="40195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0" i="1">
                    <a:solidFill>
                      <a:srgbClr val="5B4A8B"/>
                    </a:solidFill>
                    <a:latin typeface="Times New Roman"/>
                    <a:ea typeface="Times New Roman"/>
                    <a:cs typeface="Times New Roman"/>
                  </a:rPr>
                  <a:t>TSOrchestra, CastFSR, TimeART, ChatAD</a:t>
                </a:r>
              </a:p>
            </p:txBody>
          </p:sp>
        </p:grpSp>
        <p:grpSp>
          <p:nvGrpSpPr>
            <p:cNvPr id="158" name="Model workflow and harness layers"/>
            <p:cNvGrpSpPr/>
            <p:nvPr/>
          </p:nvGrpSpPr>
          <p:grpSpPr>
            <ns1:xfrm xmlns:ns1="http://schemas.openxmlformats.org/drawingml/2006/main">
              <ns1:off x="685800" y="4086225"/>
              <ns1:ext cx="13868400" cy="3209925"/>
              <ns1:chOff x="685800" y="4086225"/>
              <ns1:chExt cx="13868400" cy="3209925"/>
            </ns1:xfrm>
          </p:grpSpPr>
          <p:sp>
            <p:nvSpPr>
              <p:cNvPr id="29" name="inputs-28">
                <a:extLst xmlns:a="http://schemas.openxmlformats.org/drawingml/2006/main">
                  <a:ext uri="{FF2B5EF4-FFF2-40B4-BE49-F238E27FC236}">
                    <a16:creationId xmlns:a16="http://schemas.microsoft.com/office/drawing/2014/main" id="{FF9E5ADC-D2BE-4180-9741-CD96DB7798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4229100"/>
                <a:ext cx="1428750" cy="1257300"/>
              </a:xfrm>
              <a:prstGeom xmlns:a="http://schemas.openxmlformats.org/drawingml/2006/main" prst="roundRect">
                <a:avLst>
                  <a:gd name="adj" fmla="val 9091"/>
                </a:avLst>
              </a:prstGeom>
              <a:solidFill xmlns:a="http://schemas.openxmlformats.org/drawingml/2006/main">
                <a:srgbClr val="EFEEEA"/>
              </a:solidFill>
              <a:ln xmlns:a="http://schemas.openxmlformats.org/drawingml/2006/main" w="14288">
                <a:solidFill>
                  <a:srgbClr val="C9C6BE"/>
                </a:solidFill>
                <a:prstDash val="solid"/>
              </a:ln>
            </p:spPr>
          </p:sp>
          <p:sp>
            <p:nvSpPr>
              <p:cNvPr id="30" name="series-glyph-29">
                <a:extLst xmlns:a="http://schemas.openxmlformats.org/drawingml/2006/main">
                  <a:ext uri="{FF2B5EF4-FFF2-40B4-BE49-F238E27FC236}">
                    <a16:creationId xmlns:a16="http://schemas.microsoft.com/office/drawing/2014/main" id="{2953C692-5727-4DD3-814C-1A306A5E2F0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9150" y="4476750"/>
                <a:ext cx="571500" cy="228600"/>
              </a:xfrm>
              <a:custGeom xmlns:a="http://schemas.openxmlformats.org/drawingml/2006/main">
                <a:pathLst>
                  <a:path w="571500" h="228600">
                    <a:moveTo>
                      <a:pt x="0" y="190500"/>
                    </a:moveTo>
                    <a:lnTo>
                      <a:pt x="57150" y="123825"/>
                    </a:lnTo>
                    <a:lnTo>
                      <a:pt x="114300" y="161925"/>
                    </a:lnTo>
                    <a:lnTo>
                      <a:pt x="171450" y="66675"/>
                    </a:lnTo>
                    <a:lnTo>
                      <a:pt x="228600" y="114300"/>
                    </a:lnTo>
                    <a:lnTo>
                      <a:pt x="285750" y="38100"/>
                    </a:lnTo>
                    <a:lnTo>
                      <a:pt x="342900" y="142875"/>
                    </a:lnTo>
                    <a:lnTo>
                      <a:pt x="400050" y="85725"/>
                    </a:lnTo>
                    <a:lnTo>
                      <a:pt x="457200" y="209550"/>
                    </a:lnTo>
                    <a:lnTo>
                      <a:pt x="514350" y="95250"/>
                    </a:lnTo>
                    <a:lnTo>
                      <a:pt x="571500" y="13335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3813">
                <a:solidFill>
                  <a:srgbClr val="55677A"/>
                </a:solidFill>
                <a:prstDash val="solid"/>
              </a:ln>
            </p:spPr>
          </p:sp>
          <p:sp>
            <p:nvSpPr>
              <p:cNvPr id="31" name="input-label-30">
                <a:extLst xmlns:a="http://schemas.openxmlformats.org/drawingml/2006/main">
                  <a:ext uri="{FF2B5EF4-FFF2-40B4-BE49-F238E27FC236}">
                    <a16:creationId xmlns:a16="http://schemas.microsoft.com/office/drawing/2014/main" id="{1A731BB3-E622-45ED-86B1-C8AA689A507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47800" y="4467225"/>
                <a:ext cx="6286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425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Series</a:t>
                </a:r>
              </a:p>
            </p:txBody>
          </p:sp>
          <p:sp>
            <p:nvSpPr>
              <p:cNvPr id="32" name="text-glyph-31">
                <a:extLst xmlns:a="http://schemas.openxmlformats.org/drawingml/2006/main">
                  <a:ext uri="{FF2B5EF4-FFF2-40B4-BE49-F238E27FC236}">
                    <a16:creationId xmlns:a16="http://schemas.microsoft.com/office/drawing/2014/main" id="{7013BE6A-629C-489B-8DF3-DFC2331BAB1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8200" y="5048250"/>
                <a:ext cx="533400" cy="285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8A96A2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33" name="text-glyph-32">
                <a:extLst xmlns:a="http://schemas.openxmlformats.org/drawingml/2006/main">
                  <a:ext uri="{FF2B5EF4-FFF2-40B4-BE49-F238E27FC236}">
                    <a16:creationId xmlns:a16="http://schemas.microsoft.com/office/drawing/2014/main" id="{59E2B526-4660-473E-A472-F59B6273D4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8200" y="5133975"/>
                <a:ext cx="419100" cy="285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8A96A2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34" name="text-glyph-33">
                <a:extLst xmlns:a="http://schemas.openxmlformats.org/drawingml/2006/main">
                  <a:ext uri="{FF2B5EF4-FFF2-40B4-BE49-F238E27FC236}">
                    <a16:creationId xmlns:a16="http://schemas.microsoft.com/office/drawing/2014/main" id="{2D2B523E-38F3-4415-9328-D693F0E9FC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8200" y="5219700"/>
                <a:ext cx="476250" cy="285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8A96A2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35" name="input-label-34">
                <a:extLst xmlns:a="http://schemas.openxmlformats.org/drawingml/2006/main">
                  <a:ext uri="{FF2B5EF4-FFF2-40B4-BE49-F238E27FC236}">
                    <a16:creationId xmlns:a16="http://schemas.microsoft.com/office/drawing/2014/main" id="{31007CBA-F320-4F19-9778-F7434156D2A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47800" y="5019675"/>
                <a:ext cx="62865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425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Text</a:t>
                </a:r>
              </a:p>
            </p:txBody>
          </p:sp>
          <p:sp>
            <p:nvSpPr>
              <p:cNvPr id="36" name="encoder-35">
                <a:extLst xmlns:a="http://schemas.openxmlformats.org/drawingml/2006/main">
                  <a:ext uri="{FF2B5EF4-FFF2-40B4-BE49-F238E27FC236}">
                    <a16:creationId xmlns:a16="http://schemas.microsoft.com/office/drawing/2014/main" id="{912D74EF-5F80-4191-8269-CACA3A44033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971800" y="4352925"/>
                <a:ext cx="2190750" cy="476250"/>
              </a:xfrm>
              <a:prstGeom xmlns:a="http://schemas.openxmlformats.org/drawingml/2006/main" prst="roundRect">
                <a:avLst>
                  <a:gd name="adj" fmla="val 24000"/>
                </a:avLst>
              </a:prstGeom>
              <a:solidFill xmlns:a="http://schemas.openxmlformats.org/drawingml/2006/main">
                <a:srgbClr val="EEEAF6"/>
              </a:solidFill>
              <a:ln xmlns:a="http://schemas.openxmlformats.org/drawingml/2006/main" w="19050">
                <a:solidFill>
                  <a:srgbClr val="8F80BF"/>
                </a:solidFill>
                <a:prstDash val="solid"/>
              </a:ln>
            </p:spPr>
            <p:txBody>
              <a:bodyPr xmlns:a="http://schemas.openxmlformats.org/drawingml/2006/main" wrap="none" lIns="0" tIns="5715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650" b="1" i="0">
                    <a:solidFill>
                      <a:srgbClr val="5B4A8B"/>
                    </a:solidFill>
                    <a:latin typeface="Times New Roman"/>
                    <a:ea typeface="Times New Roman"/>
                    <a:cs typeface="Times New Roman"/>
                  </a:rPr>
                  <a:t>Series encoder</a:t>
                </a:r>
              </a:p>
            </p:txBody>
          </p:sp>
          <p:sp>
            <p:nvSpPr>
              <p:cNvPr id="37" name="badge-36">
                <a:extLst xmlns:a="http://schemas.openxmlformats.org/drawingml/2006/main">
                  <a:ext uri="{FF2B5EF4-FFF2-40B4-BE49-F238E27FC236}">
                    <a16:creationId xmlns:a16="http://schemas.microsoft.com/office/drawing/2014/main" id="{26367B51-7FBF-4F03-BE2B-05F00C8519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790950" y="4210050"/>
                <a:ext cx="552450" cy="28575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5B4A8B"/>
              </a:solidFill>
              <a:ln xmlns:a="http://schemas.openxmlformats.org/drawingml/2006/main" w="23813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3.1</a:t>
                </a:r>
              </a:p>
            </p:txBody>
          </p:sp>
          <p:sp>
            <p:nvSpPr>
              <p:cNvPr id="38" name="llm-37">
                <a:extLst xmlns:a="http://schemas.openxmlformats.org/drawingml/2006/main">
                  <a:ext uri="{FF2B5EF4-FFF2-40B4-BE49-F238E27FC236}">
                    <a16:creationId xmlns:a16="http://schemas.microsoft.com/office/drawing/2014/main" id="{CCBD9224-8695-41A6-ACE6-8601EBD77C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972300" y="4229100"/>
                <a:ext cx="2667000" cy="1257300"/>
              </a:xfrm>
              <a:prstGeom xmlns:a="http://schemas.openxmlformats.org/drawingml/2006/main" prst="roundRect">
                <a:avLst>
                  <a:gd name="adj" fmla="val 10606"/>
                </a:avLst>
              </a:prstGeom>
              <a:solidFill xmlns:a="http://schemas.openxmlformats.org/drawingml/2006/main">
                <a:srgbClr val="46386F"/>
              </a:solidFill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3000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LLM</a:t>
                </a:r>
              </a:p>
              <a:p xmlns:a="http://schemas.openxmlformats.org/drawingml/2006/main">
                <a:pPr algn="ctr"/>
                <a:r>
                  <a:rPr sz="1500" b="0" i="1">
                    <a:solidFill>
                      <a:srgbClr val="CFC8E6"/>
                    </a:solidFill>
                    <a:latin typeface="Times New Roman"/>
                    <a:ea typeface="Times New Roman"/>
                    <a:cs typeface="Times New Roman"/>
                  </a:rPr>
                  <a:t>language backbone</a:t>
                </a:r>
              </a:p>
            </p:txBody>
          </p:sp>
          <p:sp>
            <p:nvSpPr>
              <p:cNvPr id="39" name="badge-38">
                <a:extLst xmlns:a="http://schemas.openxmlformats.org/drawingml/2006/main">
                  <a:ext uri="{FF2B5EF4-FFF2-40B4-BE49-F238E27FC236}">
                    <a16:creationId xmlns:a16="http://schemas.microsoft.com/office/drawing/2014/main" id="{08AB774A-B124-47C1-847E-6C364193EC4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029575" y="4086225"/>
                <a:ext cx="552450" cy="28575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5B4A8B"/>
              </a:solidFill>
              <a:ln xmlns:a="http://schemas.openxmlformats.org/drawingml/2006/main" w="23813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3.2</a:t>
                </a:r>
              </a:p>
            </p:txBody>
          </p:sp>
          <p:sp>
            <p:nvSpPr>
              <p:cNvPr id="40" name="actions-39">
                <a:extLst xmlns:a="http://schemas.openxmlformats.org/drawingml/2006/main">
                  <a:ext uri="{FF2B5EF4-FFF2-40B4-BE49-F238E27FC236}">
                    <a16:creationId xmlns:a16="http://schemas.microsoft.com/office/drawing/2014/main" id="{03FB48CF-30C9-4323-9BBC-EB36677C803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382375" y="4352925"/>
                <a:ext cx="2324100" cy="476250"/>
              </a:xfrm>
              <a:prstGeom xmlns:a="http://schemas.openxmlformats.org/drawingml/2006/main" prst="roundRect">
                <a:avLst>
                  <a:gd name="adj" fmla="val 24000"/>
                </a:avLst>
              </a:prstGeom>
              <a:solidFill xmlns:a="http://schemas.openxmlformats.org/drawingml/2006/main">
                <a:srgbClr val="EEEAF6"/>
              </a:solidFill>
              <a:ln xmlns:a="http://schemas.openxmlformats.org/drawingml/2006/main" w="19050">
                <a:solidFill>
                  <a:srgbClr val="8F80BF"/>
                </a:solidFill>
                <a:prstDash val="solid"/>
              </a:ln>
            </p:spPr>
            <p:txBody>
              <a:bodyPr xmlns:a="http://schemas.openxmlformats.org/drawingml/2006/main" wrap="none" lIns="0" tIns="5715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650" b="1" i="0">
                    <a:solidFill>
                      <a:srgbClr val="5B4A8B"/>
                    </a:solidFill>
                    <a:latin typeface="Times New Roman"/>
                    <a:ea typeface="Times New Roman"/>
                    <a:cs typeface="Times New Roman"/>
                  </a:rPr>
                  <a:t>Workflow actions</a:t>
                </a:r>
              </a:p>
            </p:txBody>
          </p:sp>
          <p:sp>
            <p:nvSpPr>
              <p:cNvPr id="41" name="badge-40">
                <a:extLst xmlns:a="http://schemas.openxmlformats.org/drawingml/2006/main">
                  <a:ext uri="{FF2B5EF4-FFF2-40B4-BE49-F238E27FC236}">
                    <a16:creationId xmlns:a16="http://schemas.microsoft.com/office/drawing/2014/main" id="{2C11FF32-8B1B-4D27-81BB-A0D4863394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268200" y="4210050"/>
                <a:ext cx="552450" cy="28575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5B4A8B"/>
              </a:solidFill>
              <a:ln xmlns:a="http://schemas.openxmlformats.org/drawingml/2006/main" w="23813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275" b="1" i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3.3</a:t>
                </a:r>
              </a:p>
            </p:txBody>
          </p:sp>
          <p:sp>
            <p:nvSpPr>
              <p:cNvPr id="42" name="outputs-41">
                <a:extLst xmlns:a="http://schemas.openxmlformats.org/drawingml/2006/main">
                  <a:ext uri="{FF2B5EF4-FFF2-40B4-BE49-F238E27FC236}">
                    <a16:creationId xmlns:a16="http://schemas.microsoft.com/office/drawing/2014/main" id="{35A81990-B6CF-4C23-BD76-CB737D7E9CA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382375" y="4905375"/>
                <a:ext cx="2324100" cy="476250"/>
              </a:xfrm>
              <a:prstGeom xmlns:a="http://schemas.openxmlformats.org/drawingml/2006/main" prst="roundRect">
                <a:avLst>
                  <a:gd name="adj" fmla="val 24000"/>
                </a:avLst>
              </a:prstGeom>
              <a:solidFill xmlns:a="http://schemas.openxmlformats.org/drawingml/2006/main">
                <a:srgbClr val="EFEEEA"/>
              </a:solidFill>
              <a:ln xmlns:a="http://schemas.openxmlformats.org/drawingml/2006/main" w="14288">
                <a:solidFill>
                  <a:srgbClr val="C9C6BE"/>
                </a:solidFill>
                <a:prstDash val="solid"/>
              </a:ln>
            </p:spPr>
            <p:txBody>
              <a:bodyPr xmlns:a="http://schemas.openxmlformats.org/drawingml/2006/main" wrap="none" lIns="0" tIns="5715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/>
                <a:r>
                  <a:rPr sz="1650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Forecasts and answers</a:t>
                </a:r>
              </a:p>
            </p:txBody>
          </p:sp>
          <p:sp>
            <p:nvSpPr>
              <p:cNvPr id="43" name="anchor-42">
                <a:extLst xmlns:a="http://schemas.openxmlformats.org/drawingml/2006/main">
                  <a:ext uri="{FF2B5EF4-FFF2-40B4-BE49-F238E27FC236}">
                    <a16:creationId xmlns:a16="http://schemas.microsoft.com/office/drawing/2014/main" id="{3427F414-4F6C-4E6C-A84A-ECC1DC9D69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05025" y="458152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44" name="anchor-43">
                <a:extLst xmlns:a="http://schemas.openxmlformats.org/drawingml/2006/main">
                  <a:ext uri="{FF2B5EF4-FFF2-40B4-BE49-F238E27FC236}">
                    <a16:creationId xmlns:a16="http://schemas.microsoft.com/office/drawing/2014/main" id="{31D4C0FB-6EB0-44AC-A290-AD715456C55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962275" y="458152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cxnSp>
            <p:nvCxnSpPr>
              <p:cNvPr id="127" name=""/>
              <p:cNvCxnSpPr>
                <a:stCxn xmlns:a="http://schemas.openxmlformats.org/drawingml/2006/main" id="43" idx="3"/>
                <a:endCxn xmlns:a="http://schemas.openxmlformats.org/drawingml/2006/main" id="44" idx="1"/>
              </p:cNvCxnSpPr>
              <p:nvPr/>
            </p:nvCxnSpPr>
            <p:spPr>
              <a:xfrm xmlns:a="http://schemas.openxmlformats.org/drawingml/2006/main">
                <a:off x="2124075" y="4591050"/>
                <a:ext cx="838200" cy="0"/>
              </a:xfrm>
              <a:prstGeom xmlns:a="http://schemas.openxmlformats.org/drawingml/2006/main" prst="straightConnector1">
                <a:avLst/>
              </a:prstGeom>
              <a:ln xmlns:a="http://schemas.openxmlformats.org/drawingml/2006/main" w="19050">
                <a:solidFill>
                  <a:srgbClr val="8E99A4"/>
                </a:solidFill>
                <a:prstDash val="solid"/>
                <a:tailEnd type="triangle" w="lg" len="lg"/>
              </a:ln>
            </p:spPr>
          </p:cxnSp>
          <p:sp>
            <p:nvSpPr>
              <p:cNvPr id="46" name="anchor-44">
                <a:extLst xmlns:a="http://schemas.openxmlformats.org/drawingml/2006/main">
                  <a:ext uri="{FF2B5EF4-FFF2-40B4-BE49-F238E27FC236}">
                    <a16:creationId xmlns:a16="http://schemas.microsoft.com/office/drawing/2014/main" id="{994C6956-D3A6-4919-9E7A-50D1998D1D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153025" y="458152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47" name="anchor-45">
                <a:extLst xmlns:a="http://schemas.openxmlformats.org/drawingml/2006/main">
                  <a:ext uri="{FF2B5EF4-FFF2-40B4-BE49-F238E27FC236}">
                    <a16:creationId xmlns:a16="http://schemas.microsoft.com/office/drawing/2014/main" id="{6863CC60-F11E-4412-9865-59F1D6B3D8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962775" y="458152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cxnSp>
            <p:nvCxnSpPr>
              <p:cNvPr id="130" name=""/>
              <p:cNvCxnSpPr>
                <a:stCxn xmlns:a="http://schemas.openxmlformats.org/drawingml/2006/main" id="46" idx="3"/>
                <a:endCxn xmlns:a="http://schemas.openxmlformats.org/drawingml/2006/main" id="47" idx="1"/>
              </p:cNvCxnSpPr>
              <p:nvPr/>
            </p:nvCxnSpPr>
            <p:spPr>
              <a:xfrm xmlns:a="http://schemas.openxmlformats.org/drawingml/2006/main">
                <a:off x="5172075" y="4591050"/>
                <a:ext cx="1790700" cy="0"/>
              </a:xfrm>
              <a:prstGeom xmlns:a="http://schemas.openxmlformats.org/drawingml/2006/main" prst="straightConnector1">
                <a:avLst/>
              </a:prstGeom>
              <a:ln xmlns:a="http://schemas.openxmlformats.org/drawingml/2006/main" w="19050">
                <a:solidFill>
                  <a:srgbClr val="8E99A4"/>
                </a:solidFill>
                <a:prstDash val="solid"/>
                <a:tailEnd type="triangle" w="lg" len="lg"/>
              </a:ln>
            </p:spPr>
          </p:cxnSp>
          <p:sp>
            <p:nvSpPr>
              <p:cNvPr id="49" name="anchor-46">
                <a:extLst xmlns:a="http://schemas.openxmlformats.org/drawingml/2006/main">
                  <a:ext uri="{FF2B5EF4-FFF2-40B4-BE49-F238E27FC236}">
                    <a16:creationId xmlns:a16="http://schemas.microsoft.com/office/drawing/2014/main" id="{81BF7521-F344-48C2-B211-7F080C92EF4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105025" y="513397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50" name="anchor-47">
                <a:extLst xmlns:a="http://schemas.openxmlformats.org/drawingml/2006/main">
                  <a:ext uri="{FF2B5EF4-FFF2-40B4-BE49-F238E27FC236}">
                    <a16:creationId xmlns:a16="http://schemas.microsoft.com/office/drawing/2014/main" id="{64CF7CC8-C614-42E7-B948-A3149EE2E6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962775" y="513397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cxnSp>
            <p:nvCxnSpPr>
              <p:cNvPr id="133" name=""/>
              <p:cNvCxnSpPr>
                <a:stCxn xmlns:a="http://schemas.openxmlformats.org/drawingml/2006/main" id="49" idx="3"/>
                <a:endCxn xmlns:a="http://schemas.openxmlformats.org/drawingml/2006/main" id="50" idx="1"/>
              </p:cNvCxnSpPr>
              <p:nvPr/>
            </p:nvCxnSpPr>
            <p:spPr>
              <a:xfrm xmlns:a="http://schemas.openxmlformats.org/drawingml/2006/main">
                <a:off x="2124075" y="5143500"/>
                <a:ext cx="4838700" cy="0"/>
              </a:xfrm>
              <a:prstGeom xmlns:a="http://schemas.openxmlformats.org/drawingml/2006/main" prst="straightConnector1">
                <a:avLst/>
              </a:prstGeom>
              <a:ln xmlns:a="http://schemas.openxmlformats.org/drawingml/2006/main" w="19050">
                <a:solidFill>
                  <a:srgbClr val="8E99A4"/>
                </a:solidFill>
                <a:prstDash val="solid"/>
                <a:tailEnd type="triangle" w="lg" len="lg"/>
              </a:ln>
            </p:spPr>
          </p:cxnSp>
          <p:sp>
            <p:nvSpPr>
              <p:cNvPr id="52" name="anchor-48">
                <a:extLst xmlns:a="http://schemas.openxmlformats.org/drawingml/2006/main">
                  <a:ext uri="{FF2B5EF4-FFF2-40B4-BE49-F238E27FC236}">
                    <a16:creationId xmlns:a16="http://schemas.microsoft.com/office/drawing/2014/main" id="{C8513EBD-AE03-4E0A-8740-380BB75828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629775" y="458152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53" name="anchor-49">
                <a:extLst xmlns:a="http://schemas.openxmlformats.org/drawingml/2006/main">
                  <a:ext uri="{FF2B5EF4-FFF2-40B4-BE49-F238E27FC236}">
                    <a16:creationId xmlns:a16="http://schemas.microsoft.com/office/drawing/2014/main" id="{D1C953FC-5AB8-4756-BA66-CD20E63271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372850" y="458152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cxnSp>
            <p:nvCxnSpPr>
              <p:cNvPr id="136" name=""/>
              <p:cNvCxnSpPr>
                <a:stCxn xmlns:a="http://schemas.openxmlformats.org/drawingml/2006/main" id="52" idx="3"/>
                <a:endCxn xmlns:a="http://schemas.openxmlformats.org/drawingml/2006/main" id="53" idx="1"/>
              </p:cNvCxnSpPr>
              <p:nvPr/>
            </p:nvCxnSpPr>
            <p:spPr>
              <a:xfrm xmlns:a="http://schemas.openxmlformats.org/drawingml/2006/main">
                <a:off x="9648825" y="4591050"/>
                <a:ext cx="1724025" cy="0"/>
              </a:xfrm>
              <a:prstGeom xmlns:a="http://schemas.openxmlformats.org/drawingml/2006/main" prst="straightConnector1">
                <a:avLst/>
              </a:prstGeom>
              <a:ln xmlns:a="http://schemas.openxmlformats.org/drawingml/2006/main" w="19050">
                <a:solidFill>
                  <a:srgbClr val="8E99A4"/>
                </a:solidFill>
                <a:prstDash val="solid"/>
                <a:tailEnd type="triangle" w="lg" len="lg"/>
              </a:ln>
            </p:spPr>
          </p:cxnSp>
          <p:sp>
            <p:nvSpPr>
              <p:cNvPr id="55" name="anchor-50">
                <a:extLst xmlns:a="http://schemas.openxmlformats.org/drawingml/2006/main">
                  <a:ext uri="{FF2B5EF4-FFF2-40B4-BE49-F238E27FC236}">
                    <a16:creationId xmlns:a16="http://schemas.microsoft.com/office/drawing/2014/main" id="{2A4146E0-3B95-4967-B7A0-DCB04FF226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629775" y="513397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56" name="anchor-51">
                <a:extLst xmlns:a="http://schemas.openxmlformats.org/drawingml/2006/main">
                  <a:ext uri="{FF2B5EF4-FFF2-40B4-BE49-F238E27FC236}">
                    <a16:creationId xmlns:a16="http://schemas.microsoft.com/office/drawing/2014/main" id="{98D5C7C9-1E18-4A34-9E09-E3D80B6635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372850" y="513397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cxnSp>
            <p:nvCxnSpPr>
              <p:cNvPr id="139" name=""/>
              <p:cNvCxnSpPr>
                <a:stCxn xmlns:a="http://schemas.openxmlformats.org/drawingml/2006/main" id="55" idx="3"/>
                <a:endCxn xmlns:a="http://schemas.openxmlformats.org/drawingml/2006/main" id="56" idx="1"/>
              </p:cNvCxnSpPr>
              <p:nvPr/>
            </p:nvCxnSpPr>
            <p:spPr>
              <a:xfrm xmlns:a="http://schemas.openxmlformats.org/drawingml/2006/main">
                <a:off x="9648825" y="5143500"/>
                <a:ext cx="1724025" cy="0"/>
              </a:xfrm>
              <a:prstGeom xmlns:a="http://schemas.openxmlformats.org/drawingml/2006/main" prst="straightConnector1">
                <a:avLst/>
              </a:prstGeom>
              <a:ln xmlns:a="http://schemas.openxmlformats.org/drawingml/2006/main" w="19050">
                <a:solidFill>
                  <a:srgbClr val="8E99A4"/>
                </a:solidFill>
                <a:prstDash val="solid"/>
                <a:tailEnd type="triangle" w="lg" len="lg"/>
              </a:ln>
            </p:spPr>
          </p:cxnSp>
          <p:sp>
            <p:nvSpPr>
              <p:cNvPr id="58" name="harness-layer-52">
                <a:extLst xmlns:a="http://schemas.openxmlformats.org/drawingml/2006/main">
                  <a:ext uri="{FF2B5EF4-FFF2-40B4-BE49-F238E27FC236}">
                    <a16:creationId xmlns:a16="http://schemas.microsoft.com/office/drawing/2014/main" id="{137D5F6A-5240-4050-9808-AE0B37671C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5943600"/>
                <a:ext cx="13868400" cy="1352550"/>
              </a:xfrm>
              <a:prstGeom xmlns:a="http://schemas.openxmlformats.org/drawingml/2006/main" prst="roundRect">
                <a:avLst>
                  <a:gd name="adj" fmla="val 8451"/>
                </a:avLst>
              </a:prstGeom>
              <a:solidFill xmlns:a="http://schemas.openxmlformats.org/drawingml/2006/main">
                <a:srgbClr val="EEF3F7"/>
              </a:solidFill>
              <a:ln xmlns:a="http://schemas.openxmlformats.org/drawingml/2006/main" w="14288">
                <a:solidFill>
                  <a:srgbClr val="7E9DB6"/>
                </a:solidFill>
                <a:prstDash val="solid"/>
              </a:ln>
            </p:spPr>
          </p:sp>
          <p:sp>
            <p:nvSpPr>
              <p:cNvPr id="59" name="harness-label-53">
                <a:extLst xmlns:a="http://schemas.openxmlformats.org/drawingml/2006/main">
                  <a:ext uri="{FF2B5EF4-FFF2-40B4-BE49-F238E27FC236}">
                    <a16:creationId xmlns:a16="http://schemas.microsoft.com/office/drawing/2014/main" id="{D8BE0FFF-B62F-4CA0-A7AA-1EE73FC9D2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76300" y="6019800"/>
                <a:ext cx="123444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3F6E8F"/>
                    </a:solidFill>
                    <a:latin typeface="Times New Roman"/>
                    <a:ea typeface="Times New Roman"/>
                    <a:cs typeface="Times New Roman"/>
                  </a:rPr>
                  <a:t>General Harness</a:t>
                </a:r>
                <a:r>
                  <a:rPr sz="1425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   domain-independent interaction, memory, planning, tool execution and feedback</a:t>
                </a:r>
              </a:p>
            </p:txBody>
          </p:sp>
          <p:sp>
            <p:nvSpPr>
              <p:cNvPr id="60" name="harness-section-54">
                <a:extLst xmlns:a="http://schemas.openxmlformats.org/drawingml/2006/main">
                  <a:ext uri="{FF2B5EF4-FFF2-40B4-BE49-F238E27FC236}">
                    <a16:creationId xmlns:a16="http://schemas.microsoft.com/office/drawing/2014/main" id="{35558799-FC12-48E8-B3C8-218B9132C6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220700" y="6029325"/>
                <a:ext cx="11430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r"/>
                <a:r>
                  <a:rPr sz="1350" b="0" i="1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Section 4</a:t>
                </a:r>
              </a:p>
            </p:txBody>
          </p:sp>
          <p:sp>
            <p:nvSpPr>
              <p:cNvPr id="61" name="harness-layer-55">
                <a:extLst xmlns:a="http://schemas.openxmlformats.org/drawingml/2006/main">
                  <a:ext uri="{FF2B5EF4-FFF2-40B4-BE49-F238E27FC236}">
                    <a16:creationId xmlns:a16="http://schemas.microsoft.com/office/drawing/2014/main" id="{7A729098-E716-401A-AF62-E6A27F54FD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57250" y="6324600"/>
                <a:ext cx="13525500" cy="876300"/>
              </a:xfrm>
              <a:prstGeom xmlns:a="http://schemas.openxmlformats.org/drawingml/2006/main" prst="roundRect">
                <a:avLst>
                  <a:gd name="adj" fmla="val 13043"/>
                </a:avLst>
              </a:prstGeom>
              <a:solidFill xmlns:a="http://schemas.openxmlformats.org/drawingml/2006/main">
                <a:srgbClr val="E2EBF2"/>
              </a:solidFill>
              <a:ln xmlns:a="http://schemas.openxmlformats.org/drawingml/2006/main" w="14288">
                <a:solidFill>
                  <a:srgbClr val="7E9DB6"/>
                </a:solidFill>
                <a:prstDash val="solid"/>
              </a:ln>
            </p:spPr>
          </p:sp>
          <p:sp>
            <p:nvSpPr>
              <p:cNvPr id="62" name="harness-label-56">
                <a:extLst xmlns:a="http://schemas.openxmlformats.org/drawingml/2006/main">
                  <a:ext uri="{FF2B5EF4-FFF2-40B4-BE49-F238E27FC236}">
                    <a16:creationId xmlns:a16="http://schemas.microsoft.com/office/drawing/2014/main" id="{44D0E231-D7BD-4459-AEF8-C7833159BE8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47750" y="6400800"/>
                <a:ext cx="120015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3F6E8F"/>
                    </a:solidFill>
                    <a:latin typeface="Times New Roman"/>
                    <a:ea typeface="Times New Roman"/>
                    <a:cs typeface="Times New Roman"/>
                  </a:rPr>
                  <a:t>General Time-Series Harness</a:t>
                </a:r>
                <a:r>
                  <a:rPr sz="1425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   temporal semantics and operations that serve several time-series tasks</a:t>
                </a:r>
              </a:p>
            </p:txBody>
          </p:sp>
          <p:sp>
            <p:nvSpPr>
              <p:cNvPr id="63" name="harness-section-57">
                <a:extLst xmlns:a="http://schemas.openxmlformats.org/drawingml/2006/main">
                  <a:ext uri="{FF2B5EF4-FFF2-40B4-BE49-F238E27FC236}">
                    <a16:creationId xmlns:a16="http://schemas.microsoft.com/office/drawing/2014/main" id="{4F41BA19-9266-4ED9-8D00-159369C3B05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049250" y="6410325"/>
                <a:ext cx="11430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r"/>
                <a:r>
                  <a:rPr sz="1350" b="0" i="1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Section 5</a:t>
                </a:r>
              </a:p>
            </p:txBody>
          </p:sp>
          <p:sp>
            <p:nvSpPr>
              <p:cNvPr id="64" name="harness-layer-58">
                <a:extLst xmlns:a="http://schemas.openxmlformats.org/drawingml/2006/main">
                  <a:ext uri="{FF2B5EF4-FFF2-40B4-BE49-F238E27FC236}">
                    <a16:creationId xmlns:a16="http://schemas.microsoft.com/office/drawing/2014/main" id="{AD884D5D-04FC-49B0-BD33-38D57B927CF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28700" y="6705600"/>
                <a:ext cx="13182600" cy="419100"/>
              </a:xfrm>
              <a:prstGeom xmlns:a="http://schemas.openxmlformats.org/drawingml/2006/main" prst="roundRect">
                <a:avLst>
                  <a:gd name="adj" fmla="val 27273"/>
                </a:avLst>
              </a:prstGeom>
              <a:solidFill xmlns:a="http://schemas.openxmlformats.org/drawingml/2006/main">
                <a:srgbClr val="D5E2EC"/>
              </a:solidFill>
              <a:ln xmlns:a="http://schemas.openxmlformats.org/drawingml/2006/main" w="14288">
                <a:solidFill>
                  <a:srgbClr val="7E9DB6"/>
                </a:solidFill>
                <a:prstDash val="solid"/>
              </a:ln>
            </p:spPr>
          </p:sp>
          <p:sp>
            <p:nvSpPr>
              <p:cNvPr id="65" name="harness-label-59">
                <a:extLst xmlns:a="http://schemas.openxmlformats.org/drawingml/2006/main">
                  <a:ext uri="{FF2B5EF4-FFF2-40B4-BE49-F238E27FC236}">
                    <a16:creationId xmlns:a16="http://schemas.microsoft.com/office/drawing/2014/main" id="{AF5A3BDC-74F6-491B-8719-65BFE4D423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19200" y="6781800"/>
                <a:ext cx="116586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3F6E8F"/>
                    </a:solidFill>
                    <a:latin typeface="Times New Roman"/>
                    <a:ea typeface="Times New Roman"/>
                    <a:cs typeface="Times New Roman"/>
                  </a:rPr>
                  <a:t>Task-Specific Harness</a:t>
                </a:r>
                <a:r>
                  <a:rPr sz="1425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   procedures whose outputs, objectives or validation depend on the task</a:t>
                </a:r>
              </a:p>
            </p:txBody>
          </p:sp>
          <p:sp>
            <p:nvSpPr>
              <p:cNvPr id="66" name="harness-section-60">
                <a:extLst xmlns:a="http://schemas.openxmlformats.org/drawingml/2006/main">
                  <a:ext uri="{FF2B5EF4-FFF2-40B4-BE49-F238E27FC236}">
                    <a16:creationId xmlns:a16="http://schemas.microsoft.com/office/drawing/2014/main" id="{9265967A-3220-4396-A590-F55CAC936BE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877800" y="6791325"/>
                <a:ext cx="11430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r"/>
                <a:r>
                  <a:rPr sz="1350" b="0" i="1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Section 6</a:t>
                </a:r>
              </a:p>
            </p:txBody>
          </p:sp>
          <p:sp>
            <p:nvSpPr>
              <p:cNvPr id="67" name="port-61">
                <a:extLst xmlns:a="http://schemas.openxmlformats.org/drawingml/2006/main">
                  <a:ext uri="{FF2B5EF4-FFF2-40B4-BE49-F238E27FC236}">
                    <a16:creationId xmlns:a16="http://schemas.microsoft.com/office/drawing/2014/main" id="{2C549536-C3A5-447F-81A3-2A4DFF08AD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23975" y="5867400"/>
                <a:ext cx="152400" cy="1524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F6E8F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p:spPr>
          </p:sp>
          <p:sp>
            <p:nvSpPr>
              <p:cNvPr id="68" name="port-62">
                <a:extLst xmlns:a="http://schemas.openxmlformats.org/drawingml/2006/main">
                  <a:ext uri="{FF2B5EF4-FFF2-40B4-BE49-F238E27FC236}">
                    <a16:creationId xmlns:a16="http://schemas.microsoft.com/office/drawing/2014/main" id="{C423D2CB-1D58-4D42-B788-5856D6E01E2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211300" y="5867400"/>
                <a:ext cx="152400" cy="1524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F6E8F"/>
              </a:solidFill>
              <a:ln xmlns:a="http://schemas.openxmlformats.org/drawingml/2006/main" w="19050">
                <a:solidFill>
                  <a:srgbClr val="FFFFFF"/>
                </a:solidFill>
                <a:prstDash val="solid"/>
              </a:ln>
            </p:spPr>
          </p:sp>
          <p:cxnSp>
            <p:nvCxnSpPr>
              <p:cNvPr id="151" name=""/>
              <p:cNvCxnSpPr>
                <a:stCxn xmlns:a="http://schemas.openxmlformats.org/drawingml/2006/main" id="67" idx="0"/>
                <a:endCxn xmlns:a="http://schemas.openxmlformats.org/drawingml/2006/main" id="29" idx="2"/>
              </p:cNvCxnSpPr>
              <p:nvPr/>
            </p:nvCxnSpPr>
            <p:spPr>
              <a:xfrm xmlns:a="http://schemas.openxmlformats.org/drawingml/2006/main" flipV="1">
                <a:off x="1400175" y="5486400"/>
                <a:ext cx="0" cy="381000"/>
              </a:xfrm>
              <a:prstGeom xmlns:a="http://schemas.openxmlformats.org/drawingml/2006/main" prst="straightConnector1">
                <a:avLst/>
              </a:prstGeom>
              <a:ln xmlns:a="http://schemas.openxmlformats.org/drawingml/2006/main" w="19050">
                <a:solidFill>
                  <a:srgbClr val="3F6E8F"/>
                </a:solidFill>
                <a:prstDash val="solid"/>
                <a:tailEnd type="triangle" w="lg" len="lg"/>
              </a:ln>
            </p:spPr>
          </p:cxnSp>
          <p:sp>
            <p:nvSpPr>
              <p:cNvPr id="70" name="anchor-63">
                <a:extLst xmlns:a="http://schemas.openxmlformats.org/drawingml/2006/main">
                  <a:ext uri="{FF2B5EF4-FFF2-40B4-BE49-F238E27FC236}">
                    <a16:creationId xmlns:a16="http://schemas.microsoft.com/office/drawing/2014/main" id="{8FC02A05-3ED5-4D7E-AE88-C2126CEE81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696950" y="458152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cxnSp>
            <p:nvCxnSpPr>
              <p:cNvPr id="153" name=""/>
              <p:cNvCxnSpPr>
                <a:stCxn xmlns:a="http://schemas.openxmlformats.org/drawingml/2006/main" id="70" idx="3"/>
                <a:endCxn xmlns:a="http://schemas.openxmlformats.org/drawingml/2006/main" id="68" idx="0"/>
              </p:cNvCxnSpPr>
              <p:nvPr/>
            </p:nvCxnSpPr>
            <p:spPr>
              <a:xfrm xmlns:a="http://schemas.openxmlformats.org/drawingml/2006/main">
                <a:off x="13716000" y="4591050"/>
                <a:ext cx="571500" cy="1276350"/>
              </a:xfrm>
              <a:prstGeom xmlns:a="http://schemas.openxmlformats.org/drawingml/2006/main" prst="bentConnector2">
                <a:avLst/>
              </a:prstGeom>
              <a:ln xmlns:a="http://schemas.openxmlformats.org/drawingml/2006/main" w="19050">
                <a:solidFill>
                  <a:srgbClr val="3F6E8F"/>
                </a:solidFill>
                <a:prstDash val="solid"/>
                <a:tailEnd type="triangle" w="lg" len="lg"/>
              </a:ln>
            </p:spPr>
          </p:cxnSp>
          <p:sp>
            <p:nvSpPr>
              <p:cNvPr id="72" name="anchor-64">
                <a:extLst xmlns:a="http://schemas.openxmlformats.org/drawingml/2006/main">
                  <a:ext uri="{FF2B5EF4-FFF2-40B4-BE49-F238E27FC236}">
                    <a16:creationId xmlns:a16="http://schemas.microsoft.com/office/drawing/2014/main" id="{1A50F87D-6F44-4A48-9DF1-B1339E64E1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696950" y="5133975"/>
                <a:ext cx="19050" cy="19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</p:sp>
          <p:cxnSp>
            <p:nvCxnSpPr>
              <p:cNvPr id="155" name=""/>
              <p:cNvCxnSpPr>
                <a:stCxn xmlns:a="http://schemas.openxmlformats.org/drawingml/2006/main" id="72" idx="3"/>
                <a:endCxn xmlns:a="http://schemas.openxmlformats.org/drawingml/2006/main" id="68" idx="0"/>
              </p:cNvCxnSpPr>
              <p:nvPr/>
            </p:nvCxnSpPr>
            <p:spPr>
              <a:xfrm xmlns:a="http://schemas.openxmlformats.org/drawingml/2006/main">
                <a:off x="13716000" y="5143500"/>
                <a:ext cx="571500" cy="723900"/>
              </a:xfrm>
              <a:prstGeom xmlns:a="http://schemas.openxmlformats.org/drawingml/2006/main" prst="bentConnector2">
                <a:avLst/>
              </a:prstGeom>
              <a:ln xmlns:a="http://schemas.openxmlformats.org/drawingml/2006/main" w="19050">
                <a:solidFill>
                  <a:srgbClr val="3F6E8F"/>
                </a:solidFill>
                <a:prstDash val="solid"/>
                <a:tailEnd type="triangle" w="lg" len="lg"/>
              </a:ln>
            </p:spPr>
          </p:cxnSp>
          <p:sp>
            <p:nvSpPr>
              <p:cNvPr id="74" name="loop-label-65">
                <a:extLst xmlns:a="http://schemas.openxmlformats.org/drawingml/2006/main">
                  <a:ext uri="{FF2B5EF4-FFF2-40B4-BE49-F238E27FC236}">
                    <a16:creationId xmlns:a16="http://schemas.microsoft.com/office/drawing/2014/main" id="{A0DE7598-1C6A-46D3-895B-8C342EBB5C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524000" y="5619750"/>
                <a:ext cx="19050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425" b="0" i="1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observations</a:t>
                </a:r>
              </a:p>
            </p:txBody>
          </p:sp>
          <p:sp>
            <p:nvSpPr>
              <p:cNvPr id="75" name="loop-label-66">
                <a:extLst xmlns:a="http://schemas.openxmlformats.org/drawingml/2006/main">
                  <a:ext uri="{FF2B5EF4-FFF2-40B4-BE49-F238E27FC236}">
                    <a16:creationId xmlns:a16="http://schemas.microsoft.com/office/drawing/2014/main" id="{EAF1CC53-47AF-480D-8EC6-2E6457BED93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430000" y="5619750"/>
                <a:ext cx="2743200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non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r"/>
                <a:r>
                  <a:rPr sz="1425" b="0" i="1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outputs and actions</a:t>
                </a:r>
              </a:p>
            </p:txBody>
          </p:sp>
        </p:grpSp>
        <p:grpSp>
          <p:nvGrpSpPr>
            <p:cNvPr id="159" name="Evaluation criteria"/>
            <p:cNvGrpSpPr/>
            <p:nvPr/>
          </p:nvGrpSpPr>
          <p:grpSpPr>
            <ns1:xfrm xmlns:ns1="http://schemas.openxmlformats.org/drawingml/2006/main">
              <ns1:off x="685800" y="7467600"/>
              <ns1:ext cx="13868400" cy="914400"/>
              <ns1:chOff x="685800" y="7467600"/>
              <ns1:chExt cx="13868400" cy="914400"/>
            </ns1:xfrm>
          </p:grpSpPr>
          <p:sp>
            <p:nvSpPr>
              <p:cNvPr id="76" name="evaluation-67">
                <a:extLst xmlns:a="http://schemas.openxmlformats.org/drawingml/2006/main">
                  <a:ext uri="{FF2B5EF4-FFF2-40B4-BE49-F238E27FC236}">
                    <a16:creationId xmlns:a16="http://schemas.microsoft.com/office/drawing/2014/main" id="{70989C93-B45B-4A98-955D-EBA31EC6F1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7467600"/>
                <a:ext cx="13868400" cy="914400"/>
              </a:xfrm>
              <a:prstGeom xmlns:a="http://schemas.openxmlformats.org/drawingml/2006/main" prst="roundRect">
                <a:avLst>
                  <a:gd name="adj" fmla="val 10417"/>
                </a:avLst>
              </a:prstGeom>
              <a:solidFill xmlns:a="http://schemas.openxmlformats.org/drawingml/2006/main">
                <a:srgbClr val="FFF7E6"/>
              </a:solidFill>
              <a:ln xmlns:a="http://schemas.openxmlformats.org/drawingml/2006/main" w="9525">
                <a:solidFill>
                  <a:srgbClr val="EAD9B5"/>
                </a:solidFill>
                <a:prstDash val="solid"/>
              </a:ln>
            </p:spPr>
          </p:sp>
          <p:sp>
            <p:nvSpPr>
              <p:cNvPr id="77" name="evaluation-bar-68">
                <a:extLst xmlns:a="http://schemas.openxmlformats.org/drawingml/2006/main">
                  <a:ext uri="{FF2B5EF4-FFF2-40B4-BE49-F238E27FC236}">
                    <a16:creationId xmlns:a16="http://schemas.microsoft.com/office/drawing/2014/main" id="{61ACE589-E20A-459F-813B-5455A644A2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7467600"/>
                <a:ext cx="57150" cy="9144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B97C16"/>
              </a:solidFill>
              <a:ln xmlns:a="http://schemas.openxmlformats.org/drawingml/2006/main" w="0">
                <a:noFill/>
                <a:prstDash val="solid"/>
              </a:ln>
            </p:spPr>
          </p:sp>
          <p:sp>
            <p:nvSpPr>
              <p:cNvPr id="78" name="evaluation-head-69">
                <a:extLst xmlns:a="http://schemas.openxmlformats.org/drawingml/2006/main">
                  <a:ext uri="{FF2B5EF4-FFF2-40B4-BE49-F238E27FC236}">
                    <a16:creationId xmlns:a16="http://schemas.microsoft.com/office/drawing/2014/main" id="{6ABE327B-972E-4CDC-B082-3B5157679C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4400" y="7600950"/>
                <a:ext cx="238125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B97C16"/>
                    </a:solidFill>
                    <a:latin typeface="Times New Roman"/>
                    <a:ea typeface="Times New Roman"/>
                    <a:cs typeface="Times New Roman"/>
                  </a:rPr>
                  <a:t>Evaluate separately</a:t>
                </a:r>
              </a:p>
              <a:p xmlns:a="http://schemas.openxmlformats.org/drawingml/2006/main">
                <a:pPr algn="l"/>
                <a:r>
                  <a:rPr sz="1275" b="0" i="1">
                    <a:solidFill>
                      <a:srgbClr val="6A7480"/>
                    </a:solidFill>
                    <a:latin typeface="Times New Roman"/>
                    <a:ea typeface="Times New Roman"/>
                    <a:cs typeface="Times New Roman"/>
                  </a:rPr>
                  <a:t>Accuracy and judged answer quality do not establish faithfulness.</a:t>
                </a:r>
              </a:p>
            </p:txBody>
          </p:sp>
          <p:sp>
            <p:nvSpPr>
              <p:cNvPr id="79" name="criterion-70">
                <a:extLst xmlns:a="http://schemas.openxmlformats.org/drawingml/2006/main">
                  <a:ext uri="{FF2B5EF4-FFF2-40B4-BE49-F238E27FC236}">
                    <a16:creationId xmlns:a16="http://schemas.microsoft.com/office/drawing/2014/main" id="{C1279411-3A60-45A1-B685-4744146F63A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43300" y="7620000"/>
                <a:ext cx="26289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Forecast accuracy</a:t>
                </a:r>
              </a:p>
              <a:p xmlns:a="http://schemas.openxmlformats.org/drawingml/2006/main">
                <a:pPr algn="l"/>
                <a:r>
                  <a:rPr sz="135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held-out numerical errors such as MSE or MAE</a:t>
                </a:r>
              </a:p>
            </p:txBody>
          </p:sp>
          <p:sp>
            <p:nvSpPr>
              <p:cNvPr id="80" name="criterion-71">
                <a:extLst xmlns:a="http://schemas.openxmlformats.org/drawingml/2006/main">
                  <a:ext uri="{FF2B5EF4-FFF2-40B4-BE49-F238E27FC236}">
                    <a16:creationId xmlns:a16="http://schemas.microsoft.com/office/drawing/2014/main" id="{E5420CBF-0D28-4240-B563-165EEE3DA4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305550" y="7620000"/>
                <a:ext cx="26289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Explanation faithfulness</a:t>
                </a:r>
              </a:p>
              <a:p xmlns:a="http://schemas.openxmlformats.org/drawingml/2006/main">
                <a:pPr algn="l"/>
                <a:r>
                  <a:rPr sz="135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controlled interventions on claimed reasoning factors</a:t>
                </a:r>
              </a:p>
            </p:txBody>
          </p:sp>
          <p:sp>
            <p:nvSpPr>
              <p:cNvPr id="81" name="criterion-72">
                <a:extLst xmlns:a="http://schemas.openxmlformats.org/drawingml/2006/main">
                  <a:ext uri="{FF2B5EF4-FFF2-40B4-BE49-F238E27FC236}">
                    <a16:creationId xmlns:a16="http://schemas.microsoft.com/office/drawing/2014/main" id="{88A4F00F-5E15-44D5-A176-7ACB7C7E99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67800" y="7620000"/>
                <a:ext cx="26289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Evidence grounding</a:t>
                </a:r>
              </a:p>
              <a:p xmlns:a="http://schemas.openxmlformats.org/drawingml/2006/main">
                <a:pPr algn="l"/>
                <a:r>
                  <a:rPr sz="135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verification of cited observations and their availability times</a:t>
                </a:r>
              </a:p>
            </p:txBody>
          </p:sp>
          <p:sp>
            <p:nvSpPr>
              <p:cNvPr id="82" name="criterion-73">
                <a:extLst xmlns:a="http://schemas.openxmlformats.org/drawingml/2006/main">
                  <a:ext uri="{FF2B5EF4-FFF2-40B4-BE49-F238E27FC236}">
                    <a16:creationId xmlns:a16="http://schemas.microsoft.com/office/drawing/2014/main" id="{D00B04B4-E5B3-48D8-BEC1-C24C6BCFD4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830050" y="7620000"/>
                <a:ext cx="26289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/>
              <a:p xmlns:a="http://schemas.openxmlformats.org/drawingml/2006/main">
                <a:pPr algn="l"/>
                <a:r>
                  <a:rPr sz="1500" b="1" i="0">
                    <a:solidFill>
                      <a:srgbClr val="1F2B38"/>
                    </a:solidFill>
                    <a:latin typeface="Times New Roman"/>
                    <a:ea typeface="Times New Roman"/>
                    <a:cs typeface="Times New Roman"/>
                  </a:rPr>
                  <a:t>Action-selection quality</a:t>
                </a:r>
              </a:p>
              <a:p xmlns:a="http://schemas.openxmlformats.org/drawingml/2006/main">
                <a:pPr algn="l"/>
                <a:r>
                  <a:rPr sz="1350" b="0" i="0">
                    <a:solidFill>
                      <a:srgbClr val="2E3A46"/>
                    </a:solidFill>
                    <a:latin typeface="Times New Roman"/>
                    <a:ea typeface="Times New Roman"/>
                    <a:cs typeface="Times New Roman"/>
                  </a:rPr>
                  <a:t>execution-based evaluation of actions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