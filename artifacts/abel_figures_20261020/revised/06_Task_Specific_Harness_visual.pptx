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6459200" cy="11100816"/>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varScale="1">
        <p:scale>
          <a:sx n="73" d="100"/>
          <a:sy n="73" d="100"/>
        </p:scale>
        <p:origin x="164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685800" y="914400"/>
            <a:ext cx="5486400" cy="6858000"/>
          </a:xfrm>
          <a:prstGeom prst="rect">
            <a:avLst/>
          </a:prstGeom>
          <a:noFill/>
          <a:ln>
            <a:noFill/>
          </a:ln>
        </p:spPr>
        <p:txBody>
          <a:bodyPr/>
          <a:lstStyle/>
          <a:p>
            <a:r>
              <a:rPr lang="zh-CN" sz="1200"/>
              <a:t>Task-Specific Time-Series Harness: overview of the proposed section.</a:t>
            </a:r>
          </a:p>
          <a:p>
            <a:endParaRPr lang="zh-CN" sz="1200"/>
          </a:p>
          <a:p>
            <a:r>
              <a:rPr lang="zh-CN" sz="1200"/>
              <a:t>Content source: review/task_harness_proposed.tex. Module descriptions condense the functional procedures in that draft. Each family shows a set of procedures, not a mandatory chain. Listed inputs are alternatives across systems.</a:t>
            </a:r>
          </a:p>
          <a:p>
            <a:endParaRPr lang="zh-CN" sz="1200"/>
          </a:p>
          <a:p>
            <a:r>
              <a:rPr lang="zh-CN" sz="1200"/>
              <a:t>Visual references: review/figure_references/reference-02.png (parallel panels and distinct outputs), reference-10.png (mechanisms and evaluation), reference-12.png (task workflows). Original diagram, no copied reference artwork.</a:t>
            </a:r>
          </a:p>
          <a:p>
            <a:endParaRPr lang="zh-CN" sz="1200"/>
          </a:p>
          <a:p>
            <a:r>
              <a:rPr lang="zh-CN" sz="1200"/>
              <a:t>Source of the saved visual references: https://wlarkusqhgz2b3yr.usttp.larksuite.com/wiki/SjgywSy1niMvyVkP6WcuHlPrtBe?from=from_copylink</a:t>
            </a:r>
          </a:p>
          <a:p>
            <a:endParaRPr lang="zh-CN" sz="1200"/>
          </a:p>
          <a:p>
            <a:r>
              <a:rPr lang="zh-CN" sz="1200"/>
              <a:t>The series, intervals, probabilities, and action outcomes are schematic, not experimental results. Shown connections illustrate possible uses of the modules, rather than one universal pipeline. Risk feedback is used by some decision systems, not necessarily every system.</a:t>
            </a:r>
          </a:p>
          <a:p>
            <a:endParaRPr lang="zh-CN" sz="1200"/>
          </a:p>
          <a:p>
            <a:r>
              <a:rPr lang="zh-CN" sz="1200"/>
              <a:t>Representative systems by module (source details and evidence are in the proposed section and its bibliography):</a:t>
            </a:r>
          </a:p>
          <a:p>
            <a:endParaRPr lang="zh-CN" sz="1200"/>
          </a:p>
          <a:p>
            <a:r>
              <a:rPr lang="zh-CN" sz="1200"/>
              <a:t>Role key: filled charcoal rounded nodes identify agent/harness operations, including choosing tools or models, supplying context, revising prompts or outputs, and LLM reasoning. Grey rectangles identify numerical models or callable tools. White input boxes and unboxed plots are data, conditions, or outputs. A harness can implement orchestration without an LLM, and this role distinction does not establish the experimental benefit of the agent component.</a:t>
            </a:r>
          </a:p>
          <a:p>
            <a:endParaRPr lang="zh-CN" sz="1200"/>
          </a:p>
          <a:p>
            <a:r>
              <a:rPr lang="zh-CN" sz="1200"/>
              <a:t>Forecasting: M1-M3 are numerical forecasting candidates. The harness selects models and can combine their predictions. Contextual revision is a separate harness operation. Prompt updates require resolved outcomes, represented by observed-error feedback. The event branch illustrates LLM-based event prediction; trained-encoder alternatives such as TimeCAP are not drawn in that branch.</a:t>
            </a:r>
          </a:p>
          <a:p>
            <a:endParaRPr lang="zh-CN" sz="1200"/>
          </a:p>
          <a:p>
            <a:r>
              <a:rPr lang="zh-CN" sz="1200"/>
              <a:t>Synthesis: agents specify conditions and configure transformations. A diffusion generator or executable generator program produces numerical series; a transformation tool produces augmented views. Agents can generate instruction dialogues directly. Review operates on constructed examples. The grey learner trains on those examples, and downstream learning utility requires a separate evaluation from review acceptance.</a:t>
            </a:r>
          </a:p>
          <a:p>
            <a:endParaRPr lang="zh-CN" sz="1200"/>
          </a:p>
          <a:p>
            <a:r>
              <a:rPr lang="zh-CN" sz="1200"/>
              <a:t>Anomalies: a harness chooses probes, while numerical diagnostic tools and a detector compute evidence. The harness uses this evidence to refine intervals. Detector construction may generate rules or executable code and configure an existing detector; it need not train a new detector. Data and label requirements vary by method. Logs and interval evidence support proposed causes, marked with question marks because a causal diagnosis needs separate validation.</a:t>
            </a:r>
          </a:p>
          <a:p>
            <a:endParaRPr lang="zh-CN" sz="1200"/>
          </a:p>
          <a:p>
            <a:r>
              <a:rPr lang="zh-CN" sz="1200"/>
              <a:t>Decision support: the agent retrieves evidence, reasons about candidate futures, and selects an action with risk review. Future-state prediction remains an agent operation here, consistent with CoLLMLight-style reasoning. The grey simulator is a separate execution/evaluation tool, not an invented standalone time-series forecaster. Its observed outcomes provide feedback. Memory retrieval and risk review also occur in the financial decision literature. These are illustrative module combinations, not a claim that one published system implements the entire drawing.</a:t>
            </a:r>
          </a:p>
          <a:p>
            <a:endParaRPr lang="zh-CN" sz="1200"/>
          </a:p>
          <a:p>
            <a:r>
              <a:rPr lang="zh-CN" sz="1200"/>
              <a:t>Typography: Georgia headings and Avenir Next labels. Both fonts are installed on the authoring Mac, and the PDF export uses these exact typefaces. All visible content is native editable PowerPoint structure; the curves are schematic shape-editable paths, not data-linked charts.</a:t>
            </a:r>
          </a:p>
          <a:p>
            <a:endParaRPr lang="zh-CN" sz="1200"/>
          </a:p>
          <a:p>
            <a:r>
              <a:rPr lang="zh-CN" sz="1200"/>
              <a:t>Styling: each task family has its own panel tint and accent colour, used for its letter badge, evaluation pill, outputs, and feedback arrows. Role colours are shared across panels: charcoal nodes (Avenir Next Medium) for agent/harness operations, grey boxes for numerical models or tools. The evaluation pill at the bottom of each panel names the main evaluation criteria.</a:t>
            </a:r>
          </a:p>
          <a:p>
            <a:endParaRPr lang="zh-CN" sz="1200"/>
          </a:p>
          <a:p>
            <a:r>
              <a:rPr lang="zh-CN" sz="1200"/>
              <a:t>(a) Forecasting and prediction</a:t>
            </a:r>
          </a:p>
          <a:p>
            <a:endParaRPr lang="zh-CN" sz="1200"/>
          </a:p>
          <a:p>
            <a:r>
              <a:rPr lang="zh-CN" sz="1200"/>
              <a:t>Inputs: Historical series, horizon, available context.</a:t>
            </a:r>
          </a:p>
          <a:p>
            <a:endParaRPr lang="zh-CN" sz="1200"/>
          </a:p>
          <a:p>
            <a:r>
              <a:rPr lang="zh-CN" sz="1200"/>
              <a:t>Select and combine models: diagnostics and validation error. Examples: TimeSeriesScientist, TimeCopilot, HydroAgent.</a:t>
            </a:r>
          </a:p>
          <a:p>
            <a:endParaRPr lang="zh-CN" sz="1200"/>
          </a:p>
          <a:p>
            <a:r>
              <a:rPr lang="zh-CN" sz="1200"/>
              <a:t>Refine forecasting prompts: retrieve examples and revise. Examples: FLAIRR-TS.</a:t>
            </a:r>
          </a:p>
          <a:p>
            <a:endParaRPr lang="zh-CN" sz="1200"/>
          </a:p>
          <a:p>
            <a:r>
              <a:rPr lang="zh-CN" sz="1200"/>
              <a:t>Revise forecasts with context: external evidence or scenarios. Examples: CastFSR, CastFlow, Last-Mile Forecasting, SCENARIODIFF.</a:t>
            </a:r>
          </a:p>
          <a:p>
            <a:endParaRPr lang="zh-CN" sz="1200"/>
          </a:p>
          <a:p>
            <a:r>
              <a:rPr lang="zh-CN" sz="1200"/>
              <a:t>Predict events and probabilities: classification and calibration. Examples: TimeCAP, AIA Forecaster, AUDITFORECAST.</a:t>
            </a:r>
          </a:p>
          <a:p>
            <a:endParaRPr lang="zh-CN" sz="1200"/>
          </a:p>
          <a:p>
            <a:r>
              <a:rPr lang="zh-CN" sz="1200"/>
              <a:t>Outputs: Future values, distributions, or event probabilities. Evaluation: Forecast error and calibration. Respect information cutoffs. Check the complete horizon.</a:t>
            </a:r>
          </a:p>
          <a:p>
            <a:endParaRPr lang="zh-CN" sz="1200"/>
          </a:p>
          <a:p>
            <a:r>
              <a:rPr lang="zh-CN" sz="1200"/>
              <a:t>(b) Data augmentation and synthesis</a:t>
            </a:r>
          </a:p>
          <a:p>
            <a:endParaRPr lang="zh-CN" sz="1200"/>
          </a:p>
          <a:p>
            <a:r>
              <a:rPr lang="zh-CN" sz="1200"/>
              <a:t>Inputs: Observed examples, domain information, target learner.</a:t>
            </a:r>
          </a:p>
          <a:p>
            <a:endParaRPr lang="zh-CN" sz="1200"/>
          </a:p>
          <a:p>
            <a:r>
              <a:rPr lang="zh-CN" sz="1200"/>
              <a:t>Generate numerical series: text conditioning or programs. Examples: BRIDGE, MetaCaster.</a:t>
            </a:r>
          </a:p>
          <a:p>
            <a:endParaRPr lang="zh-CN" sz="1200"/>
          </a:p>
          <a:p>
            <a:r>
              <a:rPr lang="zh-CN" sz="1200"/>
              <a:t>Select and review augmentations: retrieve, transform, and assess. Examples: MERIT.</a:t>
            </a:r>
          </a:p>
          <a:p>
            <a:endParaRPr lang="zh-CN" sz="1200"/>
          </a:p>
          <a:p>
            <a:r>
              <a:rPr lang="zh-CN" sz="1200"/>
              <a:t>Generate instruction dialogues: construct and refine exchanges. Examples: ChatAD / TSEvol.</a:t>
            </a:r>
          </a:p>
          <a:p>
            <a:endParaRPr lang="zh-CN" sz="1200"/>
          </a:p>
          <a:p>
            <a:r>
              <a:rPr lang="zh-CN" sz="1200"/>
              <a:t>Outputs: Synthetic series, related views, or instruction dialogues. Evaluation: Fidelity and downstream utility. Realistic examples may not improve the target learner.</a:t>
            </a:r>
          </a:p>
          <a:p>
            <a:endParaRPr lang="zh-CN" sz="1200"/>
          </a:p>
          <a:p>
            <a:r>
              <a:rPr lang="zh-CN" sz="1200"/>
              <a:t>(c) Anomaly detection and diagnosis</a:t>
            </a:r>
          </a:p>
          <a:p>
            <a:endParaRPr lang="zh-CN" sz="1200"/>
          </a:p>
          <a:p>
            <a:r>
              <a:rPr lang="zh-CN" sz="1200"/>
              <a:t>Inputs: Series, contextual evidence, labels or detection requirements.</a:t>
            </a:r>
          </a:p>
          <a:p>
            <a:endParaRPr lang="zh-CN" sz="1200"/>
          </a:p>
          <a:p>
            <a:r>
              <a:rPr lang="zh-CN" sz="1200"/>
              <a:t>Acquire evidence and refine intervals: numerical tools and analyzers. Examples: AnomaMind, SAGE.</a:t>
            </a:r>
          </a:p>
          <a:p>
            <a:endParaRPr lang="zh-CN" sz="1200"/>
          </a:p>
          <a:p>
            <a:r>
              <a:rPr lang="zh-CN" sz="1200"/>
              <a:t>Construct a detector: detection rules or executable code. Examples: ARGOS, AD-AGENT.</a:t>
            </a:r>
          </a:p>
          <a:p>
            <a:endParaRPr lang="zh-CN" sz="1200"/>
          </a:p>
          <a:p>
            <a:r>
              <a:rPr lang="zh-CN" sz="1200"/>
              <a:t>Diagnose incidents: relate metrics, logs, and context. Examples: LEMAD.</a:t>
            </a:r>
          </a:p>
          <a:p>
            <a:endParaRPr lang="zh-CN" sz="1200"/>
          </a:p>
          <a:p>
            <a:r>
              <a:rPr lang="zh-CN" sz="1200"/>
              <a:t>Outputs: Anomalous intervals, detectors, or proposed causes. Evaluation: Detection and diagnostic validity. Calibrate detection thresholds. Validate proposed causes.</a:t>
            </a:r>
          </a:p>
          <a:p>
            <a:endParaRPr lang="zh-CN" sz="1200"/>
          </a:p>
          <a:p>
            <a:r>
              <a:rPr lang="zh-CN" sz="1200"/>
              <a:t>(d) Decision Support</a:t>
            </a:r>
          </a:p>
          <a:p>
            <a:endParaRPr lang="zh-CN" sz="1200"/>
          </a:p>
          <a:p>
            <a:r>
              <a:rPr lang="zh-CN" sz="1200"/>
              <a:t>Inputs: Temporal state, candidate actions, objectives and constraints.</a:t>
            </a:r>
          </a:p>
          <a:p>
            <a:endParaRPr lang="zh-CN" sz="1200"/>
          </a:p>
          <a:p>
            <a:r>
              <a:rPr lang="zh-CN" sz="1200"/>
              <a:t>Select decision evidence: retrieve relevant past events. Examples: FinMem.</a:t>
            </a:r>
          </a:p>
          <a:p>
            <a:endParaRPr lang="zh-CN" sz="1200"/>
          </a:p>
          <a:p>
            <a:r>
              <a:rPr lang="zh-CN" sz="1200"/>
              <a:t>Select actions and review risk: optimization or deliberation. Examples: FinCon, TradingAgents.</a:t>
            </a:r>
          </a:p>
          <a:p>
            <a:endParaRPr lang="zh-CN" sz="1200"/>
          </a:p>
          <a:p>
            <a:r>
              <a:rPr lang="zh-CN" sz="1200"/>
              <a:t>Predict action consequences: compare candidate future states. Examples: CoLLMLight.</a:t>
            </a:r>
          </a:p>
          <a:p>
            <a:endParaRPr lang="zh-CN" sz="1200"/>
          </a:p>
          <a:p>
            <a:r>
              <a:rPr lang="zh-CN" sz="1200"/>
              <a:t>Outputs: Actions or recommendations under stated constraints. Evaluation: Action outcomes, risk, and cost. Use untouched test periods. Check transfer beyond simulation.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22" name="Complete figure — ungroup to edit modules"/>
          <p:cNvGrpSpPr/>
          <p:nvPr/>
        </p:nvGrpSpPr>
        <p:grpSpPr>
          <a:xfrm>
            <a:off x="219456" y="201168"/>
            <a:ext cx="16020288" cy="10735056"/>
            <a:chOff x="219456" y="201168"/>
            <a:chExt cx="16020288" cy="10735056"/>
          </a:xfrm>
        </p:grpSpPr>
        <p:grpSp>
          <p:nvGrpSpPr>
            <p:cNvPr id="217" name="title-and-role-key"/>
            <p:cNvGrpSpPr/>
            <p:nvPr/>
          </p:nvGrpSpPr>
          <p:grpSpPr>
            <a:xfrm>
              <a:off x="219456" y="201168"/>
              <a:ext cx="16020288" cy="493776"/>
              <a:chOff x="219456" y="201168"/>
              <a:chExt cx="16020288" cy="493776"/>
            </a:xfrm>
          </p:grpSpPr>
          <p:sp>
            <p:nvSpPr>
              <p:cNvPr id="2" name="title-and-role-key-001"/>
              <p:cNvSpPr/>
              <p:nvPr/>
            </p:nvSpPr>
            <p:spPr>
              <a:xfrm>
                <a:off x="7754112" y="310896"/>
                <a:ext cx="402336" cy="237744"/>
              </a:xfrm>
              <a:prstGeom prst="roundRect">
                <a:avLst>
                  <a:gd name="adj" fmla="val 34615"/>
                </a:avLst>
              </a:prstGeom>
              <a:solidFill>
                <a:srgbClr val="E8EDF2"/>
              </a:solidFill>
              <a:ln w="12700">
                <a:solidFill>
                  <a:srgbClr val="2F3743"/>
                </a:solidFill>
              </a:ln>
            </p:spPr>
            <p:txBody>
              <a:bodyPr/>
              <a:lstStyle/>
              <a:p>
                <a:endParaRPr/>
              </a:p>
            </p:txBody>
          </p:sp>
          <p:sp>
            <p:nvSpPr>
              <p:cNvPr id="3" name="title-and-role-key-003"/>
              <p:cNvSpPr/>
              <p:nvPr/>
            </p:nvSpPr>
            <p:spPr>
              <a:xfrm>
                <a:off x="10716768" y="310896"/>
                <a:ext cx="402336" cy="237744"/>
              </a:xfrm>
              <a:prstGeom prst="roundRect">
                <a:avLst>
                  <a:gd name="adj" fmla="val 11538"/>
                </a:avLst>
              </a:prstGeom>
              <a:solidFill>
                <a:srgbClr val="EEF1F4"/>
              </a:solidFill>
              <a:ln w="13970">
                <a:solidFill>
                  <a:srgbClr val="8E9DAA"/>
                </a:solidFill>
              </a:ln>
            </p:spPr>
            <p:txBody>
              <a:bodyPr/>
              <a:lstStyle/>
              <a:p>
                <a:endParaRPr/>
              </a:p>
            </p:txBody>
          </p:sp>
          <p:sp>
            <p:nvSpPr>
              <p:cNvPr id="4" name="title-and-role-key-005"/>
              <p:cNvSpPr/>
              <p:nvPr/>
            </p:nvSpPr>
            <p:spPr>
              <a:xfrm>
                <a:off x="12856464" y="358018"/>
                <a:ext cx="420624" cy="111984"/>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2860">
                <a:solidFill>
                  <a:srgbClr val="34495C"/>
                </a:solidFill>
                <a:prstDash val="solid"/>
                <a:tailEnd type="none"/>
              </a:ln>
            </p:spPr>
            <p:txBody>
              <a:bodyPr/>
              <a:lstStyle/>
              <a:p>
                <a:endParaRPr/>
              </a:p>
            </p:txBody>
          </p:sp>
          <p:sp>
            <p:nvSpPr>
              <p:cNvPr id="5" name="title-and-role-key-007"/>
              <p:cNvSpPr/>
              <p:nvPr/>
            </p:nvSpPr>
            <p:spPr>
              <a:xfrm>
                <a:off x="14831568" y="429768"/>
                <a:ext cx="402336" cy="9144"/>
              </a:xfrm>
              <a:custGeom>
                <a:avLst/>
                <a:gdLst/>
                <a:ahLst/>
                <a:cxnLst/>
                <a:rect l="l" t="t" r="r" b="b"/>
                <a:pathLst>
                  <a:path w="21600" h="21600" fill="none">
                    <a:moveTo>
                      <a:pt x="0" y="0"/>
                    </a:moveTo>
                    <a:lnTo>
                      <a:pt x="21600" y="0"/>
                    </a:lnTo>
                  </a:path>
                </a:pathLst>
              </a:custGeom>
              <a:noFill/>
              <a:ln w="17780">
                <a:solidFill>
                  <a:srgbClr val="576675"/>
                </a:solidFill>
                <a:prstDash val="dash"/>
                <a:tailEnd type="triangle"/>
              </a:ln>
            </p:spPr>
            <p:txBody>
              <a:bodyPr/>
              <a:lstStyle/>
              <a:p>
                <a:endParaRPr/>
              </a:p>
            </p:txBody>
          </p:sp>
          <p:sp>
            <p:nvSpPr>
              <p:cNvPr id="6" name="title-and-role-key-009"/>
              <p:cNvSpPr/>
              <p:nvPr/>
            </p:nvSpPr>
            <p:spPr>
              <a:xfrm>
                <a:off x="219456" y="694944"/>
                <a:ext cx="16020288" cy="0"/>
              </a:xfrm>
              <a:prstGeom prst="line">
                <a:avLst/>
              </a:prstGeom>
              <a:noFill/>
              <a:ln w="10160">
                <a:solidFill>
                  <a:srgbClr val="DCE2E7"/>
                </a:solidFill>
                <a:prstDash val="solid"/>
                <a:tailEnd type="none"/>
              </a:ln>
            </p:spPr>
            <p:txBody>
              <a:bodyPr/>
              <a:lstStyle/>
              <a:p>
                <a:endParaRPr/>
              </a:p>
            </p:txBody>
          </p:sp>
          <p:sp>
            <p:nvSpPr>
              <p:cNvPr id="7" name="title-and-role-key-000"/>
              <p:cNvSpPr txBox="1"/>
              <p:nvPr/>
            </p:nvSpPr>
            <p:spPr>
              <a:xfrm>
                <a:off x="237744" y="201168"/>
                <a:ext cx="6949440" cy="457200"/>
              </a:xfrm>
              <a:prstGeom prst="rect">
                <a:avLst/>
              </a:prstGeom>
              <a:noFill/>
              <a:ln>
                <a:noFill/>
              </a:ln>
            </p:spPr>
            <p:txBody>
              <a:bodyPr wrap="none" lIns="0" tIns="0" rIns="0" bIns="0" anchor="ctr">
                <a:noAutofit/>
              </a:bodyPr>
              <a:lstStyle/>
              <a:p>
                <a:pPr algn="l"/>
                <a:r>
                  <a:rPr lang="zh-CN" sz="3000">
                    <a:solidFill>
                      <a:srgbClr val="243444"/>
                    </a:solidFill>
                    <a:latin typeface="Times New Roman"/>
                    <a:ea typeface="Times New Roman"/>
                    <a:cs typeface="Georgia"/>
                  </a:rPr>
                  <a:t>Task-Specific Time-Series Harness</a:t>
                </a:r>
                <a:endParaRPr lang="zh-CN" sz="3000"/>
              </a:p>
            </p:txBody>
          </p:sp>
          <p:sp>
            <p:nvSpPr>
              <p:cNvPr id="8" name="title-and-role-key-002"/>
              <p:cNvSpPr txBox="1"/>
              <p:nvPr/>
            </p:nvSpPr>
            <p:spPr>
              <a:xfrm>
                <a:off x="8247888" y="310896"/>
                <a:ext cx="2194560" cy="237744"/>
              </a:xfrm>
              <a:prstGeom prst="rect">
                <a:avLst/>
              </a:prstGeom>
              <a:noFill/>
              <a:ln>
                <a:noFill/>
              </a:ln>
            </p:spPr>
            <p:txBody>
              <a:bodyPr wrap="none" lIns="0" tIns="0" rIns="0" bIns="0" anchor="ctr">
                <a:noAutofit/>
              </a:bodyPr>
              <a:lstStyle/>
              <a:p>
                <a:pPr algn="l"/>
                <a:r>
                  <a:rPr lang="zh-CN" sz="1400">
                    <a:solidFill>
                      <a:srgbClr val="34495C"/>
                    </a:solidFill>
                    <a:latin typeface="Times New Roman"/>
                    <a:ea typeface="Times New Roman"/>
                    <a:cs typeface="Avenir Next"/>
                  </a:rPr>
                  <a:t>Agent / harness operation</a:t>
                </a:r>
                <a:endParaRPr lang="zh-CN" sz="1400"/>
              </a:p>
            </p:txBody>
          </p:sp>
          <p:sp>
            <p:nvSpPr>
              <p:cNvPr id="9" name="title-and-role-key-004"/>
              <p:cNvSpPr txBox="1"/>
              <p:nvPr/>
            </p:nvSpPr>
            <p:spPr>
              <a:xfrm>
                <a:off x="11210544" y="310896"/>
                <a:ext cx="1371600" cy="237744"/>
              </a:xfrm>
              <a:prstGeom prst="rect">
                <a:avLst/>
              </a:prstGeom>
              <a:noFill/>
              <a:ln>
                <a:noFill/>
              </a:ln>
            </p:spPr>
            <p:txBody>
              <a:bodyPr wrap="none" lIns="0" tIns="0" rIns="0" bIns="0" anchor="ctr">
                <a:noAutofit/>
              </a:bodyPr>
              <a:lstStyle/>
              <a:p>
                <a:pPr algn="l"/>
                <a:r>
                  <a:rPr lang="zh-CN" sz="1400">
                    <a:solidFill>
                      <a:srgbClr val="34495C"/>
                    </a:solidFill>
                    <a:latin typeface="Times New Roman"/>
                    <a:ea typeface="Times New Roman"/>
                    <a:cs typeface="Avenir Next"/>
                  </a:rPr>
                  <a:t>TS model / tool</a:t>
                </a:r>
                <a:endParaRPr lang="zh-CN" sz="1400"/>
              </a:p>
            </p:txBody>
          </p:sp>
          <p:sp>
            <p:nvSpPr>
              <p:cNvPr id="10" name="title-and-role-key-006"/>
              <p:cNvSpPr txBox="1"/>
              <p:nvPr/>
            </p:nvSpPr>
            <p:spPr>
              <a:xfrm>
                <a:off x="13368528" y="310896"/>
                <a:ext cx="1188720" cy="237744"/>
              </a:xfrm>
              <a:prstGeom prst="rect">
                <a:avLst/>
              </a:prstGeom>
              <a:noFill/>
              <a:ln>
                <a:noFill/>
              </a:ln>
            </p:spPr>
            <p:txBody>
              <a:bodyPr wrap="none" lIns="0" tIns="0" rIns="0" bIns="0" anchor="ctr">
                <a:noAutofit/>
              </a:bodyPr>
              <a:lstStyle/>
              <a:p>
                <a:pPr algn="l"/>
                <a:r>
                  <a:rPr lang="zh-CN" sz="1400">
                    <a:solidFill>
                      <a:srgbClr val="34495C"/>
                    </a:solidFill>
                    <a:latin typeface="Times New Roman"/>
                    <a:ea typeface="Times New Roman"/>
                    <a:cs typeface="Avenir Next"/>
                  </a:rPr>
                  <a:t>Data / output</a:t>
                </a:r>
                <a:endParaRPr lang="zh-CN" sz="1400"/>
              </a:p>
            </p:txBody>
          </p:sp>
          <p:sp>
            <p:nvSpPr>
              <p:cNvPr id="11" name="title-and-role-key-008"/>
              <p:cNvSpPr txBox="1"/>
              <p:nvPr/>
            </p:nvSpPr>
            <p:spPr>
              <a:xfrm>
                <a:off x="15325344" y="310896"/>
                <a:ext cx="914400" cy="237744"/>
              </a:xfrm>
              <a:prstGeom prst="rect">
                <a:avLst/>
              </a:prstGeom>
              <a:noFill/>
              <a:ln>
                <a:noFill/>
              </a:ln>
            </p:spPr>
            <p:txBody>
              <a:bodyPr wrap="none" lIns="0" tIns="0" rIns="0" bIns="0" anchor="ctr">
                <a:noAutofit/>
              </a:bodyPr>
              <a:lstStyle/>
              <a:p>
                <a:pPr algn="l"/>
                <a:r>
                  <a:rPr lang="zh-CN" sz="1400">
                    <a:solidFill>
                      <a:srgbClr val="34495C"/>
                    </a:solidFill>
                    <a:latin typeface="Times New Roman"/>
                    <a:ea typeface="Times New Roman"/>
                    <a:cs typeface="Avenir Next"/>
                  </a:rPr>
                  <a:t>Feedback</a:t>
                </a:r>
                <a:endParaRPr lang="zh-CN" sz="1400"/>
              </a:p>
            </p:txBody>
          </p:sp>
        </p:grpSp>
        <p:grpSp>
          <p:nvGrpSpPr>
            <p:cNvPr id="218" name="forecast"/>
            <p:cNvGrpSpPr/>
            <p:nvPr/>
          </p:nvGrpSpPr>
          <p:grpSpPr>
            <a:xfrm>
              <a:off x="219456" y="841248"/>
              <a:ext cx="7900416" cy="4937760"/>
              <a:chOff x="219456" y="841248"/>
              <a:chExt cx="7900416" cy="4937760"/>
            </a:xfrm>
          </p:grpSpPr>
          <p:sp>
            <p:nvSpPr>
              <p:cNvPr id="12" name="forecast-010"/>
              <p:cNvSpPr/>
              <p:nvPr/>
            </p:nvSpPr>
            <p:spPr>
              <a:xfrm>
                <a:off x="219456" y="841248"/>
                <a:ext cx="7900416" cy="4937760"/>
              </a:xfrm>
              <a:prstGeom prst="roundRect">
                <a:avLst>
                  <a:gd name="adj" fmla="val 2963"/>
                </a:avLst>
              </a:prstGeom>
              <a:solidFill>
                <a:srgbClr val="F1F6FC"/>
              </a:solidFill>
              <a:ln w="12700">
                <a:solidFill>
                  <a:srgbClr val="D4E2F1"/>
                </a:solidFill>
              </a:ln>
            </p:spPr>
            <p:txBody>
              <a:bodyPr/>
              <a:lstStyle/>
              <a:p>
                <a:endParaRPr/>
              </a:p>
            </p:txBody>
          </p:sp>
          <p:sp>
            <p:nvSpPr>
              <p:cNvPr id="13" name="forecast-014"/>
              <p:cNvSpPr/>
              <p:nvPr/>
            </p:nvSpPr>
            <p:spPr>
              <a:xfrm>
                <a:off x="420624" y="5303520"/>
                <a:ext cx="7498080" cy="310896"/>
              </a:xfrm>
              <a:prstGeom prst="roundRect">
                <a:avLst>
                  <a:gd name="adj" fmla="val 50000"/>
                </a:avLst>
              </a:prstGeom>
              <a:solidFill>
                <a:srgbClr val="FFFFFF"/>
              </a:solidFill>
              <a:ln w="12700">
                <a:solidFill>
                  <a:srgbClr val="D4E2F1"/>
                </a:solidFill>
              </a:ln>
            </p:spPr>
            <p:txBody>
              <a:bodyPr/>
              <a:lstStyle/>
              <a:p>
                <a:endParaRPr/>
              </a:p>
            </p:txBody>
          </p:sp>
          <p:sp>
            <p:nvSpPr>
              <p:cNvPr id="14" name="forecast-016"/>
              <p:cNvSpPr/>
              <p:nvPr/>
            </p:nvSpPr>
            <p:spPr>
              <a:xfrm>
                <a:off x="493776" y="2871521"/>
                <a:ext cx="1078992" cy="548335"/>
              </a:xfrm>
              <a:custGeom>
                <a:avLst/>
                <a:gdLst/>
                <a:ahLst/>
                <a:cxnLst/>
                <a:rect l="l" t="t" r="r" b="b"/>
                <a:pathLst>
                  <a:path w="21600" h="21600">
                    <a:moveTo>
                      <a:pt x="0" y="14036"/>
                    </a:moveTo>
                    <a:cubicBezTo>
                      <a:pt x="432" y="13279"/>
                      <a:pt x="1728" y="9749"/>
                      <a:pt x="2592" y="9497"/>
                    </a:cubicBezTo>
                    <a:cubicBezTo>
                      <a:pt x="3456" y="9245"/>
                      <a:pt x="4284" y="13447"/>
                      <a:pt x="5184" y="12523"/>
                    </a:cubicBezTo>
                    <a:cubicBezTo>
                      <a:pt x="6084" y="11598"/>
                      <a:pt x="7056" y="4707"/>
                      <a:pt x="7992" y="3950"/>
                    </a:cubicBezTo>
                    <a:cubicBezTo>
                      <a:pt x="8928" y="3194"/>
                      <a:pt x="9900" y="8321"/>
                      <a:pt x="10800" y="7984"/>
                    </a:cubicBezTo>
                    <a:cubicBezTo>
                      <a:pt x="11700" y="7648"/>
                      <a:pt x="12492" y="2185"/>
                      <a:pt x="13392" y="1933"/>
                    </a:cubicBezTo>
                    <a:cubicBezTo>
                      <a:pt x="14292" y="1681"/>
                      <a:pt x="15300" y="6724"/>
                      <a:pt x="16200" y="6472"/>
                    </a:cubicBezTo>
                    <a:cubicBezTo>
                      <a:pt x="17100" y="6219"/>
                      <a:pt x="17892" y="840"/>
                      <a:pt x="18792" y="420"/>
                    </a:cubicBezTo>
                    <a:cubicBezTo>
                      <a:pt x="19692" y="0"/>
                      <a:pt x="21132" y="3362"/>
                      <a:pt x="21600" y="3950"/>
                    </a:cubicBezTo>
                    <a:lnTo>
                      <a:pt x="21600" y="21600"/>
                    </a:lnTo>
                    <a:lnTo>
                      <a:pt x="0" y="21600"/>
                    </a:lnTo>
                    <a:close/>
                  </a:path>
                </a:pathLst>
              </a:custGeom>
              <a:solidFill>
                <a:srgbClr val="DCE8F5"/>
              </a:solidFill>
              <a:ln>
                <a:noFill/>
              </a:ln>
            </p:spPr>
            <p:txBody>
              <a:bodyPr/>
              <a:lstStyle/>
              <a:p>
                <a:endParaRPr/>
              </a:p>
            </p:txBody>
          </p:sp>
          <p:sp>
            <p:nvSpPr>
              <p:cNvPr id="15" name="forecast-043"/>
              <p:cNvSpPr/>
              <p:nvPr/>
            </p:nvSpPr>
            <p:spPr>
              <a:xfrm>
                <a:off x="5961888" y="2715036"/>
                <a:ext cx="1371600" cy="704820"/>
              </a:xfrm>
              <a:custGeom>
                <a:avLst/>
                <a:gdLst/>
                <a:ahLst/>
                <a:cxnLst/>
                <a:rect l="l" t="t" r="r" b="b"/>
                <a:pathLst>
                  <a:path w="21600" h="21600">
                    <a:moveTo>
                      <a:pt x="0" y="16545"/>
                    </a:moveTo>
                    <a:cubicBezTo>
                      <a:pt x="900" y="15702"/>
                      <a:pt x="3600" y="12791"/>
                      <a:pt x="5400" y="11489"/>
                    </a:cubicBezTo>
                    <a:cubicBezTo>
                      <a:pt x="7200" y="10187"/>
                      <a:pt x="9000" y="10111"/>
                      <a:pt x="10800" y="8732"/>
                    </a:cubicBezTo>
                    <a:cubicBezTo>
                      <a:pt x="12600" y="7353"/>
                      <a:pt x="14400" y="4672"/>
                      <a:pt x="16200" y="3217"/>
                    </a:cubicBezTo>
                    <a:cubicBezTo>
                      <a:pt x="18000" y="1762"/>
                      <a:pt x="20700" y="536"/>
                      <a:pt x="21600" y="0"/>
                    </a:cubicBezTo>
                    <a:lnTo>
                      <a:pt x="21600" y="21600"/>
                    </a:lnTo>
                    <a:lnTo>
                      <a:pt x="0" y="21600"/>
                    </a:lnTo>
                    <a:close/>
                  </a:path>
                </a:pathLst>
              </a:custGeom>
              <a:solidFill>
                <a:srgbClr val="DCE8F5"/>
              </a:solidFill>
              <a:ln>
                <a:noFill/>
              </a:ln>
            </p:spPr>
            <p:txBody>
              <a:bodyPr/>
              <a:lstStyle/>
              <a:p>
                <a:endParaRPr/>
              </a:p>
            </p:txBody>
          </p:sp>
          <p:sp>
            <p:nvSpPr>
              <p:cNvPr id="16" name="forecast-017"/>
              <p:cNvSpPr/>
              <p:nvPr/>
            </p:nvSpPr>
            <p:spPr>
              <a:xfrm>
                <a:off x="457200" y="3419856"/>
                <a:ext cx="1152144" cy="0"/>
              </a:xfrm>
              <a:prstGeom prst="line">
                <a:avLst/>
              </a:prstGeom>
              <a:noFill/>
              <a:ln w="10160">
                <a:solidFill>
                  <a:srgbClr val="AAB5BF"/>
                </a:solidFill>
                <a:prstDash val="solid"/>
                <a:tailEnd type="none"/>
              </a:ln>
            </p:spPr>
            <p:txBody>
              <a:bodyPr/>
              <a:lstStyle/>
              <a:p>
                <a:endParaRPr/>
              </a:p>
            </p:txBody>
          </p:sp>
          <p:sp>
            <p:nvSpPr>
              <p:cNvPr id="17" name="forecast-023"/>
              <p:cNvSpPr/>
              <p:nvPr/>
            </p:nvSpPr>
            <p:spPr>
              <a:xfrm>
                <a:off x="1975104" y="2450592"/>
                <a:ext cx="932688" cy="1298448"/>
              </a:xfrm>
              <a:prstGeom prst="roundRect">
                <a:avLst>
                  <a:gd name="adj" fmla="val 7843"/>
                </a:avLst>
              </a:prstGeom>
              <a:solidFill>
                <a:srgbClr val="FFFFFF"/>
              </a:solidFill>
              <a:ln w="11430">
                <a:solidFill>
                  <a:srgbClr val="8E9DAA"/>
                </a:solidFill>
                <a:prstDash val="dash"/>
              </a:ln>
            </p:spPr>
            <p:txBody>
              <a:bodyPr/>
              <a:lstStyle/>
              <a:p>
                <a:endParaRPr/>
              </a:p>
            </p:txBody>
          </p:sp>
          <p:sp>
            <p:nvSpPr>
              <p:cNvPr id="18" name="forecast-032"/>
              <p:cNvSpPr/>
              <p:nvPr/>
            </p:nvSpPr>
            <p:spPr>
              <a:xfrm>
                <a:off x="3291840" y="3419856"/>
                <a:ext cx="1078992" cy="0"/>
              </a:xfrm>
              <a:prstGeom prst="line">
                <a:avLst/>
              </a:prstGeom>
              <a:noFill/>
              <a:ln w="10160">
                <a:solidFill>
                  <a:srgbClr val="AAB5BF"/>
                </a:solidFill>
                <a:prstDash val="solid"/>
                <a:tailEnd type="none"/>
              </a:ln>
            </p:spPr>
            <p:txBody>
              <a:bodyPr/>
              <a:lstStyle/>
              <a:p>
                <a:endParaRPr/>
              </a:p>
            </p:txBody>
          </p:sp>
          <p:sp>
            <p:nvSpPr>
              <p:cNvPr id="19" name="forecast-044"/>
              <p:cNvSpPr/>
              <p:nvPr/>
            </p:nvSpPr>
            <p:spPr>
              <a:xfrm>
                <a:off x="5925312" y="3419856"/>
                <a:ext cx="1444752" cy="0"/>
              </a:xfrm>
              <a:prstGeom prst="line">
                <a:avLst/>
              </a:prstGeom>
              <a:noFill/>
              <a:ln w="10160">
                <a:solidFill>
                  <a:srgbClr val="AAB5BF"/>
                </a:solidFill>
                <a:prstDash val="solid"/>
                <a:tailEnd type="none"/>
              </a:ln>
            </p:spPr>
            <p:txBody>
              <a:bodyPr/>
              <a:lstStyle/>
              <a:p>
                <a:endParaRPr/>
              </a:p>
            </p:txBody>
          </p:sp>
          <p:sp>
            <p:nvSpPr>
              <p:cNvPr id="20" name="forecast-011"/>
              <p:cNvSpPr/>
              <p:nvPr/>
            </p:nvSpPr>
            <p:spPr>
              <a:xfrm>
                <a:off x="420624" y="1014984"/>
                <a:ext cx="310896" cy="310896"/>
              </a:xfrm>
              <a:prstGeom prst="ellipse">
                <a:avLst/>
              </a:prstGeom>
              <a:solidFill>
                <a:srgbClr val="2F6CA8"/>
              </a:solidFill>
              <a:ln>
                <a:noFill/>
              </a:ln>
            </p:spPr>
            <p:txBody>
              <a:bodyPr/>
              <a:lstStyle/>
              <a:p>
                <a:endParaRPr/>
              </a:p>
            </p:txBody>
          </p:sp>
          <p:sp>
            <p:nvSpPr>
              <p:cNvPr id="21" name="forecast-020"/>
              <p:cNvSpPr/>
              <p:nvPr/>
            </p:nvSpPr>
            <p:spPr>
              <a:xfrm>
                <a:off x="1700784" y="1682496"/>
                <a:ext cx="1481328" cy="365760"/>
              </a:xfrm>
              <a:prstGeom prst="roundRect">
                <a:avLst>
                  <a:gd name="adj" fmla="val 22500"/>
                </a:avLst>
              </a:prstGeom>
              <a:solidFill>
                <a:srgbClr val="E8EDF2"/>
              </a:solidFill>
              <a:ln w="12700">
                <a:solidFill>
                  <a:srgbClr val="2F3743"/>
                </a:solidFill>
              </a:ln>
            </p:spPr>
            <p:txBody>
              <a:bodyPr/>
              <a:lstStyle/>
              <a:p>
                <a:endParaRPr/>
              </a:p>
            </p:txBody>
          </p:sp>
          <p:sp>
            <p:nvSpPr>
              <p:cNvPr id="22" name="forecast-024"/>
              <p:cNvSpPr/>
              <p:nvPr/>
            </p:nvSpPr>
            <p:spPr>
              <a:xfrm>
                <a:off x="2103120" y="2560320"/>
                <a:ext cx="676656" cy="310896"/>
              </a:xfrm>
              <a:prstGeom prst="roundRect">
                <a:avLst>
                  <a:gd name="adj" fmla="val 8824"/>
                </a:avLst>
              </a:prstGeom>
              <a:solidFill>
                <a:srgbClr val="EEF1F4"/>
              </a:solidFill>
              <a:ln w="13970">
                <a:solidFill>
                  <a:srgbClr val="8E9DAA"/>
                </a:solidFill>
              </a:ln>
            </p:spPr>
            <p:txBody>
              <a:bodyPr/>
              <a:lstStyle/>
              <a:p>
                <a:endParaRPr/>
              </a:p>
            </p:txBody>
          </p:sp>
          <p:sp>
            <p:nvSpPr>
              <p:cNvPr id="23" name="forecast-026"/>
              <p:cNvSpPr/>
              <p:nvPr/>
            </p:nvSpPr>
            <p:spPr>
              <a:xfrm>
                <a:off x="2103120" y="2944368"/>
                <a:ext cx="676656" cy="310896"/>
              </a:xfrm>
              <a:prstGeom prst="roundRect">
                <a:avLst>
                  <a:gd name="adj" fmla="val 8824"/>
                </a:avLst>
              </a:prstGeom>
              <a:solidFill>
                <a:srgbClr val="EEF1F4"/>
              </a:solidFill>
              <a:ln w="13970">
                <a:solidFill>
                  <a:srgbClr val="8E9DAA"/>
                </a:solidFill>
              </a:ln>
            </p:spPr>
            <p:txBody>
              <a:bodyPr/>
              <a:lstStyle/>
              <a:p>
                <a:endParaRPr/>
              </a:p>
            </p:txBody>
          </p:sp>
          <p:sp>
            <p:nvSpPr>
              <p:cNvPr id="24" name="forecast-028"/>
              <p:cNvSpPr/>
              <p:nvPr/>
            </p:nvSpPr>
            <p:spPr>
              <a:xfrm>
                <a:off x="2103120" y="3328416"/>
                <a:ext cx="676656" cy="310896"/>
              </a:xfrm>
              <a:prstGeom prst="roundRect">
                <a:avLst>
                  <a:gd name="adj" fmla="val 8824"/>
                </a:avLst>
              </a:prstGeom>
              <a:solidFill>
                <a:srgbClr val="EEF1F4"/>
              </a:solidFill>
              <a:ln w="13970">
                <a:solidFill>
                  <a:srgbClr val="8E9DAA"/>
                </a:solidFill>
              </a:ln>
            </p:spPr>
            <p:txBody>
              <a:bodyPr/>
              <a:lstStyle/>
              <a:p>
                <a:endParaRPr/>
              </a:p>
            </p:txBody>
          </p:sp>
          <p:sp>
            <p:nvSpPr>
              <p:cNvPr id="25" name="forecast-036"/>
              <p:cNvSpPr/>
              <p:nvPr/>
            </p:nvSpPr>
            <p:spPr>
              <a:xfrm>
                <a:off x="4672584" y="2121408"/>
                <a:ext cx="914400" cy="310896"/>
              </a:xfrm>
              <a:prstGeom prst="rect">
                <a:avLst/>
              </a:prstGeom>
              <a:solidFill>
                <a:srgbClr val="FFFFFF"/>
              </a:solidFill>
              <a:ln w="11430">
                <a:solidFill>
                  <a:srgbClr val="B9C4CE"/>
                </a:solidFill>
              </a:ln>
            </p:spPr>
            <p:txBody>
              <a:bodyPr/>
              <a:lstStyle/>
              <a:p>
                <a:endParaRPr/>
              </a:p>
            </p:txBody>
          </p:sp>
          <p:sp>
            <p:nvSpPr>
              <p:cNvPr id="26" name="forecast-039"/>
              <p:cNvSpPr/>
              <p:nvPr/>
            </p:nvSpPr>
            <p:spPr>
              <a:xfrm>
                <a:off x="4718304" y="2916936"/>
                <a:ext cx="822960" cy="365760"/>
              </a:xfrm>
              <a:prstGeom prst="roundRect">
                <a:avLst>
                  <a:gd name="adj" fmla="val 22500"/>
                </a:avLst>
              </a:prstGeom>
              <a:solidFill>
                <a:srgbClr val="E8EDF2"/>
              </a:solidFill>
              <a:ln w="12700">
                <a:solidFill>
                  <a:srgbClr val="2F3743"/>
                </a:solidFill>
              </a:ln>
            </p:spPr>
            <p:txBody>
              <a:bodyPr/>
              <a:lstStyle/>
              <a:p>
                <a:endParaRPr/>
              </a:p>
            </p:txBody>
          </p:sp>
          <p:sp>
            <p:nvSpPr>
              <p:cNvPr id="27" name="forecast-048"/>
              <p:cNvSpPr/>
              <p:nvPr/>
            </p:nvSpPr>
            <p:spPr>
              <a:xfrm>
                <a:off x="420624" y="4407408"/>
                <a:ext cx="1426464" cy="365760"/>
              </a:xfrm>
              <a:prstGeom prst="roundRect">
                <a:avLst>
                  <a:gd name="adj" fmla="val 22500"/>
                </a:avLst>
              </a:prstGeom>
              <a:solidFill>
                <a:srgbClr val="E8EDF2"/>
              </a:solidFill>
              <a:ln w="12700">
                <a:solidFill>
                  <a:srgbClr val="2F3743"/>
                </a:solidFill>
              </a:ln>
            </p:spPr>
            <p:txBody>
              <a:bodyPr/>
              <a:lstStyle/>
              <a:p>
                <a:endParaRPr/>
              </a:p>
            </p:txBody>
          </p:sp>
          <p:sp>
            <p:nvSpPr>
              <p:cNvPr id="28" name="forecast-051"/>
              <p:cNvSpPr/>
              <p:nvPr/>
            </p:nvSpPr>
            <p:spPr>
              <a:xfrm>
                <a:off x="2231136" y="4334256"/>
                <a:ext cx="219456" cy="493776"/>
              </a:xfrm>
              <a:prstGeom prst="rect">
                <a:avLst/>
              </a:prstGeom>
              <a:solidFill>
                <a:srgbClr val="2F6CA8"/>
              </a:solidFill>
              <a:ln>
                <a:noFill/>
              </a:ln>
            </p:spPr>
            <p:txBody>
              <a:bodyPr/>
              <a:lstStyle/>
              <a:p>
                <a:endParaRPr/>
              </a:p>
            </p:txBody>
          </p:sp>
          <p:sp>
            <p:nvSpPr>
              <p:cNvPr id="29" name="forecast-052"/>
              <p:cNvSpPr/>
              <p:nvPr/>
            </p:nvSpPr>
            <p:spPr>
              <a:xfrm>
                <a:off x="2523744" y="4590288"/>
                <a:ext cx="219456" cy="237744"/>
              </a:xfrm>
              <a:prstGeom prst="rect">
                <a:avLst/>
              </a:prstGeom>
              <a:solidFill>
                <a:srgbClr val="B5C0CA"/>
              </a:solidFill>
              <a:ln>
                <a:noFill/>
              </a:ln>
            </p:spPr>
            <p:txBody>
              <a:bodyPr/>
              <a:lstStyle/>
              <a:p>
                <a:endParaRPr/>
              </a:p>
            </p:txBody>
          </p:sp>
          <p:sp>
            <p:nvSpPr>
              <p:cNvPr id="30" name="forecast-055"/>
              <p:cNvSpPr/>
              <p:nvPr/>
            </p:nvSpPr>
            <p:spPr>
              <a:xfrm>
                <a:off x="4169664" y="4407408"/>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31" name="forecast-018"/>
              <p:cNvSpPr/>
              <p:nvPr/>
            </p:nvSpPr>
            <p:spPr>
              <a:xfrm>
                <a:off x="493776" y="2871521"/>
                <a:ext cx="1078992" cy="356311"/>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5400">
                <a:solidFill>
                  <a:srgbClr val="34495C"/>
                </a:solidFill>
                <a:prstDash val="solid"/>
                <a:tailEnd type="none"/>
              </a:ln>
            </p:spPr>
            <p:txBody>
              <a:bodyPr/>
              <a:lstStyle/>
              <a:p>
                <a:endParaRPr/>
              </a:p>
            </p:txBody>
          </p:sp>
          <p:sp>
            <p:nvSpPr>
              <p:cNvPr id="32" name="forecast-033"/>
              <p:cNvSpPr/>
              <p:nvPr/>
            </p:nvSpPr>
            <p:spPr>
              <a:xfrm>
                <a:off x="3328416" y="2882189"/>
                <a:ext cx="1005840" cy="396850"/>
              </a:xfrm>
              <a:custGeom>
                <a:avLst/>
                <a:gdLst/>
                <a:ahLst/>
                <a:cxnLst/>
                <a:rect l="l" t="t" r="r" b="b"/>
                <a:pathLst>
                  <a:path w="21600" h="21600" fill="none">
                    <a:moveTo>
                      <a:pt x="0" y="21600"/>
                    </a:moveTo>
                    <a:cubicBezTo>
                      <a:pt x="720" y="20671"/>
                      <a:pt x="2952" y="16839"/>
                      <a:pt x="4320" y="16026"/>
                    </a:cubicBezTo>
                    <a:cubicBezTo>
                      <a:pt x="5688" y="15213"/>
                      <a:pt x="6912" y="17884"/>
                      <a:pt x="8208" y="16723"/>
                    </a:cubicBezTo>
                    <a:cubicBezTo>
                      <a:pt x="9504" y="15561"/>
                      <a:pt x="10800" y="10219"/>
                      <a:pt x="12096" y="9058"/>
                    </a:cubicBezTo>
                    <a:cubicBezTo>
                      <a:pt x="13392" y="7897"/>
                      <a:pt x="14400" y="11265"/>
                      <a:pt x="15984" y="9755"/>
                    </a:cubicBezTo>
                    <a:cubicBezTo>
                      <a:pt x="17568" y="8245"/>
                      <a:pt x="20664" y="1626"/>
                      <a:pt x="21600" y="0"/>
                    </a:cubicBezTo>
                  </a:path>
                </a:pathLst>
              </a:custGeom>
              <a:noFill/>
              <a:ln w="22860">
                <a:solidFill>
                  <a:srgbClr val="8E9EAC"/>
                </a:solidFill>
                <a:prstDash val="solid"/>
                <a:tailEnd type="none"/>
              </a:ln>
            </p:spPr>
            <p:txBody>
              <a:bodyPr/>
              <a:lstStyle/>
              <a:p>
                <a:endParaRPr/>
              </a:p>
            </p:txBody>
          </p:sp>
          <p:sp>
            <p:nvSpPr>
              <p:cNvPr id="33" name="forecast-042"/>
              <p:cNvSpPr/>
              <p:nvPr/>
            </p:nvSpPr>
            <p:spPr>
              <a:xfrm>
                <a:off x="5961888" y="2790017"/>
                <a:ext cx="1371600" cy="464881"/>
              </a:xfrm>
              <a:custGeom>
                <a:avLst/>
                <a:gdLst/>
                <a:ahLst/>
                <a:cxnLst/>
                <a:rect l="l" t="t" r="r" b="b"/>
                <a:pathLst>
                  <a:path w="21600" h="21600" fill="none">
                    <a:moveTo>
                      <a:pt x="0" y="21600"/>
                    </a:moveTo>
                    <a:cubicBezTo>
                      <a:pt x="720" y="20671"/>
                      <a:pt x="2952" y="16839"/>
                      <a:pt x="4320" y="16026"/>
                    </a:cubicBezTo>
                    <a:cubicBezTo>
                      <a:pt x="5688" y="15213"/>
                      <a:pt x="6912" y="17884"/>
                      <a:pt x="8208" y="16723"/>
                    </a:cubicBezTo>
                    <a:cubicBezTo>
                      <a:pt x="9504" y="15561"/>
                      <a:pt x="10800" y="10219"/>
                      <a:pt x="12096" y="9058"/>
                    </a:cubicBezTo>
                    <a:cubicBezTo>
                      <a:pt x="13392" y="7897"/>
                      <a:pt x="14400" y="11265"/>
                      <a:pt x="15984" y="9755"/>
                    </a:cubicBezTo>
                    <a:cubicBezTo>
                      <a:pt x="17568" y="8245"/>
                      <a:pt x="20664" y="1626"/>
                      <a:pt x="21600" y="0"/>
                    </a:cubicBezTo>
                  </a:path>
                </a:pathLst>
              </a:custGeom>
              <a:noFill/>
              <a:ln w="19050">
                <a:solidFill>
                  <a:srgbClr val="B5C0CA"/>
                </a:solidFill>
                <a:prstDash val="solid"/>
                <a:tailEnd type="none"/>
              </a:ln>
            </p:spPr>
            <p:txBody>
              <a:bodyPr/>
              <a:lstStyle/>
              <a:p>
                <a:endParaRPr/>
              </a:p>
            </p:txBody>
          </p:sp>
          <p:sp>
            <p:nvSpPr>
              <p:cNvPr id="34" name="forecast-045"/>
              <p:cNvSpPr/>
              <p:nvPr/>
            </p:nvSpPr>
            <p:spPr>
              <a:xfrm>
                <a:off x="5961888" y="2715036"/>
                <a:ext cx="1371600" cy="539862"/>
              </a:xfrm>
              <a:custGeom>
                <a:avLst/>
                <a:gdLst/>
                <a:ahLst/>
                <a:cxnLst/>
                <a:rect l="l" t="t" r="r" b="b"/>
                <a:pathLst>
                  <a:path w="21600" h="21600" fill="none">
                    <a:moveTo>
                      <a:pt x="0" y="21600"/>
                    </a:moveTo>
                    <a:cubicBezTo>
                      <a:pt x="900" y="20500"/>
                      <a:pt x="3600" y="16700"/>
                      <a:pt x="5400" y="15000"/>
                    </a:cubicBezTo>
                    <a:cubicBezTo>
                      <a:pt x="7200" y="13300"/>
                      <a:pt x="9000" y="13200"/>
                      <a:pt x="10800" y="11400"/>
                    </a:cubicBezTo>
                    <a:cubicBezTo>
                      <a:pt x="12600" y="9600"/>
                      <a:pt x="14400" y="6100"/>
                      <a:pt x="16200" y="4200"/>
                    </a:cubicBezTo>
                    <a:cubicBezTo>
                      <a:pt x="18000" y="2300"/>
                      <a:pt x="20700" y="700"/>
                      <a:pt x="21600" y="0"/>
                    </a:cubicBezTo>
                  </a:path>
                </a:pathLst>
              </a:custGeom>
              <a:noFill/>
              <a:ln w="29209">
                <a:solidFill>
                  <a:srgbClr val="2F6CA8"/>
                </a:solidFill>
                <a:prstDash val="solid"/>
                <a:tailEnd type="none"/>
              </a:ln>
            </p:spPr>
            <p:txBody>
              <a:bodyPr/>
              <a:lstStyle/>
              <a:p>
                <a:endParaRPr/>
              </a:p>
            </p:txBody>
          </p:sp>
          <p:sp>
            <p:nvSpPr>
              <p:cNvPr id="35" name="forecast-022"/>
              <p:cNvSpPr/>
              <p:nvPr/>
            </p:nvSpPr>
            <p:spPr>
              <a:xfrm>
                <a:off x="2441448" y="2066544"/>
                <a:ext cx="9144" cy="347472"/>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36" name="forecast-030"/>
              <p:cNvSpPr/>
              <p:nvPr/>
            </p:nvSpPr>
            <p:spPr>
              <a:xfrm>
                <a:off x="1645920" y="3099816"/>
                <a:ext cx="27432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37" name="forecast-031"/>
              <p:cNvSpPr/>
              <p:nvPr/>
            </p:nvSpPr>
            <p:spPr>
              <a:xfrm>
                <a:off x="2944368" y="3099816"/>
                <a:ext cx="29260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38" name="forecast-035"/>
              <p:cNvSpPr/>
              <p:nvPr/>
            </p:nvSpPr>
            <p:spPr>
              <a:xfrm>
                <a:off x="4407408" y="3099816"/>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39" name="forecast-038"/>
              <p:cNvSpPr/>
              <p:nvPr/>
            </p:nvSpPr>
            <p:spPr>
              <a:xfrm>
                <a:off x="5129784" y="2450592"/>
                <a:ext cx="9144" cy="420624"/>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40" name="forecast-041"/>
              <p:cNvSpPr/>
              <p:nvPr/>
            </p:nvSpPr>
            <p:spPr>
              <a:xfrm>
                <a:off x="5596128" y="3099816"/>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41" name="forecast-047"/>
              <p:cNvSpPr/>
              <p:nvPr/>
            </p:nvSpPr>
            <p:spPr>
              <a:xfrm>
                <a:off x="1024128" y="3730752"/>
                <a:ext cx="9144" cy="640080"/>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42" name="forecast-050"/>
              <p:cNvSpPr/>
              <p:nvPr/>
            </p:nvSpPr>
            <p:spPr>
              <a:xfrm>
                <a:off x="1901952" y="4590288"/>
                <a:ext cx="219456"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43" name="forecast-053"/>
              <p:cNvSpPr/>
              <p:nvPr/>
            </p:nvSpPr>
            <p:spPr>
              <a:xfrm>
                <a:off x="2157984" y="4837176"/>
                <a:ext cx="676656" cy="0"/>
              </a:xfrm>
              <a:prstGeom prst="line">
                <a:avLst/>
              </a:prstGeom>
              <a:noFill/>
              <a:ln w="10160">
                <a:solidFill>
                  <a:srgbClr val="AAB5BF"/>
                </a:solidFill>
                <a:prstDash val="solid"/>
                <a:tailEnd type="none"/>
              </a:ln>
            </p:spPr>
            <p:txBody>
              <a:bodyPr/>
              <a:lstStyle/>
              <a:p>
                <a:endParaRPr/>
              </a:p>
            </p:txBody>
          </p:sp>
          <p:sp>
            <p:nvSpPr>
              <p:cNvPr id="44" name="forecast-057"/>
              <p:cNvSpPr/>
              <p:nvPr/>
            </p:nvSpPr>
            <p:spPr>
              <a:xfrm>
                <a:off x="5742432" y="3493008"/>
                <a:ext cx="1700784" cy="1097280"/>
              </a:xfrm>
              <a:custGeom>
                <a:avLst/>
                <a:gdLst/>
                <a:ahLst/>
                <a:cxnLst/>
                <a:rect l="l" t="t" r="r" b="b"/>
                <a:pathLst>
                  <a:path w="21600" h="21600" fill="none">
                    <a:moveTo>
                      <a:pt x="21600" y="0"/>
                    </a:moveTo>
                    <a:lnTo>
                      <a:pt x="21600" y="21600"/>
                    </a:lnTo>
                    <a:lnTo>
                      <a:pt x="0" y="21600"/>
                    </a:lnTo>
                  </a:path>
                </a:pathLst>
              </a:custGeom>
              <a:noFill/>
              <a:ln w="17780">
                <a:solidFill>
                  <a:srgbClr val="2F6CA8"/>
                </a:solidFill>
                <a:prstDash val="dash"/>
                <a:tailEnd type="triangle"/>
              </a:ln>
            </p:spPr>
            <p:txBody>
              <a:bodyPr/>
              <a:lstStyle/>
              <a:p>
                <a:endParaRPr/>
              </a:p>
            </p:txBody>
          </p:sp>
          <p:sp>
            <p:nvSpPr>
              <p:cNvPr id="45" name="forecast-059"/>
              <p:cNvSpPr/>
              <p:nvPr/>
            </p:nvSpPr>
            <p:spPr>
              <a:xfrm>
                <a:off x="2441448" y="3785616"/>
                <a:ext cx="1673352" cy="804672"/>
              </a:xfrm>
              <a:custGeom>
                <a:avLst/>
                <a:gdLst/>
                <a:ahLst/>
                <a:cxnLst/>
                <a:rect l="l" t="t" r="r" b="b"/>
                <a:pathLst>
                  <a:path w="21600" h="21600" fill="none">
                    <a:moveTo>
                      <a:pt x="21600" y="21600"/>
                    </a:moveTo>
                    <a:lnTo>
                      <a:pt x="19003" y="21600"/>
                    </a:lnTo>
                    <a:lnTo>
                      <a:pt x="19003" y="5891"/>
                    </a:lnTo>
                    <a:lnTo>
                      <a:pt x="0" y="5891"/>
                    </a:lnTo>
                    <a:lnTo>
                      <a:pt x="0" y="0"/>
                    </a:lnTo>
                  </a:path>
                </a:pathLst>
              </a:custGeom>
              <a:noFill/>
              <a:ln w="17780">
                <a:solidFill>
                  <a:srgbClr val="2F6CA8"/>
                </a:solidFill>
                <a:prstDash val="dash"/>
                <a:tailEnd type="triangle"/>
              </a:ln>
            </p:spPr>
            <p:txBody>
              <a:bodyPr/>
              <a:lstStyle/>
              <a:p>
                <a:endParaRPr/>
              </a:p>
            </p:txBody>
          </p:sp>
          <p:sp>
            <p:nvSpPr>
              <p:cNvPr id="46" name="forecast-012"/>
              <p:cNvSpPr txBox="1"/>
              <p:nvPr/>
            </p:nvSpPr>
            <p:spPr>
              <a:xfrm>
                <a:off x="420624" y="1014984"/>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Times New Roman"/>
                    <a:ea typeface="Times New Roman"/>
                    <a:cs typeface="Georgia"/>
                  </a:rPr>
                  <a:t>a</a:t>
                </a:r>
                <a:endParaRPr lang="zh-CN" sz="1700"/>
              </a:p>
            </p:txBody>
          </p:sp>
          <p:sp>
            <p:nvSpPr>
              <p:cNvPr id="47" name="forecast-013"/>
              <p:cNvSpPr txBox="1"/>
              <p:nvPr/>
            </p:nvSpPr>
            <p:spPr>
              <a:xfrm>
                <a:off x="841248" y="987552"/>
                <a:ext cx="6986016" cy="365760"/>
              </a:xfrm>
              <a:prstGeom prst="rect">
                <a:avLst/>
              </a:prstGeom>
              <a:noFill/>
              <a:ln>
                <a:noFill/>
              </a:ln>
            </p:spPr>
            <p:txBody>
              <a:bodyPr wrap="none" lIns="0" tIns="0" rIns="0" bIns="0" anchor="ctr">
                <a:noAutofit/>
              </a:bodyPr>
              <a:lstStyle/>
              <a:p>
                <a:pPr algn="l"/>
                <a:r>
                  <a:rPr lang="zh-CN" sz="2200">
                    <a:solidFill>
                      <a:srgbClr val="243444"/>
                    </a:solidFill>
                    <a:latin typeface="Times New Roman"/>
                    <a:ea typeface="Times New Roman"/>
                    <a:cs typeface="Georgia"/>
                  </a:rPr>
                  <a:t>Forecasting and prediction</a:t>
                </a:r>
                <a:endParaRPr lang="zh-CN" sz="2200"/>
              </a:p>
            </p:txBody>
          </p:sp>
          <p:sp>
            <p:nvSpPr>
              <p:cNvPr id="48" name="forecast-015"/>
              <p:cNvSpPr txBox="1"/>
              <p:nvPr/>
            </p:nvSpPr>
            <p:spPr>
              <a:xfrm>
                <a:off x="420624" y="5303520"/>
                <a:ext cx="7498080" cy="310896"/>
              </a:xfrm>
              <a:prstGeom prst="rect">
                <a:avLst/>
              </a:prstGeom>
              <a:noFill/>
              <a:ln>
                <a:noFill/>
              </a:ln>
            </p:spPr>
            <p:txBody>
              <a:bodyPr wrap="none" lIns="0" tIns="0" rIns="0" bIns="0" anchor="ctr">
                <a:noAutofit/>
              </a:bodyPr>
              <a:lstStyle/>
              <a:p>
                <a:pPr algn="ctr"/>
                <a:r>
                  <a:rPr lang="zh-CN" sz="1400" b="1">
                    <a:solidFill>
                      <a:srgbClr val="2F6CA8"/>
                    </a:solidFill>
                    <a:latin typeface="Times New Roman"/>
                    <a:ea typeface="Times New Roman"/>
                    <a:cs typeface="Avenir Next"/>
                  </a:rPr>
                  <a:t>Evaluation   </a:t>
                </a:r>
                <a:r>
                  <a:rPr lang="zh-CN" sz="1400">
                    <a:solidFill>
                      <a:srgbClr val="243444"/>
                    </a:solidFill>
                    <a:latin typeface="Times New Roman"/>
                    <a:ea typeface="Times New Roman"/>
                    <a:cs typeface="Avenir Next"/>
                  </a:rPr>
                  <a:t>Forecast error / calibration</a:t>
                </a:r>
                <a:endParaRPr lang="zh-CN" sz="1400"/>
              </a:p>
            </p:txBody>
          </p:sp>
          <p:sp>
            <p:nvSpPr>
              <p:cNvPr id="49" name="forecast-019"/>
              <p:cNvSpPr txBox="1"/>
              <p:nvPr/>
            </p:nvSpPr>
            <p:spPr>
              <a:xfrm>
                <a:off x="484632" y="347472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History</a:t>
                </a:r>
                <a:endParaRPr lang="zh-CN" sz="1500"/>
              </a:p>
            </p:txBody>
          </p:sp>
          <p:sp>
            <p:nvSpPr>
              <p:cNvPr id="50" name="forecast-021"/>
              <p:cNvSpPr txBox="1"/>
              <p:nvPr/>
            </p:nvSpPr>
            <p:spPr>
              <a:xfrm>
                <a:off x="1755648" y="1682496"/>
                <a:ext cx="1371600" cy="365760"/>
              </a:xfrm>
              <a:prstGeom prst="rect">
                <a:avLst/>
              </a:prstGeom>
              <a:noFill/>
              <a:ln>
                <a:noFill/>
              </a:ln>
            </p:spPr>
            <p:txBody>
              <a:bodyPr wrap="none" lIns="0" tIns="0" rIns="0" bIns="0" anchor="ctr">
                <a:noAutofit/>
              </a:bodyPr>
              <a:lstStyle/>
              <a:p>
                <a:pPr algn="ctr"/>
                <a:r>
                  <a:rPr lang="zh-CN" sz="1450">
                    <a:solidFill>
                      <a:srgbClr val="3376A0"/>
                    </a:solidFill>
                    <a:latin typeface="Times New Roman"/>
                    <a:ea typeface="Times New Roman"/>
                    <a:cs typeface="Avenir Next Medium"/>
                  </a:rPr>
                  <a:t>Select models</a:t>
                </a:r>
                <a:endParaRPr lang="zh-CN" sz="1450"/>
              </a:p>
            </p:txBody>
          </p:sp>
          <p:sp>
            <p:nvSpPr>
              <p:cNvPr id="51" name="forecast-025"/>
              <p:cNvSpPr txBox="1"/>
              <p:nvPr/>
            </p:nvSpPr>
            <p:spPr>
              <a:xfrm>
                <a:off x="2103120" y="2560320"/>
                <a:ext cx="676656" cy="310896"/>
              </a:xfrm>
              <a:prstGeom prst="rect">
                <a:avLst/>
              </a:prstGeom>
              <a:noFill/>
              <a:ln>
                <a:noFill/>
              </a:ln>
            </p:spPr>
            <p:txBody>
              <a:bodyPr wrap="none" lIns="0" tIns="0" rIns="0" bIns="0" anchor="ctr">
                <a:noAutofit/>
              </a:bodyPr>
              <a:lstStyle/>
              <a:p>
                <a:pPr algn="ctr"/>
                <a:r>
                  <a:rPr lang="zh-CN" sz="1500">
                    <a:solidFill>
                      <a:srgbClr val="34495C"/>
                    </a:solidFill>
                    <a:latin typeface="Times New Roman"/>
                    <a:ea typeface="Times New Roman"/>
                    <a:cs typeface="Avenir Next"/>
                  </a:rPr>
                  <a:t>M1</a:t>
                </a:r>
                <a:endParaRPr lang="zh-CN" sz="1500"/>
              </a:p>
            </p:txBody>
          </p:sp>
          <p:sp>
            <p:nvSpPr>
              <p:cNvPr id="52" name="forecast-027"/>
              <p:cNvSpPr txBox="1"/>
              <p:nvPr/>
            </p:nvSpPr>
            <p:spPr>
              <a:xfrm>
                <a:off x="2103120" y="2944368"/>
                <a:ext cx="676656" cy="310896"/>
              </a:xfrm>
              <a:prstGeom prst="rect">
                <a:avLst/>
              </a:prstGeom>
              <a:noFill/>
              <a:ln>
                <a:noFill/>
              </a:ln>
            </p:spPr>
            <p:txBody>
              <a:bodyPr wrap="none" lIns="0" tIns="0" rIns="0" bIns="0" anchor="ctr">
                <a:noAutofit/>
              </a:bodyPr>
              <a:lstStyle/>
              <a:p>
                <a:pPr algn="ctr"/>
                <a:r>
                  <a:rPr lang="zh-CN" sz="1500">
                    <a:solidFill>
                      <a:srgbClr val="34495C"/>
                    </a:solidFill>
                    <a:latin typeface="Times New Roman"/>
                    <a:ea typeface="Times New Roman"/>
                    <a:cs typeface="Avenir Next"/>
                  </a:rPr>
                  <a:t>M2</a:t>
                </a:r>
                <a:endParaRPr lang="zh-CN" sz="1500"/>
              </a:p>
            </p:txBody>
          </p:sp>
          <p:sp>
            <p:nvSpPr>
              <p:cNvPr id="53" name="forecast-029"/>
              <p:cNvSpPr txBox="1"/>
              <p:nvPr/>
            </p:nvSpPr>
            <p:spPr>
              <a:xfrm>
                <a:off x="2103120" y="3328416"/>
                <a:ext cx="676656" cy="310896"/>
              </a:xfrm>
              <a:prstGeom prst="rect">
                <a:avLst/>
              </a:prstGeom>
              <a:noFill/>
              <a:ln>
                <a:noFill/>
              </a:ln>
            </p:spPr>
            <p:txBody>
              <a:bodyPr wrap="none" lIns="0" tIns="0" rIns="0" bIns="0" anchor="ctr">
                <a:noAutofit/>
              </a:bodyPr>
              <a:lstStyle/>
              <a:p>
                <a:pPr algn="ctr"/>
                <a:r>
                  <a:rPr lang="zh-CN" sz="1500">
                    <a:solidFill>
                      <a:srgbClr val="34495C"/>
                    </a:solidFill>
                    <a:latin typeface="Times New Roman"/>
                    <a:ea typeface="Times New Roman"/>
                    <a:cs typeface="Avenir Next"/>
                  </a:rPr>
                  <a:t>M3</a:t>
                </a:r>
                <a:endParaRPr lang="zh-CN" sz="1500"/>
              </a:p>
            </p:txBody>
          </p:sp>
          <p:sp>
            <p:nvSpPr>
              <p:cNvPr id="54" name="forecast-034"/>
              <p:cNvSpPr txBox="1"/>
              <p:nvPr/>
            </p:nvSpPr>
            <p:spPr>
              <a:xfrm>
                <a:off x="3282696" y="347472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Baseline</a:t>
                </a:r>
                <a:endParaRPr lang="zh-CN" sz="1500"/>
              </a:p>
            </p:txBody>
          </p:sp>
          <p:sp>
            <p:nvSpPr>
              <p:cNvPr id="55" name="forecast-037"/>
              <p:cNvSpPr txBox="1"/>
              <p:nvPr/>
            </p:nvSpPr>
            <p:spPr>
              <a:xfrm>
                <a:off x="4672584" y="2121408"/>
                <a:ext cx="914400" cy="310896"/>
              </a:xfrm>
              <a:prstGeom prst="rect">
                <a:avLst/>
              </a:prstGeom>
              <a:noFill/>
              <a:ln>
                <a:noFill/>
              </a:ln>
            </p:spPr>
            <p:txBody>
              <a:bodyPr wrap="none" lIns="0" tIns="0" rIns="0" bIns="0" anchor="ctr">
                <a:noAutofit/>
              </a:bodyPr>
              <a:lstStyle/>
              <a:p>
                <a:pPr algn="ctr"/>
                <a:r>
                  <a:rPr lang="zh-CN" sz="1450" i="1">
                    <a:solidFill>
                      <a:srgbClr val="34495C"/>
                    </a:solidFill>
                    <a:latin typeface="Times New Roman"/>
                    <a:ea typeface="Times New Roman"/>
                    <a:cs typeface="Avenir Next"/>
                  </a:rPr>
                  <a:t>Context</a:t>
                </a:r>
                <a:endParaRPr lang="zh-CN" sz="1450"/>
              </a:p>
            </p:txBody>
          </p:sp>
          <p:sp>
            <p:nvSpPr>
              <p:cNvPr id="56" name="forecast-040"/>
              <p:cNvSpPr txBox="1"/>
              <p:nvPr/>
            </p:nvSpPr>
            <p:spPr>
              <a:xfrm>
                <a:off x="4773168" y="2916936"/>
                <a:ext cx="713232" cy="365760"/>
              </a:xfrm>
              <a:prstGeom prst="rect">
                <a:avLst/>
              </a:prstGeom>
              <a:noFill/>
              <a:ln>
                <a:noFill/>
              </a:ln>
            </p:spPr>
            <p:txBody>
              <a:bodyPr wrap="none" lIns="0" tIns="0" rIns="0" bIns="0" anchor="ctr">
                <a:noAutofit/>
              </a:bodyPr>
              <a:lstStyle/>
              <a:p>
                <a:pPr algn="ctr"/>
                <a:r>
                  <a:rPr lang="zh-CN" sz="1450">
                    <a:solidFill>
                      <a:srgbClr val="3376A0"/>
                    </a:solidFill>
                    <a:latin typeface="Times New Roman"/>
                    <a:ea typeface="Times New Roman"/>
                    <a:cs typeface="Avenir Next Medium"/>
                  </a:rPr>
                  <a:t>Revise</a:t>
                </a:r>
                <a:endParaRPr lang="zh-CN" sz="1450"/>
              </a:p>
            </p:txBody>
          </p:sp>
          <p:sp>
            <p:nvSpPr>
              <p:cNvPr id="57" name="forecast-046"/>
              <p:cNvSpPr txBox="1"/>
              <p:nvPr/>
            </p:nvSpPr>
            <p:spPr>
              <a:xfrm>
                <a:off x="6099048" y="347472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Revised</a:t>
                </a:r>
                <a:endParaRPr lang="zh-CN" sz="1500"/>
              </a:p>
            </p:txBody>
          </p:sp>
          <p:sp>
            <p:nvSpPr>
              <p:cNvPr id="58" name="forecast-049"/>
              <p:cNvSpPr txBox="1"/>
              <p:nvPr/>
            </p:nvSpPr>
            <p:spPr>
              <a:xfrm>
                <a:off x="475488" y="4407408"/>
                <a:ext cx="1316736" cy="365760"/>
              </a:xfrm>
              <a:prstGeom prst="rect">
                <a:avLst/>
              </a:prstGeom>
              <a:noFill/>
              <a:ln>
                <a:noFill/>
              </a:ln>
            </p:spPr>
            <p:txBody>
              <a:bodyPr wrap="none" lIns="0" tIns="0" rIns="0" bIns="0" anchor="ctr">
                <a:noAutofit/>
              </a:bodyPr>
              <a:lstStyle/>
              <a:p>
                <a:pPr algn="ctr"/>
                <a:r>
                  <a:rPr lang="zh-CN" sz="1450">
                    <a:solidFill>
                      <a:srgbClr val="3376A0"/>
                    </a:solidFill>
                    <a:latin typeface="Times New Roman"/>
                    <a:ea typeface="Times New Roman"/>
                    <a:cs typeface="Avenir Next Medium"/>
                  </a:rPr>
                  <a:t>Predict event</a:t>
                </a:r>
                <a:endParaRPr lang="zh-CN" sz="1450"/>
              </a:p>
            </p:txBody>
          </p:sp>
          <p:sp>
            <p:nvSpPr>
              <p:cNvPr id="59" name="forecast-054"/>
              <p:cNvSpPr txBox="1"/>
              <p:nvPr/>
            </p:nvSpPr>
            <p:spPr>
              <a:xfrm>
                <a:off x="1947672" y="4864608"/>
                <a:ext cx="1097280" cy="201168"/>
              </a:xfrm>
              <a:prstGeom prst="rect">
                <a:avLst/>
              </a:prstGeom>
              <a:noFill/>
              <a:ln>
                <a:noFill/>
              </a:ln>
            </p:spPr>
            <p:txBody>
              <a:bodyPr wrap="none" lIns="0" tIns="0" rIns="0" bIns="0" anchor="ctr">
                <a:noAutofit/>
              </a:bodyPr>
              <a:lstStyle/>
              <a:p>
                <a:pPr algn="ctr"/>
                <a:r>
                  <a:rPr lang="zh-CN" sz="1400">
                    <a:solidFill>
                      <a:srgbClr val="576675"/>
                    </a:solidFill>
                    <a:latin typeface="Times New Roman"/>
                    <a:ea typeface="Times New Roman"/>
                    <a:cs typeface="Avenir Next"/>
                  </a:rPr>
                  <a:t>Probability</a:t>
                </a:r>
                <a:endParaRPr lang="zh-CN" sz="1400"/>
              </a:p>
            </p:txBody>
          </p:sp>
          <p:sp>
            <p:nvSpPr>
              <p:cNvPr id="60" name="forecast-056"/>
              <p:cNvSpPr txBox="1"/>
              <p:nvPr/>
            </p:nvSpPr>
            <p:spPr>
              <a:xfrm>
                <a:off x="4224528" y="4407408"/>
                <a:ext cx="1408176" cy="365760"/>
              </a:xfrm>
              <a:prstGeom prst="rect">
                <a:avLst/>
              </a:prstGeom>
              <a:noFill/>
              <a:ln>
                <a:noFill/>
              </a:ln>
            </p:spPr>
            <p:txBody>
              <a:bodyPr wrap="none" lIns="0" tIns="0" rIns="0" bIns="0" anchor="ctr">
                <a:noAutofit/>
              </a:bodyPr>
              <a:lstStyle/>
              <a:p>
                <a:pPr algn="ctr"/>
                <a:r>
                  <a:rPr lang="zh-CN" sz="1450">
                    <a:solidFill>
                      <a:srgbClr val="3376A0"/>
                    </a:solidFill>
                    <a:latin typeface="Times New Roman"/>
                    <a:ea typeface="Times New Roman"/>
                    <a:cs typeface="Avenir Next Medium"/>
                  </a:rPr>
                  <a:t>Refine prompt</a:t>
                </a:r>
                <a:endParaRPr lang="zh-CN" sz="1450"/>
              </a:p>
            </p:txBody>
          </p:sp>
          <p:sp>
            <p:nvSpPr>
              <p:cNvPr id="61" name="forecast-058"/>
              <p:cNvSpPr txBox="1"/>
              <p:nvPr/>
            </p:nvSpPr>
            <p:spPr>
              <a:xfrm>
                <a:off x="5815584" y="4334256"/>
                <a:ext cx="1463040" cy="182880"/>
              </a:xfrm>
              <a:prstGeom prst="rect">
                <a:avLst/>
              </a:prstGeom>
              <a:noFill/>
              <a:ln>
                <a:noFill/>
              </a:ln>
            </p:spPr>
            <p:txBody>
              <a:bodyPr wrap="none" lIns="0" tIns="0" rIns="0" bIns="0" anchor="ctr">
                <a:noAutofit/>
              </a:bodyPr>
              <a:lstStyle/>
              <a:p>
                <a:pPr algn="ctr"/>
                <a:r>
                  <a:rPr lang="zh-CN" sz="1350" i="1">
                    <a:solidFill>
                      <a:srgbClr val="2F6CA8"/>
                    </a:solidFill>
                    <a:latin typeface="Times New Roman"/>
                    <a:ea typeface="Times New Roman"/>
                    <a:cs typeface="Avenir Next"/>
                  </a:rPr>
                  <a:t>Observed error</a:t>
                </a:r>
                <a:endParaRPr lang="zh-CN" sz="1350"/>
              </a:p>
            </p:txBody>
          </p:sp>
          <p:grpSp>
            <p:nvGrpSpPr>
              <p:cNvPr id="10180" name="layers editable icon"/>
              <p:cNvGrpSpPr/>
              <p:nvPr/>
            </p:nvGrpSpPr>
            <p:grpSpPr>
              <a:xfrm>
                <a:off x="1803273" y="1272921"/>
                <a:ext cx="323850" cy="323850"/>
                <a:chOff x="1803273" y="1272921"/>
                <a:chExt cx="323850" cy="323850"/>
              </a:xfrm>
            </p:grpSpPr>
            <p:sp>
              <p:nvSpPr>
                <p:cNvPr id="10177" name="layers-0"/>
                <p:cNvSpPr/>
                <p:nvPr/>
              </p:nvSpPr>
              <p:spPr>
                <a:xfrm>
                  <a:off x="1803273" y="1272921"/>
                  <a:ext cx="323850" cy="323850"/>
                </a:xfrm>
                <a:custGeom>
                  <a:avLst/>
                  <a:gdLst/>
                  <a:ahLst/>
                  <a:cxnLst/>
                  <a:rect l="l" t="t" r="r" b="b"/>
                  <a:pathLst>
                    <a:path w="24000" h="24000" fill="none">
                      <a:moveTo>
                        <a:pt x="12830" y="2180"/>
                      </a:moveTo>
                      <a:cubicBezTo>
                        <a:pt x="12303" y="1940"/>
                        <a:pt x="11697" y="1940"/>
                        <a:pt x="11170" y="2180"/>
                      </a:cubicBezTo>
                      <a:lnTo>
                        <a:pt x="2600" y="6080"/>
                      </a:lnTo>
                      <a:cubicBezTo>
                        <a:pt x="2237" y="6240"/>
                        <a:pt x="2003" y="6599"/>
                        <a:pt x="2003" y="6995"/>
                      </a:cubicBezTo>
                      <a:cubicBezTo>
                        <a:pt x="2003" y="7391"/>
                        <a:pt x="2237" y="7750"/>
                        <a:pt x="2600" y="7910"/>
                      </a:cubicBezTo>
                      <a:lnTo>
                        <a:pt x="11180" y="11820"/>
                      </a:lnTo>
                      <a:cubicBezTo>
                        <a:pt x="11707" y="12060"/>
                        <a:pt x="12313" y="12060"/>
                        <a:pt x="12840" y="11820"/>
                      </a:cubicBezTo>
                      <a:lnTo>
                        <a:pt x="21420" y="7920"/>
                      </a:lnTo>
                      <a:cubicBezTo>
                        <a:pt x="21783" y="7760"/>
                        <a:pt x="22017" y="7401"/>
                        <a:pt x="22017" y="7005"/>
                      </a:cubicBezTo>
                      <a:cubicBezTo>
                        <a:pt x="22017" y="6609"/>
                        <a:pt x="21783" y="6250"/>
                        <a:pt x="21420" y="6090"/>
                      </a:cubicBezTo>
                      <a:lnTo>
                        <a:pt x="12830" y="2180"/>
                      </a:lnTo>
                      <a:close/>
                    </a:path>
                  </a:pathLst>
                </a:custGeom>
                <a:noFill/>
                <a:ln w="20241" cap="rnd">
                  <a:solidFill>
                    <a:srgbClr val="3376A0"/>
                  </a:solidFill>
                </a:ln>
              </p:spPr>
            </p:sp>
            <p:sp>
              <p:nvSpPr>
                <p:cNvPr id="10178" name="layers-1"/>
                <p:cNvSpPr/>
                <p:nvPr/>
              </p:nvSpPr>
              <p:spPr>
                <a:xfrm>
                  <a:off x="1803273" y="1272921"/>
                  <a:ext cx="323850" cy="323850"/>
                </a:xfrm>
                <a:custGeom>
                  <a:avLst/>
                  <a:gdLst/>
                  <a:ahLst/>
                  <a:cxnLst/>
                  <a:rect l="l" t="t" r="r" b="b"/>
                  <a:pathLst>
                    <a:path w="24000" h="24000" fill="none">
                      <a:moveTo>
                        <a:pt x="2000" y="12000"/>
                      </a:moveTo>
                      <a:cubicBezTo>
                        <a:pt x="1999" y="12391"/>
                        <a:pt x="2226" y="12746"/>
                        <a:pt x="2580" y="12910"/>
                      </a:cubicBezTo>
                      <a:lnTo>
                        <a:pt x="11180" y="16820"/>
                      </a:lnTo>
                      <a:cubicBezTo>
                        <a:pt x="11704" y="17057"/>
                        <a:pt x="12306" y="17057"/>
                        <a:pt x="12830" y="16820"/>
                      </a:cubicBezTo>
                      <a:lnTo>
                        <a:pt x="21410" y="12920"/>
                      </a:lnTo>
                      <a:cubicBezTo>
                        <a:pt x="21772" y="12757"/>
                        <a:pt x="22003" y="12397"/>
                        <a:pt x="22000" y="12000"/>
                      </a:cubicBezTo>
                    </a:path>
                  </a:pathLst>
                </a:custGeom>
                <a:noFill/>
                <a:ln w="20241" cap="rnd">
                  <a:solidFill>
                    <a:srgbClr val="3376A0"/>
                  </a:solidFill>
                </a:ln>
              </p:spPr>
            </p:sp>
            <p:sp>
              <p:nvSpPr>
                <p:cNvPr id="10179" name="layers-2"/>
                <p:cNvSpPr/>
                <p:nvPr/>
              </p:nvSpPr>
              <p:spPr>
                <a:xfrm>
                  <a:off x="1803273" y="1272921"/>
                  <a:ext cx="323850" cy="323850"/>
                </a:xfrm>
                <a:custGeom>
                  <a:avLst/>
                  <a:gdLst/>
                  <a:ahLst/>
                  <a:cxnLst/>
                  <a:rect l="l" t="t" r="r" b="b"/>
                  <a:pathLst>
                    <a:path w="24000" h="24000" fill="none">
                      <a:moveTo>
                        <a:pt x="2000" y="17000"/>
                      </a:moveTo>
                      <a:cubicBezTo>
                        <a:pt x="1999" y="17391"/>
                        <a:pt x="2226" y="17746"/>
                        <a:pt x="2580" y="17910"/>
                      </a:cubicBezTo>
                      <a:lnTo>
                        <a:pt x="11180" y="21820"/>
                      </a:lnTo>
                      <a:cubicBezTo>
                        <a:pt x="11704" y="22057"/>
                        <a:pt x="12306" y="22057"/>
                        <a:pt x="12830" y="21820"/>
                      </a:cubicBezTo>
                      <a:lnTo>
                        <a:pt x="21410" y="17920"/>
                      </a:lnTo>
                      <a:cubicBezTo>
                        <a:pt x="21772" y="17757"/>
                        <a:pt x="22003" y="17397"/>
                        <a:pt x="22000" y="17000"/>
                      </a:cubicBezTo>
                    </a:path>
                  </a:pathLst>
                </a:custGeom>
                <a:noFill/>
                <a:ln w="20241" cap="rnd">
                  <a:solidFill>
                    <a:srgbClr val="3376A0"/>
                  </a:solidFill>
                </a:ln>
              </p:spPr>
            </p:sp>
          </p:grpSp>
          <p:grpSp>
            <p:nvGrpSpPr>
              <p:cNvPr id="10190" name="sliders-horizontal editable icon"/>
              <p:cNvGrpSpPr/>
              <p:nvPr/>
            </p:nvGrpSpPr>
            <p:grpSpPr>
              <a:xfrm>
                <a:off x="4820793" y="2507361"/>
                <a:ext cx="323850" cy="323850"/>
                <a:chOff x="4820793" y="2507361"/>
                <a:chExt cx="323850" cy="323850"/>
              </a:xfrm>
            </p:grpSpPr>
            <p:sp>
              <p:nvSpPr>
                <p:cNvPr id="10181" name="sliders-horizontal-0"/>
                <p:cNvSpPr/>
                <p:nvPr/>
              </p:nvSpPr>
              <p:spPr>
                <a:xfrm>
                  <a:off x="4820793" y="2507361"/>
                  <a:ext cx="323850" cy="323850"/>
                </a:xfrm>
                <a:custGeom>
                  <a:avLst/>
                  <a:gdLst/>
                  <a:ahLst/>
                  <a:cxnLst/>
                  <a:rect l="l" t="t" r="r" b="b"/>
                  <a:pathLst>
                    <a:path w="24000" h="24000" fill="none">
                      <a:moveTo>
                        <a:pt x="10000" y="5000"/>
                      </a:moveTo>
                      <a:lnTo>
                        <a:pt x="3000" y="5000"/>
                      </a:lnTo>
                    </a:path>
                  </a:pathLst>
                </a:custGeom>
                <a:noFill/>
                <a:ln w="20241" cap="rnd">
                  <a:solidFill>
                    <a:srgbClr val="3376A0"/>
                  </a:solidFill>
                </a:ln>
              </p:spPr>
            </p:sp>
            <p:sp>
              <p:nvSpPr>
                <p:cNvPr id="10182" name="sliders-horizontal-1"/>
                <p:cNvSpPr/>
                <p:nvPr/>
              </p:nvSpPr>
              <p:spPr>
                <a:xfrm>
                  <a:off x="4820793" y="2507361"/>
                  <a:ext cx="323850" cy="323850"/>
                </a:xfrm>
                <a:custGeom>
                  <a:avLst/>
                  <a:gdLst/>
                  <a:ahLst/>
                  <a:cxnLst/>
                  <a:rect l="l" t="t" r="r" b="b"/>
                  <a:pathLst>
                    <a:path w="24000" h="24000" fill="none">
                      <a:moveTo>
                        <a:pt x="12000" y="19000"/>
                      </a:moveTo>
                      <a:lnTo>
                        <a:pt x="3000" y="19000"/>
                      </a:lnTo>
                    </a:path>
                  </a:pathLst>
                </a:custGeom>
                <a:noFill/>
                <a:ln w="20241" cap="rnd">
                  <a:solidFill>
                    <a:srgbClr val="3376A0"/>
                  </a:solidFill>
                </a:ln>
              </p:spPr>
            </p:sp>
            <p:sp>
              <p:nvSpPr>
                <p:cNvPr id="10183" name="sliders-horizontal-2"/>
                <p:cNvSpPr/>
                <p:nvPr/>
              </p:nvSpPr>
              <p:spPr>
                <a:xfrm>
                  <a:off x="4820793" y="2507361"/>
                  <a:ext cx="323850" cy="323850"/>
                </a:xfrm>
                <a:custGeom>
                  <a:avLst/>
                  <a:gdLst/>
                  <a:ahLst/>
                  <a:cxnLst/>
                  <a:rect l="l" t="t" r="r" b="b"/>
                  <a:pathLst>
                    <a:path w="24000" h="24000" fill="none">
                      <a:moveTo>
                        <a:pt x="14000" y="3000"/>
                      </a:moveTo>
                      <a:lnTo>
                        <a:pt x="14000" y="7000"/>
                      </a:lnTo>
                    </a:path>
                  </a:pathLst>
                </a:custGeom>
                <a:noFill/>
                <a:ln w="20241" cap="rnd">
                  <a:solidFill>
                    <a:srgbClr val="3376A0"/>
                  </a:solidFill>
                </a:ln>
              </p:spPr>
            </p:sp>
            <p:sp>
              <p:nvSpPr>
                <p:cNvPr id="10184" name="sliders-horizontal-3"/>
                <p:cNvSpPr/>
                <p:nvPr/>
              </p:nvSpPr>
              <p:spPr>
                <a:xfrm>
                  <a:off x="4820793" y="2507361"/>
                  <a:ext cx="323850" cy="323850"/>
                </a:xfrm>
                <a:custGeom>
                  <a:avLst/>
                  <a:gdLst/>
                  <a:ahLst/>
                  <a:cxnLst/>
                  <a:rect l="l" t="t" r="r" b="b"/>
                  <a:pathLst>
                    <a:path w="24000" h="24000" fill="none">
                      <a:moveTo>
                        <a:pt x="16000" y="17000"/>
                      </a:moveTo>
                      <a:lnTo>
                        <a:pt x="16000" y="21000"/>
                      </a:lnTo>
                    </a:path>
                  </a:pathLst>
                </a:custGeom>
                <a:noFill/>
                <a:ln w="20241" cap="rnd">
                  <a:solidFill>
                    <a:srgbClr val="3376A0"/>
                  </a:solidFill>
                </a:ln>
              </p:spPr>
            </p:sp>
            <p:sp>
              <p:nvSpPr>
                <p:cNvPr id="10185" name="sliders-horizontal-4"/>
                <p:cNvSpPr/>
                <p:nvPr/>
              </p:nvSpPr>
              <p:spPr>
                <a:xfrm>
                  <a:off x="4820793" y="2507361"/>
                  <a:ext cx="323850" cy="323850"/>
                </a:xfrm>
                <a:custGeom>
                  <a:avLst/>
                  <a:gdLst/>
                  <a:ahLst/>
                  <a:cxnLst/>
                  <a:rect l="l" t="t" r="r" b="b"/>
                  <a:pathLst>
                    <a:path w="24000" h="24000" fill="none">
                      <a:moveTo>
                        <a:pt x="21000" y="12000"/>
                      </a:moveTo>
                      <a:lnTo>
                        <a:pt x="12000" y="12000"/>
                      </a:lnTo>
                    </a:path>
                  </a:pathLst>
                </a:custGeom>
                <a:noFill/>
                <a:ln w="20241" cap="rnd">
                  <a:solidFill>
                    <a:srgbClr val="3376A0"/>
                  </a:solidFill>
                </a:ln>
              </p:spPr>
            </p:sp>
            <p:sp>
              <p:nvSpPr>
                <p:cNvPr id="10186" name="sliders-horizontal-5"/>
                <p:cNvSpPr/>
                <p:nvPr/>
              </p:nvSpPr>
              <p:spPr>
                <a:xfrm>
                  <a:off x="4820793" y="2507361"/>
                  <a:ext cx="323850" cy="323850"/>
                </a:xfrm>
                <a:custGeom>
                  <a:avLst/>
                  <a:gdLst/>
                  <a:ahLst/>
                  <a:cxnLst/>
                  <a:rect l="l" t="t" r="r" b="b"/>
                  <a:pathLst>
                    <a:path w="24000" h="24000" fill="none">
                      <a:moveTo>
                        <a:pt x="21000" y="19000"/>
                      </a:moveTo>
                      <a:lnTo>
                        <a:pt x="16000" y="19000"/>
                      </a:lnTo>
                    </a:path>
                  </a:pathLst>
                </a:custGeom>
                <a:noFill/>
                <a:ln w="20241" cap="rnd">
                  <a:solidFill>
                    <a:srgbClr val="3376A0"/>
                  </a:solidFill>
                </a:ln>
              </p:spPr>
            </p:sp>
            <p:sp>
              <p:nvSpPr>
                <p:cNvPr id="10187" name="sliders-horizontal-6"/>
                <p:cNvSpPr/>
                <p:nvPr/>
              </p:nvSpPr>
              <p:spPr>
                <a:xfrm>
                  <a:off x="4820793" y="2507361"/>
                  <a:ext cx="323850" cy="323850"/>
                </a:xfrm>
                <a:custGeom>
                  <a:avLst/>
                  <a:gdLst/>
                  <a:ahLst/>
                  <a:cxnLst/>
                  <a:rect l="l" t="t" r="r" b="b"/>
                  <a:pathLst>
                    <a:path w="24000" h="24000" fill="none">
                      <a:moveTo>
                        <a:pt x="21000" y="5000"/>
                      </a:moveTo>
                      <a:lnTo>
                        <a:pt x="14000" y="5000"/>
                      </a:lnTo>
                    </a:path>
                  </a:pathLst>
                </a:custGeom>
                <a:noFill/>
                <a:ln w="20241" cap="rnd">
                  <a:solidFill>
                    <a:srgbClr val="3376A0"/>
                  </a:solidFill>
                </a:ln>
              </p:spPr>
            </p:sp>
            <p:sp>
              <p:nvSpPr>
                <p:cNvPr id="10188" name="sliders-horizontal-7"/>
                <p:cNvSpPr/>
                <p:nvPr/>
              </p:nvSpPr>
              <p:spPr>
                <a:xfrm>
                  <a:off x="4820793" y="2507361"/>
                  <a:ext cx="323850" cy="323850"/>
                </a:xfrm>
                <a:custGeom>
                  <a:avLst/>
                  <a:gdLst/>
                  <a:ahLst/>
                  <a:cxnLst/>
                  <a:rect l="l" t="t" r="r" b="b"/>
                  <a:pathLst>
                    <a:path w="24000" h="24000" fill="none">
                      <a:moveTo>
                        <a:pt x="8000" y="10000"/>
                      </a:moveTo>
                      <a:lnTo>
                        <a:pt x="8000" y="14000"/>
                      </a:lnTo>
                    </a:path>
                  </a:pathLst>
                </a:custGeom>
                <a:noFill/>
                <a:ln w="20241" cap="rnd">
                  <a:solidFill>
                    <a:srgbClr val="3376A0"/>
                  </a:solidFill>
                </a:ln>
              </p:spPr>
            </p:sp>
            <p:sp>
              <p:nvSpPr>
                <p:cNvPr id="10189" name="sliders-horizontal-8"/>
                <p:cNvSpPr/>
                <p:nvPr/>
              </p:nvSpPr>
              <p:spPr>
                <a:xfrm>
                  <a:off x="4820793" y="2507361"/>
                  <a:ext cx="323850" cy="323850"/>
                </a:xfrm>
                <a:custGeom>
                  <a:avLst/>
                  <a:gdLst/>
                  <a:ahLst/>
                  <a:cxnLst/>
                  <a:rect l="l" t="t" r="r" b="b"/>
                  <a:pathLst>
                    <a:path w="24000" h="24000" fill="none">
                      <a:moveTo>
                        <a:pt x="8000" y="12000"/>
                      </a:moveTo>
                      <a:lnTo>
                        <a:pt x="3000" y="12000"/>
                      </a:lnTo>
                    </a:path>
                  </a:pathLst>
                </a:custGeom>
                <a:noFill/>
                <a:ln w="20241" cap="rnd">
                  <a:solidFill>
                    <a:srgbClr val="3376A0"/>
                  </a:solidFill>
                </a:ln>
              </p:spPr>
            </p:sp>
          </p:grpSp>
          <p:grpSp>
            <p:nvGrpSpPr>
              <p:cNvPr id="10195" name="chart-column editable icon"/>
              <p:cNvGrpSpPr/>
              <p:nvPr/>
            </p:nvGrpSpPr>
            <p:grpSpPr>
              <a:xfrm>
                <a:off x="523113" y="3997833"/>
                <a:ext cx="323850" cy="323850"/>
                <a:chOff x="523113" y="3997833"/>
                <a:chExt cx="323850" cy="323850"/>
              </a:xfrm>
            </p:grpSpPr>
            <p:sp>
              <p:nvSpPr>
                <p:cNvPr id="10191" name="chart-column-0"/>
                <p:cNvSpPr/>
                <p:nvPr/>
              </p:nvSpPr>
              <p:spPr>
                <a:xfrm>
                  <a:off x="523113" y="3997833"/>
                  <a:ext cx="323850" cy="323850"/>
                </a:xfrm>
                <a:custGeom>
                  <a:avLst/>
                  <a:gdLst/>
                  <a:ahLst/>
                  <a:cxnLst/>
                  <a:rect l="l" t="t" r="r" b="b"/>
                  <a:pathLst>
                    <a:path w="24000" h="24000" fill="none">
                      <a:moveTo>
                        <a:pt x="3000" y="3000"/>
                      </a:moveTo>
                      <a:lnTo>
                        <a:pt x="3000" y="19000"/>
                      </a:lnTo>
                      <a:cubicBezTo>
                        <a:pt x="3000" y="20105"/>
                        <a:pt x="3895" y="21000"/>
                        <a:pt x="5000" y="21000"/>
                      </a:cubicBezTo>
                      <a:lnTo>
                        <a:pt x="21000" y="21000"/>
                      </a:lnTo>
                    </a:path>
                  </a:pathLst>
                </a:custGeom>
                <a:noFill/>
                <a:ln w="20241" cap="rnd">
                  <a:solidFill>
                    <a:srgbClr val="3376A0"/>
                  </a:solidFill>
                </a:ln>
              </p:spPr>
            </p:sp>
            <p:sp>
              <p:nvSpPr>
                <p:cNvPr id="10192" name="chart-column-1"/>
                <p:cNvSpPr/>
                <p:nvPr/>
              </p:nvSpPr>
              <p:spPr>
                <a:xfrm>
                  <a:off x="523113" y="3997833"/>
                  <a:ext cx="323850" cy="323850"/>
                </a:xfrm>
                <a:custGeom>
                  <a:avLst/>
                  <a:gdLst/>
                  <a:ahLst/>
                  <a:cxnLst/>
                  <a:rect l="l" t="t" r="r" b="b"/>
                  <a:pathLst>
                    <a:path w="24000" h="24000" fill="none">
                      <a:moveTo>
                        <a:pt x="18000" y="17000"/>
                      </a:moveTo>
                      <a:lnTo>
                        <a:pt x="18000" y="9000"/>
                      </a:lnTo>
                    </a:path>
                  </a:pathLst>
                </a:custGeom>
                <a:noFill/>
                <a:ln w="20241" cap="rnd">
                  <a:solidFill>
                    <a:srgbClr val="3376A0"/>
                  </a:solidFill>
                </a:ln>
              </p:spPr>
            </p:sp>
            <p:sp>
              <p:nvSpPr>
                <p:cNvPr id="10193" name="chart-column-2"/>
                <p:cNvSpPr/>
                <p:nvPr/>
              </p:nvSpPr>
              <p:spPr>
                <a:xfrm>
                  <a:off x="523113" y="3997833"/>
                  <a:ext cx="323850" cy="323850"/>
                </a:xfrm>
                <a:custGeom>
                  <a:avLst/>
                  <a:gdLst/>
                  <a:ahLst/>
                  <a:cxnLst/>
                  <a:rect l="l" t="t" r="r" b="b"/>
                  <a:pathLst>
                    <a:path w="24000" h="24000" fill="none">
                      <a:moveTo>
                        <a:pt x="13000" y="17000"/>
                      </a:moveTo>
                      <a:lnTo>
                        <a:pt x="13000" y="5000"/>
                      </a:lnTo>
                    </a:path>
                  </a:pathLst>
                </a:custGeom>
                <a:noFill/>
                <a:ln w="20241" cap="rnd">
                  <a:solidFill>
                    <a:srgbClr val="3376A0"/>
                  </a:solidFill>
                </a:ln>
              </p:spPr>
            </p:sp>
            <p:sp>
              <p:nvSpPr>
                <p:cNvPr id="10194" name="chart-column-3"/>
                <p:cNvSpPr/>
                <p:nvPr/>
              </p:nvSpPr>
              <p:spPr>
                <a:xfrm>
                  <a:off x="523113" y="3997833"/>
                  <a:ext cx="323850" cy="323850"/>
                </a:xfrm>
                <a:custGeom>
                  <a:avLst/>
                  <a:gdLst/>
                  <a:ahLst/>
                  <a:cxnLst/>
                  <a:rect l="l" t="t" r="r" b="b"/>
                  <a:pathLst>
                    <a:path w="24000" h="24000" fill="none">
                      <a:moveTo>
                        <a:pt x="8000" y="17000"/>
                      </a:moveTo>
                      <a:lnTo>
                        <a:pt x="8000" y="14000"/>
                      </a:lnTo>
                    </a:path>
                  </a:pathLst>
                </a:custGeom>
                <a:noFill/>
                <a:ln w="20241" cap="rnd">
                  <a:solidFill>
                    <a:srgbClr val="3376A0"/>
                  </a:solidFill>
                </a:ln>
              </p:spPr>
            </p:sp>
          </p:grpSp>
          <p:grpSp>
            <p:nvGrpSpPr>
              <p:cNvPr id="10201" name="file-text editable icon"/>
              <p:cNvGrpSpPr/>
              <p:nvPr/>
            </p:nvGrpSpPr>
            <p:grpSpPr>
              <a:xfrm>
                <a:off x="4272153" y="3997833"/>
                <a:ext cx="323850" cy="323850"/>
                <a:chOff x="4272153" y="3997833"/>
                <a:chExt cx="323850" cy="323850"/>
              </a:xfrm>
            </p:grpSpPr>
            <p:sp>
              <p:nvSpPr>
                <p:cNvPr id="10196" name="file-text-0"/>
                <p:cNvSpPr/>
                <p:nvPr/>
              </p:nvSpPr>
              <p:spPr>
                <a:xfrm>
                  <a:off x="4272153" y="3997833"/>
                  <a:ext cx="323850" cy="323850"/>
                </a:xfrm>
                <a:custGeom>
                  <a:avLst/>
                  <a:gdLst/>
                  <a:ahLst/>
                  <a:cxnLst/>
                  <a:rect l="l" t="t" r="r" b="b"/>
                  <a:pathLst>
                    <a:path w="24000" h="24000" fill="none">
                      <a:moveTo>
                        <a:pt x="6000" y="22000"/>
                      </a:moveTo>
                      <a:cubicBezTo>
                        <a:pt x="4895" y="22000"/>
                        <a:pt x="4000" y="21105"/>
                        <a:pt x="4000" y="20000"/>
                      </a:cubicBezTo>
                      <a:lnTo>
                        <a:pt x="4000" y="4000"/>
                      </a:lnTo>
                      <a:cubicBezTo>
                        <a:pt x="4000" y="2895"/>
                        <a:pt x="4895" y="2000"/>
                        <a:pt x="6000" y="2000"/>
                      </a:cubicBezTo>
                      <a:lnTo>
                        <a:pt x="14000" y="2000"/>
                      </a:lnTo>
                      <a:cubicBezTo>
                        <a:pt x="14639" y="1999"/>
                        <a:pt x="15253" y="2253"/>
                        <a:pt x="15704" y="2706"/>
                      </a:cubicBezTo>
                      <a:lnTo>
                        <a:pt x="19292" y="6294"/>
                      </a:lnTo>
                      <a:cubicBezTo>
                        <a:pt x="19746" y="6745"/>
                        <a:pt x="20001" y="7360"/>
                        <a:pt x="20000" y="8000"/>
                      </a:cubicBezTo>
                      <a:lnTo>
                        <a:pt x="20000" y="20000"/>
                      </a:lnTo>
                      <a:cubicBezTo>
                        <a:pt x="20000" y="21105"/>
                        <a:pt x="19105" y="22000"/>
                        <a:pt x="18000" y="22000"/>
                      </a:cubicBezTo>
                      <a:lnTo>
                        <a:pt x="6000" y="22000"/>
                      </a:lnTo>
                      <a:close/>
                    </a:path>
                  </a:pathLst>
                </a:custGeom>
                <a:noFill/>
                <a:ln w="20241" cap="rnd">
                  <a:solidFill>
                    <a:srgbClr val="3376A0"/>
                  </a:solidFill>
                </a:ln>
              </p:spPr>
            </p:sp>
            <p:sp>
              <p:nvSpPr>
                <p:cNvPr id="10197" name="file-text-1"/>
                <p:cNvSpPr/>
                <p:nvPr/>
              </p:nvSpPr>
              <p:spPr>
                <a:xfrm>
                  <a:off x="4272153" y="3997833"/>
                  <a:ext cx="323850" cy="323850"/>
                </a:xfrm>
                <a:custGeom>
                  <a:avLst/>
                  <a:gdLst/>
                  <a:ahLst/>
                  <a:cxnLst/>
                  <a:rect l="l" t="t" r="r" b="b"/>
                  <a:pathLst>
                    <a:path w="24000" h="24000" fill="none">
                      <a:moveTo>
                        <a:pt x="14000" y="2000"/>
                      </a:moveTo>
                      <a:lnTo>
                        <a:pt x="14000" y="7000"/>
                      </a:lnTo>
                      <a:cubicBezTo>
                        <a:pt x="14000" y="7552"/>
                        <a:pt x="14448" y="8000"/>
                        <a:pt x="15000" y="8000"/>
                      </a:cubicBezTo>
                      <a:lnTo>
                        <a:pt x="20000" y="8000"/>
                      </a:lnTo>
                    </a:path>
                  </a:pathLst>
                </a:custGeom>
                <a:noFill/>
                <a:ln w="20241" cap="rnd">
                  <a:solidFill>
                    <a:srgbClr val="3376A0"/>
                  </a:solidFill>
                </a:ln>
              </p:spPr>
            </p:sp>
            <p:sp>
              <p:nvSpPr>
                <p:cNvPr id="10198" name="file-text-2"/>
                <p:cNvSpPr/>
                <p:nvPr/>
              </p:nvSpPr>
              <p:spPr>
                <a:xfrm>
                  <a:off x="4272153" y="3997833"/>
                  <a:ext cx="323850" cy="323850"/>
                </a:xfrm>
                <a:custGeom>
                  <a:avLst/>
                  <a:gdLst/>
                  <a:ahLst/>
                  <a:cxnLst/>
                  <a:rect l="l" t="t" r="r" b="b"/>
                  <a:pathLst>
                    <a:path w="24000" h="24000" fill="none">
                      <a:moveTo>
                        <a:pt x="10000" y="9000"/>
                      </a:moveTo>
                      <a:lnTo>
                        <a:pt x="8000" y="9000"/>
                      </a:lnTo>
                    </a:path>
                  </a:pathLst>
                </a:custGeom>
                <a:noFill/>
                <a:ln w="20241" cap="rnd">
                  <a:solidFill>
                    <a:srgbClr val="3376A0"/>
                  </a:solidFill>
                </a:ln>
              </p:spPr>
            </p:sp>
            <p:sp>
              <p:nvSpPr>
                <p:cNvPr id="10199" name="file-text-3"/>
                <p:cNvSpPr/>
                <p:nvPr/>
              </p:nvSpPr>
              <p:spPr>
                <a:xfrm>
                  <a:off x="4272153" y="3997833"/>
                  <a:ext cx="323850" cy="323850"/>
                </a:xfrm>
                <a:custGeom>
                  <a:avLst/>
                  <a:gdLst/>
                  <a:ahLst/>
                  <a:cxnLst/>
                  <a:rect l="l" t="t" r="r" b="b"/>
                  <a:pathLst>
                    <a:path w="24000" h="24000" fill="none">
                      <a:moveTo>
                        <a:pt x="16000" y="13000"/>
                      </a:moveTo>
                      <a:lnTo>
                        <a:pt x="8000" y="13000"/>
                      </a:lnTo>
                    </a:path>
                  </a:pathLst>
                </a:custGeom>
                <a:noFill/>
                <a:ln w="20241" cap="rnd">
                  <a:solidFill>
                    <a:srgbClr val="3376A0"/>
                  </a:solidFill>
                </a:ln>
              </p:spPr>
            </p:sp>
            <p:sp>
              <p:nvSpPr>
                <p:cNvPr id="10200" name="file-text-4"/>
                <p:cNvSpPr/>
                <p:nvPr/>
              </p:nvSpPr>
              <p:spPr>
                <a:xfrm>
                  <a:off x="4272153" y="3997833"/>
                  <a:ext cx="323850" cy="323850"/>
                </a:xfrm>
                <a:custGeom>
                  <a:avLst/>
                  <a:gdLst/>
                  <a:ahLst/>
                  <a:cxnLst/>
                  <a:rect l="l" t="t" r="r" b="b"/>
                  <a:pathLst>
                    <a:path w="24000" h="24000" fill="none">
                      <a:moveTo>
                        <a:pt x="16000" y="17000"/>
                      </a:moveTo>
                      <a:lnTo>
                        <a:pt x="8000" y="17000"/>
                      </a:lnTo>
                    </a:path>
                  </a:pathLst>
                </a:custGeom>
                <a:noFill/>
                <a:ln w="20241" cap="rnd">
                  <a:solidFill>
                    <a:srgbClr val="3376A0"/>
                  </a:solidFill>
                </a:ln>
              </p:spPr>
            </p:sp>
          </p:grpSp>
        </p:grpSp>
        <p:grpSp>
          <p:nvGrpSpPr>
            <p:cNvPr id="219" name="synthesis"/>
            <p:cNvGrpSpPr/>
            <p:nvPr/>
          </p:nvGrpSpPr>
          <p:grpSpPr>
            <a:xfrm>
              <a:off x="8339328" y="841248"/>
              <a:ext cx="7900416" cy="4937760"/>
              <a:chOff x="8339328" y="841248"/>
              <a:chExt cx="7900416" cy="4937760"/>
            </a:xfrm>
          </p:grpSpPr>
          <p:sp>
            <p:nvSpPr>
              <p:cNvPr id="62" name="synthesis-060"/>
              <p:cNvSpPr/>
              <p:nvPr/>
            </p:nvSpPr>
            <p:spPr>
              <a:xfrm>
                <a:off x="8339328" y="841248"/>
                <a:ext cx="7900416" cy="4937760"/>
              </a:xfrm>
              <a:prstGeom prst="roundRect">
                <a:avLst>
                  <a:gd name="adj" fmla="val 2963"/>
                </a:avLst>
              </a:prstGeom>
              <a:solidFill>
                <a:srgbClr val="F0F7F3"/>
              </a:solidFill>
              <a:ln w="12700">
                <a:solidFill>
                  <a:srgbClr val="D1E7DA"/>
                </a:solidFill>
              </a:ln>
            </p:spPr>
            <p:txBody>
              <a:bodyPr/>
              <a:lstStyle/>
              <a:p>
                <a:endParaRPr/>
              </a:p>
            </p:txBody>
          </p:sp>
          <p:sp>
            <p:nvSpPr>
              <p:cNvPr id="63" name="synthesis-064"/>
              <p:cNvSpPr/>
              <p:nvPr/>
            </p:nvSpPr>
            <p:spPr>
              <a:xfrm>
                <a:off x="8540496" y="5303520"/>
                <a:ext cx="7498080" cy="310896"/>
              </a:xfrm>
              <a:prstGeom prst="roundRect">
                <a:avLst>
                  <a:gd name="adj" fmla="val 50000"/>
                </a:avLst>
              </a:prstGeom>
              <a:solidFill>
                <a:srgbClr val="FFFFFF"/>
              </a:solidFill>
              <a:ln w="12700">
                <a:solidFill>
                  <a:srgbClr val="D1E7DA"/>
                </a:solidFill>
              </a:ln>
            </p:spPr>
            <p:txBody>
              <a:bodyPr/>
              <a:lstStyle/>
              <a:p>
                <a:endParaRPr/>
              </a:p>
            </p:txBody>
          </p:sp>
          <p:sp>
            <p:nvSpPr>
              <p:cNvPr id="64" name="synthesis-066"/>
              <p:cNvSpPr/>
              <p:nvPr/>
            </p:nvSpPr>
            <p:spPr>
              <a:xfrm>
                <a:off x="8577072" y="3177174"/>
                <a:ext cx="914400" cy="517002"/>
              </a:xfrm>
              <a:custGeom>
                <a:avLst/>
                <a:gdLst/>
                <a:ahLst/>
                <a:cxnLst/>
                <a:rect l="l" t="t" r="r" b="b"/>
                <a:pathLst>
                  <a:path w="21600" h="21600">
                    <a:moveTo>
                      <a:pt x="0" y="14036"/>
                    </a:moveTo>
                    <a:cubicBezTo>
                      <a:pt x="432" y="13279"/>
                      <a:pt x="1728" y="9749"/>
                      <a:pt x="2592" y="9497"/>
                    </a:cubicBezTo>
                    <a:cubicBezTo>
                      <a:pt x="3456" y="9245"/>
                      <a:pt x="4284" y="13447"/>
                      <a:pt x="5184" y="12523"/>
                    </a:cubicBezTo>
                    <a:cubicBezTo>
                      <a:pt x="6084" y="11598"/>
                      <a:pt x="7056" y="4707"/>
                      <a:pt x="7992" y="3950"/>
                    </a:cubicBezTo>
                    <a:cubicBezTo>
                      <a:pt x="8928" y="3194"/>
                      <a:pt x="9900" y="8321"/>
                      <a:pt x="10800" y="7984"/>
                    </a:cubicBezTo>
                    <a:cubicBezTo>
                      <a:pt x="11700" y="7648"/>
                      <a:pt x="12492" y="2185"/>
                      <a:pt x="13392" y="1933"/>
                    </a:cubicBezTo>
                    <a:cubicBezTo>
                      <a:pt x="14292" y="1681"/>
                      <a:pt x="15300" y="6724"/>
                      <a:pt x="16200" y="6472"/>
                    </a:cubicBezTo>
                    <a:cubicBezTo>
                      <a:pt x="17100" y="6219"/>
                      <a:pt x="17892" y="840"/>
                      <a:pt x="18792" y="420"/>
                    </a:cubicBezTo>
                    <a:cubicBezTo>
                      <a:pt x="19692" y="0"/>
                      <a:pt x="21132" y="3362"/>
                      <a:pt x="21600" y="3950"/>
                    </a:cubicBezTo>
                    <a:lnTo>
                      <a:pt x="21600" y="21600"/>
                    </a:lnTo>
                    <a:lnTo>
                      <a:pt x="0" y="21600"/>
                    </a:lnTo>
                    <a:close/>
                  </a:path>
                </a:pathLst>
              </a:custGeom>
              <a:solidFill>
                <a:srgbClr val="D6EBDF"/>
              </a:solidFill>
              <a:ln>
                <a:noFill/>
              </a:ln>
            </p:spPr>
            <p:txBody>
              <a:bodyPr/>
              <a:lstStyle/>
              <a:p>
                <a:endParaRPr/>
              </a:p>
            </p:txBody>
          </p:sp>
          <p:sp>
            <p:nvSpPr>
              <p:cNvPr id="65" name="synthesis-067"/>
              <p:cNvSpPr/>
              <p:nvPr/>
            </p:nvSpPr>
            <p:spPr>
              <a:xfrm>
                <a:off x="8540496" y="3694176"/>
                <a:ext cx="987552" cy="0"/>
              </a:xfrm>
              <a:prstGeom prst="line">
                <a:avLst/>
              </a:prstGeom>
              <a:noFill/>
              <a:ln w="10160">
                <a:solidFill>
                  <a:srgbClr val="AAB5BF"/>
                </a:solidFill>
                <a:prstDash val="solid"/>
                <a:tailEnd type="none"/>
              </a:ln>
            </p:spPr>
            <p:txBody>
              <a:bodyPr/>
              <a:lstStyle/>
              <a:p>
                <a:endParaRPr/>
              </a:p>
            </p:txBody>
          </p:sp>
          <p:sp>
            <p:nvSpPr>
              <p:cNvPr id="66" name="synthesis-061"/>
              <p:cNvSpPr/>
              <p:nvPr/>
            </p:nvSpPr>
            <p:spPr>
              <a:xfrm>
                <a:off x="8540496" y="1014984"/>
                <a:ext cx="310896" cy="310896"/>
              </a:xfrm>
              <a:prstGeom prst="ellipse">
                <a:avLst/>
              </a:prstGeom>
              <a:solidFill>
                <a:srgbClr val="2F855E"/>
              </a:solidFill>
              <a:ln>
                <a:noFill/>
              </a:ln>
            </p:spPr>
            <p:txBody>
              <a:bodyPr/>
              <a:lstStyle/>
              <a:p>
                <a:endParaRPr/>
              </a:p>
            </p:txBody>
          </p:sp>
          <p:sp>
            <p:nvSpPr>
              <p:cNvPr id="67" name="synthesis-073"/>
              <p:cNvSpPr/>
              <p:nvPr/>
            </p:nvSpPr>
            <p:spPr>
              <a:xfrm>
                <a:off x="9985248" y="2286000"/>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68" name="synthesis-076"/>
              <p:cNvSpPr/>
              <p:nvPr/>
            </p:nvSpPr>
            <p:spPr>
              <a:xfrm>
                <a:off x="11795760" y="2295144"/>
                <a:ext cx="1097280" cy="347472"/>
              </a:xfrm>
              <a:prstGeom prst="roundRect">
                <a:avLst>
                  <a:gd name="adj" fmla="val 7895"/>
                </a:avLst>
              </a:prstGeom>
              <a:solidFill>
                <a:srgbClr val="EEF1F4"/>
              </a:solidFill>
              <a:ln w="13970">
                <a:solidFill>
                  <a:srgbClr val="8E9DAA"/>
                </a:solidFill>
              </a:ln>
            </p:spPr>
            <p:txBody>
              <a:bodyPr/>
              <a:lstStyle/>
              <a:p>
                <a:endParaRPr/>
              </a:p>
            </p:txBody>
          </p:sp>
          <p:sp>
            <p:nvSpPr>
              <p:cNvPr id="69" name="synthesis-080"/>
              <p:cNvSpPr/>
              <p:nvPr/>
            </p:nvSpPr>
            <p:spPr>
              <a:xfrm>
                <a:off x="9985248" y="3218688"/>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70" name="synthesis-083"/>
              <p:cNvSpPr/>
              <p:nvPr/>
            </p:nvSpPr>
            <p:spPr>
              <a:xfrm>
                <a:off x="11795760" y="3227832"/>
                <a:ext cx="1097280" cy="347472"/>
              </a:xfrm>
              <a:prstGeom prst="roundRect">
                <a:avLst>
                  <a:gd name="adj" fmla="val 7895"/>
                </a:avLst>
              </a:prstGeom>
              <a:solidFill>
                <a:srgbClr val="EEF1F4"/>
              </a:solidFill>
              <a:ln w="13970">
                <a:solidFill>
                  <a:srgbClr val="8E9DAA"/>
                </a:solidFill>
              </a:ln>
            </p:spPr>
            <p:txBody>
              <a:bodyPr/>
              <a:lstStyle/>
              <a:p>
                <a:endParaRPr/>
              </a:p>
            </p:txBody>
          </p:sp>
          <p:sp>
            <p:nvSpPr>
              <p:cNvPr id="71" name="synthesis-087"/>
              <p:cNvSpPr/>
              <p:nvPr/>
            </p:nvSpPr>
            <p:spPr>
              <a:xfrm>
                <a:off x="9985248" y="4242816"/>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72" name="synthesis-095"/>
              <p:cNvSpPr/>
              <p:nvPr/>
            </p:nvSpPr>
            <p:spPr>
              <a:xfrm>
                <a:off x="11887200" y="4133088"/>
                <a:ext cx="1188720" cy="256032"/>
              </a:xfrm>
              <a:prstGeom prst="roundRect">
                <a:avLst>
                  <a:gd name="adj" fmla="val 32143"/>
                </a:avLst>
              </a:prstGeom>
              <a:solidFill>
                <a:srgbClr val="FFFFFF"/>
              </a:solidFill>
              <a:ln w="12700">
                <a:solidFill>
                  <a:srgbClr val="A9D3BC"/>
                </a:solidFill>
              </a:ln>
            </p:spPr>
            <p:txBody>
              <a:bodyPr/>
              <a:lstStyle/>
              <a:p>
                <a:endParaRPr/>
              </a:p>
            </p:txBody>
          </p:sp>
          <p:sp>
            <p:nvSpPr>
              <p:cNvPr id="73" name="synthesis-099"/>
              <p:cNvSpPr/>
              <p:nvPr/>
            </p:nvSpPr>
            <p:spPr>
              <a:xfrm>
                <a:off x="12179808" y="4443984"/>
                <a:ext cx="1188720" cy="256032"/>
              </a:xfrm>
              <a:prstGeom prst="roundRect">
                <a:avLst>
                  <a:gd name="adj" fmla="val 32143"/>
                </a:avLst>
              </a:prstGeom>
              <a:solidFill>
                <a:srgbClr val="FFFFFF"/>
              </a:solidFill>
              <a:ln w="12700">
                <a:solidFill>
                  <a:srgbClr val="A9D3BC"/>
                </a:solidFill>
              </a:ln>
            </p:spPr>
            <p:txBody>
              <a:bodyPr/>
              <a:lstStyle/>
              <a:p>
                <a:endParaRPr/>
              </a:p>
            </p:txBody>
          </p:sp>
          <p:sp>
            <p:nvSpPr>
              <p:cNvPr id="74" name="synthesis-108"/>
              <p:cNvSpPr/>
              <p:nvPr/>
            </p:nvSpPr>
            <p:spPr>
              <a:xfrm>
                <a:off x="14721840" y="3218688"/>
                <a:ext cx="1280160" cy="365760"/>
              </a:xfrm>
              <a:prstGeom prst="roundRect">
                <a:avLst>
                  <a:gd name="adj" fmla="val 22500"/>
                </a:avLst>
              </a:prstGeom>
              <a:solidFill>
                <a:srgbClr val="E8EDF2"/>
              </a:solidFill>
              <a:ln w="12700">
                <a:solidFill>
                  <a:srgbClr val="2F3743"/>
                </a:solidFill>
              </a:ln>
            </p:spPr>
            <p:txBody>
              <a:bodyPr/>
              <a:lstStyle/>
              <a:p>
                <a:endParaRPr/>
              </a:p>
            </p:txBody>
          </p:sp>
          <p:sp>
            <p:nvSpPr>
              <p:cNvPr id="75" name="synthesis-111"/>
              <p:cNvSpPr/>
              <p:nvPr/>
            </p:nvSpPr>
            <p:spPr>
              <a:xfrm>
                <a:off x="14721840" y="4242816"/>
                <a:ext cx="1280160" cy="347472"/>
              </a:xfrm>
              <a:prstGeom prst="roundRect">
                <a:avLst>
                  <a:gd name="adj" fmla="val 7895"/>
                </a:avLst>
              </a:prstGeom>
              <a:solidFill>
                <a:srgbClr val="EEF1F4"/>
              </a:solidFill>
              <a:ln w="13970">
                <a:solidFill>
                  <a:srgbClr val="8E9DAA"/>
                </a:solidFill>
              </a:ln>
            </p:spPr>
            <p:txBody>
              <a:bodyPr/>
              <a:lstStyle/>
              <a:p>
                <a:endParaRPr/>
              </a:p>
            </p:txBody>
          </p:sp>
          <p:sp>
            <p:nvSpPr>
              <p:cNvPr id="76" name="synthesis-068"/>
              <p:cNvSpPr/>
              <p:nvPr/>
            </p:nvSpPr>
            <p:spPr>
              <a:xfrm>
                <a:off x="8577072" y="3177174"/>
                <a:ext cx="914400" cy="335951"/>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5400">
                <a:solidFill>
                  <a:srgbClr val="34495C"/>
                </a:solidFill>
                <a:prstDash val="solid"/>
                <a:tailEnd type="none"/>
              </a:ln>
            </p:spPr>
            <p:txBody>
              <a:bodyPr/>
              <a:lstStyle/>
              <a:p>
                <a:endParaRPr/>
              </a:p>
            </p:txBody>
          </p:sp>
          <p:sp>
            <p:nvSpPr>
              <p:cNvPr id="77" name="synthesis-070"/>
              <p:cNvSpPr/>
              <p:nvPr/>
            </p:nvSpPr>
            <p:spPr>
              <a:xfrm>
                <a:off x="9546336" y="3401568"/>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78" name="synthesis-071"/>
              <p:cNvSpPr/>
              <p:nvPr/>
            </p:nvSpPr>
            <p:spPr>
              <a:xfrm>
                <a:off x="9729216" y="2468880"/>
                <a:ext cx="9144" cy="1956816"/>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79" name="synthesis-072"/>
              <p:cNvSpPr/>
              <p:nvPr/>
            </p:nvSpPr>
            <p:spPr>
              <a:xfrm>
                <a:off x="9729216" y="2468880"/>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0" name="synthesis-075"/>
              <p:cNvSpPr/>
              <p:nvPr/>
            </p:nvSpPr>
            <p:spPr>
              <a:xfrm>
                <a:off x="11539728" y="2468880"/>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1" name="synthesis-078"/>
              <p:cNvSpPr/>
              <p:nvPr/>
            </p:nvSpPr>
            <p:spPr>
              <a:xfrm>
                <a:off x="12929616" y="2468880"/>
                <a:ext cx="219456"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2" name="synthesis-079"/>
              <p:cNvSpPr/>
              <p:nvPr/>
            </p:nvSpPr>
            <p:spPr>
              <a:xfrm>
                <a:off x="9729216" y="3401568"/>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3" name="synthesis-082"/>
              <p:cNvSpPr/>
              <p:nvPr/>
            </p:nvSpPr>
            <p:spPr>
              <a:xfrm>
                <a:off x="11539728" y="3401568"/>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4" name="synthesis-085"/>
              <p:cNvSpPr/>
              <p:nvPr/>
            </p:nvSpPr>
            <p:spPr>
              <a:xfrm>
                <a:off x="12929616" y="3401568"/>
                <a:ext cx="219456"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5" name="synthesis-086"/>
              <p:cNvSpPr/>
              <p:nvPr/>
            </p:nvSpPr>
            <p:spPr>
              <a:xfrm>
                <a:off x="9729216" y="4425696"/>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6" name="synthesis-089"/>
              <p:cNvSpPr/>
              <p:nvPr/>
            </p:nvSpPr>
            <p:spPr>
              <a:xfrm>
                <a:off x="13222224" y="2128723"/>
                <a:ext cx="822960" cy="27980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A9D3BC"/>
                </a:solidFill>
                <a:prstDash val="solid"/>
                <a:tailEnd type="none"/>
              </a:ln>
            </p:spPr>
            <p:txBody>
              <a:bodyPr/>
              <a:lstStyle/>
              <a:p>
                <a:endParaRPr/>
              </a:p>
            </p:txBody>
          </p:sp>
          <p:sp>
            <p:nvSpPr>
              <p:cNvPr id="87" name="synthesis-090"/>
              <p:cNvSpPr/>
              <p:nvPr/>
            </p:nvSpPr>
            <p:spPr>
              <a:xfrm>
                <a:off x="13222224" y="2311603"/>
                <a:ext cx="822960" cy="27980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6BB08D"/>
                </a:solidFill>
                <a:prstDash val="solid"/>
                <a:tailEnd type="none"/>
              </a:ln>
            </p:spPr>
            <p:txBody>
              <a:bodyPr/>
              <a:lstStyle/>
              <a:p>
                <a:endParaRPr/>
              </a:p>
            </p:txBody>
          </p:sp>
          <p:sp>
            <p:nvSpPr>
              <p:cNvPr id="88" name="synthesis-091"/>
              <p:cNvSpPr/>
              <p:nvPr/>
            </p:nvSpPr>
            <p:spPr>
              <a:xfrm>
                <a:off x="13222224" y="2494483"/>
                <a:ext cx="822960" cy="27980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2F855E"/>
                </a:solidFill>
                <a:prstDash val="solid"/>
                <a:tailEnd type="none"/>
              </a:ln>
            </p:spPr>
            <p:txBody>
              <a:bodyPr/>
              <a:lstStyle/>
              <a:p>
                <a:endParaRPr/>
              </a:p>
            </p:txBody>
          </p:sp>
          <p:sp>
            <p:nvSpPr>
              <p:cNvPr id="89" name="synthesis-092"/>
              <p:cNvSpPr/>
              <p:nvPr/>
            </p:nvSpPr>
            <p:spPr>
              <a:xfrm>
                <a:off x="13222224" y="3156509"/>
                <a:ext cx="822960" cy="34198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2F855E"/>
                </a:solidFill>
                <a:prstDash val="solid"/>
                <a:tailEnd type="none"/>
              </a:ln>
            </p:spPr>
            <p:txBody>
              <a:bodyPr/>
              <a:lstStyle/>
              <a:p>
                <a:endParaRPr/>
              </a:p>
            </p:txBody>
          </p:sp>
          <p:sp>
            <p:nvSpPr>
              <p:cNvPr id="90" name="synthesis-093"/>
              <p:cNvSpPr/>
              <p:nvPr/>
            </p:nvSpPr>
            <p:spPr>
              <a:xfrm>
                <a:off x="13222224" y="3416198"/>
                <a:ext cx="822960" cy="248717"/>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A9D3BC"/>
                </a:solidFill>
                <a:prstDash val="solid"/>
                <a:tailEnd type="none"/>
              </a:ln>
            </p:spPr>
            <p:txBody>
              <a:bodyPr/>
              <a:lstStyle/>
              <a:p>
                <a:endParaRPr/>
              </a:p>
            </p:txBody>
          </p:sp>
          <p:sp>
            <p:nvSpPr>
              <p:cNvPr id="91" name="synthesis-094"/>
              <p:cNvSpPr/>
              <p:nvPr/>
            </p:nvSpPr>
            <p:spPr>
              <a:xfrm>
                <a:off x="11539728" y="4425696"/>
                <a:ext cx="27432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92" name="synthesis-097"/>
              <p:cNvSpPr/>
              <p:nvPr/>
            </p:nvSpPr>
            <p:spPr>
              <a:xfrm>
                <a:off x="12216384" y="4224528"/>
                <a:ext cx="731520" cy="0"/>
              </a:xfrm>
              <a:prstGeom prst="line">
                <a:avLst/>
              </a:prstGeom>
              <a:noFill/>
              <a:ln w="12700">
                <a:solidFill>
                  <a:srgbClr val="9AA8B4"/>
                </a:solidFill>
                <a:prstDash val="solid"/>
                <a:tailEnd type="none"/>
              </a:ln>
            </p:spPr>
            <p:txBody>
              <a:bodyPr/>
              <a:lstStyle/>
              <a:p>
                <a:endParaRPr/>
              </a:p>
            </p:txBody>
          </p:sp>
          <p:sp>
            <p:nvSpPr>
              <p:cNvPr id="93" name="synthesis-098"/>
              <p:cNvSpPr/>
              <p:nvPr/>
            </p:nvSpPr>
            <p:spPr>
              <a:xfrm>
                <a:off x="12216384" y="4297680"/>
                <a:ext cx="548640" cy="0"/>
              </a:xfrm>
              <a:prstGeom prst="line">
                <a:avLst/>
              </a:prstGeom>
              <a:noFill/>
              <a:ln w="12700">
                <a:solidFill>
                  <a:srgbClr val="9AA8B4"/>
                </a:solidFill>
                <a:prstDash val="solid"/>
                <a:tailEnd type="none"/>
              </a:ln>
            </p:spPr>
            <p:txBody>
              <a:bodyPr/>
              <a:lstStyle/>
              <a:p>
                <a:endParaRPr/>
              </a:p>
            </p:txBody>
          </p:sp>
          <p:sp>
            <p:nvSpPr>
              <p:cNvPr id="94" name="synthesis-101"/>
              <p:cNvSpPr/>
              <p:nvPr/>
            </p:nvSpPr>
            <p:spPr>
              <a:xfrm>
                <a:off x="12508992" y="4535424"/>
                <a:ext cx="731520" cy="0"/>
              </a:xfrm>
              <a:prstGeom prst="line">
                <a:avLst/>
              </a:prstGeom>
              <a:noFill/>
              <a:ln w="12700">
                <a:solidFill>
                  <a:srgbClr val="9AA8B4"/>
                </a:solidFill>
                <a:prstDash val="solid"/>
                <a:tailEnd type="none"/>
              </a:ln>
            </p:spPr>
            <p:txBody>
              <a:bodyPr/>
              <a:lstStyle/>
              <a:p>
                <a:endParaRPr/>
              </a:p>
            </p:txBody>
          </p:sp>
          <p:sp>
            <p:nvSpPr>
              <p:cNvPr id="95" name="synthesis-102"/>
              <p:cNvSpPr/>
              <p:nvPr/>
            </p:nvSpPr>
            <p:spPr>
              <a:xfrm>
                <a:off x="12508992" y="4608576"/>
                <a:ext cx="548640" cy="0"/>
              </a:xfrm>
              <a:prstGeom prst="line">
                <a:avLst/>
              </a:prstGeom>
              <a:noFill/>
              <a:ln w="12700">
                <a:solidFill>
                  <a:srgbClr val="9AA8B4"/>
                </a:solidFill>
                <a:prstDash val="solid"/>
                <a:tailEnd type="none"/>
              </a:ln>
            </p:spPr>
            <p:txBody>
              <a:bodyPr/>
              <a:lstStyle/>
              <a:p>
                <a:endParaRPr/>
              </a:p>
            </p:txBody>
          </p:sp>
          <p:sp>
            <p:nvSpPr>
              <p:cNvPr id="96" name="synthesis-103"/>
              <p:cNvSpPr/>
              <p:nvPr/>
            </p:nvSpPr>
            <p:spPr>
              <a:xfrm>
                <a:off x="14100048" y="2468880"/>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97" name="synthesis-104"/>
              <p:cNvSpPr/>
              <p:nvPr/>
            </p:nvSpPr>
            <p:spPr>
              <a:xfrm>
                <a:off x="14100048" y="3401568"/>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98" name="synthesis-105"/>
              <p:cNvSpPr/>
              <p:nvPr/>
            </p:nvSpPr>
            <p:spPr>
              <a:xfrm>
                <a:off x="13423392" y="4572000"/>
                <a:ext cx="859536"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99" name="synthesis-106"/>
              <p:cNvSpPr/>
              <p:nvPr/>
            </p:nvSpPr>
            <p:spPr>
              <a:xfrm>
                <a:off x="14282928" y="2468880"/>
                <a:ext cx="9144" cy="2103120"/>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00" name="synthesis-107"/>
              <p:cNvSpPr/>
              <p:nvPr/>
            </p:nvSpPr>
            <p:spPr>
              <a:xfrm>
                <a:off x="14282928" y="3401568"/>
                <a:ext cx="38404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01" name="synthesis-110"/>
              <p:cNvSpPr/>
              <p:nvPr/>
            </p:nvSpPr>
            <p:spPr>
              <a:xfrm>
                <a:off x="15361920" y="3602736"/>
                <a:ext cx="9144" cy="585216"/>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102" name="synthesis-113"/>
              <p:cNvSpPr/>
              <p:nvPr/>
            </p:nvSpPr>
            <p:spPr>
              <a:xfrm>
                <a:off x="10716768" y="1792224"/>
                <a:ext cx="4645152" cy="1408176"/>
              </a:xfrm>
              <a:custGeom>
                <a:avLst/>
                <a:gdLst/>
                <a:ahLst/>
                <a:cxnLst/>
                <a:rect l="l" t="t" r="r" b="b"/>
                <a:pathLst>
                  <a:path w="21600" h="21600" fill="none">
                    <a:moveTo>
                      <a:pt x="21600" y="21600"/>
                    </a:moveTo>
                    <a:lnTo>
                      <a:pt x="21600" y="0"/>
                    </a:lnTo>
                    <a:lnTo>
                      <a:pt x="0" y="0"/>
                    </a:lnTo>
                    <a:lnTo>
                      <a:pt x="0" y="7013"/>
                    </a:lnTo>
                  </a:path>
                </a:pathLst>
              </a:custGeom>
              <a:noFill/>
              <a:ln w="17780">
                <a:solidFill>
                  <a:srgbClr val="2F855E"/>
                </a:solidFill>
                <a:prstDash val="dash"/>
                <a:tailEnd type="triangle"/>
              </a:ln>
            </p:spPr>
            <p:txBody>
              <a:bodyPr/>
              <a:lstStyle/>
              <a:p>
                <a:endParaRPr/>
              </a:p>
            </p:txBody>
          </p:sp>
          <p:sp>
            <p:nvSpPr>
              <p:cNvPr id="103" name="synthesis-062"/>
              <p:cNvSpPr txBox="1"/>
              <p:nvPr/>
            </p:nvSpPr>
            <p:spPr>
              <a:xfrm>
                <a:off x="8540496" y="1014984"/>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Times New Roman"/>
                    <a:ea typeface="Times New Roman"/>
                    <a:cs typeface="Georgia"/>
                  </a:rPr>
                  <a:t>b</a:t>
                </a:r>
                <a:endParaRPr lang="zh-CN" sz="1700"/>
              </a:p>
            </p:txBody>
          </p:sp>
          <p:sp>
            <p:nvSpPr>
              <p:cNvPr id="104" name="synthesis-063"/>
              <p:cNvSpPr txBox="1"/>
              <p:nvPr/>
            </p:nvSpPr>
            <p:spPr>
              <a:xfrm>
                <a:off x="8961120" y="987552"/>
                <a:ext cx="6986016" cy="365760"/>
              </a:xfrm>
              <a:prstGeom prst="rect">
                <a:avLst/>
              </a:prstGeom>
              <a:noFill/>
              <a:ln>
                <a:noFill/>
              </a:ln>
            </p:spPr>
            <p:txBody>
              <a:bodyPr wrap="none" lIns="0" tIns="0" rIns="0" bIns="0" anchor="ctr">
                <a:noAutofit/>
              </a:bodyPr>
              <a:lstStyle/>
              <a:p>
                <a:pPr algn="l"/>
                <a:r>
                  <a:rPr lang="zh-CN" sz="2200">
                    <a:solidFill>
                      <a:srgbClr val="243444"/>
                    </a:solidFill>
                    <a:latin typeface="Times New Roman"/>
                    <a:ea typeface="Times New Roman"/>
                    <a:cs typeface="Georgia"/>
                  </a:rPr>
                  <a:t>Data augmentation and synthesis</a:t>
                </a:r>
                <a:endParaRPr lang="zh-CN" sz="2200"/>
              </a:p>
            </p:txBody>
          </p:sp>
          <p:sp>
            <p:nvSpPr>
              <p:cNvPr id="105" name="synthesis-065"/>
              <p:cNvSpPr txBox="1"/>
              <p:nvPr/>
            </p:nvSpPr>
            <p:spPr>
              <a:xfrm>
                <a:off x="8540496" y="5303520"/>
                <a:ext cx="7498080" cy="310896"/>
              </a:xfrm>
              <a:prstGeom prst="rect">
                <a:avLst/>
              </a:prstGeom>
              <a:noFill/>
              <a:ln>
                <a:noFill/>
              </a:ln>
            </p:spPr>
            <p:txBody>
              <a:bodyPr wrap="none" lIns="0" tIns="0" rIns="0" bIns="0" anchor="ctr">
                <a:noAutofit/>
              </a:bodyPr>
              <a:lstStyle/>
              <a:p>
                <a:pPr algn="ctr"/>
                <a:r>
                  <a:rPr lang="zh-CN" sz="1400" b="1">
                    <a:solidFill>
                      <a:srgbClr val="2F855E"/>
                    </a:solidFill>
                    <a:latin typeface="Times New Roman"/>
                    <a:ea typeface="Times New Roman"/>
                    <a:cs typeface="Avenir Next"/>
                  </a:rPr>
                  <a:t>Evaluation   </a:t>
                </a:r>
                <a:r>
                  <a:rPr lang="zh-CN" sz="1400">
                    <a:solidFill>
                      <a:srgbClr val="243444"/>
                    </a:solidFill>
                    <a:latin typeface="Times New Roman"/>
                    <a:ea typeface="Times New Roman"/>
                    <a:cs typeface="Avenir Next"/>
                  </a:rPr>
                  <a:t>Fidelity / downstream learning utility</a:t>
                </a:r>
                <a:endParaRPr lang="zh-CN" sz="1400"/>
              </a:p>
            </p:txBody>
          </p:sp>
          <p:sp>
            <p:nvSpPr>
              <p:cNvPr id="106" name="synthesis-069"/>
              <p:cNvSpPr txBox="1"/>
              <p:nvPr/>
            </p:nvSpPr>
            <p:spPr>
              <a:xfrm>
                <a:off x="8485632" y="374904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Examples</a:t>
                </a:r>
                <a:endParaRPr lang="zh-CN" sz="1500"/>
              </a:p>
            </p:txBody>
          </p:sp>
          <p:sp>
            <p:nvSpPr>
              <p:cNvPr id="107" name="synthesis-074"/>
              <p:cNvSpPr txBox="1"/>
              <p:nvPr/>
            </p:nvSpPr>
            <p:spPr>
              <a:xfrm>
                <a:off x="10040112" y="2286000"/>
                <a:ext cx="1408176" cy="365760"/>
              </a:xfrm>
              <a:prstGeom prst="rect">
                <a:avLst/>
              </a:prstGeom>
              <a:noFill/>
              <a:ln>
                <a:noFill/>
              </a:ln>
            </p:spPr>
            <p:txBody>
              <a:bodyPr wrap="none" lIns="0" tIns="0" rIns="0" bIns="0" anchor="ctr">
                <a:noAutofit/>
              </a:bodyPr>
              <a:lstStyle/>
              <a:p>
                <a:pPr algn="ctr"/>
                <a:r>
                  <a:rPr lang="zh-CN" sz="1450">
                    <a:solidFill>
                      <a:srgbClr val="39846C"/>
                    </a:solidFill>
                    <a:latin typeface="Times New Roman"/>
                    <a:ea typeface="Times New Roman"/>
                    <a:cs typeface="Avenir Next Medium"/>
                  </a:rPr>
                  <a:t>Set conditions</a:t>
                </a:r>
                <a:endParaRPr lang="zh-CN" sz="1450"/>
              </a:p>
            </p:txBody>
          </p:sp>
          <p:sp>
            <p:nvSpPr>
              <p:cNvPr id="108" name="synthesis-077"/>
              <p:cNvSpPr txBox="1"/>
              <p:nvPr/>
            </p:nvSpPr>
            <p:spPr>
              <a:xfrm>
                <a:off x="11795760" y="2295144"/>
                <a:ext cx="109728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Generator</a:t>
                </a:r>
                <a:endParaRPr lang="zh-CN" sz="1550"/>
              </a:p>
            </p:txBody>
          </p:sp>
          <p:sp>
            <p:nvSpPr>
              <p:cNvPr id="109" name="synthesis-081"/>
              <p:cNvSpPr txBox="1"/>
              <p:nvPr/>
            </p:nvSpPr>
            <p:spPr>
              <a:xfrm>
                <a:off x="10040112" y="3218688"/>
                <a:ext cx="1408176" cy="365760"/>
              </a:xfrm>
              <a:prstGeom prst="rect">
                <a:avLst/>
              </a:prstGeom>
              <a:noFill/>
              <a:ln>
                <a:noFill/>
              </a:ln>
            </p:spPr>
            <p:txBody>
              <a:bodyPr wrap="none" lIns="0" tIns="0" rIns="0" bIns="0" anchor="ctr">
                <a:noAutofit/>
              </a:bodyPr>
              <a:lstStyle/>
              <a:p>
                <a:pPr algn="ctr"/>
                <a:r>
                  <a:rPr lang="zh-CN" sz="1450">
                    <a:solidFill>
                      <a:srgbClr val="39846C"/>
                    </a:solidFill>
                    <a:latin typeface="Times New Roman"/>
                    <a:ea typeface="Times New Roman"/>
                    <a:cs typeface="Avenir Next Medium"/>
                  </a:rPr>
                  <a:t>Configure</a:t>
                </a:r>
                <a:endParaRPr lang="zh-CN" sz="1450"/>
              </a:p>
            </p:txBody>
          </p:sp>
          <p:sp>
            <p:nvSpPr>
              <p:cNvPr id="110" name="synthesis-084"/>
              <p:cNvSpPr txBox="1"/>
              <p:nvPr/>
            </p:nvSpPr>
            <p:spPr>
              <a:xfrm>
                <a:off x="11795760" y="3227832"/>
                <a:ext cx="109728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Transform</a:t>
                </a:r>
                <a:endParaRPr lang="zh-CN" sz="1550"/>
              </a:p>
            </p:txBody>
          </p:sp>
          <p:sp>
            <p:nvSpPr>
              <p:cNvPr id="111" name="synthesis-088"/>
              <p:cNvSpPr txBox="1"/>
              <p:nvPr/>
            </p:nvSpPr>
            <p:spPr>
              <a:xfrm>
                <a:off x="10040112" y="4242816"/>
                <a:ext cx="1408176" cy="365760"/>
              </a:xfrm>
              <a:prstGeom prst="rect">
                <a:avLst/>
              </a:prstGeom>
              <a:noFill/>
              <a:ln>
                <a:noFill/>
              </a:ln>
            </p:spPr>
            <p:txBody>
              <a:bodyPr wrap="none" lIns="0" tIns="0" rIns="0" bIns="0" anchor="ctr">
                <a:noAutofit/>
              </a:bodyPr>
              <a:lstStyle/>
              <a:p>
                <a:pPr algn="ctr"/>
                <a:r>
                  <a:rPr lang="zh-CN" sz="1450">
                    <a:solidFill>
                      <a:srgbClr val="39846C"/>
                    </a:solidFill>
                    <a:latin typeface="Times New Roman"/>
                    <a:ea typeface="Times New Roman"/>
                    <a:cs typeface="Avenir Next Medium"/>
                  </a:rPr>
                  <a:t>Write Q&amp;A</a:t>
                </a:r>
                <a:endParaRPr lang="zh-CN" sz="1450"/>
              </a:p>
            </p:txBody>
          </p:sp>
          <p:sp>
            <p:nvSpPr>
              <p:cNvPr id="112" name="synthesis-096"/>
              <p:cNvSpPr txBox="1"/>
              <p:nvPr/>
            </p:nvSpPr>
            <p:spPr>
              <a:xfrm>
                <a:off x="11942064" y="4151376"/>
                <a:ext cx="219456" cy="219456"/>
              </a:xfrm>
              <a:prstGeom prst="rect">
                <a:avLst/>
              </a:prstGeom>
              <a:noFill/>
              <a:ln>
                <a:noFill/>
              </a:ln>
            </p:spPr>
            <p:txBody>
              <a:bodyPr wrap="none" lIns="0" tIns="0" rIns="0" bIns="0" anchor="ctr">
                <a:noAutofit/>
              </a:bodyPr>
              <a:lstStyle/>
              <a:p>
                <a:pPr algn="ctr"/>
                <a:r>
                  <a:rPr lang="zh-CN" sz="1450" b="1">
                    <a:solidFill>
                      <a:srgbClr val="2F855E"/>
                    </a:solidFill>
                    <a:latin typeface="Times New Roman"/>
                    <a:ea typeface="Times New Roman"/>
                    <a:cs typeface="Avenir Next"/>
                  </a:rPr>
                  <a:t>Q</a:t>
                </a:r>
                <a:endParaRPr lang="zh-CN" sz="1450"/>
              </a:p>
            </p:txBody>
          </p:sp>
          <p:sp>
            <p:nvSpPr>
              <p:cNvPr id="113" name="synthesis-100"/>
              <p:cNvSpPr txBox="1"/>
              <p:nvPr/>
            </p:nvSpPr>
            <p:spPr>
              <a:xfrm>
                <a:off x="12234672" y="4462272"/>
                <a:ext cx="219456" cy="219456"/>
              </a:xfrm>
              <a:prstGeom prst="rect">
                <a:avLst/>
              </a:prstGeom>
              <a:noFill/>
              <a:ln>
                <a:noFill/>
              </a:ln>
            </p:spPr>
            <p:txBody>
              <a:bodyPr wrap="none" lIns="0" tIns="0" rIns="0" bIns="0" anchor="ctr">
                <a:noAutofit/>
              </a:bodyPr>
              <a:lstStyle/>
              <a:p>
                <a:pPr algn="ctr"/>
                <a:r>
                  <a:rPr lang="zh-CN" sz="1450" b="1">
                    <a:solidFill>
                      <a:srgbClr val="2F855E"/>
                    </a:solidFill>
                    <a:latin typeface="Times New Roman"/>
                    <a:ea typeface="Times New Roman"/>
                    <a:cs typeface="Avenir Next"/>
                  </a:rPr>
                  <a:t>A</a:t>
                </a:r>
                <a:endParaRPr lang="zh-CN" sz="1450"/>
              </a:p>
            </p:txBody>
          </p:sp>
          <p:sp>
            <p:nvSpPr>
              <p:cNvPr id="114" name="synthesis-109"/>
              <p:cNvSpPr txBox="1"/>
              <p:nvPr/>
            </p:nvSpPr>
            <p:spPr>
              <a:xfrm>
                <a:off x="14776704" y="3218688"/>
                <a:ext cx="1170432" cy="365760"/>
              </a:xfrm>
              <a:prstGeom prst="rect">
                <a:avLst/>
              </a:prstGeom>
              <a:noFill/>
              <a:ln>
                <a:noFill/>
              </a:ln>
            </p:spPr>
            <p:txBody>
              <a:bodyPr wrap="none" lIns="0" tIns="0" rIns="0" bIns="0" anchor="ctr">
                <a:noAutofit/>
              </a:bodyPr>
              <a:lstStyle/>
              <a:p>
                <a:pPr algn="ctr"/>
                <a:r>
                  <a:rPr lang="zh-CN" sz="1450">
                    <a:solidFill>
                      <a:srgbClr val="39846C"/>
                    </a:solidFill>
                    <a:latin typeface="Times New Roman"/>
                    <a:ea typeface="Times New Roman"/>
                    <a:cs typeface="Avenir Next Medium"/>
                  </a:rPr>
                  <a:t>Review</a:t>
                </a:r>
                <a:endParaRPr lang="zh-CN" sz="1450"/>
              </a:p>
            </p:txBody>
          </p:sp>
          <p:sp>
            <p:nvSpPr>
              <p:cNvPr id="115" name="synthesis-112"/>
              <p:cNvSpPr txBox="1"/>
              <p:nvPr/>
            </p:nvSpPr>
            <p:spPr>
              <a:xfrm>
                <a:off x="14721840" y="4242816"/>
                <a:ext cx="128016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Learner</a:t>
                </a:r>
                <a:endParaRPr lang="zh-CN" sz="1550"/>
              </a:p>
            </p:txBody>
          </p:sp>
          <p:sp>
            <p:nvSpPr>
              <p:cNvPr id="116" name="synthesis-114"/>
              <p:cNvSpPr txBox="1"/>
              <p:nvPr/>
            </p:nvSpPr>
            <p:spPr>
              <a:xfrm>
                <a:off x="13459968" y="1572768"/>
                <a:ext cx="1097280" cy="182880"/>
              </a:xfrm>
              <a:prstGeom prst="rect">
                <a:avLst/>
              </a:prstGeom>
              <a:noFill/>
              <a:ln>
                <a:noFill/>
              </a:ln>
            </p:spPr>
            <p:txBody>
              <a:bodyPr wrap="none" lIns="0" tIns="0" rIns="0" bIns="0" anchor="ctr">
                <a:noAutofit/>
              </a:bodyPr>
              <a:lstStyle/>
              <a:p>
                <a:pPr algn="ctr"/>
                <a:r>
                  <a:rPr lang="zh-CN" sz="1350" i="1">
                    <a:solidFill>
                      <a:srgbClr val="2F855E"/>
                    </a:solidFill>
                    <a:latin typeface="Times New Roman"/>
                    <a:ea typeface="Times New Roman"/>
                    <a:cs typeface="Avenir Next"/>
                  </a:rPr>
                  <a:t>Refine</a:t>
                </a:r>
                <a:endParaRPr lang="zh-CN" sz="1350"/>
              </a:p>
            </p:txBody>
          </p:sp>
          <p:grpSp>
            <p:nvGrpSpPr>
              <p:cNvPr id="10211" name="sliders-horizontal editable icon"/>
              <p:cNvGrpSpPr/>
              <p:nvPr/>
            </p:nvGrpSpPr>
            <p:grpSpPr>
              <a:xfrm>
                <a:off x="10087737" y="1876425"/>
                <a:ext cx="323850" cy="323850"/>
                <a:chOff x="10087737" y="1876425"/>
                <a:chExt cx="323850" cy="323850"/>
              </a:xfrm>
            </p:grpSpPr>
            <p:sp>
              <p:nvSpPr>
                <p:cNvPr id="10202" name="sliders-horizontal-0"/>
                <p:cNvSpPr/>
                <p:nvPr/>
              </p:nvSpPr>
              <p:spPr>
                <a:xfrm>
                  <a:off x="10087737" y="1876425"/>
                  <a:ext cx="323850" cy="323850"/>
                </a:xfrm>
                <a:custGeom>
                  <a:avLst/>
                  <a:gdLst/>
                  <a:ahLst/>
                  <a:cxnLst/>
                  <a:rect l="l" t="t" r="r" b="b"/>
                  <a:pathLst>
                    <a:path w="24000" h="24000" fill="none">
                      <a:moveTo>
                        <a:pt x="10000" y="5000"/>
                      </a:moveTo>
                      <a:lnTo>
                        <a:pt x="3000" y="5000"/>
                      </a:lnTo>
                    </a:path>
                  </a:pathLst>
                </a:custGeom>
                <a:noFill/>
                <a:ln w="20241" cap="rnd">
                  <a:solidFill>
                    <a:srgbClr val="39846C"/>
                  </a:solidFill>
                </a:ln>
              </p:spPr>
            </p:sp>
            <p:sp>
              <p:nvSpPr>
                <p:cNvPr id="10203" name="sliders-horizontal-1"/>
                <p:cNvSpPr/>
                <p:nvPr/>
              </p:nvSpPr>
              <p:spPr>
                <a:xfrm>
                  <a:off x="10087737" y="1876425"/>
                  <a:ext cx="323850" cy="323850"/>
                </a:xfrm>
                <a:custGeom>
                  <a:avLst/>
                  <a:gdLst/>
                  <a:ahLst/>
                  <a:cxnLst/>
                  <a:rect l="l" t="t" r="r" b="b"/>
                  <a:pathLst>
                    <a:path w="24000" h="24000" fill="none">
                      <a:moveTo>
                        <a:pt x="12000" y="19000"/>
                      </a:moveTo>
                      <a:lnTo>
                        <a:pt x="3000" y="19000"/>
                      </a:lnTo>
                    </a:path>
                  </a:pathLst>
                </a:custGeom>
                <a:noFill/>
                <a:ln w="20241" cap="rnd">
                  <a:solidFill>
                    <a:srgbClr val="39846C"/>
                  </a:solidFill>
                </a:ln>
              </p:spPr>
            </p:sp>
            <p:sp>
              <p:nvSpPr>
                <p:cNvPr id="10204" name="sliders-horizontal-2"/>
                <p:cNvSpPr/>
                <p:nvPr/>
              </p:nvSpPr>
              <p:spPr>
                <a:xfrm>
                  <a:off x="10087737" y="1876425"/>
                  <a:ext cx="323850" cy="323850"/>
                </a:xfrm>
                <a:custGeom>
                  <a:avLst/>
                  <a:gdLst/>
                  <a:ahLst/>
                  <a:cxnLst/>
                  <a:rect l="l" t="t" r="r" b="b"/>
                  <a:pathLst>
                    <a:path w="24000" h="24000" fill="none">
                      <a:moveTo>
                        <a:pt x="14000" y="3000"/>
                      </a:moveTo>
                      <a:lnTo>
                        <a:pt x="14000" y="7000"/>
                      </a:lnTo>
                    </a:path>
                  </a:pathLst>
                </a:custGeom>
                <a:noFill/>
                <a:ln w="20241" cap="rnd">
                  <a:solidFill>
                    <a:srgbClr val="39846C"/>
                  </a:solidFill>
                </a:ln>
              </p:spPr>
            </p:sp>
            <p:sp>
              <p:nvSpPr>
                <p:cNvPr id="10205" name="sliders-horizontal-3"/>
                <p:cNvSpPr/>
                <p:nvPr/>
              </p:nvSpPr>
              <p:spPr>
                <a:xfrm>
                  <a:off x="10087737" y="1876425"/>
                  <a:ext cx="323850" cy="323850"/>
                </a:xfrm>
                <a:custGeom>
                  <a:avLst/>
                  <a:gdLst/>
                  <a:ahLst/>
                  <a:cxnLst/>
                  <a:rect l="l" t="t" r="r" b="b"/>
                  <a:pathLst>
                    <a:path w="24000" h="24000" fill="none">
                      <a:moveTo>
                        <a:pt x="16000" y="17000"/>
                      </a:moveTo>
                      <a:lnTo>
                        <a:pt x="16000" y="21000"/>
                      </a:lnTo>
                    </a:path>
                  </a:pathLst>
                </a:custGeom>
                <a:noFill/>
                <a:ln w="20241" cap="rnd">
                  <a:solidFill>
                    <a:srgbClr val="39846C"/>
                  </a:solidFill>
                </a:ln>
              </p:spPr>
            </p:sp>
            <p:sp>
              <p:nvSpPr>
                <p:cNvPr id="10206" name="sliders-horizontal-4"/>
                <p:cNvSpPr/>
                <p:nvPr/>
              </p:nvSpPr>
              <p:spPr>
                <a:xfrm>
                  <a:off x="10087737" y="1876425"/>
                  <a:ext cx="323850" cy="323850"/>
                </a:xfrm>
                <a:custGeom>
                  <a:avLst/>
                  <a:gdLst/>
                  <a:ahLst/>
                  <a:cxnLst/>
                  <a:rect l="l" t="t" r="r" b="b"/>
                  <a:pathLst>
                    <a:path w="24000" h="24000" fill="none">
                      <a:moveTo>
                        <a:pt x="21000" y="12000"/>
                      </a:moveTo>
                      <a:lnTo>
                        <a:pt x="12000" y="12000"/>
                      </a:lnTo>
                    </a:path>
                  </a:pathLst>
                </a:custGeom>
                <a:noFill/>
                <a:ln w="20241" cap="rnd">
                  <a:solidFill>
                    <a:srgbClr val="39846C"/>
                  </a:solidFill>
                </a:ln>
              </p:spPr>
            </p:sp>
            <p:sp>
              <p:nvSpPr>
                <p:cNvPr id="10207" name="sliders-horizontal-5"/>
                <p:cNvSpPr/>
                <p:nvPr/>
              </p:nvSpPr>
              <p:spPr>
                <a:xfrm>
                  <a:off x="10087737" y="1876425"/>
                  <a:ext cx="323850" cy="323850"/>
                </a:xfrm>
                <a:custGeom>
                  <a:avLst/>
                  <a:gdLst/>
                  <a:ahLst/>
                  <a:cxnLst/>
                  <a:rect l="l" t="t" r="r" b="b"/>
                  <a:pathLst>
                    <a:path w="24000" h="24000" fill="none">
                      <a:moveTo>
                        <a:pt x="21000" y="19000"/>
                      </a:moveTo>
                      <a:lnTo>
                        <a:pt x="16000" y="19000"/>
                      </a:lnTo>
                    </a:path>
                  </a:pathLst>
                </a:custGeom>
                <a:noFill/>
                <a:ln w="20241" cap="rnd">
                  <a:solidFill>
                    <a:srgbClr val="39846C"/>
                  </a:solidFill>
                </a:ln>
              </p:spPr>
            </p:sp>
            <p:sp>
              <p:nvSpPr>
                <p:cNvPr id="10208" name="sliders-horizontal-6"/>
                <p:cNvSpPr/>
                <p:nvPr/>
              </p:nvSpPr>
              <p:spPr>
                <a:xfrm>
                  <a:off x="10087737" y="1876425"/>
                  <a:ext cx="323850" cy="323850"/>
                </a:xfrm>
                <a:custGeom>
                  <a:avLst/>
                  <a:gdLst/>
                  <a:ahLst/>
                  <a:cxnLst/>
                  <a:rect l="l" t="t" r="r" b="b"/>
                  <a:pathLst>
                    <a:path w="24000" h="24000" fill="none">
                      <a:moveTo>
                        <a:pt x="21000" y="5000"/>
                      </a:moveTo>
                      <a:lnTo>
                        <a:pt x="14000" y="5000"/>
                      </a:lnTo>
                    </a:path>
                  </a:pathLst>
                </a:custGeom>
                <a:noFill/>
                <a:ln w="20241" cap="rnd">
                  <a:solidFill>
                    <a:srgbClr val="39846C"/>
                  </a:solidFill>
                </a:ln>
              </p:spPr>
            </p:sp>
            <p:sp>
              <p:nvSpPr>
                <p:cNvPr id="10209" name="sliders-horizontal-7"/>
                <p:cNvSpPr/>
                <p:nvPr/>
              </p:nvSpPr>
              <p:spPr>
                <a:xfrm>
                  <a:off x="10087737" y="1876425"/>
                  <a:ext cx="323850" cy="323850"/>
                </a:xfrm>
                <a:custGeom>
                  <a:avLst/>
                  <a:gdLst/>
                  <a:ahLst/>
                  <a:cxnLst/>
                  <a:rect l="l" t="t" r="r" b="b"/>
                  <a:pathLst>
                    <a:path w="24000" h="24000" fill="none">
                      <a:moveTo>
                        <a:pt x="8000" y="10000"/>
                      </a:moveTo>
                      <a:lnTo>
                        <a:pt x="8000" y="14000"/>
                      </a:lnTo>
                    </a:path>
                  </a:pathLst>
                </a:custGeom>
                <a:noFill/>
                <a:ln w="20241" cap="rnd">
                  <a:solidFill>
                    <a:srgbClr val="39846C"/>
                  </a:solidFill>
                </a:ln>
              </p:spPr>
            </p:sp>
            <p:sp>
              <p:nvSpPr>
                <p:cNvPr id="10210" name="sliders-horizontal-8"/>
                <p:cNvSpPr/>
                <p:nvPr/>
              </p:nvSpPr>
              <p:spPr>
                <a:xfrm>
                  <a:off x="10087737" y="1876425"/>
                  <a:ext cx="323850" cy="323850"/>
                </a:xfrm>
                <a:custGeom>
                  <a:avLst/>
                  <a:gdLst/>
                  <a:ahLst/>
                  <a:cxnLst/>
                  <a:rect l="l" t="t" r="r" b="b"/>
                  <a:pathLst>
                    <a:path w="24000" h="24000" fill="none">
                      <a:moveTo>
                        <a:pt x="8000" y="12000"/>
                      </a:moveTo>
                      <a:lnTo>
                        <a:pt x="3000" y="12000"/>
                      </a:lnTo>
                    </a:path>
                  </a:pathLst>
                </a:custGeom>
                <a:noFill/>
                <a:ln w="20241" cap="rnd">
                  <a:solidFill>
                    <a:srgbClr val="39846C"/>
                  </a:solidFill>
                </a:ln>
              </p:spPr>
            </p:sp>
          </p:grpSp>
          <p:grpSp>
            <p:nvGrpSpPr>
              <p:cNvPr id="10213" name="wrench editable icon"/>
              <p:cNvGrpSpPr/>
              <p:nvPr/>
            </p:nvGrpSpPr>
            <p:grpSpPr>
              <a:xfrm>
                <a:off x="10087737" y="2809113"/>
                <a:ext cx="323850" cy="323850"/>
                <a:chOff x="10087737" y="2809113"/>
                <a:chExt cx="323850" cy="323850"/>
              </a:xfrm>
            </p:grpSpPr>
            <p:sp>
              <p:nvSpPr>
                <p:cNvPr id="10212" name="wrench-0"/>
                <p:cNvSpPr/>
                <p:nvPr/>
              </p:nvSpPr>
              <p:spPr>
                <a:xfrm>
                  <a:off x="10087737" y="2809113"/>
                  <a:ext cx="323850" cy="323850"/>
                </a:xfrm>
                <a:custGeom>
                  <a:avLst/>
                  <a:gdLst/>
                  <a:ahLst/>
                  <a:cxnLst/>
                  <a:rect l="l" t="t" r="r" b="b"/>
                  <a:pathLst>
                    <a:path w="24000" h="24000" fill="none">
                      <a:moveTo>
                        <a:pt x="14700" y="6300"/>
                      </a:moveTo>
                      <a:cubicBezTo>
                        <a:pt x="14319" y="6689"/>
                        <a:pt x="14319" y="7311"/>
                        <a:pt x="14700" y="7700"/>
                      </a:cubicBezTo>
                      <a:lnTo>
                        <a:pt x="16300" y="9300"/>
                      </a:lnTo>
                      <a:cubicBezTo>
                        <a:pt x="16689" y="9681"/>
                        <a:pt x="17311" y="9681"/>
                        <a:pt x="17700" y="9300"/>
                      </a:cubicBezTo>
                      <a:lnTo>
                        <a:pt x="20806" y="6195"/>
                      </a:lnTo>
                      <a:cubicBezTo>
                        <a:pt x="21126" y="5873"/>
                        <a:pt x="21669" y="5975"/>
                        <a:pt x="21789" y="6413"/>
                      </a:cubicBezTo>
                      <a:cubicBezTo>
                        <a:pt x="22406" y="8656"/>
                        <a:pt x="21670" y="11054"/>
                        <a:pt x="19901" y="12565"/>
                      </a:cubicBezTo>
                      <a:cubicBezTo>
                        <a:pt x="18133" y="14077"/>
                        <a:pt x="15650" y="14429"/>
                        <a:pt x="13530" y="13470"/>
                      </a:cubicBezTo>
                      <a:lnTo>
                        <a:pt x="5620" y="21380"/>
                      </a:lnTo>
                      <a:cubicBezTo>
                        <a:pt x="4792" y="22208"/>
                        <a:pt x="3449" y="22208"/>
                        <a:pt x="2620" y="21380"/>
                      </a:cubicBezTo>
                      <a:cubicBezTo>
                        <a:pt x="1792" y="20551"/>
                        <a:pt x="1793" y="19208"/>
                        <a:pt x="2621" y="18380"/>
                      </a:cubicBezTo>
                      <a:lnTo>
                        <a:pt x="10531" y="10470"/>
                      </a:lnTo>
                      <a:cubicBezTo>
                        <a:pt x="9572" y="8350"/>
                        <a:pt x="9924" y="5867"/>
                        <a:pt x="11436" y="4099"/>
                      </a:cubicBezTo>
                      <a:cubicBezTo>
                        <a:pt x="12947" y="2330"/>
                        <a:pt x="15345" y="1594"/>
                        <a:pt x="17588" y="2211"/>
                      </a:cubicBezTo>
                      <a:cubicBezTo>
                        <a:pt x="18026" y="2331"/>
                        <a:pt x="18128" y="2873"/>
                        <a:pt x="17807" y="3195"/>
                      </a:cubicBezTo>
                      <a:lnTo>
                        <a:pt x="14700" y="6300"/>
                      </a:lnTo>
                      <a:close/>
                    </a:path>
                  </a:pathLst>
                </a:custGeom>
                <a:noFill/>
                <a:ln w="20241" cap="rnd">
                  <a:solidFill>
                    <a:srgbClr val="39846C"/>
                  </a:solidFill>
                </a:ln>
              </p:spPr>
            </p:sp>
          </p:grpSp>
          <p:grpSp>
            <p:nvGrpSpPr>
              <p:cNvPr id="10216" name="messages-square editable icon"/>
              <p:cNvGrpSpPr/>
              <p:nvPr/>
            </p:nvGrpSpPr>
            <p:grpSpPr>
              <a:xfrm>
                <a:off x="10087737" y="3833241"/>
                <a:ext cx="323850" cy="323850"/>
                <a:chOff x="10087737" y="3833241"/>
                <a:chExt cx="323850" cy="323850"/>
              </a:xfrm>
            </p:grpSpPr>
            <p:sp>
              <p:nvSpPr>
                <p:cNvPr id="10214" name="messages-square-0"/>
                <p:cNvSpPr/>
                <p:nvPr/>
              </p:nvSpPr>
              <p:spPr>
                <a:xfrm>
                  <a:off x="10087737" y="3833241"/>
                  <a:ext cx="323850" cy="323850"/>
                </a:xfrm>
                <a:custGeom>
                  <a:avLst/>
                  <a:gdLst/>
                  <a:ahLst/>
                  <a:cxnLst/>
                  <a:rect l="l" t="t" r="r" b="b"/>
                  <a:pathLst>
                    <a:path w="24000" h="24000" fill="none">
                      <a:moveTo>
                        <a:pt x="16000" y="10000"/>
                      </a:moveTo>
                      <a:cubicBezTo>
                        <a:pt x="16000" y="11105"/>
                        <a:pt x="15105" y="12000"/>
                        <a:pt x="14000" y="12000"/>
                      </a:cubicBezTo>
                      <a:lnTo>
                        <a:pt x="6828" y="12000"/>
                      </a:lnTo>
                      <a:cubicBezTo>
                        <a:pt x="6298" y="12000"/>
                        <a:pt x="5789" y="12211"/>
                        <a:pt x="5414" y="12586"/>
                      </a:cubicBezTo>
                      <a:lnTo>
                        <a:pt x="3212" y="14788"/>
                      </a:lnTo>
                      <a:cubicBezTo>
                        <a:pt x="3009" y="14991"/>
                        <a:pt x="2704" y="15052"/>
                        <a:pt x="2438" y="14942"/>
                      </a:cubicBezTo>
                      <a:cubicBezTo>
                        <a:pt x="2173" y="14832"/>
                        <a:pt x="2000" y="14573"/>
                        <a:pt x="2000" y="14286"/>
                      </a:cubicBezTo>
                      <a:lnTo>
                        <a:pt x="2000" y="4000"/>
                      </a:lnTo>
                      <a:cubicBezTo>
                        <a:pt x="2000" y="2895"/>
                        <a:pt x="2895" y="2000"/>
                        <a:pt x="4000" y="2000"/>
                      </a:cubicBezTo>
                      <a:lnTo>
                        <a:pt x="14000" y="2000"/>
                      </a:lnTo>
                      <a:cubicBezTo>
                        <a:pt x="15105" y="2000"/>
                        <a:pt x="16000" y="2895"/>
                        <a:pt x="16000" y="4000"/>
                      </a:cubicBezTo>
                      <a:lnTo>
                        <a:pt x="16000" y="10000"/>
                      </a:lnTo>
                      <a:close/>
                    </a:path>
                  </a:pathLst>
                </a:custGeom>
                <a:noFill/>
                <a:ln w="20241" cap="rnd">
                  <a:solidFill>
                    <a:srgbClr val="39846C"/>
                  </a:solidFill>
                </a:ln>
              </p:spPr>
            </p:sp>
            <p:sp>
              <p:nvSpPr>
                <p:cNvPr id="10215" name="messages-square-1"/>
                <p:cNvSpPr/>
                <p:nvPr/>
              </p:nvSpPr>
              <p:spPr>
                <a:xfrm>
                  <a:off x="10087737" y="3833241"/>
                  <a:ext cx="323850" cy="323850"/>
                </a:xfrm>
                <a:custGeom>
                  <a:avLst/>
                  <a:gdLst/>
                  <a:ahLst/>
                  <a:cxnLst/>
                  <a:rect l="l" t="t" r="r" b="b"/>
                  <a:pathLst>
                    <a:path w="24000" h="24000" fill="none">
                      <a:moveTo>
                        <a:pt x="20000" y="9000"/>
                      </a:moveTo>
                      <a:cubicBezTo>
                        <a:pt x="21105" y="9000"/>
                        <a:pt x="22000" y="9895"/>
                        <a:pt x="22000" y="11000"/>
                      </a:cubicBezTo>
                      <a:lnTo>
                        <a:pt x="22000" y="21286"/>
                      </a:lnTo>
                      <a:cubicBezTo>
                        <a:pt x="22000" y="21573"/>
                        <a:pt x="21827" y="21832"/>
                        <a:pt x="21562" y="21942"/>
                      </a:cubicBezTo>
                      <a:cubicBezTo>
                        <a:pt x="21296" y="22052"/>
                        <a:pt x="20991" y="21991"/>
                        <a:pt x="20788" y="21788"/>
                      </a:cubicBezTo>
                      <a:lnTo>
                        <a:pt x="18586" y="19586"/>
                      </a:lnTo>
                      <a:cubicBezTo>
                        <a:pt x="18211" y="19211"/>
                        <a:pt x="17702" y="19000"/>
                        <a:pt x="17172" y="19000"/>
                      </a:cubicBezTo>
                      <a:lnTo>
                        <a:pt x="10000" y="19000"/>
                      </a:lnTo>
                      <a:cubicBezTo>
                        <a:pt x="8895" y="19000"/>
                        <a:pt x="8000" y="18105"/>
                        <a:pt x="8000" y="17000"/>
                      </a:cubicBezTo>
                      <a:lnTo>
                        <a:pt x="8000" y="16000"/>
                      </a:lnTo>
                    </a:path>
                  </a:pathLst>
                </a:custGeom>
                <a:noFill/>
                <a:ln w="20241" cap="rnd">
                  <a:solidFill>
                    <a:srgbClr val="39846C"/>
                  </a:solidFill>
                </a:ln>
              </p:spPr>
            </p:sp>
          </p:grpSp>
          <p:grpSp>
            <p:nvGrpSpPr>
              <p:cNvPr id="10220" name="search-check editable icon"/>
              <p:cNvGrpSpPr/>
              <p:nvPr/>
            </p:nvGrpSpPr>
            <p:grpSpPr>
              <a:xfrm>
                <a:off x="14824329" y="2809113"/>
                <a:ext cx="323850" cy="323850"/>
                <a:chOff x="14824329" y="2809113"/>
                <a:chExt cx="323850" cy="323850"/>
              </a:xfrm>
            </p:grpSpPr>
            <p:sp>
              <p:nvSpPr>
                <p:cNvPr id="10217" name="search-check-0"/>
                <p:cNvSpPr/>
                <p:nvPr/>
              </p:nvSpPr>
              <p:spPr>
                <a:xfrm>
                  <a:off x="14824329" y="2809113"/>
                  <a:ext cx="323850" cy="323850"/>
                </a:xfrm>
                <a:custGeom>
                  <a:avLst/>
                  <a:gdLst/>
                  <a:ahLst/>
                  <a:cxnLst/>
                  <a:rect l="l" t="t" r="r" b="b"/>
                  <a:pathLst>
                    <a:path w="24000" h="24000" fill="none">
                      <a:moveTo>
                        <a:pt x="8000" y="11000"/>
                      </a:moveTo>
                      <a:lnTo>
                        <a:pt x="10000" y="13000"/>
                      </a:lnTo>
                      <a:lnTo>
                        <a:pt x="14000" y="9000"/>
                      </a:lnTo>
                    </a:path>
                  </a:pathLst>
                </a:custGeom>
                <a:noFill/>
                <a:ln w="20241" cap="rnd">
                  <a:solidFill>
                    <a:srgbClr val="39846C"/>
                  </a:solidFill>
                </a:ln>
              </p:spPr>
            </p:sp>
            <p:sp>
              <p:nvSpPr>
                <p:cNvPr id="10218" name="search-check-1"/>
                <p:cNvSpPr/>
                <p:nvPr/>
              </p:nvSpPr>
              <p:spPr>
                <a:xfrm>
                  <a:off x="14864810" y="2849594"/>
                  <a:ext cx="215900" cy="215900"/>
                </a:xfrm>
                <a:prstGeom prst="ellipse">
                  <a:avLst/>
                </a:prstGeom>
                <a:noFill/>
                <a:ln w="20241" cap="rnd">
                  <a:solidFill>
                    <a:srgbClr val="39846C"/>
                  </a:solidFill>
                </a:ln>
              </p:spPr>
            </p:sp>
            <p:sp>
              <p:nvSpPr>
                <p:cNvPr id="10219" name="search-check-2"/>
                <p:cNvSpPr/>
                <p:nvPr/>
              </p:nvSpPr>
              <p:spPr>
                <a:xfrm>
                  <a:off x="14824329" y="2809113"/>
                  <a:ext cx="323850" cy="323850"/>
                </a:xfrm>
                <a:custGeom>
                  <a:avLst/>
                  <a:gdLst/>
                  <a:ahLst/>
                  <a:cxnLst/>
                  <a:rect l="l" t="t" r="r" b="b"/>
                  <a:pathLst>
                    <a:path w="24000" h="24000" fill="none">
                      <a:moveTo>
                        <a:pt x="21000" y="21000"/>
                      </a:moveTo>
                      <a:lnTo>
                        <a:pt x="16700" y="16700"/>
                      </a:lnTo>
                    </a:path>
                  </a:pathLst>
                </a:custGeom>
                <a:noFill/>
                <a:ln w="20241" cap="rnd">
                  <a:solidFill>
                    <a:srgbClr val="39846C"/>
                  </a:solidFill>
                </a:ln>
              </p:spPr>
            </p:sp>
          </p:grpSp>
        </p:grpSp>
        <p:grpSp>
          <p:nvGrpSpPr>
            <p:cNvPr id="220" name="anomaly"/>
            <p:cNvGrpSpPr/>
            <p:nvPr/>
          </p:nvGrpSpPr>
          <p:grpSpPr>
            <a:xfrm>
              <a:off x="219456" y="5998464"/>
              <a:ext cx="7900416" cy="4937760"/>
              <a:chOff x="219456" y="5998464"/>
              <a:chExt cx="7900416" cy="4937760"/>
            </a:xfrm>
          </p:grpSpPr>
          <p:sp>
            <p:nvSpPr>
              <p:cNvPr id="117" name="anomaly-115"/>
              <p:cNvSpPr/>
              <p:nvPr/>
            </p:nvSpPr>
            <p:spPr>
              <a:xfrm>
                <a:off x="219456" y="5998464"/>
                <a:ext cx="7900416" cy="4937760"/>
              </a:xfrm>
              <a:prstGeom prst="roundRect">
                <a:avLst>
                  <a:gd name="adj" fmla="val 2963"/>
                </a:avLst>
              </a:prstGeom>
              <a:solidFill>
                <a:srgbClr val="FCF2F1"/>
              </a:solidFill>
              <a:ln w="12700">
                <a:solidFill>
                  <a:srgbClr val="F0D6D3"/>
                </a:solidFill>
              </a:ln>
            </p:spPr>
            <p:txBody>
              <a:bodyPr/>
              <a:lstStyle/>
              <a:p>
                <a:endParaRPr/>
              </a:p>
            </p:txBody>
          </p:sp>
          <p:sp>
            <p:nvSpPr>
              <p:cNvPr id="118" name="anomaly-119"/>
              <p:cNvSpPr/>
              <p:nvPr/>
            </p:nvSpPr>
            <p:spPr>
              <a:xfrm>
                <a:off x="420624" y="10460736"/>
                <a:ext cx="7498080" cy="310896"/>
              </a:xfrm>
              <a:prstGeom prst="roundRect">
                <a:avLst>
                  <a:gd name="adj" fmla="val 50000"/>
                </a:avLst>
              </a:prstGeom>
              <a:solidFill>
                <a:srgbClr val="FFFFFF"/>
              </a:solidFill>
              <a:ln w="12700">
                <a:solidFill>
                  <a:srgbClr val="F0D6D3"/>
                </a:solidFill>
              </a:ln>
            </p:spPr>
            <p:txBody>
              <a:bodyPr/>
              <a:lstStyle/>
              <a:p>
                <a:endParaRPr/>
              </a:p>
            </p:txBody>
          </p:sp>
          <p:sp>
            <p:nvSpPr>
              <p:cNvPr id="119" name="anomaly-121"/>
              <p:cNvSpPr/>
              <p:nvPr/>
            </p:nvSpPr>
            <p:spPr>
              <a:xfrm>
                <a:off x="1060704" y="7882128"/>
                <a:ext cx="237744" cy="731520"/>
              </a:xfrm>
              <a:prstGeom prst="rect">
                <a:avLst/>
              </a:prstGeom>
              <a:solidFill>
                <a:srgbClr val="F6D9D6"/>
              </a:solidFill>
              <a:ln>
                <a:noFill/>
              </a:ln>
            </p:spPr>
            <p:txBody>
              <a:bodyPr/>
              <a:lstStyle/>
              <a:p>
                <a:endParaRPr/>
              </a:p>
            </p:txBody>
          </p:sp>
          <p:sp>
            <p:nvSpPr>
              <p:cNvPr id="120" name="anomaly-143"/>
              <p:cNvSpPr/>
              <p:nvPr/>
            </p:nvSpPr>
            <p:spPr>
              <a:xfrm>
                <a:off x="6473952" y="7882128"/>
                <a:ext cx="274320" cy="731520"/>
              </a:xfrm>
              <a:prstGeom prst="rect">
                <a:avLst/>
              </a:prstGeom>
              <a:solidFill>
                <a:srgbClr val="F6D9D6"/>
              </a:solidFill>
              <a:ln>
                <a:noFill/>
              </a:ln>
            </p:spPr>
            <p:txBody>
              <a:bodyPr/>
              <a:lstStyle/>
              <a:p>
                <a:endParaRPr/>
              </a:p>
            </p:txBody>
          </p:sp>
          <p:sp>
            <p:nvSpPr>
              <p:cNvPr id="121" name="anomaly-144"/>
              <p:cNvSpPr/>
              <p:nvPr/>
            </p:nvSpPr>
            <p:spPr>
              <a:xfrm>
                <a:off x="6473952" y="7882128"/>
                <a:ext cx="0" cy="731520"/>
              </a:xfrm>
              <a:prstGeom prst="line">
                <a:avLst/>
              </a:prstGeom>
              <a:noFill/>
              <a:ln w="12700">
                <a:solidFill>
                  <a:srgbClr val="C0504A"/>
                </a:solidFill>
                <a:prstDash val="dash"/>
                <a:tailEnd type="none"/>
              </a:ln>
            </p:spPr>
            <p:txBody>
              <a:bodyPr/>
              <a:lstStyle/>
              <a:p>
                <a:endParaRPr/>
              </a:p>
            </p:txBody>
          </p:sp>
          <p:sp>
            <p:nvSpPr>
              <p:cNvPr id="122" name="anomaly-145"/>
              <p:cNvSpPr/>
              <p:nvPr/>
            </p:nvSpPr>
            <p:spPr>
              <a:xfrm>
                <a:off x="6748272" y="7882128"/>
                <a:ext cx="0" cy="731520"/>
              </a:xfrm>
              <a:prstGeom prst="line">
                <a:avLst/>
              </a:prstGeom>
              <a:noFill/>
              <a:ln w="12700">
                <a:solidFill>
                  <a:srgbClr val="C0504A"/>
                </a:solidFill>
                <a:prstDash val="dash"/>
                <a:tailEnd type="none"/>
              </a:ln>
            </p:spPr>
            <p:txBody>
              <a:bodyPr/>
              <a:lstStyle/>
              <a:p>
                <a:endParaRPr/>
              </a:p>
            </p:txBody>
          </p:sp>
          <p:sp>
            <p:nvSpPr>
              <p:cNvPr id="123" name="anomaly-122"/>
              <p:cNvSpPr/>
              <p:nvPr/>
            </p:nvSpPr>
            <p:spPr>
              <a:xfrm>
                <a:off x="420624" y="8613648"/>
                <a:ext cx="1170432" cy="0"/>
              </a:xfrm>
              <a:prstGeom prst="line">
                <a:avLst/>
              </a:prstGeom>
              <a:noFill/>
              <a:ln w="10160">
                <a:solidFill>
                  <a:srgbClr val="AAB5BF"/>
                </a:solidFill>
                <a:prstDash val="solid"/>
                <a:tailEnd type="none"/>
              </a:ln>
            </p:spPr>
            <p:txBody>
              <a:bodyPr/>
              <a:lstStyle/>
              <a:p>
                <a:endParaRPr/>
              </a:p>
            </p:txBody>
          </p:sp>
          <p:sp>
            <p:nvSpPr>
              <p:cNvPr id="124" name="anomaly-146"/>
              <p:cNvSpPr/>
              <p:nvPr/>
            </p:nvSpPr>
            <p:spPr>
              <a:xfrm>
                <a:off x="5522976" y="8613648"/>
                <a:ext cx="1572768" cy="0"/>
              </a:xfrm>
              <a:prstGeom prst="line">
                <a:avLst/>
              </a:prstGeom>
              <a:noFill/>
              <a:ln w="10160">
                <a:solidFill>
                  <a:srgbClr val="AAB5BF"/>
                </a:solidFill>
                <a:prstDash val="solid"/>
                <a:tailEnd type="none"/>
              </a:ln>
            </p:spPr>
            <p:txBody>
              <a:bodyPr/>
              <a:lstStyle/>
              <a:p>
                <a:endParaRPr/>
              </a:p>
            </p:txBody>
          </p:sp>
          <p:sp>
            <p:nvSpPr>
              <p:cNvPr id="125" name="anomaly-116"/>
              <p:cNvSpPr/>
              <p:nvPr/>
            </p:nvSpPr>
            <p:spPr>
              <a:xfrm>
                <a:off x="420624" y="6172200"/>
                <a:ext cx="310896" cy="310896"/>
              </a:xfrm>
              <a:prstGeom prst="ellipse">
                <a:avLst/>
              </a:prstGeom>
              <a:solidFill>
                <a:srgbClr val="C0504A"/>
              </a:solidFill>
              <a:ln>
                <a:noFill/>
              </a:ln>
            </p:spPr>
            <p:txBody>
              <a:bodyPr/>
              <a:lstStyle/>
              <a:p>
                <a:endParaRPr/>
              </a:p>
            </p:txBody>
          </p:sp>
          <p:sp>
            <p:nvSpPr>
              <p:cNvPr id="126" name="anomaly-127"/>
              <p:cNvSpPr/>
              <p:nvPr/>
            </p:nvSpPr>
            <p:spPr>
              <a:xfrm>
                <a:off x="1719072" y="6894576"/>
                <a:ext cx="1591056" cy="365760"/>
              </a:xfrm>
              <a:prstGeom prst="roundRect">
                <a:avLst>
                  <a:gd name="adj" fmla="val 22500"/>
                </a:avLst>
              </a:prstGeom>
              <a:solidFill>
                <a:srgbClr val="E8EDF2"/>
              </a:solidFill>
              <a:ln w="12700">
                <a:solidFill>
                  <a:srgbClr val="2F3743"/>
                </a:solidFill>
              </a:ln>
            </p:spPr>
            <p:txBody>
              <a:bodyPr/>
              <a:lstStyle/>
              <a:p>
                <a:endParaRPr/>
              </a:p>
            </p:txBody>
          </p:sp>
          <p:sp>
            <p:nvSpPr>
              <p:cNvPr id="127" name="anomaly-131"/>
              <p:cNvSpPr/>
              <p:nvPr/>
            </p:nvSpPr>
            <p:spPr>
              <a:xfrm>
                <a:off x="1920240" y="7763256"/>
                <a:ext cx="1188720" cy="347472"/>
              </a:xfrm>
              <a:prstGeom prst="roundRect">
                <a:avLst>
                  <a:gd name="adj" fmla="val 7895"/>
                </a:avLst>
              </a:prstGeom>
              <a:solidFill>
                <a:srgbClr val="EEF1F4"/>
              </a:solidFill>
              <a:ln w="13970">
                <a:solidFill>
                  <a:srgbClr val="8E9DAA"/>
                </a:solidFill>
              </a:ln>
            </p:spPr>
            <p:txBody>
              <a:bodyPr/>
              <a:lstStyle/>
              <a:p>
                <a:endParaRPr/>
              </a:p>
            </p:txBody>
          </p:sp>
          <p:sp>
            <p:nvSpPr>
              <p:cNvPr id="128" name="anomaly-135"/>
              <p:cNvSpPr/>
              <p:nvPr/>
            </p:nvSpPr>
            <p:spPr>
              <a:xfrm>
                <a:off x="1920240" y="8458200"/>
                <a:ext cx="1188720" cy="347472"/>
              </a:xfrm>
              <a:prstGeom prst="roundRect">
                <a:avLst>
                  <a:gd name="adj" fmla="val 7895"/>
                </a:avLst>
              </a:prstGeom>
              <a:solidFill>
                <a:srgbClr val="EEF1F4"/>
              </a:solidFill>
              <a:ln w="13970">
                <a:solidFill>
                  <a:srgbClr val="8E9DAA"/>
                </a:solidFill>
              </a:ln>
            </p:spPr>
            <p:txBody>
              <a:bodyPr/>
              <a:lstStyle/>
              <a:p>
                <a:endParaRPr/>
              </a:p>
            </p:txBody>
          </p:sp>
          <p:sp>
            <p:nvSpPr>
              <p:cNvPr id="129" name="anomaly-140"/>
              <p:cNvSpPr/>
              <p:nvPr/>
            </p:nvSpPr>
            <p:spPr>
              <a:xfrm>
                <a:off x="3621024" y="8101584"/>
                <a:ext cx="1645920" cy="365760"/>
              </a:xfrm>
              <a:prstGeom prst="roundRect">
                <a:avLst>
                  <a:gd name="adj" fmla="val 22500"/>
                </a:avLst>
              </a:prstGeom>
              <a:solidFill>
                <a:srgbClr val="E8EDF2"/>
              </a:solidFill>
              <a:ln w="12700">
                <a:solidFill>
                  <a:srgbClr val="2F3743"/>
                </a:solidFill>
              </a:ln>
            </p:spPr>
            <p:txBody>
              <a:bodyPr/>
              <a:lstStyle/>
              <a:p>
                <a:endParaRPr/>
              </a:p>
            </p:txBody>
          </p:sp>
          <p:sp>
            <p:nvSpPr>
              <p:cNvPr id="130" name="anomaly-149"/>
              <p:cNvSpPr/>
              <p:nvPr/>
            </p:nvSpPr>
            <p:spPr>
              <a:xfrm>
                <a:off x="420624" y="9582912"/>
                <a:ext cx="1078992" cy="329184"/>
              </a:xfrm>
              <a:prstGeom prst="rect">
                <a:avLst/>
              </a:prstGeom>
              <a:solidFill>
                <a:srgbClr val="FFFFFF"/>
              </a:solidFill>
              <a:ln w="11430">
                <a:solidFill>
                  <a:srgbClr val="B9C4CE"/>
                </a:solidFill>
              </a:ln>
            </p:spPr>
            <p:txBody>
              <a:bodyPr/>
              <a:lstStyle/>
              <a:p>
                <a:endParaRPr/>
              </a:p>
            </p:txBody>
          </p:sp>
          <p:sp>
            <p:nvSpPr>
              <p:cNvPr id="131" name="anomaly-152"/>
              <p:cNvSpPr/>
              <p:nvPr/>
            </p:nvSpPr>
            <p:spPr>
              <a:xfrm>
                <a:off x="1755648" y="9564624"/>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132" name="anomaly-155"/>
              <p:cNvSpPr/>
              <p:nvPr/>
            </p:nvSpPr>
            <p:spPr>
              <a:xfrm>
                <a:off x="3803904" y="9546336"/>
                <a:ext cx="585216" cy="420624"/>
              </a:xfrm>
              <a:prstGeom prst="roundRect">
                <a:avLst>
                  <a:gd name="adj" fmla="val 6522"/>
                </a:avLst>
              </a:prstGeom>
              <a:solidFill>
                <a:srgbClr val="FFFFFF"/>
              </a:solidFill>
              <a:ln w="13970">
                <a:solidFill>
                  <a:srgbClr val="34495C"/>
                </a:solidFill>
              </a:ln>
            </p:spPr>
            <p:txBody>
              <a:bodyPr/>
              <a:lstStyle/>
              <a:p>
                <a:endParaRPr/>
              </a:p>
            </p:txBody>
          </p:sp>
          <p:sp>
            <p:nvSpPr>
              <p:cNvPr id="133" name="anomaly-161"/>
              <p:cNvSpPr/>
              <p:nvPr/>
            </p:nvSpPr>
            <p:spPr>
              <a:xfrm>
                <a:off x="4791456" y="9564624"/>
                <a:ext cx="1097280" cy="365760"/>
              </a:xfrm>
              <a:prstGeom prst="roundRect">
                <a:avLst>
                  <a:gd name="adj" fmla="val 22500"/>
                </a:avLst>
              </a:prstGeom>
              <a:solidFill>
                <a:srgbClr val="E8EDF2"/>
              </a:solidFill>
              <a:ln w="12700">
                <a:solidFill>
                  <a:srgbClr val="2F3743"/>
                </a:solidFill>
              </a:ln>
            </p:spPr>
            <p:txBody>
              <a:bodyPr/>
              <a:lstStyle/>
              <a:p>
                <a:endParaRPr/>
              </a:p>
            </p:txBody>
          </p:sp>
          <p:sp>
            <p:nvSpPr>
              <p:cNvPr id="134" name="anomaly-165"/>
              <p:cNvSpPr/>
              <p:nvPr/>
            </p:nvSpPr>
            <p:spPr>
              <a:xfrm>
                <a:off x="6254496" y="9491472"/>
                <a:ext cx="1097280" cy="512064"/>
              </a:xfrm>
              <a:prstGeom prst="roundRect">
                <a:avLst>
                  <a:gd name="adj" fmla="val 7143"/>
                </a:avLst>
              </a:prstGeom>
              <a:solidFill>
                <a:srgbClr val="FFFFFF"/>
              </a:solidFill>
              <a:ln w="12700">
                <a:solidFill>
                  <a:srgbClr val="C0504A"/>
                </a:solidFill>
                <a:prstDash val="dash"/>
              </a:ln>
            </p:spPr>
            <p:txBody>
              <a:bodyPr/>
              <a:lstStyle/>
              <a:p>
                <a:endParaRPr/>
              </a:p>
            </p:txBody>
          </p:sp>
          <p:sp>
            <p:nvSpPr>
              <p:cNvPr id="135" name="anomaly-123"/>
              <p:cNvSpPr/>
              <p:nvPr/>
            </p:nvSpPr>
            <p:spPr>
              <a:xfrm>
                <a:off x="457200" y="7889443"/>
                <a:ext cx="1097280" cy="485242"/>
              </a:xfrm>
              <a:custGeom>
                <a:avLst/>
                <a:gdLst/>
                <a:ahLst/>
                <a:cxnLst/>
                <a:rect l="l" t="t" r="r" b="b"/>
                <a:pathLst>
                  <a:path w="21600" h="21600" fill="none">
                    <a:moveTo>
                      <a:pt x="0" y="21166"/>
                    </a:moveTo>
                    <a:cubicBezTo>
                      <a:pt x="432" y="20569"/>
                      <a:pt x="1728" y="17584"/>
                      <a:pt x="2592" y="17584"/>
                    </a:cubicBezTo>
                    <a:cubicBezTo>
                      <a:pt x="3456" y="17584"/>
                      <a:pt x="4320" y="21600"/>
                      <a:pt x="5184" y="21166"/>
                    </a:cubicBezTo>
                    <a:cubicBezTo>
                      <a:pt x="6048" y="20732"/>
                      <a:pt x="6948" y="15305"/>
                      <a:pt x="7776" y="14979"/>
                    </a:cubicBezTo>
                    <a:cubicBezTo>
                      <a:pt x="8604" y="14653"/>
                      <a:pt x="9432" y="18724"/>
                      <a:pt x="10152" y="19212"/>
                    </a:cubicBezTo>
                    <a:cubicBezTo>
                      <a:pt x="10872" y="19701"/>
                      <a:pt x="11520" y="20515"/>
                      <a:pt x="12096" y="17910"/>
                    </a:cubicBezTo>
                    <a:cubicBezTo>
                      <a:pt x="12672" y="15305"/>
                      <a:pt x="13104" y="6404"/>
                      <a:pt x="13608" y="3582"/>
                    </a:cubicBezTo>
                    <a:cubicBezTo>
                      <a:pt x="14112" y="760"/>
                      <a:pt x="14616" y="0"/>
                      <a:pt x="15120" y="977"/>
                    </a:cubicBezTo>
                    <a:cubicBezTo>
                      <a:pt x="15624" y="1954"/>
                      <a:pt x="16128" y="6295"/>
                      <a:pt x="16632" y="9443"/>
                    </a:cubicBezTo>
                    <a:cubicBezTo>
                      <a:pt x="17136" y="12591"/>
                      <a:pt x="17604" y="18561"/>
                      <a:pt x="18144" y="19863"/>
                    </a:cubicBezTo>
                    <a:cubicBezTo>
                      <a:pt x="18684" y="21166"/>
                      <a:pt x="19296" y="17367"/>
                      <a:pt x="19872" y="17258"/>
                    </a:cubicBezTo>
                    <a:cubicBezTo>
                      <a:pt x="20448" y="17150"/>
                      <a:pt x="21312" y="18886"/>
                      <a:pt x="21600" y="19212"/>
                    </a:cubicBezTo>
                  </a:path>
                </a:pathLst>
              </a:custGeom>
              <a:noFill/>
              <a:ln w="25400">
                <a:solidFill>
                  <a:srgbClr val="34495C"/>
                </a:solidFill>
                <a:prstDash val="solid"/>
                <a:tailEnd type="none"/>
              </a:ln>
            </p:spPr>
            <p:txBody>
              <a:bodyPr/>
              <a:lstStyle/>
              <a:p>
                <a:endParaRPr/>
              </a:p>
            </p:txBody>
          </p:sp>
          <p:sp>
            <p:nvSpPr>
              <p:cNvPr id="136" name="anomaly-147"/>
              <p:cNvSpPr/>
              <p:nvPr/>
            </p:nvSpPr>
            <p:spPr>
              <a:xfrm>
                <a:off x="5559552" y="7889443"/>
                <a:ext cx="1499616" cy="485242"/>
              </a:xfrm>
              <a:custGeom>
                <a:avLst/>
                <a:gdLst/>
                <a:ahLst/>
                <a:cxnLst/>
                <a:rect l="l" t="t" r="r" b="b"/>
                <a:pathLst>
                  <a:path w="21600" h="21600" fill="none">
                    <a:moveTo>
                      <a:pt x="0" y="21166"/>
                    </a:moveTo>
                    <a:cubicBezTo>
                      <a:pt x="432" y="20569"/>
                      <a:pt x="1728" y="17584"/>
                      <a:pt x="2592" y="17584"/>
                    </a:cubicBezTo>
                    <a:cubicBezTo>
                      <a:pt x="3456" y="17584"/>
                      <a:pt x="4320" y="21600"/>
                      <a:pt x="5184" y="21166"/>
                    </a:cubicBezTo>
                    <a:cubicBezTo>
                      <a:pt x="6048" y="20732"/>
                      <a:pt x="6948" y="15305"/>
                      <a:pt x="7776" y="14979"/>
                    </a:cubicBezTo>
                    <a:cubicBezTo>
                      <a:pt x="8604" y="14653"/>
                      <a:pt x="9432" y="18724"/>
                      <a:pt x="10152" y="19212"/>
                    </a:cubicBezTo>
                    <a:cubicBezTo>
                      <a:pt x="10872" y="19701"/>
                      <a:pt x="11520" y="20515"/>
                      <a:pt x="12096" y="17910"/>
                    </a:cubicBezTo>
                    <a:cubicBezTo>
                      <a:pt x="12672" y="15305"/>
                      <a:pt x="13104" y="6404"/>
                      <a:pt x="13608" y="3582"/>
                    </a:cubicBezTo>
                    <a:cubicBezTo>
                      <a:pt x="14112" y="760"/>
                      <a:pt x="14616" y="0"/>
                      <a:pt x="15120" y="977"/>
                    </a:cubicBezTo>
                    <a:cubicBezTo>
                      <a:pt x="15624" y="1954"/>
                      <a:pt x="16128" y="6295"/>
                      <a:pt x="16632" y="9443"/>
                    </a:cubicBezTo>
                    <a:cubicBezTo>
                      <a:pt x="17136" y="12591"/>
                      <a:pt x="17604" y="18561"/>
                      <a:pt x="18144" y="19863"/>
                    </a:cubicBezTo>
                    <a:cubicBezTo>
                      <a:pt x="18684" y="21166"/>
                      <a:pt x="19296" y="17367"/>
                      <a:pt x="19872" y="17258"/>
                    </a:cubicBezTo>
                    <a:cubicBezTo>
                      <a:pt x="20448" y="17150"/>
                      <a:pt x="21312" y="18886"/>
                      <a:pt x="21600" y="19212"/>
                    </a:cubicBezTo>
                  </a:path>
                </a:pathLst>
              </a:custGeom>
              <a:noFill/>
              <a:ln w="25400">
                <a:solidFill>
                  <a:srgbClr val="34495C"/>
                </a:solidFill>
                <a:prstDash val="solid"/>
                <a:tailEnd type="none"/>
              </a:ln>
            </p:spPr>
            <p:txBody>
              <a:bodyPr/>
              <a:lstStyle/>
              <a:p>
                <a:endParaRPr/>
              </a:p>
            </p:txBody>
          </p:sp>
          <p:sp>
            <p:nvSpPr>
              <p:cNvPr id="137" name="anomaly-125"/>
              <p:cNvSpPr/>
              <p:nvPr/>
            </p:nvSpPr>
            <p:spPr>
              <a:xfrm>
                <a:off x="1609344" y="8284464"/>
                <a:ext cx="146304"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38" name="anomaly-126"/>
              <p:cNvSpPr/>
              <p:nvPr/>
            </p:nvSpPr>
            <p:spPr>
              <a:xfrm>
                <a:off x="1755648" y="7936992"/>
                <a:ext cx="9144" cy="694944"/>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39" name="anomaly-129"/>
              <p:cNvSpPr/>
              <p:nvPr/>
            </p:nvSpPr>
            <p:spPr>
              <a:xfrm>
                <a:off x="2514600" y="7278624"/>
                <a:ext cx="9144" cy="429768"/>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140" name="anomaly-130"/>
              <p:cNvSpPr/>
              <p:nvPr/>
            </p:nvSpPr>
            <p:spPr>
              <a:xfrm>
                <a:off x="1755648" y="7936992"/>
                <a:ext cx="10972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1" name="anomaly-133"/>
              <p:cNvSpPr/>
              <p:nvPr/>
            </p:nvSpPr>
            <p:spPr>
              <a:xfrm>
                <a:off x="3145536" y="7936992"/>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42" name="anomaly-134"/>
              <p:cNvSpPr/>
              <p:nvPr/>
            </p:nvSpPr>
            <p:spPr>
              <a:xfrm>
                <a:off x="1755648" y="8631936"/>
                <a:ext cx="10972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3" name="anomaly-137"/>
              <p:cNvSpPr/>
              <p:nvPr/>
            </p:nvSpPr>
            <p:spPr>
              <a:xfrm>
                <a:off x="3145536" y="8631936"/>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44" name="anomaly-138"/>
              <p:cNvSpPr/>
              <p:nvPr/>
            </p:nvSpPr>
            <p:spPr>
              <a:xfrm>
                <a:off x="3328416" y="7936992"/>
                <a:ext cx="9144" cy="694944"/>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45" name="anomaly-139"/>
              <p:cNvSpPr/>
              <p:nvPr/>
            </p:nvSpPr>
            <p:spPr>
              <a:xfrm>
                <a:off x="3328416" y="8284464"/>
                <a:ext cx="237744"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6" name="anomaly-142"/>
              <p:cNvSpPr/>
              <p:nvPr/>
            </p:nvSpPr>
            <p:spPr>
              <a:xfrm>
                <a:off x="5321808" y="8284464"/>
                <a:ext cx="16459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7" name="anomaly-151"/>
              <p:cNvSpPr/>
              <p:nvPr/>
            </p:nvSpPr>
            <p:spPr>
              <a:xfrm>
                <a:off x="1536192" y="9747504"/>
                <a:ext cx="16459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8" name="anomaly-154"/>
              <p:cNvSpPr/>
              <p:nvPr/>
            </p:nvSpPr>
            <p:spPr>
              <a:xfrm>
                <a:off x="2514600" y="8842248"/>
                <a:ext cx="9144" cy="704088"/>
              </a:xfrm>
              <a:custGeom>
                <a:avLst/>
                <a:gdLst/>
                <a:ahLst/>
                <a:cxnLst/>
                <a:rect l="l" t="t" r="r" b="b"/>
                <a:pathLst>
                  <a:path w="21600" h="21600" fill="none">
                    <a:moveTo>
                      <a:pt x="0" y="21600"/>
                    </a:moveTo>
                    <a:lnTo>
                      <a:pt x="0" y="0"/>
                    </a:lnTo>
                  </a:path>
                </a:pathLst>
              </a:custGeom>
              <a:noFill/>
              <a:ln w="17780">
                <a:solidFill>
                  <a:srgbClr val="5F6F7D"/>
                </a:solidFill>
                <a:prstDash val="solid"/>
                <a:tailEnd type="triangle"/>
              </a:ln>
            </p:spPr>
            <p:txBody>
              <a:bodyPr/>
              <a:lstStyle/>
              <a:p>
                <a:endParaRPr/>
              </a:p>
            </p:txBody>
          </p:sp>
          <p:sp>
            <p:nvSpPr>
              <p:cNvPr id="149" name="anomaly-156"/>
              <p:cNvSpPr/>
              <p:nvPr/>
            </p:nvSpPr>
            <p:spPr>
              <a:xfrm>
                <a:off x="3904488" y="9665208"/>
                <a:ext cx="365760" cy="0"/>
              </a:xfrm>
              <a:prstGeom prst="line">
                <a:avLst/>
              </a:prstGeom>
              <a:noFill/>
              <a:ln w="13970">
                <a:solidFill>
                  <a:srgbClr val="34495C"/>
                </a:solidFill>
                <a:prstDash val="solid"/>
                <a:tailEnd type="none"/>
              </a:ln>
            </p:spPr>
            <p:txBody>
              <a:bodyPr/>
              <a:lstStyle/>
              <a:p>
                <a:endParaRPr/>
              </a:p>
            </p:txBody>
          </p:sp>
          <p:sp>
            <p:nvSpPr>
              <p:cNvPr id="150" name="anomaly-157"/>
              <p:cNvSpPr/>
              <p:nvPr/>
            </p:nvSpPr>
            <p:spPr>
              <a:xfrm>
                <a:off x="3904488" y="9784080"/>
                <a:ext cx="256032" cy="0"/>
              </a:xfrm>
              <a:prstGeom prst="line">
                <a:avLst/>
              </a:prstGeom>
              <a:noFill/>
              <a:ln w="13970">
                <a:solidFill>
                  <a:srgbClr val="34495C"/>
                </a:solidFill>
                <a:prstDash val="solid"/>
                <a:tailEnd type="none"/>
              </a:ln>
            </p:spPr>
            <p:txBody>
              <a:bodyPr/>
              <a:lstStyle/>
              <a:p>
                <a:endParaRPr/>
              </a:p>
            </p:txBody>
          </p:sp>
          <p:sp>
            <p:nvSpPr>
              <p:cNvPr id="151" name="anomaly-158"/>
              <p:cNvSpPr/>
              <p:nvPr/>
            </p:nvSpPr>
            <p:spPr>
              <a:xfrm>
                <a:off x="3904488" y="9902952"/>
                <a:ext cx="365760" cy="0"/>
              </a:xfrm>
              <a:prstGeom prst="line">
                <a:avLst/>
              </a:prstGeom>
              <a:noFill/>
              <a:ln w="13970">
                <a:solidFill>
                  <a:srgbClr val="34495C"/>
                </a:solidFill>
                <a:prstDash val="solid"/>
                <a:tailEnd type="none"/>
              </a:ln>
            </p:spPr>
            <p:txBody>
              <a:bodyPr/>
              <a:lstStyle/>
              <a:p>
                <a:endParaRPr/>
              </a:p>
            </p:txBody>
          </p:sp>
          <p:sp>
            <p:nvSpPr>
              <p:cNvPr id="152" name="anomaly-160"/>
              <p:cNvSpPr/>
              <p:nvPr/>
            </p:nvSpPr>
            <p:spPr>
              <a:xfrm>
                <a:off x="4443984" y="9747504"/>
                <a:ext cx="29260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53" name="anomaly-163"/>
              <p:cNvSpPr/>
              <p:nvPr/>
            </p:nvSpPr>
            <p:spPr>
              <a:xfrm>
                <a:off x="5340096" y="8906256"/>
                <a:ext cx="969264" cy="621792"/>
              </a:xfrm>
              <a:custGeom>
                <a:avLst/>
                <a:gdLst/>
                <a:ahLst/>
                <a:cxnLst/>
                <a:rect l="l" t="t" r="r" b="b"/>
                <a:pathLst>
                  <a:path w="21600" h="21600" fill="none">
                    <a:moveTo>
                      <a:pt x="21600" y="0"/>
                    </a:moveTo>
                    <a:lnTo>
                      <a:pt x="21600" y="10800"/>
                    </a:lnTo>
                    <a:lnTo>
                      <a:pt x="0" y="10800"/>
                    </a:lnTo>
                    <a:lnTo>
                      <a:pt x="0" y="21600"/>
                    </a:lnTo>
                  </a:path>
                </a:pathLst>
              </a:custGeom>
              <a:noFill/>
              <a:ln w="17780">
                <a:solidFill>
                  <a:srgbClr val="5F6F7D"/>
                </a:solidFill>
                <a:prstDash val="solid"/>
                <a:tailEnd type="triangle"/>
              </a:ln>
            </p:spPr>
            <p:txBody>
              <a:bodyPr/>
              <a:lstStyle/>
              <a:p>
                <a:endParaRPr/>
              </a:p>
            </p:txBody>
          </p:sp>
          <p:sp>
            <p:nvSpPr>
              <p:cNvPr id="154" name="anomaly-164"/>
              <p:cNvSpPr/>
              <p:nvPr/>
            </p:nvSpPr>
            <p:spPr>
              <a:xfrm>
                <a:off x="5943600" y="9747504"/>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55" name="anomaly-117"/>
              <p:cNvSpPr txBox="1"/>
              <p:nvPr/>
            </p:nvSpPr>
            <p:spPr>
              <a:xfrm>
                <a:off x="420624" y="6172200"/>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Times New Roman"/>
                    <a:ea typeface="Times New Roman"/>
                    <a:cs typeface="Georgia"/>
                  </a:rPr>
                  <a:t>c</a:t>
                </a:r>
                <a:endParaRPr lang="zh-CN" sz="1700"/>
              </a:p>
            </p:txBody>
          </p:sp>
          <p:sp>
            <p:nvSpPr>
              <p:cNvPr id="156" name="anomaly-118"/>
              <p:cNvSpPr txBox="1"/>
              <p:nvPr/>
            </p:nvSpPr>
            <p:spPr>
              <a:xfrm>
                <a:off x="841248" y="6144768"/>
                <a:ext cx="6986016" cy="365760"/>
              </a:xfrm>
              <a:prstGeom prst="rect">
                <a:avLst/>
              </a:prstGeom>
              <a:noFill/>
              <a:ln>
                <a:noFill/>
              </a:ln>
            </p:spPr>
            <p:txBody>
              <a:bodyPr wrap="none" lIns="0" tIns="0" rIns="0" bIns="0" anchor="ctr">
                <a:noAutofit/>
              </a:bodyPr>
              <a:lstStyle/>
              <a:p>
                <a:pPr algn="l"/>
                <a:r>
                  <a:rPr lang="zh-CN" sz="2200">
                    <a:solidFill>
                      <a:srgbClr val="243444"/>
                    </a:solidFill>
                    <a:latin typeface="Times New Roman"/>
                    <a:ea typeface="Times New Roman"/>
                    <a:cs typeface="Georgia"/>
                  </a:rPr>
                  <a:t>Anomaly detection and diagnosis</a:t>
                </a:r>
                <a:endParaRPr lang="zh-CN" sz="2200"/>
              </a:p>
            </p:txBody>
          </p:sp>
          <p:sp>
            <p:nvSpPr>
              <p:cNvPr id="157" name="anomaly-120"/>
              <p:cNvSpPr txBox="1"/>
              <p:nvPr/>
            </p:nvSpPr>
            <p:spPr>
              <a:xfrm>
                <a:off x="420624" y="10460736"/>
                <a:ext cx="7498080" cy="310896"/>
              </a:xfrm>
              <a:prstGeom prst="rect">
                <a:avLst/>
              </a:prstGeom>
              <a:noFill/>
              <a:ln>
                <a:noFill/>
              </a:ln>
            </p:spPr>
            <p:txBody>
              <a:bodyPr wrap="none" lIns="0" tIns="0" rIns="0" bIns="0" anchor="ctr">
                <a:noAutofit/>
              </a:bodyPr>
              <a:lstStyle/>
              <a:p>
                <a:pPr algn="ctr"/>
                <a:r>
                  <a:rPr lang="zh-CN" sz="1400" b="1">
                    <a:solidFill>
                      <a:srgbClr val="C0504A"/>
                    </a:solidFill>
                    <a:latin typeface="Times New Roman"/>
                    <a:ea typeface="Times New Roman"/>
                    <a:cs typeface="Avenir Next"/>
                  </a:rPr>
                  <a:t>Evaluation   </a:t>
                </a:r>
                <a:r>
                  <a:rPr lang="zh-CN" sz="1400">
                    <a:solidFill>
                      <a:srgbClr val="243444"/>
                    </a:solidFill>
                    <a:latin typeface="Times New Roman"/>
                    <a:ea typeface="Times New Roman"/>
                    <a:cs typeface="Avenir Next"/>
                  </a:rPr>
                  <a:t>Detection / validation of proposed causes</a:t>
                </a:r>
                <a:endParaRPr lang="zh-CN" sz="1400"/>
              </a:p>
            </p:txBody>
          </p:sp>
          <p:sp>
            <p:nvSpPr>
              <p:cNvPr id="158" name="anomaly-124"/>
              <p:cNvSpPr txBox="1"/>
              <p:nvPr/>
            </p:nvSpPr>
            <p:spPr>
              <a:xfrm>
                <a:off x="457200" y="866851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Series</a:t>
                </a:r>
                <a:endParaRPr lang="zh-CN" sz="1500"/>
              </a:p>
            </p:txBody>
          </p:sp>
          <p:sp>
            <p:nvSpPr>
              <p:cNvPr id="159" name="anomaly-128"/>
              <p:cNvSpPr txBox="1"/>
              <p:nvPr/>
            </p:nvSpPr>
            <p:spPr>
              <a:xfrm>
                <a:off x="1773936" y="6894576"/>
                <a:ext cx="1481328" cy="365760"/>
              </a:xfrm>
              <a:prstGeom prst="rect">
                <a:avLst/>
              </a:prstGeom>
              <a:noFill/>
              <a:ln>
                <a:noFill/>
              </a:ln>
            </p:spPr>
            <p:txBody>
              <a:bodyPr wrap="none" lIns="0" tIns="0" rIns="0" bIns="0" anchor="ctr">
                <a:noAutofit/>
              </a:bodyPr>
              <a:lstStyle/>
              <a:p>
                <a:pPr algn="ctr"/>
                <a:r>
                  <a:rPr lang="zh-CN" sz="1450">
                    <a:solidFill>
                      <a:srgbClr val="B7524A"/>
                    </a:solidFill>
                    <a:latin typeface="Times New Roman"/>
                    <a:ea typeface="Times New Roman"/>
                    <a:cs typeface="Avenir Next Medium"/>
                  </a:rPr>
                  <a:t>Choose probes</a:t>
                </a:r>
                <a:endParaRPr lang="zh-CN" sz="1450"/>
              </a:p>
            </p:txBody>
          </p:sp>
          <p:sp>
            <p:nvSpPr>
              <p:cNvPr id="160" name="anomaly-132"/>
              <p:cNvSpPr txBox="1"/>
              <p:nvPr/>
            </p:nvSpPr>
            <p:spPr>
              <a:xfrm>
                <a:off x="1920240" y="7763256"/>
                <a:ext cx="118872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Diagnostics</a:t>
                </a:r>
                <a:endParaRPr lang="zh-CN" sz="1550"/>
              </a:p>
            </p:txBody>
          </p:sp>
          <p:sp>
            <p:nvSpPr>
              <p:cNvPr id="161" name="anomaly-136"/>
              <p:cNvSpPr txBox="1"/>
              <p:nvPr/>
            </p:nvSpPr>
            <p:spPr>
              <a:xfrm>
                <a:off x="1920240" y="8458200"/>
                <a:ext cx="118872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Detector</a:t>
                </a:r>
                <a:endParaRPr lang="zh-CN" sz="1550"/>
              </a:p>
            </p:txBody>
          </p:sp>
          <p:sp>
            <p:nvSpPr>
              <p:cNvPr id="162" name="anomaly-141"/>
              <p:cNvSpPr txBox="1"/>
              <p:nvPr/>
            </p:nvSpPr>
            <p:spPr>
              <a:xfrm>
                <a:off x="3675888" y="8101584"/>
                <a:ext cx="1536192" cy="365760"/>
              </a:xfrm>
              <a:prstGeom prst="rect">
                <a:avLst/>
              </a:prstGeom>
              <a:noFill/>
              <a:ln>
                <a:noFill/>
              </a:ln>
            </p:spPr>
            <p:txBody>
              <a:bodyPr wrap="none" lIns="0" tIns="0" rIns="0" bIns="0" anchor="ctr">
                <a:noAutofit/>
              </a:bodyPr>
              <a:lstStyle/>
              <a:p>
                <a:pPr algn="ctr"/>
                <a:r>
                  <a:rPr lang="zh-CN" sz="1450">
                    <a:solidFill>
                      <a:srgbClr val="B7524A"/>
                    </a:solidFill>
                    <a:latin typeface="Times New Roman"/>
                    <a:ea typeface="Times New Roman"/>
                    <a:cs typeface="Avenir Next Medium"/>
                  </a:rPr>
                  <a:t>Refine intervals</a:t>
                </a:r>
                <a:endParaRPr lang="zh-CN" sz="1450"/>
              </a:p>
            </p:txBody>
          </p:sp>
          <p:sp>
            <p:nvSpPr>
              <p:cNvPr id="163" name="anomaly-148"/>
              <p:cNvSpPr txBox="1"/>
              <p:nvPr/>
            </p:nvSpPr>
            <p:spPr>
              <a:xfrm>
                <a:off x="5760720" y="866851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Intervals</a:t>
                </a:r>
                <a:endParaRPr lang="zh-CN" sz="1500"/>
              </a:p>
            </p:txBody>
          </p:sp>
          <p:sp>
            <p:nvSpPr>
              <p:cNvPr id="164" name="anomaly-150"/>
              <p:cNvSpPr txBox="1"/>
              <p:nvPr/>
            </p:nvSpPr>
            <p:spPr>
              <a:xfrm>
                <a:off x="420624" y="9582912"/>
                <a:ext cx="1078992" cy="329184"/>
              </a:xfrm>
              <a:prstGeom prst="rect">
                <a:avLst/>
              </a:prstGeom>
              <a:noFill/>
              <a:ln>
                <a:noFill/>
              </a:ln>
            </p:spPr>
            <p:txBody>
              <a:bodyPr wrap="none" lIns="0" tIns="0" rIns="0" bIns="0" anchor="ctr">
                <a:noAutofit/>
              </a:bodyPr>
              <a:lstStyle/>
              <a:p>
                <a:pPr algn="ctr"/>
                <a:r>
                  <a:rPr lang="zh-CN" sz="1450" i="1">
                    <a:solidFill>
                      <a:srgbClr val="34495C"/>
                    </a:solidFill>
                    <a:latin typeface="Times New Roman"/>
                    <a:ea typeface="Times New Roman"/>
                    <a:cs typeface="Avenir Next"/>
                  </a:rPr>
                  <a:t>Data / labels</a:t>
                </a:r>
                <a:endParaRPr lang="zh-CN" sz="1450"/>
              </a:p>
            </p:txBody>
          </p:sp>
          <p:sp>
            <p:nvSpPr>
              <p:cNvPr id="165" name="anomaly-153"/>
              <p:cNvSpPr txBox="1"/>
              <p:nvPr/>
            </p:nvSpPr>
            <p:spPr>
              <a:xfrm>
                <a:off x="1810512" y="9564624"/>
                <a:ext cx="1408176" cy="365760"/>
              </a:xfrm>
              <a:prstGeom prst="rect">
                <a:avLst/>
              </a:prstGeom>
              <a:noFill/>
              <a:ln>
                <a:noFill/>
              </a:ln>
            </p:spPr>
            <p:txBody>
              <a:bodyPr wrap="none" lIns="0" tIns="0" rIns="0" bIns="0" anchor="ctr">
                <a:noAutofit/>
              </a:bodyPr>
              <a:lstStyle/>
              <a:p>
                <a:pPr algn="ctr"/>
                <a:r>
                  <a:rPr lang="zh-CN" sz="1450">
                    <a:solidFill>
                      <a:srgbClr val="B7524A"/>
                    </a:solidFill>
                    <a:latin typeface="Times New Roman"/>
                    <a:ea typeface="Times New Roman"/>
                    <a:cs typeface="Avenir Next Medium"/>
                  </a:rPr>
                  <a:t>Build detector</a:t>
                </a:r>
                <a:endParaRPr lang="zh-CN" sz="1450"/>
              </a:p>
            </p:txBody>
          </p:sp>
          <p:sp>
            <p:nvSpPr>
              <p:cNvPr id="166" name="anomaly-159"/>
              <p:cNvSpPr txBox="1"/>
              <p:nvPr/>
            </p:nvSpPr>
            <p:spPr>
              <a:xfrm>
                <a:off x="3547872" y="10003536"/>
                <a:ext cx="1097280" cy="201168"/>
              </a:xfrm>
              <a:prstGeom prst="rect">
                <a:avLst/>
              </a:prstGeom>
              <a:noFill/>
              <a:ln>
                <a:noFill/>
              </a:ln>
            </p:spPr>
            <p:txBody>
              <a:bodyPr wrap="none" lIns="0" tIns="0" rIns="0" bIns="0" anchor="ctr">
                <a:noAutofit/>
              </a:bodyPr>
              <a:lstStyle/>
              <a:p>
                <a:pPr algn="ctr"/>
                <a:r>
                  <a:rPr lang="zh-CN" sz="1400">
                    <a:solidFill>
                      <a:srgbClr val="576675"/>
                    </a:solidFill>
                    <a:latin typeface="Times New Roman"/>
                    <a:ea typeface="Times New Roman"/>
                    <a:cs typeface="Avenir Next"/>
                  </a:rPr>
                  <a:t>Logs</a:t>
                </a:r>
                <a:endParaRPr lang="zh-CN" sz="1400"/>
              </a:p>
            </p:txBody>
          </p:sp>
          <p:sp>
            <p:nvSpPr>
              <p:cNvPr id="167" name="anomaly-162"/>
              <p:cNvSpPr txBox="1"/>
              <p:nvPr/>
            </p:nvSpPr>
            <p:spPr>
              <a:xfrm>
                <a:off x="4846320" y="9564624"/>
                <a:ext cx="987552" cy="365760"/>
              </a:xfrm>
              <a:prstGeom prst="rect">
                <a:avLst/>
              </a:prstGeom>
              <a:noFill/>
              <a:ln>
                <a:noFill/>
              </a:ln>
            </p:spPr>
            <p:txBody>
              <a:bodyPr wrap="none" lIns="0" tIns="0" rIns="0" bIns="0" anchor="ctr">
                <a:noAutofit/>
              </a:bodyPr>
              <a:lstStyle/>
              <a:p>
                <a:pPr algn="ctr"/>
                <a:r>
                  <a:rPr lang="zh-CN" sz="1450">
                    <a:solidFill>
                      <a:srgbClr val="B7524A"/>
                    </a:solidFill>
                    <a:latin typeface="Times New Roman"/>
                    <a:ea typeface="Times New Roman"/>
                    <a:cs typeface="Avenir Next Medium"/>
                  </a:rPr>
                  <a:t>Diagnose</a:t>
                </a:r>
                <a:endParaRPr lang="zh-CN" sz="1450"/>
              </a:p>
            </p:txBody>
          </p:sp>
          <p:sp>
            <p:nvSpPr>
              <p:cNvPr id="168" name="anomaly-166"/>
              <p:cNvSpPr txBox="1"/>
              <p:nvPr/>
            </p:nvSpPr>
            <p:spPr>
              <a:xfrm>
                <a:off x="6254496" y="9491472"/>
                <a:ext cx="1097280" cy="512064"/>
              </a:xfrm>
              <a:prstGeom prst="rect">
                <a:avLst/>
              </a:prstGeom>
              <a:noFill/>
              <a:ln>
                <a:noFill/>
              </a:ln>
            </p:spPr>
            <p:txBody>
              <a:bodyPr wrap="none" lIns="0" tIns="0" rIns="0" bIns="0" anchor="ctr">
                <a:noAutofit/>
              </a:bodyPr>
              <a:lstStyle/>
              <a:p>
                <a:pPr algn="ctr"/>
                <a:r>
                  <a:rPr lang="zh-CN" sz="1450" i="1">
                    <a:solidFill>
                      <a:srgbClr val="34495C"/>
                    </a:solidFill>
                    <a:latin typeface="Times New Roman"/>
                    <a:ea typeface="Times New Roman"/>
                    <a:cs typeface="Avenir Next"/>
                  </a:rPr>
                  <a:t>Cause A?</a:t>
                </a:r>
                <a:endParaRPr lang="zh-CN" sz="1450"/>
              </a:p>
              <a:p>
                <a:pPr algn="ctr"/>
                <a:r>
                  <a:rPr lang="zh-CN" sz="1450" i="1">
                    <a:solidFill>
                      <a:srgbClr val="34495C"/>
                    </a:solidFill>
                    <a:latin typeface="Times New Roman"/>
                    <a:ea typeface="Times New Roman"/>
                    <a:cs typeface="Avenir Next"/>
                  </a:rPr>
                  <a:t>Cause B?</a:t>
                </a:r>
                <a:endParaRPr lang="zh-CN" sz="1450"/>
              </a:p>
            </p:txBody>
          </p:sp>
          <p:grpSp>
            <p:nvGrpSpPr>
              <p:cNvPr id="10227" name="scan-search editable icon"/>
              <p:cNvGrpSpPr/>
              <p:nvPr/>
            </p:nvGrpSpPr>
            <p:grpSpPr>
              <a:xfrm>
                <a:off x="1821561" y="6485001"/>
                <a:ext cx="323850" cy="323850"/>
                <a:chOff x="1821561" y="6485001"/>
                <a:chExt cx="323850" cy="323850"/>
              </a:xfrm>
            </p:grpSpPr>
            <p:sp>
              <p:nvSpPr>
                <p:cNvPr id="10221" name="scan-search-0"/>
                <p:cNvSpPr/>
                <p:nvPr/>
              </p:nvSpPr>
              <p:spPr>
                <a:xfrm>
                  <a:off x="1821561" y="6485001"/>
                  <a:ext cx="323850" cy="323850"/>
                </a:xfrm>
                <a:custGeom>
                  <a:avLst/>
                  <a:gdLst/>
                  <a:ahLst/>
                  <a:cxnLst/>
                  <a:rect l="l" t="t" r="r" b="b"/>
                  <a:pathLst>
                    <a:path w="24000" h="24000" fill="none">
                      <a:moveTo>
                        <a:pt x="3000" y="7000"/>
                      </a:moveTo>
                      <a:lnTo>
                        <a:pt x="3000" y="5000"/>
                      </a:lnTo>
                      <a:cubicBezTo>
                        <a:pt x="3000" y="3895"/>
                        <a:pt x="3895" y="3000"/>
                        <a:pt x="5000" y="3000"/>
                      </a:cubicBezTo>
                      <a:lnTo>
                        <a:pt x="7000" y="3000"/>
                      </a:lnTo>
                    </a:path>
                  </a:pathLst>
                </a:custGeom>
                <a:noFill/>
                <a:ln w="20241" cap="rnd">
                  <a:solidFill>
                    <a:srgbClr val="B7524A"/>
                  </a:solidFill>
                </a:ln>
              </p:spPr>
            </p:sp>
            <p:sp>
              <p:nvSpPr>
                <p:cNvPr id="10222" name="scan-search-1"/>
                <p:cNvSpPr/>
                <p:nvPr/>
              </p:nvSpPr>
              <p:spPr>
                <a:xfrm>
                  <a:off x="1821561" y="6485001"/>
                  <a:ext cx="323850" cy="323850"/>
                </a:xfrm>
                <a:custGeom>
                  <a:avLst/>
                  <a:gdLst/>
                  <a:ahLst/>
                  <a:cxnLst/>
                  <a:rect l="l" t="t" r="r" b="b"/>
                  <a:pathLst>
                    <a:path w="24000" h="24000" fill="none">
                      <a:moveTo>
                        <a:pt x="17000" y="3000"/>
                      </a:moveTo>
                      <a:lnTo>
                        <a:pt x="19000" y="3000"/>
                      </a:lnTo>
                      <a:cubicBezTo>
                        <a:pt x="20105" y="3000"/>
                        <a:pt x="21000" y="3895"/>
                        <a:pt x="21000" y="5000"/>
                      </a:cubicBezTo>
                      <a:lnTo>
                        <a:pt x="21000" y="7000"/>
                      </a:lnTo>
                    </a:path>
                  </a:pathLst>
                </a:custGeom>
                <a:noFill/>
                <a:ln w="20241" cap="rnd">
                  <a:solidFill>
                    <a:srgbClr val="B7524A"/>
                  </a:solidFill>
                </a:ln>
              </p:spPr>
            </p:sp>
            <p:sp>
              <p:nvSpPr>
                <p:cNvPr id="10223" name="scan-search-2"/>
                <p:cNvSpPr/>
                <p:nvPr/>
              </p:nvSpPr>
              <p:spPr>
                <a:xfrm>
                  <a:off x="1821561" y="6485001"/>
                  <a:ext cx="323850" cy="323850"/>
                </a:xfrm>
                <a:custGeom>
                  <a:avLst/>
                  <a:gdLst/>
                  <a:ahLst/>
                  <a:cxnLst/>
                  <a:rect l="l" t="t" r="r" b="b"/>
                  <a:pathLst>
                    <a:path w="24000" h="24000" fill="none">
                      <a:moveTo>
                        <a:pt x="21000" y="17000"/>
                      </a:moveTo>
                      <a:lnTo>
                        <a:pt x="21000" y="19000"/>
                      </a:lnTo>
                      <a:cubicBezTo>
                        <a:pt x="21000" y="20105"/>
                        <a:pt x="20105" y="21000"/>
                        <a:pt x="19000" y="21000"/>
                      </a:cubicBezTo>
                      <a:lnTo>
                        <a:pt x="17000" y="21000"/>
                      </a:lnTo>
                    </a:path>
                  </a:pathLst>
                </a:custGeom>
                <a:noFill/>
                <a:ln w="20241" cap="rnd">
                  <a:solidFill>
                    <a:srgbClr val="B7524A"/>
                  </a:solidFill>
                </a:ln>
              </p:spPr>
            </p:sp>
            <p:sp>
              <p:nvSpPr>
                <p:cNvPr id="10224" name="scan-search-3"/>
                <p:cNvSpPr/>
                <p:nvPr/>
              </p:nvSpPr>
              <p:spPr>
                <a:xfrm>
                  <a:off x="1821561" y="6485001"/>
                  <a:ext cx="323850" cy="323850"/>
                </a:xfrm>
                <a:custGeom>
                  <a:avLst/>
                  <a:gdLst/>
                  <a:ahLst/>
                  <a:cxnLst/>
                  <a:rect l="l" t="t" r="r" b="b"/>
                  <a:pathLst>
                    <a:path w="24000" h="24000" fill="none">
                      <a:moveTo>
                        <a:pt x="7000" y="21000"/>
                      </a:moveTo>
                      <a:lnTo>
                        <a:pt x="5000" y="21000"/>
                      </a:lnTo>
                      <a:cubicBezTo>
                        <a:pt x="3895" y="21000"/>
                        <a:pt x="3000" y="20105"/>
                        <a:pt x="3000" y="19000"/>
                      </a:cubicBezTo>
                      <a:lnTo>
                        <a:pt x="3000" y="17000"/>
                      </a:lnTo>
                    </a:path>
                  </a:pathLst>
                </a:custGeom>
                <a:noFill/>
                <a:ln w="20241" cap="rnd">
                  <a:solidFill>
                    <a:srgbClr val="B7524A"/>
                  </a:solidFill>
                </a:ln>
              </p:spPr>
            </p:sp>
            <p:sp>
              <p:nvSpPr>
                <p:cNvPr id="10225" name="scan-search-4"/>
                <p:cNvSpPr/>
                <p:nvPr/>
              </p:nvSpPr>
              <p:spPr>
                <a:xfrm>
                  <a:off x="1943005" y="6606445"/>
                  <a:ext cx="80962" cy="80962"/>
                </a:xfrm>
                <a:prstGeom prst="ellipse">
                  <a:avLst/>
                </a:prstGeom>
                <a:noFill/>
                <a:ln w="20241" cap="rnd">
                  <a:solidFill>
                    <a:srgbClr val="B7524A"/>
                  </a:solidFill>
                </a:ln>
              </p:spPr>
            </p:sp>
            <p:sp>
              <p:nvSpPr>
                <p:cNvPr id="10226" name="scan-search-5"/>
                <p:cNvSpPr/>
                <p:nvPr/>
              </p:nvSpPr>
              <p:spPr>
                <a:xfrm>
                  <a:off x="1821561" y="6485001"/>
                  <a:ext cx="323850" cy="323850"/>
                </a:xfrm>
                <a:custGeom>
                  <a:avLst/>
                  <a:gdLst/>
                  <a:ahLst/>
                  <a:cxnLst/>
                  <a:rect l="l" t="t" r="r" b="b"/>
                  <a:pathLst>
                    <a:path w="24000" h="24000" fill="none">
                      <a:moveTo>
                        <a:pt x="16000" y="16000"/>
                      </a:moveTo>
                      <a:lnTo>
                        <a:pt x="14100" y="14100"/>
                      </a:lnTo>
                    </a:path>
                  </a:pathLst>
                </a:custGeom>
                <a:noFill/>
                <a:ln w="20241" cap="rnd">
                  <a:solidFill>
                    <a:srgbClr val="B7524A"/>
                  </a:solidFill>
                </a:ln>
              </p:spPr>
            </p:sp>
          </p:grpSp>
          <p:grpSp>
            <p:nvGrpSpPr>
              <p:cNvPr id="10237" name="sliders-horizontal editable icon"/>
              <p:cNvGrpSpPr/>
              <p:nvPr/>
            </p:nvGrpSpPr>
            <p:grpSpPr>
              <a:xfrm>
                <a:off x="3723513" y="7692009"/>
                <a:ext cx="323850" cy="323850"/>
                <a:chOff x="3723513" y="7692009"/>
                <a:chExt cx="323850" cy="323850"/>
              </a:xfrm>
            </p:grpSpPr>
            <p:sp>
              <p:nvSpPr>
                <p:cNvPr id="10228" name="sliders-horizontal-0"/>
                <p:cNvSpPr/>
                <p:nvPr/>
              </p:nvSpPr>
              <p:spPr>
                <a:xfrm>
                  <a:off x="3723513" y="7692009"/>
                  <a:ext cx="323850" cy="323850"/>
                </a:xfrm>
                <a:custGeom>
                  <a:avLst/>
                  <a:gdLst/>
                  <a:ahLst/>
                  <a:cxnLst/>
                  <a:rect l="l" t="t" r="r" b="b"/>
                  <a:pathLst>
                    <a:path w="24000" h="24000" fill="none">
                      <a:moveTo>
                        <a:pt x="10000" y="5000"/>
                      </a:moveTo>
                      <a:lnTo>
                        <a:pt x="3000" y="5000"/>
                      </a:lnTo>
                    </a:path>
                  </a:pathLst>
                </a:custGeom>
                <a:noFill/>
                <a:ln w="20241" cap="rnd">
                  <a:solidFill>
                    <a:srgbClr val="B7524A"/>
                  </a:solidFill>
                </a:ln>
              </p:spPr>
            </p:sp>
            <p:sp>
              <p:nvSpPr>
                <p:cNvPr id="10229" name="sliders-horizontal-1"/>
                <p:cNvSpPr/>
                <p:nvPr/>
              </p:nvSpPr>
              <p:spPr>
                <a:xfrm>
                  <a:off x="3723513" y="7692009"/>
                  <a:ext cx="323850" cy="323850"/>
                </a:xfrm>
                <a:custGeom>
                  <a:avLst/>
                  <a:gdLst/>
                  <a:ahLst/>
                  <a:cxnLst/>
                  <a:rect l="l" t="t" r="r" b="b"/>
                  <a:pathLst>
                    <a:path w="24000" h="24000" fill="none">
                      <a:moveTo>
                        <a:pt x="12000" y="19000"/>
                      </a:moveTo>
                      <a:lnTo>
                        <a:pt x="3000" y="19000"/>
                      </a:lnTo>
                    </a:path>
                  </a:pathLst>
                </a:custGeom>
                <a:noFill/>
                <a:ln w="20241" cap="rnd">
                  <a:solidFill>
                    <a:srgbClr val="B7524A"/>
                  </a:solidFill>
                </a:ln>
              </p:spPr>
            </p:sp>
            <p:sp>
              <p:nvSpPr>
                <p:cNvPr id="10230" name="sliders-horizontal-2"/>
                <p:cNvSpPr/>
                <p:nvPr/>
              </p:nvSpPr>
              <p:spPr>
                <a:xfrm>
                  <a:off x="3723513" y="7692009"/>
                  <a:ext cx="323850" cy="323850"/>
                </a:xfrm>
                <a:custGeom>
                  <a:avLst/>
                  <a:gdLst/>
                  <a:ahLst/>
                  <a:cxnLst/>
                  <a:rect l="l" t="t" r="r" b="b"/>
                  <a:pathLst>
                    <a:path w="24000" h="24000" fill="none">
                      <a:moveTo>
                        <a:pt x="14000" y="3000"/>
                      </a:moveTo>
                      <a:lnTo>
                        <a:pt x="14000" y="7000"/>
                      </a:lnTo>
                    </a:path>
                  </a:pathLst>
                </a:custGeom>
                <a:noFill/>
                <a:ln w="20241" cap="rnd">
                  <a:solidFill>
                    <a:srgbClr val="B7524A"/>
                  </a:solidFill>
                </a:ln>
              </p:spPr>
            </p:sp>
            <p:sp>
              <p:nvSpPr>
                <p:cNvPr id="10231" name="sliders-horizontal-3"/>
                <p:cNvSpPr/>
                <p:nvPr/>
              </p:nvSpPr>
              <p:spPr>
                <a:xfrm>
                  <a:off x="3723513" y="7692009"/>
                  <a:ext cx="323850" cy="323850"/>
                </a:xfrm>
                <a:custGeom>
                  <a:avLst/>
                  <a:gdLst/>
                  <a:ahLst/>
                  <a:cxnLst/>
                  <a:rect l="l" t="t" r="r" b="b"/>
                  <a:pathLst>
                    <a:path w="24000" h="24000" fill="none">
                      <a:moveTo>
                        <a:pt x="16000" y="17000"/>
                      </a:moveTo>
                      <a:lnTo>
                        <a:pt x="16000" y="21000"/>
                      </a:lnTo>
                    </a:path>
                  </a:pathLst>
                </a:custGeom>
                <a:noFill/>
                <a:ln w="20241" cap="rnd">
                  <a:solidFill>
                    <a:srgbClr val="B7524A"/>
                  </a:solidFill>
                </a:ln>
              </p:spPr>
            </p:sp>
            <p:sp>
              <p:nvSpPr>
                <p:cNvPr id="10232" name="sliders-horizontal-4"/>
                <p:cNvSpPr/>
                <p:nvPr/>
              </p:nvSpPr>
              <p:spPr>
                <a:xfrm>
                  <a:off x="3723513" y="7692009"/>
                  <a:ext cx="323850" cy="323850"/>
                </a:xfrm>
                <a:custGeom>
                  <a:avLst/>
                  <a:gdLst/>
                  <a:ahLst/>
                  <a:cxnLst/>
                  <a:rect l="l" t="t" r="r" b="b"/>
                  <a:pathLst>
                    <a:path w="24000" h="24000" fill="none">
                      <a:moveTo>
                        <a:pt x="21000" y="12000"/>
                      </a:moveTo>
                      <a:lnTo>
                        <a:pt x="12000" y="12000"/>
                      </a:lnTo>
                    </a:path>
                  </a:pathLst>
                </a:custGeom>
                <a:noFill/>
                <a:ln w="20241" cap="rnd">
                  <a:solidFill>
                    <a:srgbClr val="B7524A"/>
                  </a:solidFill>
                </a:ln>
              </p:spPr>
            </p:sp>
            <p:sp>
              <p:nvSpPr>
                <p:cNvPr id="10233" name="sliders-horizontal-5"/>
                <p:cNvSpPr/>
                <p:nvPr/>
              </p:nvSpPr>
              <p:spPr>
                <a:xfrm>
                  <a:off x="3723513" y="7692009"/>
                  <a:ext cx="323850" cy="323850"/>
                </a:xfrm>
                <a:custGeom>
                  <a:avLst/>
                  <a:gdLst/>
                  <a:ahLst/>
                  <a:cxnLst/>
                  <a:rect l="l" t="t" r="r" b="b"/>
                  <a:pathLst>
                    <a:path w="24000" h="24000" fill="none">
                      <a:moveTo>
                        <a:pt x="21000" y="19000"/>
                      </a:moveTo>
                      <a:lnTo>
                        <a:pt x="16000" y="19000"/>
                      </a:lnTo>
                    </a:path>
                  </a:pathLst>
                </a:custGeom>
                <a:noFill/>
                <a:ln w="20241" cap="rnd">
                  <a:solidFill>
                    <a:srgbClr val="B7524A"/>
                  </a:solidFill>
                </a:ln>
              </p:spPr>
            </p:sp>
            <p:sp>
              <p:nvSpPr>
                <p:cNvPr id="10234" name="sliders-horizontal-6"/>
                <p:cNvSpPr/>
                <p:nvPr/>
              </p:nvSpPr>
              <p:spPr>
                <a:xfrm>
                  <a:off x="3723513" y="7692009"/>
                  <a:ext cx="323850" cy="323850"/>
                </a:xfrm>
                <a:custGeom>
                  <a:avLst/>
                  <a:gdLst/>
                  <a:ahLst/>
                  <a:cxnLst/>
                  <a:rect l="l" t="t" r="r" b="b"/>
                  <a:pathLst>
                    <a:path w="24000" h="24000" fill="none">
                      <a:moveTo>
                        <a:pt x="21000" y="5000"/>
                      </a:moveTo>
                      <a:lnTo>
                        <a:pt x="14000" y="5000"/>
                      </a:lnTo>
                    </a:path>
                  </a:pathLst>
                </a:custGeom>
                <a:noFill/>
                <a:ln w="20241" cap="rnd">
                  <a:solidFill>
                    <a:srgbClr val="B7524A"/>
                  </a:solidFill>
                </a:ln>
              </p:spPr>
            </p:sp>
            <p:sp>
              <p:nvSpPr>
                <p:cNvPr id="10235" name="sliders-horizontal-7"/>
                <p:cNvSpPr/>
                <p:nvPr/>
              </p:nvSpPr>
              <p:spPr>
                <a:xfrm>
                  <a:off x="3723513" y="7692009"/>
                  <a:ext cx="323850" cy="323850"/>
                </a:xfrm>
                <a:custGeom>
                  <a:avLst/>
                  <a:gdLst/>
                  <a:ahLst/>
                  <a:cxnLst/>
                  <a:rect l="l" t="t" r="r" b="b"/>
                  <a:pathLst>
                    <a:path w="24000" h="24000" fill="none">
                      <a:moveTo>
                        <a:pt x="8000" y="10000"/>
                      </a:moveTo>
                      <a:lnTo>
                        <a:pt x="8000" y="14000"/>
                      </a:lnTo>
                    </a:path>
                  </a:pathLst>
                </a:custGeom>
                <a:noFill/>
                <a:ln w="20241" cap="rnd">
                  <a:solidFill>
                    <a:srgbClr val="B7524A"/>
                  </a:solidFill>
                </a:ln>
              </p:spPr>
            </p:sp>
            <p:sp>
              <p:nvSpPr>
                <p:cNvPr id="10236" name="sliders-horizontal-8"/>
                <p:cNvSpPr/>
                <p:nvPr/>
              </p:nvSpPr>
              <p:spPr>
                <a:xfrm>
                  <a:off x="3723513" y="7692009"/>
                  <a:ext cx="323850" cy="323850"/>
                </a:xfrm>
                <a:custGeom>
                  <a:avLst/>
                  <a:gdLst/>
                  <a:ahLst/>
                  <a:cxnLst/>
                  <a:rect l="l" t="t" r="r" b="b"/>
                  <a:pathLst>
                    <a:path w="24000" h="24000" fill="none">
                      <a:moveTo>
                        <a:pt x="8000" y="12000"/>
                      </a:moveTo>
                      <a:lnTo>
                        <a:pt x="3000" y="12000"/>
                      </a:lnTo>
                    </a:path>
                  </a:pathLst>
                </a:custGeom>
                <a:noFill/>
                <a:ln w="20241" cap="rnd">
                  <a:solidFill>
                    <a:srgbClr val="B7524A"/>
                  </a:solidFill>
                </a:ln>
              </p:spPr>
            </p:sp>
          </p:grpSp>
          <p:grpSp>
            <p:nvGrpSpPr>
              <p:cNvPr id="10240" name="braces editable icon"/>
              <p:cNvGrpSpPr/>
              <p:nvPr/>
            </p:nvGrpSpPr>
            <p:grpSpPr>
              <a:xfrm>
                <a:off x="1858137" y="9155049"/>
                <a:ext cx="323850" cy="323850"/>
                <a:chOff x="1858137" y="9155049"/>
                <a:chExt cx="323850" cy="323850"/>
              </a:xfrm>
            </p:grpSpPr>
            <p:sp>
              <p:nvSpPr>
                <p:cNvPr id="10238" name="braces-0"/>
                <p:cNvSpPr/>
                <p:nvPr/>
              </p:nvSpPr>
              <p:spPr>
                <a:xfrm>
                  <a:off x="1858137" y="9155049"/>
                  <a:ext cx="323850" cy="323850"/>
                </a:xfrm>
                <a:custGeom>
                  <a:avLst/>
                  <a:gdLst/>
                  <a:ahLst/>
                  <a:cxnLst/>
                  <a:rect l="l" t="t" r="r" b="b"/>
                  <a:pathLst>
                    <a:path w="24000" h="24000" fill="none">
                      <a:moveTo>
                        <a:pt x="8000" y="3000"/>
                      </a:moveTo>
                      <a:lnTo>
                        <a:pt x="7000" y="3000"/>
                      </a:lnTo>
                      <a:cubicBezTo>
                        <a:pt x="5895" y="3000"/>
                        <a:pt x="5000" y="3895"/>
                        <a:pt x="5000" y="5000"/>
                      </a:cubicBezTo>
                      <a:lnTo>
                        <a:pt x="5000" y="10000"/>
                      </a:lnTo>
                      <a:cubicBezTo>
                        <a:pt x="5000" y="11105"/>
                        <a:pt x="4105" y="12000"/>
                        <a:pt x="3000" y="12000"/>
                      </a:cubicBezTo>
                      <a:cubicBezTo>
                        <a:pt x="4105" y="12000"/>
                        <a:pt x="5000" y="12895"/>
                        <a:pt x="5000" y="14000"/>
                      </a:cubicBezTo>
                      <a:lnTo>
                        <a:pt x="5000" y="19000"/>
                      </a:lnTo>
                      <a:cubicBezTo>
                        <a:pt x="5000" y="20100"/>
                        <a:pt x="5900" y="21000"/>
                        <a:pt x="7000" y="21000"/>
                      </a:cubicBezTo>
                      <a:lnTo>
                        <a:pt x="8000" y="21000"/>
                      </a:lnTo>
                    </a:path>
                  </a:pathLst>
                </a:custGeom>
                <a:noFill/>
                <a:ln w="20241" cap="rnd">
                  <a:solidFill>
                    <a:srgbClr val="B7524A"/>
                  </a:solidFill>
                </a:ln>
              </p:spPr>
            </p:sp>
            <p:sp>
              <p:nvSpPr>
                <p:cNvPr id="10239" name="braces-1"/>
                <p:cNvSpPr/>
                <p:nvPr/>
              </p:nvSpPr>
              <p:spPr>
                <a:xfrm>
                  <a:off x="1858137" y="9155049"/>
                  <a:ext cx="323850" cy="323850"/>
                </a:xfrm>
                <a:custGeom>
                  <a:avLst/>
                  <a:gdLst/>
                  <a:ahLst/>
                  <a:cxnLst/>
                  <a:rect l="l" t="t" r="r" b="b"/>
                  <a:pathLst>
                    <a:path w="24000" h="24000" fill="none">
                      <a:moveTo>
                        <a:pt x="16000" y="21000"/>
                      </a:moveTo>
                      <a:lnTo>
                        <a:pt x="17000" y="21000"/>
                      </a:lnTo>
                      <a:cubicBezTo>
                        <a:pt x="18105" y="21000"/>
                        <a:pt x="19000" y="20105"/>
                        <a:pt x="19000" y="19000"/>
                      </a:cubicBezTo>
                      <a:lnTo>
                        <a:pt x="19000" y="14000"/>
                      </a:lnTo>
                      <a:cubicBezTo>
                        <a:pt x="19000" y="12900"/>
                        <a:pt x="19900" y="12000"/>
                        <a:pt x="21000" y="12000"/>
                      </a:cubicBezTo>
                      <a:cubicBezTo>
                        <a:pt x="19895" y="12000"/>
                        <a:pt x="19000" y="11105"/>
                        <a:pt x="19000" y="10000"/>
                      </a:cubicBezTo>
                      <a:lnTo>
                        <a:pt x="19000" y="5000"/>
                      </a:lnTo>
                      <a:cubicBezTo>
                        <a:pt x="19000" y="3895"/>
                        <a:pt x="18105" y="3000"/>
                        <a:pt x="17000" y="3000"/>
                      </a:cubicBezTo>
                      <a:lnTo>
                        <a:pt x="16000" y="3000"/>
                      </a:lnTo>
                    </a:path>
                  </a:pathLst>
                </a:custGeom>
                <a:noFill/>
                <a:ln w="20241" cap="rnd">
                  <a:solidFill>
                    <a:srgbClr val="B7524A"/>
                  </a:solidFill>
                </a:ln>
              </p:spPr>
            </p:sp>
          </p:grpSp>
          <p:grpSp>
            <p:nvGrpSpPr>
              <p:cNvPr id="10244" name="search-check editable icon"/>
              <p:cNvGrpSpPr/>
              <p:nvPr/>
            </p:nvGrpSpPr>
            <p:grpSpPr>
              <a:xfrm>
                <a:off x="4893945" y="9155049"/>
                <a:ext cx="323850" cy="323850"/>
                <a:chOff x="4893945" y="9155049"/>
                <a:chExt cx="323850" cy="323850"/>
              </a:xfrm>
            </p:grpSpPr>
            <p:sp>
              <p:nvSpPr>
                <p:cNvPr id="10241" name="search-check-0"/>
                <p:cNvSpPr/>
                <p:nvPr/>
              </p:nvSpPr>
              <p:spPr>
                <a:xfrm>
                  <a:off x="4893945" y="9155049"/>
                  <a:ext cx="323850" cy="323850"/>
                </a:xfrm>
                <a:custGeom>
                  <a:avLst/>
                  <a:gdLst/>
                  <a:ahLst/>
                  <a:cxnLst/>
                  <a:rect l="l" t="t" r="r" b="b"/>
                  <a:pathLst>
                    <a:path w="24000" h="24000" fill="none">
                      <a:moveTo>
                        <a:pt x="8000" y="11000"/>
                      </a:moveTo>
                      <a:lnTo>
                        <a:pt x="10000" y="13000"/>
                      </a:lnTo>
                      <a:lnTo>
                        <a:pt x="14000" y="9000"/>
                      </a:lnTo>
                    </a:path>
                  </a:pathLst>
                </a:custGeom>
                <a:noFill/>
                <a:ln w="20241" cap="rnd">
                  <a:solidFill>
                    <a:srgbClr val="B7524A"/>
                  </a:solidFill>
                </a:ln>
              </p:spPr>
            </p:sp>
            <p:sp>
              <p:nvSpPr>
                <p:cNvPr id="10242" name="search-check-1"/>
                <p:cNvSpPr/>
                <p:nvPr/>
              </p:nvSpPr>
              <p:spPr>
                <a:xfrm>
                  <a:off x="4934426" y="9195530"/>
                  <a:ext cx="215900" cy="215900"/>
                </a:xfrm>
                <a:prstGeom prst="ellipse">
                  <a:avLst/>
                </a:prstGeom>
                <a:noFill/>
                <a:ln w="20241" cap="rnd">
                  <a:solidFill>
                    <a:srgbClr val="B7524A"/>
                  </a:solidFill>
                </a:ln>
              </p:spPr>
            </p:sp>
            <p:sp>
              <p:nvSpPr>
                <p:cNvPr id="10243" name="search-check-2"/>
                <p:cNvSpPr/>
                <p:nvPr/>
              </p:nvSpPr>
              <p:spPr>
                <a:xfrm>
                  <a:off x="4893945" y="9155049"/>
                  <a:ext cx="323850" cy="323850"/>
                </a:xfrm>
                <a:custGeom>
                  <a:avLst/>
                  <a:gdLst/>
                  <a:ahLst/>
                  <a:cxnLst/>
                  <a:rect l="l" t="t" r="r" b="b"/>
                  <a:pathLst>
                    <a:path w="24000" h="24000" fill="none">
                      <a:moveTo>
                        <a:pt x="21000" y="21000"/>
                      </a:moveTo>
                      <a:lnTo>
                        <a:pt x="16700" y="16700"/>
                      </a:lnTo>
                    </a:path>
                  </a:pathLst>
                </a:custGeom>
                <a:noFill/>
                <a:ln w="20241" cap="rnd">
                  <a:solidFill>
                    <a:srgbClr val="B7524A"/>
                  </a:solidFill>
                </a:ln>
              </p:spPr>
            </p:sp>
          </p:grpSp>
        </p:grpSp>
        <p:grpSp>
          <p:nvGrpSpPr>
            <p:cNvPr id="221" name="decision"/>
            <p:cNvGrpSpPr/>
            <p:nvPr/>
          </p:nvGrpSpPr>
          <p:grpSpPr>
            <a:xfrm>
              <a:off x="8339328" y="5998464"/>
              <a:ext cx="7900416" cy="4937760"/>
              <a:chOff x="8339328" y="5998464"/>
              <a:chExt cx="7900416" cy="4937760"/>
            </a:xfrm>
          </p:grpSpPr>
          <p:sp>
            <p:nvSpPr>
              <p:cNvPr id="169" name="decision-167"/>
              <p:cNvSpPr/>
              <p:nvPr/>
            </p:nvSpPr>
            <p:spPr>
              <a:xfrm>
                <a:off x="8339328" y="5998464"/>
                <a:ext cx="7900416" cy="4937760"/>
              </a:xfrm>
              <a:prstGeom prst="roundRect">
                <a:avLst>
                  <a:gd name="adj" fmla="val 2963"/>
                </a:avLst>
              </a:prstGeom>
              <a:solidFill>
                <a:srgbClr val="F4F1FA"/>
              </a:solidFill>
              <a:ln w="12700">
                <a:solidFill>
                  <a:srgbClr val="DFD8EF"/>
                </a:solidFill>
              </a:ln>
            </p:spPr>
            <p:txBody>
              <a:bodyPr/>
              <a:lstStyle/>
              <a:p>
                <a:endParaRPr/>
              </a:p>
            </p:txBody>
          </p:sp>
          <p:sp>
            <p:nvSpPr>
              <p:cNvPr id="170" name="decision-171"/>
              <p:cNvSpPr/>
              <p:nvPr/>
            </p:nvSpPr>
            <p:spPr>
              <a:xfrm>
                <a:off x="8540496" y="10460736"/>
                <a:ext cx="7498080" cy="310896"/>
              </a:xfrm>
              <a:prstGeom prst="roundRect">
                <a:avLst>
                  <a:gd name="adj" fmla="val 50000"/>
                </a:avLst>
              </a:prstGeom>
              <a:solidFill>
                <a:srgbClr val="FFFFFF"/>
              </a:solidFill>
              <a:ln w="12700">
                <a:solidFill>
                  <a:srgbClr val="DFD8EF"/>
                </a:solidFill>
              </a:ln>
            </p:spPr>
            <p:txBody>
              <a:bodyPr/>
              <a:lstStyle/>
              <a:p>
                <a:endParaRPr/>
              </a:p>
            </p:txBody>
          </p:sp>
          <p:sp>
            <p:nvSpPr>
              <p:cNvPr id="171" name="decision-173"/>
              <p:cNvSpPr/>
              <p:nvPr/>
            </p:nvSpPr>
            <p:spPr>
              <a:xfrm>
                <a:off x="8705088" y="7730886"/>
                <a:ext cx="914400" cy="517002"/>
              </a:xfrm>
              <a:custGeom>
                <a:avLst/>
                <a:gdLst/>
                <a:ahLst/>
                <a:cxnLst/>
                <a:rect l="l" t="t" r="r" b="b"/>
                <a:pathLst>
                  <a:path w="21600" h="21600">
                    <a:moveTo>
                      <a:pt x="0" y="14036"/>
                    </a:moveTo>
                    <a:cubicBezTo>
                      <a:pt x="432" y="13279"/>
                      <a:pt x="1728" y="9749"/>
                      <a:pt x="2592" y="9497"/>
                    </a:cubicBezTo>
                    <a:cubicBezTo>
                      <a:pt x="3456" y="9245"/>
                      <a:pt x="4284" y="13447"/>
                      <a:pt x="5184" y="12523"/>
                    </a:cubicBezTo>
                    <a:cubicBezTo>
                      <a:pt x="6084" y="11598"/>
                      <a:pt x="7056" y="4707"/>
                      <a:pt x="7992" y="3950"/>
                    </a:cubicBezTo>
                    <a:cubicBezTo>
                      <a:pt x="8928" y="3194"/>
                      <a:pt x="9900" y="8321"/>
                      <a:pt x="10800" y="7984"/>
                    </a:cubicBezTo>
                    <a:cubicBezTo>
                      <a:pt x="11700" y="7648"/>
                      <a:pt x="12492" y="2185"/>
                      <a:pt x="13392" y="1933"/>
                    </a:cubicBezTo>
                    <a:cubicBezTo>
                      <a:pt x="14292" y="1681"/>
                      <a:pt x="15300" y="6724"/>
                      <a:pt x="16200" y="6472"/>
                    </a:cubicBezTo>
                    <a:cubicBezTo>
                      <a:pt x="17100" y="6219"/>
                      <a:pt x="17892" y="840"/>
                      <a:pt x="18792" y="420"/>
                    </a:cubicBezTo>
                    <a:cubicBezTo>
                      <a:pt x="19692" y="0"/>
                      <a:pt x="21132" y="3362"/>
                      <a:pt x="21600" y="3950"/>
                    </a:cubicBezTo>
                    <a:lnTo>
                      <a:pt x="21600" y="21600"/>
                    </a:lnTo>
                    <a:lnTo>
                      <a:pt x="0" y="21600"/>
                    </a:lnTo>
                    <a:close/>
                  </a:path>
                </a:pathLst>
              </a:custGeom>
              <a:solidFill>
                <a:srgbClr val="E4DDF3"/>
              </a:solidFill>
              <a:ln>
                <a:noFill/>
              </a:ln>
            </p:spPr>
            <p:txBody>
              <a:bodyPr/>
              <a:lstStyle/>
              <a:p>
                <a:endParaRPr/>
              </a:p>
            </p:txBody>
          </p:sp>
          <p:sp>
            <p:nvSpPr>
              <p:cNvPr id="172" name="decision-174"/>
              <p:cNvSpPr/>
              <p:nvPr/>
            </p:nvSpPr>
            <p:spPr>
              <a:xfrm>
                <a:off x="8668512" y="8247888"/>
                <a:ext cx="987552" cy="0"/>
              </a:xfrm>
              <a:prstGeom prst="line">
                <a:avLst/>
              </a:prstGeom>
              <a:noFill/>
              <a:ln w="10160">
                <a:solidFill>
                  <a:srgbClr val="AAB5BF"/>
                </a:solidFill>
                <a:prstDash val="solid"/>
                <a:tailEnd type="none"/>
              </a:ln>
            </p:spPr>
            <p:txBody>
              <a:bodyPr/>
              <a:lstStyle/>
              <a:p>
                <a:endParaRPr/>
              </a:p>
            </p:txBody>
          </p:sp>
          <p:sp>
            <p:nvSpPr>
              <p:cNvPr id="173" name="decision-198"/>
              <p:cNvSpPr/>
              <p:nvPr/>
            </p:nvSpPr>
            <p:spPr>
              <a:xfrm>
                <a:off x="13478256" y="7607808"/>
                <a:ext cx="1042416" cy="0"/>
              </a:xfrm>
              <a:prstGeom prst="line">
                <a:avLst/>
              </a:prstGeom>
              <a:noFill/>
              <a:ln w="10160">
                <a:solidFill>
                  <a:srgbClr val="AAB5BF"/>
                </a:solidFill>
                <a:prstDash val="solid"/>
                <a:tailEnd type="none"/>
              </a:ln>
            </p:spPr>
            <p:txBody>
              <a:bodyPr/>
              <a:lstStyle/>
              <a:p>
                <a:endParaRPr/>
              </a:p>
            </p:txBody>
          </p:sp>
          <p:sp>
            <p:nvSpPr>
              <p:cNvPr id="174" name="decision-203"/>
              <p:cNvSpPr/>
              <p:nvPr/>
            </p:nvSpPr>
            <p:spPr>
              <a:xfrm>
                <a:off x="13478256" y="9180576"/>
                <a:ext cx="1042416" cy="0"/>
              </a:xfrm>
              <a:prstGeom prst="line">
                <a:avLst/>
              </a:prstGeom>
              <a:noFill/>
              <a:ln w="10160">
                <a:solidFill>
                  <a:srgbClr val="AAB5BF"/>
                </a:solidFill>
                <a:prstDash val="solid"/>
                <a:tailEnd type="none"/>
              </a:ln>
            </p:spPr>
            <p:txBody>
              <a:bodyPr/>
              <a:lstStyle/>
              <a:p>
                <a:endParaRPr/>
              </a:p>
            </p:txBody>
          </p:sp>
          <p:sp>
            <p:nvSpPr>
              <p:cNvPr id="175" name="decision-168"/>
              <p:cNvSpPr/>
              <p:nvPr/>
            </p:nvSpPr>
            <p:spPr>
              <a:xfrm>
                <a:off x="8540496" y="6172200"/>
                <a:ext cx="310896" cy="310896"/>
              </a:xfrm>
              <a:prstGeom prst="ellipse">
                <a:avLst/>
              </a:prstGeom>
              <a:solidFill>
                <a:srgbClr val="6A55A3"/>
              </a:solidFill>
              <a:ln>
                <a:noFill/>
              </a:ln>
            </p:spPr>
            <p:txBody>
              <a:bodyPr/>
              <a:lstStyle/>
              <a:p>
                <a:endParaRPr/>
              </a:p>
            </p:txBody>
          </p:sp>
          <p:sp>
            <p:nvSpPr>
              <p:cNvPr id="176" name="decision-177"/>
              <p:cNvSpPr/>
              <p:nvPr/>
            </p:nvSpPr>
            <p:spPr>
              <a:xfrm>
                <a:off x="8814816" y="8942832"/>
                <a:ext cx="585216" cy="420624"/>
              </a:xfrm>
              <a:prstGeom prst="roundRect">
                <a:avLst>
                  <a:gd name="adj" fmla="val 6522"/>
                </a:avLst>
              </a:prstGeom>
              <a:solidFill>
                <a:srgbClr val="FFFFFF"/>
              </a:solidFill>
              <a:ln w="13970">
                <a:solidFill>
                  <a:srgbClr val="A9B5C1"/>
                </a:solidFill>
              </a:ln>
            </p:spPr>
            <p:txBody>
              <a:bodyPr/>
              <a:lstStyle/>
              <a:p>
                <a:endParaRPr/>
              </a:p>
            </p:txBody>
          </p:sp>
          <p:sp>
            <p:nvSpPr>
              <p:cNvPr id="177" name="decision-181"/>
              <p:cNvSpPr/>
              <p:nvPr/>
            </p:nvSpPr>
            <p:spPr>
              <a:xfrm>
                <a:off x="8906256" y="9034272"/>
                <a:ext cx="585216" cy="420624"/>
              </a:xfrm>
              <a:prstGeom prst="roundRect">
                <a:avLst>
                  <a:gd name="adj" fmla="val 6522"/>
                </a:avLst>
              </a:prstGeom>
              <a:solidFill>
                <a:srgbClr val="FFFFFF"/>
              </a:solidFill>
              <a:ln w="13970">
                <a:solidFill>
                  <a:srgbClr val="34495C"/>
                </a:solidFill>
              </a:ln>
            </p:spPr>
            <p:txBody>
              <a:bodyPr/>
              <a:lstStyle/>
              <a:p>
                <a:endParaRPr/>
              </a:p>
            </p:txBody>
          </p:sp>
          <p:sp>
            <p:nvSpPr>
              <p:cNvPr id="178" name="decision-188"/>
              <p:cNvSpPr/>
              <p:nvPr/>
            </p:nvSpPr>
            <p:spPr>
              <a:xfrm>
                <a:off x="9985248" y="7973568"/>
                <a:ext cx="1024128" cy="365760"/>
              </a:xfrm>
              <a:prstGeom prst="roundRect">
                <a:avLst>
                  <a:gd name="adj" fmla="val 22500"/>
                </a:avLst>
              </a:prstGeom>
              <a:solidFill>
                <a:srgbClr val="E8EDF2"/>
              </a:solidFill>
              <a:ln w="12700">
                <a:solidFill>
                  <a:srgbClr val="2F3743"/>
                </a:solidFill>
              </a:ln>
            </p:spPr>
            <p:txBody>
              <a:bodyPr/>
              <a:lstStyle/>
              <a:p>
                <a:endParaRPr/>
              </a:p>
            </p:txBody>
          </p:sp>
          <p:sp>
            <p:nvSpPr>
              <p:cNvPr id="179" name="decision-191"/>
              <p:cNvSpPr/>
              <p:nvPr/>
            </p:nvSpPr>
            <p:spPr>
              <a:xfrm>
                <a:off x="11283696" y="7973568"/>
                <a:ext cx="1554480" cy="365760"/>
              </a:xfrm>
              <a:prstGeom prst="roundRect">
                <a:avLst>
                  <a:gd name="adj" fmla="val 22500"/>
                </a:avLst>
              </a:prstGeom>
              <a:solidFill>
                <a:srgbClr val="E8EDF2"/>
              </a:solidFill>
              <a:ln w="12700">
                <a:solidFill>
                  <a:srgbClr val="2F3743"/>
                </a:solidFill>
              </a:ln>
            </p:spPr>
            <p:txBody>
              <a:bodyPr/>
              <a:lstStyle/>
              <a:p>
                <a:endParaRPr/>
              </a:p>
            </p:txBody>
          </p:sp>
          <p:sp>
            <p:nvSpPr>
              <p:cNvPr id="180" name="decision-196"/>
              <p:cNvSpPr/>
              <p:nvPr/>
            </p:nvSpPr>
            <p:spPr>
              <a:xfrm>
                <a:off x="13112496" y="7232904"/>
                <a:ext cx="274320" cy="274320"/>
              </a:xfrm>
              <a:prstGeom prst="ellipse">
                <a:avLst/>
              </a:prstGeom>
              <a:solidFill>
                <a:srgbClr val="FFFFFF"/>
              </a:solidFill>
              <a:ln w="13970">
                <a:solidFill>
                  <a:srgbClr val="6A55A3"/>
                </a:solidFill>
              </a:ln>
            </p:spPr>
            <p:txBody>
              <a:bodyPr/>
              <a:lstStyle/>
              <a:p>
                <a:endParaRPr/>
              </a:p>
            </p:txBody>
          </p:sp>
          <p:sp>
            <p:nvSpPr>
              <p:cNvPr id="181" name="decision-201"/>
              <p:cNvSpPr/>
              <p:nvPr/>
            </p:nvSpPr>
            <p:spPr>
              <a:xfrm>
                <a:off x="13112496" y="8805672"/>
                <a:ext cx="274320" cy="274320"/>
              </a:xfrm>
              <a:prstGeom prst="ellipse">
                <a:avLst/>
              </a:prstGeom>
              <a:solidFill>
                <a:srgbClr val="FFFFFF"/>
              </a:solidFill>
              <a:ln w="13970">
                <a:solidFill>
                  <a:srgbClr val="6A55A3"/>
                </a:solidFill>
              </a:ln>
            </p:spPr>
            <p:txBody>
              <a:bodyPr/>
              <a:lstStyle/>
              <a:p>
                <a:endParaRPr/>
              </a:p>
            </p:txBody>
          </p:sp>
          <p:sp>
            <p:nvSpPr>
              <p:cNvPr id="182" name="decision-207"/>
              <p:cNvSpPr/>
              <p:nvPr/>
            </p:nvSpPr>
            <p:spPr>
              <a:xfrm>
                <a:off x="14831568" y="7863840"/>
                <a:ext cx="1170432" cy="585216"/>
              </a:xfrm>
              <a:prstGeom prst="roundRect">
                <a:avLst>
                  <a:gd name="adj" fmla="val 14062"/>
                </a:avLst>
              </a:prstGeom>
              <a:solidFill>
                <a:srgbClr val="E8EDF2"/>
              </a:solidFill>
              <a:ln w="12700">
                <a:solidFill>
                  <a:srgbClr val="2F3743"/>
                </a:solidFill>
              </a:ln>
            </p:spPr>
            <p:txBody>
              <a:bodyPr/>
              <a:lstStyle/>
              <a:p>
                <a:endParaRPr/>
              </a:p>
            </p:txBody>
          </p:sp>
          <p:sp>
            <p:nvSpPr>
              <p:cNvPr id="183" name="decision-211"/>
              <p:cNvSpPr/>
              <p:nvPr/>
            </p:nvSpPr>
            <p:spPr>
              <a:xfrm>
                <a:off x="14831568" y="9418320"/>
                <a:ext cx="1170432" cy="347472"/>
              </a:xfrm>
              <a:prstGeom prst="roundRect">
                <a:avLst>
                  <a:gd name="adj" fmla="val 7895"/>
                </a:avLst>
              </a:prstGeom>
              <a:solidFill>
                <a:srgbClr val="EEF1F4"/>
              </a:solidFill>
              <a:ln w="13970">
                <a:solidFill>
                  <a:srgbClr val="8E9DAA"/>
                </a:solidFill>
              </a:ln>
            </p:spPr>
            <p:txBody>
              <a:bodyPr/>
              <a:lstStyle/>
              <a:p>
                <a:endParaRPr/>
              </a:p>
            </p:txBody>
          </p:sp>
          <p:sp>
            <p:nvSpPr>
              <p:cNvPr id="184" name="decision-175"/>
              <p:cNvSpPr/>
              <p:nvPr/>
            </p:nvSpPr>
            <p:spPr>
              <a:xfrm>
                <a:off x="8705088" y="7730886"/>
                <a:ext cx="914400" cy="335951"/>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5400">
                <a:solidFill>
                  <a:srgbClr val="34495C"/>
                </a:solidFill>
                <a:prstDash val="solid"/>
                <a:tailEnd type="none"/>
              </a:ln>
            </p:spPr>
            <p:txBody>
              <a:bodyPr/>
              <a:lstStyle/>
              <a:p>
                <a:endParaRPr/>
              </a:p>
            </p:txBody>
          </p:sp>
          <p:sp>
            <p:nvSpPr>
              <p:cNvPr id="185" name="decision-199"/>
              <p:cNvSpPr/>
              <p:nvPr/>
            </p:nvSpPr>
            <p:spPr>
              <a:xfrm>
                <a:off x="13514832" y="7162312"/>
                <a:ext cx="969264" cy="328818"/>
              </a:xfrm>
              <a:custGeom>
                <a:avLst/>
                <a:gdLst/>
                <a:ahLst/>
                <a:cxnLst/>
                <a:rect l="l" t="t" r="r" b="b"/>
                <a:pathLst>
                  <a:path w="21600" h="21600" fill="none">
                    <a:moveTo>
                      <a:pt x="0" y="21600"/>
                    </a:moveTo>
                    <a:cubicBezTo>
                      <a:pt x="720" y="20671"/>
                      <a:pt x="2952" y="16839"/>
                      <a:pt x="4320" y="16026"/>
                    </a:cubicBezTo>
                    <a:cubicBezTo>
                      <a:pt x="5688" y="15213"/>
                      <a:pt x="6912" y="17884"/>
                      <a:pt x="8208" y="16723"/>
                    </a:cubicBezTo>
                    <a:cubicBezTo>
                      <a:pt x="9504" y="15561"/>
                      <a:pt x="10800" y="10219"/>
                      <a:pt x="12096" y="9058"/>
                    </a:cubicBezTo>
                    <a:cubicBezTo>
                      <a:pt x="13392" y="7897"/>
                      <a:pt x="14400" y="11265"/>
                      <a:pt x="15984" y="9755"/>
                    </a:cubicBezTo>
                    <a:cubicBezTo>
                      <a:pt x="17568" y="8245"/>
                      <a:pt x="20664" y="1626"/>
                      <a:pt x="21600" y="0"/>
                    </a:cubicBezTo>
                  </a:path>
                </a:pathLst>
              </a:custGeom>
              <a:noFill/>
              <a:ln w="25400">
                <a:solidFill>
                  <a:srgbClr val="6A55A3"/>
                </a:solidFill>
                <a:prstDash val="solid"/>
                <a:tailEnd type="none"/>
              </a:ln>
            </p:spPr>
            <p:txBody>
              <a:bodyPr/>
              <a:lstStyle/>
              <a:p>
                <a:endParaRPr/>
              </a:p>
            </p:txBody>
          </p:sp>
          <p:sp>
            <p:nvSpPr>
              <p:cNvPr id="186" name="decision-204"/>
              <p:cNvSpPr/>
              <p:nvPr/>
            </p:nvSpPr>
            <p:spPr>
              <a:xfrm>
                <a:off x="13514832" y="8926007"/>
                <a:ext cx="969264" cy="159106"/>
              </a:xfrm>
              <a:custGeom>
                <a:avLst/>
                <a:gdLst/>
                <a:ahLst/>
                <a:cxnLst/>
                <a:rect l="l" t="t" r="r" b="b"/>
                <a:pathLst>
                  <a:path w="21600" h="21600" fill="none">
                    <a:moveTo>
                      <a:pt x="0" y="15840"/>
                    </a:moveTo>
                    <a:cubicBezTo>
                      <a:pt x="720" y="13560"/>
                      <a:pt x="2880" y="3600"/>
                      <a:pt x="4320" y="2160"/>
                    </a:cubicBezTo>
                    <a:cubicBezTo>
                      <a:pt x="5760" y="720"/>
                      <a:pt x="7200" y="7320"/>
                      <a:pt x="8640" y="7200"/>
                    </a:cubicBezTo>
                    <a:cubicBezTo>
                      <a:pt x="10080" y="7080"/>
                      <a:pt x="11520" y="0"/>
                      <a:pt x="12960" y="1440"/>
                    </a:cubicBezTo>
                    <a:cubicBezTo>
                      <a:pt x="14400" y="2880"/>
                      <a:pt x="15840" y="12480"/>
                      <a:pt x="17280" y="15840"/>
                    </a:cubicBezTo>
                    <a:cubicBezTo>
                      <a:pt x="18720" y="19200"/>
                      <a:pt x="20880" y="20640"/>
                      <a:pt x="21600" y="21600"/>
                    </a:cubicBezTo>
                  </a:path>
                </a:pathLst>
              </a:custGeom>
              <a:noFill/>
              <a:ln w="25400">
                <a:solidFill>
                  <a:srgbClr val="A9B5C1"/>
                </a:solidFill>
                <a:prstDash val="solid"/>
                <a:tailEnd type="none"/>
              </a:ln>
            </p:spPr>
            <p:txBody>
              <a:bodyPr/>
              <a:lstStyle/>
              <a:p>
                <a:endParaRPr/>
              </a:p>
            </p:txBody>
          </p:sp>
          <p:sp>
            <p:nvSpPr>
              <p:cNvPr id="187" name="decision-178"/>
              <p:cNvSpPr/>
              <p:nvPr/>
            </p:nvSpPr>
            <p:spPr>
              <a:xfrm>
                <a:off x="8915400" y="9061704"/>
                <a:ext cx="365760" cy="0"/>
              </a:xfrm>
              <a:prstGeom prst="line">
                <a:avLst/>
              </a:prstGeom>
              <a:noFill/>
              <a:ln w="13970">
                <a:solidFill>
                  <a:srgbClr val="A9B5C1"/>
                </a:solidFill>
                <a:prstDash val="solid"/>
                <a:tailEnd type="none"/>
              </a:ln>
            </p:spPr>
            <p:txBody>
              <a:bodyPr/>
              <a:lstStyle/>
              <a:p>
                <a:endParaRPr/>
              </a:p>
            </p:txBody>
          </p:sp>
          <p:sp>
            <p:nvSpPr>
              <p:cNvPr id="188" name="decision-179"/>
              <p:cNvSpPr/>
              <p:nvPr/>
            </p:nvSpPr>
            <p:spPr>
              <a:xfrm>
                <a:off x="8915400" y="9180576"/>
                <a:ext cx="256032" cy="0"/>
              </a:xfrm>
              <a:prstGeom prst="line">
                <a:avLst/>
              </a:prstGeom>
              <a:noFill/>
              <a:ln w="13970">
                <a:solidFill>
                  <a:srgbClr val="A9B5C1"/>
                </a:solidFill>
                <a:prstDash val="solid"/>
                <a:tailEnd type="none"/>
              </a:ln>
            </p:spPr>
            <p:txBody>
              <a:bodyPr/>
              <a:lstStyle/>
              <a:p>
                <a:endParaRPr/>
              </a:p>
            </p:txBody>
          </p:sp>
          <p:sp>
            <p:nvSpPr>
              <p:cNvPr id="189" name="decision-180"/>
              <p:cNvSpPr/>
              <p:nvPr/>
            </p:nvSpPr>
            <p:spPr>
              <a:xfrm>
                <a:off x="8915400" y="9299448"/>
                <a:ext cx="365760" cy="0"/>
              </a:xfrm>
              <a:prstGeom prst="line">
                <a:avLst/>
              </a:prstGeom>
              <a:noFill/>
              <a:ln w="13970">
                <a:solidFill>
                  <a:srgbClr val="A9B5C1"/>
                </a:solidFill>
                <a:prstDash val="solid"/>
                <a:tailEnd type="none"/>
              </a:ln>
            </p:spPr>
            <p:txBody>
              <a:bodyPr/>
              <a:lstStyle/>
              <a:p>
                <a:endParaRPr/>
              </a:p>
            </p:txBody>
          </p:sp>
          <p:sp>
            <p:nvSpPr>
              <p:cNvPr id="190" name="decision-182"/>
              <p:cNvSpPr/>
              <p:nvPr/>
            </p:nvSpPr>
            <p:spPr>
              <a:xfrm>
                <a:off x="9006840" y="9153144"/>
                <a:ext cx="365760" cy="0"/>
              </a:xfrm>
              <a:prstGeom prst="line">
                <a:avLst/>
              </a:prstGeom>
              <a:noFill/>
              <a:ln w="13970">
                <a:solidFill>
                  <a:srgbClr val="34495C"/>
                </a:solidFill>
                <a:prstDash val="solid"/>
                <a:tailEnd type="none"/>
              </a:ln>
            </p:spPr>
            <p:txBody>
              <a:bodyPr/>
              <a:lstStyle/>
              <a:p>
                <a:endParaRPr/>
              </a:p>
            </p:txBody>
          </p:sp>
          <p:sp>
            <p:nvSpPr>
              <p:cNvPr id="191" name="decision-183"/>
              <p:cNvSpPr/>
              <p:nvPr/>
            </p:nvSpPr>
            <p:spPr>
              <a:xfrm>
                <a:off x="9006840" y="9272016"/>
                <a:ext cx="256032" cy="0"/>
              </a:xfrm>
              <a:prstGeom prst="line">
                <a:avLst/>
              </a:prstGeom>
              <a:noFill/>
              <a:ln w="13970">
                <a:solidFill>
                  <a:srgbClr val="34495C"/>
                </a:solidFill>
                <a:prstDash val="solid"/>
                <a:tailEnd type="none"/>
              </a:ln>
            </p:spPr>
            <p:txBody>
              <a:bodyPr/>
              <a:lstStyle/>
              <a:p>
                <a:endParaRPr/>
              </a:p>
            </p:txBody>
          </p:sp>
          <p:sp>
            <p:nvSpPr>
              <p:cNvPr id="192" name="decision-184"/>
              <p:cNvSpPr/>
              <p:nvPr/>
            </p:nvSpPr>
            <p:spPr>
              <a:xfrm>
                <a:off x="9006840" y="9390888"/>
                <a:ext cx="365760" cy="0"/>
              </a:xfrm>
              <a:prstGeom prst="line">
                <a:avLst/>
              </a:prstGeom>
              <a:noFill/>
              <a:ln w="13970">
                <a:solidFill>
                  <a:srgbClr val="34495C"/>
                </a:solidFill>
                <a:prstDash val="solid"/>
                <a:tailEnd type="none"/>
              </a:ln>
            </p:spPr>
            <p:txBody>
              <a:bodyPr/>
              <a:lstStyle/>
              <a:p>
                <a:endParaRPr/>
              </a:p>
            </p:txBody>
          </p:sp>
          <p:sp>
            <p:nvSpPr>
              <p:cNvPr id="193" name="decision-186"/>
              <p:cNvSpPr/>
              <p:nvPr/>
            </p:nvSpPr>
            <p:spPr>
              <a:xfrm>
                <a:off x="9674352" y="8046720"/>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94" name="decision-187"/>
              <p:cNvSpPr/>
              <p:nvPr/>
            </p:nvSpPr>
            <p:spPr>
              <a:xfrm>
                <a:off x="9546336" y="8266176"/>
                <a:ext cx="384048" cy="978408"/>
              </a:xfrm>
              <a:custGeom>
                <a:avLst/>
                <a:gdLst/>
                <a:ahLst/>
                <a:cxnLst/>
                <a:rect l="l" t="t" r="r" b="b"/>
                <a:pathLst>
                  <a:path w="21600" h="21600" fill="none">
                    <a:moveTo>
                      <a:pt x="0" y="21600"/>
                    </a:moveTo>
                    <a:lnTo>
                      <a:pt x="13371" y="21600"/>
                    </a:lnTo>
                    <a:lnTo>
                      <a:pt x="13371" y="0"/>
                    </a:lnTo>
                    <a:lnTo>
                      <a:pt x="21600" y="0"/>
                    </a:lnTo>
                  </a:path>
                </a:pathLst>
              </a:custGeom>
              <a:noFill/>
              <a:ln w="17780">
                <a:solidFill>
                  <a:srgbClr val="5F6F7D"/>
                </a:solidFill>
                <a:prstDash val="solid"/>
                <a:tailEnd type="triangle"/>
              </a:ln>
            </p:spPr>
            <p:txBody>
              <a:bodyPr/>
              <a:lstStyle/>
              <a:p>
                <a:endParaRPr/>
              </a:p>
            </p:txBody>
          </p:sp>
          <p:sp>
            <p:nvSpPr>
              <p:cNvPr id="195" name="decision-190"/>
              <p:cNvSpPr/>
              <p:nvPr/>
            </p:nvSpPr>
            <p:spPr>
              <a:xfrm>
                <a:off x="11045952" y="8156448"/>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96" name="decision-193"/>
              <p:cNvSpPr/>
              <p:nvPr/>
            </p:nvSpPr>
            <p:spPr>
              <a:xfrm>
                <a:off x="12874752" y="8156448"/>
                <a:ext cx="109728"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97" name="decision-194"/>
              <p:cNvSpPr/>
              <p:nvPr/>
            </p:nvSpPr>
            <p:spPr>
              <a:xfrm>
                <a:off x="12984480" y="7370064"/>
                <a:ext cx="9144" cy="1572768"/>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98" name="decision-195"/>
              <p:cNvSpPr/>
              <p:nvPr/>
            </p:nvSpPr>
            <p:spPr>
              <a:xfrm>
                <a:off x="12984480" y="7370064"/>
                <a:ext cx="9144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99" name="decision-200"/>
              <p:cNvSpPr/>
              <p:nvPr/>
            </p:nvSpPr>
            <p:spPr>
              <a:xfrm>
                <a:off x="12984480" y="8942832"/>
                <a:ext cx="9144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200" name="decision-205"/>
              <p:cNvSpPr/>
              <p:nvPr/>
            </p:nvSpPr>
            <p:spPr>
              <a:xfrm>
                <a:off x="14484096" y="7370064"/>
                <a:ext cx="292608" cy="676656"/>
              </a:xfrm>
              <a:custGeom>
                <a:avLst/>
                <a:gdLst/>
                <a:ahLst/>
                <a:cxnLst/>
                <a:rect l="l" t="t" r="r" b="b"/>
                <a:pathLst>
                  <a:path w="21600" h="21600" fill="none">
                    <a:moveTo>
                      <a:pt x="0" y="0"/>
                    </a:moveTo>
                    <a:lnTo>
                      <a:pt x="12150" y="0"/>
                    </a:lnTo>
                    <a:lnTo>
                      <a:pt x="12150" y="21600"/>
                    </a:lnTo>
                    <a:lnTo>
                      <a:pt x="21600" y="21600"/>
                    </a:lnTo>
                  </a:path>
                </a:pathLst>
              </a:custGeom>
              <a:noFill/>
              <a:ln w="17780">
                <a:solidFill>
                  <a:srgbClr val="5F6F7D"/>
                </a:solidFill>
                <a:prstDash val="solid"/>
                <a:tailEnd type="triangle"/>
              </a:ln>
            </p:spPr>
            <p:txBody>
              <a:bodyPr/>
              <a:lstStyle/>
              <a:p>
                <a:endParaRPr/>
              </a:p>
            </p:txBody>
          </p:sp>
          <p:sp>
            <p:nvSpPr>
              <p:cNvPr id="201" name="decision-206"/>
              <p:cNvSpPr/>
              <p:nvPr/>
            </p:nvSpPr>
            <p:spPr>
              <a:xfrm>
                <a:off x="14484096" y="8284464"/>
                <a:ext cx="292608" cy="658368"/>
              </a:xfrm>
              <a:custGeom>
                <a:avLst/>
                <a:gdLst/>
                <a:ahLst/>
                <a:cxnLst/>
                <a:rect l="l" t="t" r="r" b="b"/>
                <a:pathLst>
                  <a:path w="21600" h="21600" fill="none">
                    <a:moveTo>
                      <a:pt x="0" y="21600"/>
                    </a:moveTo>
                    <a:lnTo>
                      <a:pt x="12150" y="21600"/>
                    </a:lnTo>
                    <a:lnTo>
                      <a:pt x="12150" y="0"/>
                    </a:lnTo>
                    <a:lnTo>
                      <a:pt x="21600" y="0"/>
                    </a:lnTo>
                  </a:path>
                </a:pathLst>
              </a:custGeom>
              <a:noFill/>
              <a:ln w="17780">
                <a:solidFill>
                  <a:srgbClr val="5F6F7D"/>
                </a:solidFill>
                <a:prstDash val="solid"/>
                <a:tailEnd type="triangle"/>
              </a:ln>
            </p:spPr>
            <p:txBody>
              <a:bodyPr/>
              <a:lstStyle/>
              <a:p>
                <a:endParaRPr/>
              </a:p>
            </p:txBody>
          </p:sp>
          <p:sp>
            <p:nvSpPr>
              <p:cNvPr id="202" name="decision-209"/>
              <p:cNvSpPr/>
              <p:nvPr/>
            </p:nvSpPr>
            <p:spPr>
              <a:xfrm>
                <a:off x="15416784" y="8485632"/>
                <a:ext cx="9144" cy="877824"/>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203" name="decision-213"/>
              <p:cNvSpPr/>
              <p:nvPr/>
            </p:nvSpPr>
            <p:spPr>
              <a:xfrm>
                <a:off x="8522208" y="7946136"/>
                <a:ext cx="6894576" cy="2075688"/>
              </a:xfrm>
              <a:custGeom>
                <a:avLst/>
                <a:gdLst/>
                <a:ahLst/>
                <a:cxnLst/>
                <a:rect l="l" t="t" r="r" b="b"/>
                <a:pathLst>
                  <a:path w="21600" h="21600" fill="none">
                    <a:moveTo>
                      <a:pt x="21600" y="19126"/>
                    </a:moveTo>
                    <a:lnTo>
                      <a:pt x="21600" y="21600"/>
                    </a:lnTo>
                    <a:lnTo>
                      <a:pt x="0" y="21600"/>
                    </a:lnTo>
                    <a:lnTo>
                      <a:pt x="0" y="0"/>
                    </a:lnTo>
                    <a:lnTo>
                      <a:pt x="401" y="0"/>
                    </a:lnTo>
                  </a:path>
                </a:pathLst>
              </a:custGeom>
              <a:noFill/>
              <a:ln w="17780">
                <a:solidFill>
                  <a:srgbClr val="6A55A3"/>
                </a:solidFill>
                <a:prstDash val="dash"/>
                <a:tailEnd type="triangle"/>
              </a:ln>
            </p:spPr>
            <p:txBody>
              <a:bodyPr/>
              <a:lstStyle/>
              <a:p>
                <a:endParaRPr/>
              </a:p>
            </p:txBody>
          </p:sp>
          <p:sp>
            <p:nvSpPr>
              <p:cNvPr id="204" name="decision-169"/>
              <p:cNvSpPr txBox="1"/>
              <p:nvPr/>
            </p:nvSpPr>
            <p:spPr>
              <a:xfrm>
                <a:off x="8540496" y="6172200"/>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Times New Roman"/>
                    <a:ea typeface="Times New Roman"/>
                    <a:cs typeface="Georgia"/>
                  </a:rPr>
                  <a:t>d</a:t>
                </a:r>
                <a:endParaRPr lang="zh-CN" sz="1700"/>
              </a:p>
            </p:txBody>
          </p:sp>
          <p:sp>
            <p:nvSpPr>
              <p:cNvPr id="205" name="decision-170"/>
              <p:cNvSpPr txBox="1"/>
              <p:nvPr/>
            </p:nvSpPr>
            <p:spPr>
              <a:xfrm>
                <a:off x="8961120" y="6144768"/>
                <a:ext cx="6986016" cy="365760"/>
              </a:xfrm>
              <a:prstGeom prst="rect">
                <a:avLst/>
              </a:prstGeom>
              <a:noFill/>
              <a:ln>
                <a:noFill/>
              </a:ln>
            </p:spPr>
            <p:txBody>
              <a:bodyPr wrap="none" lIns="0" tIns="0" rIns="0" bIns="0" anchor="ctr">
                <a:noAutofit/>
              </a:bodyPr>
              <a:lstStyle/>
              <a:p>
                <a:pPr algn="l"/>
                <a:r>
                  <a:rPr lang="zh-CN" sz="2200">
                    <a:solidFill>
                      <a:srgbClr val="243444"/>
                    </a:solidFill>
                    <a:latin typeface="Times New Roman"/>
                    <a:ea typeface="Times New Roman"/>
                    <a:cs typeface="Georgia"/>
                  </a:rPr>
                  <a:t>Decision Support</a:t>
                </a:r>
                <a:endParaRPr lang="zh-CN" sz="2200"/>
              </a:p>
            </p:txBody>
          </p:sp>
          <p:sp>
            <p:nvSpPr>
              <p:cNvPr id="206" name="decision-172"/>
              <p:cNvSpPr txBox="1"/>
              <p:nvPr/>
            </p:nvSpPr>
            <p:spPr>
              <a:xfrm>
                <a:off x="8540496" y="10460736"/>
                <a:ext cx="7498080" cy="310896"/>
              </a:xfrm>
              <a:prstGeom prst="rect">
                <a:avLst/>
              </a:prstGeom>
              <a:noFill/>
              <a:ln>
                <a:noFill/>
              </a:ln>
            </p:spPr>
            <p:txBody>
              <a:bodyPr wrap="none" lIns="0" tIns="0" rIns="0" bIns="0" anchor="ctr">
                <a:noAutofit/>
              </a:bodyPr>
              <a:lstStyle/>
              <a:p>
                <a:pPr algn="ctr"/>
                <a:r>
                  <a:rPr lang="zh-CN" sz="1400" b="1">
                    <a:solidFill>
                      <a:srgbClr val="6A55A3"/>
                    </a:solidFill>
                    <a:latin typeface="Times New Roman"/>
                    <a:ea typeface="Times New Roman"/>
                    <a:cs typeface="Avenir Next"/>
                  </a:rPr>
                  <a:t>Evaluation   </a:t>
                </a:r>
                <a:r>
                  <a:rPr lang="zh-CN" sz="1400">
                    <a:solidFill>
                      <a:srgbClr val="243444"/>
                    </a:solidFill>
                    <a:latin typeface="Times New Roman"/>
                    <a:ea typeface="Times New Roman"/>
                    <a:cs typeface="Avenir Next"/>
                  </a:rPr>
                  <a:t>Action utility / risk / latency</a:t>
                </a:r>
                <a:endParaRPr lang="zh-CN" sz="1400"/>
              </a:p>
            </p:txBody>
          </p:sp>
          <p:sp>
            <p:nvSpPr>
              <p:cNvPr id="207" name="decision-176"/>
              <p:cNvSpPr txBox="1"/>
              <p:nvPr/>
            </p:nvSpPr>
            <p:spPr>
              <a:xfrm>
                <a:off x="8613648" y="830275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State</a:t>
                </a:r>
                <a:endParaRPr lang="zh-CN" sz="1500"/>
              </a:p>
            </p:txBody>
          </p:sp>
          <p:sp>
            <p:nvSpPr>
              <p:cNvPr id="208" name="decision-185"/>
              <p:cNvSpPr txBox="1"/>
              <p:nvPr/>
            </p:nvSpPr>
            <p:spPr>
              <a:xfrm>
                <a:off x="8650224" y="949147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Memory</a:t>
                </a:r>
                <a:endParaRPr lang="zh-CN" sz="1500"/>
              </a:p>
            </p:txBody>
          </p:sp>
          <p:sp>
            <p:nvSpPr>
              <p:cNvPr id="209" name="decision-189"/>
              <p:cNvSpPr txBox="1"/>
              <p:nvPr/>
            </p:nvSpPr>
            <p:spPr>
              <a:xfrm>
                <a:off x="10040112" y="7973568"/>
                <a:ext cx="914400" cy="365760"/>
              </a:xfrm>
              <a:prstGeom prst="rect">
                <a:avLst/>
              </a:prstGeom>
              <a:noFill/>
              <a:ln>
                <a:noFill/>
              </a:ln>
            </p:spPr>
            <p:txBody>
              <a:bodyPr wrap="none" lIns="0" tIns="0" rIns="0" bIns="0" anchor="ctr">
                <a:noAutofit/>
              </a:bodyPr>
              <a:lstStyle/>
              <a:p>
                <a:pPr algn="ctr"/>
                <a:r>
                  <a:rPr lang="zh-CN" sz="1450">
                    <a:solidFill>
                      <a:srgbClr val="68528D"/>
                    </a:solidFill>
                    <a:latin typeface="Times New Roman"/>
                    <a:ea typeface="Times New Roman"/>
                    <a:cs typeface="Avenir Next Medium"/>
                  </a:rPr>
                  <a:t>Retrieve</a:t>
                </a:r>
                <a:endParaRPr lang="zh-CN" sz="1450"/>
              </a:p>
            </p:txBody>
          </p:sp>
          <p:sp>
            <p:nvSpPr>
              <p:cNvPr id="210" name="decision-192"/>
              <p:cNvSpPr txBox="1"/>
              <p:nvPr/>
            </p:nvSpPr>
            <p:spPr>
              <a:xfrm>
                <a:off x="11338560" y="7973568"/>
                <a:ext cx="1444752" cy="365760"/>
              </a:xfrm>
              <a:prstGeom prst="rect">
                <a:avLst/>
              </a:prstGeom>
              <a:noFill/>
              <a:ln>
                <a:noFill/>
              </a:ln>
            </p:spPr>
            <p:txBody>
              <a:bodyPr wrap="none" lIns="0" tIns="0" rIns="0" bIns="0" anchor="ctr">
                <a:noAutofit/>
              </a:bodyPr>
              <a:lstStyle/>
              <a:p>
                <a:pPr algn="ctr"/>
                <a:r>
                  <a:rPr lang="zh-CN" sz="1450">
                    <a:solidFill>
                      <a:srgbClr val="68528D"/>
                    </a:solidFill>
                    <a:latin typeface="Times New Roman"/>
                    <a:ea typeface="Times New Roman"/>
                    <a:cs typeface="Avenir Next Medium"/>
                  </a:rPr>
                  <a:t>Predict futures</a:t>
                </a:r>
                <a:endParaRPr lang="zh-CN" sz="1450"/>
              </a:p>
            </p:txBody>
          </p:sp>
          <p:sp>
            <p:nvSpPr>
              <p:cNvPr id="211" name="decision-197"/>
              <p:cNvSpPr txBox="1"/>
              <p:nvPr/>
            </p:nvSpPr>
            <p:spPr>
              <a:xfrm>
                <a:off x="13112496" y="7232904"/>
                <a:ext cx="274320" cy="274320"/>
              </a:xfrm>
              <a:prstGeom prst="rect">
                <a:avLst/>
              </a:prstGeom>
              <a:noFill/>
              <a:ln>
                <a:noFill/>
              </a:ln>
            </p:spPr>
            <p:txBody>
              <a:bodyPr wrap="none" lIns="0" tIns="0" rIns="0" bIns="0" anchor="ctr">
                <a:noAutofit/>
              </a:bodyPr>
              <a:lstStyle/>
              <a:p>
                <a:pPr algn="ctr"/>
                <a:r>
                  <a:rPr lang="zh-CN" sz="1450" b="1">
                    <a:solidFill>
                      <a:srgbClr val="6A55A3"/>
                    </a:solidFill>
                    <a:latin typeface="Times New Roman"/>
                    <a:ea typeface="Times New Roman"/>
                    <a:cs typeface="Avenir Next"/>
                  </a:rPr>
                  <a:t>A</a:t>
                </a:r>
                <a:endParaRPr lang="zh-CN" sz="1450"/>
              </a:p>
            </p:txBody>
          </p:sp>
          <p:sp>
            <p:nvSpPr>
              <p:cNvPr id="212" name="decision-202"/>
              <p:cNvSpPr txBox="1"/>
              <p:nvPr/>
            </p:nvSpPr>
            <p:spPr>
              <a:xfrm>
                <a:off x="13112496" y="8805672"/>
                <a:ext cx="274320" cy="274320"/>
              </a:xfrm>
              <a:prstGeom prst="rect">
                <a:avLst/>
              </a:prstGeom>
              <a:noFill/>
              <a:ln>
                <a:noFill/>
              </a:ln>
            </p:spPr>
            <p:txBody>
              <a:bodyPr wrap="none" lIns="0" tIns="0" rIns="0" bIns="0" anchor="ctr">
                <a:noAutofit/>
              </a:bodyPr>
              <a:lstStyle/>
              <a:p>
                <a:pPr algn="ctr"/>
                <a:r>
                  <a:rPr lang="zh-CN" sz="1450" b="1">
                    <a:solidFill>
                      <a:srgbClr val="6A55A3"/>
                    </a:solidFill>
                    <a:latin typeface="Times New Roman"/>
                    <a:ea typeface="Times New Roman"/>
                    <a:cs typeface="Avenir Next"/>
                  </a:rPr>
                  <a:t>B</a:t>
                </a:r>
                <a:endParaRPr lang="zh-CN" sz="1450"/>
              </a:p>
            </p:txBody>
          </p:sp>
          <p:sp>
            <p:nvSpPr>
              <p:cNvPr id="213" name="decision-208"/>
              <p:cNvSpPr txBox="1"/>
              <p:nvPr/>
            </p:nvSpPr>
            <p:spPr>
              <a:xfrm>
                <a:off x="14886432" y="7863840"/>
                <a:ext cx="1060704" cy="585216"/>
              </a:xfrm>
              <a:prstGeom prst="rect">
                <a:avLst/>
              </a:prstGeom>
              <a:noFill/>
              <a:ln>
                <a:noFill/>
              </a:ln>
            </p:spPr>
            <p:txBody>
              <a:bodyPr wrap="none" lIns="0" tIns="0" rIns="0" bIns="0" anchor="ctr">
                <a:noAutofit/>
              </a:bodyPr>
              <a:lstStyle/>
              <a:p>
                <a:pPr algn="ctr"/>
                <a:r>
                  <a:rPr lang="zh-CN" sz="1450">
                    <a:solidFill>
                      <a:srgbClr val="68528D"/>
                    </a:solidFill>
                    <a:latin typeface="Times New Roman"/>
                    <a:ea typeface="Times New Roman"/>
                    <a:cs typeface="Avenir Next Medium"/>
                  </a:rPr>
                  <a:t>Select /</a:t>
                </a:r>
                <a:endParaRPr lang="zh-CN" sz="1450"/>
              </a:p>
              <a:p>
                <a:pPr algn="ctr"/>
                <a:r>
                  <a:rPr lang="zh-CN" sz="1450">
                    <a:solidFill>
                      <a:srgbClr val="68528D"/>
                    </a:solidFill>
                    <a:latin typeface="Times New Roman"/>
                    <a:ea typeface="Times New Roman"/>
                    <a:cs typeface="Avenir Next Medium"/>
                  </a:rPr>
                  <a:t>check risk</a:t>
                </a:r>
                <a:endParaRPr lang="zh-CN" sz="1450"/>
              </a:p>
            </p:txBody>
          </p:sp>
          <p:sp>
            <p:nvSpPr>
              <p:cNvPr id="214" name="decision-210"/>
              <p:cNvSpPr txBox="1"/>
              <p:nvPr/>
            </p:nvSpPr>
            <p:spPr>
              <a:xfrm>
                <a:off x="14740128" y="8814816"/>
                <a:ext cx="621792" cy="182880"/>
              </a:xfrm>
              <a:prstGeom prst="rect">
                <a:avLst/>
              </a:prstGeom>
              <a:noFill/>
              <a:ln>
                <a:noFill/>
              </a:ln>
            </p:spPr>
            <p:txBody>
              <a:bodyPr wrap="none" lIns="0" tIns="0" rIns="0" bIns="0" anchor="ctr">
                <a:noAutofit/>
              </a:bodyPr>
              <a:lstStyle/>
              <a:p>
                <a:pPr algn="r"/>
                <a:r>
                  <a:rPr lang="zh-CN" sz="1350" i="1">
                    <a:solidFill>
                      <a:srgbClr val="576675"/>
                    </a:solidFill>
                    <a:latin typeface="Times New Roman"/>
                    <a:ea typeface="Times New Roman"/>
                    <a:cs typeface="Avenir Next"/>
                  </a:rPr>
                  <a:t>Action</a:t>
                </a:r>
                <a:endParaRPr lang="zh-CN" sz="1350"/>
              </a:p>
            </p:txBody>
          </p:sp>
          <p:sp>
            <p:nvSpPr>
              <p:cNvPr id="215" name="decision-212"/>
              <p:cNvSpPr txBox="1"/>
              <p:nvPr/>
            </p:nvSpPr>
            <p:spPr>
              <a:xfrm>
                <a:off x="14831568" y="9418320"/>
                <a:ext cx="1170432"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Simulator</a:t>
                </a:r>
                <a:endParaRPr lang="zh-CN" sz="1550"/>
              </a:p>
            </p:txBody>
          </p:sp>
          <p:sp>
            <p:nvSpPr>
              <p:cNvPr id="216" name="decision-214"/>
              <p:cNvSpPr txBox="1"/>
              <p:nvPr/>
            </p:nvSpPr>
            <p:spPr>
              <a:xfrm>
                <a:off x="11356848" y="9784080"/>
                <a:ext cx="1828800" cy="182880"/>
              </a:xfrm>
              <a:prstGeom prst="rect">
                <a:avLst/>
              </a:prstGeom>
              <a:noFill/>
              <a:ln>
                <a:noFill/>
              </a:ln>
            </p:spPr>
            <p:txBody>
              <a:bodyPr wrap="none" lIns="0" tIns="0" rIns="0" bIns="0" anchor="ctr">
                <a:noAutofit/>
              </a:bodyPr>
              <a:lstStyle/>
              <a:p>
                <a:pPr algn="ctr"/>
                <a:r>
                  <a:rPr lang="zh-CN" sz="1350" i="1">
                    <a:solidFill>
                      <a:srgbClr val="6A55A3"/>
                    </a:solidFill>
                    <a:latin typeface="Times New Roman"/>
                    <a:ea typeface="Times New Roman"/>
                    <a:cs typeface="Avenir Next"/>
                  </a:rPr>
                  <a:t>Observed outcome</a:t>
                </a:r>
                <a:endParaRPr lang="zh-CN" sz="1350"/>
              </a:p>
            </p:txBody>
          </p:sp>
          <p:grpSp>
            <p:nvGrpSpPr>
              <p:cNvPr id="10248" name="database editable icon"/>
              <p:cNvGrpSpPr/>
              <p:nvPr/>
            </p:nvGrpSpPr>
            <p:grpSpPr>
              <a:xfrm>
                <a:off x="10087737" y="7563993"/>
                <a:ext cx="323850" cy="323850"/>
                <a:chOff x="10087737" y="7563993"/>
                <a:chExt cx="323850" cy="323850"/>
              </a:xfrm>
            </p:grpSpPr>
            <p:sp>
              <p:nvSpPr>
                <p:cNvPr id="10245" name="database-0"/>
                <p:cNvSpPr/>
                <p:nvPr/>
              </p:nvSpPr>
              <p:spPr>
                <a:xfrm>
                  <a:off x="10128218" y="7590980"/>
                  <a:ext cx="242888" cy="80962"/>
                </a:xfrm>
                <a:prstGeom prst="ellipse">
                  <a:avLst/>
                </a:prstGeom>
                <a:noFill/>
                <a:ln w="20241" cap="rnd">
                  <a:solidFill>
                    <a:srgbClr val="68528D"/>
                  </a:solidFill>
                </a:ln>
              </p:spPr>
            </p:sp>
            <p:sp>
              <p:nvSpPr>
                <p:cNvPr id="10246" name="database-1"/>
                <p:cNvSpPr/>
                <p:nvPr/>
              </p:nvSpPr>
              <p:spPr>
                <a:xfrm>
                  <a:off x="10087737" y="7563993"/>
                  <a:ext cx="323850" cy="323850"/>
                </a:xfrm>
                <a:custGeom>
                  <a:avLst/>
                  <a:gdLst/>
                  <a:ahLst/>
                  <a:cxnLst/>
                  <a:rect l="l" t="t" r="r" b="b"/>
                  <a:pathLst>
                    <a:path w="24000" h="24000" fill="none">
                      <a:moveTo>
                        <a:pt x="3000" y="5000"/>
                      </a:moveTo>
                      <a:lnTo>
                        <a:pt x="3000" y="19000"/>
                      </a:lnTo>
                      <a:cubicBezTo>
                        <a:pt x="3000" y="20657"/>
                        <a:pt x="7029" y="22000"/>
                        <a:pt x="12000" y="22000"/>
                      </a:cubicBezTo>
                      <a:cubicBezTo>
                        <a:pt x="16971" y="22000"/>
                        <a:pt x="21000" y="20657"/>
                        <a:pt x="21000" y="19000"/>
                      </a:cubicBezTo>
                      <a:lnTo>
                        <a:pt x="21000" y="5000"/>
                      </a:lnTo>
                    </a:path>
                  </a:pathLst>
                </a:custGeom>
                <a:noFill/>
                <a:ln w="20241" cap="rnd">
                  <a:solidFill>
                    <a:srgbClr val="68528D"/>
                  </a:solidFill>
                </a:ln>
              </p:spPr>
            </p:sp>
            <p:sp>
              <p:nvSpPr>
                <p:cNvPr id="10247" name="database-2"/>
                <p:cNvSpPr/>
                <p:nvPr/>
              </p:nvSpPr>
              <p:spPr>
                <a:xfrm>
                  <a:off x="10087737" y="7563993"/>
                  <a:ext cx="323850" cy="323850"/>
                </a:xfrm>
                <a:custGeom>
                  <a:avLst/>
                  <a:gdLst/>
                  <a:ahLst/>
                  <a:cxnLst/>
                  <a:rect l="l" t="t" r="r" b="b"/>
                  <a:pathLst>
                    <a:path w="24000" h="24000" fill="none">
                      <a:moveTo>
                        <a:pt x="3000" y="12000"/>
                      </a:moveTo>
                      <a:cubicBezTo>
                        <a:pt x="3000" y="13657"/>
                        <a:pt x="7029" y="15000"/>
                        <a:pt x="12000" y="15000"/>
                      </a:cubicBezTo>
                      <a:cubicBezTo>
                        <a:pt x="16971" y="15000"/>
                        <a:pt x="21000" y="13657"/>
                        <a:pt x="21000" y="12000"/>
                      </a:cubicBezTo>
                    </a:path>
                  </a:pathLst>
                </a:custGeom>
                <a:noFill/>
                <a:ln w="20241" cap="rnd">
                  <a:solidFill>
                    <a:srgbClr val="68528D"/>
                  </a:solidFill>
                </a:ln>
              </p:spPr>
            </p:sp>
          </p:grpSp>
          <p:grpSp>
            <p:nvGrpSpPr>
              <p:cNvPr id="10252" name="git-branch editable icon"/>
              <p:cNvGrpSpPr/>
              <p:nvPr/>
            </p:nvGrpSpPr>
            <p:grpSpPr>
              <a:xfrm>
                <a:off x="11386185" y="7563993"/>
                <a:ext cx="323850" cy="323850"/>
                <a:chOff x="11386185" y="7563993"/>
                <a:chExt cx="323850" cy="323850"/>
              </a:xfrm>
            </p:grpSpPr>
            <p:sp>
              <p:nvSpPr>
                <p:cNvPr id="10249" name="git-branch-0"/>
                <p:cNvSpPr/>
                <p:nvPr/>
              </p:nvSpPr>
              <p:spPr>
                <a:xfrm>
                  <a:off x="11386185" y="7563993"/>
                  <a:ext cx="323850" cy="323850"/>
                </a:xfrm>
                <a:custGeom>
                  <a:avLst/>
                  <a:gdLst/>
                  <a:ahLst/>
                  <a:cxnLst/>
                  <a:rect l="l" t="t" r="r" b="b"/>
                  <a:pathLst>
                    <a:path w="24000" h="24000" fill="none">
                      <a:moveTo>
                        <a:pt x="15000" y="6000"/>
                      </a:moveTo>
                      <a:cubicBezTo>
                        <a:pt x="10029" y="6000"/>
                        <a:pt x="6000" y="10029"/>
                        <a:pt x="6000" y="15000"/>
                      </a:cubicBezTo>
                      <a:lnTo>
                        <a:pt x="6000" y="3000"/>
                      </a:lnTo>
                    </a:path>
                  </a:pathLst>
                </a:custGeom>
                <a:noFill/>
                <a:ln w="20241" cap="rnd">
                  <a:solidFill>
                    <a:srgbClr val="68528D"/>
                  </a:solidFill>
                </a:ln>
              </p:spPr>
            </p:sp>
            <p:sp>
              <p:nvSpPr>
                <p:cNvPr id="10250" name="git-branch-1"/>
                <p:cNvSpPr/>
                <p:nvPr/>
              </p:nvSpPr>
              <p:spPr>
                <a:xfrm>
                  <a:off x="11588591" y="7604474"/>
                  <a:ext cx="80962" cy="80962"/>
                </a:xfrm>
                <a:prstGeom prst="ellipse">
                  <a:avLst/>
                </a:prstGeom>
                <a:noFill/>
                <a:ln w="20241" cap="rnd">
                  <a:solidFill>
                    <a:srgbClr val="68528D"/>
                  </a:solidFill>
                </a:ln>
              </p:spPr>
            </p:sp>
            <p:sp>
              <p:nvSpPr>
                <p:cNvPr id="10251" name="git-branch-2"/>
                <p:cNvSpPr/>
                <p:nvPr/>
              </p:nvSpPr>
              <p:spPr>
                <a:xfrm>
                  <a:off x="11426666" y="7766399"/>
                  <a:ext cx="80962" cy="80962"/>
                </a:xfrm>
                <a:prstGeom prst="ellipse">
                  <a:avLst/>
                </a:prstGeom>
                <a:noFill/>
                <a:ln w="20241" cap="rnd">
                  <a:solidFill>
                    <a:srgbClr val="68528D"/>
                  </a:solidFill>
                </a:ln>
              </p:spPr>
            </p:sp>
          </p:grpSp>
          <p:grpSp>
            <p:nvGrpSpPr>
              <p:cNvPr id="10255" name="shield-check editable icon"/>
              <p:cNvGrpSpPr/>
              <p:nvPr/>
            </p:nvGrpSpPr>
            <p:grpSpPr>
              <a:xfrm>
                <a:off x="14934057" y="7454265"/>
                <a:ext cx="323850" cy="323850"/>
                <a:chOff x="14934057" y="7454265"/>
                <a:chExt cx="323850" cy="323850"/>
              </a:xfrm>
            </p:grpSpPr>
            <p:sp>
              <p:nvSpPr>
                <p:cNvPr id="10253" name="shield-check-0"/>
                <p:cNvSpPr/>
                <p:nvPr/>
              </p:nvSpPr>
              <p:spPr>
                <a:xfrm>
                  <a:off x="14934057" y="7454265"/>
                  <a:ext cx="323850" cy="323850"/>
                </a:xfrm>
                <a:custGeom>
                  <a:avLst/>
                  <a:gdLst/>
                  <a:ahLst/>
                  <a:cxnLst/>
                  <a:rect l="l" t="t" r="r" b="b"/>
                  <a:pathLst>
                    <a:path w="24000" h="24000" fill="none">
                      <a:moveTo>
                        <a:pt x="20000" y="13000"/>
                      </a:moveTo>
                      <a:cubicBezTo>
                        <a:pt x="20000" y="18000"/>
                        <a:pt x="16500" y="20500"/>
                        <a:pt x="12340" y="21950"/>
                      </a:cubicBezTo>
                      <a:cubicBezTo>
                        <a:pt x="12122" y="22024"/>
                        <a:pt x="11886" y="22020"/>
                        <a:pt x="11670" y="21940"/>
                      </a:cubicBezTo>
                      <a:cubicBezTo>
                        <a:pt x="7500" y="20500"/>
                        <a:pt x="4000" y="18000"/>
                        <a:pt x="4000" y="13000"/>
                      </a:cubicBezTo>
                      <a:lnTo>
                        <a:pt x="4000" y="6000"/>
                      </a:lnTo>
                      <a:cubicBezTo>
                        <a:pt x="4000" y="5448"/>
                        <a:pt x="4448" y="5000"/>
                        <a:pt x="5000" y="5000"/>
                      </a:cubicBezTo>
                      <a:cubicBezTo>
                        <a:pt x="7000" y="5000"/>
                        <a:pt x="9500" y="3800"/>
                        <a:pt x="11240" y="2280"/>
                      </a:cubicBezTo>
                      <a:cubicBezTo>
                        <a:pt x="11678" y="1906"/>
                        <a:pt x="12322" y="1906"/>
                        <a:pt x="12760" y="2280"/>
                      </a:cubicBezTo>
                      <a:cubicBezTo>
                        <a:pt x="14510" y="3810"/>
                        <a:pt x="17000" y="5000"/>
                        <a:pt x="19000" y="5000"/>
                      </a:cubicBezTo>
                      <a:cubicBezTo>
                        <a:pt x="19552" y="5000"/>
                        <a:pt x="20000" y="5448"/>
                        <a:pt x="20000" y="6000"/>
                      </a:cubicBezTo>
                      <a:lnTo>
                        <a:pt x="20000" y="13000"/>
                      </a:lnTo>
                      <a:close/>
                    </a:path>
                  </a:pathLst>
                </a:custGeom>
                <a:noFill/>
                <a:ln w="20241" cap="rnd">
                  <a:solidFill>
                    <a:srgbClr val="68528D"/>
                  </a:solidFill>
                </a:ln>
              </p:spPr>
            </p:sp>
            <p:sp>
              <p:nvSpPr>
                <p:cNvPr id="10254" name="shield-check-1"/>
                <p:cNvSpPr/>
                <p:nvPr/>
              </p:nvSpPr>
              <p:spPr>
                <a:xfrm>
                  <a:off x="14934057" y="7454265"/>
                  <a:ext cx="323850" cy="323850"/>
                </a:xfrm>
                <a:custGeom>
                  <a:avLst/>
                  <a:gdLst/>
                  <a:ahLst/>
                  <a:cxnLst/>
                  <a:rect l="l" t="t" r="r" b="b"/>
                  <a:pathLst>
                    <a:path w="24000" h="24000" fill="none">
                      <a:moveTo>
                        <a:pt x="9000" y="12000"/>
                      </a:moveTo>
                      <a:lnTo>
                        <a:pt x="11000" y="14000"/>
                      </a:lnTo>
                      <a:lnTo>
                        <a:pt x="15000" y="10000"/>
                      </a:lnTo>
                    </a:path>
                  </a:pathLst>
                </a:custGeom>
                <a:noFill/>
                <a:ln w="20241" cap="rnd">
                  <a:solidFill>
                    <a:srgbClr val="68528D"/>
                  </a:solidFill>
                </a:ln>
              </p:spPr>
            </p:sp>
          </p:grpSp>
        </p:grpSp>
      </p:grpSp>
    </p:spTree>
  </p:cSld>
  <p:clrMapOvr>
    <a:masterClrMapping/>
  </p:clrMapOvr>
</p:sld>
</file>

<file path=ppt/theme/theme1.xml><?xml version="1.0" encoding="utf-8"?>
<a:theme xmlns:a="http://schemas.openxmlformats.org/drawingml/2006/main" name="ImageToEditablePPT">
  <a:themeElements>
    <a:clrScheme name="Office">
      <a:dk1>
        <a:sysClr val="windowText" lastClr="000000"/>
      </a:dk1>
      <a:lt1>
        <a:sysClr val="window" lastClr="FFFFFF"/>
      </a:lt1>
      <a:dk2>
        <a:srgbClr val="1F1F1F"/>
      </a:dk2>
      <a:lt2>
        <a:srgbClr val="F8F8F8"/>
      </a:lt2>
      <a:accent1>
        <a:srgbClr val="0F766E"/>
      </a:accent1>
      <a:accent2>
        <a:srgbClr val="E66B00"/>
      </a:accent2>
      <a:accent3>
        <a:srgbClr val="F6D365"/>
      </a:accent3>
      <a:accent4>
        <a:srgbClr val="57C4B8"/>
      </a:accent4>
      <a:accent5>
        <a:srgbClr val="666666"/>
      </a:accent5>
      <a:accent6>
        <a:srgbClr val="111111"/>
      </a:accent6>
      <a:hlink>
        <a:srgbClr val="0563C1"/>
      </a:hlink>
      <a:folHlink>
        <a:srgbClr val="954F72"/>
      </a:folHlink>
    </a:clrScheme>
    <a:fontScheme name="PingFang">
      <a:majorFont>
        <a:latin typeface="PingFang SC"/>
        <a:ea typeface="PingFang SC"/>
        <a:cs typeface="PingFang SC"/>
      </a:majorFont>
      <a:minorFont>
        <a:latin typeface="PingFang SC"/>
        <a:ea typeface="PingFang SC"/>
        <a:cs typeface="PingFang SC"/>
      </a:minorFont>
    </a:fontScheme>
    <a:fmtScheme name="Office">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1203</Words>
  <Application>Microsoft Macintosh PowerPoint</Application>
  <PresentationFormat>自定义</PresentationFormat>
  <Paragraphs>139</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Arial</vt:lpstr>
      <vt:lpstr>Avenir Next</vt:lpstr>
      <vt:lpstr>Avenir Next Medium</vt:lpstr>
      <vt:lpstr>Georgia</vt:lpstr>
      <vt:lpstr>ImageToEditablePPT</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to editable PPT</dc:title>
  <cp:lastModifiedBy>Jiaming Ma</cp:lastModifiedBy>
  <cp:revision>1</cp:revision>
  <dcterms:modified xsi:type="dcterms:W3CDTF">2026-10-20T02:35:48Z</dcterms:modified>
</cp:coreProperties>
</file>