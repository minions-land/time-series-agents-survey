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1430000" cy="676275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69" name="Five General Harness functions"/>
          <p:cNvGrpSpPr/>
          <p:nvPr/>
        </p:nvGrpSpPr>
        <p:grpSpPr>
          <a:xfrm>
            <a:off x="190500" y="171450"/>
            <a:ext cx="10906125" cy="6410325"/>
            <a:chOff x="190500" y="171450"/>
            <a:chExt cx="10906125" cy="6410325"/>
          </a:xfrm>
        </p:grpSpPr>
        <p:grpSp>
          <p:nvGrpSpPr>
            <p:cNvPr id="10113" name="workflow editable icon"/>
            <p:cNvGrpSpPr/>
            <p:nvPr/>
          </p:nvGrpSpPr>
          <p:grpSpPr>
            <a:xfrm>
              <a:off x="5143500" y="171450"/>
              <a:ext cx="666750" cy="666750"/>
              <a:chOff x="5143500" y="171450"/>
              <a:chExt cx="666750" cy="666750"/>
            </a:xfrm>
          </p:grpSpPr>
          <p:sp>
            <p:nvSpPr>
              <p:cNvPr id="10110" name="workflow-0"/>
              <p:cNvSpPr/>
              <p:nvPr/>
            </p:nvSpPr>
            <p:spPr>
              <a:xfrm>
                <a:off x="5226844" y="254794"/>
                <a:ext cx="222250" cy="222250"/>
              </a:xfrm>
              <a:prstGeom prst="roundRect">
                <a:avLst/>
              </a:prstGeom>
              <a:noFill/>
              <a:ln w="41672" cap="rnd">
                <a:solidFill>
                  <a:srgbClr val="68528D"/>
                </a:solidFill>
              </a:ln>
            </p:spPr>
          </p:sp>
          <p:sp>
            <p:nvSpPr>
              <p:cNvPr id="10111" name="workflow-1"/>
              <p:cNvSpPr/>
              <p:nvPr/>
            </p:nvSpPr>
            <p:spPr>
              <a:xfrm>
                <a:off x="5143500" y="171450"/>
                <a:ext cx="666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7000" y="11000"/>
                    </a:moveTo>
                    <a:lnTo>
                      <a:pt x="7000" y="15000"/>
                    </a:lnTo>
                    <a:cubicBezTo>
                      <a:pt x="7000" y="16105"/>
                      <a:pt x="7895" y="17000"/>
                      <a:pt x="9000" y="17000"/>
                    </a:cubicBezTo>
                    <a:lnTo>
                      <a:pt x="13000" y="17000"/>
                    </a:lnTo>
                  </a:path>
                </a:pathLst>
              </a:custGeom>
              <a:noFill/>
              <a:ln w="41672" cap="rnd">
                <a:solidFill>
                  <a:srgbClr val="68528D"/>
                </a:solidFill>
              </a:ln>
            </p:spPr>
          </p:sp>
          <p:sp>
            <p:nvSpPr>
              <p:cNvPr id="10112" name="workflow-2"/>
              <p:cNvSpPr/>
              <p:nvPr/>
            </p:nvSpPr>
            <p:spPr>
              <a:xfrm>
                <a:off x="5504656" y="532606"/>
                <a:ext cx="222250" cy="222250"/>
              </a:xfrm>
              <a:prstGeom prst="roundRect">
                <a:avLst/>
              </a:prstGeom>
              <a:noFill/>
              <a:ln w="41672" cap="rnd">
                <a:solidFill>
                  <a:srgbClr val="68528D"/>
                </a:solidFill>
              </a:ln>
            </p:spPr>
          </p:sp>
        </p:grpSp>
        <p:sp>
          <p:nvSpPr>
            <p:cNvPr id="10114" name="Planning &amp; Orchestration"/>
            <p:cNvSpPr/>
            <p:nvPr/>
          </p:nvSpPr>
          <p:spPr>
            <a:xfrm>
              <a:off x="4191000" y="904875"/>
              <a:ext cx="2667000" cy="3429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800" b="1">
                  <a:solidFill>
                    <a:srgbClr val="68528D"/>
                  </a:solidFill>
                  <a:latin typeface="Times New Roman"/>
                  <a:ea typeface="Times New Roman"/>
                </a:rPr>
                <a:t>Planning &amp; Orchestration</a:t>
              </a:r>
            </a:p>
          </p:txBody>
        </p:sp>
        <p:sp>
          <p:nvSpPr>
            <p:cNvPr id="10115" name="Dependencies and handoffs"/>
            <p:cNvSpPr/>
            <p:nvPr/>
          </p:nvSpPr>
          <p:spPr>
            <a:xfrm>
              <a:off x="4191000" y="1266825"/>
              <a:ext cx="2667000" cy="3048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75" b="0">
                  <a:solidFill>
                    <a:srgbClr val="25465E"/>
                  </a:solidFill>
                  <a:latin typeface="Times New Roman"/>
                  <a:ea typeface="Times New Roman"/>
                </a:rPr>
                <a:t>Dependencies and handoffs</a:t>
              </a:r>
            </a:p>
          </p:txBody>
        </p:sp>
        <p:grpSp>
          <p:nvGrpSpPr>
            <p:cNvPr id="10118" name="messages-square editable icon"/>
            <p:cNvGrpSpPr/>
            <p:nvPr/>
          </p:nvGrpSpPr>
          <p:grpSpPr>
            <a:xfrm>
              <a:off x="1143000" y="2076450"/>
              <a:ext cx="666750" cy="666750"/>
              <a:chOff x="1143000" y="2076450"/>
              <a:chExt cx="666750" cy="666750"/>
            </a:xfrm>
          </p:grpSpPr>
          <p:sp>
            <p:nvSpPr>
              <p:cNvPr id="10116" name="messages-square-0"/>
              <p:cNvSpPr/>
              <p:nvPr/>
            </p:nvSpPr>
            <p:spPr>
              <a:xfrm>
                <a:off x="1143000" y="2076450"/>
                <a:ext cx="666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6000" y="10000"/>
                    </a:moveTo>
                    <a:cubicBezTo>
                      <a:pt x="16000" y="11105"/>
                      <a:pt x="15105" y="12000"/>
                      <a:pt x="14000" y="12000"/>
                    </a:cubicBezTo>
                    <a:lnTo>
                      <a:pt x="6828" y="12000"/>
                    </a:lnTo>
                    <a:cubicBezTo>
                      <a:pt x="6298" y="12000"/>
                      <a:pt x="5789" y="12211"/>
                      <a:pt x="5414" y="12586"/>
                    </a:cubicBezTo>
                    <a:lnTo>
                      <a:pt x="3212" y="14788"/>
                    </a:lnTo>
                    <a:cubicBezTo>
                      <a:pt x="3009" y="14991"/>
                      <a:pt x="2704" y="15052"/>
                      <a:pt x="2438" y="14942"/>
                    </a:cubicBezTo>
                    <a:cubicBezTo>
                      <a:pt x="2173" y="14832"/>
                      <a:pt x="2000" y="14573"/>
                      <a:pt x="2000" y="14286"/>
                    </a:cubicBezTo>
                    <a:lnTo>
                      <a:pt x="2000" y="4000"/>
                    </a:lnTo>
                    <a:cubicBezTo>
                      <a:pt x="2000" y="2895"/>
                      <a:pt x="2895" y="2000"/>
                      <a:pt x="4000" y="2000"/>
                    </a:cubicBezTo>
                    <a:lnTo>
                      <a:pt x="14000" y="2000"/>
                    </a:lnTo>
                    <a:cubicBezTo>
                      <a:pt x="15105" y="2000"/>
                      <a:pt x="16000" y="2895"/>
                      <a:pt x="16000" y="4000"/>
                    </a:cubicBezTo>
                    <a:lnTo>
                      <a:pt x="16000" y="10000"/>
                    </a:lnTo>
                    <a:close/>
                  </a:path>
                </a:pathLst>
              </a:custGeom>
              <a:noFill/>
              <a:ln w="41672" cap="rnd">
                <a:solidFill>
                  <a:srgbClr val="3376A0"/>
                </a:solidFill>
              </a:ln>
            </p:spPr>
          </p:sp>
          <p:sp>
            <p:nvSpPr>
              <p:cNvPr id="10117" name="messages-square-1"/>
              <p:cNvSpPr/>
              <p:nvPr/>
            </p:nvSpPr>
            <p:spPr>
              <a:xfrm>
                <a:off x="1143000" y="2076450"/>
                <a:ext cx="666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0000" y="9000"/>
                    </a:moveTo>
                    <a:cubicBezTo>
                      <a:pt x="21105" y="9000"/>
                      <a:pt x="22000" y="9895"/>
                      <a:pt x="22000" y="11000"/>
                    </a:cubicBezTo>
                    <a:lnTo>
                      <a:pt x="22000" y="21286"/>
                    </a:lnTo>
                    <a:cubicBezTo>
                      <a:pt x="22000" y="21573"/>
                      <a:pt x="21827" y="21832"/>
                      <a:pt x="21562" y="21942"/>
                    </a:cubicBezTo>
                    <a:cubicBezTo>
                      <a:pt x="21296" y="22052"/>
                      <a:pt x="20991" y="21991"/>
                      <a:pt x="20788" y="21788"/>
                    </a:cubicBezTo>
                    <a:lnTo>
                      <a:pt x="18586" y="19586"/>
                    </a:lnTo>
                    <a:cubicBezTo>
                      <a:pt x="18211" y="19211"/>
                      <a:pt x="17702" y="19000"/>
                      <a:pt x="17172" y="19000"/>
                    </a:cubicBezTo>
                    <a:lnTo>
                      <a:pt x="10000" y="19000"/>
                    </a:lnTo>
                    <a:cubicBezTo>
                      <a:pt x="8895" y="19000"/>
                      <a:pt x="8000" y="18105"/>
                      <a:pt x="8000" y="17000"/>
                    </a:cubicBezTo>
                    <a:lnTo>
                      <a:pt x="8000" y="16000"/>
                    </a:lnTo>
                  </a:path>
                </a:pathLst>
              </a:custGeom>
              <a:noFill/>
              <a:ln w="41672" cap="rnd">
                <a:solidFill>
                  <a:srgbClr val="3376A0"/>
                </a:solidFill>
              </a:ln>
            </p:spPr>
          </p:sp>
        </p:grpSp>
        <p:sp>
          <p:nvSpPr>
            <p:cNvPr id="10119" name="Interface &amp; Interaction"/>
            <p:cNvSpPr/>
            <p:nvPr/>
          </p:nvSpPr>
          <p:spPr>
            <a:xfrm>
              <a:off x="190500" y="2809875"/>
              <a:ext cx="2667000" cy="3429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800" b="1">
                  <a:solidFill>
                    <a:srgbClr val="3376A0"/>
                  </a:solidFill>
                  <a:latin typeface="Times New Roman"/>
                  <a:ea typeface="Times New Roman"/>
                </a:rPr>
                <a:t>Interface &amp; Interaction</a:t>
              </a:r>
            </a:p>
          </p:txBody>
        </p:sp>
        <p:sp>
          <p:nvSpPr>
            <p:cNvPr id="10120" name="Observations and actions"/>
            <p:cNvSpPr/>
            <p:nvPr/>
          </p:nvSpPr>
          <p:spPr>
            <a:xfrm>
              <a:off x="190500" y="3171825"/>
              <a:ext cx="2667000" cy="3048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75" b="0">
                  <a:solidFill>
                    <a:srgbClr val="25465E"/>
                  </a:solidFill>
                  <a:latin typeface="Times New Roman"/>
                  <a:ea typeface="Times New Roman"/>
                </a:rPr>
                <a:t>Observations and actions</a:t>
              </a:r>
            </a:p>
          </p:txBody>
        </p:sp>
        <p:grpSp>
          <p:nvGrpSpPr>
            <p:cNvPr id="10122" name="wrench editable icon"/>
            <p:cNvGrpSpPr/>
            <p:nvPr/>
          </p:nvGrpSpPr>
          <p:grpSpPr>
            <a:xfrm>
              <a:off x="9144000" y="2076450"/>
              <a:ext cx="666750" cy="666750"/>
              <a:chOff x="9144000" y="2076450"/>
              <a:chExt cx="666750" cy="666750"/>
            </a:xfrm>
          </p:grpSpPr>
          <p:sp>
            <p:nvSpPr>
              <p:cNvPr id="10121" name="wrench-0"/>
              <p:cNvSpPr/>
              <p:nvPr/>
            </p:nvSpPr>
            <p:spPr>
              <a:xfrm>
                <a:off x="9144000" y="2076450"/>
                <a:ext cx="666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4700" y="6300"/>
                    </a:moveTo>
                    <a:cubicBezTo>
                      <a:pt x="14319" y="6689"/>
                      <a:pt x="14319" y="7311"/>
                      <a:pt x="14700" y="7700"/>
                    </a:cubicBezTo>
                    <a:lnTo>
                      <a:pt x="16300" y="9300"/>
                    </a:lnTo>
                    <a:cubicBezTo>
                      <a:pt x="16689" y="9681"/>
                      <a:pt x="17311" y="9681"/>
                      <a:pt x="17700" y="9300"/>
                    </a:cubicBezTo>
                    <a:lnTo>
                      <a:pt x="20806" y="6195"/>
                    </a:lnTo>
                    <a:cubicBezTo>
                      <a:pt x="21126" y="5873"/>
                      <a:pt x="21669" y="5975"/>
                      <a:pt x="21789" y="6413"/>
                    </a:cubicBezTo>
                    <a:cubicBezTo>
                      <a:pt x="22406" y="8656"/>
                      <a:pt x="21670" y="11054"/>
                      <a:pt x="19901" y="12565"/>
                    </a:cubicBezTo>
                    <a:cubicBezTo>
                      <a:pt x="18133" y="14077"/>
                      <a:pt x="15650" y="14429"/>
                      <a:pt x="13530" y="13470"/>
                    </a:cubicBezTo>
                    <a:lnTo>
                      <a:pt x="5620" y="21380"/>
                    </a:lnTo>
                    <a:cubicBezTo>
                      <a:pt x="4792" y="22208"/>
                      <a:pt x="3449" y="22208"/>
                      <a:pt x="2620" y="21380"/>
                    </a:cubicBezTo>
                    <a:cubicBezTo>
                      <a:pt x="1792" y="20551"/>
                      <a:pt x="1793" y="19208"/>
                      <a:pt x="2621" y="18380"/>
                    </a:cubicBezTo>
                    <a:lnTo>
                      <a:pt x="10531" y="10470"/>
                    </a:lnTo>
                    <a:cubicBezTo>
                      <a:pt x="9572" y="8350"/>
                      <a:pt x="9924" y="5867"/>
                      <a:pt x="11436" y="4099"/>
                    </a:cubicBezTo>
                    <a:cubicBezTo>
                      <a:pt x="12947" y="2330"/>
                      <a:pt x="15345" y="1594"/>
                      <a:pt x="17588" y="2211"/>
                    </a:cubicBezTo>
                    <a:cubicBezTo>
                      <a:pt x="18026" y="2331"/>
                      <a:pt x="18128" y="2873"/>
                      <a:pt x="17807" y="3195"/>
                    </a:cubicBezTo>
                    <a:lnTo>
                      <a:pt x="14700" y="6300"/>
                    </a:lnTo>
                    <a:close/>
                  </a:path>
                </a:pathLst>
              </a:custGeom>
              <a:noFill/>
              <a:ln w="41672" cap="rnd">
                <a:solidFill>
                  <a:srgbClr val="3376A0"/>
                </a:solidFill>
              </a:ln>
            </p:spPr>
          </p:sp>
        </p:grpSp>
        <p:sp>
          <p:nvSpPr>
            <p:cNvPr id="10123" name="Tools &amp; Execution"/>
            <p:cNvSpPr/>
            <p:nvPr/>
          </p:nvSpPr>
          <p:spPr>
            <a:xfrm>
              <a:off x="8191500" y="2809875"/>
              <a:ext cx="2667000" cy="3429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800" b="1">
                  <a:solidFill>
                    <a:srgbClr val="3376A0"/>
                  </a:solidFill>
                  <a:latin typeface="Times New Roman"/>
                  <a:ea typeface="Times New Roman"/>
                </a:rPr>
                <a:t>Tools &amp; Execution</a:t>
              </a:r>
            </a:p>
          </p:txBody>
        </p:sp>
        <p:sp>
          <p:nvSpPr>
            <p:cNvPr id="10124" name="Calls, artifacts and status"/>
            <p:cNvSpPr/>
            <p:nvPr/>
          </p:nvSpPr>
          <p:spPr>
            <a:xfrm>
              <a:off x="8191500" y="3171825"/>
              <a:ext cx="2667000" cy="3048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75" b="0">
                  <a:solidFill>
                    <a:srgbClr val="25465E"/>
                  </a:solidFill>
                  <a:latin typeface="Times New Roman"/>
                  <a:ea typeface="Times New Roman"/>
                </a:rPr>
                <a:t>Calls, artifacts and status</a:t>
              </a:r>
            </a:p>
          </p:txBody>
        </p:sp>
        <p:grpSp>
          <p:nvGrpSpPr>
            <p:cNvPr id="10128" name="database editable icon"/>
            <p:cNvGrpSpPr/>
            <p:nvPr/>
          </p:nvGrpSpPr>
          <p:grpSpPr>
            <a:xfrm>
              <a:off x="5143500" y="3838575"/>
              <a:ext cx="666750" cy="666750"/>
              <a:chOff x="5143500" y="3838575"/>
              <a:chExt cx="666750" cy="666750"/>
            </a:xfrm>
          </p:grpSpPr>
          <p:sp>
            <p:nvSpPr>
              <p:cNvPr id="10125" name="database-0"/>
              <p:cNvSpPr/>
              <p:nvPr/>
            </p:nvSpPr>
            <p:spPr>
              <a:xfrm>
                <a:off x="5226844" y="3894138"/>
                <a:ext cx="500062" cy="166688"/>
              </a:xfrm>
              <a:prstGeom prst="ellipse">
                <a:avLst/>
              </a:prstGeom>
              <a:noFill/>
              <a:ln w="41672" cap="rnd">
                <a:solidFill>
                  <a:srgbClr val="39846C"/>
                </a:solidFill>
              </a:ln>
            </p:spPr>
          </p:sp>
          <p:sp>
            <p:nvSpPr>
              <p:cNvPr id="10126" name="database-1"/>
              <p:cNvSpPr/>
              <p:nvPr/>
            </p:nvSpPr>
            <p:spPr>
              <a:xfrm>
                <a:off x="5143500" y="3838575"/>
                <a:ext cx="666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3000" y="5000"/>
                    </a:moveTo>
                    <a:lnTo>
                      <a:pt x="3000" y="19000"/>
                    </a:lnTo>
                    <a:cubicBezTo>
                      <a:pt x="3000" y="20657"/>
                      <a:pt x="7029" y="22000"/>
                      <a:pt x="12000" y="22000"/>
                    </a:cubicBezTo>
                    <a:cubicBezTo>
                      <a:pt x="16971" y="22000"/>
                      <a:pt x="21000" y="20657"/>
                      <a:pt x="21000" y="19000"/>
                    </a:cubicBezTo>
                    <a:lnTo>
                      <a:pt x="21000" y="5000"/>
                    </a:lnTo>
                  </a:path>
                </a:pathLst>
              </a:custGeom>
              <a:noFill/>
              <a:ln w="41672" cap="rnd">
                <a:solidFill>
                  <a:srgbClr val="39846C"/>
                </a:solidFill>
              </a:ln>
            </p:spPr>
          </p:sp>
          <p:sp>
            <p:nvSpPr>
              <p:cNvPr id="10127" name="database-2"/>
              <p:cNvSpPr/>
              <p:nvPr/>
            </p:nvSpPr>
            <p:spPr>
              <a:xfrm>
                <a:off x="5143500" y="3838575"/>
                <a:ext cx="666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3000" y="12000"/>
                    </a:moveTo>
                    <a:cubicBezTo>
                      <a:pt x="3000" y="13657"/>
                      <a:pt x="7029" y="15000"/>
                      <a:pt x="12000" y="15000"/>
                    </a:cubicBezTo>
                    <a:cubicBezTo>
                      <a:pt x="16971" y="15000"/>
                      <a:pt x="21000" y="13657"/>
                      <a:pt x="21000" y="12000"/>
                    </a:cubicBezTo>
                  </a:path>
                </a:pathLst>
              </a:custGeom>
              <a:noFill/>
              <a:ln w="41672" cap="rnd">
                <a:solidFill>
                  <a:srgbClr val="39846C"/>
                </a:solidFill>
              </a:ln>
            </p:spPr>
          </p:sp>
        </p:grpSp>
        <p:sp>
          <p:nvSpPr>
            <p:cNvPr id="10129" name="Memory &amp; Context"/>
            <p:cNvSpPr/>
            <p:nvPr/>
          </p:nvSpPr>
          <p:spPr>
            <a:xfrm>
              <a:off x="4191000" y="4572000"/>
              <a:ext cx="2667000" cy="3429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800" b="1">
                  <a:solidFill>
                    <a:srgbClr val="39846C"/>
                  </a:solidFill>
                  <a:latin typeface="Times New Roman"/>
                  <a:ea typeface="Times New Roman"/>
                </a:rPr>
                <a:t>Memory &amp; Context</a:t>
              </a:r>
            </a:p>
          </p:txBody>
        </p:sp>
        <p:sp>
          <p:nvSpPr>
            <p:cNvPr id="10130" name="Evidence and working state"/>
            <p:cNvSpPr/>
            <p:nvPr/>
          </p:nvSpPr>
          <p:spPr>
            <a:xfrm>
              <a:off x="4191000" y="4933950"/>
              <a:ext cx="2667000" cy="3048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75" b="0">
                  <a:solidFill>
                    <a:srgbClr val="25465E"/>
                  </a:solidFill>
                  <a:latin typeface="Times New Roman"/>
                  <a:ea typeface="Times New Roman"/>
                </a:rPr>
                <a:t>Evidence and working state</a:t>
              </a:r>
            </a:p>
          </p:txBody>
        </p:sp>
        <p:grpSp>
          <p:nvGrpSpPr>
            <p:cNvPr id="10137" name="bot editable icon"/>
            <p:cNvGrpSpPr/>
            <p:nvPr/>
          </p:nvGrpSpPr>
          <p:grpSpPr>
            <a:xfrm>
              <a:off x="5067300" y="2190750"/>
              <a:ext cx="838200" cy="838200"/>
              <a:chOff x="5067300" y="2190750"/>
              <a:chExt cx="838200" cy="838200"/>
            </a:xfrm>
          </p:grpSpPr>
          <p:sp>
            <p:nvSpPr>
              <p:cNvPr id="10131" name="bot-0"/>
              <p:cNvSpPr/>
              <p:nvPr/>
            </p:nvSpPr>
            <p:spPr>
              <a:xfrm>
                <a:off x="5067300" y="219075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2000" y="8000"/>
                    </a:moveTo>
                    <a:lnTo>
                      <a:pt x="12000" y="4000"/>
                    </a:lnTo>
                    <a:lnTo>
                      <a:pt x="8000" y="4000"/>
                    </a:lnTo>
                  </a:path>
                </a:pathLst>
              </a:custGeom>
              <a:noFill/>
              <a:ln w="52388" cap="rnd">
                <a:solidFill>
                  <a:srgbClr val="68528D"/>
                </a:solidFill>
              </a:ln>
            </p:spPr>
          </p:sp>
          <p:sp>
            <p:nvSpPr>
              <p:cNvPr id="10132" name="bot-1"/>
              <p:cNvSpPr/>
              <p:nvPr/>
            </p:nvSpPr>
            <p:spPr>
              <a:xfrm>
                <a:off x="5207000" y="2470150"/>
                <a:ext cx="558800" cy="419100"/>
              </a:xfrm>
              <a:prstGeom prst="roundRect">
                <a:avLst/>
              </a:prstGeom>
              <a:noFill/>
              <a:ln w="52388" cap="rnd">
                <a:solidFill>
                  <a:srgbClr val="68528D"/>
                </a:solidFill>
              </a:ln>
            </p:spPr>
          </p:sp>
          <p:sp>
            <p:nvSpPr>
              <p:cNvPr id="10133" name="bot-2"/>
              <p:cNvSpPr/>
              <p:nvPr/>
            </p:nvSpPr>
            <p:spPr>
              <a:xfrm>
                <a:off x="5067300" y="219075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000" y="14000"/>
                    </a:moveTo>
                    <a:lnTo>
                      <a:pt x="4000" y="14000"/>
                    </a:lnTo>
                  </a:path>
                </a:pathLst>
              </a:custGeom>
              <a:noFill/>
              <a:ln w="52388" cap="rnd">
                <a:solidFill>
                  <a:srgbClr val="68528D"/>
                </a:solidFill>
              </a:ln>
            </p:spPr>
          </p:sp>
          <p:sp>
            <p:nvSpPr>
              <p:cNvPr id="10134" name="bot-3"/>
              <p:cNvSpPr/>
              <p:nvPr/>
            </p:nvSpPr>
            <p:spPr>
              <a:xfrm>
                <a:off x="5067300" y="219075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0000" y="14000"/>
                    </a:moveTo>
                    <a:lnTo>
                      <a:pt x="22000" y="14000"/>
                    </a:lnTo>
                  </a:path>
                </a:pathLst>
              </a:custGeom>
              <a:noFill/>
              <a:ln w="52388" cap="rnd">
                <a:solidFill>
                  <a:srgbClr val="68528D"/>
                </a:solidFill>
              </a:ln>
            </p:spPr>
          </p:sp>
          <p:sp>
            <p:nvSpPr>
              <p:cNvPr id="10135" name="bot-4"/>
              <p:cNvSpPr/>
              <p:nvPr/>
            </p:nvSpPr>
            <p:spPr>
              <a:xfrm>
                <a:off x="5067300" y="219075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5000" y="13000"/>
                    </a:moveTo>
                    <a:lnTo>
                      <a:pt x="15000" y="15000"/>
                    </a:lnTo>
                  </a:path>
                </a:pathLst>
              </a:custGeom>
              <a:noFill/>
              <a:ln w="52388" cap="rnd">
                <a:solidFill>
                  <a:srgbClr val="68528D"/>
                </a:solidFill>
              </a:ln>
            </p:spPr>
          </p:sp>
          <p:sp>
            <p:nvSpPr>
              <p:cNvPr id="10136" name="bot-5"/>
              <p:cNvSpPr/>
              <p:nvPr/>
            </p:nvSpPr>
            <p:spPr>
              <a:xfrm>
                <a:off x="5067300" y="219075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9000" y="13000"/>
                    </a:moveTo>
                    <a:lnTo>
                      <a:pt x="9000" y="15000"/>
                    </a:lnTo>
                  </a:path>
                </a:pathLst>
              </a:custGeom>
              <a:noFill/>
              <a:ln w="52388" cap="rnd">
                <a:solidFill>
                  <a:srgbClr val="68528D"/>
                </a:solidFill>
              </a:ln>
            </p:spPr>
          </p:sp>
        </p:grpSp>
        <p:sp>
          <p:nvSpPr>
            <p:cNvPr id="10138" name="LLM"/>
            <p:cNvSpPr/>
            <p:nvPr/>
          </p:nvSpPr>
          <p:spPr>
            <a:xfrm>
              <a:off x="4857750" y="3095625"/>
              <a:ext cx="1285875" cy="36195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2100" b="1">
                  <a:solidFill>
                    <a:srgbClr val="68528D"/>
                  </a:solidFill>
                  <a:latin typeface="Times New Roman"/>
                  <a:ea typeface="Times New Roman"/>
                </a:rPr>
                <a:t>LLM</a:t>
              </a:r>
            </a:p>
          </p:txBody>
        </p:sp>
        <p:sp>
          <p:nvSpPr>
            <p:cNvPr id="10139" name="observe"/>
            <p:cNvSpPr/>
            <p:nvPr/>
          </p:nvSpPr>
          <p:spPr>
            <a:xfrm>
              <a:off x="2857500" y="2714625"/>
              <a:ext cx="1952625" cy="9525"/>
            </a:xfrm>
            <a:custGeom>
              <a:avLst/>
              <a:gdLst/>
              <a:ahLst/>
              <a:cxnLst/>
              <a:rect l="l" t="t" r="r" b="b"/>
              <a:pathLst>
                <a:path w="205000" h="1000" fill="none">
                  <a:moveTo>
                    <a:pt x="0" y="0"/>
                  </a:moveTo>
                  <a:lnTo>
                    <a:pt x="205000" y="0"/>
                  </a:lnTo>
                </a:path>
              </a:pathLst>
            </a:custGeom>
            <a:noFill/>
            <a:ln w="20955" cap="rnd">
              <a:solidFill>
                <a:srgbClr val="3376A0"/>
              </a:solidFill>
              <a:tailEnd type="triangle"/>
            </a:ln>
          </p:spPr>
        </p:sp>
        <p:sp>
          <p:nvSpPr>
            <p:cNvPr id="10140" name="observe"/>
            <p:cNvSpPr/>
            <p:nvPr/>
          </p:nvSpPr>
          <p:spPr>
            <a:xfrm>
              <a:off x="3143250" y="2381250"/>
              <a:ext cx="1333500" cy="28575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75" b="0">
                  <a:solidFill>
                    <a:srgbClr val="25465E"/>
                  </a:solidFill>
                  <a:latin typeface="Times New Roman"/>
                  <a:ea typeface="Times New Roman"/>
                </a:rPr>
                <a:t>observe</a:t>
              </a:r>
            </a:p>
          </p:txBody>
        </p:sp>
        <p:sp>
          <p:nvSpPr>
            <p:cNvPr id="10141" name="respond"/>
            <p:cNvSpPr/>
            <p:nvPr/>
          </p:nvSpPr>
          <p:spPr>
            <a:xfrm>
              <a:off x="2857500" y="3028950"/>
              <a:ext cx="1952625" cy="9525"/>
            </a:xfrm>
            <a:custGeom>
              <a:avLst/>
              <a:gdLst/>
              <a:ahLst/>
              <a:cxnLst/>
              <a:rect l="l" t="t" r="r" b="b"/>
              <a:pathLst>
                <a:path w="205000" h="1000" fill="none">
                  <a:moveTo>
                    <a:pt x="205000" y="0"/>
                  </a:moveTo>
                  <a:lnTo>
                    <a:pt x="0" y="0"/>
                  </a:lnTo>
                </a:path>
              </a:pathLst>
            </a:custGeom>
            <a:noFill/>
            <a:ln w="20955" cap="rnd">
              <a:solidFill>
                <a:srgbClr val="3376A0"/>
              </a:solidFill>
              <a:tailEnd type="triangle"/>
            </a:ln>
          </p:spPr>
        </p:sp>
        <p:sp>
          <p:nvSpPr>
            <p:cNvPr id="10142" name="respond"/>
            <p:cNvSpPr/>
            <p:nvPr/>
          </p:nvSpPr>
          <p:spPr>
            <a:xfrm>
              <a:off x="3143250" y="3105150"/>
              <a:ext cx="1333500" cy="28575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75" b="0">
                  <a:solidFill>
                    <a:srgbClr val="25465E"/>
                  </a:solidFill>
                  <a:latin typeface="Times New Roman"/>
                  <a:ea typeface="Times New Roman"/>
                </a:rPr>
                <a:t>respond</a:t>
              </a:r>
            </a:p>
          </p:txBody>
        </p:sp>
        <p:sp>
          <p:nvSpPr>
            <p:cNvPr id="10143" name="execute"/>
            <p:cNvSpPr/>
            <p:nvPr/>
          </p:nvSpPr>
          <p:spPr>
            <a:xfrm>
              <a:off x="6143625" y="2714625"/>
              <a:ext cx="1952625" cy="9525"/>
            </a:xfrm>
            <a:custGeom>
              <a:avLst/>
              <a:gdLst/>
              <a:ahLst/>
              <a:cxnLst/>
              <a:rect l="l" t="t" r="r" b="b"/>
              <a:pathLst>
                <a:path w="205000" h="1000" fill="none">
                  <a:moveTo>
                    <a:pt x="0" y="0"/>
                  </a:moveTo>
                  <a:lnTo>
                    <a:pt x="205000" y="0"/>
                  </a:lnTo>
                </a:path>
              </a:pathLst>
            </a:custGeom>
            <a:noFill/>
            <a:ln w="20955" cap="rnd">
              <a:solidFill>
                <a:srgbClr val="3376A0"/>
              </a:solidFill>
              <a:tailEnd type="triangle"/>
            </a:ln>
          </p:spPr>
        </p:sp>
        <p:sp>
          <p:nvSpPr>
            <p:cNvPr id="10144" name="execute"/>
            <p:cNvSpPr/>
            <p:nvPr/>
          </p:nvSpPr>
          <p:spPr>
            <a:xfrm>
              <a:off x="6381750" y="2333625"/>
              <a:ext cx="1571625" cy="28575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75" b="0">
                  <a:solidFill>
                    <a:srgbClr val="25465E"/>
                  </a:solidFill>
                  <a:latin typeface="Times New Roman"/>
                  <a:ea typeface="Times New Roman"/>
                </a:rPr>
                <a:t>call / return</a:t>
              </a:r>
            </a:p>
          </p:txBody>
        </p:sp>
        <p:sp>
          <p:nvSpPr>
            <p:cNvPr id="10145" name="plan"/>
            <p:cNvSpPr/>
            <p:nvPr/>
          </p:nvSpPr>
          <p:spPr>
            <a:xfrm>
              <a:off x="5381625" y="16954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1000" h="42000" fill="none">
                  <a:moveTo>
                    <a:pt x="0" y="42000"/>
                  </a:moveTo>
                  <a:lnTo>
                    <a:pt x="0" y="0"/>
                  </a:lnTo>
                </a:path>
              </a:pathLst>
            </a:custGeom>
            <a:noFill/>
            <a:ln w="20955" cap="rnd">
              <a:solidFill>
                <a:srgbClr val="68528D"/>
              </a:solidFill>
              <a:tailEnd type="triangle"/>
            </a:ln>
          </p:spPr>
        </p:sp>
        <p:sp>
          <p:nvSpPr>
            <p:cNvPr id="10146" name="next"/>
            <p:cNvSpPr/>
            <p:nvPr/>
          </p:nvSpPr>
          <p:spPr>
            <a:xfrm>
              <a:off x="5657850" y="1714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1000" h="40000" fill="none">
                  <a:moveTo>
                    <a:pt x="0" y="0"/>
                  </a:moveTo>
                  <a:lnTo>
                    <a:pt x="0" y="40000"/>
                  </a:lnTo>
                </a:path>
              </a:pathLst>
            </a:custGeom>
            <a:noFill/>
            <a:ln w="20955" cap="rnd">
              <a:solidFill>
                <a:srgbClr val="68528D"/>
              </a:solidFill>
              <a:tailEnd type="triangle"/>
            </a:ln>
          </p:spPr>
        </p:sp>
        <p:sp>
          <p:nvSpPr>
            <p:cNvPr id="10147" name="write"/>
            <p:cNvSpPr/>
            <p:nvPr/>
          </p:nvSpPr>
          <p:spPr>
            <a:xfrm>
              <a:off x="5381625" y="347662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1000" h="30000" fill="none">
                  <a:moveTo>
                    <a:pt x="0" y="0"/>
                  </a:moveTo>
                  <a:lnTo>
                    <a:pt x="0" y="30000"/>
                  </a:lnTo>
                </a:path>
              </a:pathLst>
            </a:custGeom>
            <a:noFill/>
            <a:ln w="20955" cap="rnd">
              <a:solidFill>
                <a:srgbClr val="39846C"/>
              </a:solidFill>
              <a:tailEnd type="triangle"/>
            </a:ln>
          </p:spPr>
        </p:sp>
        <p:sp>
          <p:nvSpPr>
            <p:cNvPr id="10148" name="recall"/>
            <p:cNvSpPr/>
            <p:nvPr/>
          </p:nvSpPr>
          <p:spPr>
            <a:xfrm>
              <a:off x="5657850" y="347662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1000" h="30000" fill="none">
                  <a:moveTo>
                    <a:pt x="0" y="30000"/>
                  </a:moveTo>
                  <a:lnTo>
                    <a:pt x="0" y="0"/>
                  </a:lnTo>
                </a:path>
              </a:pathLst>
            </a:custGeom>
            <a:noFill/>
            <a:ln w="20955" cap="rnd">
              <a:solidFill>
                <a:srgbClr val="39846C"/>
              </a:solidFill>
              <a:tailEnd type="triangle"/>
            </a:ln>
          </p:spPr>
        </p:sp>
        <p:sp>
          <p:nvSpPr>
            <p:cNvPr id="10149" name="lower separator"/>
            <p:cNvSpPr/>
            <p:nvPr/>
          </p:nvSpPr>
          <p:spPr>
            <a:xfrm>
              <a:off x="333375" y="5429250"/>
              <a:ext cx="10763250" cy="9525"/>
            </a:xfrm>
            <a:custGeom>
              <a:avLst/>
              <a:gdLst/>
              <a:ahLst/>
              <a:cxnLst/>
              <a:rect l="l" t="t" r="r" b="b"/>
              <a:pathLst>
                <a:path w="1130000" h="1000" fill="none">
                  <a:moveTo>
                    <a:pt x="0" y="0"/>
                  </a:moveTo>
                  <a:lnTo>
                    <a:pt x="1130000" y="0"/>
                  </a:lnTo>
                </a:path>
              </a:pathLst>
            </a:custGeom>
            <a:noFill/>
            <a:ln w="9525" cap="rnd">
              <a:solidFill>
                <a:srgbClr val="D5DEE5"/>
              </a:solidFill>
            </a:ln>
          </p:spPr>
        </p:sp>
        <p:grpSp>
          <p:nvGrpSpPr>
            <p:cNvPr id="10154" name="refresh-cw editable icon"/>
            <p:cNvGrpSpPr/>
            <p:nvPr/>
          </p:nvGrpSpPr>
          <p:grpSpPr>
            <a:xfrm>
              <a:off x="1333500" y="5734050"/>
              <a:ext cx="590550" cy="590550"/>
              <a:chOff x="1333500" y="5734050"/>
              <a:chExt cx="590550" cy="590550"/>
            </a:xfrm>
          </p:grpSpPr>
          <p:sp>
            <p:nvSpPr>
              <p:cNvPr id="10150" name="refresh-cw-0"/>
              <p:cNvSpPr/>
              <p:nvPr/>
            </p:nvSpPr>
            <p:spPr>
              <a:xfrm>
                <a:off x="1333500" y="5734050"/>
                <a:ext cx="590550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3000" y="12000"/>
                    </a:moveTo>
                    <a:cubicBezTo>
                      <a:pt x="3000" y="7029"/>
                      <a:pt x="7029" y="3000"/>
                      <a:pt x="12000" y="3000"/>
                    </a:cubicBezTo>
                    <a:cubicBezTo>
                      <a:pt x="14516" y="3009"/>
                      <a:pt x="16931" y="3991"/>
                      <a:pt x="18740" y="5740"/>
                    </a:cubicBezTo>
                    <a:lnTo>
                      <a:pt x="21000" y="8000"/>
                    </a:lnTo>
                  </a:path>
                </a:pathLst>
              </a:custGeom>
              <a:noFill/>
              <a:ln w="36909" cap="rnd">
                <a:solidFill>
                  <a:srgbClr val="B47A31"/>
                </a:solidFill>
              </a:ln>
            </p:spPr>
          </p:sp>
          <p:sp>
            <p:nvSpPr>
              <p:cNvPr id="10151" name="refresh-cw-1"/>
              <p:cNvSpPr/>
              <p:nvPr/>
            </p:nvSpPr>
            <p:spPr>
              <a:xfrm>
                <a:off x="1333500" y="5734050"/>
                <a:ext cx="590550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1000" y="3000"/>
                    </a:moveTo>
                    <a:lnTo>
                      <a:pt x="21000" y="8000"/>
                    </a:lnTo>
                    <a:lnTo>
                      <a:pt x="16000" y="8000"/>
                    </a:lnTo>
                  </a:path>
                </a:pathLst>
              </a:custGeom>
              <a:noFill/>
              <a:ln w="36909" cap="rnd">
                <a:solidFill>
                  <a:srgbClr val="B47A31"/>
                </a:solidFill>
              </a:ln>
            </p:spPr>
          </p:sp>
          <p:sp>
            <p:nvSpPr>
              <p:cNvPr id="10152" name="refresh-cw-2"/>
              <p:cNvSpPr/>
              <p:nvPr/>
            </p:nvSpPr>
            <p:spPr>
              <a:xfrm>
                <a:off x="1333500" y="5734050"/>
                <a:ext cx="590550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1000" y="12000"/>
                    </a:moveTo>
                    <a:cubicBezTo>
                      <a:pt x="21000" y="16971"/>
                      <a:pt x="16971" y="21000"/>
                      <a:pt x="12000" y="21000"/>
                    </a:cubicBezTo>
                    <a:cubicBezTo>
                      <a:pt x="9484" y="20991"/>
                      <a:pt x="7069" y="20009"/>
                      <a:pt x="5260" y="18260"/>
                    </a:cubicBezTo>
                    <a:lnTo>
                      <a:pt x="3000" y="16000"/>
                    </a:lnTo>
                  </a:path>
                </a:pathLst>
              </a:custGeom>
              <a:noFill/>
              <a:ln w="36909" cap="rnd">
                <a:solidFill>
                  <a:srgbClr val="B47A31"/>
                </a:solidFill>
              </a:ln>
            </p:spPr>
          </p:sp>
          <p:sp>
            <p:nvSpPr>
              <p:cNvPr id="10153" name="refresh-cw-3"/>
              <p:cNvSpPr/>
              <p:nvPr/>
            </p:nvSpPr>
            <p:spPr>
              <a:xfrm>
                <a:off x="1333500" y="5734050"/>
                <a:ext cx="590550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8000" y="16000"/>
                    </a:moveTo>
                    <a:lnTo>
                      <a:pt x="3000" y="16000"/>
                    </a:lnTo>
                    <a:lnTo>
                      <a:pt x="3000" y="21000"/>
                    </a:lnTo>
                  </a:path>
                </a:pathLst>
              </a:custGeom>
              <a:noFill/>
              <a:ln w="36909" cap="rnd">
                <a:solidFill>
                  <a:srgbClr val="B47A31"/>
                </a:solidFill>
              </a:ln>
            </p:spPr>
          </p:sp>
        </p:grpSp>
        <p:sp>
          <p:nvSpPr>
            <p:cNvPr id="10155" name="optimization"/>
            <p:cNvSpPr/>
            <p:nvPr/>
          </p:nvSpPr>
          <p:spPr>
            <a:xfrm>
              <a:off x="2095500" y="5629275"/>
              <a:ext cx="3619500" cy="36195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950" b="1">
                  <a:solidFill>
                    <a:srgbClr val="996C34"/>
                  </a:solidFill>
                  <a:latin typeface="Times New Roman"/>
                  <a:ea typeface="Times New Roman"/>
                </a:rPr>
                <a:t>Optimization &amp; Evolution</a:t>
              </a:r>
            </a:p>
          </p:txBody>
        </p:sp>
        <p:sp>
          <p:nvSpPr>
            <p:cNvPr id="10156" name="assets"/>
            <p:cNvSpPr/>
            <p:nvPr/>
          </p:nvSpPr>
          <p:spPr>
            <a:xfrm>
              <a:off x="2095500" y="6038850"/>
              <a:ext cx="3619500" cy="3048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650" b="0">
                  <a:solidFill>
                    <a:srgbClr val="25465E"/>
                  </a:solidFill>
                  <a:latin typeface="Times New Roman"/>
                  <a:ea typeface="Times New Roman"/>
                </a:rPr>
                <a:t>Prompts, memory and tools</a:t>
              </a:r>
            </a:p>
          </p:txBody>
        </p:sp>
        <p:grpSp>
          <p:nvGrpSpPr>
            <p:cNvPr id="10162" name="file-text editable icon"/>
            <p:cNvGrpSpPr/>
            <p:nvPr/>
          </p:nvGrpSpPr>
          <p:grpSpPr>
            <a:xfrm>
              <a:off x="6429375" y="5810250"/>
              <a:ext cx="400050" cy="400050"/>
              <a:chOff x="6429375" y="5810250"/>
              <a:chExt cx="400050" cy="400050"/>
            </a:xfrm>
          </p:grpSpPr>
          <p:sp>
            <p:nvSpPr>
              <p:cNvPr id="10157" name="file-text-0"/>
              <p:cNvSpPr/>
              <p:nvPr/>
            </p:nvSpPr>
            <p:spPr>
              <a:xfrm>
                <a:off x="64293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6000" y="22000"/>
                    </a:moveTo>
                    <a:cubicBezTo>
                      <a:pt x="4895" y="22000"/>
                      <a:pt x="4000" y="21105"/>
                      <a:pt x="4000" y="20000"/>
                    </a:cubicBezTo>
                    <a:lnTo>
                      <a:pt x="4000" y="4000"/>
                    </a:lnTo>
                    <a:cubicBezTo>
                      <a:pt x="4000" y="2895"/>
                      <a:pt x="4895" y="2000"/>
                      <a:pt x="6000" y="2000"/>
                    </a:cubicBezTo>
                    <a:lnTo>
                      <a:pt x="14000" y="2000"/>
                    </a:lnTo>
                    <a:cubicBezTo>
                      <a:pt x="14639" y="1999"/>
                      <a:pt x="15253" y="2253"/>
                      <a:pt x="15704" y="2706"/>
                    </a:cubicBezTo>
                    <a:lnTo>
                      <a:pt x="19292" y="6294"/>
                    </a:lnTo>
                    <a:cubicBezTo>
                      <a:pt x="19746" y="6745"/>
                      <a:pt x="20001" y="7360"/>
                      <a:pt x="20000" y="8000"/>
                    </a:cubicBezTo>
                    <a:lnTo>
                      <a:pt x="20000" y="20000"/>
                    </a:lnTo>
                    <a:cubicBezTo>
                      <a:pt x="20000" y="21105"/>
                      <a:pt x="19105" y="22000"/>
                      <a:pt x="18000" y="22000"/>
                    </a:cubicBezTo>
                    <a:lnTo>
                      <a:pt x="6000" y="22000"/>
                    </a:lnTo>
                    <a:close/>
                  </a:path>
                </a:pathLst>
              </a:custGeom>
              <a:noFill/>
              <a:ln w="25003" cap="rnd">
                <a:solidFill>
                  <a:srgbClr val="996C34"/>
                </a:solidFill>
              </a:ln>
            </p:spPr>
          </p:sp>
          <p:sp>
            <p:nvSpPr>
              <p:cNvPr id="10158" name="file-text-1"/>
              <p:cNvSpPr/>
              <p:nvPr/>
            </p:nvSpPr>
            <p:spPr>
              <a:xfrm>
                <a:off x="64293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4000" y="2000"/>
                    </a:moveTo>
                    <a:lnTo>
                      <a:pt x="14000" y="7000"/>
                    </a:lnTo>
                    <a:cubicBezTo>
                      <a:pt x="14000" y="7552"/>
                      <a:pt x="14448" y="8000"/>
                      <a:pt x="15000" y="8000"/>
                    </a:cubicBezTo>
                    <a:lnTo>
                      <a:pt x="20000" y="8000"/>
                    </a:lnTo>
                  </a:path>
                </a:pathLst>
              </a:custGeom>
              <a:noFill/>
              <a:ln w="25003" cap="rnd">
                <a:solidFill>
                  <a:srgbClr val="996C34"/>
                </a:solidFill>
              </a:ln>
            </p:spPr>
          </p:sp>
          <p:sp>
            <p:nvSpPr>
              <p:cNvPr id="10159" name="file-text-2"/>
              <p:cNvSpPr/>
              <p:nvPr/>
            </p:nvSpPr>
            <p:spPr>
              <a:xfrm>
                <a:off x="64293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0000" y="9000"/>
                    </a:moveTo>
                    <a:lnTo>
                      <a:pt x="8000" y="9000"/>
                    </a:lnTo>
                  </a:path>
                </a:pathLst>
              </a:custGeom>
              <a:noFill/>
              <a:ln w="25003" cap="rnd">
                <a:solidFill>
                  <a:srgbClr val="996C34"/>
                </a:solidFill>
              </a:ln>
            </p:spPr>
          </p:sp>
          <p:sp>
            <p:nvSpPr>
              <p:cNvPr id="10160" name="file-text-3"/>
              <p:cNvSpPr/>
              <p:nvPr/>
            </p:nvSpPr>
            <p:spPr>
              <a:xfrm>
                <a:off x="64293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6000" y="13000"/>
                    </a:moveTo>
                    <a:lnTo>
                      <a:pt x="8000" y="13000"/>
                    </a:lnTo>
                  </a:path>
                </a:pathLst>
              </a:custGeom>
              <a:noFill/>
              <a:ln w="25003" cap="rnd">
                <a:solidFill>
                  <a:srgbClr val="996C34"/>
                </a:solidFill>
              </a:ln>
            </p:spPr>
          </p:sp>
          <p:sp>
            <p:nvSpPr>
              <p:cNvPr id="10161" name="file-text-4"/>
              <p:cNvSpPr/>
              <p:nvPr/>
            </p:nvSpPr>
            <p:spPr>
              <a:xfrm>
                <a:off x="64293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6000" y="17000"/>
                    </a:moveTo>
                    <a:lnTo>
                      <a:pt x="8000" y="17000"/>
                    </a:lnTo>
                  </a:path>
                </a:pathLst>
              </a:custGeom>
              <a:noFill/>
              <a:ln w="25003" cap="rnd">
                <a:solidFill>
                  <a:srgbClr val="996C34"/>
                </a:solidFill>
              </a:ln>
            </p:spPr>
          </p:sp>
        </p:grpSp>
        <p:sp>
          <p:nvSpPr>
            <p:cNvPr id="10163" name="trajectory to update"/>
            <p:cNvSpPr/>
            <p:nvPr/>
          </p:nvSpPr>
          <p:spPr>
            <a:xfrm>
              <a:off x="7000875" y="6010275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5000" h="1000" fill="none">
                  <a:moveTo>
                    <a:pt x="0" y="0"/>
                  </a:moveTo>
                  <a:lnTo>
                    <a:pt x="85000" y="0"/>
                  </a:lnTo>
                </a:path>
              </a:pathLst>
            </a:custGeom>
            <a:noFill/>
            <a:ln w="19050" cap="rnd">
              <a:solidFill>
                <a:srgbClr val="996C34"/>
              </a:solidFill>
              <a:tailEnd type="triangle"/>
            </a:ln>
          </p:spPr>
        </p:sp>
        <p:grpSp>
          <p:nvGrpSpPr>
            <p:cNvPr id="10166" name="braces editable icon"/>
            <p:cNvGrpSpPr/>
            <p:nvPr/>
          </p:nvGrpSpPr>
          <p:grpSpPr>
            <a:xfrm>
              <a:off x="8143875" y="5810250"/>
              <a:ext cx="400050" cy="400050"/>
              <a:chOff x="8143875" y="5810250"/>
              <a:chExt cx="400050" cy="400050"/>
            </a:xfrm>
          </p:grpSpPr>
          <p:sp>
            <p:nvSpPr>
              <p:cNvPr id="10164" name="braces-0"/>
              <p:cNvSpPr/>
              <p:nvPr/>
            </p:nvSpPr>
            <p:spPr>
              <a:xfrm>
                <a:off x="81438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8000" y="3000"/>
                    </a:moveTo>
                    <a:lnTo>
                      <a:pt x="7000" y="3000"/>
                    </a:lnTo>
                    <a:cubicBezTo>
                      <a:pt x="5895" y="3000"/>
                      <a:pt x="5000" y="3895"/>
                      <a:pt x="5000" y="5000"/>
                    </a:cubicBezTo>
                    <a:lnTo>
                      <a:pt x="5000" y="10000"/>
                    </a:lnTo>
                    <a:cubicBezTo>
                      <a:pt x="5000" y="11105"/>
                      <a:pt x="4105" y="12000"/>
                      <a:pt x="3000" y="12000"/>
                    </a:cubicBezTo>
                    <a:cubicBezTo>
                      <a:pt x="4105" y="12000"/>
                      <a:pt x="5000" y="12895"/>
                      <a:pt x="5000" y="14000"/>
                    </a:cubicBezTo>
                    <a:lnTo>
                      <a:pt x="5000" y="19000"/>
                    </a:lnTo>
                    <a:cubicBezTo>
                      <a:pt x="5000" y="20100"/>
                      <a:pt x="5900" y="21000"/>
                      <a:pt x="7000" y="21000"/>
                    </a:cubicBezTo>
                    <a:lnTo>
                      <a:pt x="8000" y="21000"/>
                    </a:lnTo>
                  </a:path>
                </a:pathLst>
              </a:custGeom>
              <a:noFill/>
              <a:ln w="25003" cap="rnd">
                <a:solidFill>
                  <a:srgbClr val="996C34"/>
                </a:solidFill>
              </a:ln>
            </p:spPr>
          </p:sp>
          <p:sp>
            <p:nvSpPr>
              <p:cNvPr id="10165" name="braces-1"/>
              <p:cNvSpPr/>
              <p:nvPr/>
            </p:nvSpPr>
            <p:spPr>
              <a:xfrm>
                <a:off x="81438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6000" y="21000"/>
                    </a:moveTo>
                    <a:lnTo>
                      <a:pt x="17000" y="21000"/>
                    </a:lnTo>
                    <a:cubicBezTo>
                      <a:pt x="18105" y="21000"/>
                      <a:pt x="19000" y="20105"/>
                      <a:pt x="19000" y="19000"/>
                    </a:cubicBezTo>
                    <a:lnTo>
                      <a:pt x="19000" y="14000"/>
                    </a:lnTo>
                    <a:cubicBezTo>
                      <a:pt x="19000" y="12900"/>
                      <a:pt x="19900" y="12000"/>
                      <a:pt x="21000" y="12000"/>
                    </a:cubicBezTo>
                    <a:cubicBezTo>
                      <a:pt x="19895" y="12000"/>
                      <a:pt x="19000" y="11105"/>
                      <a:pt x="19000" y="10000"/>
                    </a:cubicBezTo>
                    <a:lnTo>
                      <a:pt x="19000" y="5000"/>
                    </a:lnTo>
                    <a:cubicBezTo>
                      <a:pt x="19000" y="3895"/>
                      <a:pt x="18105" y="3000"/>
                      <a:pt x="17000" y="3000"/>
                    </a:cubicBezTo>
                    <a:lnTo>
                      <a:pt x="16000" y="3000"/>
                    </a:lnTo>
                  </a:path>
                </a:pathLst>
              </a:custGeom>
              <a:noFill/>
              <a:ln w="25003" cap="rnd">
                <a:solidFill>
                  <a:srgbClr val="996C34"/>
                </a:solidFill>
              </a:ln>
            </p:spPr>
          </p:sp>
        </p:grpSp>
        <p:sp>
          <p:nvSpPr>
            <p:cNvPr id="10167" name="trajectories"/>
            <p:cNvSpPr/>
            <p:nvPr/>
          </p:nvSpPr>
          <p:spPr>
            <a:xfrm>
              <a:off x="5953125" y="6315075"/>
              <a:ext cx="1333500" cy="2667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00" b="0">
                  <a:solidFill>
                    <a:srgbClr val="25465E"/>
                  </a:solidFill>
                  <a:latin typeface="Times New Roman"/>
                  <a:ea typeface="Times New Roman"/>
                </a:rPr>
                <a:t>Trajectories</a:t>
              </a:r>
            </a:p>
          </p:txBody>
        </p:sp>
        <p:sp>
          <p:nvSpPr>
            <p:cNvPr id="10168" name="updates"/>
            <p:cNvSpPr/>
            <p:nvPr/>
          </p:nvSpPr>
          <p:spPr>
            <a:xfrm>
              <a:off x="7715250" y="6315075"/>
              <a:ext cx="1619250" cy="2667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00" b="0">
                  <a:solidFill>
                    <a:srgbClr val="25465E"/>
                  </a:solidFill>
                  <a:latin typeface="Times New Roman"/>
                  <a:ea typeface="Times New Roman"/>
                </a:rPr>
                <a:t>Tested updates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