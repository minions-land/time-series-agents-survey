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191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LLM-side contributions"/>
          <p:cNvGrpSpPr/>
          <p:nvPr/>
        </p:nvGrpSpPr>
        <p:grpSpPr>
          <ns1:xfrm xmlns:ns1="http://schemas.openxmlformats.org/drawingml/2006/main">
            <ns1:off x="190500" y="152400"/>
            <ns1:ext cx="11496675" cy="5800725"/>
            <ns1:chOff x="190500" y="152400"/>
            <ns1:chExt cx="11496675" cy="5800725"/>
          </ns1:xfrm>
        </p:grpSpPr>
        <p:grpSp>
          <p:nvGrpSpPr>
            <p:cNvPr id="10017" name="Representation &amp; alignment"/>
            <p:cNvGrpSpPr/>
            <p:nvPr/>
          </p:nvGrpSpPr>
          <p:grpSpPr>
            <ns1:xfrm xmlns:ns1="http://schemas.openxmlformats.org/drawingml/2006/main">
              <ns1:off x="285750" y="152400"/>
              <ns1:ext cx="3276600" cy="2266950"/>
              <ns1:chOff x="285750" y="152400"/>
              <ns1:chExt cx="3276600" cy="2266950"/>
            </ns1:xfrm>
          </p:grpSpPr>
          <p:sp>
            <p:nvSpPr>
              <p:cNvPr id="10001" name="Representation &amp; alignment"/>
              <p:cNvSpPr/>
              <p:nvPr/>
            </p:nvSpPr>
            <p:spPr>
              <ns1:xfrm xmlns:ns1="http://schemas.openxmlformats.org/drawingml/2006/main">
                <ns1:off x="28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Representation &amp; alignment</ns7:t>
                </ns7:r>
              </ns7:p>
            </p:txBody>
          </p:sp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647700" y="819150"/>
                <ns1:ext cx="723900" cy="723900"/>
                <ns1:chOff x="647700" y="819150"/>
                <ns1:chExt cx="723900" cy="723900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</p:grpSp>
          <p:grpSp>
            <p:nvGrpSpPr>
              <p:cNvPr id="10012" name="layers editable icon"/>
              <p:cNvGrpSpPr/>
              <p:nvPr/>
            </p:nvGrpSpPr>
            <p:grpSpPr>
              <ns1:xfrm xmlns:ns1="http://schemas.openxmlformats.org/drawingml/2006/main">
                <ns1:off x="2457450" y="819150"/>
                <ns1:ext cx="723900" cy="723900"/>
                <ns1:chOff x="2457450" y="819150"/>
                <ns1:chExt cx="723900" cy="723900"/>
              </ns1:xfrm>
            </p:grpSpPr>
            <p:sp>
              <p:nvSpPr>
                <p:cNvPr id="10009" name="layers-0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0" name="layers-1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1" name="layers-2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013" name="learned mapping"/>
              <p:cNvSpPr/>
              <p:nvPr/>
            </p:nvSpPr>
            <p:spPr>
              <ns1:xfrm xmlns:ns1="http://schemas.openxmlformats.org/drawingml/2006/main">
                <ns1:off x="154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376A0"/>
                </ns4:solidFill>
                <ns4:tailEnd type="triangle"/>
              </ns4:ln>
            </p:spPr>
          </p:sp>
          <p:sp>
            <p:nvSpPr>
              <p:cNvPr id="10014" name="input"/>
              <p:cNvSpPr/>
              <p:nvPr/>
            </p:nvSpPr>
            <p:spPr>
              <ns1:xfrm xmlns:ns1="http://schemas.openxmlformats.org/drawingml/2006/main">
                <ns1:off x="33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Series patches</ns7:t>
                </ns7:r>
              </ns7:p>
            </p:txBody>
          </p:sp>
          <p:sp>
            <p:nvSpPr>
              <p:cNvPr id="10015" name="output"/>
              <p:cNvSpPr/>
              <p:nvPr/>
            </p:nvSpPr>
            <p:spPr>
              <ns1:xfrm xmlns:ns1="http://schemas.openxmlformats.org/drawingml/2006/main">
                <ns1:off x="213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Language space</ns7:t>
                </ns7:r>
              </ns7:p>
            </p:txBody>
          </p:sp>
          <p:sp>
            <p:nvSpPr>
              <p:cNvPr id="10016" name="learning signal"/>
              <p:cNvSpPr/>
              <p:nvPr/>
            </p:nvSpPr>
            <p:spPr>
              <ns1:xfrm xmlns:ns1="http://schemas.openxmlformats.org/drawingml/2006/main">
                <ns1:off x="28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Scale and temporal structure</ns7:t>
                </ns7:r>
              </ns7:p>
            </p:txBody>
          </p:sp>
        </p:grpSp>
        <p:grpSp>
          <p:nvGrpSpPr>
            <p:cNvPr id="10042" name="Instruction &amp; reasoning"/>
            <p:cNvGrpSpPr/>
            <p:nvPr/>
          </p:nvGrpSpPr>
          <p:grpSpPr>
            <ns1:xfrm xmlns:ns1="http://schemas.openxmlformats.org/drawingml/2006/main">
              <ns1:off x="4095750" y="152400"/>
              <ns1:ext cx="3276600" cy="2266950"/>
              <ns1:chOff x="4095750" y="152400"/>
              <ns1:chExt cx="3276600" cy="2266950"/>
            </ns1:xfrm>
          </p:grpSpPr>
          <p:sp>
            <p:nvSpPr>
              <p:cNvPr id="10018" name="Instruction &amp; reasoning"/>
              <p:cNvSpPr/>
              <p:nvPr/>
            </p:nvSpPr>
            <p:spPr>
              <ns1:xfrm xmlns:ns1="http://schemas.openxmlformats.org/drawingml/2006/main">
                <ns1:off x="409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Instruction &amp; reasoning</ns7:t>
                </ns7:r>
              </ns7:p>
            </p:txBody>
          </p:sp>
          <p:grpSp>
            <p:nvGrpSpPr>
              <p:cNvPr id="10024" name="file-text editable icon"/>
              <p:cNvGrpSpPr/>
              <p:nvPr/>
            </p:nvGrpSpPr>
            <p:grpSpPr>
              <ns1:xfrm xmlns:ns1="http://schemas.openxmlformats.org/drawingml/2006/main">
                <ns1:off x="4457700" y="819150"/>
                <ns1:ext cx="723900" cy="723900"/>
                <ns1:chOff x="4457700" y="819150"/>
                <ns1:chExt cx="723900" cy="723900"/>
              </ns1:xfrm>
            </p:grpSpPr>
            <p:sp>
              <p:nvSpPr>
                <p:cNvPr id="10019" name="file-text-0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0" name="file-text-1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1" name="file-text-2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2" name="file-text-3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3" name="file-text-4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</p:grpSp>
          <p:grpSp>
            <p:nvGrpSpPr>
              <p:cNvPr id="10037" name="brain-circuit editable icon"/>
              <p:cNvGrpSpPr/>
              <p:nvPr/>
            </p:nvGrpSpPr>
            <p:grpSpPr>
              <ns1:xfrm xmlns:ns1="http://schemas.openxmlformats.org/drawingml/2006/main">
                <ns1:off x="6267450" y="819150"/>
                <ns1:ext cx="723900" cy="723900"/>
                <ns1:chOff x="6267450" y="819150"/>
                <ns1:chExt cx="723900" cy="723900"/>
              </ns1:xfrm>
            </p:grpSpPr>
            <p:sp>
              <p:nvSpPr>
                <p:cNvPr id="10025" name="brain-circuit-0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6" name="brain-circuit-1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8000" y="18000"/>
                      </ns2:lnTo>
                      <ns2:cubicBezTo>
                        <ns2:pt x="19105" y="18000"/>
                        <ns2:pt x="20000" y="18895"/>
                        <ns2:pt x="20000" y="20000"/>
                      </ns2:cubicBez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7" name="brain-circuit-2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8" name="brain-circuit-3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9000"/>
                      </ns2:moveTo>
                      <ns2:cubicBezTo>
                        <ns2:pt x="11999" y="10851"/>
                        <ns2:pt x="10777" y="12481"/>
                        <ns2:pt x="9000" y="1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9" name="brain-circuit-4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8000"/>
                      </ns2:moveTo>
                      <ns2:lnTo>
                        <ns2:pt x="16000" y="5000"/>
                      </ns2:lnTo>
                      <ns2:cubicBezTo>
                        <ns2:pt x="16000" y="3895"/>
                        <ns2:pt x="16895" y="3000"/>
                        <ns2:pt x="18000" y="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0" name="brain-circuit-5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18000"/>
                      </ns2:moveTo>
                      <ns2:cubicBezTo>
                        <ns2:pt x="4189" y="18001"/>
                        <ns2:pt x="2603" y="16785"/>
                        <ns2:pt x="2135" y="15035"/>
                      </ns2:cubicBezTo>
                      <ns2:cubicBezTo>
                        <ns2:pt x="1666" y="13286"/>
                        <ns2:pt x="2431" y="11440"/>
                        <ns2:pt x="4000" y="1053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1" name="brain-circuit-6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4" y="5125"/>
                      </ns2:moveTo>
                      <ns2:cubicBezTo>
                        <ns2:pt x="4813" y="5431"/>
                        <ns2:pt x="3829" y="6268"/>
                        <ns2:pt x="3336" y="7395"/>
                      </ns2:cubicBezTo>
                      <ns2:cubicBezTo>
                        <ns2:pt x="2843" y="8521"/>
                        <ns2:pt x="2895" y="9812"/>
                        <ns2:pt x="3478" y="1089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2" name="brain-circuit-7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294" y="6294"/>
                      </ns2:moveTo>
                      <ns2:cubicBezTo>
                        <ns2:pt x="5762" y="5182"/>
                        <ns2:pt x="5964" y="3857"/>
                        <ns2:pt x="6804" y="2954"/>
                      </ns2:cubicBezTo>
                      <ns2:cubicBezTo>
                        <ns2:pt x="7645" y="2052"/>
                        <ns2:pt x="8952" y="1756"/>
                        <ns2:pt x="10099" y="2207"/>
                      </ns2:cubicBezTo>
                      <ns2:cubicBezTo>
                        <ns2:pt x="11246" y="2659"/>
                        <ns2:pt x="12000" y="3767"/>
                        <ns2:pt x="12000" y="5000"/>
                      </ns2:cubicBezTo>
                      <ns2:lnTo>
                        <ns2:pt x="12000" y="18000"/>
                      </ns2:lnTo>
                      <ns2:cubicBezTo>
                        <ns2:pt x="11998" y="19490"/>
                        <ns2:pt x="11168" y="20855"/>
                        <ns2:pt x="9847" y="21543"/>
                      </ns2:cubicBezTo>
                      <ns2:cubicBezTo>
                        <ns2:pt x="8525" y="22231"/>
                        <ns2:pt x="6931" y="22127"/>
                        <ns2:pt x="5709" y="21274"/>
                      </ns2:cubicBezTo>
                      <ns2:cubicBezTo>
                        <ns2:pt x="4488" y="20421"/>
                        <ns2:pt x="3842" y="18960"/>
                        <ns2:pt x="4033" y="17482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3" name="brain-circuit-8"/>
                <p:cNvSpPr/>
                <p:nvPr/>
              </p:nvSpPr>
              <p:spPr>
                <ns1:xfrm xmlns:ns1="http://schemas.openxmlformats.org/drawingml/2006/main">
                  <ns1:off x="6734969" y="11961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4" name="brain-circuit-9"/>
                <p:cNvSpPr/>
                <p:nvPr/>
              </p:nvSpPr>
              <p:spPr>
                <ns1:xfrm xmlns:ns1="http://schemas.openxmlformats.org/drawingml/2006/main">
                  <ns1:off x="6795294" y="894556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5" name="brain-circuit-10"/>
                <p:cNvSpPr/>
                <p:nvPr/>
              </p:nvSpPr>
              <p:spPr>
                <ns1:xfrm xmlns:ns1="http://schemas.openxmlformats.org/drawingml/2006/main">
                  <ns1:off x="6855619" y="14374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6" name="brain-circuit-11"/>
                <p:cNvSpPr/>
                <p:nvPr/>
              </p:nvSpPr>
              <p:spPr>
                <ns1:xfrm xmlns:ns1="http://schemas.openxmlformats.org/drawingml/2006/main">
                  <ns1:off x="6855619" y="1045369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</p:grpSp>
          <p:sp>
            <p:nvSpPr>
              <p:cNvPr id="10038" name="learned mapping"/>
              <p:cNvSpPr/>
              <p:nvPr/>
            </p:nvSpPr>
            <p:spPr>
              <ns1:xfrm xmlns:ns1="http://schemas.openxmlformats.org/drawingml/2006/main">
                <ns1:off x="535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68528D"/>
                </ns4:solidFill>
                <ns4:tailEnd type="triangle"/>
              </ns4:ln>
            </p:spPr>
          </p:sp>
          <p:sp>
            <p:nvSpPr>
              <p:cNvPr id="10039" name="input"/>
              <p:cNvSpPr/>
              <p:nvPr/>
            </p:nvSpPr>
            <p:spPr>
              <ns1:xfrm xmlns:ns1="http://schemas.openxmlformats.org/drawingml/2006/main">
                <ns1:off x="414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Temporal questions</ns7:t>
                </ns7:r>
              </ns7:p>
            </p:txBody>
          </p:sp>
          <p:sp>
            <p:nvSpPr>
              <p:cNvPr id="10040" name="output"/>
              <p:cNvSpPr/>
              <p:nvPr/>
            </p:nvSpPr>
            <p:spPr>
              <ns1:xfrm xmlns:ns1="http://schemas.openxmlformats.org/drawingml/2006/main">
                <ns1:off x="594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Grounded answers</ns7:t>
                </ns7:r>
              </ns7:p>
            </p:txBody>
          </p:sp>
          <p:sp>
            <p:nvSpPr>
              <p:cNvPr id="10041" name="learning signal"/>
              <p:cNvSpPr/>
              <p:nvPr/>
            </p:nvSpPr>
            <p:spPr>
              <ns1:xfrm xmlns:ns1="http://schemas.openxmlformats.org/drawingml/2006/main">
                <ns1:off x="409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Instructions and outcome feedback</ns7:t>
                </ns7:r>
              </ns7:p>
            </p:txBody>
          </p:sp>
        </p:grpSp>
        <p:grpSp>
          <p:nvGrpSpPr>
            <p:cNvPr id="10056" name="Workflow learning"/>
            <p:cNvGrpSpPr/>
            <p:nvPr/>
          </p:nvGrpSpPr>
          <p:grpSpPr>
            <ns1:xfrm xmlns:ns1="http://schemas.openxmlformats.org/drawingml/2006/main">
              <ns1:off x="7905750" y="152400"/>
              <ns1:ext cx="3276600" cy="2266950"/>
              <ns1:chOff x="7905750" y="152400"/>
              <ns1:chExt cx="3276600" cy="2266950"/>
            </ns1:xfrm>
          </p:grpSpPr>
          <p:sp>
            <p:nvSpPr>
              <p:cNvPr id="10043" name="Workflow learning"/>
              <p:cNvSpPr/>
              <p:nvPr/>
            </p:nvSpPr>
            <p:spPr>
              <ns1:xfrm xmlns:ns1="http://schemas.openxmlformats.org/drawingml/2006/main">
                <ns1:off x="790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950" b="1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Workflow learning</ns7:t>
                </ns7:r>
              </ns7:p>
            </p:txBody>
          </p:sp>
          <p:grpSp>
            <p:nvGrpSpPr>
              <p:cNvPr id="10049" name="list-checks editable icon"/>
              <p:cNvGrpSpPr/>
              <p:nvPr/>
            </p:nvGrpSpPr>
            <p:grpSpPr>
              <ns1:xfrm xmlns:ns1="http://schemas.openxmlformats.org/drawingml/2006/main">
                <ns1:off x="8267700" y="819150"/>
                <ns1:ext cx="723900" cy="723900"/>
                <ns1:chOff x="8267700" y="819150"/>
                <ns1:chExt cx="723900" cy="723900"/>
              </ns1:xfrm>
            </p:grpSpPr>
            <p:sp>
              <p:nvSpPr>
                <p:cNvPr id="10044" name="list-checks-0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5" name="list-checks-1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6" name="list-checks-2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7" name="list-checks-3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8" name="list-checks-4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051" name="wrench editable icon"/>
              <p:cNvGrpSpPr/>
              <p:nvPr/>
            </p:nvGrpSpPr>
            <p:grpSpPr>
              <ns1:xfrm xmlns:ns1="http://schemas.openxmlformats.org/drawingml/2006/main">
                <ns1:off x="10077450" y="819150"/>
                <ns1:ext cx="723900" cy="723900"/>
                <ns1:chOff x="10077450" y="819150"/>
                <ns1:chExt cx="723900" cy="723900"/>
              </ns1:xfrm>
            </p:grpSpPr>
            <p:sp>
              <p:nvSpPr>
                <p:cNvPr id="10050" name="wrench-0"/>
                <p:cNvSpPr/>
                <p:nvPr/>
              </p:nvSpPr>
              <p:spPr>
                <ns1:xfrm xmlns:ns1="http://schemas.openxmlformats.org/drawingml/2006/main">
                  <ns1:off x="1007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52" name="learned mapping"/>
              <p:cNvSpPr/>
              <p:nvPr/>
            </p:nvSpPr>
            <p:spPr>
              <ns1:xfrm xmlns:ns1="http://schemas.openxmlformats.org/drawingml/2006/main">
                <ns1:off x="916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9846C"/>
                </ns4:solidFill>
                <ns4:tailEnd type="triangle"/>
              </ns4:ln>
            </p:spPr>
          </p:sp>
          <p:sp>
            <p:nvSpPr>
              <p:cNvPr id="10053" name="input"/>
              <p:cNvSpPr/>
              <p:nvPr/>
            </p:nvSpPr>
            <p:spPr>
              <ns1:xfrm xmlns:ns1="http://schemas.openxmlformats.org/drawingml/2006/main">
                <ns1:off x="795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Tool trajectories</ns7:t>
                </ns7:r>
              </ns7:p>
            </p:txBody>
          </p:sp>
          <p:sp>
            <p:nvSpPr>
              <p:cNvPr id="10054" name="output"/>
              <p:cNvSpPr/>
              <p:nvPr/>
            </p:nvSpPr>
            <p:spPr>
              <ns1:xfrm xmlns:ns1="http://schemas.openxmlformats.org/drawingml/2006/main">
                <ns1:off x="975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Action policy</ns7:t>
                </ns7:r>
              </ns7:p>
            </p:txBody>
          </p:sp>
          <p:sp>
            <p:nvSpPr>
              <p:cNvPr id="10055" name="learning signal"/>
              <p:cNvSpPr/>
              <p:nvPr/>
            </p:nvSpPr>
            <p:spPr>
              <ns1:xfrm xmlns:ns1="http://schemas.openxmlformats.org/drawingml/2006/main">
                <ns1:off x="790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Execution and preference feedback</ns7:t>
                </ns7:r>
              </ns7:p>
            </p:txBody>
          </p:sp>
        </p:grpSp>
        <p:sp>
          <p:nvSpPr>
            <p:cNvPr id="10057" name="divider"/>
            <p:cNvSpPr/>
            <p:nvPr/>
          </p:nvSpPr>
          <p:spPr>
            <ns1:xfrm xmlns:ns1="http://schemas.openxmlformats.org/drawingml/2006/main">
              <ns1:off x="285750" y="2619375"/>
              <ns1:ext cx="10858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40000" h="1000" fill="none">
                  <ns2:moveTo>
                    <ns2:pt x="0" y="0"/>
                  </ns2:moveTo>
                  <ns2:lnTo>
                    <ns2:pt x="11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9DFE4"/>
              </ns4:solidFill>
            </ns4:ln>
          </p:spPr>
        </p:sp>
        <p:grpSp>
          <p:nvGrpSpPr>
            <p:cNvPr id="10060" name="messages-square editable icon"/>
            <p:cNvGrpSpPr/>
            <p:nvPr/>
          </p:nvGrpSpPr>
          <p:grpSpPr>
            <ns1:xfrm xmlns:ns1="http://schemas.openxmlformats.org/drawingml/2006/main">
              <ns1:off x="523875" y="3171825"/>
              <ns1:ext cx="619125" cy="619125"/>
              <ns1:chOff x="523875" y="3171825"/>
              <ns1:chExt cx="619125" cy="619125"/>
            </ns1:xfrm>
          </p:grpSpPr>
          <p:sp>
            <p:nvSpPr>
              <p:cNvPr id="10058" name="messages-square-0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059" name="messages-square-1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061" name="temporal signal"/>
            <p:cNvSpPr/>
            <p:nvPr/>
          </p:nvSpPr>
          <p:spPr>
            <ns1:xfrm xmlns:ns1="http://schemas.openxmlformats.org/drawingml/2006/main">
              <ns1:off x="523875" y="3948210"/>
              <ns1:ext cx="619125" cy="183309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19245" fill="none">
                  <ns2:moveTo>
                    <ns2:pt x="0" y="13490"/>
                  </ns2:moveTo>
                  <ns2:lnTo>
                    <ns2:pt x="5417" y="19245"/>
                  </ns2:lnTo>
                  <ns2:lnTo>
                    <ns2:pt x="10833" y="4657"/>
                  </ns2:lnTo>
                  <ns2:lnTo>
                    <ns2:pt x="16250" y="14013"/>
                  </ns2:lnTo>
                  <ns2:lnTo>
                    <ns2:pt x="21667" y="15530"/>
                  </ns2:lnTo>
                  <ns2:lnTo>
                    <ns2:pt x="27083" y="2330"/>
                  </ns2:lnTo>
                  <ns2:lnTo>
                    <ns2:pt x="32500" y="14291"/>
                  </ns2:lnTo>
                  <ns2:lnTo>
                    <ns2:pt x="37917" y="11354"/>
                  </ns2:lnTo>
                  <ns2:lnTo>
                    <ns2:pt x="43333" y="791"/>
                  </ns2:lnTo>
                  <ns2:lnTo>
                    <ns2:pt x="48750" y="14102"/>
                  </ns2:lnTo>
                  <ns2:lnTo>
                    <ns2:pt x="54167" y="6940"/>
                  </ns2:lnTo>
                  <ns2:lnTo>
                    <ns2:pt x="59583" y="0"/>
                  </ns2:lnTo>
                  <ns2:lnTo>
                    <ns2:pt x="65000" y="13272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062" name="observations"/>
            <p:cNvSpPr/>
            <p:nvPr/>
          </p:nvSpPr>
          <p:spPr>
            <ns1:xfrm xmlns:ns1="http://schemas.openxmlformats.org/drawingml/2006/main">
              <ns1:off x="190500" y="4429125"/>
              <ns1:ext cx="1333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Observations</ns7:t>
              </ns7:r>
            </ns7:p>
          </p:txBody>
        </p:sp>
        <p:grpSp>
          <p:nvGrpSpPr>
            <p:cNvPr id="10069" name="bot editable icon"/>
            <p:cNvGrpSpPr/>
            <p:nvPr/>
          </p:nvGrpSpPr>
          <p:grpSpPr>
            <ns1:xfrm xmlns:ns1="http://schemas.openxmlformats.org/drawingml/2006/main">
              <ns1:off x="4381500" y="3095625"/>
              <ns1:ext cx="1047750" cy="1047750"/>
              <ns1:chOff x="4381500" y="3095625"/>
              <ns1:chExt cx="1047750" cy="1047750"/>
            </ns1:xfrm>
          </p:grpSpPr>
          <p:sp>
            <p:nvSpPr>
              <p:cNvPr id="10063" name="bot-0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4" name="bot-1"/>
              <p:cNvSpPr/>
              <p:nvPr/>
            </p:nvSpPr>
            <p:spPr>
              <ns1:xfrm xmlns:ns1="http://schemas.openxmlformats.org/drawingml/2006/main">
                <ns1:off x="4556125" y="3444875"/>
                <ns1:ext cx="698500" cy="52387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65484" cap="rnd">
                <ns5:solidFill>
                  <ns5:srgbClr val="68528D"/>
                </ns5:solidFill>
              </ns5:ln>
            </p:spPr>
          </p:sp>
          <p:sp>
            <p:nvSpPr>
              <p:cNvPr id="10065" name="bot-2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6" name="bot-3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7" name="bot-4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8" name="bot-5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</p:grpSp>
        <p:sp>
          <p:nvSpPr>
            <p:cNvPr id="10070" name="llm"/>
            <p:cNvSpPr/>
            <p:nvPr/>
          </p:nvSpPr>
          <p:spPr>
            <ns1:xfrm xmlns:ns1="http://schemas.openxmlformats.org/drawingml/2006/main">
              <ns1:off x="4286250" y="4238625"/>
              <ns1:ext cx="1238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7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LLM</ns7:t>
              </ns7:r>
            </ns7:p>
          </p:txBody>
        </p:sp>
        <p:grpSp>
          <p:nvGrpSpPr>
            <p:cNvPr id="10072" name="wrench editable icon"/>
            <p:cNvGrpSpPr/>
            <p:nvPr/>
          </p:nvGrpSpPr>
          <p:grpSpPr>
            <ns1:xfrm xmlns:ns1="http://schemas.openxmlformats.org/drawingml/2006/main">
              <ns1:off x="8572500" y="3124200"/>
              <ns1:ext cx="666750" cy="666750"/>
              <ns1:chOff x="8572500" y="3124200"/>
              <ns1:chExt cx="666750" cy="666750"/>
            </ns1:xfrm>
          </p:grpSpPr>
          <p:sp>
            <p:nvSpPr>
              <p:cNvPr id="10071" name="wrench-0"/>
              <p:cNvSpPr/>
              <p:nvPr/>
            </p:nvSpPr>
            <p:spPr>
              <ns1:xfrm xmlns:ns1="http://schemas.openxmlformats.org/drawingml/2006/main">
                <ns1:off x="85725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9846C"/>
                </ns4:solidFill>
              </ns4:ln>
            </p:spPr>
          </p:sp>
        </p:grpSp>
        <p:sp>
          <p:nvSpPr>
            <p:cNvPr id="10073" name="actions"/>
            <p:cNvSpPr/>
            <p:nvPr/>
          </p:nvSpPr>
          <p:spPr>
            <ns1:xfrm xmlns:ns1="http://schemas.openxmlformats.org/drawingml/2006/main">
              <ns1:off x="8096250" y="4019550"/>
              <ns1:ext cx="1619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Tool actions</ns7:t>
              </ns7:r>
            </ns7:p>
          </p:txBody>
        </p:sp>
        <p:grpSp>
          <p:nvGrpSpPr>
            <p:cNvPr id="10080" name="chart-no-axes-combined editable icon"/>
            <p:cNvGrpSpPr/>
            <p:nvPr/>
          </p:nvGrpSpPr>
          <p:grpSpPr>
            <ns1:xfrm xmlns:ns1="http://schemas.openxmlformats.org/drawingml/2006/main">
              <ns1:off x="10020300" y="3124200"/>
              <ns1:ext cx="666750" cy="666750"/>
              <ns1:chOff x="10020300" y="3124200"/>
              <ns1:chExt cx="666750" cy="666750"/>
            </ns1:xfrm>
          </p:grpSpPr>
          <p:sp>
            <p:nvSpPr>
              <p:cNvPr id="10074" name="chart-no-axes-combined-0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5" name="chart-no-axes-combined-1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6" name="chart-no-axes-combined-2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7" name="chart-no-axes-combined-3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8" name="chart-no-axes-combined-4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  <p:sp>
            <p:nvSpPr>
              <p:cNvPr id="10079" name="chart-no-axes-combined-5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376A0"/>
                </ns4:solidFill>
              </ns4:ln>
            </p:spPr>
          </p:sp>
        </p:grpSp>
        <p:sp>
          <p:nvSpPr>
            <p:cNvPr id="10081" name="answers"/>
            <p:cNvSpPr/>
            <p:nvPr/>
          </p:nvSpPr>
          <p:spPr>
            <ns1:xfrm xmlns:ns1="http://schemas.openxmlformats.org/drawingml/2006/main">
              <ns1:off x="9763125" y="4019550"/>
              <ns1:ext cx="1238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Outputs</ns7:t>
              </ns7:r>
            </ns7:p>
          </p:txBody>
        </p:sp>
        <p:sp>
          <p:nvSpPr>
            <p:cNvPr id="10082" name="encode"/>
            <p:cNvSpPr/>
            <p:nvPr/>
          </p:nvSpPr>
          <p:spPr>
            <ns1:xfrm xmlns:ns1="http://schemas.openxmlformats.org/drawingml/2006/main">
              <ns1:off x="1524000" y="367665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3" name="encoding"/>
            <p:cNvSpPr/>
            <p:nvPr/>
          </p:nvSpPr>
          <p:spPr>
            <ns1:xfrm xmlns:ns1="http://schemas.openxmlformats.org/drawingml/2006/main">
              <ns1:off x="1714500" y="3286125"/>
              <ns1:ext cx="21907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Encode / retrieve</ns7:t>
              </ns7:r>
            </ns7:p>
          </p:txBody>
        </p:sp>
        <p:sp>
          <p:nvSpPr>
            <p:cNvPr id="10084" name="act"/>
            <p:cNvSpPr/>
            <p:nvPr/>
          </p:nvSpPr>
          <p:spPr>
            <ns1:xfrm xmlns:ns1="http://schemas.openxmlformats.org/drawingml/2006/main">
              <ns1:off x="5619750" y="3676650"/>
              <ns1:ext cx="26289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6000" h="1000" fill="none">
                  <ns2:moveTo>
                    <ns2:pt x="0" y="0"/>
                  </ns2:moveTo>
                  <ns2:lnTo>
                    <ns2:pt x="27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085" name="selection"/>
            <p:cNvSpPr/>
            <p:nvPr/>
          </p:nvSpPr>
          <p:spPr>
            <ns1:xfrm xmlns:ns1="http://schemas.openxmlformats.org/drawingml/2006/main">
              <ns1:off x="5905500" y="3286125"/>
              <ns1:ext cx="2095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Select and assess</ns7:t>
              </ns7:r>
            </ns7:p>
          </p:txBody>
        </p:sp>
        <p:sp>
          <p:nvSpPr>
            <p:cNvPr id="10086" name="feedback"/>
            <p:cNvSpPr/>
            <p:nvPr/>
          </p:nvSpPr>
          <p:spPr>
            <ns1:xfrm xmlns:ns1="http://schemas.openxmlformats.org/drawingml/2006/main">
              <ns1:off x="1076325" y="4476750"/>
              <ns1:ext cx="9544050" cy="5715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2000" h="60000" fill="none">
                  <ns2:moveTo>
                    <ns2:pt x="1002000" y="0"/>
                  </ns2:moveTo>
                  <ns2:lnTo>
                    <ns2:pt x="1002000" y="60000"/>
                  </ns2:lnTo>
                  <ns2:lnTo>
                    <ns2:pt x="0" y="6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7" name="feedback label"/>
            <p:cNvSpPr/>
            <p:nvPr/>
          </p:nvSpPr>
          <p:spPr>
            <ns1:xfrm xmlns:ns1="http://schemas.openxmlformats.org/drawingml/2006/main">
              <ns1:off x="3048000" y="5162550"/>
              <ns1:ext cx="4762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Harness: execution, state and feedback</ns7:t>
              </ns7:r>
            </ns7:p>
          </p:txBody>
        </p:sp>
        <p:grpSp>
          <p:nvGrpSpPr>
            <p:cNvPr id="10091" name="target editable icon"/>
            <p:cNvGrpSpPr/>
            <p:nvPr/>
          </p:nvGrpSpPr>
          <p:grpSpPr>
            <ns1:xfrm xmlns:ns1="http://schemas.openxmlformats.org/drawingml/2006/main">
              <ns1:off x="596900" y="5645150"/>
              <ns1:ext cx="254000" cy="254000"/>
              <ns1:chOff x="596900" y="5645150"/>
              <ns1:chExt cx="254000" cy="254000"/>
            </ns1:xfrm>
          </p:grpSpPr>
          <p:sp>
            <p:nvSpPr>
              <p:cNvPr id="10088" name="target-0"/>
              <p:cNvSpPr/>
              <p:nvPr/>
            </p:nvSpPr>
            <p:spPr>
              <ns1:xfrm xmlns:ns1="http://schemas.openxmlformats.org/drawingml/2006/main">
                <ns1:off x="596900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89" name="target-1"/>
              <p:cNvSpPr/>
              <p:nvPr/>
            </p:nvSpPr>
            <p:spPr>
              <ns1:xfrm xmlns:ns1="http://schemas.openxmlformats.org/drawingml/2006/main">
                <ns1:off x="647700" y="5695950"/>
                <ns1:ext cx="152400" cy="1524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0" name="target-2"/>
              <p:cNvSpPr/>
              <p:nvPr/>
            </p:nvSpPr>
            <p:spPr>
              <ns1:xfrm xmlns:ns1="http://schemas.openxmlformats.org/drawingml/2006/main">
                <ns1:off x="698500" y="5746750"/>
                <ns1:ext cx="50800" cy="508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</p:grpSp>
        <p:sp>
          <p:nvSpPr>
            <p:cNvPr id="10092" name="Forecast accuracy"/>
            <p:cNvSpPr/>
            <p:nvPr/>
          </p:nvSpPr>
          <p:spPr>
            <ns1:xfrm xmlns:ns1="http://schemas.openxmlformats.org/drawingml/2006/main">
              <ns1:off x="971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Forecast accuracy</ns7:t>
              </ns7:r>
            </ns7:p>
          </p:txBody>
        </p:sp>
        <p:grpSp>
          <p:nvGrpSpPr>
            <p:cNvPr id="10099" name="scan-search editable icon"/>
            <p:cNvGrpSpPr/>
            <p:nvPr/>
          </p:nvGrpSpPr>
          <p:grpSpPr>
            <ns1:xfrm xmlns:ns1="http://schemas.openxmlformats.org/drawingml/2006/main">
              <ns1:off x="3381375" y="5619750"/>
              <ns1:ext cx="304800" cy="304800"/>
              <ns1:chOff x="3381375" y="5619750"/>
              <ns1:chExt cx="304800" cy="304800"/>
            </ns1:xfrm>
          </p:grpSpPr>
          <p:sp>
            <p:nvSpPr>
              <p:cNvPr id="10093" name="scan-search-0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4" name="scan-search-1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5" name="scan-search-2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6" name="scan-search-3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7" name="scan-search-4"/>
              <p:cNvSpPr/>
              <p:nvPr/>
            </p:nvSpPr>
            <p:spPr>
              <ns1:xfrm xmlns:ns1="http://schemas.openxmlformats.org/drawingml/2006/main">
                <ns1:off x="3495675" y="5734050"/>
                <ns1:ext cx="76200" cy="762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8" name="scan-search-5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0" name="Explanation faithfulness"/>
            <p:cNvSpPr/>
            <p:nvPr/>
          </p:nvSpPr>
          <p:spPr>
            <ns1:xfrm xmlns:ns1="http://schemas.openxmlformats.org/drawingml/2006/main">
              <ns1:off x="378142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Explanation faithfulness</ns7:t>
              </ns7:r>
            </ns7:p>
          </p:txBody>
        </p:sp>
        <p:grpSp>
          <p:nvGrpSpPr>
            <p:cNvPr id="10103" name="book-open editable icon"/>
            <p:cNvGrpSpPr/>
            <p:nvPr/>
          </p:nvGrpSpPr>
          <p:grpSpPr>
            <ns1:xfrm xmlns:ns1="http://schemas.openxmlformats.org/drawingml/2006/main">
              <ns1:off x="6286500" y="5619750"/>
              <ns1:ext cx="304800" cy="304800"/>
              <ns1:chOff x="6286500" y="5619750"/>
              <ns1:chExt cx="304800" cy="304800"/>
            </ns1:xfrm>
          </p:grpSpPr>
          <p:sp>
            <p:nvSpPr>
              <p:cNvPr id="10101" name="book-open-0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102" name="book-open-1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4" name="Evidence grounding"/>
            <p:cNvSpPr/>
            <p:nvPr/>
          </p:nvSpPr>
          <p:spPr>
            <ns1:xfrm xmlns:ns1="http://schemas.openxmlformats.org/drawingml/2006/main">
              <ns1:off x="6686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Evidence grounding</ns7:t>
              </ns7:r>
            </ns7:p>
          </p:txBody>
        </p:sp>
        <p:grpSp>
          <p:nvGrpSpPr>
            <p:cNvPr id="10107" name="circle-check editable icon"/>
            <p:cNvGrpSpPr/>
            <p:nvPr/>
          </p:nvGrpSpPr>
          <p:grpSpPr>
            <ns1:xfrm xmlns:ns1="http://schemas.openxmlformats.org/drawingml/2006/main">
              <ns1:off x="9001125" y="5619750"/>
              <ns1:ext cx="304800" cy="304800"/>
              <ns1:chOff x="9001125" y="5619750"/>
              <ns1:chExt cx="304800" cy="304800"/>
            </ns1:xfrm>
          </p:grpSpPr>
          <p:sp>
            <p:nvSpPr>
              <p:cNvPr id="10105" name="circle-check-0"/>
              <p:cNvSpPr/>
              <p:nvPr/>
            </p:nvSpPr>
            <p:spPr>
              <ns1:xfrm xmlns:ns1="http://schemas.openxmlformats.org/drawingml/2006/main">
                <ns1:off x="9026525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106" name="circle-check-1"/>
              <p:cNvSpPr/>
              <p:nvPr/>
            </p:nvSpPr>
            <p:spPr>
              <ns1:xfrm xmlns:ns1="http://schemas.openxmlformats.org/drawingml/2006/main">
                <ns1:off x="900112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8" name="Action quality"/>
            <p:cNvSpPr/>
            <p:nvPr/>
          </p:nvSpPr>
          <p:spPr>
            <ns1:xfrm xmlns:ns1="http://schemas.openxmlformats.org/drawingml/2006/main">
              <ns1:off x="940117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Action quality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