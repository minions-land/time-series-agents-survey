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28a8f95bcf4ac6" /><Relationship Type="http://schemas.openxmlformats.org/officeDocument/2006/relationships/extended-properties" Target="/docProps/app.xml" Id="Rcd5dcd346ddd4c46" /><Relationship Type="http://schemas.openxmlformats.org/officeDocument/2006/relationships/officeDocument" Target="/ppt/presentation.xml" Id="Rc3690c6c0cbf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cff9043b644fe"/>
  </p:sldMasterIdLst>
  <p:notesMasterIdLst>
    <p:notesMasterId xmlns:r="http://schemas.openxmlformats.org/officeDocument/2006/relationships" r:id="R766dd5f8c0c84945"/>
  </p:notesMasterIdLst>
  <p:sldIdLst>
    <p:sldId xmlns:r="http://schemas.openxmlformats.org/officeDocument/2006/relationships" id="256" r:id="Ra4f7abfbff9a4049"/>
    <p:sldId xmlns:r="http://schemas.openxmlformats.org/officeDocument/2006/relationships" id="257" r:id="R013da076459246b3"/>
    <p:sldId xmlns:r="http://schemas.openxmlformats.org/officeDocument/2006/relationships" id="258" r:id="Re74b5dbf8bf149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552183051c46ae" /><Relationship Type="http://schemas.openxmlformats.org/officeDocument/2006/relationships/slideMaster" Target="/ppt/slideMasters/slideMaster1.xml" Id="Ra26cff9043b644fe" /><Relationship Type="http://schemas.openxmlformats.org/officeDocument/2006/relationships/notesMaster" Target="/ppt/notesMasters/notesMaster1.xml" Id="R766dd5f8c0c84945" /><Relationship Type="http://schemas.openxmlformats.org/officeDocument/2006/relationships/presProps" Target="/ppt/presProps.xml" Id="R31962c161958492d" /><Relationship Type="http://schemas.openxmlformats.org/officeDocument/2006/relationships/tableStyles" Target="/ppt/tableStyles.xml" Id="R0d0c0aba29d048ea" /><Relationship Type="http://schemas.openxmlformats.org/officeDocument/2006/relationships/slide" Target="/ppt/slides/slide1.xml" Id="Ra4f7abfbff9a4049" /><Relationship Type="http://schemas.openxmlformats.org/officeDocument/2006/relationships/slide" Target="/ppt/slides/slide2.xml" Id="R013da076459246b3" /><Relationship Type="http://schemas.openxmlformats.org/officeDocument/2006/relationships/slide" Target="/ppt/slides/slide3.xml" Id="Re74b5dbf8bf149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ee465aa4c347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48346fa9db443c" /><Relationship Type="http://schemas.openxmlformats.org/officeDocument/2006/relationships/notesMaster" Target="/ppt/notesMasters/notesMaster1.xml" Id="R1e7f00ab84904a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c9c586fdc4f28" /><Relationship Type="http://schemas.openxmlformats.org/officeDocument/2006/relationships/notesMaster" Target="/ppt/notesMasters/notesMaster1.xml" Id="R8c0a2a870c87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a9302ca6454911" /><Relationship Type="http://schemas.openxmlformats.org/officeDocument/2006/relationships/notesMaster" Target="/ppt/notesMasters/notesMaster1.xml" Id="R906729f2d8244d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synthesized for this survey. The visual organization follows the survey sections and the paper-card schema. The layout style is adapted from the user-supplied Recursive Self-Improvement survey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synthesized from the seven-dimension General Harness vocabulary and the temporal obligations discussed in Section 5. The layout is adapted from the layered landscape figures in the user-supplied RSI survey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works and dates are drawn from the maintained paper-classification ledger in this survey. Names are used as ledger labels; the chart is a synthesis rather than a citation-priority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620b156f949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197bc54a6445e9" /><Relationship Type="http://schemas.openxmlformats.org/officeDocument/2006/relationships/slideLayout" Target="/ppt/slideLayouts/slideLayout1.xml" Id="Rdb8be8ad6c6646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be8ad6c66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2ac5772b946aa" /><Relationship Type="http://schemas.openxmlformats.org/officeDocument/2006/relationships/notesSlide" Target="/ppt/notesSlides/notesSlide1.xml" Id="R686e0ab9d71d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374b9491d4afd" /><Relationship Type="http://schemas.openxmlformats.org/officeDocument/2006/relationships/notesSlide" Target="/ppt/notesSlides/notesSlide2.xml" Id="Rf47867a1fd6c48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b9b7bf9f44886" /><Relationship Type="http://schemas.openxmlformats.org/officeDocument/2006/relationships/notesSlide" Target="/ppt/notesSlides/notesSlide3.xml" Id="Rba646755bff7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A6CCD6-BDF8-4DAD-A5DE-C9907A99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Organization of the survey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7F08C-5A0F-4037-89AF-188A567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Sections follow the construction of a Time-Series Agent and the evidence needed to evaluate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AB33A-8F57-4F04-9473-18DCEF8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95400"/>
            <a:ext cx="38100" cy="485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4652"/>
          </a:solidFill>
          <a:ln xmlns:a="http://schemas.openxmlformats.org/drawingml/2006/main" w="13335">
            <a:solidFill>
              <a:srgbClr val="3D46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850A2-2A7A-4395-AE67-2B0D70E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276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F2B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A2FD3-AB36-4F6A-B546-03C8548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6680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A3545-7F15-40AB-83B7-7342E159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1442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4FC23-C54C-4CEB-871D-88928867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049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93077-32E8-4D0E-B7AB-0D4363D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6680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0478">
            <a:solidFill>
              <a:srgbClr val="B77F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78EB-A9D2-47AF-A8FE-B5BC5445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239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Scope, motivation, and central questions</a:t>
            </a:r>
          </a:p>
        </p:txBody>
      </p:sp>
      <p:cxnSp>
        <p:nvCxnSpPr>
          <p:cNvPr id="8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10200" y="12906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non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AB24B-5A07-4D0D-9931-4E523785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F2B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695A5-2AF9-4E88-BC21-CCF76A04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0972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8B44B-1717-4118-8D53-ECBE986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573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73FB9-D5F7-4AA9-8E46-0A316AAE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4782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What Is a Time-Series Agent?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CE3C6-276F-437E-8EE1-E0D321CA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972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0478">
            <a:solidFill>
              <a:srgbClr val="B77F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799E3-16B0-4C60-9C68-36E5BCDC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668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Construction layers and paper-card unit</a:t>
            </a:r>
          </a:p>
        </p:txBody>
      </p:sp>
      <p:cxnSp>
        <p:nvCxnSpPr>
          <p:cNvPr id="89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410200" y="183356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068DC-7AF9-45DC-A6C0-87FDFEB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62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B02F9-E1A5-473E-BC4E-EB43F154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5265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A9CDC-FCDC-4130-819E-8855D025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002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474B1-35AE-4A86-90B1-BADF467B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907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LLM-Side Contributions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211EE-69A2-42FC-9455-03B800B7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5265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0478">
            <a:solidFill>
              <a:srgbClr val="78639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0C129-F1D0-48A0-B647-33257443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Temporal representation, alignment, reasoning</a:t>
            </a:r>
          </a:p>
        </p:txBody>
      </p:sp>
      <p:cxnSp>
        <p:nvCxnSpPr>
          <p:cNvPr id="96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10200" y="23764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31BB4-CDD0-47F0-BB4A-A7505A5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E348B-C812-41C5-A707-2386E7B5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9557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1ECCA-E854-4717-9D22-6D71729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B55F2-1A10-4FEC-97B3-F43441F7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336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General Harness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FB075-1357-4E64-BC32-0B9C2CA0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9557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6FA9C-4C90-48A7-8254-E57A820B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527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Seven reusable runtime dimensions</a:t>
            </a:r>
          </a:p>
        </p:txBody>
      </p: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410200" y="291941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04617-C0BB-4763-BF4D-1334A80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E8DE2F-81BF-4E3E-8701-EA69F384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91844B-DE3C-49D6-A9BF-376463E3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8612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C2A862-5F3F-449E-A69E-38F311B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766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General Time-Series Harness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9406A9-3887-483D-9540-A017EDF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9F1F0F-FC0A-42BD-89B8-E3980952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Temporal contracts that transfer across tasks</a:t>
            </a:r>
          </a:p>
        </p:txBody>
      </p:sp>
      <p:cxnSp>
        <p:nvCxnSpPr>
          <p:cNvPr id="110" name="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410200" y="34623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297AF-0F99-445C-A573-9912ACEC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90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16C1CC-DEB1-4D69-9D5A-93410534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8142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A227EB-028C-4890-BC4E-A0AA20AD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0CA766-4FF6-465B-8AC9-A68DABB7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Task-Specific Harness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559CDF-C026-42FD-90EE-D1D3B970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8142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32894B-D9A8-4868-98F7-C8045E48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385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Forecasting, augmentation, anomaly, decision support</a:t>
            </a:r>
          </a:p>
        </p:txBody>
      </p:sp>
      <p:cxnSp>
        <p:nvCxnSpPr>
          <p:cNvPr id="11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410200" y="400526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31BBD6-7F71-4B19-A571-EEB5043A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6B0B4C-A9A0-47BB-BFF9-BF6202AD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5C04C7-7135-4388-901D-A66415AC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719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51C121-22A0-4751-9005-A07FB17C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624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Infrastructure and Benchmarks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43F3F4-2435-480D-BB9F-852BFB87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2435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21B81C-C7D8-4089-8CC8-AB78B054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Episodes, traces, tools, and task outcomes</a:t>
            </a:r>
          </a:p>
        </p:txBody>
      </p:sp>
      <p:cxnSp>
        <p:nvCxnSpPr>
          <p:cNvPr id="124" name=""/>
          <p:cNvCxnSpPr>
            <a:stCxn xmlns:a="http://schemas.openxmlformats.org/drawingml/2006/main" id="47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5410200" y="45481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5A246-0191-47FD-B7CE-422BF443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76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A1E453-4222-4273-A9A5-6747A047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6727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E10E41-2AF2-4BB7-AFF1-9752A432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610291-97A6-47C7-A7CE-9323512E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Open Problems and Case Studies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811C92-0F03-406D-BF39-6385FA67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6727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0478">
            <a:solidFill>
              <a:srgbClr val="78639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C979D5-5DEB-4FBD-809D-EA594DAB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244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Where modules and evaluation remain incomplete</a:t>
            </a:r>
          </a:p>
        </p:txBody>
      </p:sp>
      <p:cxnSp>
        <p:nvCxnSpPr>
          <p:cNvPr id="131" name=""/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410200" y="509111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none" w="med" len="me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86DB96-4B27-4EF8-B175-B7B12655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19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1C5FD3-1D71-4554-A85A-ACFD87B6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dash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C444CD-B6F2-4EB7-9B05-6046A5A8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5782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§ 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C602F5-572B-4114-8473-9225FA8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483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5DC341-65DF-4169-B0F1-1EA44635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1020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0478">
            <a:solidFill>
              <a:srgbClr val="78639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69428D-0260-4E44-BF47-8B5EF231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673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A reusable map for future systems</a:t>
            </a:r>
          </a:p>
        </p:txBody>
      </p:sp>
      <p:cxnSp>
        <p:nvCxnSpPr>
          <p:cNvPr id="138" name=""/>
          <p:cNvCxnSpPr>
            <a:stCxn xmlns:a="http://schemas.openxmlformats.org/drawingml/2006/main" id="61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410200" y="56340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none" w="med" len="me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65B410-865C-4548-9D28-08C3EAE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0"/>
            <a:ext cx="1028700" cy="157162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2383">
            <a:solidFill>
              <a:srgbClr val="438B86"/>
            </a:solidFill>
            <a:prstDash val="dash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93A64B-7DD3-4323-BCFC-F2457015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838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Time-Series</a:t>
            </a:r>
          </a:p>
          <a:p xmlns:a="http://schemas.openxmlformats.org/drawingml/2006/main">
            <a:pPr>
              <a:defRPr sz="1575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>
              <a:defRPr sz="1575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Survey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DAC362-CEC9-4A76-AA53-7317FD56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956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reader's map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3C8E13-5B2B-4292-894F-3C3D08EC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95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78D5E5-288B-4B83-B528-0FEB42E5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343650"/>
            <a:ext cx="98488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32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31F795-31C4-4005-AE28-F224712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00800"/>
            <a:ext cx="942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Paper card fields: claim  ·  evidence locator  ·  module layer  ·  task family  ·  BibTeX  ·  review status</a:t>
            </a:r>
          </a:p>
        </p:txBody>
      </p:sp>
    </p:spTree>
    <p:extLst>
      <p:ext uri="{BB962C8B-B14F-4D97-AF65-F5344CB8AC3E}">
        <p14:creationId xmlns:p14="http://schemas.microsoft.com/office/powerpoint/2010/main" val="142211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B01FE3-1618-431B-B18B-A2DCCC49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The General Time-Series Harness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69182-D278-4DC3-ADBC-E7B58762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Reusable temporal obligations sit between a general runtime and a task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FD402-51DE-479A-BEF9-60A8FD71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Read from the center outward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33D6E-310A-49AD-B01F-9D781CD2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1430">
            <a:solidFill>
              <a:srgbClr val="B77F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CA5AF-8598-4081-9779-D0377AFA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7F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77F2B"/>
                </a:solidFill>
                <a:latin typeface="Arial"/>
                <a:ea typeface="Arial"/>
                <a:cs typeface="Arial"/>
              </a:rPr>
              <a:t>Temporal objects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FF5F4-3FBF-4AF3-8A4D-8D6F9BE7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time, window, horizon,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6F81A-84F9-422B-9AB7-6D3BBC05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E0ABD-33ED-4EC8-94BC-D8CED933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Temporal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3BF24-23A9-4378-A9F6-55A3B75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align, aggregate, resample,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6DE32-5A77-4D6F-B148-B8A9A6CE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AC7C6-6291-4A58-887D-1ED3B853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Temporal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5197F-BE0E-42C9-9DF6-1A40B062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provenance, availability, 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26023-7B9C-4D73-99C9-AF7C1CB6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04900"/>
            <a:ext cx="5905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3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79755-736C-429F-89EB-E255C85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Reusable across time-series tasks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75442-6F3E-47ED-A303-6AD4CBE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335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1430">
            <a:solidFill>
              <a:srgbClr val="B77F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71CC6-AFB7-4EE3-8B16-42A06430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81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7F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77F2B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03412-6828-4803-A29C-6D3C5A16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811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as-of time · horizon · frequency · channels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E34A9-F0EA-416F-BD24-E77E0543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193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A434C-71AE-422D-9DC4-5FF886F6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Memory &amp;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CA6C0-8DF5-4A7A-A13F-A0338984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669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point-in-time state · provenance · event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572AC-3796-48C6-A260-8935F14A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051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68164-D1B6-44E5-B43F-B9D9F9A7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527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Tools &amp;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9F35E-6250-4FEB-9988-87A2C18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527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temporal query · forecasting model · simulator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0D6FC-D3DD-415A-B3F4-7BA51F40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909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1430">
            <a:solidFill>
              <a:srgbClr val="78639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5B880-02C0-4FD2-B360-C8F7046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385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78639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8639F"/>
                </a:solidFill>
                <a:latin typeface="Arial"/>
                <a:ea typeface="Arial"/>
                <a:cs typeface="Arial"/>
              </a:rPr>
              <a:t>Control &amp; verification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4CB0F-94A3-4E07-91E2-901311D8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385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chronology guard · numerical check · revision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63816-2E59-4690-89DC-1E987127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70E25-58C4-4CFF-AC90-3FF82737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243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Planning &amp; coordination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C73DB-31A6-4CB3-9EE1-F6CBCF6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243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workflow · delegation · review · stopping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788544-EEBE-4BB8-AD49-F1942C9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104900"/>
            <a:ext cx="2381250" cy="4476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38B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2CBDB-297D-4AC6-9F3A-55536F7A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573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Task contracts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466A37-24D8-47D9-A52A-679E7F83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0FBF1E-A3FE-4423-A666-E705F5D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669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3D86A-D7EA-4237-9770-BD035C3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050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origin, horizon, calibration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74B061-BCFA-4180-8098-A80130D2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669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89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8334375" y="20859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5485C3-1309-40B2-895A-EB926C2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479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7ED38-59D6-404A-87A5-63094E5E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FA542A-B2D5-40D8-AE7F-F98E14E3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432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fidelity, diversity, utility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8F82BA-44E0-4302-AA72-A10792E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94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 flipV="1">
            <a:off x="8334375" y="29241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AFD13A-3D53-47E2-A4DE-8771DEF9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861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6A8D5B-FAF8-47AD-89D6-B18A5E7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433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Anomaly diagnosis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0A3830-5896-4E58-A836-E0A762B9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814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event, window, cause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D0E678-7930-4C04-8644-CCEFBDE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99" name=""/>
          <p:cNvCxnSpPr>
            <a:stCxn xmlns:a="http://schemas.openxmlformats.org/drawingml/2006/main" id="42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 flipV="1">
            <a:off x="8334375" y="37623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47E497-DB48-4448-838E-A2502FBE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243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E6312B-DE64-479F-A0DA-226F0F61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Decision support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6C57C5-4169-40F8-8608-60272FA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196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action, cost, uncertainty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DEADAC-54F7-44E6-B1E9-6D4A1D3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815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104" name=""/>
          <p:cNvCxnSpPr>
            <a:stCxn xmlns:a="http://schemas.openxmlformats.org/drawingml/2006/main" id="47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 flipV="1">
            <a:off x="8334375" y="46005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CCE769-1A44-41CE-9842-D8398E99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86963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32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ABA572-C545-4CEC-AC7D-671B9DF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62650"/>
            <a:ext cx="831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A temporal mechanism is GTS when its contract survives a change of downstream task.</a:t>
            </a:r>
          </a:p>
        </p:txBody>
      </p:sp>
    </p:spTree>
    <p:extLst>
      <p:ext uri="{BB962C8B-B14F-4D97-AF65-F5344CB8AC3E}">
        <p14:creationId xmlns:p14="http://schemas.microsoft.com/office/powerpoint/2010/main" val="641161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DB3B1D-1985-4374-8B0F-8DFAA0E2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Research routes in Time-Series Agent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65FAE-B064-40DB-B284-4977F5D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Representative module contributions by first public year; placement follows the paper-card ledger.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3E69-793A-4141-A4F7-4FA54ABE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A41EC-7DD7-4DA5-B11B-8C67FB3F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8639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8639F"/>
                </a:solidFill>
                <a:latin typeface="Arial"/>
                <a:ea typeface="Arial"/>
                <a:cs typeface="Arial"/>
              </a:rPr>
              <a:t>LLM 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BB837-9F12-43B0-802D-FE55187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module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0379E-77EC-4067-BE83-15703A77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DDC24-D345-4D6C-AA0A-5CB6F33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71319-22A4-47C1-A295-E558D552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Time-LLM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45956-94B2-4DF2-8178-D2E98E33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B5DD3-5D98-4321-A9EC-95CA0B17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LLM4TS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65DC7-E02F-4B68-8A8A-45B3B94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FC68D-EDEA-400B-9B59-12F7D37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ChatTS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0EF2B-2B2B-438D-88AD-FAF1FC1C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9D702-F7D6-4679-A9C6-04C86B17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TimeMaster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B1135-B928-4AA7-AA89-38E7AF63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10404-089C-4858-A79D-FAE5C8AB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General Harness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3B048-584C-4FCB-93B9-5E25D33D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module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90069-5A43-4FC1-BCA1-9FE6EC94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51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ED5E1-DEF4-4437-A5CC-D848E558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A1EE8-901D-4704-8046-B168FA4E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TradingAgents 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34662-0FB6-4BF1-814C-5D587B4E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FB8B0-7177-43B8-88CA-7A6FD818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TS-Agent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F705A-60A8-4F31-A2E4-BF1D0DA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95759-FB1F-4E45-959E-2D4788C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AION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8F9C7-24B3-44AB-888A-4004D293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C65D9-82A8-40AF-9DAE-DBB0A19F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TimeClaw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EEE30-995F-4422-B062-EDFEA79F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AA2E8-FED8-4770-94E1-4C3EC87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7F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7F2B"/>
                </a:solidFill>
                <a:latin typeface="Arial"/>
                <a:ea typeface="Arial"/>
                <a:cs typeface="Arial"/>
              </a:rPr>
              <a:t>Temporal grounding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E9B67-05CF-4C34-A56B-92600E93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module route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41133-1BE6-4917-900B-9FE5C678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6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F2B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D62250-2069-47A5-81DC-842777B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823124-C178-48C5-A610-8F5487D2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TimeCAP 2025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035C2-0C69-4A0E-BBC8-E4192EA1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5B61E-4E1F-492B-8DB1-7A72AF09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TimeART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8B6C33-04DC-4CA7-BCF9-8D962D0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BAAED0-B8A5-4427-9E42-594B8DCB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TFRBench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3E58E2-8D85-4449-94E3-1C9409FE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03F864-E400-4024-A5C6-0161C0C4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TSQBench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2BED23-03FD-4572-8DC4-FFBAF5E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13335">
            <a:solidFill>
              <a:srgbClr val="B8665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5B9D62-6B41-45F5-9DCA-8BC741B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8665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86659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83F5B8-EC4B-468B-BA9A-A3E790D5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module route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DC0FD4-9390-4E26-9473-1CB9ED3F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659"/>
          </a:solidFill>
          <a:ln xmlns:a="http://schemas.openxmlformats.org/drawingml/2006/main" w="13335">
            <a:solidFill>
              <a:srgbClr val="B866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B2921B-7A20-46E6-BAD1-D1A74D71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F021AB-DF69-4446-8C5D-4C41B216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TimeSeriesScientist 2025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DAE3D0-8C81-4514-B457-FF1C894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142512-21D9-4E3B-A1E4-9B3FF1DF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ForecastCompass 2026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11D82A-94A3-4859-B4F4-6A00A934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9F2118-49F4-4F1A-844B-8C49392C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FinArena 2025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EEBF1A-4604-4AE3-8D8E-85B6A93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C0914C-5437-406F-88D3-0823F69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CastFlow 2026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1A382C-0B44-4A91-9131-92786F18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54CC62-0E9E-4ECC-9A95-51E9762B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38B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38B86"/>
                </a:solidFill>
                <a:latin typeface="Arial"/>
                <a:ea typeface="Arial"/>
                <a:cs typeface="Arial"/>
              </a:rPr>
              <a:t>Anomaly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6EE05A-F144-4ECA-A285-CE345FA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module route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7CE2E9-588A-47A4-81C3-AB56A7FB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A9977C-46E5-4E8A-A416-1A981C47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73C595-D461-4B82-A440-BAF8CCB9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Argos 2025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4C213E-40DA-45AF-B038-57334525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903D80-9CD2-4AA8-92E9-A4C03D68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LEMAD 2025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A8EB2F-A80A-4153-8CD3-7F1D0A95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E4A7C6-711F-46E6-BE61-8496071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AnomaMind 2026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888CED-7D4A-42B1-B60C-4505BE66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1D171C-06CE-4B3F-85A8-2FB07D26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TraceBench 2026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08FA8A-378C-4969-B26A-C1234587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0F5D42-F96F-469E-84B8-B7E3CC5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8639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8639F"/>
                </a:solidFill>
                <a:latin typeface="Arial"/>
                <a:ea typeface="Arial"/>
                <a:cs typeface="Arial"/>
              </a:rPr>
              <a:t>Decision support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22C614-50E8-4D03-93E4-6C5238C7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module route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559F00-2F50-4CF6-8DE9-9549902A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5D9055-024A-4A0C-88EA-CD343569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C6A42F-6830-4B78-BD2C-B98B40F4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FinCon 2024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3C4645-7C49-4C29-A325-3CF4D5A2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4CCB23-FD47-4013-BC54-EC1F1E74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CoLLMLight 2026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AFD53E-78FB-41AB-90BA-8E5B65E8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9726A6-D04D-4C96-8BDA-17D9B0E1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ClimateAgent 2025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77CF1C-4264-48F0-A894-C66474DB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DBE029-CAB4-49D0-9A9A-2045B55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3A4B"/>
                </a:solidFill>
                <a:latin typeface="Arial"/>
                <a:ea typeface="Arial"/>
                <a:cs typeface="Arial"/>
              </a:rPr>
              <a:t>Smart Energy 2026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0EF662-20D0-4356-AB8E-618E8E26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C8D89E-A426-47B1-BF32-65BA42E6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534CFD-CEF2-4CA7-B211-25FCD63D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566495-7622-48C5-B1AF-D989FB43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B488E0-88F7-44DC-8435-593CB197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0523A2-7866-4C58-9B52-2A1897C6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CCF0CD-5079-471F-B048-83837569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68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386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338985-F6C6-4000-9925-975411D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BB49CC-83CE-4BD2-A3F7-16F45087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32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C59543-9A32-4EA9-BE15-78E60724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055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324A"/>
                </a:solidFill>
                <a:latin typeface="Arial"/>
                <a:ea typeface="Arial"/>
                <a:cs typeface="Arial"/>
              </a:rPr>
              <a:t>The same work can occupy more than one route because the ledger records module-level contributions.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8E3210C-4F03-4182-9328-48D9DAB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24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1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687386"/>
                </a:solidFill>
                <a:latin typeface="Arial"/>
                <a:ea typeface="Arial"/>
                <a:cs typeface="Arial"/>
              </a:rPr>
              <a:t>Years are taken from the maintained bibliography and paper-card records.</a:t>
            </a:r>
          </a:p>
        </p:txBody>
      </p:sp>
    </p:spTree>
    <p:extLst>
      <p:ext uri="{BB962C8B-B14F-4D97-AF65-F5344CB8AC3E}">
        <p14:creationId xmlns:p14="http://schemas.microsoft.com/office/powerpoint/2010/main" val="1800357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2026-10-02T05:57:14.8370000Z</dcterms:created>
  <dcterms:modified xsi:type="dcterms:W3CDTF">2026-10-02T05:57:14.8370000Z</dcterms:modified>
</coreProperties>
</file>