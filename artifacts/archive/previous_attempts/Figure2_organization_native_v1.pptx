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8d025edd014aeb" /><Relationship Type="http://schemas.openxmlformats.org/officeDocument/2006/relationships/extended-properties" Target="/docProps/app.xml" Id="R5ba75ed21e9b4b27" /><Relationship Type="http://schemas.openxmlformats.org/officeDocument/2006/relationships/officeDocument" Target="/ppt/presentation.xml" Id="Rdefd6b62272742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5fca29e90a4383"/>
  </p:sldMasterIdLst>
  <p:notesMasterIdLst>
    <p:notesMasterId xmlns:r="http://schemas.openxmlformats.org/officeDocument/2006/relationships" r:id="Rd3e15ade56fc41c5"/>
  </p:notesMasterIdLst>
  <p:sldIdLst>
    <p:sldId xmlns:r="http://schemas.openxmlformats.org/officeDocument/2006/relationships" id="256" r:id="R564be8979fe841f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d564fe63484add" /><Relationship Type="http://schemas.openxmlformats.org/officeDocument/2006/relationships/slideMaster" Target="/ppt/slideMasters/slideMaster1.xml" Id="Rca5fca29e90a4383" /><Relationship Type="http://schemas.openxmlformats.org/officeDocument/2006/relationships/notesMaster" Target="/ppt/notesMasters/notesMaster1.xml" Id="Rd3e15ade56fc41c5" /><Relationship Type="http://schemas.openxmlformats.org/officeDocument/2006/relationships/presProps" Target="/ppt/presProps.xml" Id="Rc2e22d008fdb421a" /><Relationship Type="http://schemas.openxmlformats.org/officeDocument/2006/relationships/tableStyles" Target="/ppt/tableStyles.xml" Id="R27a02137edaf44f5" /><Relationship Type="http://schemas.openxmlformats.org/officeDocument/2006/relationships/slide" Target="/ppt/slides/slide1.xml" Id="R564be8979fe841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7b9af335164a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75ea3b9d8141cc" /><Relationship Type="http://schemas.openxmlformats.org/officeDocument/2006/relationships/notesMaster" Target="/ppt/notesMasters/notesMaster1.xml" Id="Ra64af1fd41934b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reference: user-supplied Recursive Self-Improvement in AI survey organization map. Content follows the current Time-Series Agent survey section plan. All visual elements are native editable PowerPoint shapes and 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5a6a2963244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0109fb22ac41ea" /><Relationship Type="http://schemas.openxmlformats.org/officeDocument/2006/relationships/slideLayout" Target="/ppt/slideLayouts/slideLayout1.xml" Id="R8ea0db45501746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a0db45501746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58c52df814a73" /><Relationship Type="http://schemas.openxmlformats.org/officeDocument/2006/relationships/notesSlide" Target="/ppt/notesSlides/notesSlide1.xml" Id="Rf702d722548c4a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figure-title">
            <a:extLst xmlns:a="http://schemas.openxmlformats.org/drawingml/2006/main">
              <a:ext uri="{FF2B5EF4-FFF2-40B4-BE49-F238E27FC236}">
                <a16:creationId xmlns:a16="http://schemas.microsoft.com/office/drawing/2014/main" id="{63207BDA-AC36-4A3D-80E4-E070D1DC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"/>
            <a:ext cx="13677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Organization of the survey</a:t>
            </a:r>
          </a:p>
        </p:txBody>
      </p:sp>
      <p:sp>
        <p:nvSpPr>
          <p:cNvPr id="2" name="figure-subtitle">
            <a:extLst xmlns:a="http://schemas.openxmlformats.org/drawingml/2006/main">
              <a:ext uri="{FF2B5EF4-FFF2-40B4-BE49-F238E27FC236}">
                <a16:creationId xmlns:a16="http://schemas.microsoft.com/office/drawing/2014/main" id="{5993AB46-388D-45C3-90B6-D33282CF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28675"/>
            <a:ext cx="1352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The sections follow the construction of a Time-Series Agent and the evidence needed to evaluate it.</a:t>
            </a:r>
          </a:p>
        </p:txBody>
      </p:sp>
      <p:sp>
        <p:nvSpPr>
          <p:cNvPr id="3" name="section-rail">
            <a:extLst xmlns:a="http://schemas.openxmlformats.org/drawingml/2006/main">
              <a:ext uri="{FF2B5EF4-FFF2-40B4-BE49-F238E27FC236}">
                <a16:creationId xmlns:a16="http://schemas.microsoft.com/office/drawing/2014/main" id="{A1C4A6BB-85B0-4D7B-B0E0-48FA311F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562100"/>
            <a:ext cx="0" cy="6210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6384A"/>
            </a:solidFill>
            <a:prstDash val="solid"/>
          </a:ln>
        </p:spPr>
      </p:sp>
      <p:sp>
        <p:nvSpPr>
          <p:cNvPr id="4" name="survey-label-box">
            <a:extLst xmlns:a="http://schemas.openxmlformats.org/drawingml/2006/main">
              <a:ext uri="{FF2B5EF4-FFF2-40B4-BE49-F238E27FC236}">
                <a16:creationId xmlns:a16="http://schemas.microsoft.com/office/drawing/2014/main" id="{9A79CB07-BD82-451C-8F25-CA3F75C6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790700" cy="1695450"/>
          </a:xfrm>
          <a:prstGeom xmlns:a="http://schemas.openxmlformats.org/drawingml/2006/main" prst="roundRect">
            <a:avLst>
              <a:gd name="adj" fmla="val 10112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dash"/>
          </a:ln>
        </p:spPr>
      </p:sp>
      <p:sp>
        <p:nvSpPr>
          <p:cNvPr id="5" name="survey-label">
            <a:extLst xmlns:a="http://schemas.openxmlformats.org/drawingml/2006/main">
              <a:ext uri="{FF2B5EF4-FFF2-40B4-BE49-F238E27FC236}">
                <a16:creationId xmlns:a16="http://schemas.microsoft.com/office/drawing/2014/main" id="{370E63B2-C2E2-4C20-AE9A-9B5D0E5F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13906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Time-Series</a:t>
            </a:r>
          </a:p>
          <a:p xmlns:a="http://schemas.openxmlformats.org/drawingml/2006/main">
            <a:pPr algn="ctr">
              <a:defRPr sz="21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Agent</a:t>
            </a:r>
          </a:p>
          <a:p xmlns:a="http://schemas.openxmlformats.org/drawingml/2006/main">
            <a:pPr algn="ctr">
              <a:defRPr sz="21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Survey</a:t>
            </a:r>
          </a:p>
        </p:txBody>
      </p:sp>
      <p:sp>
        <p:nvSpPr>
          <p:cNvPr id="6" name="survey-sublabel">
            <a:extLst xmlns:a="http://schemas.openxmlformats.org/drawingml/2006/main">
              <a:ext uri="{FF2B5EF4-FFF2-40B4-BE49-F238E27FC236}">
                <a16:creationId xmlns:a16="http://schemas.microsoft.com/office/drawing/2014/main" id="{69208482-1085-4356-8AB7-532B4763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1390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reader's map</a:t>
            </a:r>
          </a:p>
        </p:txBody>
      </p:sp>
      <p:sp>
        <p:nvSpPr>
          <p:cNvPr id="7" name="survey-leader">
            <a:extLst xmlns:a="http://schemas.openxmlformats.org/drawingml/2006/main">
              <a:ext uri="{FF2B5EF4-FFF2-40B4-BE49-F238E27FC236}">
                <a16:creationId xmlns:a16="http://schemas.microsoft.com/office/drawing/2014/main" id="{43AAB9CD-DCCB-49F1-B896-CBB5455DB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624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6E8F"/>
            </a:solidFill>
            <a:prstDash val="solid"/>
          </a:ln>
        </p:spPr>
      </p:sp>
      <p:sp>
        <p:nvSpPr>
          <p:cNvPr id="8" name="rail-dot-1">
            <a:extLst xmlns:a="http://schemas.openxmlformats.org/drawingml/2006/main">
              <a:ext uri="{FF2B5EF4-FFF2-40B4-BE49-F238E27FC236}">
                <a16:creationId xmlns:a16="http://schemas.microsoft.com/office/drawing/2014/main" id="{5411F56F-2C7F-459A-B593-66B7D0A40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15287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9" name="section-box-1">
            <a:extLst xmlns:a="http://schemas.openxmlformats.org/drawingml/2006/main">
              <a:ext uri="{FF2B5EF4-FFF2-40B4-BE49-F238E27FC236}">
                <a16:creationId xmlns:a16="http://schemas.microsoft.com/office/drawing/2014/main" id="{9FFCFF1D-3051-42AF-8ABC-29E3DA75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295400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9050">
            <a:solidFill>
              <a:srgbClr val="B78324"/>
            </a:solidFill>
            <a:prstDash val="dash"/>
          </a:ln>
        </p:spPr>
      </p:sp>
      <p:sp>
        <p:nvSpPr>
          <p:cNvPr id="10" name="section-number-1">
            <a:extLst xmlns:a="http://schemas.openxmlformats.org/drawingml/2006/main">
              <a:ext uri="{FF2B5EF4-FFF2-40B4-BE49-F238E27FC236}">
                <a16:creationId xmlns:a16="http://schemas.microsoft.com/office/drawing/2014/main" id="{B1E8574D-50F7-4DAE-B47B-FB1E1191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4954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1</a:t>
            </a:r>
          </a:p>
        </p:txBody>
      </p:sp>
      <p:sp>
        <p:nvSpPr>
          <p:cNvPr id="11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C6998BEA-997B-43A7-95BF-BD0DB1E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466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Introduction</a:t>
            </a:r>
          </a:p>
        </p:txBody>
      </p:sp>
      <p:sp>
        <p:nvSpPr>
          <p:cNvPr id="12" name="topic-leader-1">
            <a:extLst xmlns:a="http://schemas.openxmlformats.org/drawingml/2006/main">
              <a:ext uri="{FF2B5EF4-FFF2-40B4-BE49-F238E27FC236}">
                <a16:creationId xmlns:a16="http://schemas.microsoft.com/office/drawing/2014/main" id="{FB467D55-9707-4929-B69C-2FBC235F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95438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13" name="topic-box-1">
            <a:extLst xmlns:a="http://schemas.openxmlformats.org/drawingml/2006/main">
              <a:ext uri="{FF2B5EF4-FFF2-40B4-BE49-F238E27FC236}">
                <a16:creationId xmlns:a16="http://schemas.microsoft.com/office/drawing/2014/main" id="{319CF131-675F-473C-B732-27CDDBF1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95400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14" name="topic-text-1">
            <a:extLst xmlns:a="http://schemas.openxmlformats.org/drawingml/2006/main">
              <a:ext uri="{FF2B5EF4-FFF2-40B4-BE49-F238E27FC236}">
                <a16:creationId xmlns:a16="http://schemas.microsoft.com/office/drawing/2014/main" id="{530AFBE4-69DB-4F6D-82E2-AA9451A3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859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Scope, motivation, and central questions</a:t>
            </a:r>
          </a:p>
        </p:txBody>
      </p:sp>
      <p:sp>
        <p:nvSpPr>
          <p:cNvPr id="15" name="rail-dot-2">
            <a:extLst xmlns:a="http://schemas.openxmlformats.org/drawingml/2006/main">
              <a:ext uri="{FF2B5EF4-FFF2-40B4-BE49-F238E27FC236}">
                <a16:creationId xmlns:a16="http://schemas.microsoft.com/office/drawing/2014/main" id="{1B7E5AFA-1B9F-409C-B69C-845F1FA7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2431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16" name="section-box-2">
            <a:extLst xmlns:a="http://schemas.openxmlformats.org/drawingml/2006/main">
              <a:ext uri="{FF2B5EF4-FFF2-40B4-BE49-F238E27FC236}">
                <a16:creationId xmlns:a16="http://schemas.microsoft.com/office/drawing/2014/main" id="{1A500861-9F6D-438C-8B03-37F648FF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009775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9050">
            <a:solidFill>
              <a:srgbClr val="B78324"/>
            </a:solidFill>
            <a:prstDash val="dash"/>
          </a:ln>
        </p:spPr>
      </p:sp>
      <p:sp>
        <p:nvSpPr>
          <p:cNvPr id="17" name="section-number-2">
            <a:extLst xmlns:a="http://schemas.openxmlformats.org/drawingml/2006/main">
              <a:ext uri="{FF2B5EF4-FFF2-40B4-BE49-F238E27FC236}">
                <a16:creationId xmlns:a16="http://schemas.microsoft.com/office/drawing/2014/main" id="{F54D4269-29DC-47FD-84CA-792E7A6B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098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2</a:t>
            </a:r>
          </a:p>
        </p:txBody>
      </p:sp>
      <p:sp>
        <p:nvSpPr>
          <p:cNvPr id="18" name="section-title-2">
            <a:extLst xmlns:a="http://schemas.openxmlformats.org/drawingml/2006/main">
              <a:ext uri="{FF2B5EF4-FFF2-40B4-BE49-F238E27FC236}">
                <a16:creationId xmlns:a16="http://schemas.microsoft.com/office/drawing/2014/main" id="{86F82A50-B73B-48EF-A805-B2E346C6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1812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What Is a Time-Series Agent?</a:t>
            </a:r>
          </a:p>
        </p:txBody>
      </p:sp>
      <p:sp>
        <p:nvSpPr>
          <p:cNvPr id="19" name="topic-leader-2">
            <a:extLst xmlns:a="http://schemas.openxmlformats.org/drawingml/2006/main">
              <a:ext uri="{FF2B5EF4-FFF2-40B4-BE49-F238E27FC236}">
                <a16:creationId xmlns:a16="http://schemas.microsoft.com/office/drawing/2014/main" id="{6187642C-8A67-49F5-81BF-062BB5A5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09813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20" name="topic-box-2">
            <a:extLst xmlns:a="http://schemas.openxmlformats.org/drawingml/2006/main">
              <a:ext uri="{FF2B5EF4-FFF2-40B4-BE49-F238E27FC236}">
                <a16:creationId xmlns:a16="http://schemas.microsoft.com/office/drawing/2014/main" id="{FBCAF42C-F4AF-4682-BC25-E65855F7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09775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21" name="topic-text-2">
            <a:extLst xmlns:a="http://schemas.openxmlformats.org/drawingml/2006/main">
              <a:ext uri="{FF2B5EF4-FFF2-40B4-BE49-F238E27FC236}">
                <a16:creationId xmlns:a16="http://schemas.microsoft.com/office/drawing/2014/main" id="{F3C3DC62-76EF-4F06-8D7F-7FEF2F92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027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Construction layers and the paper-card unit</a:t>
            </a:r>
          </a:p>
        </p:txBody>
      </p:sp>
      <p:sp>
        <p:nvSpPr>
          <p:cNvPr id="22" name="rail-dot-3">
            <a:extLst xmlns:a="http://schemas.openxmlformats.org/drawingml/2006/main">
              <a:ext uri="{FF2B5EF4-FFF2-40B4-BE49-F238E27FC236}">
                <a16:creationId xmlns:a16="http://schemas.microsoft.com/office/drawing/2014/main" id="{9706E738-177B-47C2-97B6-04C18EBE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9575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23" name="section-box-3">
            <a:extLst xmlns:a="http://schemas.openxmlformats.org/drawingml/2006/main">
              <a:ext uri="{FF2B5EF4-FFF2-40B4-BE49-F238E27FC236}">
                <a16:creationId xmlns:a16="http://schemas.microsoft.com/office/drawing/2014/main" id="{F797F765-037A-4D9D-A3AC-13F7B565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EEEAF7"/>
          </a:solidFill>
          <a:ln xmlns:a="http://schemas.openxmlformats.org/drawingml/2006/main" w="19050">
            <a:solidFill>
              <a:srgbClr val="7058A6"/>
            </a:solidFill>
            <a:prstDash val="dash"/>
          </a:ln>
        </p:spPr>
      </p:sp>
      <p:sp>
        <p:nvSpPr>
          <p:cNvPr id="24" name="section-number-3">
            <a:extLst xmlns:a="http://schemas.openxmlformats.org/drawingml/2006/main">
              <a:ext uri="{FF2B5EF4-FFF2-40B4-BE49-F238E27FC236}">
                <a16:creationId xmlns:a16="http://schemas.microsoft.com/office/drawing/2014/main" id="{9CA315D3-B79A-4D14-BCAE-7E1DB9DE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41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3</a:t>
            </a:r>
          </a:p>
        </p:txBody>
      </p:sp>
      <p:sp>
        <p:nvSpPr>
          <p:cNvPr id="25" name="section-title-3">
            <a:extLst xmlns:a="http://schemas.openxmlformats.org/drawingml/2006/main">
              <a:ext uri="{FF2B5EF4-FFF2-40B4-BE49-F238E27FC236}">
                <a16:creationId xmlns:a16="http://schemas.microsoft.com/office/drawing/2014/main" id="{CBB31AFF-A720-49CD-B88A-689BDD9E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8956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LLM-Side Contributions</a:t>
            </a:r>
          </a:p>
        </p:txBody>
      </p:sp>
      <p:sp>
        <p:nvSpPr>
          <p:cNvPr id="26" name="topic-leader-3">
            <a:extLst xmlns:a="http://schemas.openxmlformats.org/drawingml/2006/main">
              <a:ext uri="{FF2B5EF4-FFF2-40B4-BE49-F238E27FC236}">
                <a16:creationId xmlns:a16="http://schemas.microsoft.com/office/drawing/2014/main" id="{01E44097-09E8-4002-9047-03D7266D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24188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27" name="topic-box-3">
            <a:extLst xmlns:a="http://schemas.openxmlformats.org/drawingml/2006/main">
              <a:ext uri="{FF2B5EF4-FFF2-40B4-BE49-F238E27FC236}">
                <a16:creationId xmlns:a16="http://schemas.microsoft.com/office/drawing/2014/main" id="{9FDED220-D48F-4292-B182-F1358939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24150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28" name="topic-text-3">
            <a:extLst xmlns:a="http://schemas.openxmlformats.org/drawingml/2006/main">
              <a:ext uri="{FF2B5EF4-FFF2-40B4-BE49-F238E27FC236}">
                <a16:creationId xmlns:a16="http://schemas.microsoft.com/office/drawing/2014/main" id="{E715E513-E776-4189-98B9-42F19C66B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146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Temporal representation, alignment, and language reasoning</a:t>
            </a:r>
          </a:p>
        </p:txBody>
      </p:sp>
      <p:sp>
        <p:nvSpPr>
          <p:cNvPr id="29" name="rail-dot-4">
            <a:extLst xmlns:a="http://schemas.openxmlformats.org/drawingml/2006/main">
              <a:ext uri="{FF2B5EF4-FFF2-40B4-BE49-F238E27FC236}">
                <a16:creationId xmlns:a16="http://schemas.microsoft.com/office/drawing/2014/main" id="{0A9E8914-22E0-4A9A-B318-BC77691D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6718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30" name="section-box-4">
            <a:extLst xmlns:a="http://schemas.openxmlformats.org/drawingml/2006/main">
              <a:ext uri="{FF2B5EF4-FFF2-40B4-BE49-F238E27FC236}">
                <a16:creationId xmlns:a16="http://schemas.microsoft.com/office/drawing/2014/main" id="{B3DFDB98-3B7D-4E8D-8CA3-07674C0A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38525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E4EFF4"/>
          </a:solidFill>
          <a:ln xmlns:a="http://schemas.openxmlformats.org/drawingml/2006/main" w="19050">
            <a:solidFill>
              <a:srgbClr val="2D6E8F"/>
            </a:solidFill>
            <a:prstDash val="dash"/>
          </a:ln>
        </p:spPr>
      </p:sp>
      <p:sp>
        <p:nvSpPr>
          <p:cNvPr id="31" name="section-number-4">
            <a:extLst xmlns:a="http://schemas.openxmlformats.org/drawingml/2006/main">
              <a:ext uri="{FF2B5EF4-FFF2-40B4-BE49-F238E27FC236}">
                <a16:creationId xmlns:a16="http://schemas.microsoft.com/office/drawing/2014/main" id="{4ED2FBAA-F48D-40D2-91B3-08A9A2B4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4</a:t>
            </a:r>
          </a:p>
        </p:txBody>
      </p:sp>
      <p:sp>
        <p:nvSpPr>
          <p:cNvPr id="32" name="section-title-4">
            <a:extLst xmlns:a="http://schemas.openxmlformats.org/drawingml/2006/main">
              <a:ext uri="{FF2B5EF4-FFF2-40B4-BE49-F238E27FC236}">
                <a16:creationId xmlns:a16="http://schemas.microsoft.com/office/drawing/2014/main" id="{F9B89B79-C5A0-4F1E-A116-DABC1579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6099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General Harness</a:t>
            </a:r>
          </a:p>
        </p:txBody>
      </p:sp>
      <p:sp>
        <p:nvSpPr>
          <p:cNvPr id="33" name="topic-leader-4">
            <a:extLst xmlns:a="http://schemas.openxmlformats.org/drawingml/2006/main">
              <a:ext uri="{FF2B5EF4-FFF2-40B4-BE49-F238E27FC236}">
                <a16:creationId xmlns:a16="http://schemas.microsoft.com/office/drawing/2014/main" id="{04644656-7E9D-473F-8F96-7367FDF8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8563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34" name="topic-box-4">
            <a:extLst xmlns:a="http://schemas.openxmlformats.org/drawingml/2006/main">
              <a:ext uri="{FF2B5EF4-FFF2-40B4-BE49-F238E27FC236}">
                <a16:creationId xmlns:a16="http://schemas.microsoft.com/office/drawing/2014/main" id="{9AA7AA5A-CF71-4D42-AC6B-E0A03183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38525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2D6E8F"/>
            </a:solidFill>
            <a:prstDash val="solid"/>
          </a:ln>
        </p:spPr>
      </p:sp>
      <p:sp>
        <p:nvSpPr>
          <p:cNvPr id="35" name="topic-text-4">
            <a:extLst xmlns:a="http://schemas.openxmlformats.org/drawingml/2006/main">
              <a:ext uri="{FF2B5EF4-FFF2-40B4-BE49-F238E27FC236}">
                <a16:creationId xmlns:a16="http://schemas.microsoft.com/office/drawing/2014/main" id="{A0B7E29C-1A61-479B-B5DA-C77322EF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2902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Seven reusable runtime dimensions</a:t>
            </a:r>
          </a:p>
        </p:txBody>
      </p:sp>
      <p:sp>
        <p:nvSpPr>
          <p:cNvPr id="36" name="rail-dot-5">
            <a:extLst xmlns:a="http://schemas.openxmlformats.org/drawingml/2006/main">
              <a:ext uri="{FF2B5EF4-FFF2-40B4-BE49-F238E27FC236}">
                <a16:creationId xmlns:a16="http://schemas.microsoft.com/office/drawing/2014/main" id="{D32F379B-1EE2-415A-8DFB-87283764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862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37" name="section-box-5">
            <a:extLst xmlns:a="http://schemas.openxmlformats.org/drawingml/2006/main">
              <a:ext uri="{FF2B5EF4-FFF2-40B4-BE49-F238E27FC236}">
                <a16:creationId xmlns:a16="http://schemas.microsoft.com/office/drawing/2014/main" id="{3CB20062-4CEE-4CF3-B9C6-5BE22179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152900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E8F2EA"/>
          </a:solidFill>
          <a:ln xmlns:a="http://schemas.openxmlformats.org/drawingml/2006/main" w="19050">
            <a:solidFill>
              <a:srgbClr val="3E8167"/>
            </a:solidFill>
            <a:prstDash val="dash"/>
          </a:ln>
        </p:spPr>
      </p:sp>
      <p:sp>
        <p:nvSpPr>
          <p:cNvPr id="38" name="section-number-5">
            <a:extLst xmlns:a="http://schemas.openxmlformats.org/drawingml/2006/main">
              <a:ext uri="{FF2B5EF4-FFF2-40B4-BE49-F238E27FC236}">
                <a16:creationId xmlns:a16="http://schemas.microsoft.com/office/drawing/2014/main" id="{58720B91-6D16-468B-8A30-DE528BB0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529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5</a:t>
            </a:r>
          </a:p>
        </p:txBody>
      </p:sp>
      <p:sp>
        <p:nvSpPr>
          <p:cNvPr id="39" name="section-title-5">
            <a:extLst xmlns:a="http://schemas.openxmlformats.org/drawingml/2006/main">
              <a:ext uri="{FF2B5EF4-FFF2-40B4-BE49-F238E27FC236}">
                <a16:creationId xmlns:a16="http://schemas.microsoft.com/office/drawing/2014/main" id="{7B986698-9F3D-40E6-A0DF-DEFFE0AC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3243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General Time-Series Harness</a:t>
            </a:r>
          </a:p>
        </p:txBody>
      </p:sp>
      <p:sp>
        <p:nvSpPr>
          <p:cNvPr id="40" name="topic-leader-5">
            <a:extLst xmlns:a="http://schemas.openxmlformats.org/drawingml/2006/main">
              <a:ext uri="{FF2B5EF4-FFF2-40B4-BE49-F238E27FC236}">
                <a16:creationId xmlns:a16="http://schemas.microsoft.com/office/drawing/2014/main" id="{B0F7D0C6-9FBB-41E9-890B-9F28E3B8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52938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41" name="topic-box-5">
            <a:extLst xmlns:a="http://schemas.openxmlformats.org/drawingml/2006/main">
              <a:ext uri="{FF2B5EF4-FFF2-40B4-BE49-F238E27FC236}">
                <a16:creationId xmlns:a16="http://schemas.microsoft.com/office/drawing/2014/main" id="{58D9D2C0-4913-47F9-8311-0CDE6931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52900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3E8167"/>
            </a:solidFill>
            <a:prstDash val="solid"/>
          </a:ln>
        </p:spPr>
      </p:sp>
      <p:sp>
        <p:nvSpPr>
          <p:cNvPr id="42" name="topic-text-5">
            <a:extLst xmlns:a="http://schemas.openxmlformats.org/drawingml/2006/main">
              <a:ext uri="{FF2B5EF4-FFF2-40B4-BE49-F238E27FC236}">
                <a16:creationId xmlns:a16="http://schemas.microsoft.com/office/drawing/2014/main" id="{C45938B5-5BE7-4342-AAE2-9721D98E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434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Temporal contracts that transfer across tasks</a:t>
            </a:r>
          </a:p>
        </p:txBody>
      </p:sp>
      <p:sp>
        <p:nvSpPr>
          <p:cNvPr id="43" name="rail-dot-6">
            <a:extLst xmlns:a="http://schemas.openxmlformats.org/drawingml/2006/main">
              <a:ext uri="{FF2B5EF4-FFF2-40B4-BE49-F238E27FC236}">
                <a16:creationId xmlns:a16="http://schemas.microsoft.com/office/drawing/2014/main" id="{F4B3C73C-716D-4A69-9349-AB5A150D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10063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44" name="section-box-6">
            <a:extLst xmlns:a="http://schemas.openxmlformats.org/drawingml/2006/main">
              <a:ext uri="{FF2B5EF4-FFF2-40B4-BE49-F238E27FC236}">
                <a16:creationId xmlns:a16="http://schemas.microsoft.com/office/drawing/2014/main" id="{4EF32014-DD8C-4442-8D75-0CA79921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67275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8F1DF"/>
          </a:solidFill>
          <a:ln xmlns:a="http://schemas.openxmlformats.org/drawingml/2006/main" w="19050">
            <a:solidFill>
              <a:srgbClr val="B78324"/>
            </a:solidFill>
            <a:prstDash val="dash"/>
          </a:ln>
        </p:spPr>
      </p:sp>
      <p:sp>
        <p:nvSpPr>
          <p:cNvPr id="45" name="section-number-6">
            <a:extLst xmlns:a="http://schemas.openxmlformats.org/drawingml/2006/main">
              <a:ext uri="{FF2B5EF4-FFF2-40B4-BE49-F238E27FC236}">
                <a16:creationId xmlns:a16="http://schemas.microsoft.com/office/drawing/2014/main" id="{4CC0C383-C91A-4139-A4F4-D5C2C943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06730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6</a:t>
            </a:r>
          </a:p>
        </p:txBody>
      </p:sp>
      <p:sp>
        <p:nvSpPr>
          <p:cNvPr id="46" name="section-title-6">
            <a:extLst xmlns:a="http://schemas.openxmlformats.org/drawingml/2006/main">
              <a:ext uri="{FF2B5EF4-FFF2-40B4-BE49-F238E27FC236}">
                <a16:creationId xmlns:a16="http://schemas.microsoft.com/office/drawing/2014/main" id="{089E4BEA-2479-46DA-8C61-8F14FF76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0387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Task-Specific Harness</a:t>
            </a:r>
          </a:p>
        </p:txBody>
      </p:sp>
      <p:sp>
        <p:nvSpPr>
          <p:cNvPr id="47" name="topic-leader-6">
            <a:extLst xmlns:a="http://schemas.openxmlformats.org/drawingml/2006/main">
              <a:ext uri="{FF2B5EF4-FFF2-40B4-BE49-F238E27FC236}">
                <a16:creationId xmlns:a16="http://schemas.microsoft.com/office/drawing/2014/main" id="{3192F32D-1157-479C-95B6-8541503F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167313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48" name="topic-box-6">
            <a:extLst xmlns:a="http://schemas.openxmlformats.org/drawingml/2006/main">
              <a:ext uri="{FF2B5EF4-FFF2-40B4-BE49-F238E27FC236}">
                <a16:creationId xmlns:a16="http://schemas.microsoft.com/office/drawing/2014/main" id="{A90BF4D1-B2CC-45C9-AD81-8A8224F3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67275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B78324"/>
            </a:solidFill>
            <a:prstDash val="solid"/>
          </a:ln>
        </p:spPr>
      </p:sp>
      <p:sp>
        <p:nvSpPr>
          <p:cNvPr id="49" name="topic-text-6">
            <a:extLst xmlns:a="http://schemas.openxmlformats.org/drawingml/2006/main">
              <a:ext uri="{FF2B5EF4-FFF2-40B4-BE49-F238E27FC236}">
                <a16:creationId xmlns:a16="http://schemas.microsoft.com/office/drawing/2014/main" id="{6BFD6126-7724-40E6-8892-DA7E0138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5777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Forecasting, augmentation, anomaly, and decision support</a:t>
            </a:r>
          </a:p>
        </p:txBody>
      </p:sp>
      <p:sp>
        <p:nvSpPr>
          <p:cNvPr id="50" name="rail-dot-7">
            <a:extLst xmlns:a="http://schemas.openxmlformats.org/drawingml/2006/main">
              <a:ext uri="{FF2B5EF4-FFF2-40B4-BE49-F238E27FC236}">
                <a16:creationId xmlns:a16="http://schemas.microsoft.com/office/drawing/2014/main" id="{F2F49A1B-CCF6-4210-823F-3EF72816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81501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467A92"/>
            </a:solidFill>
            <a:prstDash val="solid"/>
          </a:ln>
        </p:spPr>
      </p:sp>
      <p:sp>
        <p:nvSpPr>
          <p:cNvPr id="51" name="section-box-7">
            <a:extLst xmlns:a="http://schemas.openxmlformats.org/drawingml/2006/main">
              <a:ext uri="{FF2B5EF4-FFF2-40B4-BE49-F238E27FC236}">
                <a16:creationId xmlns:a16="http://schemas.microsoft.com/office/drawing/2014/main" id="{214A6691-5E70-4AAC-AAEB-1DDFD7CE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581650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E9F0F4"/>
          </a:solidFill>
          <a:ln xmlns:a="http://schemas.openxmlformats.org/drawingml/2006/main" w="19050">
            <a:solidFill>
              <a:srgbClr val="467A92"/>
            </a:solidFill>
            <a:prstDash val="dash"/>
          </a:ln>
        </p:spPr>
      </p:sp>
      <p:sp>
        <p:nvSpPr>
          <p:cNvPr id="52" name="section-number-7">
            <a:extLst xmlns:a="http://schemas.openxmlformats.org/drawingml/2006/main">
              <a:ext uri="{FF2B5EF4-FFF2-40B4-BE49-F238E27FC236}">
                <a16:creationId xmlns:a16="http://schemas.microsoft.com/office/drawing/2014/main" id="{F7E49264-EDD5-47AB-8127-30A2A8AC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816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7</a:t>
            </a:r>
          </a:p>
        </p:txBody>
      </p:sp>
      <p:sp>
        <p:nvSpPr>
          <p:cNvPr id="53" name="section-title-7">
            <a:extLst xmlns:a="http://schemas.openxmlformats.org/drawingml/2006/main">
              <a:ext uri="{FF2B5EF4-FFF2-40B4-BE49-F238E27FC236}">
                <a16:creationId xmlns:a16="http://schemas.microsoft.com/office/drawing/2014/main" id="{58E1A08C-6EB8-4AC1-95A5-9475F456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7531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Infrastructure and Benchmarks</a:t>
            </a:r>
          </a:p>
        </p:txBody>
      </p:sp>
      <p:sp>
        <p:nvSpPr>
          <p:cNvPr id="54" name="topic-leader-7">
            <a:extLst xmlns:a="http://schemas.openxmlformats.org/drawingml/2006/main">
              <a:ext uri="{FF2B5EF4-FFF2-40B4-BE49-F238E27FC236}">
                <a16:creationId xmlns:a16="http://schemas.microsoft.com/office/drawing/2014/main" id="{2C173877-A282-43D3-BA5F-5C4FEF1C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81688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7A92"/>
            </a:solidFill>
            <a:prstDash val="solid"/>
          </a:ln>
        </p:spPr>
      </p:sp>
      <p:sp>
        <p:nvSpPr>
          <p:cNvPr id="55" name="topic-box-7">
            <a:extLst xmlns:a="http://schemas.openxmlformats.org/drawingml/2006/main">
              <a:ext uri="{FF2B5EF4-FFF2-40B4-BE49-F238E27FC236}">
                <a16:creationId xmlns:a16="http://schemas.microsoft.com/office/drawing/2014/main" id="{0167FF48-917D-4226-94F6-65ECED9E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81650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467A92"/>
            </a:solidFill>
            <a:prstDash val="solid"/>
          </a:ln>
        </p:spPr>
      </p:sp>
      <p:sp>
        <p:nvSpPr>
          <p:cNvPr id="56" name="topic-text-7">
            <a:extLst xmlns:a="http://schemas.openxmlformats.org/drawingml/2006/main">
              <a:ext uri="{FF2B5EF4-FFF2-40B4-BE49-F238E27FC236}">
                <a16:creationId xmlns:a16="http://schemas.microsoft.com/office/drawing/2014/main" id="{776B7EE0-02B1-471D-B09B-99490FB2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721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Episodes, traces, tools, and task outcomes</a:t>
            </a:r>
          </a:p>
        </p:txBody>
      </p:sp>
      <p:sp>
        <p:nvSpPr>
          <p:cNvPr id="57" name="rail-dot-8">
            <a:extLst xmlns:a="http://schemas.openxmlformats.org/drawingml/2006/main">
              <a:ext uri="{FF2B5EF4-FFF2-40B4-BE49-F238E27FC236}">
                <a16:creationId xmlns:a16="http://schemas.microsoft.com/office/drawing/2014/main" id="{1195E6D7-754B-4A23-AFFE-52327562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6529388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58" name="section-box-8">
            <a:extLst xmlns:a="http://schemas.openxmlformats.org/drawingml/2006/main">
              <a:ext uri="{FF2B5EF4-FFF2-40B4-BE49-F238E27FC236}">
                <a16:creationId xmlns:a16="http://schemas.microsoft.com/office/drawing/2014/main" id="{7B954132-946A-4CFD-99FA-A7530805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96025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EEEAF7"/>
          </a:solidFill>
          <a:ln xmlns:a="http://schemas.openxmlformats.org/drawingml/2006/main" w="19050">
            <a:solidFill>
              <a:srgbClr val="7058A6"/>
            </a:solidFill>
            <a:prstDash val="dash"/>
          </a:ln>
        </p:spPr>
      </p:sp>
      <p:sp>
        <p:nvSpPr>
          <p:cNvPr id="59" name="section-number-8">
            <a:extLst xmlns:a="http://schemas.openxmlformats.org/drawingml/2006/main">
              <a:ext uri="{FF2B5EF4-FFF2-40B4-BE49-F238E27FC236}">
                <a16:creationId xmlns:a16="http://schemas.microsoft.com/office/drawing/2014/main" id="{35F98592-A773-4B27-8607-F7D6279D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64960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8</a:t>
            </a:r>
          </a:p>
        </p:txBody>
      </p:sp>
      <p:sp>
        <p:nvSpPr>
          <p:cNvPr id="60" name="section-title-8">
            <a:extLst xmlns:a="http://schemas.openxmlformats.org/drawingml/2006/main">
              <a:ext uri="{FF2B5EF4-FFF2-40B4-BE49-F238E27FC236}">
                <a16:creationId xmlns:a16="http://schemas.microsoft.com/office/drawing/2014/main" id="{0D920593-3153-4A64-8AF7-C5B2C2B89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64674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Open Problems and Case Studies</a:t>
            </a:r>
          </a:p>
        </p:txBody>
      </p:sp>
      <p:sp>
        <p:nvSpPr>
          <p:cNvPr id="61" name="topic-leader-8">
            <a:extLst xmlns:a="http://schemas.openxmlformats.org/drawingml/2006/main">
              <a:ext uri="{FF2B5EF4-FFF2-40B4-BE49-F238E27FC236}">
                <a16:creationId xmlns:a16="http://schemas.microsoft.com/office/drawing/2014/main" id="{84E7F103-C29A-4436-8A8C-A9D86609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596063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62" name="topic-box-8">
            <a:extLst xmlns:a="http://schemas.openxmlformats.org/drawingml/2006/main">
              <a:ext uri="{FF2B5EF4-FFF2-40B4-BE49-F238E27FC236}">
                <a16:creationId xmlns:a16="http://schemas.microsoft.com/office/drawing/2014/main" id="{BDB60537-F4D0-4471-8205-288AE722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96025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63" name="topic-text-8">
            <a:extLst xmlns:a="http://schemas.openxmlformats.org/drawingml/2006/main">
              <a:ext uri="{FF2B5EF4-FFF2-40B4-BE49-F238E27FC236}">
                <a16:creationId xmlns:a16="http://schemas.microsoft.com/office/drawing/2014/main" id="{07C43148-C547-4E16-B52C-EE9F3874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48652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Where modules and evaluation remain incomplete</a:t>
            </a:r>
          </a:p>
        </p:txBody>
      </p:sp>
      <p:sp>
        <p:nvSpPr>
          <p:cNvPr id="64" name="rail-dot-9">
            <a:extLst xmlns:a="http://schemas.openxmlformats.org/drawingml/2006/main">
              <a:ext uri="{FF2B5EF4-FFF2-40B4-BE49-F238E27FC236}">
                <a16:creationId xmlns:a16="http://schemas.microsoft.com/office/drawing/2014/main" id="{1B1A8460-B57C-476F-874B-95AA46ED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724376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65" name="section-box-9">
            <a:extLst xmlns:a="http://schemas.openxmlformats.org/drawingml/2006/main">
              <a:ext uri="{FF2B5EF4-FFF2-40B4-BE49-F238E27FC236}">
                <a16:creationId xmlns:a16="http://schemas.microsoft.com/office/drawing/2014/main" id="{5B639057-42F1-4AD5-98B7-9437C5F5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010400"/>
            <a:ext cx="447675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EEEAF7"/>
          </a:solidFill>
          <a:ln xmlns:a="http://schemas.openxmlformats.org/drawingml/2006/main" w="19050">
            <a:solidFill>
              <a:srgbClr val="7058A6"/>
            </a:solidFill>
            <a:prstDash val="dash"/>
          </a:ln>
        </p:spPr>
      </p:sp>
      <p:sp>
        <p:nvSpPr>
          <p:cNvPr id="66" name="section-number-9">
            <a:extLst xmlns:a="http://schemas.openxmlformats.org/drawingml/2006/main">
              <a:ext uri="{FF2B5EF4-FFF2-40B4-BE49-F238E27FC236}">
                <a16:creationId xmlns:a16="http://schemas.microsoft.com/office/drawing/2014/main" id="{9B501BD2-63AC-4469-A210-79E584C2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72104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§ 9</a:t>
            </a:r>
          </a:p>
        </p:txBody>
      </p:sp>
      <p:sp>
        <p:nvSpPr>
          <p:cNvPr id="67" name="section-title-9">
            <a:extLst xmlns:a="http://schemas.openxmlformats.org/drawingml/2006/main">
              <a:ext uri="{FF2B5EF4-FFF2-40B4-BE49-F238E27FC236}">
                <a16:creationId xmlns:a16="http://schemas.microsoft.com/office/drawing/2014/main" id="{3836D55B-94A9-4B08-BBFD-7E47E972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71818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Conclusion</a:t>
            </a:r>
          </a:p>
        </p:txBody>
      </p:sp>
      <p:sp>
        <p:nvSpPr>
          <p:cNvPr id="68" name="topic-leader-9">
            <a:extLst xmlns:a="http://schemas.openxmlformats.org/drawingml/2006/main">
              <a:ext uri="{FF2B5EF4-FFF2-40B4-BE49-F238E27FC236}">
                <a16:creationId xmlns:a16="http://schemas.microsoft.com/office/drawing/2014/main" id="{12A27B89-CD00-43DC-9970-C463C4AB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310438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69" name="topic-box-9">
            <a:extLst xmlns:a="http://schemas.openxmlformats.org/drawingml/2006/main">
              <a:ext uri="{FF2B5EF4-FFF2-40B4-BE49-F238E27FC236}">
                <a16:creationId xmlns:a16="http://schemas.microsoft.com/office/drawing/2014/main" id="{2F32DF5C-4CD0-4830-9ED2-BBBCEDFD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010400"/>
            <a:ext cx="6667500" cy="600075"/>
          </a:xfrm>
          <a:prstGeom xmlns:a="http://schemas.openxmlformats.org/drawingml/2006/main" prst="roundRect">
            <a:avLst>
              <a:gd name="adj" fmla="val 25397"/>
            </a:avLst>
          </a:prstGeom>
          <a:solidFill xmlns:a="http://schemas.openxmlformats.org/drawingml/2006/main">
            <a:srgbClr val="FBFBF8"/>
          </a:solidFill>
          <a:ln xmlns:a="http://schemas.openxmlformats.org/drawingml/2006/main" w="19050">
            <a:solidFill>
              <a:srgbClr val="7058A6"/>
            </a:solidFill>
            <a:prstDash val="solid"/>
          </a:ln>
        </p:spPr>
      </p:sp>
      <p:sp>
        <p:nvSpPr>
          <p:cNvPr id="70" name="topic-text-9">
            <a:extLst xmlns:a="http://schemas.openxmlformats.org/drawingml/2006/main">
              <a:ext uri="{FF2B5EF4-FFF2-40B4-BE49-F238E27FC236}">
                <a16:creationId xmlns:a16="http://schemas.microsoft.com/office/drawing/2014/main" id="{E0E3CB6D-B3FB-46E2-BD50-015C589E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2009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0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A reusable map for future systems</a:t>
            </a:r>
          </a:p>
        </p:txBody>
      </p:sp>
      <p:sp>
        <p:nvSpPr>
          <p:cNvPr id="71" name="paper-card-strip">
            <a:extLst xmlns:a="http://schemas.openxmlformats.org/drawingml/2006/main">
              <a:ext uri="{FF2B5EF4-FFF2-40B4-BE49-F238E27FC236}">
                <a16:creationId xmlns:a16="http://schemas.microsoft.com/office/drawing/2014/main" id="{DB5ECC76-BDFC-4F16-B12B-B0D269230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0"/>
            <a:ext cx="11468100" cy="457200"/>
          </a:xfrm>
          <a:prstGeom xmlns:a="http://schemas.openxmlformats.org/drawingml/2006/main" prst="roundRect">
            <a:avLst>
              <a:gd name="adj" fmla="val 29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F47"/>
            </a:solidFill>
            <a:prstDash val="solid"/>
          </a:ln>
        </p:spPr>
      </p:sp>
      <p:sp>
        <p:nvSpPr>
          <p:cNvPr id="72" name="paper-card-title">
            <a:extLst xmlns:a="http://schemas.openxmlformats.org/drawingml/2006/main">
              <a:ext uri="{FF2B5EF4-FFF2-40B4-BE49-F238E27FC236}">
                <a16:creationId xmlns:a16="http://schemas.microsoft.com/office/drawing/2014/main" id="{C447BA01-BF02-4F8E-9073-3F79F31E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79438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1E2F47"/>
                </a:solidFill>
                <a:latin typeface="Times New Roman"/>
                <a:ea typeface="Times New Roman"/>
                <a:cs typeface="Times New Roman"/>
              </a:rPr>
              <a:t>Paper card fields</a:t>
            </a:r>
          </a:p>
        </p:txBody>
      </p:sp>
      <p:sp>
        <p:nvSpPr>
          <p:cNvPr id="73" name="paper-card-fields">
            <a:extLst xmlns:a="http://schemas.openxmlformats.org/drawingml/2006/main">
              <a:ext uri="{FF2B5EF4-FFF2-40B4-BE49-F238E27FC236}">
                <a16:creationId xmlns:a16="http://schemas.microsoft.com/office/drawing/2014/main" id="{4772AFED-F27E-4545-8D5E-4B1B3F2B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7943850"/>
            <a:ext cx="876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0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claim  ·  evidence locator  ·  module layer  ·  task family  ·  BibTeX  ·  review status</a:t>
            </a:r>
          </a:p>
        </p:txBody>
      </p:sp>
      <p:sp>
        <p:nvSpPr>
          <p:cNvPr id="74" name="paper-card-note">
            <a:extLst xmlns:a="http://schemas.openxmlformats.org/drawingml/2006/main">
              <a:ext uri="{FF2B5EF4-FFF2-40B4-BE49-F238E27FC236}">
                <a16:creationId xmlns:a16="http://schemas.microsoft.com/office/drawing/2014/main" id="{385A29E4-8A64-461A-A7AF-A66104C1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8324850"/>
            <a:ext cx="11468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1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Each card records modules independently, while the survey organizes them by the deepest applicable Harness layer.</a:t>
            </a:r>
          </a:p>
        </p:txBody>
      </p:sp>
    </p:spTree>
    <p:extLst>
      <p:ext uri="{BB962C8B-B14F-4D97-AF65-F5344CB8AC3E}">
        <p14:creationId xmlns:p14="http://schemas.microsoft.com/office/powerpoint/2010/main" val="912788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2026-10-02T07:25:59.0520000Z</dcterms:created>
  <dcterms:modified xsi:type="dcterms:W3CDTF">2026-10-02T07:25:59.0520000Z</dcterms:modified>
</coreProperties>
</file>