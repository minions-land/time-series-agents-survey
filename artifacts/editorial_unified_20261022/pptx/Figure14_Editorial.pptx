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97536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Figure 14 — ungroup into runtime and tool promotion"/>
          <p:cNvGrpSpPr/>
          <p:nvPr/>
        </p:nvGrpSpPr>
        <p:grpSpPr>
          <a:xfrm>
            <a:off x="238125" y="476250"/>
            <a:ext cx="14201775" cy="9096375"/>
            <a:chOff x="238125" y="476250"/>
            <a:chExt cx="14201775" cy="9096375"/>
          </a:xfrm>
        </p:grpSpPr>
        <p:grpSp>
          <p:nvGrpSpPr>
            <p:cNvPr id="69" name="Numerical workspace"/>
            <p:cNvGrpSpPr/>
            <p:nvPr/>
          </p:nvGrpSpPr>
          <p:grpSpPr>
            <a:xfrm>
              <a:off x="238125" y="476250"/>
              <a:ext cx="4572000" cy="4391025"/>
              <a:chOff x="238125" y="476250"/>
              <a:chExt cx="4572000" cy="4391025"/>
            </a:xfrm>
          </p:grpSpPr>
          <p:pic>
            <p:nvPicPr>
              <p:cNvPr id="3" name="asset_01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750" y="1095375"/>
                <a:ext cx="3857625" cy="2476500"/>
              </a:xfrm>
              <a:prstGeom prst="rect">
                <a:avLst/>
              </a:prstGeom>
            </p:spPr>
          </p:pic>
          <p:pic>
            <p:nvPicPr>
              <p:cNvPr id="4" name="asset_0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500" y="4010025"/>
                <a:ext cx="3238500" cy="857250"/>
              </a:xfrm>
              <a:prstGeom prst="rect">
                <a:avLst/>
              </a:prstGeom>
            </p:spPr>
          </p:pic>
          <p:sp>
            <p:nvSpPr>
              <p:cNvPr id="18" name="Line 18"/>
              <p:cNvSpPr/>
              <p:nvPr/>
            </p:nvSpPr>
            <p:spPr>
              <a:xfrm>
                <a:off x="4219575" y="2476500"/>
                <a:ext cx="590550" cy="0"/>
              </a:xfrm>
              <a:prstGeom prst="line">
                <a:avLst/>
              </a:prstGeom>
              <a:noFill/>
              <a:ln w="2286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9" name="Line 19"/>
              <p:cNvSpPr/>
              <p:nvPr/>
            </p:nvSpPr>
            <p:spPr>
              <a:xfrm flipH="1">
                <a:off x="4219575" y="2657475"/>
                <a:ext cx="590550" cy="0"/>
              </a:xfrm>
              <a:prstGeom prst="line">
                <a:avLst/>
              </a:prstGeom>
              <a:noFill/>
              <a:ln w="2286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7" name="Path 27"/>
              <p:cNvSpPr/>
              <p:nvPr/>
            </p:nvSpPr>
            <p:spPr>
              <a:xfrm>
                <a:off x="1666875" y="145542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8" name="Path 28"/>
              <p:cNvSpPr/>
              <p:nvPr/>
            </p:nvSpPr>
            <p:spPr>
              <a:xfrm>
                <a:off x="1666875" y="185547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9" name="Path 29"/>
              <p:cNvSpPr/>
              <p:nvPr/>
            </p:nvSpPr>
            <p:spPr>
              <a:xfrm>
                <a:off x="1666875" y="225552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0" name="Path 30"/>
              <p:cNvSpPr/>
              <p:nvPr/>
            </p:nvSpPr>
            <p:spPr>
              <a:xfrm>
                <a:off x="1666875" y="265557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1" name="Path 31"/>
              <p:cNvSpPr/>
              <p:nvPr/>
            </p:nvSpPr>
            <p:spPr>
              <a:xfrm>
                <a:off x="1666875" y="305562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2" name="Path 32"/>
              <p:cNvSpPr/>
              <p:nvPr/>
            </p:nvSpPr>
            <p:spPr>
              <a:xfrm>
                <a:off x="809625" y="4192905"/>
                <a:ext cx="2647950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38125" y="476250"/>
                <a:ext cx="39052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Numerical workspace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23875" y="141922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4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A</a:t>
                </a:r>
                <a:endParaRPr lang="zh-CN" sz="1496">
                  <a:latin typeface="Arial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23875" y="181927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4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B</a:t>
                </a:r>
                <a:endParaRPr lang="zh-CN" sz="1496">
                  <a:latin typeface="Arial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23875" y="221932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4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C</a:t>
                </a:r>
                <a:endParaRPr lang="zh-CN" sz="1496">
                  <a:latin typeface="Arial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23875" y="261937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4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D</a:t>
                </a:r>
                <a:endParaRPr lang="zh-CN" sz="1496">
                  <a:latin typeface="Arial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23875" y="301942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4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E</a:t>
                </a:r>
                <a:endParaRPr lang="zh-CN" sz="1496">
                  <a:latin typeface="Arial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85800" y="3571875"/>
                <a:ext cx="2857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Full precision</a:t>
                </a:r>
                <a:endParaRPr lang="zh-CN" sz="1936">
                  <a:latin typeface="Arial"/>
                </a:endParaRPr>
              </a:p>
            </p:txBody>
          </p:sp>
        </p:grpSp>
        <p:grpSp>
          <p:nvGrpSpPr>
            <p:cNvPr id="70" name="Temporal tools"/>
            <p:cNvGrpSpPr/>
            <p:nvPr/>
          </p:nvGrpSpPr>
          <p:grpSpPr>
            <a:xfrm>
              <a:off x="4667250" y="476250"/>
              <a:ext cx="5219700" cy="4029075"/>
              <a:chOff x="4667250" y="476250"/>
              <a:chExt cx="5219700" cy="4029075"/>
            </a:xfrm>
          </p:grpSpPr>
          <p:pic>
            <p:nvPicPr>
              <p:cNvPr id="2" name="asset_0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7250" y="3028950"/>
                <a:ext cx="5219700" cy="1476375"/>
              </a:xfrm>
              <a:prstGeom prst="rect">
                <a:avLst/>
              </a:prstGeom>
            </p:spPr>
          </p:pic>
          <p:pic>
            <p:nvPicPr>
              <p:cNvPr id="5" name="asset_0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53000" y="1238250"/>
                <a:ext cx="1485900" cy="2209800"/>
              </a:xfrm>
              <a:prstGeom prst="rect">
                <a:avLst/>
              </a:prstGeom>
            </p:spPr>
          </p:pic>
          <p:pic>
            <p:nvPicPr>
              <p:cNvPr id="6" name="asset_0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53200" y="1238250"/>
                <a:ext cx="1485900" cy="2209800"/>
              </a:xfrm>
              <a:prstGeom prst="rect">
                <a:avLst/>
              </a:prstGeom>
            </p:spPr>
          </p:pic>
          <p:pic>
            <p:nvPicPr>
              <p:cNvPr id="7" name="asset_0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53400" y="1238250"/>
                <a:ext cx="1485900" cy="2209800"/>
              </a:xfrm>
              <a:prstGeom prst="rect">
                <a:avLst/>
              </a:prstGeom>
            </p:spPr>
          </p:pic>
          <p:sp>
            <p:nvSpPr>
              <p:cNvPr id="15" name="Rect 15"/>
              <p:cNvSpPr/>
              <p:nvPr/>
            </p:nvSpPr>
            <p:spPr>
              <a:xfrm>
                <a:off x="5505450" y="1990725"/>
                <a:ext cx="314325" cy="92392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 w="10160">
                <a:solidFill>
                  <a:srgbClr val="A65F4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6" name="Line 16"/>
              <p:cNvSpPr/>
              <p:nvPr/>
            </p:nvSpPr>
            <p:spPr>
              <a:xfrm>
                <a:off x="7277100" y="2409825"/>
                <a:ext cx="0" cy="238125"/>
              </a:xfrm>
              <a:prstGeom prst="line">
                <a:avLst/>
              </a:prstGeom>
              <a:noFill/>
              <a:ln w="2286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7" name="Path 17"/>
              <p:cNvSpPr/>
              <p:nvPr/>
            </p:nvSpPr>
            <p:spPr>
              <a:xfrm>
                <a:off x="8372475" y="1981200"/>
                <a:ext cx="923925" cy="8191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5344" y="14065"/>
                    </a:lnTo>
                    <a:lnTo>
                      <a:pt x="10689" y="17581"/>
                    </a:lnTo>
                    <a:lnTo>
                      <a:pt x="15588" y="5777"/>
                    </a:lnTo>
                    <a:lnTo>
                      <a:pt x="21600" y="0"/>
                    </a:lnTo>
                  </a:path>
                </a:pathLst>
              </a:custGeom>
              <a:noFill/>
              <a:ln w="2286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3" name="Path 33"/>
              <p:cNvSpPr/>
              <p:nvPr/>
            </p:nvSpPr>
            <p:spPr>
              <a:xfrm>
                <a:off x="5172075" y="2053590"/>
                <a:ext cx="1019175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4" name="Path 34"/>
              <p:cNvSpPr/>
              <p:nvPr/>
            </p:nvSpPr>
            <p:spPr>
              <a:xfrm>
                <a:off x="6753225" y="1962150"/>
                <a:ext cx="10477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5" name="Path 35"/>
              <p:cNvSpPr/>
              <p:nvPr/>
            </p:nvSpPr>
            <p:spPr>
              <a:xfrm>
                <a:off x="6753225" y="2708910"/>
                <a:ext cx="104775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762500" y="476250"/>
                <a:ext cx="509587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Temporal tools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010150" y="1466850"/>
                <a:ext cx="1371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8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Slice</a:t>
                </a:r>
                <a:endParaRPr lang="zh-CN" sz="1584">
                  <a:latin typeface="Arial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610350" y="1466850"/>
                <a:ext cx="1371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8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Transform</a:t>
                </a:r>
                <a:endParaRPr lang="zh-CN" sz="1584">
                  <a:latin typeface="Arial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210550" y="1466850"/>
                <a:ext cx="1371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8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Analyze</a:t>
                </a:r>
                <a:endParaRPr lang="zh-CN" sz="1584">
                  <a:latin typeface="Arial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734050" y="3714750"/>
                <a:ext cx="3000375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Native runtime</a:t>
                </a:r>
                <a:endParaRPr lang="zh-CN" sz="2200">
                  <a:latin typeface="Arial"/>
                </a:endParaRPr>
              </a:p>
            </p:txBody>
          </p:sp>
        </p:grpSp>
        <p:grpSp>
          <p:nvGrpSpPr>
            <p:cNvPr id="71" name="Multimodal memory"/>
            <p:cNvGrpSpPr/>
            <p:nvPr/>
          </p:nvGrpSpPr>
          <p:grpSpPr>
            <a:xfrm>
              <a:off x="9886950" y="476250"/>
              <a:ext cx="4552950" cy="4286250"/>
              <a:chOff x="9886950" y="476250"/>
              <a:chExt cx="4552950" cy="4286250"/>
            </a:xfrm>
          </p:grpSpPr>
          <p:pic>
            <p:nvPicPr>
              <p:cNvPr id="8" name="asset_0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96525" y="1162050"/>
                <a:ext cx="2486025" cy="1562100"/>
              </a:xfrm>
              <a:prstGeom prst="rect">
                <a:avLst/>
              </a:prstGeom>
            </p:spPr>
          </p:pic>
          <p:pic>
            <p:nvPicPr>
              <p:cNvPr id="9" name="asset_0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06050" y="2771775"/>
                <a:ext cx="2152650" cy="1990725"/>
              </a:xfrm>
              <a:prstGeom prst="rect">
                <a:avLst/>
              </a:prstGeom>
            </p:spPr>
          </p:pic>
          <p:pic>
            <p:nvPicPr>
              <p:cNvPr id="10" name="asset_0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315825" y="1809750"/>
                <a:ext cx="2124075" cy="2867025"/>
              </a:xfrm>
              <a:prstGeom prst="rect">
                <a:avLst/>
              </a:prstGeom>
            </p:spPr>
          </p:pic>
          <p:sp>
            <p:nvSpPr>
              <p:cNvPr id="20" name="Line 20"/>
              <p:cNvSpPr/>
              <p:nvPr/>
            </p:nvSpPr>
            <p:spPr>
              <a:xfrm>
                <a:off x="9886950" y="2476500"/>
                <a:ext cx="314325" cy="0"/>
              </a:xfrm>
              <a:prstGeom prst="line">
                <a:avLst/>
              </a:prstGeom>
              <a:noFill/>
              <a:ln w="2286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1" name="Line 21"/>
              <p:cNvSpPr/>
              <p:nvPr/>
            </p:nvSpPr>
            <p:spPr>
              <a:xfrm flipH="1">
                <a:off x="9886950" y="2657475"/>
                <a:ext cx="314325" cy="0"/>
              </a:xfrm>
              <a:prstGeom prst="line">
                <a:avLst/>
              </a:prstGeom>
              <a:noFill/>
              <a:ln w="2286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6" name="Path 36"/>
              <p:cNvSpPr/>
              <p:nvPr/>
            </p:nvSpPr>
            <p:spPr>
              <a:xfrm>
                <a:off x="10648950" y="1829752"/>
                <a:ext cx="1628775" cy="502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287000" y="476250"/>
                <a:ext cx="40957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Multimodal memory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582275" y="1390650"/>
                <a:ext cx="16478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60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Signal</a:t>
                </a:r>
                <a:endParaRPr lang="zh-CN" sz="1760">
                  <a:latin typeface="Arial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553700" y="3019425"/>
                <a:ext cx="16478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60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Text</a:t>
                </a:r>
                <a:endParaRPr lang="zh-CN" sz="1760">
                  <a:latin typeface="Arial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515600" y="3429000"/>
                <a:ext cx="1714500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Task context</a:t>
                </a:r>
                <a:endParaRPr lang="zh-CN" sz="1800">
                  <a:latin typeface="Arial"/>
                </a:endParaRPr>
              </a:p>
              <a:p>
                <a:pPr algn="ctr"/>
                <a:r>
                  <a:rPr lang="zh-CN" sz="18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Rationale</a:t>
                </a:r>
                <a:endParaRPr lang="zh-CN" sz="1800">
                  <a:latin typeface="Arial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2734925" y="2066925"/>
                <a:ext cx="1428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60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Trace</a:t>
                </a:r>
                <a:endParaRPr lang="zh-CN" sz="1760">
                  <a:latin typeface="Arial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2677775" y="2571750"/>
                <a:ext cx="1457325" cy="1200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7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Operation</a:t>
                </a:r>
                <a:endParaRPr lang="zh-CN" sz="1700">
                  <a:latin typeface="Arial"/>
                </a:endParaRPr>
              </a:p>
              <a:p>
                <a:pPr algn="l"/>
                <a:r>
                  <a:rPr lang="zh-CN" sz="17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Observation</a:t>
                </a:r>
                <a:endParaRPr lang="zh-CN" sz="1700">
                  <a:latin typeface="Arial"/>
                </a:endParaRPr>
              </a:p>
              <a:p>
                <a:pPr algn="l"/>
                <a:r>
                  <a:rPr lang="zh-CN" sz="17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Intent</a:t>
                </a:r>
                <a:endParaRPr lang="zh-CN" sz="1700">
                  <a:latin typeface="Arial"/>
                </a:endParaRPr>
              </a:p>
            </p:txBody>
          </p:sp>
        </p:grpSp>
        <p:grpSp>
          <p:nvGrpSpPr>
            <p:cNvPr id="72" name="Promotion route"/>
            <p:cNvGrpSpPr/>
            <p:nvPr/>
          </p:nvGrpSpPr>
          <p:grpSpPr>
            <a:xfrm>
              <a:off x="238125" y="4429125"/>
              <a:ext cx="14144625" cy="2914650"/>
              <a:chOff x="238125" y="4429125"/>
              <a:chExt cx="14144625" cy="2914650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238125" y="5238750"/>
                <a:ext cx="14144625" cy="0"/>
              </a:xfrm>
              <a:prstGeom prst="line">
                <a:avLst/>
              </a:prstGeom>
              <a:noFill/>
              <a:ln w="12700">
                <a:solidFill>
                  <a:srgbClr val="767670"/>
                </a:solidFill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6" name="Path 26"/>
              <p:cNvSpPr/>
              <p:nvPr/>
            </p:nvSpPr>
            <p:spPr>
              <a:xfrm>
                <a:off x="9705975" y="4429125"/>
                <a:ext cx="4581525" cy="29146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0522" y="21600"/>
                    </a:moveTo>
                    <a:lnTo>
                      <a:pt x="21600" y="21600"/>
                    </a:lnTo>
                    <a:lnTo>
                      <a:pt x="21600" y="10941"/>
                    </a:lnTo>
                    <a:lnTo>
                      <a:pt x="0" y="10941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A65F4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238125" y="5495925"/>
                <a:ext cx="85725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464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From execution to reusable tools</a:t>
                </a:r>
                <a:endParaRPr lang="zh-CN" sz="2464">
                  <a:latin typeface="Comic Sans MS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287000" y="5524500"/>
                <a:ext cx="226695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48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Accepted tools</a:t>
                </a:r>
                <a:endParaRPr lang="zh-CN" sz="1848">
                  <a:latin typeface="Arial"/>
                </a:endParaRPr>
              </a:p>
            </p:txBody>
          </p:sp>
        </p:grpSp>
        <p:grpSp>
          <p:nvGrpSpPr>
            <p:cNvPr id="73" name="Execution traces"/>
            <p:cNvGrpSpPr/>
            <p:nvPr/>
          </p:nvGrpSpPr>
          <p:grpSpPr>
            <a:xfrm>
              <a:off x="381000" y="6200775"/>
              <a:ext cx="3629025" cy="3238500"/>
              <a:chOff x="381000" y="6200775"/>
              <a:chExt cx="3629025" cy="3238500"/>
            </a:xfrm>
          </p:grpSpPr>
          <p:pic>
            <p:nvPicPr>
              <p:cNvPr id="11" name="asset_0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3400" y="6724650"/>
                <a:ext cx="2714625" cy="2714625"/>
              </a:xfrm>
              <a:prstGeom prst="rect">
                <a:avLst/>
              </a:prstGeom>
            </p:spPr>
          </p:pic>
          <p:sp>
            <p:nvSpPr>
              <p:cNvPr id="23" name="Line 23"/>
              <p:cNvSpPr/>
              <p:nvPr/>
            </p:nvSpPr>
            <p:spPr>
              <a:xfrm>
                <a:off x="3295650" y="8029575"/>
                <a:ext cx="714375" cy="0"/>
              </a:xfrm>
              <a:prstGeom prst="line">
                <a:avLst/>
              </a:prstGeom>
              <a:noFill/>
              <a:ln w="2540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7" name="Path 37"/>
              <p:cNvSpPr/>
              <p:nvPr/>
            </p:nvSpPr>
            <p:spPr>
              <a:xfrm>
                <a:off x="1028700" y="8634412"/>
                <a:ext cx="18097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38100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Execution traces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066800" y="7200900"/>
                <a:ext cx="1809750" cy="1171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Task clusters</a:t>
                </a:r>
                <a:endParaRPr lang="zh-CN" sz="2100">
                  <a:latin typeface="Arial"/>
                </a:endParaRPr>
              </a:p>
              <a:p>
                <a:pPr algn="l"/>
                <a:r>
                  <a:rPr lang="zh-CN" sz="21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Operations</a:t>
                </a:r>
                <a:endParaRPr lang="zh-CN" sz="2100">
                  <a:latin typeface="Arial"/>
                </a:endParaRPr>
              </a:p>
              <a:p>
                <a:pPr algn="l"/>
                <a:r>
                  <a:rPr lang="zh-CN" sz="21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Observations</a:t>
                </a:r>
                <a:endParaRPr lang="zh-CN" sz="2100">
                  <a:latin typeface="Arial"/>
                </a:endParaRPr>
              </a:p>
            </p:txBody>
          </p:sp>
        </p:grpSp>
        <p:grpSp>
          <p:nvGrpSpPr>
            <p:cNvPr id="74" name="Candidate tool"/>
            <p:cNvGrpSpPr/>
            <p:nvPr/>
          </p:nvGrpSpPr>
          <p:grpSpPr>
            <a:xfrm>
              <a:off x="4095750" y="6200775"/>
              <a:ext cx="2981325" cy="2981325"/>
              <a:chOff x="4095750" y="6200775"/>
              <a:chExt cx="2981325" cy="2981325"/>
            </a:xfrm>
          </p:grpSpPr>
          <p:pic>
            <p:nvPicPr>
              <p:cNvPr id="12" name="asset_1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14800" y="6943725"/>
                <a:ext cx="2962275" cy="2238375"/>
              </a:xfrm>
              <a:prstGeom prst="rect">
                <a:avLst/>
              </a:prstGeom>
            </p:spPr>
          </p:pic>
          <p:sp>
            <p:nvSpPr>
              <p:cNvPr id="60" name="TextBox 60"/>
              <p:cNvSpPr txBox="1"/>
              <p:nvPr/>
            </p:nvSpPr>
            <p:spPr>
              <a:xfrm>
                <a:off x="409575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Candidate tool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457700" y="7286625"/>
                <a:ext cx="2333625" cy="1266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Invocation</a:t>
                </a:r>
                <a:endParaRPr lang="zh-CN" sz="2200">
                  <a:latin typeface="Arial"/>
                </a:endParaRPr>
              </a:p>
              <a:p>
                <a:pPr algn="l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Implementation</a:t>
                </a:r>
                <a:endParaRPr lang="zh-CN" sz="2200">
                  <a:latin typeface="Arial"/>
                </a:endParaRPr>
              </a:p>
              <a:p>
                <a:pPr algn="l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Workspace access</a:t>
                </a:r>
                <a:endParaRPr lang="zh-CN" sz="2200">
                  <a:latin typeface="Arial"/>
                </a:endParaRPr>
              </a:p>
            </p:txBody>
          </p:sp>
        </p:grpSp>
        <p:grpSp>
          <p:nvGrpSpPr>
            <p:cNvPr id="75" name="Held-out tests"/>
            <p:cNvGrpSpPr/>
            <p:nvPr/>
          </p:nvGrpSpPr>
          <p:grpSpPr>
            <a:xfrm>
              <a:off x="7115175" y="6200775"/>
              <a:ext cx="3676650" cy="3371850"/>
              <a:chOff x="7115175" y="6200775"/>
              <a:chExt cx="3676650" cy="3371850"/>
            </a:xfrm>
          </p:grpSpPr>
          <p:pic>
            <p:nvPicPr>
              <p:cNvPr id="13" name="asset_1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05725" y="6838950"/>
                <a:ext cx="3086100" cy="2457450"/>
              </a:xfrm>
              <a:prstGeom prst="rect">
                <a:avLst/>
              </a:prstGeom>
            </p:spPr>
          </p:pic>
          <p:sp>
            <p:nvSpPr>
              <p:cNvPr id="24" name="Line 24"/>
              <p:cNvSpPr/>
              <p:nvPr/>
            </p:nvSpPr>
            <p:spPr>
              <a:xfrm>
                <a:off x="7115175" y="8029575"/>
                <a:ext cx="495300" cy="0"/>
              </a:xfrm>
              <a:prstGeom prst="line">
                <a:avLst/>
              </a:prstGeom>
              <a:noFill/>
              <a:ln w="2540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8" name="Path 38"/>
              <p:cNvSpPr/>
              <p:nvPr/>
            </p:nvSpPr>
            <p:spPr>
              <a:xfrm>
                <a:off x="8039100" y="7140892"/>
                <a:ext cx="1524000" cy="32004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9" name="Path 39"/>
              <p:cNvSpPr/>
              <p:nvPr/>
            </p:nvSpPr>
            <p:spPr>
              <a:xfrm>
                <a:off x="8115300" y="7534275"/>
                <a:ext cx="14192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71525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Held-out tests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905750" y="9277350"/>
                <a:ext cx="2571750" cy="295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Similar tasks</a:t>
                </a:r>
                <a:endParaRPr lang="zh-CN" sz="1672">
                  <a:latin typeface="Arial"/>
                </a:endParaRPr>
              </a:p>
            </p:txBody>
          </p:sp>
        </p:grpSp>
        <p:grpSp>
          <p:nvGrpSpPr>
            <p:cNvPr id="76" name="Registration"/>
            <p:cNvGrpSpPr/>
            <p:nvPr/>
          </p:nvGrpSpPr>
          <p:grpSpPr>
            <a:xfrm>
              <a:off x="10858500" y="6200775"/>
              <a:ext cx="3524250" cy="3257550"/>
              <a:chOff x="10858500" y="6200775"/>
              <a:chExt cx="3524250" cy="3257550"/>
            </a:xfrm>
          </p:grpSpPr>
          <p:pic>
            <p:nvPicPr>
              <p:cNvPr id="14" name="asset_1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582400" y="6772275"/>
                <a:ext cx="2533650" cy="2686050"/>
              </a:xfrm>
              <a:prstGeom prst="rect">
                <a:avLst/>
              </a:prstGeom>
            </p:spPr>
          </p:pic>
          <p:sp>
            <p:nvSpPr>
              <p:cNvPr id="25" name="Line 25"/>
              <p:cNvSpPr/>
              <p:nvPr/>
            </p:nvSpPr>
            <p:spPr>
              <a:xfrm>
                <a:off x="10858500" y="8029575"/>
                <a:ext cx="638175" cy="0"/>
              </a:xfrm>
              <a:prstGeom prst="line">
                <a:avLst/>
              </a:prstGeom>
              <a:noFill/>
              <a:ln w="2540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143000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Registration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1811000" y="7200900"/>
                <a:ext cx="20193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Accepted tool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1811000" y="7762875"/>
                <a:ext cx="2028825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Held-out success</a:t>
                </a:r>
                <a:endParaRPr lang="zh-CN" sz="1800">
                  <a:latin typeface="Arial"/>
                </a:endParaRPr>
              </a:p>
              <a:p>
                <a:pPr algn="ctr"/>
                <a:r>
                  <a:rPr lang="zh-CN" sz="18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above threshold</a:t>
                </a:r>
                <a:endParaRPr lang="zh-CN" sz="1800">
                  <a:latin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