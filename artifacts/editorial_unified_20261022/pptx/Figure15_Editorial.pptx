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db0cba69fe848bd" /><Relationship Type="http://schemas.openxmlformats.org/officeDocument/2006/relationships/extended-properties" Target="/docProps/app.xml" Id="R726296310be64730" /><Relationship Type="http://schemas.openxmlformats.org/officeDocument/2006/relationships/officeDocument" Target="/ppt/presentation.xml" Id="Rc14424a12e2b4ed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2d2d11cd9e741be"/>
  </p:sldMasterIdLst>
  <p:notesMasterIdLst>
    <p:notesMasterId xmlns:r="http://schemas.openxmlformats.org/officeDocument/2006/relationships" r:id="R40497b9773924fc6"/>
  </p:notesMasterIdLst>
  <p:sldIdLst>
    <p:sldId xmlns:r="http://schemas.openxmlformats.org/officeDocument/2006/relationships" id="256" r:id="R2d137d57f8e74dd3"/>
  </p:sldIdLst>
  <p:sldSz cx="11430000" cy="7191375" type="custom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f1cae3c100447d9" /><Relationship Type="http://schemas.openxmlformats.org/officeDocument/2006/relationships/slideMaster" Target="/ppt/slideMasters/slideMaster1.xml" Id="R62d2d11cd9e741be" /><Relationship Type="http://schemas.openxmlformats.org/officeDocument/2006/relationships/notesMaster" Target="/ppt/notesMasters/notesMaster1.xml" Id="R40497b9773924fc6" /><Relationship Type="http://schemas.openxmlformats.org/officeDocument/2006/relationships/presProps" Target="/ppt/presProps.xml" Id="Rdc38535f99e14d12" /><Relationship Type="http://schemas.openxmlformats.org/officeDocument/2006/relationships/tableStyles" Target="/ppt/tableStyles.xml" Id="R1c100f5d167c426e" /><Relationship Type="http://schemas.openxmlformats.org/officeDocument/2006/relationships/slide" Target="/ppt/slides/slide1.xml" Id="R2d137d57f8e74dd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08d6cdfeadb43f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e5c6e62484447c5" /><Relationship Type="http://schemas.openxmlformats.org/officeDocument/2006/relationships/notesMaster" Target="/ppt/notesMasters/notesMaster1.xml" Id="R9e8e7e0ed3664fe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Revised Figure 15. Native editable scientific schematic, styled after Figures 5 and 6. Numerical curves, tables and code fragments illustrate the objects handled by modules; they are not experimental results or executable API specifications. Scientific content and method citations follow the matching main.tex paragraph and caption. Lucide line icons: https://lucide.dev, ISC license. Retain semantic groups when editing; ungroup to access labels, connectors, charts and icon paths.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63abe1465a4c6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5ddf29043b94a5b" /><Relationship Type="http://schemas.openxmlformats.org/officeDocument/2006/relationships/slideLayout" Target="/ppt/slideLayouts/slideLayout1.xml" Id="R92c323f9e40041f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2c323f9e40041f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a3f449134b4d59" /><Relationship Type="http://schemas.openxmlformats.org/officeDocument/2006/relationships/notesSlide" Target="/ppt/notesSlides/notesSlide1.xml" Id="R5edc627300b84282" /></Relationships>
</file>

<file path=ppt/slides/slide1.xml><?xml version="1.0" encoding="utf-8"?>
<p:sld xmlns:p="http://schemas.openxmlformats.org/presentationml/2006/main">
  <p:cSld>
    <p:bg>
      <p:bgPr>
        <ns0:solidFill xmlns:ns0="http://schemas.openxmlformats.org/drawingml/2006/main">
          <ns0:srgbClr val="FFFFFF"/>
        </ns0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pSp>
        <p:nvGrpSpPr>
          <p:cNvPr id="10597" name="Figure 15 — ungroup to edit modules"/>
          <p:cNvGrpSpPr/>
          <p:nvPr/>
        </p:nvGrpSpPr>
        <p:grpSpPr>
          <ns1:xfrm xmlns:ns1="http://schemas.openxmlformats.org/drawingml/2006/main">
            <ns1:off x="190500" y="47625"/>
            <ns1:ext cx="11096625" cy="6981825"/>
            <ns1:chOff x="190500" y="47625"/>
            <ns1:chExt cx="11096625" cy="6981825"/>
          </ns1:xfrm>
        </p:grpSpPr>
        <p:sp>
          <p:nvSpPr>
            <p:cNvPr id="10507" name="Open question"/>
            <p:cNvSpPr/>
            <p:nvPr/>
          </p:nvSpPr>
          <p:spPr>
            <ns1:xfrm xmlns:ns1="http://schemas.openxmlformats.org/drawingml/2006/main">
              <ns1:off x="190500" y="47625"/>
              <ns1:ext cx="3048000" cy="34290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782" b="1">
                  <ns7:solidFill>
                    <ns7:srgbClr val="222222"/>
                  </ns7:solidFill>
                  <ns7:latin typeface="Comic Sans MS"/>
                  <ns7:ea typeface="Times New Roman"/>
                </ns7:rPr>
                <ns7:t>Open question</ns7:t>
              </ns7:r>
            </ns7:p>
          </p:txBody>
        </p:sp>
        <p:sp>
          <p:nvSpPr>
            <p:cNvPr id="10508" name="Controlled comparison"/>
            <p:cNvSpPr/>
            <p:nvPr/>
          </p:nvSpPr>
          <p:spPr>
            <ns1:xfrm xmlns:ns1="http://schemas.openxmlformats.org/drawingml/2006/main">
              <ns1:off x="3524250" y="47625"/>
              <ns1:ext cx="4762500" cy="34290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782" b="1">
                  <ns7:solidFill>
                    <ns7:srgbClr val="222222"/>
                  </ns7:solidFill>
                  <ns7:latin typeface="Comic Sans MS"/>
                  <ns7:ea typeface="Times New Roman"/>
                </ns7:rPr>
                <ns7:t>Controlled comparison</ns7:t>
              </ns7:r>
            </ns7:p>
          </p:txBody>
        </p:sp>
        <p:sp>
          <p:nvSpPr>
            <p:cNvPr id="10509" name="Evidence to record"/>
            <p:cNvSpPr/>
            <p:nvPr/>
          </p:nvSpPr>
          <p:spPr>
            <ns1:xfrm xmlns:ns1="http://schemas.openxmlformats.org/drawingml/2006/main">
              <ns1:off x="8667750" y="47625"/>
              <ns1:ext cx="2571750" cy="34290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782" b="1">
                  <ns7:solidFill>
                    <ns7:srgbClr val="222222"/>
                  </ns7:solidFill>
                  <ns7:latin typeface="Comic Sans MS"/>
                  <ns7:ea typeface="Times New Roman"/>
                </ns7:rPr>
                <ns7:t>Evidence to record</ns7:t>
              </ns7:r>
            </ns7:p>
          </p:txBody>
        </p:sp>
        <p:sp>
          <p:nvSpPr>
            <p:cNvPr id="10510" name="Row rule"/>
            <p:cNvSpPr/>
            <p:nvPr/>
          </p:nvSpPr>
          <p:spPr>
            <ns1:xfrm xmlns:ns1="http://schemas.openxmlformats.org/drawingml/2006/main">
              <ns1:off x="190500" y="571500"/>
              <ns1:ext cx="11049000" cy="9525"/>
            </ns1:xfrm>
            <ns2:custGeom xmlns:ns2="http://schemas.openxmlformats.org/drawingml/2006/main">
              <ns2:avLst/>
              <ns2:gdLst/>
              <ns2:ahLst/>
              <ns2:cxnLst/>
              <ns2:rect l="l" t="t" r="r" b="b"/>
              <ns2:pathLst>
                <ns2:path w="1160000" h="1000" fill="none">
                  <ns2:moveTo>
                    <ns2:pt x="0" y="0"/>
                  </ns2:moveTo>
                  <ns2:lnTo>
                    <ns2:pt x="1160000" y="0"/>
                  </ns2:lnTo>
                </ns2:path>
              </ns2:pathLst>
            </ns2:custGeom>
            <ns3:noFill xmlns:ns3="http://schemas.openxmlformats.org/drawingml/2006/main"/>
            <ns4:ln xmlns:ns4="http://schemas.openxmlformats.org/drawingml/2006/main" w="9525" cap="rnd">
              <ns4:solidFill>
                <ns4:srgbClr val="D8D8D4"/>
              </ns4:solidFill>
            </ns4:ln>
          </p:spPr>
        </p:sp>
        <p:sp>
          <p:nvSpPr>
            <p:cNvPr id="10511" name="Perception or execution"/>
            <p:cNvSpPr/>
            <p:nvPr/>
          </p:nvSpPr>
          <p:spPr>
            <ns1:xfrm xmlns:ns1="http://schemas.openxmlformats.org/drawingml/2006/main">
              <ns1:off x="190500" y="809625"/>
              <ns1:ext cx="2952750" cy="59055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650" b="1">
                  <ns7:solidFill>
                    <ns7:srgbClr val="222222"/>
                  </ns7:solidFill>
                  <ns7:latin typeface="Comic Sans MS"/>
                  <ns7:ea typeface="Times New Roman"/>
                </ns7:rPr>
                <ns7:t>Perception or execution</ns7:t>
              </ns7:r>
            </ns7:p>
          </p:txBody>
        </p:sp>
        <p:sp>
          <p:nvSpPr>
            <p:cNvPr id="10512" name="Numerical error&#10;Execution cost"/>
            <p:cNvSpPr/>
            <p:nvPr/>
          </p:nvSpPr>
          <p:spPr>
            <ns1:xfrm xmlns:ns1="http://schemas.openxmlformats.org/drawingml/2006/main">
              <ns1:off x="8667750" y="809625"/>
              <ns1:ext cx="2619375" cy="66675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650" b="0">
                  <ns7:solidFill>
                    <ns7:srgbClr val="222222"/>
                  </ns7:solidFill>
                  <ns7:latin typeface="Arial"/>
                  <ns7:ea typeface="Times New Roman"/>
                </ns7:rPr>
                <ns7:t>Numerical error</ns7:t>
              </ns7:r>
            </ns7:p>
            <ns8:p xmlns:ns8="http://schemas.openxmlformats.org/drawingml/2006/main">
              <ns8:pPr algn="ctr"/>
              <ns8:r>
                <ns8:rPr sz="1650" b="0">
                  <ns8:solidFill>
                    <ns8:srgbClr val="222222"/>
                  </ns8:solidFill>
                  <ns8:latin typeface="Arial"/>
                  <ns8:ea typeface="Times New Roman"/>
                </ns8:rPr>
                <ns8:t>Execution cost</ns8:t>
              </ns8:r>
            </ns8:p>
          </p:txBody>
        </p:sp>
        <p:grpSp>
          <p:nvGrpSpPr>
            <p:cNvPr id="10534" name="Perception or execution"/>
            <p:cNvGrpSpPr/>
            <p:nvPr/>
          </p:nvGrpSpPr>
          <p:grpSpPr>
            <ns1:xfrm xmlns:ns1="http://schemas.openxmlformats.org/drawingml/2006/main">
              <ns1:off x="3381375" y="704850"/>
              <ns1:ext cx="4762500" cy="809625"/>
              <ns1:chOff x="3381375" y="704850"/>
              <ns1:chExt cx="4762500" cy="809625"/>
            </ns1:xfrm>
          </p:grpSpPr>
          <p:grpSp>
            <p:nvGrpSpPr>
              <p:cNvPr id="10519" name="bot editable icon"/>
              <p:cNvGrpSpPr/>
              <p:nvPr/>
            </p:nvGrpSpPr>
            <p:grpSpPr>
              <ns1:xfrm xmlns:ns1="http://schemas.openxmlformats.org/drawingml/2006/main">
                <ns1:off x="3886200" y="704850"/>
                <ns1:ext cx="381000" cy="381000"/>
                <ns1:chOff x="3886200" y="704850"/>
                <ns1:chExt cx="381000" cy="381000"/>
              </ns1:xfrm>
            </p:grpSpPr>
            <p:sp>
              <p:nvSpPr>
                <p:cNvPr id="10513" name="bot-0"/>
                <p:cNvSpPr/>
                <p:nvPr/>
              </p:nvSpPr>
              <p:spPr>
                <ns1:xfrm xmlns:ns1="http://schemas.openxmlformats.org/drawingml/2006/main">
                  <ns1:off x="3886200" y="704850"/>
                  <ns1:ext cx="381000" cy="3810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2000" y="8000"/>
                      </ns2:moveTo>
                      <ns2:lnTo>
                        <ns2:pt x="12000" y="4000"/>
                      </ns2:lnTo>
                      <ns2:lnTo>
                        <ns2:pt x="8000" y="4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3812" cap="rnd">
                  <ns4:solidFill>
                    <ns4:srgbClr val="304B63"/>
                  </ns4:solidFill>
                </ns4:ln>
              </p:spPr>
            </p:sp>
            <p:sp>
              <p:nvSpPr>
                <p:cNvPr id="10514" name="bot-1"/>
                <p:cNvSpPr/>
                <p:nvPr/>
              </p:nvSpPr>
              <p:spPr>
                <ns1:xfrm xmlns:ns1="http://schemas.openxmlformats.org/drawingml/2006/main">
                  <ns1:off x="3949700" y="831850"/>
                  <ns1:ext cx="254000" cy="190500"/>
                </ns1:xfrm>
                <ns2:prstGeom xmlns:ns2="http://schemas.openxmlformats.org/drawingml/2006/main" prst="roundRect">
                  <ns2:avLst/>
                </ns2:prstGeom>
                <ns3:noFill xmlns:ns3="http://schemas.openxmlformats.org/drawingml/2006/main"/>
                <ns5:ln xmlns:ns5="http://schemas.openxmlformats.org/drawingml/2006/main" w="23812" cap="rnd">
                  <ns5:solidFill>
                    <ns5:srgbClr val="304B63"/>
                  </ns5:solidFill>
                </ns5:ln>
              </p:spPr>
            </p:sp>
            <p:sp>
              <p:nvSpPr>
                <p:cNvPr id="10515" name="bot-2"/>
                <p:cNvSpPr/>
                <p:nvPr/>
              </p:nvSpPr>
              <p:spPr>
                <ns1:xfrm xmlns:ns1="http://schemas.openxmlformats.org/drawingml/2006/main">
                  <ns1:off x="3886200" y="704850"/>
                  <ns1:ext cx="381000" cy="3810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2000" y="14000"/>
                      </ns2:moveTo>
                      <ns2:lnTo>
                        <ns2:pt x="4000" y="14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3812" cap="rnd">
                  <ns4:solidFill>
                    <ns4:srgbClr val="304B63"/>
                  </ns4:solidFill>
                </ns4:ln>
              </p:spPr>
            </p:sp>
            <p:sp>
              <p:nvSpPr>
                <p:cNvPr id="10516" name="bot-3"/>
                <p:cNvSpPr/>
                <p:nvPr/>
              </p:nvSpPr>
              <p:spPr>
                <ns1:xfrm xmlns:ns1="http://schemas.openxmlformats.org/drawingml/2006/main">
                  <ns1:off x="3886200" y="704850"/>
                  <ns1:ext cx="381000" cy="3810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20000" y="14000"/>
                      </ns2:moveTo>
                      <ns2:lnTo>
                        <ns2:pt x="22000" y="14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3812" cap="rnd">
                  <ns4:solidFill>
                    <ns4:srgbClr val="304B63"/>
                  </ns4:solidFill>
                </ns4:ln>
              </p:spPr>
            </p:sp>
            <p:sp>
              <p:nvSpPr>
                <p:cNvPr id="10517" name="bot-4"/>
                <p:cNvSpPr/>
                <p:nvPr/>
              </p:nvSpPr>
              <p:spPr>
                <ns1:xfrm xmlns:ns1="http://schemas.openxmlformats.org/drawingml/2006/main">
                  <ns1:off x="3886200" y="704850"/>
                  <ns1:ext cx="381000" cy="3810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5000" y="13000"/>
                      </ns2:moveTo>
                      <ns2:lnTo>
                        <ns2:pt x="15000" y="15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3812" cap="rnd">
                  <ns4:solidFill>
                    <ns4:srgbClr val="304B63"/>
                  </ns4:solidFill>
                </ns4:ln>
              </p:spPr>
            </p:sp>
            <p:sp>
              <p:nvSpPr>
                <p:cNvPr id="10518" name="bot-5"/>
                <p:cNvSpPr/>
                <p:nvPr/>
              </p:nvSpPr>
              <p:spPr>
                <ns1:xfrm xmlns:ns1="http://schemas.openxmlformats.org/drawingml/2006/main">
                  <ns1:off x="3886200" y="704850"/>
                  <ns1:ext cx="381000" cy="3810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9000" y="13000"/>
                      </ns2:moveTo>
                      <ns2:lnTo>
                        <ns2:pt x="9000" y="15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3812" cap="rnd">
                  <ns4:solidFill>
                    <ns4:srgbClr val="304B63"/>
                  </ns4:solidFill>
                </ns4:ln>
              </p:spPr>
            </p:sp>
          </p:grpSp>
          <p:sp>
            <p:nvSpPr>
              <p:cNvPr id="10520" name="Model judgment"/>
              <p:cNvSpPr/>
              <p:nvPr/>
            </p:nvSpPr>
            <p:spPr>
              <ns1:xfrm xmlns:ns1="http://schemas.openxmlformats.org/drawingml/2006/main">
                <ns1:off x="3381375" y="1228725"/>
                <ns1:ext cx="1809750" cy="28575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452" b="0">
                    <ns7:solidFill>
                      <ns7:srgbClr val="222222"/>
                    </ns7:solidFill>
                    <ns7:latin typeface="Arial"/>
                    <ns7:ea typeface="Times New Roman"/>
                  </ns7:rPr>
                  <ns7:t>Model judgment</ns7:t>
                </ns7:r>
              </ns7:p>
            </p:txBody>
          </p:sp>
          <p:sp>
            <p:nvSpPr>
              <p:cNvPr id="10521" name="vs."/>
              <p:cNvSpPr/>
              <p:nvPr/>
            </p:nvSpPr>
            <p:spPr>
              <ns1:xfrm xmlns:ns1="http://schemas.openxmlformats.org/drawingml/2006/main">
                <ns1:off x="5591175" y="895350"/>
                <ns1:ext cx="476250" cy="28575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320" b="0">
                    <ns7:solidFill>
                      <ns7:srgbClr val="222222"/>
                    </ns7:solidFill>
                    <ns7:latin typeface="Arial"/>
                    <ns7:ea typeface="Times New Roman"/>
                  </ns7:rPr>
                  <ns7:t>vs.</ns7:t>
                </ns7:r>
              </ns7:p>
            </p:txBody>
          </p:sp>
          <p:grpSp>
            <p:nvGrpSpPr>
              <p:cNvPr id="10532" name="calculator editable icon"/>
              <p:cNvGrpSpPr/>
              <p:nvPr/>
            </p:nvGrpSpPr>
            <p:grpSpPr>
              <ns1:xfrm xmlns:ns1="http://schemas.openxmlformats.org/drawingml/2006/main">
                <ns1:off x="6819900" y="704850"/>
                <ns1:ext cx="381000" cy="381000"/>
                <ns1:chOff x="6819900" y="704850"/>
                <ns1:chExt cx="381000" cy="381000"/>
              </ns1:xfrm>
            </p:grpSpPr>
            <p:sp>
              <p:nvSpPr>
                <p:cNvPr id="10522" name="calculator-0"/>
                <p:cNvSpPr/>
                <p:nvPr/>
              </p:nvSpPr>
              <p:spPr>
                <ns1:xfrm xmlns:ns1="http://schemas.openxmlformats.org/drawingml/2006/main">
                  <ns1:off x="6883400" y="736600"/>
                  <ns1:ext cx="254000" cy="317500"/>
                </ns1:xfrm>
                <ns2:prstGeom xmlns:ns2="http://schemas.openxmlformats.org/drawingml/2006/main" prst="roundRect">
                  <ns2:avLst/>
                </ns2:prstGeom>
                <ns3:noFill xmlns:ns3="http://schemas.openxmlformats.org/drawingml/2006/main"/>
                <ns5:ln xmlns:ns5="http://schemas.openxmlformats.org/drawingml/2006/main" w="23812" cap="rnd">
                  <ns5:solidFill>
                    <ns5:srgbClr val="304B63"/>
                  </ns5:solidFill>
                </ns5:ln>
              </p:spPr>
            </p:sp>
            <p:sp>
              <p:nvSpPr>
                <p:cNvPr id="10523" name="calculator-1"/>
                <p:cNvSpPr/>
                <p:nvPr/>
              </p:nvSpPr>
              <p:spPr>
                <ns1:xfrm xmlns:ns1="http://schemas.openxmlformats.org/drawingml/2006/main">
                  <ns1:off x="6819900" y="704850"/>
                  <ns1:ext cx="381000" cy="3810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8000" y="6000"/>
                      </ns2:moveTo>
                      <ns2:lnTo>
                        <ns2:pt x="16000" y="6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3812" cap="rnd">
                  <ns4:solidFill>
                    <ns4:srgbClr val="304B63"/>
                  </ns4:solidFill>
                </ns4:ln>
              </p:spPr>
            </p:sp>
            <p:sp>
              <p:nvSpPr>
                <p:cNvPr id="10524" name="calculator-2"/>
                <p:cNvSpPr/>
                <p:nvPr/>
              </p:nvSpPr>
              <p:spPr>
                <ns1:xfrm xmlns:ns1="http://schemas.openxmlformats.org/drawingml/2006/main">
                  <ns1:off x="6819900" y="704850"/>
                  <ns1:ext cx="381000" cy="3810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6000" y="14000"/>
                      </ns2:moveTo>
                      <ns2:lnTo>
                        <ns2:pt x="16000" y="18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3812" cap="rnd">
                  <ns4:solidFill>
                    <ns4:srgbClr val="304B63"/>
                  </ns4:solidFill>
                </ns4:ln>
              </p:spPr>
            </p:sp>
            <p:sp>
              <p:nvSpPr>
                <p:cNvPr id="10525" name="calculator-3"/>
                <p:cNvSpPr/>
                <p:nvPr/>
              </p:nvSpPr>
              <p:spPr>
                <ns1:xfrm xmlns:ns1="http://schemas.openxmlformats.org/drawingml/2006/main">
                  <ns1:off x="6819900" y="704850"/>
                  <ns1:ext cx="381000" cy="3810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6000" y="10000"/>
                      </ns2:moveTo>
                      <ns2:lnTo>
                        <ns2:pt x="16010" y="10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3812" cap="rnd">
                  <ns4:solidFill>
                    <ns4:srgbClr val="304B63"/>
                  </ns4:solidFill>
                </ns4:ln>
              </p:spPr>
            </p:sp>
            <p:sp>
              <p:nvSpPr>
                <p:cNvPr id="10526" name="calculator-4"/>
                <p:cNvSpPr/>
                <p:nvPr/>
              </p:nvSpPr>
              <p:spPr>
                <ns1:xfrm xmlns:ns1="http://schemas.openxmlformats.org/drawingml/2006/main">
                  <ns1:off x="6819900" y="704850"/>
                  <ns1:ext cx="381000" cy="3810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2000" y="10000"/>
                      </ns2:moveTo>
                      <ns2:lnTo>
                        <ns2:pt x="12010" y="10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3812" cap="rnd">
                  <ns4:solidFill>
                    <ns4:srgbClr val="304B63"/>
                  </ns4:solidFill>
                </ns4:ln>
              </p:spPr>
            </p:sp>
            <p:sp>
              <p:nvSpPr>
                <p:cNvPr id="10527" name="calculator-5"/>
                <p:cNvSpPr/>
                <p:nvPr/>
              </p:nvSpPr>
              <p:spPr>
                <ns1:xfrm xmlns:ns1="http://schemas.openxmlformats.org/drawingml/2006/main">
                  <ns1:off x="6819900" y="704850"/>
                  <ns1:ext cx="381000" cy="3810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8000" y="10000"/>
                      </ns2:moveTo>
                      <ns2:lnTo>
                        <ns2:pt x="8010" y="10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3812" cap="rnd">
                  <ns4:solidFill>
                    <ns4:srgbClr val="304B63"/>
                  </ns4:solidFill>
                </ns4:ln>
              </p:spPr>
            </p:sp>
            <p:sp>
              <p:nvSpPr>
                <p:cNvPr id="10528" name="calculator-6"/>
                <p:cNvSpPr/>
                <p:nvPr/>
              </p:nvSpPr>
              <p:spPr>
                <ns1:xfrm xmlns:ns1="http://schemas.openxmlformats.org/drawingml/2006/main">
                  <ns1:off x="6819900" y="704850"/>
                  <ns1:ext cx="381000" cy="3810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2000" y="14000"/>
                      </ns2:moveTo>
                      <ns2:lnTo>
                        <ns2:pt x="12010" y="14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3812" cap="rnd">
                  <ns4:solidFill>
                    <ns4:srgbClr val="304B63"/>
                  </ns4:solidFill>
                </ns4:ln>
              </p:spPr>
            </p:sp>
            <p:sp>
              <p:nvSpPr>
                <p:cNvPr id="10529" name="calculator-7"/>
                <p:cNvSpPr/>
                <p:nvPr/>
              </p:nvSpPr>
              <p:spPr>
                <ns1:xfrm xmlns:ns1="http://schemas.openxmlformats.org/drawingml/2006/main">
                  <ns1:off x="6819900" y="704850"/>
                  <ns1:ext cx="381000" cy="3810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8000" y="14000"/>
                      </ns2:moveTo>
                      <ns2:lnTo>
                        <ns2:pt x="8010" y="14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3812" cap="rnd">
                  <ns4:solidFill>
                    <ns4:srgbClr val="304B63"/>
                  </ns4:solidFill>
                </ns4:ln>
              </p:spPr>
            </p:sp>
            <p:sp>
              <p:nvSpPr>
                <p:cNvPr id="10530" name="calculator-8"/>
                <p:cNvSpPr/>
                <p:nvPr/>
              </p:nvSpPr>
              <p:spPr>
                <ns1:xfrm xmlns:ns1="http://schemas.openxmlformats.org/drawingml/2006/main">
                  <ns1:off x="6819900" y="704850"/>
                  <ns1:ext cx="381000" cy="3810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2000" y="18000"/>
                      </ns2:moveTo>
                      <ns2:lnTo>
                        <ns2:pt x="12010" y="18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3812" cap="rnd">
                  <ns4:solidFill>
                    <ns4:srgbClr val="304B63"/>
                  </ns4:solidFill>
                </ns4:ln>
              </p:spPr>
            </p:sp>
            <p:sp>
              <p:nvSpPr>
                <p:cNvPr id="10531" name="calculator-9"/>
                <p:cNvSpPr/>
                <p:nvPr/>
              </p:nvSpPr>
              <p:spPr>
                <ns1:xfrm xmlns:ns1="http://schemas.openxmlformats.org/drawingml/2006/main">
                  <ns1:off x="6819900" y="704850"/>
                  <ns1:ext cx="381000" cy="3810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8000" y="18000"/>
                      </ns2:moveTo>
                      <ns2:lnTo>
                        <ns2:pt x="8010" y="18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3812" cap="rnd">
                  <ns4:solidFill>
                    <ns4:srgbClr val="304B63"/>
                  </ns4:solidFill>
                </ns4:ln>
              </p:spPr>
            </p:sp>
          </p:grpSp>
          <p:sp>
            <p:nvSpPr>
              <p:cNvPr id="10533" name="Numerical tool"/>
              <p:cNvSpPr/>
              <p:nvPr/>
            </p:nvSpPr>
            <p:spPr>
              <ns1:xfrm xmlns:ns1="http://schemas.openxmlformats.org/drawingml/2006/main">
                <ns1:off x="6238875" y="1228725"/>
                <ns1:ext cx="1905000" cy="28575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452" b="0">
                    <ns7:solidFill>
                      <ns7:srgbClr val="222222"/>
                    </ns7:solidFill>
                    <ns7:latin typeface="Arial"/>
                    <ns7:ea typeface="Times New Roman"/>
                  </ns7:rPr>
                  <ns7:t>Numerical tool</ns7:t>
                </ns7:r>
              </ns7:p>
            </p:txBody>
          </p:sp>
        </p:grpSp>
        <p:sp>
          <p:nvSpPr>
            <p:cNvPr id="10535" name="Row rule"/>
            <p:cNvSpPr/>
            <p:nvPr/>
          </p:nvSpPr>
          <p:spPr>
            <ns1:xfrm xmlns:ns1="http://schemas.openxmlformats.org/drawingml/2006/main">
              <ns1:off x="190500" y="1743075"/>
              <ns1:ext cx="11049000" cy="9525"/>
            </ns1:xfrm>
            <ns2:custGeom xmlns:ns2="http://schemas.openxmlformats.org/drawingml/2006/main">
              <ns2:avLst/>
              <ns2:gdLst/>
              <ns2:ahLst/>
              <ns2:cxnLst/>
              <ns2:rect l="l" t="t" r="r" b="b"/>
              <ns2:pathLst>
                <ns2:path w="1160000" h="1000" fill="none">
                  <ns2:moveTo>
                    <ns2:pt x="0" y="0"/>
                  </ns2:moveTo>
                  <ns2:lnTo>
                    <ns2:pt x="1160000" y="0"/>
                  </ns2:lnTo>
                </ns2:path>
              </ns2:pathLst>
            </ns2:custGeom>
            <ns3:noFill xmlns:ns3="http://schemas.openxmlformats.org/drawingml/2006/main"/>
            <ns4:ln xmlns:ns4="http://schemas.openxmlformats.org/drawingml/2006/main" w="9525" cap="rnd">
              <ns4:solidFill>
                <ns4:srgbClr val="D8D8D4"/>
              </ns4:solidFill>
            </ns4:ln>
          </p:spPr>
        </p:sp>
        <p:sp>
          <p:nvSpPr>
            <p:cNvPr id="10536" name="Memory under change"/>
            <p:cNvSpPr/>
            <p:nvPr/>
          </p:nvSpPr>
          <p:spPr>
            <ns1:xfrm xmlns:ns1="http://schemas.openxmlformats.org/drawingml/2006/main">
              <ns1:off x="190500" y="1981200"/>
              <ns1:ext cx="2952750" cy="59055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650" b="1">
                  <ns7:solidFill>
                    <ns7:srgbClr val="222222"/>
                  </ns7:solidFill>
                  <ns7:latin typeface="Comic Sans MS"/>
                  <ns7:ea typeface="Times New Roman"/>
                </ns7:rPr>
                <ns7:t>Memory under change</ns7:t>
              </ns7:r>
            </ns7:p>
          </p:txBody>
        </p:sp>
        <p:sp>
          <p:nvSpPr>
            <p:cNvPr id="10537" name="Revalidation&#10;Updated conclusions"/>
            <p:cNvSpPr/>
            <p:nvPr/>
          </p:nvSpPr>
          <p:spPr>
            <ns1:xfrm xmlns:ns1="http://schemas.openxmlformats.org/drawingml/2006/main">
              <ns1:off x="8667750" y="1981200"/>
              <ns1:ext cx="2619375" cy="66675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650" b="0">
                  <ns7:solidFill>
                    <ns7:srgbClr val="222222"/>
                  </ns7:solidFill>
                  <ns7:latin typeface="Arial"/>
                  <ns7:ea typeface="Times New Roman"/>
                </ns7:rPr>
                <ns7:t>Revalidation</ns7:t>
              </ns7:r>
            </ns7:p>
            <ns8:p xmlns:ns8="http://schemas.openxmlformats.org/drawingml/2006/main">
              <ns8:pPr algn="ctr"/>
              <ns8:r>
                <ns8:rPr sz="1650" b="0">
                  <ns8:solidFill>
                    <ns8:srgbClr val="222222"/>
                  </ns8:solidFill>
                  <ns8:latin typeface="Arial"/>
                  <ns8:ea typeface="Times New Roman"/>
                </ns8:rPr>
                <ns8:t>Updated conclusions</ns8:t>
              </ns8:r>
            </ns8:p>
          </p:txBody>
        </p:sp>
        <p:grpSp>
          <p:nvGrpSpPr>
            <p:cNvPr id="10545" name="Memory under change"/>
            <p:cNvGrpSpPr/>
            <p:nvPr/>
          </p:nvGrpSpPr>
          <p:grpSpPr>
            <ns1:xfrm xmlns:ns1="http://schemas.openxmlformats.org/drawingml/2006/main">
              <ns1:off x="3476625" y="1876425"/>
              <ns1:ext cx="4495800" cy="790575"/>
              <ns1:chOff x="3476625" y="1876425"/>
              <ns1:chExt cx="4495800" cy="790575"/>
            </ns1:xfrm>
          </p:grpSpPr>
          <p:sp>
            <p:nvSpPr>
              <p:cNvPr id="10538" name="Document Release v₁"/>
              <p:cNvSpPr/>
              <p:nvPr/>
            </p:nvSpPr>
            <p:spPr>
              <ns1:xfrm xmlns:ns1="http://schemas.openxmlformats.org/drawingml/2006/main">
                <ns1:off x="3476625" y="1876425"/>
                <ns1:ext cx="1524000" cy="790575"/>
              </ns1:xfrm>
              <ns2:prstGeom xmlns:ns2="http://schemas.openxmlformats.org/drawingml/2006/main" prst="rect">
                <ns2:avLst/>
              </ns2:prstGeom>
              <ns0:gradFill xmlns:ns0="http://schemas.openxmlformats.org/drawingml/2006/main" rotWithShape="1">
                <ns0:gsLst>
                  <ns0:gs pos="0">
                    <ns0:srgbClr val="FFFFFF"/>
                  </ns0:gs>
                  <ns0:gs pos="100000">
                    <ns0:srgbClr val="EEF2F4"/>
                  </ns0:gs>
                </ns0:gsLst>
                <ns0:lin ang="5400000" scaled="1"/>
              </ns0:gradFill>
              <ns4:ln xmlns:ns4="http://schemas.openxmlformats.org/drawingml/2006/main" w="9525" cap="rnd">
                <ns4:solidFill>
                  <ns4:srgbClr val="D8D8D4"/>
                </ns4:solidFill>
              </ns4:ln>
              <ns0:effectLst xmlns:ns0="http://schemas.openxmlformats.org/drawingml/2006/main">
                <ns0:outerShdw blurRad="18000" dist="11000" dir="5400000" algn="ctr" rotWithShape="0">
                  <ns0:srgbClr val="333333">
                    <ns0:alpha val="11000"/>
                  </ns0:srgbClr>
                </ns0:outerShdw>
              </ns0:effectLst>
            </p:spPr>
          </p:sp>
          <p:sp>
            <p:nvSpPr>
              <p:cNvPr id="10539" name="Release v₁"/>
              <p:cNvSpPr/>
              <p:nvPr/>
            </p:nvSpPr>
            <p:spPr>
              <ns1:xfrm xmlns:ns1="http://schemas.openxmlformats.org/drawingml/2006/main">
                <ns1:off x="3524250" y="1914525"/>
                <ns1:ext cx="1428750" cy="28575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452" b="1">
                    <ns7:solidFill>
                      <ns7:srgbClr val="222222"/>
                    </ns7:solidFill>
                    <ns7:latin typeface="Arial"/>
                    <ns7:ea typeface="Times New Roman"/>
                  </ns7:rPr>
                  <ns7:t>Release v₁</ns7:t>
                </ns7:r>
              </ns7:p>
            </p:txBody>
          </p:sp>
          <p:sp>
            <p:nvSpPr>
              <p:cNvPr id="10540" name="Prior evidence"/>
              <p:cNvSpPr/>
              <p:nvPr/>
            </p:nvSpPr>
            <p:spPr>
              <ns1:xfrm xmlns:ns1="http://schemas.openxmlformats.org/drawingml/2006/main">
                <ns1:off x="3562350" y="2238375"/>
                <ns1:ext cx="1352550" cy="219075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l"/>
                <ns7:r>
                  <ns7:rPr sz="1188" b="0">
                    <ns7:solidFill>
                      <ns7:srgbClr val="222222"/>
                    </ns7:solidFill>
                    <ns7:latin typeface="Arial"/>
                    <ns7:ea typeface="Times New Roman"/>
                  </ns7:rPr>
                  <ns7:t>Prior evidence</ns7:t>
                </ns7:r>
              </ns7:p>
            </p:txBody>
          </p:sp>
          <p:sp>
            <p:nvSpPr>
              <p:cNvPr id="10541" name="flow"/>
              <p:cNvSpPr/>
              <p:nvPr/>
            </p:nvSpPr>
            <p:spPr>
              <ns1:xfrm xmlns:ns1="http://schemas.openxmlformats.org/drawingml/2006/main">
                <ns1:off x="5314950" y="2228850"/>
                <ns1:ext cx="762000" cy="9525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80000" h="1000" fill="none">
                    <ns2:moveTo>
                      <ns2:pt x="0" y="0"/>
                    </ns2:moveTo>
                    <ns2:lnTo>
                      <ns2:pt x="80000" y="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19050" cap="rnd">
                <ns4:solidFill>
                  <ns4:srgbClr val="304B63"/>
                </ns4:solidFill>
                <ns4:tailEnd type="triangle"/>
              </ns4:ln>
            </p:spPr>
          </p:sp>
          <p:sp>
            <p:nvSpPr>
              <p:cNvPr id="10542" name="Document Release v₂"/>
              <p:cNvSpPr/>
              <p:nvPr/>
            </p:nvSpPr>
            <p:spPr>
              <ns1:xfrm xmlns:ns1="http://schemas.openxmlformats.org/drawingml/2006/main">
                <ns1:off x="6448425" y="1876425"/>
                <ns1:ext cx="1524000" cy="790575"/>
              </ns1:xfrm>
              <ns2:prstGeom xmlns:ns2="http://schemas.openxmlformats.org/drawingml/2006/main" prst="rect">
                <ns2:avLst/>
              </ns2:prstGeom>
              <ns0:gradFill xmlns:ns0="http://schemas.openxmlformats.org/drawingml/2006/main" rotWithShape="1">
                <ns0:gsLst>
                  <ns0:gs pos="0">
                    <ns0:srgbClr val="FFFFFF"/>
                  </ns0:gs>
                  <ns0:gs pos="100000">
                    <ns0:srgbClr val="EEF2F4"/>
                  </ns0:gs>
                </ns0:gsLst>
                <ns0:lin ang="5400000" scaled="1"/>
              </ns0:gradFill>
              <ns4:ln xmlns:ns4="http://schemas.openxmlformats.org/drawingml/2006/main" w="9525" cap="rnd">
                <ns4:solidFill>
                  <ns4:srgbClr val="D8D8D4"/>
                </ns4:solidFill>
              </ns4:ln>
              <ns1:effectLst xmlns:ns1="http://schemas.openxmlformats.org/drawingml/2006/main">
                <ns1:outerShdw blurRad="18000" dist="11000" dir="5400000" algn="ctr" rotWithShape="0">
                  <ns1:srgbClr val="333333">
                    <ns1:alpha val="11000"/>
                  </ns1:srgbClr>
                </ns1:outerShdw>
              </ns1:effectLst>
            </p:spPr>
          </p:sp>
          <p:sp>
            <p:nvSpPr>
              <p:cNvPr id="10543" name="Release v₂"/>
              <p:cNvSpPr/>
              <p:nvPr/>
            </p:nvSpPr>
            <p:spPr>
              <ns1:xfrm xmlns:ns1="http://schemas.openxmlformats.org/drawingml/2006/main">
                <ns1:off x="6496050" y="1914525"/>
                <ns1:ext cx="1428750" cy="28575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452" b="1">
                    <ns7:solidFill>
                      <ns7:srgbClr val="222222"/>
                    </ns7:solidFill>
                    <ns7:latin typeface="Arial"/>
                    <ns7:ea typeface="Times New Roman"/>
                  </ns7:rPr>
                  <ns7:t>Release v₂</ns7:t>
                </ns7:r>
              </ns7:p>
            </p:txBody>
          </p:sp>
          <p:sp>
            <p:nvSpPr>
              <p:cNvPr id="10544" name="Revised values"/>
              <p:cNvSpPr/>
              <p:nvPr/>
            </p:nvSpPr>
            <p:spPr>
              <ns1:xfrm xmlns:ns1="http://schemas.openxmlformats.org/drawingml/2006/main">
                <ns1:off x="6534150" y="2238375"/>
                <ns1:ext cx="1352550" cy="219075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l"/>
                <ns7:r>
                  <ns7:rPr sz="1188" b="0">
                    <ns7:solidFill>
                      <ns7:srgbClr val="222222"/>
                    </ns7:solidFill>
                    <ns7:latin typeface="Arial"/>
                    <ns7:ea typeface="Times New Roman"/>
                  </ns7:rPr>
                  <ns7:t>Revised values</ns7:t>
                </ns7:r>
              </ns7:p>
            </p:txBody>
          </p:sp>
        </p:grpSp>
        <p:sp>
          <p:nvSpPr>
            <p:cNvPr id="10546" name="Row rule"/>
            <p:cNvSpPr/>
            <p:nvPr/>
          </p:nvSpPr>
          <p:spPr>
            <ns1:xfrm xmlns:ns1="http://schemas.openxmlformats.org/drawingml/2006/main">
              <ns1:off x="190500" y="2914650"/>
              <ns1:ext cx="11049000" cy="9525"/>
            </ns1:xfrm>
            <ns2:custGeom xmlns:ns2="http://schemas.openxmlformats.org/drawingml/2006/main">
              <ns2:avLst/>
              <ns2:gdLst/>
              <ns2:ahLst/>
              <ns2:cxnLst/>
              <ns2:rect l="l" t="t" r="r" b="b"/>
              <ns2:pathLst>
                <ns2:path w="1160000" h="1000" fill="none">
                  <ns2:moveTo>
                    <ns2:pt x="0" y="0"/>
                  </ns2:moveTo>
                  <ns2:lnTo>
                    <ns2:pt x="1160000" y="0"/>
                  </ns2:lnTo>
                </ns2:path>
              </ns2:pathLst>
            </ns2:custGeom>
            <ns3:noFill xmlns:ns3="http://schemas.openxmlformats.org/drawingml/2006/main"/>
            <ns4:ln xmlns:ns4="http://schemas.openxmlformats.org/drawingml/2006/main" w="9525" cap="rnd">
              <ns4:solidFill>
                <ns4:srgbClr val="D8D8D4"/>
              </ns4:solidFill>
            </ns4:ln>
          </p:spPr>
        </p:sp>
        <p:sp>
          <p:nvSpPr>
            <p:cNvPr id="10547" name="Procedure transfer"/>
            <p:cNvSpPr/>
            <p:nvPr/>
          </p:nvSpPr>
          <p:spPr>
            <ns1:xfrm xmlns:ns1="http://schemas.openxmlformats.org/drawingml/2006/main">
              <ns1:off x="190500" y="3152775"/>
              <ns1:ext cx="2952750" cy="59055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650" b="1">
                  <ns7:solidFill>
                    <ns7:srgbClr val="222222"/>
                  </ns7:solidFill>
                  <ns7:latin typeface="Comic Sans MS"/>
                  <ns7:ea typeface="Times New Roman"/>
                </ns7:rPr>
                <ns7:t>Procedure transfer</ns7:t>
              </ns7:r>
            </ns7:p>
          </p:txBody>
        </p:sp>
        <p:sp>
          <p:nvSpPr>
            <p:cNvPr id="10548" name="Held-out performance&#10;Reuse success"/>
            <p:cNvSpPr/>
            <p:nvPr/>
          </p:nvSpPr>
          <p:spPr>
            <ns1:xfrm xmlns:ns1="http://schemas.openxmlformats.org/drawingml/2006/main">
              <ns1:off x="8667750" y="3152775"/>
              <ns1:ext cx="2619375" cy="66675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650" b="0">
                  <ns7:solidFill>
                    <ns7:srgbClr val="222222"/>
                  </ns7:solidFill>
                  <ns7:latin typeface="Arial"/>
                  <ns7:ea typeface="Times New Roman"/>
                </ns7:rPr>
                <ns7:t>Held-out performance</ns7:t>
              </ns7:r>
            </ns7:p>
            <ns8:p xmlns:ns8="http://schemas.openxmlformats.org/drawingml/2006/main">
              <ns8:pPr algn="ctr"/>
              <ns8:r>
                <ns8:rPr sz="1650" b="0">
                  <ns8:solidFill>
                    <ns8:srgbClr val="222222"/>
                  </ns8:solidFill>
                  <ns8:latin typeface="Arial"/>
                  <ns8:ea typeface="Times New Roman"/>
                </ns8:rPr>
                <ns8:t>Reuse success</ns8:t>
              </ns8:r>
            </ns8:p>
          </p:txBody>
        </p:sp>
        <p:grpSp>
          <p:nvGrpSpPr>
            <p:cNvPr id="10556" name="Procedure transfer"/>
            <p:cNvGrpSpPr/>
            <p:nvPr/>
          </p:nvGrpSpPr>
          <p:grpSpPr>
            <ns1:xfrm xmlns:ns1="http://schemas.openxmlformats.org/drawingml/2006/main">
              <ns1:off x="3286125" y="3028950"/>
              <ns1:ext cx="4972050" cy="847725"/>
              <ns1:chOff x="3286125" y="3028950"/>
              <ns1:chExt cx="4972050" cy="847725"/>
            </ns1:xfrm>
          </p:grpSpPr>
          <p:sp>
            <p:nvSpPr>
              <p:cNvPr id="10549" name="Time axis"/>
              <p:cNvSpPr/>
              <p:nvPr/>
            </p:nvSpPr>
            <p:spPr>
              <ns1:xfrm xmlns:ns1="http://schemas.openxmlformats.org/drawingml/2006/main">
                <ns1:off x="3476625" y="3028950"/>
                <ns1:ext cx="1571625" cy="523875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165000" h="55000" fill="none">
                    <ns2:moveTo>
                      <ns2:pt x="0" y="0"/>
                    </ns2:moveTo>
                    <ns2:lnTo>
                      <ns2:pt x="0" y="55000"/>
                    </ns2:lnTo>
                    <ns2:lnTo>
                      <ns2:pt x="165000" y="55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19000" cap="rnd">
                <ns4:gradFill rotWithShape="1">
                  <ns4:gsLst>
                    <ns4:gs pos="0">
                      <ns4:srgbClr val="A5AAA9"/>
                    </ns4:gs>
                    <ns4:gs pos="100000">
                      <ns4:srgbClr val="555D61"/>
                    </ns4:gs>
                  </ns4:gsLst>
                  <ns4:lin ang="0" scaled="1"/>
                </ns4:gradFill>
                <ns4:tailEnd type="triangle" w="med" len="med"/>
              </ns4:ln>
            </p:spPr>
          </p:sp>
          <p:sp>
            <p:nvSpPr>
              <p:cNvPr id="10550" name="Schematic series"/>
              <p:cNvSpPr/>
              <p:nvPr/>
            </p:nvSpPr>
            <p:spPr>
              <ns1:xfrm xmlns:ns1="http://schemas.openxmlformats.org/drawingml/2006/main">
                <ns1:off x="3476625" y="3228022"/>
                <ns1:ext cx="1571625" cy="157162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165000" h="16500" fill="none">
                    <ns2:moveTo>
                      <ns2:pt x="0" y="11000"/>
                    </ns2:moveTo>
                    <ns2:lnTo>
                      <ns2:pt x="13750" y="6600"/>
                    </ns2:lnTo>
                    <ns2:lnTo>
                      <ns2:pt x="27500" y="14300"/>
                    </ns2:lnTo>
                    <ns2:lnTo>
                      <ns2:pt x="41250" y="3300"/>
                    </ns2:lnTo>
                    <ns2:lnTo>
                      <ns2:pt x="55000" y="7700"/>
                    </ns2:lnTo>
                    <ns2:lnTo>
                      <ns2:pt x="68750" y="16500"/>
                    </ns2:lnTo>
                    <ns2:lnTo>
                      <ns2:pt x="82500" y="9350"/>
                    </ns2:lnTo>
                    <ns2:lnTo>
                      <ns2:pt x="96250" y="1650"/>
                    </ns2:lnTo>
                    <ns2:lnTo>
                      <ns2:pt x="110000" y="11550"/>
                    </ns2:lnTo>
                    <ns2:lnTo>
                      <ns2:pt x="123750" y="7700"/>
                    </ns2:lnTo>
                    <ns2:lnTo>
                      <ns2:pt x="137500" y="0"/>
                    </ns2:lnTo>
                    <ns2:lnTo>
                      <ns2:pt x="151250" y="9350"/>
                    </ns2:lnTo>
                    <ns2:lnTo>
                      <ns2:pt x="165000" y="385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23812" cap="rnd">
                <ns4:solidFill>
                  <ns4:srgbClr val="000000"/>
                </ns4:solidFill>
              </ns4:ln>
            </p:spPr>
          </p:sp>
          <p:sp>
            <p:nvSpPr>
              <p:cNvPr id="10551" name="Seen setting"/>
              <p:cNvSpPr/>
              <p:nvPr/>
            </p:nvSpPr>
            <p:spPr>
              <ns1:xfrm xmlns:ns1="http://schemas.openxmlformats.org/drawingml/2006/main">
                <ns1:off x="3286125" y="3619500"/>
                <ns1:ext cx="2000250" cy="257175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452" b="0">
                    <ns7:solidFill>
                      <ns7:srgbClr val="222222"/>
                    </ns7:solidFill>
                    <ns7:latin typeface="Arial"/>
                    <ns7:ea typeface="Times New Roman"/>
                  </ns7:rPr>
                  <ns7:t>Seen setting</ns7:t>
                </ns7:r>
              </ns7:p>
            </p:txBody>
          </p:sp>
          <p:sp>
            <p:nvSpPr>
              <p:cNvPr id="10552" name="vs."/>
              <p:cNvSpPr/>
              <p:nvPr/>
            </p:nvSpPr>
            <p:spPr>
              <ns1:xfrm xmlns:ns1="http://schemas.openxmlformats.org/drawingml/2006/main">
                <ns1:off x="5591175" y="3238500"/>
                <ns1:ext cx="476250" cy="28575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320" b="0">
                    <ns7:solidFill>
                      <ns7:srgbClr val="222222"/>
                    </ns7:solidFill>
                    <ns7:latin typeface="Arial"/>
                    <ns7:ea typeface="Times New Roman"/>
                  </ns7:rPr>
                  <ns7:t>vs.</ns7:t>
                </ns7:r>
              </ns7:p>
            </p:txBody>
          </p:sp>
          <p:sp>
            <p:nvSpPr>
              <p:cNvPr id="10553" name="Time axis"/>
              <p:cNvSpPr/>
              <p:nvPr/>
            </p:nvSpPr>
            <p:spPr>
              <ns1:xfrm xmlns:ns1="http://schemas.openxmlformats.org/drawingml/2006/main">
                <ns1:off x="6477000" y="3028950"/>
                <ns1:ext cx="1571625" cy="523875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165000" h="55000" fill="none">
                    <ns2:moveTo>
                      <ns2:pt x="0" y="0"/>
                    </ns2:moveTo>
                    <ns2:lnTo>
                      <ns2:pt x="0" y="55000"/>
                    </ns2:lnTo>
                    <ns2:lnTo>
                      <ns2:pt x="165000" y="55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19000" cap="rnd">
                <ns4:gradFill rotWithShape="1">
                  <ns4:gsLst>
                    <ns4:gs pos="0">
                      <ns4:srgbClr val="A5AAA9"/>
                    </ns4:gs>
                    <ns4:gs pos="100000">
                      <ns4:srgbClr val="555D61"/>
                    </ns4:gs>
                  </ns4:gsLst>
                  <ns4:lin ang="0" scaled="1"/>
                </ns4:gradFill>
                <ns4:tailEnd type="triangle" w="med" len="med"/>
              </ns4:ln>
            </p:spPr>
          </p:sp>
          <p:sp>
            <p:nvSpPr>
              <p:cNvPr id="10554" name="Schematic series"/>
              <p:cNvSpPr/>
              <p:nvPr/>
            </p:nvSpPr>
            <p:spPr>
              <ns1:xfrm xmlns:ns1="http://schemas.openxmlformats.org/drawingml/2006/main">
                <ns1:off x="6477000" y="3157299"/>
                <ns1:ext cx="1571625" cy="311706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165000" h="32725" fill="none">
                    <ns2:moveTo>
                      <ns2:pt x="0" y="32725"/>
                    </ns2:moveTo>
                    <ns2:lnTo>
                      <ns2:pt x="13750" y="24750"/>
                    </ns2:lnTo>
                    <ns2:lnTo>
                      <ns2:pt x="27500" y="27775"/>
                    </ns2:lnTo>
                    <ns2:lnTo>
                      <ns2:pt x="41250" y="19800"/>
                    </ns2:lnTo>
                    <ns2:lnTo>
                      <ns2:pt x="55000" y="22825"/>
                    </ns2:lnTo>
                    <ns2:lnTo>
                      <ns2:pt x="68750" y="14850"/>
                    </ns2:lnTo>
                    <ns2:lnTo>
                      <ns2:pt x="82500" y="17875"/>
                    </ns2:lnTo>
                    <ns2:lnTo>
                      <ns2:pt x="96250" y="9900"/>
                    </ns2:lnTo>
                    <ns2:lnTo>
                      <ns2:pt x="110000" y="12925"/>
                    </ns2:lnTo>
                    <ns2:lnTo>
                      <ns2:pt x="123750" y="4950"/>
                    </ns2:lnTo>
                    <ns2:lnTo>
                      <ns2:pt x="137500" y="7975"/>
                    </ns2:lnTo>
                    <ns2:lnTo>
                      <ns2:pt x="151250" y="0"/>
                    </ns2:lnTo>
                    <ns2:lnTo>
                      <ns2:pt x="165000" y="3025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23812" cap="rnd">
                <ns4:solidFill>
                  <ns4:srgbClr val="000000"/>
                </ns4:solidFill>
              </ns4:ln>
            </p:spPr>
          </p:sp>
          <p:sp>
            <p:nvSpPr>
              <p:cNvPr id="10555" name="Held-out setting"/>
              <p:cNvSpPr/>
              <p:nvPr/>
            </p:nvSpPr>
            <p:spPr>
              <ns1:xfrm xmlns:ns1="http://schemas.openxmlformats.org/drawingml/2006/main">
                <ns1:off x="6257925" y="3619500"/>
                <ns1:ext cx="2000250" cy="257175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452" b="0">
                    <ns7:solidFill>
                      <ns7:srgbClr val="222222"/>
                    </ns7:solidFill>
                    <ns7:latin typeface="Arial"/>
                    <ns7:ea typeface="Times New Roman"/>
                  </ns7:rPr>
                  <ns7:t>Held-out setting</ns7:t>
                </ns7:r>
              </ns7:p>
            </p:txBody>
          </p:sp>
        </p:grpSp>
        <p:sp>
          <p:nvSpPr>
            <p:cNvPr id="10557" name="Row rule"/>
            <p:cNvSpPr/>
            <p:nvPr/>
          </p:nvSpPr>
          <p:spPr>
            <ns1:xfrm xmlns:ns1="http://schemas.openxmlformats.org/drawingml/2006/main">
              <ns1:off x="190500" y="4086225"/>
              <ns1:ext cx="11049000" cy="9525"/>
            </ns1:xfrm>
            <ns2:custGeom xmlns:ns2="http://schemas.openxmlformats.org/drawingml/2006/main">
              <ns2:avLst/>
              <ns2:gdLst/>
              <ns2:ahLst/>
              <ns2:cxnLst/>
              <ns2:rect l="l" t="t" r="r" b="b"/>
              <ns2:pathLst>
                <ns2:path w="1160000" h="1000" fill="none">
                  <ns2:moveTo>
                    <ns2:pt x="0" y="0"/>
                  </ns2:moveTo>
                  <ns2:lnTo>
                    <ns2:pt x="1160000" y="0"/>
                  </ns2:lnTo>
                </ns2:path>
              </ns2:pathLst>
            </ns2:custGeom>
            <ns3:noFill xmlns:ns3="http://schemas.openxmlformats.org/drawingml/2006/main"/>
            <ns4:ln xmlns:ns4="http://schemas.openxmlformats.org/drawingml/2006/main" w="9525" cap="rnd">
              <ns4:solidFill>
                <ns4:srgbClr val="D8D8D4"/>
              </ns4:solidFill>
            </ns4:ln>
          </p:spPr>
        </p:sp>
        <p:sp>
          <p:nvSpPr>
            <p:cNvPr id="10558" name="Evidence sensitivity"/>
            <p:cNvSpPr/>
            <p:nvPr/>
          </p:nvSpPr>
          <p:spPr>
            <ns1:xfrm xmlns:ns1="http://schemas.openxmlformats.org/drawingml/2006/main">
              <ns1:off x="190500" y="4324350"/>
              <ns1:ext cx="2952750" cy="59055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650" b="1">
                  <ns7:solidFill>
                    <ns7:srgbClr val="222222"/>
                  </ns7:solidFill>
                  <ns7:latin typeface="Comic Sans MS"/>
                  <ns7:ea typeface="Times New Roman"/>
                </ns7:rPr>
                <ns7:t>Evidence sensitivity</ns7:t>
              </ns7:r>
            </ns7:p>
          </p:txBody>
        </p:sp>
        <p:sp>
          <p:nvSpPr>
            <p:cNvPr id="10559" name="Response to removal&#10;Grounded claims"/>
            <p:cNvSpPr/>
            <p:nvPr/>
          </p:nvSpPr>
          <p:spPr>
            <ns1:xfrm xmlns:ns1="http://schemas.openxmlformats.org/drawingml/2006/main">
              <ns1:off x="8667750" y="4324350"/>
              <ns1:ext cx="2619375" cy="66675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650" b="0">
                  <ns7:solidFill>
                    <ns7:srgbClr val="222222"/>
                  </ns7:solidFill>
                  <ns7:latin typeface="Arial"/>
                  <ns7:ea typeface="Times New Roman"/>
                </ns7:rPr>
                <ns7:t>Response to removal</ns7:t>
              </ns7:r>
            </ns7:p>
            <ns8:p xmlns:ns8="http://schemas.openxmlformats.org/drawingml/2006/main">
              <ns8:pPr algn="ctr"/>
              <ns8:r>
                <ns8:rPr sz="1650" b="0">
                  <ns8:solidFill>
                    <ns8:srgbClr val="222222"/>
                  </ns8:solidFill>
                  <ns8:latin typeface="Arial"/>
                  <ns8:ea typeface="Times New Roman"/>
                </ns8:rPr>
                <ns8:t>Grounded claims</ns8:t>
              </ns8:r>
            </ns8:p>
          </p:txBody>
        </p:sp>
        <p:grpSp>
          <p:nvGrpSpPr>
            <p:cNvPr id="10580" name="Evidence sensitivity"/>
            <p:cNvGrpSpPr/>
            <p:nvPr/>
          </p:nvGrpSpPr>
          <p:grpSpPr>
            <ns1:xfrm xmlns:ns1="http://schemas.openxmlformats.org/drawingml/2006/main">
              <ns1:off x="3286125" y="4229100"/>
              <ns1:ext cx="5143500" cy="809625"/>
              <ns1:chOff x="3286125" y="4229100"/>
              <ns1:chExt cx="5143500" cy="809625"/>
            </ns1:xfrm>
          </p:grpSpPr>
          <p:grpSp>
            <p:nvGrpSpPr>
              <p:cNvPr id="10565" name="file-text editable icon"/>
              <p:cNvGrpSpPr/>
              <p:nvPr/>
            </p:nvGrpSpPr>
            <p:grpSpPr>
              <ns1:xfrm xmlns:ns1="http://schemas.openxmlformats.org/drawingml/2006/main">
                <ns1:off x="4038600" y="4229100"/>
                <ns1:ext cx="381000" cy="381000"/>
                <ns1:chOff x="4038600" y="4229100"/>
                <ns1:chExt cx="381000" cy="381000"/>
              </ns1:xfrm>
            </p:grpSpPr>
            <p:sp>
              <p:nvSpPr>
                <p:cNvPr id="10560" name="file-text-0"/>
                <p:cNvSpPr/>
                <p:nvPr/>
              </p:nvSpPr>
              <p:spPr>
                <ns1:xfrm xmlns:ns1="http://schemas.openxmlformats.org/drawingml/2006/main">
                  <ns1:off x="4038600" y="4229100"/>
                  <ns1:ext cx="381000" cy="3810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6000" y="22000"/>
                      </ns2:moveTo>
                      <ns2:cubicBezTo>
                        <ns2:pt x="4895" y="22000"/>
                        <ns2:pt x="4000" y="21105"/>
                        <ns2:pt x="4000" y="20000"/>
                      </ns2:cubicBezTo>
                      <ns2:lnTo>
                        <ns2:pt x="4000" y="4000"/>
                      </ns2:lnTo>
                      <ns2:cubicBezTo>
                        <ns2:pt x="4000" y="2895"/>
                        <ns2:pt x="4895" y="2000"/>
                        <ns2:pt x="6000" y="2000"/>
                      </ns2:cubicBezTo>
                      <ns2:lnTo>
                        <ns2:pt x="14000" y="2000"/>
                      </ns2:lnTo>
                      <ns2:cubicBezTo>
                        <ns2:pt x="14639" y="1999"/>
                        <ns2:pt x="15253" y="2253"/>
                        <ns2:pt x="15704" y="2706"/>
                      </ns2:cubicBezTo>
                      <ns2:lnTo>
                        <ns2:pt x="19292" y="6294"/>
                      </ns2:lnTo>
                      <ns2:cubicBezTo>
                        <ns2:pt x="19746" y="6745"/>
                        <ns2:pt x="20001" y="7360"/>
                        <ns2:pt x="20000" y="8000"/>
                      </ns2:cubicBezTo>
                      <ns2:lnTo>
                        <ns2:pt x="20000" y="20000"/>
                      </ns2:lnTo>
                      <ns2:cubicBezTo>
                        <ns2:pt x="20000" y="21105"/>
                        <ns2:pt x="19105" y="22000"/>
                        <ns2:pt x="18000" y="22000"/>
                      </ns2:cubicBezTo>
                      <ns2:lnTo>
                        <ns2:pt x="6000" y="22000"/>
                      </ns2:lnTo>
                      <ns2:close/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3812" cap="rnd">
                  <ns4:solidFill>
                    <ns4:srgbClr val="304B63"/>
                  </ns4:solidFill>
                </ns4:ln>
              </p:spPr>
            </p:sp>
            <p:sp>
              <p:nvSpPr>
                <p:cNvPr id="10561" name="file-text-1"/>
                <p:cNvSpPr/>
                <p:nvPr/>
              </p:nvSpPr>
              <p:spPr>
                <ns1:xfrm xmlns:ns1="http://schemas.openxmlformats.org/drawingml/2006/main">
                  <ns1:off x="4038600" y="4229100"/>
                  <ns1:ext cx="381000" cy="3810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4000" y="2000"/>
                      </ns2:moveTo>
                      <ns2:lnTo>
                        <ns2:pt x="14000" y="7000"/>
                      </ns2:lnTo>
                      <ns2:cubicBezTo>
                        <ns2:pt x="14000" y="7552"/>
                        <ns2:pt x="14448" y="8000"/>
                        <ns2:pt x="15000" y="8000"/>
                      </ns2:cubicBezTo>
                      <ns2:lnTo>
                        <ns2:pt x="20000" y="8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3812" cap="rnd">
                  <ns4:solidFill>
                    <ns4:srgbClr val="304B63"/>
                  </ns4:solidFill>
                </ns4:ln>
              </p:spPr>
            </p:sp>
            <p:sp>
              <p:nvSpPr>
                <p:cNvPr id="10562" name="file-text-2"/>
                <p:cNvSpPr/>
                <p:nvPr/>
              </p:nvSpPr>
              <p:spPr>
                <ns1:xfrm xmlns:ns1="http://schemas.openxmlformats.org/drawingml/2006/main">
                  <ns1:off x="4038600" y="4229100"/>
                  <ns1:ext cx="381000" cy="3810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0000" y="9000"/>
                      </ns2:moveTo>
                      <ns2:lnTo>
                        <ns2:pt x="8000" y="9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3812" cap="rnd">
                  <ns4:solidFill>
                    <ns4:srgbClr val="304B63"/>
                  </ns4:solidFill>
                </ns4:ln>
              </p:spPr>
            </p:sp>
            <p:sp>
              <p:nvSpPr>
                <p:cNvPr id="10563" name="file-text-3"/>
                <p:cNvSpPr/>
                <p:nvPr/>
              </p:nvSpPr>
              <p:spPr>
                <ns1:xfrm xmlns:ns1="http://schemas.openxmlformats.org/drawingml/2006/main">
                  <ns1:off x="4038600" y="4229100"/>
                  <ns1:ext cx="381000" cy="3810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6000" y="13000"/>
                      </ns2:moveTo>
                      <ns2:lnTo>
                        <ns2:pt x="8000" y="13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3812" cap="rnd">
                  <ns4:solidFill>
                    <ns4:srgbClr val="304B63"/>
                  </ns4:solidFill>
                </ns4:ln>
              </p:spPr>
            </p:sp>
            <p:sp>
              <p:nvSpPr>
                <p:cNvPr id="10564" name="file-text-4"/>
                <p:cNvSpPr/>
                <p:nvPr/>
              </p:nvSpPr>
              <p:spPr>
                <ns1:xfrm xmlns:ns1="http://schemas.openxmlformats.org/drawingml/2006/main">
                  <ns1:off x="4038600" y="4229100"/>
                  <ns1:ext cx="381000" cy="3810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6000" y="17000"/>
                      </ns2:moveTo>
                      <ns2:lnTo>
                        <ns2:pt x="8000" y="17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3812" cap="rnd">
                  <ns4:solidFill>
                    <ns4:srgbClr val="304B63"/>
                  </ns4:solidFill>
                </ns4:ln>
              </p:spPr>
            </p:sp>
          </p:grpSp>
          <p:grpSp>
            <p:nvGrpSpPr>
              <p:cNvPr id="10567" name="check editable icon"/>
              <p:cNvGrpSpPr/>
              <p:nvPr/>
            </p:nvGrpSpPr>
            <p:grpSpPr>
              <ns1:xfrm xmlns:ns1="http://schemas.openxmlformats.org/drawingml/2006/main">
                <ns1:off x="4438650" y="4467225"/>
                <ns1:ext cx="266700" cy="266700"/>
                <ns1:chOff x="4438650" y="4467225"/>
                <ns1:chExt cx="266700" cy="266700"/>
              </ns1:xfrm>
            </p:grpSpPr>
            <p:sp>
              <p:nvSpPr>
                <p:cNvPr id="10566" name="check-0"/>
                <p:cNvSpPr/>
                <p:nvPr/>
              </p:nvSpPr>
              <p:spPr>
                <ns1:xfrm xmlns:ns1="http://schemas.openxmlformats.org/drawingml/2006/main">
                  <ns1:off x="4438650" y="4467225"/>
                  <ns1:ext cx="266700" cy="2667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20000" y="6000"/>
                      </ns2:moveTo>
                      <ns2:lnTo>
                        <ns2:pt x="9000" y="17000"/>
                      </ns2:lnTo>
                      <ns2:lnTo>
                        <ns2:pt x="4000" y="12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6669" cap="rnd">
                  <ns4:solidFill>
                    <ns4:srgbClr val="304B63"/>
                  </ns4:solidFill>
                </ns4:ln>
              </p:spPr>
            </p:sp>
          </p:grpSp>
          <p:sp>
            <p:nvSpPr>
              <p:cNvPr id="10568" name="Evidence present"/>
              <p:cNvSpPr/>
              <p:nvPr/>
            </p:nvSpPr>
            <p:spPr>
              <ns1:xfrm xmlns:ns1="http://schemas.openxmlformats.org/drawingml/2006/main">
                <ns1:off x="3286125" y="4762500"/>
                <ns1:ext cx="2143125" cy="276225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452" b="0">
                    <ns7:solidFill>
                      <ns7:srgbClr val="222222"/>
                    </ns7:solidFill>
                    <ns7:latin typeface="Arial"/>
                    <ns7:ea typeface="Times New Roman"/>
                  </ns7:rPr>
                  <ns7:t>Evidence present</ns7:t>
                </ns7:r>
              </ns7:p>
            </p:txBody>
          </p:sp>
          <p:sp>
            <p:nvSpPr>
              <p:cNvPr id="10569" name="vs."/>
              <p:cNvSpPr/>
              <p:nvPr/>
            </p:nvSpPr>
            <p:spPr>
              <ns1:xfrm xmlns:ns1="http://schemas.openxmlformats.org/drawingml/2006/main">
                <ns1:off x="5591175" y="4410075"/>
                <ns1:ext cx="476250" cy="28575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320" b="0">
                    <ns7:solidFill>
                      <ns7:srgbClr val="222222"/>
                    </ns7:solidFill>
                    <ns7:latin typeface="Arial"/>
                    <ns7:ea typeface="Times New Roman"/>
                  </ns7:rPr>
                  <ns7:t>vs.</ns7:t>
                </ns7:r>
              </ns7:p>
            </p:txBody>
          </p:sp>
          <p:grpSp>
            <p:nvGrpSpPr>
              <p:cNvPr id="10575" name="file-text editable icon"/>
              <p:cNvGrpSpPr/>
              <p:nvPr/>
            </p:nvGrpSpPr>
            <p:grpSpPr>
              <ns1:xfrm xmlns:ns1="http://schemas.openxmlformats.org/drawingml/2006/main">
                <ns1:off x="7000875" y="4229100"/>
                <ns1:ext cx="381000" cy="381000"/>
                <ns1:chOff x="7000875" y="4229100"/>
                <ns1:chExt cx="381000" cy="381000"/>
              </ns1:xfrm>
            </p:grpSpPr>
            <p:sp>
              <p:nvSpPr>
                <p:cNvPr id="10570" name="file-text-0"/>
                <p:cNvSpPr/>
                <p:nvPr/>
              </p:nvSpPr>
              <p:spPr>
                <ns1:xfrm xmlns:ns1="http://schemas.openxmlformats.org/drawingml/2006/main">
                  <ns1:off x="7000875" y="4229100"/>
                  <ns1:ext cx="381000" cy="3810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6000" y="22000"/>
                      </ns2:moveTo>
                      <ns2:cubicBezTo>
                        <ns2:pt x="4895" y="22000"/>
                        <ns2:pt x="4000" y="21105"/>
                        <ns2:pt x="4000" y="20000"/>
                      </ns2:cubicBezTo>
                      <ns2:lnTo>
                        <ns2:pt x="4000" y="4000"/>
                      </ns2:lnTo>
                      <ns2:cubicBezTo>
                        <ns2:pt x="4000" y="2895"/>
                        <ns2:pt x="4895" y="2000"/>
                        <ns2:pt x="6000" y="2000"/>
                      </ns2:cubicBezTo>
                      <ns2:lnTo>
                        <ns2:pt x="14000" y="2000"/>
                      </ns2:lnTo>
                      <ns2:cubicBezTo>
                        <ns2:pt x="14639" y="1999"/>
                        <ns2:pt x="15253" y="2253"/>
                        <ns2:pt x="15704" y="2706"/>
                      </ns2:cubicBezTo>
                      <ns2:lnTo>
                        <ns2:pt x="19292" y="6294"/>
                      </ns2:lnTo>
                      <ns2:cubicBezTo>
                        <ns2:pt x="19746" y="6745"/>
                        <ns2:pt x="20001" y="7360"/>
                        <ns2:pt x="20000" y="8000"/>
                      </ns2:cubicBezTo>
                      <ns2:lnTo>
                        <ns2:pt x="20000" y="20000"/>
                      </ns2:lnTo>
                      <ns2:cubicBezTo>
                        <ns2:pt x="20000" y="21105"/>
                        <ns2:pt x="19105" y="22000"/>
                        <ns2:pt x="18000" y="22000"/>
                      </ns2:cubicBezTo>
                      <ns2:lnTo>
                        <ns2:pt x="6000" y="22000"/>
                      </ns2:lnTo>
                      <ns2:close/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3812" cap="rnd">
                  <ns4:solidFill>
                    <ns4:srgbClr val="304B63"/>
                  </ns4:solidFill>
                </ns4:ln>
              </p:spPr>
            </p:sp>
            <p:sp>
              <p:nvSpPr>
                <p:cNvPr id="10571" name="file-text-1"/>
                <p:cNvSpPr/>
                <p:nvPr/>
              </p:nvSpPr>
              <p:spPr>
                <ns1:xfrm xmlns:ns1="http://schemas.openxmlformats.org/drawingml/2006/main">
                  <ns1:off x="7000875" y="4229100"/>
                  <ns1:ext cx="381000" cy="3810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4000" y="2000"/>
                      </ns2:moveTo>
                      <ns2:lnTo>
                        <ns2:pt x="14000" y="7000"/>
                      </ns2:lnTo>
                      <ns2:cubicBezTo>
                        <ns2:pt x="14000" y="7552"/>
                        <ns2:pt x="14448" y="8000"/>
                        <ns2:pt x="15000" y="8000"/>
                      </ns2:cubicBezTo>
                      <ns2:lnTo>
                        <ns2:pt x="20000" y="8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3812" cap="rnd">
                  <ns4:solidFill>
                    <ns4:srgbClr val="304B63"/>
                  </ns4:solidFill>
                </ns4:ln>
              </p:spPr>
            </p:sp>
            <p:sp>
              <p:nvSpPr>
                <p:cNvPr id="10572" name="file-text-2"/>
                <p:cNvSpPr/>
                <p:nvPr/>
              </p:nvSpPr>
              <p:spPr>
                <ns1:xfrm xmlns:ns1="http://schemas.openxmlformats.org/drawingml/2006/main">
                  <ns1:off x="7000875" y="4229100"/>
                  <ns1:ext cx="381000" cy="3810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0000" y="9000"/>
                      </ns2:moveTo>
                      <ns2:lnTo>
                        <ns2:pt x="8000" y="9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3812" cap="rnd">
                  <ns4:solidFill>
                    <ns4:srgbClr val="304B63"/>
                  </ns4:solidFill>
                </ns4:ln>
              </p:spPr>
            </p:sp>
            <p:sp>
              <p:nvSpPr>
                <p:cNvPr id="10573" name="file-text-3"/>
                <p:cNvSpPr/>
                <p:nvPr/>
              </p:nvSpPr>
              <p:spPr>
                <ns1:xfrm xmlns:ns1="http://schemas.openxmlformats.org/drawingml/2006/main">
                  <ns1:off x="7000875" y="4229100"/>
                  <ns1:ext cx="381000" cy="3810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6000" y="13000"/>
                      </ns2:moveTo>
                      <ns2:lnTo>
                        <ns2:pt x="8000" y="13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3812" cap="rnd">
                  <ns4:solidFill>
                    <ns4:srgbClr val="304B63"/>
                  </ns4:solidFill>
                </ns4:ln>
              </p:spPr>
            </p:sp>
            <p:sp>
              <p:nvSpPr>
                <p:cNvPr id="10574" name="file-text-4"/>
                <p:cNvSpPr/>
                <p:nvPr/>
              </p:nvSpPr>
              <p:spPr>
                <ns1:xfrm xmlns:ns1="http://schemas.openxmlformats.org/drawingml/2006/main">
                  <ns1:off x="7000875" y="4229100"/>
                  <ns1:ext cx="381000" cy="3810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6000" y="17000"/>
                      </ns2:moveTo>
                      <ns2:lnTo>
                        <ns2:pt x="8000" y="17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3812" cap="rnd">
                  <ns4:solidFill>
                    <ns4:srgbClr val="304B63"/>
                  </ns4:solidFill>
                </ns4:ln>
              </p:spPr>
            </p:sp>
          </p:grpSp>
          <p:grpSp>
            <p:nvGrpSpPr>
              <p:cNvPr id="10578" name="x editable icon"/>
              <p:cNvGrpSpPr/>
              <p:nvPr/>
            </p:nvGrpSpPr>
            <p:grpSpPr>
              <ns1:xfrm xmlns:ns1="http://schemas.openxmlformats.org/drawingml/2006/main">
                <ns1:off x="7419975" y="4467225"/>
                <ns1:ext cx="266700" cy="266700"/>
                <ns1:chOff x="7419975" y="4467225"/>
                <ns1:chExt cx="266700" cy="266700"/>
              </ns1:xfrm>
            </p:grpSpPr>
            <p:sp>
              <p:nvSpPr>
                <p:cNvPr id="10576" name="x-0"/>
                <p:cNvSpPr/>
                <p:nvPr/>
              </p:nvSpPr>
              <p:spPr>
                <ns1:xfrm xmlns:ns1="http://schemas.openxmlformats.org/drawingml/2006/main">
                  <ns1:off x="7419975" y="4467225"/>
                  <ns1:ext cx="266700" cy="2667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8000" y="6000"/>
                      </ns2:moveTo>
                      <ns2:lnTo>
                        <ns2:pt x="6000" y="18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6669" cap="rnd">
                  <ns4:solidFill>
                    <ns4:srgbClr val="A65F48"/>
                  </ns4:solidFill>
                </ns4:ln>
              </p:spPr>
            </p:sp>
            <p:sp>
              <p:nvSpPr>
                <p:cNvPr id="10577" name="x-1"/>
                <p:cNvSpPr/>
                <p:nvPr/>
              </p:nvSpPr>
              <p:spPr>
                <ns1:xfrm xmlns:ns1="http://schemas.openxmlformats.org/drawingml/2006/main">
                  <ns1:off x="7419975" y="4467225"/>
                  <ns1:ext cx="266700" cy="2667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6000" y="6000"/>
                      </ns2:moveTo>
                      <ns2:lnTo>
                        <ns2:pt x="18000" y="18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6669" cap="rnd">
                  <ns4:solidFill>
                    <ns4:srgbClr val="A65F48"/>
                  </ns4:solidFill>
                </ns4:ln>
              </p:spPr>
            </p:sp>
          </p:grpSp>
          <p:sp>
            <p:nvSpPr>
              <p:cNvPr id="10579" name="Evidence removed"/>
              <p:cNvSpPr/>
              <p:nvPr/>
            </p:nvSpPr>
            <p:spPr>
              <ns1:xfrm xmlns:ns1="http://schemas.openxmlformats.org/drawingml/2006/main">
                <ns1:off x="6286500" y="4762500"/>
                <ns1:ext cx="2143125" cy="276225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452" b="0">
                    <ns7:solidFill>
                      <ns7:srgbClr val="222222"/>
                    </ns7:solidFill>
                    <ns7:latin typeface="Arial"/>
                    <ns7:ea typeface="Times New Roman"/>
                  </ns7:rPr>
                  <ns7:t>Evidence removed</ns7:t>
                </ns7:r>
              </ns7:p>
            </p:txBody>
          </p:sp>
        </p:grpSp>
        <p:sp>
          <p:nvSpPr>
            <p:cNvPr id="10581" name="Row rule"/>
            <p:cNvSpPr/>
            <p:nvPr/>
          </p:nvSpPr>
          <p:spPr>
            <ns1:xfrm xmlns:ns1="http://schemas.openxmlformats.org/drawingml/2006/main">
              <ns1:off x="190500" y="5257800"/>
              <ns1:ext cx="11049000" cy="9525"/>
            </ns1:xfrm>
            <ns2:custGeom xmlns:ns2="http://schemas.openxmlformats.org/drawingml/2006/main">
              <ns2:avLst/>
              <ns2:gdLst/>
              <ns2:ahLst/>
              <ns2:cxnLst/>
              <ns2:rect l="l" t="t" r="r" b="b"/>
              <ns2:pathLst>
                <ns2:path w="1160000" h="1000" fill="none">
                  <ns2:moveTo>
                    <ns2:pt x="0" y="0"/>
                  </ns2:moveTo>
                  <ns2:lnTo>
                    <ns2:pt x="1160000" y="0"/>
                  </ns2:lnTo>
                </ns2:path>
              </ns2:pathLst>
            </ns2:custGeom>
            <ns3:noFill xmlns:ns3="http://schemas.openxmlformats.org/drawingml/2006/main"/>
            <ns4:ln xmlns:ns4="http://schemas.openxmlformats.org/drawingml/2006/main" w="9525" cap="rnd">
              <ns4:solidFill>
                <ns4:srgbClr val="D8D8D4"/>
              </ns4:solidFill>
            </ns4:ln>
          </p:spPr>
        </p:sp>
        <p:sp>
          <p:nvSpPr>
            <p:cNvPr id="10582" name="Prediction to decision"/>
            <p:cNvSpPr/>
            <p:nvPr/>
          </p:nvSpPr>
          <p:spPr>
            <ns1:xfrm xmlns:ns1="http://schemas.openxmlformats.org/drawingml/2006/main">
              <ns1:off x="190500" y="5495925"/>
              <ns1:ext cx="2952750" cy="59055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650" b="1">
                  <ns7:solidFill>
                    <ns7:srgbClr val="222222"/>
                  </ns7:solidFill>
                  <ns7:latin typeface="Comic Sans MS"/>
                  <ns7:ea typeface="Times New Roman"/>
                </ns7:rPr>
                <ns7:t>Prediction to decision</ns7:t>
              </ns7:r>
            </ns7:p>
          </p:txBody>
        </p:sp>
        <p:sp>
          <p:nvSpPr>
            <p:cNvPr id="10583" name="Forecast error&#10;Action utility"/>
            <p:cNvSpPr/>
            <p:nvPr/>
          </p:nvSpPr>
          <p:spPr>
            <ns1:xfrm xmlns:ns1="http://schemas.openxmlformats.org/drawingml/2006/main">
              <ns1:off x="8667750" y="5495925"/>
              <ns1:ext cx="2619375" cy="66675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650" b="0">
                  <ns7:solidFill>
                    <ns7:srgbClr val="222222"/>
                  </ns7:solidFill>
                  <ns7:latin typeface="Arial"/>
                  <ns7:ea typeface="Times New Roman"/>
                </ns7:rPr>
                <ns7:t>Forecast error</ns7:t>
              </ns7:r>
            </ns7:p>
            <ns8:p xmlns:ns8="http://schemas.openxmlformats.org/drawingml/2006/main">
              <ns8:pPr algn="ctr"/>
              <ns8:r>
                <ns8:rPr sz="1650" b="0">
                  <ns8:solidFill>
                    <ns8:srgbClr val="222222"/>
                  </ns8:solidFill>
                  <ns8:latin typeface="Arial"/>
                  <ns8:ea typeface="Times New Roman"/>
                </ns8:rPr>
                <ns8:t>Action utility</ns8:t>
              </ns8:r>
            </ns8:p>
          </p:txBody>
        </p:sp>
        <p:grpSp>
          <p:nvGrpSpPr>
            <p:cNvPr id="10594" name="Prediction to decision"/>
            <p:cNvGrpSpPr/>
            <p:nvPr/>
          </p:nvGrpSpPr>
          <p:grpSpPr>
            <ns1:xfrm xmlns:ns1="http://schemas.openxmlformats.org/drawingml/2006/main">
              <ns1:off x="3286125" y="5372100"/>
              <ns1:ext cx="5143500" cy="847725"/>
              <ns1:chOff x="3286125" y="5372100"/>
              <ns1:chExt cx="5143500" cy="847725"/>
            </ns1:xfrm>
          </p:grpSpPr>
          <p:sp>
            <p:nvSpPr>
              <p:cNvPr id="10584" name="Time axis"/>
              <p:cNvSpPr/>
              <p:nvPr/>
            </p:nvSpPr>
            <p:spPr>
              <ns1:xfrm xmlns:ns1="http://schemas.openxmlformats.org/drawingml/2006/main">
                <ns1:off x="3476625" y="5372100"/>
                <ns1:ext cx="1571625" cy="523875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165000" h="55000" fill="none">
                    <ns2:moveTo>
                      <ns2:pt x="0" y="0"/>
                    </ns2:moveTo>
                    <ns2:lnTo>
                      <ns2:pt x="0" y="55000"/>
                    </ns2:lnTo>
                    <ns2:lnTo>
                      <ns2:pt x="165000" y="55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19000" cap="rnd">
                <ns4:gradFill rotWithShape="1">
                  <ns4:gsLst>
                    <ns4:gs pos="0">
                      <ns4:srgbClr val="A5AAA9"/>
                    </ns4:gs>
                    <ns4:gs pos="100000">
                      <ns4:srgbClr val="555D61"/>
                    </ns4:gs>
                  </ns4:gsLst>
                  <ns4:lin ang="0" scaled="1"/>
                </ns4:gradFill>
                <ns4:tailEnd type="triangle" w="med" len="med"/>
              </ns4:ln>
            </p:spPr>
          </p:sp>
          <p:sp>
            <p:nvSpPr>
              <p:cNvPr id="10585" name="Schematic series"/>
              <p:cNvSpPr/>
              <p:nvPr/>
            </p:nvSpPr>
            <p:spPr>
              <ns1:xfrm xmlns:ns1="http://schemas.openxmlformats.org/drawingml/2006/main">
                <ns1:off x="3476625" y="5571172"/>
                <ns1:ext cx="1571625" cy="157162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165000" h="16500" fill="none">
                    <ns2:moveTo>
                      <ns2:pt x="0" y="11000"/>
                    </ns2:moveTo>
                    <ns2:lnTo>
                      <ns2:pt x="13750" y="6600"/>
                    </ns2:lnTo>
                    <ns2:lnTo>
                      <ns2:pt x="27500" y="14300"/>
                    </ns2:lnTo>
                    <ns2:lnTo>
                      <ns2:pt x="41250" y="3300"/>
                    </ns2:lnTo>
                    <ns2:lnTo>
                      <ns2:pt x="55000" y="7700"/>
                    </ns2:lnTo>
                    <ns2:lnTo>
                      <ns2:pt x="68750" y="16500"/>
                    </ns2:lnTo>
                    <ns2:lnTo>
                      <ns2:pt x="82500" y="9350"/>
                    </ns2:lnTo>
                    <ns2:lnTo>
                      <ns2:pt x="96250" y="1650"/>
                    </ns2:lnTo>
                    <ns2:lnTo>
                      <ns2:pt x="110000" y="11550"/>
                    </ns2:lnTo>
                    <ns2:lnTo>
                      <ns2:pt x="123750" y="7700"/>
                    </ns2:lnTo>
                    <ns2:lnTo>
                      <ns2:pt x="137500" y="0"/>
                    </ns2:lnTo>
                    <ns2:lnTo>
                      <ns2:pt x="151250" y="9350"/>
                    </ns2:lnTo>
                    <ns2:lnTo>
                      <ns2:pt x="165000" y="385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23812" cap="rnd">
                <ns4:solidFill>
                  <ns4:srgbClr val="000000"/>
                </ns4:solidFill>
              </ns4:ln>
            </p:spPr>
          </p:sp>
          <p:sp>
            <p:nvSpPr>
              <p:cNvPr id="10586" name="Forecast"/>
              <p:cNvSpPr/>
              <p:nvPr/>
            </p:nvSpPr>
            <p:spPr>
              <ns1:xfrm xmlns:ns1="http://schemas.openxmlformats.org/drawingml/2006/main">
                <ns1:off x="3286125" y="5962650"/>
                <ns1:ext cx="2000250" cy="257175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452" b="0">
                    <ns7:solidFill>
                      <ns7:srgbClr val="222222"/>
                    </ns7:solidFill>
                    <ns7:latin typeface="Arial"/>
                    <ns7:ea typeface="Times New Roman"/>
                  </ns7:rPr>
                  <ns7:t>Forecast</ns7:t>
                </ns7:r>
              </ns7:p>
            </p:txBody>
          </p:sp>
          <p:sp>
            <p:nvSpPr>
              <p:cNvPr id="10587" name="flow"/>
              <p:cNvSpPr/>
              <p:nvPr/>
            </p:nvSpPr>
            <p:spPr>
              <ns1:xfrm xmlns:ns1="http://schemas.openxmlformats.org/drawingml/2006/main">
                <ns1:off x="5334000" y="5724525"/>
                <ns1:ext cx="781050" cy="9525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82000" h="1000" fill="none">
                    <ns2:moveTo>
                      <ns2:pt x="0" y="0"/>
                    </ns2:moveTo>
                    <ns2:lnTo>
                      <ns2:pt x="82000" y="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19050" cap="rnd">
                <ns4:solidFill>
                  <ns4:srgbClr val="304B63"/>
                </ns4:solidFill>
                <ns4:tailEnd type="triangle"/>
              </ns4:ln>
            </p:spPr>
          </p:sp>
          <p:grpSp>
            <p:nvGrpSpPr>
              <p:cNvPr id="10592" name="package editable icon"/>
              <p:cNvGrpSpPr/>
              <p:nvPr/>
            </p:nvGrpSpPr>
            <p:grpSpPr>
              <ns1:xfrm xmlns:ns1="http://schemas.openxmlformats.org/drawingml/2006/main">
                <ns1:off x="6838950" y="5391150"/>
                <ns1:ext cx="428625" cy="428625"/>
                <ns1:chOff x="6838950" y="5391150"/>
                <ns1:chExt cx="428625" cy="428625"/>
              </ns1:xfrm>
            </p:grpSpPr>
            <p:sp>
              <p:nvSpPr>
                <p:cNvPr id="10588" name="package-0"/>
                <p:cNvSpPr/>
                <p:nvPr/>
              </p:nvSpPr>
              <p:spPr>
                <ns1:xfrm xmlns:ns1="http://schemas.openxmlformats.org/drawingml/2006/main">
                  <ns1:off x="6838950" y="5391150"/>
                  <ns1:ext cx="428625" cy="428625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1000" y="21730"/>
                      </ns2:moveTo>
                      <ns2:cubicBezTo>
                        <ns2:pt x="11619" y="22087"/>
                        <ns2:pt x="12381" y="22087"/>
                        <ns2:pt x="13000" y="21730"/>
                      </ns2:cubicBezTo>
                      <ns2:lnTo>
                        <ns2:pt x="20000" y="17730"/>
                      </ns2:lnTo>
                      <ns2:cubicBezTo>
                        <ns2:pt x="20618" y="17373"/>
                        <ns2:pt x="20999" y="16714"/>
                        <ns2:pt x="21000" y="16000"/>
                      </ns2:cubicBezTo>
                      <ns2:lnTo>
                        <ns2:pt x="21000" y="8000"/>
                      </ns2:lnTo>
                      <ns2:cubicBezTo>
                        <ns2:pt x="20999" y="7286"/>
                        <ns2:pt x="20618" y="6627"/>
                        <ns2:pt x="20000" y="6270"/>
                      </ns2:cubicBezTo>
                      <ns2:lnTo>
                        <ns2:pt x="13000" y="2270"/>
                      </ns2:lnTo>
                      <ns2:cubicBezTo>
                        <ns2:pt x="12381" y="1913"/>
                        <ns2:pt x="11619" y="1913"/>
                        <ns2:pt x="11000" y="2270"/>
                      </ns2:cubicBezTo>
                      <ns2:lnTo>
                        <ns2:pt x="4000" y="6270"/>
                      </ns2:lnTo>
                      <ns2:cubicBezTo>
                        <ns2:pt x="3382" y="6627"/>
                        <ns2:pt x="3001" y="7286"/>
                        <ns2:pt x="3000" y="8000"/>
                      </ns2:cubicBezTo>
                      <ns2:lnTo>
                        <ns2:pt x="3000" y="16000"/>
                      </ns2:lnTo>
                      <ns2:cubicBezTo>
                        <ns2:pt x="3001" y="16714"/>
                        <ns2:pt x="3382" y="17373"/>
                        <ns2:pt x="4000" y="17730"/>
                      </ns2:cubicBezTo>
                      <ns2:lnTo>
                        <ns2:pt x="11000" y="21730"/>
                      </ns2:lnTo>
                      <ns2:close/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6789" cap="rnd">
                  <ns4:solidFill>
                    <ns4:srgbClr val="A65F48"/>
                  </ns4:solidFill>
                </ns4:ln>
              </p:spPr>
            </p:sp>
            <p:sp>
              <p:nvSpPr>
                <p:cNvPr id="10589" name="package-1"/>
                <p:cNvSpPr/>
                <p:nvPr/>
              </p:nvSpPr>
              <p:spPr>
                <ns1:xfrm xmlns:ns1="http://schemas.openxmlformats.org/drawingml/2006/main">
                  <ns1:off x="6838950" y="5391150"/>
                  <ns1:ext cx="428625" cy="428625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2000" y="22000"/>
                      </ns2:moveTo>
                      <ns2:lnTo>
                        <ns2:pt x="12000" y="12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6789" cap="rnd">
                  <ns4:solidFill>
                    <ns4:srgbClr val="A65F48"/>
                  </ns4:solidFill>
                </ns4:ln>
              </p:spPr>
            </p:sp>
            <p:sp>
              <p:nvSpPr>
                <p:cNvPr id="10590" name="package-2"/>
                <p:cNvSpPr/>
                <p:nvPr/>
              </p:nvSpPr>
              <p:spPr>
                <ns1:xfrm xmlns:ns1="http://schemas.openxmlformats.org/drawingml/2006/main">
                  <ns1:off x="6838950" y="5391150"/>
                  <ns1:ext cx="428625" cy="428625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3290" y="7000"/>
                      </ns2:moveTo>
                      <ns2:lnTo>
                        <ns2:pt x="12000" y="12000"/>
                      </ns2:lnTo>
                      <ns2:lnTo>
                        <ns2:pt x="20710" y="7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6789" cap="rnd">
                  <ns4:solidFill>
                    <ns4:srgbClr val="A65F48"/>
                  </ns4:solidFill>
                </ns4:ln>
              </p:spPr>
            </p:sp>
            <p:sp>
              <p:nvSpPr>
                <p:cNvPr id="10591" name="package-3"/>
                <p:cNvSpPr/>
                <p:nvPr/>
              </p:nvSpPr>
              <p:spPr>
                <ns1:xfrm xmlns:ns1="http://schemas.openxmlformats.org/drawingml/2006/main">
                  <ns1:off x="6838950" y="5391150"/>
                  <ns1:ext cx="428625" cy="428625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7500" y="4270"/>
                      </ns2:moveTo>
                      <ns2:lnTo>
                        <ns2:pt x="16500" y="942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6789" cap="rnd">
                  <ns4:solidFill>
                    <ns4:srgbClr val="A65F48"/>
                  </ns4:solidFill>
                </ns4:ln>
              </p:spPr>
            </p:sp>
          </p:grpSp>
          <p:sp>
            <p:nvSpPr>
              <p:cNvPr id="10593" name="Inventory action"/>
              <p:cNvSpPr/>
              <p:nvPr/>
            </p:nvSpPr>
            <p:spPr>
              <ns1:xfrm xmlns:ns1="http://schemas.openxmlformats.org/drawingml/2006/main">
                <ns1:off x="6286500" y="5962650"/>
                <ns1:ext cx="2143125" cy="257175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452" b="0">
                    <ns7:solidFill>
                      <ns7:srgbClr val="222222"/>
                    </ns7:solidFill>
                    <ns7:latin typeface="Arial"/>
                    <ns7:ea typeface="Times New Roman"/>
                  </ns7:rPr>
                  <ns7:t>Inventory action</ns7:t>
                </ns7:r>
              </ns7:p>
            </p:txBody>
          </p:sp>
        </p:grpSp>
        <p:sp>
          <p:nvSpPr>
            <p:cNvPr id="10595" name="Footer rule"/>
            <p:cNvSpPr/>
            <p:nvPr/>
          </p:nvSpPr>
          <p:spPr>
            <ns1:xfrm xmlns:ns1="http://schemas.openxmlformats.org/drawingml/2006/main">
              <ns1:off x="190500" y="6553200"/>
              <ns1:ext cx="11049000" cy="9525"/>
            </ns1:xfrm>
            <ns2:custGeom xmlns:ns2="http://schemas.openxmlformats.org/drawingml/2006/main">
              <ns2:avLst/>
              <ns2:gdLst/>
              <ns2:ahLst/>
              <ns2:cxnLst/>
              <ns2:rect l="l" t="t" r="r" b="b"/>
              <ns2:pathLst>
                <ns2:path w="1160000" h="1000" fill="none">
                  <ns2:moveTo>
                    <ns2:pt x="0" y="0"/>
                  </ns2:moveTo>
                  <ns2:lnTo>
                    <ns2:pt x="1160000" y="0"/>
                  </ns2:lnTo>
                </ns2:path>
              </ns2:pathLst>
            </ns2:custGeom>
            <ns3:noFill xmlns:ns3="http://schemas.openxmlformats.org/drawingml/2006/main"/>
            <ns4:ln xmlns:ns4="http://schemas.openxmlformats.org/drawingml/2006/main" w="9525" cap="rnd">
              <ns4:solidFill>
                <ns4:srgbClr val="D8D8D4"/>
              </ns4:solidFill>
            </ns4:ln>
          </p:spPr>
        </p:sp>
        <p:sp>
          <p:nvSpPr>
            <p:cNvPr id="10596" name="Match the backbone, information boundary and resource budget"/>
            <p:cNvSpPr/>
            <p:nvPr/>
          </p:nvSpPr>
          <p:spPr>
            <ns1:xfrm xmlns:ns1="http://schemas.openxmlformats.org/drawingml/2006/main">
              <ns1:off x="904875" y="6696075"/>
              <ns1:ext cx="9620250" cy="333375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800" b="0">
                  <ns7:solidFill>
                    <ns7:srgbClr val="222222"/>
                  </ns7:solidFill>
                  <ns7:latin typeface="Arial"/>
                  <ns7:ea typeface="Times New Roman"/>
                </ns7:rPr>
                <ns7:t>Match the backbone, information boundary and resource budget</ns7:t>
              </ns7:r>
            </ns7:p>
          </p:txBody>
        </p:sp>
      </p:grpSp>
    </p:spTree>
    <p:extLst>
      <p:ext uri="{BB962C8B-B14F-4D97-AF65-F5344CB8AC3E}">
        <p14:creationId xmlns:p14="http://schemas.microsoft.com/office/powerpoint/2010/main" val="10576137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2026-10-21T08:48:18.1700000Z</dcterms:created>
  <dcterms:modified xsi:type="dcterms:W3CDTF">2026-10-21T08:48:18.1700000Z</dcterms:modified>
</coreProperties>
</file>