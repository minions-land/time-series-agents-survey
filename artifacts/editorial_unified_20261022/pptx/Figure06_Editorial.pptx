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1430000" cy="67627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9" name="Five General Harness functions"/>
          <p:cNvGrpSpPr/>
          <p:nvPr/>
        </p:nvGrpSpPr>
        <p:grpSpPr>
          <a:xfrm>
            <a:off x="190500" y="171450"/>
            <a:ext cx="10906125" cy="6410325"/>
            <a:chOff x="190500" y="171450"/>
            <a:chExt cx="10906125" cy="6410325"/>
          </a:xfrm>
        </p:grpSpPr>
        <p:grpSp>
          <p:nvGrpSpPr>
            <p:cNvPr id="10113" name="workflow editable icon"/>
            <p:cNvGrpSpPr/>
            <p:nvPr/>
          </p:nvGrpSpPr>
          <p:grpSpPr>
            <a:xfrm>
              <a:off x="5143500" y="171450"/>
              <a:ext cx="666750" cy="666750"/>
              <a:chOff x="5143500" y="171450"/>
              <a:chExt cx="666750" cy="666750"/>
            </a:xfrm>
          </p:grpSpPr>
          <p:sp>
            <p:nvSpPr>
              <p:cNvPr id="10110" name="workflow-0"/>
              <p:cNvSpPr/>
              <p:nvPr/>
            </p:nvSpPr>
            <p:spPr>
              <a:xfrm>
                <a:off x="5226844" y="254794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304B63"/>
                </a:solidFill>
              </a:ln>
            </p:spPr>
          </p:sp>
          <p:sp>
            <p:nvSpPr>
              <p:cNvPr id="10111" name="workflow-1"/>
              <p:cNvSpPr/>
              <p:nvPr/>
            </p:nvSpPr>
            <p:spPr>
              <a:xfrm>
                <a:off x="5143500" y="171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7000" y="11000"/>
                    </a:moveTo>
                    <a:lnTo>
                      <a:pt x="7000" y="15000"/>
                    </a:lnTo>
                    <a:cubicBezTo>
                      <a:pt x="7000" y="16105"/>
                      <a:pt x="7895" y="17000"/>
                      <a:pt x="9000" y="17000"/>
                    </a:cubicBezTo>
                    <a:lnTo>
                      <a:pt x="13000" y="17000"/>
                    </a:lnTo>
                  </a:path>
                </a:pathLst>
              </a:custGeom>
              <a:noFill/>
              <a:ln w="41672" cap="rnd">
                <a:solidFill>
                  <a:srgbClr val="304B63"/>
                </a:solidFill>
              </a:ln>
            </p:spPr>
          </p:sp>
          <p:sp>
            <p:nvSpPr>
              <p:cNvPr id="10112" name="workflow-2"/>
              <p:cNvSpPr/>
              <p:nvPr/>
            </p:nvSpPr>
            <p:spPr>
              <a:xfrm>
                <a:off x="5504656" y="532606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304B63"/>
                </a:solidFill>
              </a:ln>
            </p:spPr>
          </p:sp>
        </p:grpSp>
        <p:sp>
          <p:nvSpPr>
            <p:cNvPr id="10114" name="Planning &amp; Orchestration"/>
            <p:cNvSpPr/>
            <p:nvPr/>
          </p:nvSpPr>
          <p:spPr>
            <a:xfrm>
              <a:off x="4191000" y="904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Planning &amp; Orchestration</a:t>
              </a:r>
            </a:p>
          </p:txBody>
        </p:sp>
        <p:sp>
          <p:nvSpPr>
            <p:cNvPr id="10115" name="Dependencies and handoffs"/>
            <p:cNvSpPr/>
            <p:nvPr/>
          </p:nvSpPr>
          <p:spPr>
            <a:xfrm>
              <a:off x="4191000" y="1266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Dependencies and handoffs</a:t>
              </a:r>
            </a:p>
          </p:txBody>
        </p:sp>
        <p:grpSp>
          <p:nvGrpSpPr>
            <p:cNvPr id="10118" name="messages-square editable icon"/>
            <p:cNvGrpSpPr/>
            <p:nvPr/>
          </p:nvGrpSpPr>
          <p:grpSpPr>
            <a:xfrm>
              <a:off x="1143000" y="2076450"/>
              <a:ext cx="666750" cy="666750"/>
              <a:chOff x="1143000" y="2076450"/>
              <a:chExt cx="666750" cy="666750"/>
            </a:xfrm>
          </p:grpSpPr>
          <p:sp>
            <p:nvSpPr>
              <p:cNvPr id="10116" name="messages-square-0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304B63"/>
                </a:solidFill>
              </a:ln>
            </p:spPr>
          </p:sp>
          <p:sp>
            <p:nvSpPr>
              <p:cNvPr id="10117" name="messages-square-1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/>
              <a:ln w="41672" cap="rnd">
                <a:solidFill>
                  <a:srgbClr val="304B63"/>
                </a:solidFill>
              </a:ln>
            </p:spPr>
          </p:sp>
        </p:grpSp>
        <p:sp>
          <p:nvSpPr>
            <p:cNvPr id="10119" name="Interface &amp; Interaction"/>
            <p:cNvSpPr/>
            <p:nvPr/>
          </p:nvSpPr>
          <p:spPr>
            <a:xfrm>
              <a:off x="190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Interface &amp; Interaction</a:t>
              </a:r>
            </a:p>
          </p:txBody>
        </p:sp>
        <p:sp>
          <p:nvSpPr>
            <p:cNvPr id="10120" name="Observations and actions"/>
            <p:cNvSpPr/>
            <p:nvPr/>
          </p:nvSpPr>
          <p:spPr>
            <a:xfrm>
              <a:off x="190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Observations and actions</a:t>
              </a:r>
            </a:p>
          </p:txBody>
        </p:sp>
        <p:grpSp>
          <p:nvGrpSpPr>
            <p:cNvPr id="10122" name="wrench editable icon"/>
            <p:cNvGrpSpPr/>
            <p:nvPr/>
          </p:nvGrpSpPr>
          <p:grpSpPr>
            <a:xfrm>
              <a:off x="9144000" y="2076450"/>
              <a:ext cx="666750" cy="666750"/>
              <a:chOff x="9144000" y="2076450"/>
              <a:chExt cx="666750" cy="666750"/>
            </a:xfrm>
          </p:grpSpPr>
          <p:sp>
            <p:nvSpPr>
              <p:cNvPr id="10121" name="wrench-0"/>
              <p:cNvSpPr/>
              <p:nvPr/>
            </p:nvSpPr>
            <p:spPr>
              <a:xfrm>
                <a:off x="9144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304B63"/>
                </a:solidFill>
              </a:ln>
            </p:spPr>
          </p:sp>
        </p:grpSp>
        <p:sp>
          <p:nvSpPr>
            <p:cNvPr id="10123" name="Tools &amp; Execution"/>
            <p:cNvSpPr/>
            <p:nvPr/>
          </p:nvSpPr>
          <p:spPr>
            <a:xfrm>
              <a:off x="8191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Tools &amp; Execution</a:t>
              </a:r>
            </a:p>
          </p:txBody>
        </p:sp>
        <p:sp>
          <p:nvSpPr>
            <p:cNvPr id="10124" name="Calls, artifacts and status"/>
            <p:cNvSpPr/>
            <p:nvPr/>
          </p:nvSpPr>
          <p:spPr>
            <a:xfrm>
              <a:off x="8191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Calls, artifacts and status</a:t>
              </a:r>
            </a:p>
          </p:txBody>
        </p:sp>
        <p:grpSp>
          <p:nvGrpSpPr>
            <p:cNvPr id="10128" name="database editable icon"/>
            <p:cNvGrpSpPr/>
            <p:nvPr/>
          </p:nvGrpSpPr>
          <p:grpSpPr>
            <a:xfrm>
              <a:off x="5143500" y="3838575"/>
              <a:ext cx="666750" cy="666750"/>
              <a:chOff x="5143500" y="3838575"/>
              <a:chExt cx="666750" cy="666750"/>
            </a:xfrm>
          </p:grpSpPr>
          <p:sp>
            <p:nvSpPr>
              <p:cNvPr id="10125" name="database-0"/>
              <p:cNvSpPr/>
              <p:nvPr/>
            </p:nvSpPr>
            <p:spPr>
              <a:xfrm>
                <a:off x="5226844" y="3894138"/>
                <a:ext cx="500062" cy="166688"/>
              </a:xfrm>
              <a:prstGeom prst="ellipse">
                <a:avLst/>
              </a:prstGeom>
              <a:noFill/>
              <a:ln w="41672" cap="rnd">
                <a:solidFill>
                  <a:srgbClr val="304B63"/>
                </a:solidFill>
              </a:ln>
            </p:spPr>
          </p:sp>
          <p:sp>
            <p:nvSpPr>
              <p:cNvPr id="10126" name="database-1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/>
              <a:ln w="41672" cap="rnd">
                <a:solidFill>
                  <a:srgbClr val="304B63"/>
                </a:solidFill>
              </a:ln>
            </p:spPr>
          </p:sp>
          <p:sp>
            <p:nvSpPr>
              <p:cNvPr id="10127" name="database-2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/>
              <a:ln w="41672" cap="rnd">
                <a:solidFill>
                  <a:srgbClr val="304B63"/>
                </a:solidFill>
              </a:ln>
            </p:spPr>
          </p:sp>
        </p:grpSp>
        <p:sp>
          <p:nvSpPr>
            <p:cNvPr id="10129" name="Memory &amp; Context"/>
            <p:cNvSpPr/>
            <p:nvPr/>
          </p:nvSpPr>
          <p:spPr>
            <a:xfrm>
              <a:off x="4191000" y="4572000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Memory &amp; Context</a:t>
              </a:r>
            </a:p>
          </p:txBody>
        </p:sp>
        <p:sp>
          <p:nvSpPr>
            <p:cNvPr id="10130" name="Evidence and working state"/>
            <p:cNvSpPr/>
            <p:nvPr/>
          </p:nvSpPr>
          <p:spPr>
            <a:xfrm>
              <a:off x="4191000" y="4933950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Evidence and working state</a:t>
              </a:r>
            </a:p>
          </p:txBody>
        </p:sp>
        <p:grpSp>
          <p:nvGrpSpPr>
            <p:cNvPr id="10137" name="bot editable icon"/>
            <p:cNvGrpSpPr/>
            <p:nvPr/>
          </p:nvGrpSpPr>
          <p:grpSpPr>
            <a:xfrm>
              <a:off x="5067300" y="2190750"/>
              <a:ext cx="838200" cy="838200"/>
              <a:chOff x="5067300" y="2190750"/>
              <a:chExt cx="838200" cy="838200"/>
            </a:xfrm>
          </p:grpSpPr>
          <p:sp>
            <p:nvSpPr>
              <p:cNvPr id="10131" name="bot-0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8000"/>
                    </a:moveTo>
                    <a:lnTo>
                      <a:pt x="12000" y="4000"/>
                    </a:lnTo>
                    <a:lnTo>
                      <a:pt x="8000" y="4000"/>
                    </a:lnTo>
                  </a:path>
                </a:pathLst>
              </a:custGeom>
              <a:noFill/>
              <a:ln w="52388" cap="rnd">
                <a:solidFill>
                  <a:srgbClr val="304B63"/>
                </a:solidFill>
              </a:ln>
            </p:spPr>
          </p:sp>
          <p:sp>
            <p:nvSpPr>
              <p:cNvPr id="10132" name="bot-1"/>
              <p:cNvSpPr/>
              <p:nvPr/>
            </p:nvSpPr>
            <p:spPr>
              <a:xfrm>
                <a:off x="5207000" y="2470150"/>
                <a:ext cx="558800" cy="419100"/>
              </a:xfrm>
              <a:prstGeom prst="roundRect">
                <a:avLst/>
              </a:prstGeom>
              <a:noFill/>
              <a:ln w="52388" cap="rnd">
                <a:solidFill>
                  <a:srgbClr val="304B63"/>
                </a:solidFill>
              </a:ln>
            </p:spPr>
          </p:sp>
          <p:sp>
            <p:nvSpPr>
              <p:cNvPr id="10133" name="bot-2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" y="14000"/>
                    </a:moveTo>
                    <a:lnTo>
                      <a:pt x="4000" y="14000"/>
                    </a:lnTo>
                  </a:path>
                </a:pathLst>
              </a:custGeom>
              <a:noFill/>
              <a:ln w="52388" cap="rnd">
                <a:solidFill>
                  <a:srgbClr val="304B63"/>
                </a:solidFill>
              </a:ln>
            </p:spPr>
          </p:sp>
          <p:sp>
            <p:nvSpPr>
              <p:cNvPr id="10134" name="bot-3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4000"/>
                    </a:moveTo>
                    <a:lnTo>
                      <a:pt x="22000" y="14000"/>
                    </a:lnTo>
                  </a:path>
                </a:pathLst>
              </a:custGeom>
              <a:noFill/>
              <a:ln w="52388" cap="rnd">
                <a:solidFill>
                  <a:srgbClr val="304B63"/>
                </a:solidFill>
              </a:ln>
            </p:spPr>
          </p:sp>
          <p:sp>
            <p:nvSpPr>
              <p:cNvPr id="10135" name="bot-4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13000"/>
                    </a:moveTo>
                    <a:lnTo>
                      <a:pt x="15000" y="15000"/>
                    </a:lnTo>
                  </a:path>
                </a:pathLst>
              </a:custGeom>
              <a:noFill/>
              <a:ln w="52388" cap="rnd">
                <a:solidFill>
                  <a:srgbClr val="304B63"/>
                </a:solidFill>
              </a:ln>
            </p:spPr>
          </p:sp>
          <p:sp>
            <p:nvSpPr>
              <p:cNvPr id="10136" name="bot-5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3000"/>
                    </a:moveTo>
                    <a:lnTo>
                      <a:pt x="9000" y="15000"/>
                    </a:lnTo>
                  </a:path>
                </a:pathLst>
              </a:custGeom>
              <a:noFill/>
              <a:ln w="52388" cap="rnd">
                <a:solidFill>
                  <a:srgbClr val="304B63"/>
                </a:solidFill>
              </a:ln>
            </p:spPr>
          </p:sp>
        </p:grpSp>
        <p:sp>
          <p:nvSpPr>
            <p:cNvPr id="10138" name="LLM"/>
            <p:cNvSpPr/>
            <p:nvPr/>
          </p:nvSpPr>
          <p:spPr>
            <a:xfrm>
              <a:off x="4857750" y="3095625"/>
              <a:ext cx="1285875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48" b="1">
                  <a:solidFill>
                    <a:srgbClr val="222222"/>
                  </a:solidFill>
                  <a:latin typeface="Comic Sans MS"/>
                  <a:ea typeface="Times New Roman"/>
                </a:rPr>
                <a:t>LLM</a:t>
              </a:r>
            </a:p>
          </p:txBody>
        </p:sp>
        <p:sp>
          <p:nvSpPr>
            <p:cNvPr id="10139" name="observe"/>
            <p:cNvSpPr/>
            <p:nvPr/>
          </p:nvSpPr>
          <p:spPr>
            <a:xfrm>
              <a:off x="2857500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0" name="observe"/>
            <p:cNvSpPr/>
            <p:nvPr/>
          </p:nvSpPr>
          <p:spPr>
            <a:xfrm>
              <a:off x="3143250" y="23812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22222"/>
                  </a:solidFill>
                  <a:latin typeface="Arial"/>
                  <a:ea typeface="Times New Roman"/>
                </a:rPr>
                <a:t>observe</a:t>
              </a:r>
            </a:p>
          </p:txBody>
        </p:sp>
        <p:sp>
          <p:nvSpPr>
            <p:cNvPr id="10141" name="respond"/>
            <p:cNvSpPr/>
            <p:nvPr/>
          </p:nvSpPr>
          <p:spPr>
            <a:xfrm>
              <a:off x="2857500" y="302895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205000" y="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2" name="respond"/>
            <p:cNvSpPr/>
            <p:nvPr/>
          </p:nvSpPr>
          <p:spPr>
            <a:xfrm>
              <a:off x="3143250" y="31051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22222"/>
                  </a:solidFill>
                  <a:latin typeface="Arial"/>
                  <a:ea typeface="Times New Roman"/>
                </a:rPr>
                <a:t>respond</a:t>
              </a:r>
            </a:p>
          </p:txBody>
        </p:sp>
        <p:sp>
          <p:nvSpPr>
            <p:cNvPr id="10143" name="execute"/>
            <p:cNvSpPr/>
            <p:nvPr/>
          </p:nvSpPr>
          <p:spPr>
            <a:xfrm>
              <a:off x="6143625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4" name="execute"/>
            <p:cNvSpPr/>
            <p:nvPr/>
          </p:nvSpPr>
          <p:spPr>
            <a:xfrm>
              <a:off x="6381750" y="2333625"/>
              <a:ext cx="1571625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22222"/>
                  </a:solidFill>
                  <a:latin typeface="Arial"/>
                  <a:ea typeface="Times New Roman"/>
                </a:rPr>
                <a:t>call / return</a:t>
              </a:r>
            </a:p>
          </p:txBody>
        </p:sp>
        <p:sp>
          <p:nvSpPr>
            <p:cNvPr id="10145" name="plan"/>
            <p:cNvSpPr/>
            <p:nvPr/>
          </p:nvSpPr>
          <p:spPr>
            <a:xfrm>
              <a:off x="5381625" y="16954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1000" h="42000" fill="none">
                  <a:moveTo>
                    <a:pt x="0" y="4200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6" name="next"/>
            <p:cNvSpPr/>
            <p:nvPr/>
          </p:nvSpPr>
          <p:spPr>
            <a:xfrm>
              <a:off x="5657850" y="171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1000" h="40000" fill="none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7" name="write"/>
            <p:cNvSpPr/>
            <p:nvPr/>
          </p:nvSpPr>
          <p:spPr>
            <a:xfrm>
              <a:off x="5381625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8" name="recall"/>
            <p:cNvSpPr/>
            <p:nvPr/>
          </p:nvSpPr>
          <p:spPr>
            <a:xfrm>
              <a:off x="5657850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04B63"/>
              </a:solidFill>
              <a:tailEnd type="triangle"/>
            </a:ln>
          </p:spPr>
        </p:sp>
        <p:sp>
          <p:nvSpPr>
            <p:cNvPr id="10149" name="lower separator"/>
            <p:cNvSpPr/>
            <p:nvPr/>
          </p:nvSpPr>
          <p:spPr>
            <a:xfrm>
              <a:off x="333375" y="5429250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130000" h="1000" fill="none">
                  <a:moveTo>
                    <a:pt x="0" y="0"/>
                  </a:moveTo>
                  <a:lnTo>
                    <a:pt x="1130000" y="0"/>
                  </a:lnTo>
                </a:path>
              </a:pathLst>
            </a:custGeom>
            <a:noFill/>
            <a:ln w="9525" cap="rnd">
              <a:solidFill>
                <a:srgbClr val="D8D8D4"/>
              </a:solidFill>
            </a:ln>
          </p:spPr>
        </p:sp>
        <p:grpSp>
          <p:nvGrpSpPr>
            <p:cNvPr id="10154" name="refresh-cw editable icon"/>
            <p:cNvGrpSpPr/>
            <p:nvPr/>
          </p:nvGrpSpPr>
          <p:grpSpPr>
            <a:xfrm>
              <a:off x="1333500" y="5734050"/>
              <a:ext cx="590550" cy="590550"/>
              <a:chOff x="1333500" y="5734050"/>
              <a:chExt cx="590550" cy="590550"/>
            </a:xfrm>
          </p:grpSpPr>
          <p:sp>
            <p:nvSpPr>
              <p:cNvPr id="10150" name="refresh-cw-0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7029"/>
                      <a:pt x="7029" y="3000"/>
                      <a:pt x="12000" y="3000"/>
                    </a:cubicBezTo>
                    <a:cubicBezTo>
                      <a:pt x="14516" y="3009"/>
                      <a:pt x="16931" y="3991"/>
                      <a:pt x="18740" y="5740"/>
                    </a:cubicBezTo>
                    <a:lnTo>
                      <a:pt x="21000" y="8000"/>
                    </a:lnTo>
                  </a:path>
                </a:pathLst>
              </a:custGeom>
              <a:noFill/>
              <a:ln w="36909" cap="rnd">
                <a:solidFill>
                  <a:srgbClr val="A65F48"/>
                </a:solidFill>
              </a:ln>
            </p:spPr>
          </p:sp>
          <p:sp>
            <p:nvSpPr>
              <p:cNvPr id="10151" name="refresh-cw-1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3000"/>
                    </a:moveTo>
                    <a:lnTo>
                      <a:pt x="21000" y="8000"/>
                    </a:lnTo>
                    <a:lnTo>
                      <a:pt x="16000" y="8000"/>
                    </a:lnTo>
                  </a:path>
                </a:pathLst>
              </a:custGeom>
              <a:noFill/>
              <a:ln w="36909" cap="rnd">
                <a:solidFill>
                  <a:srgbClr val="A65F48"/>
                </a:solidFill>
              </a:ln>
            </p:spPr>
          </p:sp>
          <p:sp>
            <p:nvSpPr>
              <p:cNvPr id="10152" name="refresh-cw-2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12000"/>
                    </a:moveTo>
                    <a:cubicBezTo>
                      <a:pt x="21000" y="16971"/>
                      <a:pt x="16971" y="21000"/>
                      <a:pt x="12000" y="21000"/>
                    </a:cubicBezTo>
                    <a:cubicBezTo>
                      <a:pt x="9484" y="20991"/>
                      <a:pt x="7069" y="20009"/>
                      <a:pt x="5260" y="18260"/>
                    </a:cubicBezTo>
                    <a:lnTo>
                      <a:pt x="3000" y="16000"/>
                    </a:lnTo>
                  </a:path>
                </a:pathLst>
              </a:custGeom>
              <a:noFill/>
              <a:ln w="36909" cap="rnd">
                <a:solidFill>
                  <a:srgbClr val="A65F48"/>
                </a:solidFill>
              </a:ln>
            </p:spPr>
          </p:sp>
          <p:sp>
            <p:nvSpPr>
              <p:cNvPr id="10153" name="refresh-cw-3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16000"/>
                    </a:moveTo>
                    <a:lnTo>
                      <a:pt x="3000" y="16000"/>
                    </a:lnTo>
                    <a:lnTo>
                      <a:pt x="3000" y="21000"/>
                    </a:lnTo>
                  </a:path>
                </a:pathLst>
              </a:custGeom>
              <a:noFill/>
              <a:ln w="36909" cap="rnd">
                <a:solidFill>
                  <a:srgbClr val="A65F48"/>
                </a:solidFill>
              </a:ln>
            </p:spPr>
          </p:sp>
        </p:grpSp>
        <p:sp>
          <p:nvSpPr>
            <p:cNvPr id="10155" name="optimization"/>
            <p:cNvSpPr/>
            <p:nvPr/>
          </p:nvSpPr>
          <p:spPr>
            <a:xfrm>
              <a:off x="2095500" y="5629275"/>
              <a:ext cx="3619500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716" b="1">
                  <a:solidFill>
                    <a:srgbClr val="222222"/>
                  </a:solidFill>
                  <a:latin typeface="Comic Sans MS"/>
                  <a:ea typeface="Times New Roman"/>
                </a:rPr>
                <a:t>Optimization &amp; Evolution</a:t>
              </a:r>
            </a:p>
          </p:txBody>
        </p:sp>
        <p:sp>
          <p:nvSpPr>
            <p:cNvPr id="10156" name="assets"/>
            <p:cNvSpPr/>
            <p:nvPr/>
          </p:nvSpPr>
          <p:spPr>
            <a:xfrm>
              <a:off x="2095500" y="6038850"/>
              <a:ext cx="36195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650" b="0">
                  <a:solidFill>
                    <a:srgbClr val="222222"/>
                  </a:solidFill>
                  <a:latin typeface="Arial"/>
                  <a:ea typeface="Times New Roman"/>
                </a:rPr>
                <a:t>Prompts, memory and tools</a:t>
              </a:r>
            </a:p>
          </p:txBody>
        </p:sp>
        <p:grpSp>
          <p:nvGrpSpPr>
            <p:cNvPr id="10162" name="file-text editable icon"/>
            <p:cNvGrpSpPr/>
            <p:nvPr/>
          </p:nvGrpSpPr>
          <p:grpSpPr>
            <a:xfrm>
              <a:off x="6429375" y="5810250"/>
              <a:ext cx="400050" cy="400050"/>
              <a:chOff x="6429375" y="5810250"/>
              <a:chExt cx="400050" cy="400050"/>
            </a:xfrm>
          </p:grpSpPr>
          <p:sp>
            <p:nvSpPr>
              <p:cNvPr id="10157" name="file-text-0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  <p:sp>
            <p:nvSpPr>
              <p:cNvPr id="10158" name="file-text-1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  <p:sp>
            <p:nvSpPr>
              <p:cNvPr id="10159" name="file-text-2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  <p:sp>
            <p:nvSpPr>
              <p:cNvPr id="10160" name="file-text-3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  <p:sp>
            <p:nvSpPr>
              <p:cNvPr id="10161" name="file-text-4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</p:grpSp>
        <p:sp>
          <p:nvSpPr>
            <p:cNvPr id="10163" name="trajectory to update"/>
            <p:cNvSpPr/>
            <p:nvPr/>
          </p:nvSpPr>
          <p:spPr>
            <a:xfrm>
              <a:off x="7000875" y="601027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5000" h="1000" fill="none">
                  <a:moveTo>
                    <a:pt x="0" y="0"/>
                  </a:moveTo>
                  <a:lnTo>
                    <a:pt x="85000" y="0"/>
                  </a:lnTo>
                </a:path>
              </a:pathLst>
            </a:custGeom>
            <a:noFill/>
            <a:ln w="19050" cap="rnd">
              <a:solidFill>
                <a:srgbClr val="A65F48"/>
              </a:solidFill>
              <a:tailEnd type="triangle"/>
            </a:ln>
          </p:spPr>
        </p:sp>
        <p:grpSp>
          <p:nvGrpSpPr>
            <p:cNvPr id="10166" name="braces editable icon"/>
            <p:cNvGrpSpPr/>
            <p:nvPr/>
          </p:nvGrpSpPr>
          <p:grpSpPr>
            <a:xfrm>
              <a:off x="8143875" y="5810250"/>
              <a:ext cx="400050" cy="400050"/>
              <a:chOff x="8143875" y="5810250"/>
              <a:chExt cx="400050" cy="400050"/>
            </a:xfrm>
          </p:grpSpPr>
          <p:sp>
            <p:nvSpPr>
              <p:cNvPr id="10164" name="braces-0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  <p:sp>
            <p:nvSpPr>
              <p:cNvPr id="10165" name="braces-1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/>
              <a:ln w="25003" cap="rnd">
                <a:solidFill>
                  <a:srgbClr val="A65F48"/>
                </a:solidFill>
              </a:ln>
            </p:spPr>
          </p:sp>
        </p:grpSp>
        <p:sp>
          <p:nvSpPr>
            <p:cNvPr id="10167" name="trajectories"/>
            <p:cNvSpPr/>
            <p:nvPr/>
          </p:nvSpPr>
          <p:spPr>
            <a:xfrm>
              <a:off x="5953125" y="6315075"/>
              <a:ext cx="133350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20" b="0">
                  <a:solidFill>
                    <a:srgbClr val="222222"/>
                  </a:solidFill>
                  <a:latin typeface="Arial"/>
                  <a:ea typeface="Times New Roman"/>
                </a:rPr>
                <a:t>Trajectories</a:t>
              </a:r>
            </a:p>
          </p:txBody>
        </p:sp>
        <p:sp>
          <p:nvSpPr>
            <p:cNvPr id="10168" name="updates"/>
            <p:cNvSpPr/>
            <p:nvPr/>
          </p:nvSpPr>
          <p:spPr>
            <a:xfrm>
              <a:off x="7715250" y="6315075"/>
              <a:ext cx="161925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20" b="0">
                  <a:solidFill>
                    <a:srgbClr val="222222"/>
                  </a:solidFill>
                  <a:latin typeface="Arial"/>
                  <a:ea typeface="Times New Roman"/>
                </a:rPr>
                <a:t>Tested updates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