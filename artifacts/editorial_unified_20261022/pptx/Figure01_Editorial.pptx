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4d6e2b1b2b4c8e" /><Relationship Type="http://schemas.openxmlformats.org/officeDocument/2006/relationships/extended-properties" Target="/docProps/app.xml" Id="R7a3bc27e99474807" /><Relationship Type="http://schemas.openxmlformats.org/officeDocument/2006/relationships/officeDocument" Target="/ppt/presentation.xml" Id="R617a959451a443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1f40272f394435"/>
  </p:sldMasterIdLst>
  <p:notesMasterIdLst>
    <p:notesMasterId xmlns:r="http://schemas.openxmlformats.org/officeDocument/2006/relationships" r:id="Recc1189db638435c"/>
  </p:notesMasterIdLst>
  <p:sldIdLst>
    <p:sldId xmlns:ns0="http://schemas.openxmlformats.org/officeDocument/2006/relationships" id="256" ns0:id="Re598effa61d34d59"/>
  </p:sldIdLst>
  <p:sldSz cx="16668750" cy="127825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Relationships xmlns="http://schemas.openxmlformats.org/package/2006/relationships"><Relationship Type="http://schemas.openxmlformats.org/officeDocument/2006/relationships/theme" Target="/ppt/theme/theme1.xml" Id="R8c20673b7be64083"/><Relationship Type="http://schemas.openxmlformats.org/officeDocument/2006/relationships/slideMaster" Target="/ppt/slideMasters/slideMaster1.xml" Id="R201f40272f394435"/><Relationship Type="http://schemas.openxmlformats.org/officeDocument/2006/relationships/notesMaster" Target="/ppt/notesMasters/notesMaster1.xml" Id="Recc1189db638435c"/><Relationship Type="http://schemas.openxmlformats.org/officeDocument/2006/relationships/presProps" Target="/ppt/presProps.xml" Id="Rd57632f129984635"/><Relationship Type="http://schemas.openxmlformats.org/officeDocument/2006/relationships/tableStyles" Target="/ppt/tableStyles.xml" Id="R5bcb00eae1d54b44"/><Relationship Type="http://schemas.openxmlformats.org/officeDocument/2006/relationships/slide" Target="/ppt/slides/slide2.xml" Id="Re598effa61d34d59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b674405eb74e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cfb8672fee44dc" /><Relationship Type="http://schemas.openxmlformats.org/officeDocument/2006/relationships/notesMaster" Target="/ppt/notesMasters/notesMaster1.xml" Id="R5d0bb1b30b2945f0" /></Relationship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3598500d24dfd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031b9f3824a24" /><Relationship Type="http://schemas.openxmlformats.org/officeDocument/2006/relationships/slideLayout" Target="/ppt/slideLayouts/slideLayout1.xml" Id="R140c98990e2a4c5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0c98990e2a4c55"/>
  </p:sldLayoutIdLst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860c02216490b" /><Relationship Type="http://schemas.openxmlformats.org/officeDocument/2006/relationships/notesSlide" Target="/ppt/notesSlides/notesSlide2.xml" Id="Re15cf64ae2114a77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1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0A3D0D38-47FC-44BB-B1FA-D52AE46629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16697" y="4692728"/>
              <a:ext cx="1975054" cy="1753848"/>
            </a:xfrm>
            <a:prstGeom xmlns:a="http://schemas.openxmlformats.org/drawingml/2006/main" prst="roundRect">
              <a:avLst>
                <a:gd name="adj" fmla="val 8108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8C5C85B8-06BF-4B9F-9D50-9AC7DE11B3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74262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DEC47B3F-F672-4CF3-B466-041FB74C03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967154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D64BE902-CB9F-4263-9ADA-A99B93980B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3199588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FAE95982-E0AC-4C6B-939B-4745C2DF67C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4424121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4A155900-06CC-4A2B-B3D0-1FF129B6C8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5664455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F9454FDB-CA7D-4DB9-8B9B-025E4E6372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6888989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D017AD12-D4A5-454B-A342-D8B38831B7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8121422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B31F1000-340A-4974-B333-070C93A9481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9353856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CD2E0FEE-7759-43A9-8998-B7308AAC7E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058629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FC4BCE47-30C5-4247-ACEB-8F2A5F1675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74262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89220662-21BF-4837-9F80-64B6CC73D3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967154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52514506-723C-4C29-B42C-0F74044E212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3199588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9BACDACE-7947-4AA6-9386-D226436A907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4424121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112D592C-0E27-4968-A9A0-08BF0C7D1F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5664455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66B95DA8-04AB-42E9-9EF5-44048E9F9C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6888989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54EC743D-DC5A-4B1E-9EF8-B84C7DD122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8121422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F3D19169-4082-415F-847F-6BC79505B8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9353856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A970C13-3960-4C84-9766-C46C2A37E28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058629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000000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EA7CE87E-EABC-4ED6-B6D5-2CFB715C72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8130"/>
              <a:ext cx="0" cy="109734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2DC6EC90-D975-4986-AAFD-D690FFE7B2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8233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A1856308-AA3B-43CA-993E-5568348490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2306863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05038BD4-378B-48BC-A9FE-9E59980A0EF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3539297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66DC83AD-44B6-40E0-AFFA-293D89642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4771731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36CF8154-6118-4FA6-9B53-CA9CBAA751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6004164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4F38CBD7-8A95-4E1B-975F-18CE76C3D0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7236598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Line 28">
              <a:extLst xmlns:a="http://schemas.openxmlformats.org/drawingml/2006/main">
                <a:ext uri="{FF2B5EF4-FFF2-40B4-BE49-F238E27FC236}">
                  <a16:creationId xmlns:a16="http://schemas.microsoft.com/office/drawing/2014/main" id="{79CEC729-7360-471C-AE59-25F5EA30A5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8469032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Line 29">
              <a:extLst xmlns:a="http://schemas.openxmlformats.org/drawingml/2006/main">
                <a:ext uri="{FF2B5EF4-FFF2-40B4-BE49-F238E27FC236}">
                  <a16:creationId xmlns:a16="http://schemas.microsoft.com/office/drawing/2014/main" id="{FDF2C4E9-A504-47D6-B991-AF7655D33B1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9701466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Line 30">
              <a:extLst xmlns:a="http://schemas.openxmlformats.org/drawingml/2006/main">
                <a:ext uri="{FF2B5EF4-FFF2-40B4-BE49-F238E27FC236}">
                  <a16:creationId xmlns:a16="http://schemas.microsoft.com/office/drawing/2014/main" id="{71C126E5-08A2-4A9B-BAAD-670ABCACFD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4180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Line 31">
              <a:extLst xmlns:a="http://schemas.openxmlformats.org/drawingml/2006/main">
                <a:ext uri="{FF2B5EF4-FFF2-40B4-BE49-F238E27FC236}">
                  <a16:creationId xmlns:a16="http://schemas.microsoft.com/office/drawing/2014/main" id="{1E5FE03B-A6AC-4453-BCF6-075F79E868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1534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Line 32">
              <a:extLst xmlns:a="http://schemas.openxmlformats.org/drawingml/2006/main">
                <a:ext uri="{FF2B5EF4-FFF2-40B4-BE49-F238E27FC236}">
                  <a16:creationId xmlns:a16="http://schemas.microsoft.com/office/drawing/2014/main" id="{B04B91D8-7304-4743-9093-187DF4A40A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2520169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Line 33">
              <a:extLst xmlns:a="http://schemas.openxmlformats.org/drawingml/2006/main">
                <a:ext uri="{FF2B5EF4-FFF2-40B4-BE49-F238E27FC236}">
                  <a16:creationId xmlns:a16="http://schemas.microsoft.com/office/drawing/2014/main" id="{426829A0-D871-4EA5-8B43-AB70146ADE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3752603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67670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Line 34">
              <a:extLst xmlns:a="http://schemas.openxmlformats.org/drawingml/2006/main">
                <a:ext uri="{FF2B5EF4-FFF2-40B4-BE49-F238E27FC236}">
                  <a16:creationId xmlns:a16="http://schemas.microsoft.com/office/drawing/2014/main" id="{0B09B58E-9D83-4D05-BD12-B9B9600E39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48349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Line 35">
              <a:extLst xmlns:a="http://schemas.openxmlformats.org/drawingml/2006/main">
                <a:ext uri="{FF2B5EF4-FFF2-40B4-BE49-F238E27FC236}">
                  <a16:creationId xmlns:a16="http://schemas.microsoft.com/office/drawing/2014/main" id="{32F8FCBA-EF25-45BB-906D-A253832B88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6217470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Line 36">
              <a:extLst xmlns:a="http://schemas.openxmlformats.org/drawingml/2006/main">
                <a:ext uri="{FF2B5EF4-FFF2-40B4-BE49-F238E27FC236}">
                  <a16:creationId xmlns:a16="http://schemas.microsoft.com/office/drawing/2014/main" id="{3F45FAD1-E8EC-4882-A259-2590DF395E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7442004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Line 37">
              <a:extLst xmlns:a="http://schemas.openxmlformats.org/drawingml/2006/main">
                <a:ext uri="{FF2B5EF4-FFF2-40B4-BE49-F238E27FC236}">
                  <a16:creationId xmlns:a16="http://schemas.microsoft.com/office/drawing/2014/main" id="{4126B9EC-78E7-41EB-B021-2A8443548A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8674438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Line 38">
              <a:extLst xmlns:a="http://schemas.openxmlformats.org/drawingml/2006/main">
                <a:ext uri="{FF2B5EF4-FFF2-40B4-BE49-F238E27FC236}">
                  <a16:creationId xmlns:a16="http://schemas.microsoft.com/office/drawing/2014/main" id="{58080B09-FE8C-4C2E-93E6-1CAB937825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990687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Line 39">
              <a:extLst xmlns:a="http://schemas.openxmlformats.org/drawingml/2006/main">
                <a:ext uri="{FF2B5EF4-FFF2-40B4-BE49-F238E27FC236}">
                  <a16:creationId xmlns:a16="http://schemas.microsoft.com/office/drawing/2014/main" id="{DA3FAA57-3311-4F6A-9BFB-05481E045B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099710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04B6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Ellipse 40">
              <a:extLst xmlns:a="http://schemas.openxmlformats.org/drawingml/2006/main">
                <a:ext uri="{FF2B5EF4-FFF2-40B4-BE49-F238E27FC236}">
                  <a16:creationId xmlns:a16="http://schemas.microsoft.com/office/drawing/2014/main" id="{37FBE542-10DE-4411-B941-02264D11238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0332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Ellipse 41">
              <a:extLst xmlns:a="http://schemas.openxmlformats.org/drawingml/2006/main">
                <a:ext uri="{FF2B5EF4-FFF2-40B4-BE49-F238E27FC236}">
                  <a16:creationId xmlns:a16="http://schemas.microsoft.com/office/drawing/2014/main" id="{E908D23C-23CA-40BE-9A76-9C98B8089F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2227861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Ellipse 42">
              <a:extLst xmlns:a="http://schemas.openxmlformats.org/drawingml/2006/main">
                <a:ext uri="{FF2B5EF4-FFF2-40B4-BE49-F238E27FC236}">
                  <a16:creationId xmlns:a16="http://schemas.microsoft.com/office/drawing/2014/main" id="{374D86A1-11AF-40A7-A3D6-067CCC6515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3460295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Ellipse 43">
              <a:extLst xmlns:a="http://schemas.openxmlformats.org/drawingml/2006/main">
                <a:ext uri="{FF2B5EF4-FFF2-40B4-BE49-F238E27FC236}">
                  <a16:creationId xmlns:a16="http://schemas.microsoft.com/office/drawing/2014/main" id="{8918EC1D-F97B-430F-A7FB-DB20F5753B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4692728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Ellipse 44">
              <a:extLst xmlns:a="http://schemas.openxmlformats.org/drawingml/2006/main">
                <a:ext uri="{FF2B5EF4-FFF2-40B4-BE49-F238E27FC236}">
                  <a16:creationId xmlns:a16="http://schemas.microsoft.com/office/drawing/2014/main" id="{5F78B2C5-6D4F-48BF-8ACF-096317EC3E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5925162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Ellipse 45">
              <a:extLst xmlns:a="http://schemas.openxmlformats.org/drawingml/2006/main">
                <a:ext uri="{FF2B5EF4-FFF2-40B4-BE49-F238E27FC236}">
                  <a16:creationId xmlns:a16="http://schemas.microsoft.com/office/drawing/2014/main" id="{6B841A32-AEFC-4046-83CE-3373F37A37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7157596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Ellipse 46">
              <a:extLst xmlns:a="http://schemas.openxmlformats.org/drawingml/2006/main">
                <a:ext uri="{FF2B5EF4-FFF2-40B4-BE49-F238E27FC236}">
                  <a16:creationId xmlns:a16="http://schemas.microsoft.com/office/drawing/2014/main" id="{EBFE40B9-CA6A-40E4-8DA1-336266F35C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8390030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Ellipse 47">
              <a:extLst xmlns:a="http://schemas.openxmlformats.org/drawingml/2006/main">
                <a:ext uri="{FF2B5EF4-FFF2-40B4-BE49-F238E27FC236}">
                  <a16:creationId xmlns:a16="http://schemas.microsoft.com/office/drawing/2014/main" id="{D095759D-9372-40E2-BC15-7D00D97560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9622463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Ellipse 48">
              <a:extLst xmlns:a="http://schemas.openxmlformats.org/drawingml/2006/main">
                <a:ext uri="{FF2B5EF4-FFF2-40B4-BE49-F238E27FC236}">
                  <a16:creationId xmlns:a16="http://schemas.microsoft.com/office/drawing/2014/main" id="{E7F5B5EE-1697-46BF-AC25-7BD2158D7F8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86279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1F1EE"/>
            </a:solidFill>
            <a:ln xmlns:a="http://schemas.openxmlformats.org/drawingml/2006/main" w="25400">
              <a:solidFill>
                <a:srgbClr val="304B6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D81EF437-2A24-47E5-A07C-754416FAEE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77616" y="142204"/>
              <a:ext cx="1422039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59" i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Survey organization</a:t>
              </a:r>
              <a:endParaRPr sz="2159">
                <a:latin typeface="Arial"/>
              </a:endParaRPr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56A6678B-794A-439F-B696-84A30D10A5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54752" y="142204"/>
              <a:ext cx="1738048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98" i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Sections</a:t>
              </a:r>
              <a:endParaRPr sz="1998">
                <a:latin typeface="Arial"/>
              </a:endParaRPr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2EDE01EB-343C-4029-BFDE-852D0E8B69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4937635"/>
              <a:ext cx="1659045" cy="82952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78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Time-Series</a:t>
              </a:r>
              <a:endParaRPr sz="2278">
                <a:latin typeface="Arial"/>
              </a:endParaRPr>
            </a:p>
            <a:p xmlns:a="http://schemas.openxmlformats.org/drawingml/2006/main">
              <a:pPr algn="ctr">
                <a:buNone/>
              </a:pPr>
              <a:r>
                <a:rPr sz="2278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Agent</a:t>
              </a:r>
              <a:endParaRPr sz="2278">
                <a:latin typeface="Arial"/>
              </a:endParaRPr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074160DC-92D4-46DC-BDBA-F789EE3831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5877761"/>
              <a:ext cx="1659045" cy="35551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28" i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Reader’s guide</a:t>
              </a:r>
              <a:endParaRPr sz="1428">
                <a:latin typeface="Arial"/>
              </a:endParaRPr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45CDC35-51B5-4026-B049-880E4DCDEB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0582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80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1    Introduction</a:t>
              </a:r>
              <a:endParaRPr sz="2280">
                <a:latin typeface="Comic Sans MS"/>
              </a:endParaRPr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333720CC-1901-4A32-A650-EB3CB1DA7E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2030356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2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2    What Is a</a:t>
              </a:r>
              <a:endParaRPr sz="1928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192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Time-Series Agent?</a:t>
              </a:r>
              <a:endParaRPr sz="1928">
                <a:latin typeface="Comic Sans MS"/>
              </a:endParaRPr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D7ECB67E-68AE-44FB-96CA-14187B3B2B0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3262789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84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3    LLM-Side</a:t>
              </a:r>
              <a:endParaRPr sz="1984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1984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Contributions</a:t>
              </a:r>
              <a:endParaRPr sz="1984">
                <a:latin typeface="Comic Sans MS"/>
              </a:endParaRPr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C0FC43D4-686E-40E3-9D59-004BF930E8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4487323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32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4    General</a:t>
              </a:r>
              <a:endParaRPr sz="2032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2032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Harness</a:t>
              </a:r>
              <a:endParaRPr sz="2032">
                <a:latin typeface="Comic Sans MS"/>
              </a:endParaRPr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0CC18A36-E59D-4E6D-A86F-A12BC70F57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5727657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5    General Time-Series</a:t>
              </a:r>
              <a:endParaRPr sz="1688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16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Harness</a:t>
              </a:r>
              <a:endParaRPr sz="1688">
                <a:latin typeface="Comic Sans MS"/>
              </a:endParaRPr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470BDABB-D852-412E-B461-4E6952FCC7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6952190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6    Task-Specific</a:t>
              </a:r>
              <a:endParaRPr sz="1688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16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Harness</a:t>
              </a:r>
              <a:endParaRPr sz="1688">
                <a:latin typeface="Comic Sans MS"/>
              </a:endParaRPr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39DC99BB-1B76-497F-891D-B310F32F82B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184624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7    Infrastructure and</a:t>
              </a:r>
              <a:endParaRPr sz="2088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20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Benchmarks</a:t>
              </a:r>
              <a:endParaRPr sz="2088">
                <a:latin typeface="Comic Sans MS"/>
              </a:endParaRPr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17933CB9-3A8D-46F3-B0FF-DD21613BE5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9417058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8    Open Problems</a:t>
              </a:r>
              <a:endParaRPr sz="2088">
                <a:latin typeface="Comic Sans MS"/>
              </a:endParaRPr>
            </a:p>
            <a:p xmlns:a="http://schemas.openxmlformats.org/drawingml/2006/main">
              <a:pPr algn="ctr">
                <a:buNone/>
              </a:pPr>
              <a:r>
                <a:rPr sz="2088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and System Analyses</a:t>
              </a:r>
              <a:endParaRPr sz="2088">
                <a:latin typeface="Comic Sans MS"/>
              </a:endParaRPr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317574F8-F8A3-4C9F-9210-FEC21510A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1064949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76" b="1">
                  <a:solidFill>
                    <a:srgbClr val="222222"/>
                  </a:solidFill>
                  <a:latin typeface="Comic Sans MS"/>
                  <a:ea typeface="Cambria"/>
                  <a:cs typeface="Cambria"/>
                </a:rPr>
                <a:t>§ 9    Conclusion</a:t>
              </a:r>
              <a:endParaRPr sz="2576">
                <a:latin typeface="Comic Sans MS"/>
              </a:endParaRPr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E80BEADC-3F2A-4C85-887C-0E15C420C8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790022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Motivation and scope</a:t>
              </a:r>
              <a:endParaRPr sz="2014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Construction questions</a:t>
              </a:r>
              <a:endParaRPr sz="2014">
                <a:latin typeface="Arial"/>
              </a:endParaRPr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B2946089-CC82-4883-8A6E-E5790B032C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2014555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Agent interaction loop</a:t>
              </a:r>
              <a:endParaRPr sz="2014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Tasks and module reuse</a:t>
              </a:r>
              <a:endParaRPr sz="2014">
                <a:latin typeface="Arial"/>
              </a:endParaRPr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4BBBEBF4-F1AB-46E5-8D29-2FE52072A7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3246989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53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Model interfaces</a:t>
              </a:r>
              <a:endParaRPr sz="1853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853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Temporal adaptation</a:t>
              </a:r>
              <a:endParaRPr sz="1853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853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Workflow policies</a:t>
              </a:r>
              <a:endParaRPr sz="1853">
                <a:latin typeface="Arial"/>
              </a:endParaRPr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9A37DBF7-E12D-43B7-9BC8-E930F963D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4471522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36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Interfaces, tools, memory</a:t>
              </a:r>
              <a:endParaRPr sz="1836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836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Control, plans, learning, roles</a:t>
              </a:r>
              <a:endParaRPr sz="1836">
                <a:latin typeface="Arial"/>
              </a:endParaRPr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1BA24F56-726F-41DC-81CC-AB6F3CEADA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5711856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700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Data management         Temporal processing</a:t>
              </a:r>
              <a:endParaRPr sz="1700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700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Context and memory      Temporal validation</a:t>
              </a:r>
              <a:endParaRPr sz="1700">
                <a:latin typeface="Arial"/>
              </a:endParaRPr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B6E31246-0790-4B91-998C-73D25F5F27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6936390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606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Forecasting                Augmentation</a:t>
              </a:r>
              <a:endParaRPr sz="1606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606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Anomaly diagnosis          Decision support</a:t>
              </a:r>
              <a:endParaRPr sz="1606">
                <a:latin typeface="Arial"/>
              </a:endParaRPr>
            </a:p>
          </p:txBody>
        </p:sp>
        <p:sp>
          <p:nvSpPr>
            <p:cNvPr id="68" name="TextBox 68">
              <a:extLst xmlns:a="http://schemas.openxmlformats.org/drawingml/2006/main">
                <a:ext uri="{FF2B5EF4-FFF2-40B4-BE49-F238E27FC236}">
                  <a16:creationId xmlns:a16="http://schemas.microsoft.com/office/drawing/2014/main" id="{219681E6-35A9-4F2D-A244-4B3141F5A6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8168824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90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ModernTSF                  TimeSeriesGym</a:t>
              </a:r>
              <a:endParaRPr sz="1590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590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Traces and episodes      Evaluation</a:t>
              </a:r>
              <a:endParaRPr sz="1590">
                <a:latin typeface="Arial"/>
              </a:endParaRPr>
            </a:p>
          </p:txBody>
        </p:sp>
        <p:sp>
          <p:nvSpPr>
            <p:cNvPr id="69" name="TextBox 69">
              <a:extLst xmlns:a="http://schemas.openxmlformats.org/drawingml/2006/main">
                <a:ext uri="{FF2B5EF4-FFF2-40B4-BE49-F238E27FC236}">
                  <a16:creationId xmlns:a16="http://schemas.microsoft.com/office/drawing/2014/main" id="{95D6F2E5-1072-4082-A3AF-A3429A89D8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9401257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72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Transfer and memory      Evidence quality</a:t>
              </a:r>
              <a:endParaRPr sz="1572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1572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Decision feedback        Design implications</a:t>
              </a:r>
              <a:endParaRPr sz="1572">
                <a:latin typeface="Arial"/>
              </a:endParaRPr>
            </a:p>
          </p:txBody>
        </p:sp>
        <p:sp>
          <p:nvSpPr>
            <p:cNvPr id="70" name="TextBox 70">
              <a:extLst xmlns:a="http://schemas.openxmlformats.org/drawingml/2006/main">
                <a:ext uri="{FF2B5EF4-FFF2-40B4-BE49-F238E27FC236}">
                  <a16:creationId xmlns:a16="http://schemas.microsoft.com/office/drawing/2014/main" id="{6F899B69-AE09-4863-9B2D-8D460EA42E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10633691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Construction choices</a:t>
              </a:r>
              <a:endParaRPr sz="2014">
                <a:latin typeface="Arial"/>
              </a:endParaRPr>
            </a:p>
            <a:p xmlns:a="http://schemas.openxmlformats.org/drawingml/2006/main">
              <a:pPr algn="l">
                <a:buNone/>
              </a:pPr>
              <a:r>
                <a:rPr sz="2014" b="1">
                  <a:solidFill>
                    <a:srgbClr val="222222"/>
                  </a:solidFill>
                  <a:latin typeface="Arial"/>
                  <a:ea typeface="Cambria"/>
                  <a:cs typeface="Cambria"/>
                </a:rPr>
                <a:t>Evaluation and reuse</a:t>
              </a:r>
              <a:endParaRPr sz="2014"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668956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2026-10-08T15:10:13.3920000Z</dcterms:created>
  <dcterms:modified xsi:type="dcterms:W3CDTF">2026-10-08T15:10:13.3920000Z</dcterms:modified>
</coreProperties>
</file>