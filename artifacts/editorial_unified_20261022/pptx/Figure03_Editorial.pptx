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6e2b1b2b4c8e" /><Relationship Type="http://schemas.openxmlformats.org/officeDocument/2006/relationships/extended-properties" Target="/docProps/app.xml" Id="R7a3bc27e99474807" /><Relationship Type="http://schemas.openxmlformats.org/officeDocument/2006/relationships/officeDocument" Target="/ppt/presentation.xml" Id="R617a959451a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ns0="http://schemas.openxmlformats.org/officeDocument/2006/relationships" id="256" ns0:id="R85f2e722fde04d7c"/>
  </p:sldIdLst>
  <p:sldSz cx="16668750" cy="805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3.xml" Id="R85f2e722fde04d7c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674405eb7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a3570b0a4522" /><Relationship Type="http://schemas.openxmlformats.org/officeDocument/2006/relationships/notesMaster" Target="/ppt/notesMasters/notesMaster1.xml" Id="R95cebba687404149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3598500d24df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31b9f3824a24" /><Relationship Type="http://schemas.openxmlformats.org/officeDocument/2006/relationships/slideLayout" Target="/ppt/slideLayouts/slideLayout1.xml" Id="R140c98990e2a4c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ec26bf8404054" /><Relationship Type="http://schemas.openxmlformats.org/officeDocument/2006/relationships/notesSlide" Target="/ppt/notesSlides/notesSlide3.xml" Id="R6102d4bb139944d4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cxnSp>
          <p:nvCxn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55ED298-24C4-4B33-A3D6-6D4524122699}"/>
                </a:ext>
              </a:extLst>
            </p:cNvPr>
            <p:cNvCxnSpPr>
              <a:stCxn xmlns:a="http://schemas.openxmlformats.org/drawingml/2006/main" id="17" idx="3"/>
              <a:endCxn xmlns:a="http://schemas.openxmlformats.org/drawingml/2006/main" id="21" idx="1"/>
            </p:cNvCxnSpPr>
            <p:nvPr/>
          </p:nvCxnSpPr>
          <p:spPr>
            <a:xfrm xmlns:a="http://schemas.openxmlformats.org/drawingml/2006/main" flipV="1">
              <a:off x="8667750" y="4057750"/>
              <a:ext cx="2571750" cy="952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304B63"/>
              </a:solidFill>
              <a:prstDash val="solid"/>
              <a:headEnd type="arrow" w="sm" len="sm"/>
            </a:ln>
          </p:spPr>
        </p:cxnSp>
        <p:cxnSp>
          <p:nvCxn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E96A5CA2-8414-40C7-8D47-AF32CCF905E5}"/>
                </a:ext>
              </a:extLst>
            </p:cNvPr>
            <p:cNvCxnSpPr>
              <a:stCxn xmlns:a="http://schemas.openxmlformats.org/drawingml/2006/main" id="14" idx="2"/>
              <a:endCxn xmlns:a="http://schemas.openxmlformats.org/drawingml/2006/main" id="17" idx="0"/>
            </p:cNvCxnSpPr>
            <p:nvPr/>
          </p:nvCxnSpPr>
          <p:spPr>
            <a:xfrm xmlns:a="http://schemas.openxmlformats.org/drawingml/2006/main" flipV="1">
              <a:off x="7429500" y="3962500"/>
              <a:ext cx="0" cy="2857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A65F48"/>
              </a:solidFill>
              <a:prstDash val="solid"/>
              <a:headEnd type="arrow" w="sm" len="sm"/>
            </a:ln>
          </p:spPr>
        </p:cxnSp>
        <p:cxnSp>
          <p:nvCxn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E67FC10C-D4EE-4E4B-B2E7-7BCA43A4CEAB}"/>
                </a:ext>
              </a:extLst>
            </p:cNvPr>
            <p:cNvCxnSpPr>
              <a:stCxn xmlns:a="http://schemas.openxmlformats.org/drawingml/2006/main" id="11" idx="2"/>
              <a:endCxn xmlns:a="http://schemas.openxmlformats.org/drawingml/2006/main" id="14" idx="0"/>
            </p:cNvCxnSpPr>
            <p:nvPr/>
          </p:nvCxnSpPr>
          <p:spPr>
            <a:xfrm xmlns:a="http://schemas.openxmlformats.org/drawingml/2006/main" flipV="1">
              <a:off x="7429500" y="2343250"/>
              <a:ext cx="0" cy="5334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304B63"/>
              </a:solidFill>
              <a:prstDash val="solid"/>
              <a:headEnd type="arrow" w="sm" len="sm"/>
            </a:ln>
          </p:spPr>
        </p:cxnSp>
        <p:cxnSp>
          <p:nvCxn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323333D-7D8E-4ED3-B563-B5FA79AE53F0}"/>
                </a:ext>
              </a:extLst>
            </p:cNvPr>
            <p:cNvCxnSpPr>
              <a:stCxn xmlns:a="http://schemas.openxmlformats.org/drawingml/2006/main" id="4" idx="3"/>
              <a:endCxn xmlns:a="http://schemas.openxmlformats.org/drawingml/2006/main" id="11" idx="1"/>
            </p:cNvCxnSpPr>
            <p:nvPr/>
          </p:nvCxnSpPr>
          <p:spPr>
            <a:xfrm xmlns:a="http://schemas.openxmlformats.org/drawingml/2006/main">
              <a:off x="3619500" y="4057750"/>
              <a:ext cx="4762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304B63"/>
              </a:solidFill>
              <a:prstDash val="solid"/>
              <a:headEnd type="arrow" w="sm" len="sm"/>
            </a:ln>
          </p:spPr>
        </p:cxn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5196494C-F7A8-4CB4-84F8-094976A763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pPr>
              <a:r>
                <a:rPr sz="16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LLM side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798E671-C3ED-41FC-AB44-F929CD99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9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7F8F9"/>
            </a:solidFill>
            <a:ln xmlns:a="http://schemas.openxmlformats.org/drawingml/2006/main" w="14288">
              <a:solidFill>
                <a:srgbClr val="304B63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67B41B1-896B-4B1B-BC09-2DBACDB65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12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500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LLM interaction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05124DDF-0B26-446C-8F37-C3255259B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1981300"/>
              <a:ext cx="23241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interpret observations</a:t>
              </a:r>
            </a:p>
            <a:p xmlns:a="http://schemas.openxmlformats.org/drawingml/2006/main">
              <a:pPr>
                <a:def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select tool actions</a:t>
              </a:r>
            </a:p>
            <a:p xmlns:a="http://schemas.openxmlformats.org/drawingml/2006/main">
              <a:pPr>
                <a:def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use returned feedback</a:t>
              </a:r>
            </a:p>
            <a:p xmlns:a="http://schemas.openxmlformats.org/drawingml/2006/main">
              <a:pPr>
                <a:def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temporal adaptation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26855EE-B49C-4CD8-B0C7-C041566A3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4010125"/>
              <a:ext cx="20002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304B63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0AF2F9E-9C01-41BA-9C4A-7D2B2FF95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3500" y="4210150"/>
              <a:ext cx="1714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Action-selection model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67C291B-4820-4588-9B62-A00DA29D0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5391250"/>
              <a:ext cx="2381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Model contribution</a:t>
              </a:r>
            </a:p>
            <a:p xmlns:a="http://schemas.openxmlformats.org/drawingml/2006/main">
              <a: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interfaces and training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3A9C5A2-68D9-40ED-A058-A4BF3002AE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5800" y="343000"/>
              <a:ext cx="59055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1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1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pPr>
              <a:r>
                <a:rPr sz="21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Time-Series Agent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76330AE9-43C4-4D19-A843-B80ADEE7F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819250"/>
              <a:ext cx="6667500" cy="6858000"/>
            </a:xfrm>
            <a:prstGeom xmlns:a="http://schemas.openxmlformats.org/drawingml/2006/main" prst="roundRect">
              <a:avLst>
                <a:gd name="adj" fmla="val 1143"/>
              </a:avLst>
            </a:prstGeom>
            <a:solidFill xmlns:a="http://schemas.openxmlformats.org/drawingml/2006/main">
              <a:srgbClr val="F7F8F9"/>
            </a:solidFill>
            <a:ln xmlns:a="http://schemas.openxmlformats.org/drawingml/2006/main" w="14288">
              <a:solidFill>
                <a:srgbClr val="304B63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F2712E49-6679-4BB7-A8D3-BDD66F9E0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18120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8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8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pPr>
              <a:r>
                <a:rPr sz="18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General Harness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32BEDEE-6D5E-477F-9A1C-BB87ADAF9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54315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interaction · tools · memory · planning · evolution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1B747F3-93A6-415E-8C07-E0858A6A6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2343250"/>
              <a:ext cx="466725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E8EEF2"/>
            </a:solidFill>
            <a:ln xmlns:a="http://schemas.openxmlformats.org/drawingml/2006/main" w="14288">
              <a:solidFill>
                <a:srgbClr val="304B63"/>
              </a:solidFill>
              <a:prstDash val="dash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F78898E-882F-4483-A48C-78BF86E31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2676625"/>
              <a:ext cx="409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pPr>
              <a:r>
                <a:rPr sz="16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General Time-Series Harness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C15CA2F-A8B1-4922-8875-A36B28FF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057625"/>
              <a:ext cx="4000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temporal state · operations</a:t>
              </a:r>
            </a:p>
            <a:p xmlns:a="http://schemas.openxmlformats.org/drawingml/2006/main">
              <a: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provenance · validation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1E6EAC-EBC5-43FD-82E3-673A3B70A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3962500"/>
              <a:ext cx="2476500" cy="2095500"/>
            </a:xfrm>
            <a:prstGeom xmlns:a="http://schemas.openxmlformats.org/drawingml/2006/main" prst="roundRect">
              <a:avLst>
                <a:gd name="adj" fmla="val 3636"/>
              </a:avLst>
            </a:prstGeom>
            <a:solidFill xmlns:a="http://schemas.openxmlformats.org/drawingml/2006/main">
              <a:srgbClr val="F4EAE5"/>
            </a:solidFill>
            <a:ln xmlns:a="http://schemas.openxmlformats.org/drawingml/2006/main" w="14288">
              <a:solidFill>
                <a:srgbClr val="A65F48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EC92D4D-9EA8-47B8-A9A2-F28BEBBF48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42482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pPr>
              <a:r>
                <a:rPr sz="135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Task-Specific Harness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53C845-6533-42B7-8E89-93F0FED50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4724500"/>
              <a:ext cx="19431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forecasting</a:t>
              </a:r>
            </a:p>
            <a:p xmlns:a="http://schemas.openxmlformats.org/drawingml/2006/main">
              <a:pPr>
                <a:def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augmentation</a:t>
              </a:r>
            </a:p>
            <a:p xmlns:a="http://schemas.openxmlformats.org/drawingml/2006/main">
              <a:pPr>
                <a:def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anomaly · decisions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73419DC-0C6A-41E4-BAB3-444F27649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5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defRPr>
              </a:pPr>
              <a:r>
                <a:rPr sz="1500" b="1" i="0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Evaluation and evidence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CB2FFA5C-6291-4A95-B53F-88F066699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9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304B63"/>
              </a:solidFill>
              <a:prstDash val="dash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ECA11863-5A0F-4DAF-8067-C9173D7AE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12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500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Benchmark contract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A2D844B-1B0C-4653-8625-B9902365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1981300"/>
              <a:ext cx="2381250" cy="1200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episodes</a:t>
              </a:r>
            </a:p>
            <a:p xmlns:a="http://schemas.openxmlformats.org/drawingml/2006/main">
              <a: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chronology</a:t>
              </a:r>
            </a:p>
            <a:p xmlns:a="http://schemas.openxmlformats.org/drawingml/2006/main">
              <a: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held-out tests</a:t>
              </a:r>
            </a:p>
            <a:p xmlns:a="http://schemas.openxmlformats.org/drawingml/2006/main">
              <a:pPr>
                <a:def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reproducible traces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48F4159-DD0B-48DE-A827-BE7BE0AA5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39625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14288">
              <a:solidFill>
                <a:srgbClr val="304B63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562827F-4A8E-41B1-9FCD-18850D224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172050"/>
              <a:ext cx="17526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module-level</a:t>
              </a:r>
            </a:p>
            <a:p xmlns:a="http://schemas.openxmlformats.org/drawingml/2006/main">
              <a:pPr>
                <a:def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evidence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0F025FB-90C9-4A46-A4EE-D665C2A86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0" y="5391250"/>
              <a:ext cx="24765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Each paper can contribute</a:t>
              </a:r>
            </a:p>
            <a:p xmlns:a="http://schemas.openxmlformats.org/drawingml/2006/main">
              <a:pPr>
                <a:def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defRPr>
              </a:pPr>
              <a:r>
                <a:rPr sz="1125" b="0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several modules</a:t>
              </a:r>
            </a:p>
          </p:txBody>
        </p:sp>
      </p:grpSp>
      <p:grpSp>
        <p:nvGrpSpPr>
          <p:cNvPr id="200000" name="reused-messages-square"/>
          <p:cNvGrpSpPr/>
          <p:nvPr/>
        </p:nvGrpSpPr>
        <p:grpSpPr>
          <ns1:xfrm xmlns:ns1="http://schemas.openxmlformats.org/drawingml/2006/main">
            <ns1:off x="4500000" y="1900000"/>
            <ns1:ext cx="220000" cy="220000"/>
            <ns1:chOff x="1143000" y="2076450"/>
            <ns1:chExt cx="666750" cy="666750"/>
          </ns1:xfrm>
        </p:grpSpPr>
        <p:sp xmlns:a="http://schemas.openxmlformats.org/drawingml/2006/main">
          <p:nvSpPr>
            <p:cNvPr id="200001" name="messages-square-0"/>
            <p:cNvSpPr/>
            <p:nvPr/>
          </p:nvSpPr>
          <p:spPr>
            <a:xfrm>
              <a:off x="1143000" y="20764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0000"/>
                  </a:moveTo>
                  <a:cubicBezTo>
                    <a:pt x="16000" y="11105"/>
                    <a:pt x="15105" y="12000"/>
                    <a:pt x="14000" y="12000"/>
                  </a:cubicBezTo>
                  <a:lnTo>
                    <a:pt x="6828" y="12000"/>
                  </a:lnTo>
                  <a:cubicBezTo>
                    <a:pt x="6298" y="12000"/>
                    <a:pt x="5789" y="12211"/>
                    <a:pt x="5414" y="12586"/>
                  </a:cubicBezTo>
                  <a:lnTo>
                    <a:pt x="3212" y="14788"/>
                  </a:lnTo>
                  <a:cubicBezTo>
                    <a:pt x="3009" y="14991"/>
                    <a:pt x="2704" y="15052"/>
                    <a:pt x="2438" y="14942"/>
                  </a:cubicBezTo>
                  <a:cubicBezTo>
                    <a:pt x="2173" y="14832"/>
                    <a:pt x="2000" y="14573"/>
                    <a:pt x="2000" y="14286"/>
                  </a:cubicBezTo>
                  <a:lnTo>
                    <a:pt x="2000" y="4000"/>
                  </a:lnTo>
                  <a:cubicBezTo>
                    <a:pt x="2000" y="2895"/>
                    <a:pt x="2895" y="2000"/>
                    <a:pt x="4000" y="2000"/>
                  </a:cubicBezTo>
                  <a:lnTo>
                    <a:pt x="14000" y="2000"/>
                  </a:lnTo>
                  <a:cubicBezTo>
                    <a:pt x="15105" y="2000"/>
                    <a:pt x="16000" y="2895"/>
                    <a:pt x="16000" y="4000"/>
                  </a:cubicBezTo>
                  <a:lnTo>
                    <a:pt x="16000" y="10000"/>
                  </a:lnTo>
                  <a:close/>
                </a:path>
              </a:pathLst>
            </a:custGeom>
            <a:noFill/>
            <a:ln w="41672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02" name="messages-square-1"/>
            <p:cNvSpPr/>
            <p:nvPr/>
          </p:nvSpPr>
          <p:spPr>
            <a:xfrm>
              <a:off x="1143000" y="20764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9000"/>
                  </a:move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1286"/>
                  </a:lnTo>
                  <a:cubicBezTo>
                    <a:pt x="22000" y="21573"/>
                    <a:pt x="21827" y="21832"/>
                    <a:pt x="21562" y="21942"/>
                  </a:cubicBezTo>
                  <a:cubicBezTo>
                    <a:pt x="21296" y="22052"/>
                    <a:pt x="20991" y="21991"/>
                    <a:pt x="20788" y="21788"/>
                  </a:cubicBezTo>
                  <a:lnTo>
                    <a:pt x="18586" y="19586"/>
                  </a:lnTo>
                  <a:cubicBezTo>
                    <a:pt x="18211" y="19211"/>
                    <a:pt x="17702" y="19000"/>
                    <a:pt x="17172" y="19000"/>
                  </a:cubicBezTo>
                  <a:lnTo>
                    <a:pt x="10000" y="19000"/>
                  </a:lnTo>
                  <a:cubicBezTo>
                    <a:pt x="8895" y="19000"/>
                    <a:pt x="8000" y="18105"/>
                    <a:pt x="8000" y="17000"/>
                  </a:cubicBezTo>
                  <a:lnTo>
                    <a:pt x="8000" y="16000"/>
                  </a:lnTo>
                </a:path>
              </a:pathLst>
            </a:custGeom>
            <a:noFill/>
            <a:ln w="41672" cap="rnd">
              <a:solidFill>
                <a:srgbClr val="304B63"/>
              </a:solidFill>
            </a:ln>
          </p:spPr>
        </p:sp>
      </p:grpSp>
      <p:grpSp>
        <p:nvGrpSpPr>
          <p:cNvPr id="200003" name="reused-wrench"/>
          <p:cNvGrpSpPr/>
          <p:nvPr/>
        </p:nvGrpSpPr>
        <p:grpSpPr>
          <ns1:xfrm xmlns:ns1="http://schemas.openxmlformats.org/drawingml/2006/main">
            <ns1:off x="5650000" y="1900000"/>
            <ns1:ext cx="220000" cy="220000"/>
            <ns1:chOff x="9144000" y="2076450"/>
            <ns1:chExt cx="666750" cy="666750"/>
          </ns1:xfrm>
        </p:grpSpPr>
        <p:sp xmlns:a="http://schemas.openxmlformats.org/drawingml/2006/main">
          <p:nvSpPr>
            <p:cNvPr id="200004" name="wrench-0"/>
            <p:cNvSpPr/>
            <p:nvPr/>
          </p:nvSpPr>
          <p:spPr>
            <a:xfrm>
              <a:off x="9144000" y="20764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700" y="6300"/>
                  </a:moveTo>
                  <a:cubicBezTo>
                    <a:pt x="14319" y="6689"/>
                    <a:pt x="14319" y="7311"/>
                    <a:pt x="14700" y="7700"/>
                  </a:cubicBezTo>
                  <a:lnTo>
                    <a:pt x="16300" y="9300"/>
                  </a:lnTo>
                  <a:cubicBezTo>
                    <a:pt x="16689" y="9681"/>
                    <a:pt x="17311" y="9681"/>
                    <a:pt x="17700" y="9300"/>
                  </a:cubicBezTo>
                  <a:lnTo>
                    <a:pt x="20806" y="6195"/>
                  </a:lnTo>
                  <a:cubicBezTo>
                    <a:pt x="21126" y="5873"/>
                    <a:pt x="21669" y="5975"/>
                    <a:pt x="21789" y="6413"/>
                  </a:cubicBezTo>
                  <a:cubicBezTo>
                    <a:pt x="22406" y="8656"/>
                    <a:pt x="21670" y="11054"/>
                    <a:pt x="19901" y="12565"/>
                  </a:cubicBezTo>
                  <a:cubicBezTo>
                    <a:pt x="18133" y="14077"/>
                    <a:pt x="15650" y="14429"/>
                    <a:pt x="13530" y="13470"/>
                  </a:cubicBezTo>
                  <a:lnTo>
                    <a:pt x="5620" y="21380"/>
                  </a:lnTo>
                  <a:cubicBezTo>
                    <a:pt x="4792" y="22208"/>
                    <a:pt x="3449" y="22208"/>
                    <a:pt x="2620" y="21380"/>
                  </a:cubicBezTo>
                  <a:cubicBezTo>
                    <a:pt x="1792" y="20551"/>
                    <a:pt x="1793" y="19208"/>
                    <a:pt x="2621" y="18380"/>
                  </a:cubicBezTo>
                  <a:lnTo>
                    <a:pt x="10531" y="10470"/>
                  </a:lnTo>
                  <a:cubicBezTo>
                    <a:pt x="9572" y="8350"/>
                    <a:pt x="9924" y="5867"/>
                    <a:pt x="11436" y="4099"/>
                  </a:cubicBezTo>
                  <a:cubicBezTo>
                    <a:pt x="12947" y="2330"/>
                    <a:pt x="15345" y="1594"/>
                    <a:pt x="17588" y="2211"/>
                  </a:cubicBezTo>
                  <a:cubicBezTo>
                    <a:pt x="18026" y="2331"/>
                    <a:pt x="18128" y="2873"/>
                    <a:pt x="17807" y="3195"/>
                  </a:cubicBezTo>
                  <a:lnTo>
                    <a:pt x="14700" y="6300"/>
                  </a:lnTo>
                  <a:close/>
                </a:path>
              </a:pathLst>
            </a:custGeom>
            <a:noFill/>
            <a:ln w="41672" cap="rnd">
              <a:solidFill>
                <a:srgbClr val="304B63"/>
              </a:solidFill>
            </a:ln>
          </p:spPr>
        </p:sp>
      </p:grpSp>
      <p:grpSp>
        <p:nvGrpSpPr>
          <p:cNvPr id="200005" name="reused-database"/>
          <p:cNvGrpSpPr/>
          <p:nvPr/>
        </p:nvGrpSpPr>
        <p:grpSpPr>
          <ns1:xfrm xmlns:ns1="http://schemas.openxmlformats.org/drawingml/2006/main">
            <ns1:off x="6800000" y="1900000"/>
            <ns1:ext cx="220000" cy="220000"/>
            <ns1:chOff x="5143500" y="3838575"/>
            <ns1:chExt cx="666750" cy="666750"/>
          </ns1:xfrm>
        </p:grpSpPr>
        <p:sp xmlns:a="http://schemas.openxmlformats.org/drawingml/2006/main">
          <p:nvSpPr>
            <p:cNvPr id="200006" name="database-0"/>
            <p:cNvSpPr/>
            <p:nvPr/>
          </p:nvSpPr>
          <p:spPr>
            <a:xfrm>
              <a:off x="5226844" y="3894138"/>
              <a:ext cx="500062" cy="166688"/>
            </a:xfrm>
            <a:prstGeom prst="ellipse">
              <a:avLst/>
            </a:prstGeom>
            <a:noFill/>
            <a:ln w="41672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07" name="database-1"/>
            <p:cNvSpPr/>
            <p:nvPr/>
          </p:nvSpPr>
          <p:spPr>
            <a:xfrm>
              <a:off x="5143500" y="3838575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20657"/>
                    <a:pt x="7029" y="22000"/>
                    <a:pt x="12000" y="22000"/>
                  </a:cubicBezTo>
                  <a:cubicBezTo>
                    <a:pt x="16971" y="22000"/>
                    <a:pt x="21000" y="20657"/>
                    <a:pt x="21000" y="19000"/>
                  </a:cubicBezTo>
                  <a:lnTo>
                    <a:pt x="21000" y="5000"/>
                  </a:lnTo>
                </a:path>
              </a:pathLst>
            </a:custGeom>
            <a:noFill/>
            <a:ln w="41672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08" name="database-2"/>
            <p:cNvSpPr/>
            <p:nvPr/>
          </p:nvSpPr>
          <p:spPr>
            <a:xfrm>
              <a:off x="5143500" y="3838575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13657"/>
                    <a:pt x="7029" y="15000"/>
                    <a:pt x="12000" y="15000"/>
                  </a:cubicBezTo>
                  <a:cubicBezTo>
                    <a:pt x="16971" y="15000"/>
                    <a:pt x="21000" y="13657"/>
                    <a:pt x="21000" y="12000"/>
                  </a:cubicBezTo>
                </a:path>
              </a:pathLst>
            </a:custGeom>
            <a:noFill/>
            <a:ln w="41672" cap="rnd">
              <a:solidFill>
                <a:srgbClr val="304B63"/>
              </a:solidFill>
            </a:ln>
          </p:spPr>
        </p:sp>
      </p:grpSp>
      <p:grpSp>
        <p:nvGrpSpPr>
          <p:cNvPr id="200009" name="reused-workflow"/>
          <p:cNvGrpSpPr/>
          <p:nvPr/>
        </p:nvGrpSpPr>
        <p:grpSpPr>
          <ns1:xfrm xmlns:ns1="http://schemas.openxmlformats.org/drawingml/2006/main">
            <ns1:off x="7950000" y="1900000"/>
            <ns1:ext cx="220000" cy="220000"/>
            <ns1:chOff x="5143500" y="171450"/>
            <ns1:chExt cx="666750" cy="666750"/>
          </ns1:xfrm>
        </p:grpSpPr>
        <p:sp xmlns:a="http://schemas.openxmlformats.org/drawingml/2006/main">
          <p:nvSpPr>
            <p:cNvPr id="200010" name="workflow-0"/>
            <p:cNvSpPr/>
            <p:nvPr/>
          </p:nvSpPr>
          <p:spPr>
            <a:xfrm>
              <a:off x="5226844" y="254794"/>
              <a:ext cx="222250" cy="222250"/>
            </a:xfrm>
            <a:prstGeom prst="roundRect">
              <a:avLst/>
            </a:prstGeom>
            <a:noFill/>
            <a:ln w="41672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11" name="workflow-1"/>
            <p:cNvSpPr/>
            <p:nvPr/>
          </p:nvSpPr>
          <p:spPr>
            <a:xfrm>
              <a:off x="5143500" y="1714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7000" y="11000"/>
                  </a:moveTo>
                  <a:lnTo>
                    <a:pt x="7000" y="15000"/>
                  </a:lnTo>
                  <a:cubicBezTo>
                    <a:pt x="7000" y="16105"/>
                    <a:pt x="7895" y="17000"/>
                    <a:pt x="9000" y="17000"/>
                  </a:cubicBezTo>
                  <a:lnTo>
                    <a:pt x="13000" y="17000"/>
                  </a:lnTo>
                </a:path>
              </a:pathLst>
            </a:custGeom>
            <a:noFill/>
            <a:ln w="41672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12" name="workflow-2"/>
            <p:cNvSpPr/>
            <p:nvPr/>
          </p:nvSpPr>
          <p:spPr>
            <a:xfrm>
              <a:off x="5504656" y="532606"/>
              <a:ext cx="222250" cy="222250"/>
            </a:xfrm>
            <a:prstGeom prst="roundRect">
              <a:avLst/>
            </a:prstGeom>
            <a:noFill/>
            <a:ln w="41672" cap="rnd">
              <a:solidFill>
                <a:srgbClr val="304B63"/>
              </a:solidFill>
            </a:ln>
          </p:spPr>
        </p:sp>
      </p:grpSp>
      <p:grpSp>
        <p:nvGrpSpPr>
          <p:cNvPr id="200013" name="reused-refresh-cw"/>
          <p:cNvGrpSpPr/>
          <p:nvPr/>
        </p:nvGrpSpPr>
        <p:grpSpPr>
          <ns1:xfrm xmlns:ns1="http://schemas.openxmlformats.org/drawingml/2006/main">
            <ns1:off x="9100000" y="1900000"/>
            <ns1:ext cx="220000" cy="220000"/>
            <ns1:chOff x="1333500" y="5734050"/>
            <ns1:chExt cx="590550" cy="590550"/>
          </ns1:xfrm>
        </p:grpSpPr>
        <p:sp xmlns:a="http://schemas.openxmlformats.org/drawingml/2006/main">
          <p:nvSpPr>
            <p:cNvPr id="200014" name="refresh-cw-0"/>
            <p:cNvSpPr/>
            <p:nvPr/>
          </p:nvSpPr>
          <p:spPr>
            <a:xfrm>
              <a:off x="1333500" y="57340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7029"/>
                    <a:pt x="7029" y="3000"/>
                    <a:pt x="12000" y="3000"/>
                  </a:cubicBezTo>
                  <a:cubicBezTo>
                    <a:pt x="14516" y="3009"/>
                    <a:pt x="16931" y="3991"/>
                    <a:pt x="18740" y="5740"/>
                  </a:cubicBezTo>
                  <a:lnTo>
                    <a:pt x="21000" y="8000"/>
                  </a:lnTo>
                </a:path>
              </a:pathLst>
            </a:custGeom>
            <a:noFill/>
            <a:ln w="36909" cap="rnd">
              <a:solidFill>
                <a:srgbClr val="A65F48"/>
              </a:solidFill>
            </a:ln>
          </p:spPr>
        </p:sp>
        <p:sp xmlns:a="http://schemas.openxmlformats.org/drawingml/2006/main">
          <p:nvSpPr>
            <p:cNvPr id="200015" name="refresh-cw-1"/>
            <p:cNvSpPr/>
            <p:nvPr/>
          </p:nvSpPr>
          <p:spPr>
            <a:xfrm>
              <a:off x="1333500" y="57340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3000"/>
                  </a:moveTo>
                  <a:lnTo>
                    <a:pt x="21000" y="8000"/>
                  </a:lnTo>
                  <a:lnTo>
                    <a:pt x="16000" y="8000"/>
                  </a:lnTo>
                </a:path>
              </a:pathLst>
            </a:custGeom>
            <a:noFill/>
            <a:ln w="36909" cap="rnd">
              <a:solidFill>
                <a:srgbClr val="A65F48"/>
              </a:solidFill>
            </a:ln>
          </p:spPr>
        </p:sp>
        <p:sp xmlns:a="http://schemas.openxmlformats.org/drawingml/2006/main">
          <p:nvSpPr>
            <p:cNvPr id="200016" name="refresh-cw-2"/>
            <p:cNvSpPr/>
            <p:nvPr/>
          </p:nvSpPr>
          <p:spPr>
            <a:xfrm>
              <a:off x="1333500" y="57340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2000"/>
                  </a:moveTo>
                  <a:cubicBezTo>
                    <a:pt x="21000" y="16971"/>
                    <a:pt x="16971" y="21000"/>
                    <a:pt x="12000" y="21000"/>
                  </a:cubicBezTo>
                  <a:cubicBezTo>
                    <a:pt x="9484" y="20991"/>
                    <a:pt x="7069" y="20009"/>
                    <a:pt x="5260" y="18260"/>
                  </a:cubicBezTo>
                  <a:lnTo>
                    <a:pt x="3000" y="16000"/>
                  </a:lnTo>
                </a:path>
              </a:pathLst>
            </a:custGeom>
            <a:noFill/>
            <a:ln w="36909" cap="rnd">
              <a:solidFill>
                <a:srgbClr val="A65F48"/>
              </a:solidFill>
            </a:ln>
          </p:spPr>
        </p:sp>
        <p:sp xmlns:a="http://schemas.openxmlformats.org/drawingml/2006/main">
          <p:nvSpPr>
            <p:cNvPr id="200017" name="refresh-cw-3"/>
            <p:cNvSpPr/>
            <p:nvPr/>
          </p:nvSpPr>
          <p:spPr>
            <a:xfrm>
              <a:off x="1333500" y="57340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8000" y="16000"/>
                  </a:moveTo>
                  <a:lnTo>
                    <a:pt x="3000" y="16000"/>
                  </a:lnTo>
                  <a:lnTo>
                    <a:pt x="3000" y="21000"/>
                  </a:lnTo>
                </a:path>
              </a:pathLst>
            </a:custGeom>
            <a:noFill/>
            <a:ln w="36909" cap="rnd">
              <a:solidFill>
                <a:srgbClr val="A65F48"/>
              </a:solidFill>
            </a:ln>
          </p:spPr>
        </p:sp>
      </p:grpSp>
      <p:grpSp>
        <p:nvGrpSpPr>
          <p:cNvPr id="200018" name="reused-bot"/>
          <p:cNvGrpSpPr/>
          <p:nvPr/>
        </p:nvGrpSpPr>
        <p:grpSpPr>
          <ns1:xfrm xmlns:ns1="http://schemas.openxmlformats.org/drawingml/2006/main">
            <ns1:off x="1800000" y="3500000"/>
            <ns1:ext cx="330000" cy="330000"/>
            <ns1:chOff x="5067300" y="2190750"/>
            <ns1:chExt cx="838200" cy="838200"/>
          </ns1:xfrm>
        </p:grpSpPr>
        <p:sp xmlns:a="http://schemas.openxmlformats.org/drawingml/2006/main">
          <p:nvSpPr>
            <p:cNvPr id="200019" name="bot-0"/>
            <p:cNvSpPr/>
            <p:nvPr/>
          </p:nvSpPr>
          <p:spPr>
            <a:xfrm>
              <a:off x="5067300" y="219075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8000"/>
                  </a:moveTo>
                  <a:lnTo>
                    <a:pt x="12000" y="4000"/>
                  </a:lnTo>
                  <a:lnTo>
                    <a:pt x="8000" y="4000"/>
                  </a:lnTo>
                </a:path>
              </a:pathLst>
            </a:custGeom>
            <a:noFill/>
            <a:ln w="52388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20" name="bot-1"/>
            <p:cNvSpPr/>
            <p:nvPr/>
          </p:nvSpPr>
          <p:spPr>
            <a:xfrm>
              <a:off x="5207000" y="2470150"/>
              <a:ext cx="558800" cy="419100"/>
            </a:xfrm>
            <a:prstGeom prst="roundRect">
              <a:avLst/>
            </a:prstGeom>
            <a:noFill/>
            <a:ln w="52388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21" name="bot-2"/>
            <p:cNvSpPr/>
            <p:nvPr/>
          </p:nvSpPr>
          <p:spPr>
            <a:xfrm>
              <a:off x="5067300" y="219075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" y="14000"/>
                  </a:moveTo>
                  <a:lnTo>
                    <a:pt x="4000" y="14000"/>
                  </a:lnTo>
                </a:path>
              </a:pathLst>
            </a:custGeom>
            <a:noFill/>
            <a:ln w="52388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22" name="bot-3"/>
            <p:cNvSpPr/>
            <p:nvPr/>
          </p:nvSpPr>
          <p:spPr>
            <a:xfrm>
              <a:off x="5067300" y="219075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4000"/>
                  </a:moveTo>
                  <a:lnTo>
                    <a:pt x="22000" y="14000"/>
                  </a:lnTo>
                </a:path>
              </a:pathLst>
            </a:custGeom>
            <a:noFill/>
            <a:ln w="52388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23" name="bot-4"/>
            <p:cNvSpPr/>
            <p:nvPr/>
          </p:nvSpPr>
          <p:spPr>
            <a:xfrm>
              <a:off x="5067300" y="219075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3000"/>
                  </a:moveTo>
                  <a:lnTo>
                    <a:pt x="15000" y="15000"/>
                  </a:lnTo>
                </a:path>
              </a:pathLst>
            </a:custGeom>
            <a:noFill/>
            <a:ln w="52388" cap="rnd">
              <a:solidFill>
                <a:srgbClr val="304B63"/>
              </a:solidFill>
            </a:ln>
          </p:spPr>
        </p:sp>
        <p:sp xmlns:a="http://schemas.openxmlformats.org/drawingml/2006/main">
          <p:nvSpPr>
            <p:cNvPr id="200024" name="bot-5"/>
            <p:cNvSpPr/>
            <p:nvPr/>
          </p:nvSpPr>
          <p:spPr>
            <a:xfrm>
              <a:off x="5067300" y="219075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13000"/>
                  </a:moveTo>
                  <a:lnTo>
                    <a:pt x="9000" y="15000"/>
                  </a:lnTo>
                </a:path>
              </a:pathLst>
            </a:custGeom>
            <a:noFill/>
            <a:ln w="52388" cap="rnd">
              <a:solidFill>
                <a:srgbClr val="304B63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