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Figure 13 — ungroup into analytical stages"/>
          <p:cNvGrpSpPr/>
          <p:nvPr/>
        </p:nvGrpSpPr>
        <p:grpSpPr>
          <a:xfrm>
            <a:off x="238125" y="210179"/>
            <a:ext cx="16563975" cy="7905121"/>
            <a:chOff x="238125" y="210179"/>
            <a:chExt cx="16563975" cy="7905121"/>
          </a:xfrm>
        </p:grpSpPr>
        <p:grpSp>
          <p:nvGrpSpPr>
            <p:cNvPr id="96" name="Question and series"/>
            <p:cNvGrpSpPr/>
            <p:nvPr/>
          </p:nvGrpSpPr>
          <p:grpSpPr>
            <a:xfrm>
              <a:off x="285750" y="228600"/>
              <a:ext cx="4267200" cy="4295775"/>
              <a:chOff x="285750" y="228600"/>
              <a:chExt cx="4267200" cy="4295775"/>
            </a:xfrm>
          </p:grpSpPr>
          <p:sp>
            <p:nvSpPr>
              <p:cNvPr id="10" name="Path 10"/>
              <p:cNvSpPr/>
              <p:nvPr/>
            </p:nvSpPr>
            <p:spPr>
              <a:xfrm>
                <a:off x="552450" y="4219575"/>
                <a:ext cx="3286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" name="Path 11"/>
              <p:cNvSpPr/>
              <p:nvPr/>
            </p:nvSpPr>
            <p:spPr>
              <a:xfrm>
                <a:off x="55245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" name="Path 12"/>
              <p:cNvSpPr/>
              <p:nvPr/>
            </p:nvSpPr>
            <p:spPr>
              <a:xfrm>
                <a:off x="552450" y="2661404"/>
                <a:ext cx="3286125" cy="12600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" name="Path 13"/>
              <p:cNvSpPr/>
              <p:nvPr/>
            </p:nvSpPr>
            <p:spPr>
              <a:xfrm>
                <a:off x="4048125" y="2771775"/>
                <a:ext cx="504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63" name="question-bubble"/>
              <p:cNvPicPr/>
              <p:nvPr/>
            </p:nvPicPr>
            <p:blipFill>
              <a:blip r:embed="rId4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31893" y="1028700"/>
                <a:ext cx="498288" cy="438150"/>
              </a:xfrm>
              <a:prstGeom prst="rect">
                <a:avLst/>
              </a:prstGeom>
            </p:spPr>
          </p:pic>
          <p:sp>
            <p:nvSpPr>
              <p:cNvPr id="71" name="TextBox 71"/>
              <p:cNvSpPr txBox="1"/>
              <p:nvPr/>
            </p:nvSpPr>
            <p:spPr>
              <a:xfrm>
                <a:off x="285750" y="228600"/>
                <a:ext cx="39528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1. Question and series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1123950" y="876300"/>
                <a:ext cx="28575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3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Where did the</a:t>
                </a:r>
                <a:endParaRPr lang="zh-CN" sz="2300">
                  <a:latin typeface="Arial"/>
                </a:endParaRPr>
              </a:p>
              <a:p>
                <a:pPr algn="l"/>
                <a:r>
                  <a:rPr lang="zh-CN" sz="23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level shift occur?</a:t>
                </a:r>
                <a:endParaRPr lang="zh-CN" sz="2300">
                  <a:latin typeface="Arial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1795462" y="4248150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Arial"/>
                </a:endParaRPr>
              </a:p>
            </p:txBody>
          </p:sp>
        </p:grpSp>
        <p:grpSp>
          <p:nvGrpSpPr>
            <p:cNvPr id="97" name="Numerical tools"/>
            <p:cNvGrpSpPr/>
            <p:nvPr/>
          </p:nvGrpSpPr>
          <p:grpSpPr>
            <a:xfrm>
              <a:off x="4676775" y="210179"/>
              <a:ext cx="4229100" cy="4952371"/>
              <a:chOff x="4676775" y="210179"/>
              <a:chExt cx="4229100" cy="4952371"/>
            </a:xfrm>
          </p:grpSpPr>
          <p:sp>
            <p:nvSpPr>
              <p:cNvPr id="2" name="Rect 2"/>
              <p:cNvSpPr/>
              <p:nvPr/>
            </p:nvSpPr>
            <p:spPr>
              <a:xfrm>
                <a:off x="6481961" y="1400175"/>
                <a:ext cx="199430" cy="128587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" name="Rect 3"/>
              <p:cNvSpPr/>
              <p:nvPr/>
            </p:nvSpPr>
            <p:spPr>
              <a:xfrm>
                <a:off x="6481961" y="3571875"/>
                <a:ext cx="199430" cy="128587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4" name="Path 14"/>
              <p:cNvSpPr/>
              <p:nvPr/>
            </p:nvSpPr>
            <p:spPr>
              <a:xfrm>
                <a:off x="4953000" y="2686050"/>
                <a:ext cx="3190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" name="Path 15"/>
              <p:cNvSpPr/>
              <p:nvPr/>
            </p:nvSpPr>
            <p:spPr>
              <a:xfrm>
                <a:off x="4953000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6" name="Path 16"/>
              <p:cNvSpPr/>
              <p:nvPr/>
            </p:nvSpPr>
            <p:spPr>
              <a:xfrm>
                <a:off x="4953000" y="1723762"/>
                <a:ext cx="3190875" cy="75982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6481961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8" name="Path 18"/>
              <p:cNvSpPr/>
              <p:nvPr/>
            </p:nvSpPr>
            <p:spPr>
              <a:xfrm>
                <a:off x="6681391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9" name="Path 19"/>
              <p:cNvSpPr/>
              <p:nvPr/>
            </p:nvSpPr>
            <p:spPr>
              <a:xfrm>
                <a:off x="4953000" y="4857750"/>
                <a:ext cx="3190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0" name="Path 20"/>
              <p:cNvSpPr/>
              <p:nvPr/>
            </p:nvSpPr>
            <p:spPr>
              <a:xfrm>
                <a:off x="4953000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1" name="Path 21"/>
              <p:cNvSpPr/>
              <p:nvPr/>
            </p:nvSpPr>
            <p:spPr>
              <a:xfrm>
                <a:off x="4953000" y="3895462"/>
                <a:ext cx="3190875" cy="75982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/>
              <a:lstStyle/>
              <a:p/>
            </p:txBody>
          </p:sp>
          <p:sp>
            <p:nvSpPr>
              <p:cNvPr id="22" name="Path 22"/>
              <p:cNvSpPr/>
              <p:nvPr/>
            </p:nvSpPr>
            <p:spPr>
              <a:xfrm>
                <a:off x="4953000" y="3958190"/>
                <a:ext cx="3190875" cy="63022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068"/>
                    </a:moveTo>
                    <a:lnTo>
                      <a:pt x="450" y="20829"/>
                    </a:lnTo>
                    <a:lnTo>
                      <a:pt x="900" y="20518"/>
                    </a:lnTo>
                    <a:lnTo>
                      <a:pt x="1350" y="21250"/>
                    </a:lnTo>
                    <a:lnTo>
                      <a:pt x="1800" y="21385"/>
                    </a:lnTo>
                    <a:lnTo>
                      <a:pt x="2250" y="20470"/>
                    </a:lnTo>
                    <a:lnTo>
                      <a:pt x="2700" y="21223"/>
                    </a:lnTo>
                    <a:lnTo>
                      <a:pt x="3150" y="21453"/>
                    </a:lnTo>
                    <a:lnTo>
                      <a:pt x="3600" y="20443"/>
                    </a:lnTo>
                    <a:lnTo>
                      <a:pt x="4050" y="21176"/>
                    </a:lnTo>
                    <a:lnTo>
                      <a:pt x="4500" y="21515"/>
                    </a:lnTo>
                    <a:lnTo>
                      <a:pt x="4950" y="20441"/>
                    </a:lnTo>
                    <a:lnTo>
                      <a:pt x="5400" y="21117"/>
                    </a:lnTo>
                    <a:lnTo>
                      <a:pt x="5850" y="21564"/>
                    </a:lnTo>
                    <a:lnTo>
                      <a:pt x="6300" y="20462"/>
                    </a:lnTo>
                    <a:lnTo>
                      <a:pt x="6750" y="21052"/>
                    </a:lnTo>
                    <a:lnTo>
                      <a:pt x="7200" y="21593"/>
                    </a:lnTo>
                    <a:lnTo>
                      <a:pt x="7650" y="20504"/>
                    </a:lnTo>
                    <a:lnTo>
                      <a:pt x="8100" y="20989"/>
                    </a:lnTo>
                    <a:lnTo>
                      <a:pt x="8550" y="21600"/>
                    </a:lnTo>
                    <a:lnTo>
                      <a:pt x="9000" y="20563"/>
                    </a:lnTo>
                    <a:lnTo>
                      <a:pt x="9450" y="20937"/>
                    </a:lnTo>
                    <a:lnTo>
                      <a:pt x="9900" y="19467"/>
                    </a:lnTo>
                    <a:lnTo>
                      <a:pt x="10350" y="14362"/>
                    </a:lnTo>
                    <a:lnTo>
                      <a:pt x="10800" y="10480"/>
                    </a:lnTo>
                    <a:lnTo>
                      <a:pt x="11250" y="6969"/>
                    </a:lnTo>
                    <a:lnTo>
                      <a:pt x="11700" y="1974"/>
                    </a:lnTo>
                    <a:lnTo>
                      <a:pt x="12150" y="123"/>
                    </a:lnTo>
                    <a:lnTo>
                      <a:pt x="12600" y="721"/>
                    </a:lnTo>
                    <a:lnTo>
                      <a:pt x="13050" y="0"/>
                    </a:lnTo>
                    <a:lnTo>
                      <a:pt x="13500" y="132"/>
                    </a:lnTo>
                    <a:lnTo>
                      <a:pt x="13950" y="649"/>
                    </a:lnTo>
                    <a:lnTo>
                      <a:pt x="14400" y="49"/>
                    </a:lnTo>
                    <a:lnTo>
                      <a:pt x="14850" y="165"/>
                    </a:lnTo>
                    <a:lnTo>
                      <a:pt x="15300" y="572"/>
                    </a:lnTo>
                    <a:lnTo>
                      <a:pt x="15750" y="79"/>
                    </a:lnTo>
                    <a:lnTo>
                      <a:pt x="16200" y="219"/>
                    </a:lnTo>
                    <a:lnTo>
                      <a:pt x="16650" y="498"/>
                    </a:lnTo>
                    <a:lnTo>
                      <a:pt x="17100" y="86"/>
                    </a:lnTo>
                    <a:lnTo>
                      <a:pt x="17550" y="288"/>
                    </a:lnTo>
                    <a:lnTo>
                      <a:pt x="18000" y="434"/>
                    </a:lnTo>
                    <a:lnTo>
                      <a:pt x="18450" y="70"/>
                    </a:lnTo>
                    <a:lnTo>
                      <a:pt x="18900" y="365"/>
                    </a:lnTo>
                    <a:lnTo>
                      <a:pt x="19350" y="387"/>
                    </a:lnTo>
                    <a:lnTo>
                      <a:pt x="19800" y="30"/>
                    </a:lnTo>
                    <a:lnTo>
                      <a:pt x="20250" y="444"/>
                    </a:lnTo>
                    <a:lnTo>
                      <a:pt x="20700" y="361"/>
                    </a:lnTo>
                    <a:lnTo>
                      <a:pt x="21150" y="44"/>
                    </a:lnTo>
                    <a:lnTo>
                      <a:pt x="21600" y="237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3" name="Path 23"/>
              <p:cNvSpPr/>
              <p:nvPr/>
            </p:nvSpPr>
            <p:spPr>
              <a:xfrm>
                <a:off x="6481961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4" name="Path 24"/>
              <p:cNvSpPr/>
              <p:nvPr/>
            </p:nvSpPr>
            <p:spPr>
              <a:xfrm>
                <a:off x="6681391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8334375" y="2038350"/>
                <a:ext cx="228600" cy="2181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8562975" y="2905125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286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61" name="tool-wrench"/>
              <p:cNvPicPr/>
              <p:nvPr/>
            </p:nvPicPr>
            <p:blipFill>
              <a:blip r:embed="rId2">
                <a:duotone>
                  <a:srgbClr val="B9862E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676775" y="210179"/>
                <a:ext cx="438150" cy="446417"/>
              </a:xfrm>
              <a:prstGeom prst="rect">
                <a:avLst/>
              </a:prstGeom>
            </p:spPr>
          </p:pic>
          <p:sp>
            <p:nvSpPr>
              <p:cNvPr id="72" name="TextBox 72"/>
              <p:cNvSpPr txBox="1"/>
              <p:nvPr/>
            </p:nvSpPr>
            <p:spPr>
              <a:xfrm>
                <a:off x="5257800" y="228600"/>
                <a:ext cx="3238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2. Numerical tools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4933950" y="914400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Change point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148388" y="2714625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Arial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4933950" y="3114675"/>
                <a:ext cx="2476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Trend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148388" y="4886325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Arial"/>
                </a:endParaRPr>
              </a:p>
            </p:txBody>
          </p:sp>
        </p:grpSp>
        <p:grpSp>
          <p:nvGrpSpPr>
            <p:cNvPr id="98" name="Evidence review"/>
            <p:cNvGrpSpPr/>
            <p:nvPr/>
          </p:nvGrpSpPr>
          <p:grpSpPr>
            <a:xfrm>
              <a:off x="8953500" y="228600"/>
              <a:ext cx="4305300" cy="4695825"/>
              <a:chOff x="8953500" y="228600"/>
              <a:chExt cx="4305300" cy="4695825"/>
            </a:xfrm>
          </p:grpSpPr>
          <p:sp>
            <p:nvSpPr>
              <p:cNvPr id="4" name="Rect 4"/>
              <p:cNvSpPr/>
              <p:nvPr/>
            </p:nvSpPr>
            <p:spPr>
              <a:xfrm>
                <a:off x="9696450" y="1838325"/>
                <a:ext cx="2038350" cy="1619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" name="Rect 5"/>
              <p:cNvSpPr/>
              <p:nvPr/>
            </p:nvSpPr>
            <p:spPr>
              <a:xfrm>
                <a:off x="9824641" y="2800350"/>
                <a:ext cx="101203" cy="8096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6" name="Rect 6"/>
              <p:cNvSpPr/>
              <p:nvPr/>
            </p:nvSpPr>
            <p:spPr>
              <a:xfrm>
                <a:off x="9824641" y="4105275"/>
                <a:ext cx="101203" cy="8096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9696450" y="1743075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8" name="Path 28"/>
              <p:cNvSpPr/>
              <p:nvPr/>
            </p:nvSpPr>
            <p:spPr>
              <a:xfrm>
                <a:off x="11734800" y="1743075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8982075" y="2562225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9048750" y="360997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9048750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2" name="Path 32"/>
              <p:cNvSpPr/>
              <p:nvPr/>
            </p:nvSpPr>
            <p:spPr>
              <a:xfrm>
                <a:off x="9048750" y="3024828"/>
                <a:ext cx="1619250" cy="44322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9824641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9925844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8982075" y="386715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6" name="Path 36"/>
              <p:cNvSpPr/>
              <p:nvPr/>
            </p:nvSpPr>
            <p:spPr>
              <a:xfrm>
                <a:off x="9048750" y="4914900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9048750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9048750" y="4329753"/>
                <a:ext cx="1619250" cy="44322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9048750" y="4366344"/>
                <a:ext cx="1619250" cy="3676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068"/>
                    </a:moveTo>
                    <a:lnTo>
                      <a:pt x="450" y="20829"/>
                    </a:lnTo>
                    <a:lnTo>
                      <a:pt x="900" y="20518"/>
                    </a:lnTo>
                    <a:lnTo>
                      <a:pt x="1350" y="21250"/>
                    </a:lnTo>
                    <a:lnTo>
                      <a:pt x="1800" y="21385"/>
                    </a:lnTo>
                    <a:lnTo>
                      <a:pt x="2250" y="20470"/>
                    </a:lnTo>
                    <a:lnTo>
                      <a:pt x="2700" y="21223"/>
                    </a:lnTo>
                    <a:lnTo>
                      <a:pt x="3150" y="21453"/>
                    </a:lnTo>
                    <a:lnTo>
                      <a:pt x="3600" y="20443"/>
                    </a:lnTo>
                    <a:lnTo>
                      <a:pt x="4050" y="21176"/>
                    </a:lnTo>
                    <a:lnTo>
                      <a:pt x="4500" y="21515"/>
                    </a:lnTo>
                    <a:lnTo>
                      <a:pt x="4950" y="20441"/>
                    </a:lnTo>
                    <a:lnTo>
                      <a:pt x="5400" y="21117"/>
                    </a:lnTo>
                    <a:lnTo>
                      <a:pt x="5850" y="21564"/>
                    </a:lnTo>
                    <a:lnTo>
                      <a:pt x="6300" y="20462"/>
                    </a:lnTo>
                    <a:lnTo>
                      <a:pt x="6750" y="21052"/>
                    </a:lnTo>
                    <a:lnTo>
                      <a:pt x="7200" y="21593"/>
                    </a:lnTo>
                    <a:lnTo>
                      <a:pt x="7650" y="20504"/>
                    </a:lnTo>
                    <a:lnTo>
                      <a:pt x="8100" y="20989"/>
                    </a:lnTo>
                    <a:lnTo>
                      <a:pt x="8550" y="21600"/>
                    </a:lnTo>
                    <a:lnTo>
                      <a:pt x="9000" y="20563"/>
                    </a:lnTo>
                    <a:lnTo>
                      <a:pt x="9450" y="20937"/>
                    </a:lnTo>
                    <a:lnTo>
                      <a:pt x="9900" y="19467"/>
                    </a:lnTo>
                    <a:lnTo>
                      <a:pt x="10350" y="14362"/>
                    </a:lnTo>
                    <a:lnTo>
                      <a:pt x="10800" y="10480"/>
                    </a:lnTo>
                    <a:lnTo>
                      <a:pt x="11250" y="6969"/>
                    </a:lnTo>
                    <a:lnTo>
                      <a:pt x="11700" y="1974"/>
                    </a:lnTo>
                    <a:lnTo>
                      <a:pt x="12150" y="123"/>
                    </a:lnTo>
                    <a:lnTo>
                      <a:pt x="12600" y="721"/>
                    </a:lnTo>
                    <a:lnTo>
                      <a:pt x="13050" y="0"/>
                    </a:lnTo>
                    <a:lnTo>
                      <a:pt x="13500" y="132"/>
                    </a:lnTo>
                    <a:lnTo>
                      <a:pt x="13950" y="649"/>
                    </a:lnTo>
                    <a:lnTo>
                      <a:pt x="14400" y="49"/>
                    </a:lnTo>
                    <a:lnTo>
                      <a:pt x="14850" y="165"/>
                    </a:lnTo>
                    <a:lnTo>
                      <a:pt x="15300" y="572"/>
                    </a:lnTo>
                    <a:lnTo>
                      <a:pt x="15750" y="79"/>
                    </a:lnTo>
                    <a:lnTo>
                      <a:pt x="16200" y="219"/>
                    </a:lnTo>
                    <a:lnTo>
                      <a:pt x="16650" y="498"/>
                    </a:lnTo>
                    <a:lnTo>
                      <a:pt x="17100" y="86"/>
                    </a:lnTo>
                    <a:lnTo>
                      <a:pt x="17550" y="288"/>
                    </a:lnTo>
                    <a:lnTo>
                      <a:pt x="18000" y="434"/>
                    </a:lnTo>
                    <a:lnTo>
                      <a:pt x="18450" y="70"/>
                    </a:lnTo>
                    <a:lnTo>
                      <a:pt x="18900" y="365"/>
                    </a:lnTo>
                    <a:lnTo>
                      <a:pt x="19350" y="387"/>
                    </a:lnTo>
                    <a:lnTo>
                      <a:pt x="19800" y="30"/>
                    </a:lnTo>
                    <a:lnTo>
                      <a:pt x="20250" y="444"/>
                    </a:lnTo>
                    <a:lnTo>
                      <a:pt x="20700" y="361"/>
                    </a:lnTo>
                    <a:lnTo>
                      <a:pt x="21150" y="44"/>
                    </a:lnTo>
                    <a:lnTo>
                      <a:pt x="21600" y="237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0" name="Path 40"/>
              <p:cNvSpPr/>
              <p:nvPr/>
            </p:nvSpPr>
            <p:spPr>
              <a:xfrm>
                <a:off x="9824641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1" name="Path 41"/>
              <p:cNvSpPr/>
              <p:nvPr/>
            </p:nvSpPr>
            <p:spPr>
              <a:xfrm>
                <a:off x="9925844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2" name="Path 42"/>
              <p:cNvSpPr/>
              <p:nvPr/>
            </p:nvSpPr>
            <p:spPr>
              <a:xfrm>
                <a:off x="12811125" y="290512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62" name="review-magnifier"/>
              <p:cNvPicPr/>
              <p:nvPr/>
            </p:nvPicPr>
            <p:blipFill>
              <a:blip r:embed="rId3">
                <a:duotone>
                  <a:srgbClr val="258B79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8953500" y="228600"/>
                <a:ext cx="409575" cy="409575"/>
              </a:xfrm>
              <a:prstGeom prst="rect">
                <a:avLst/>
              </a:prstGeom>
            </p:spPr>
          </p:pic>
          <p:sp>
            <p:nvSpPr>
              <p:cNvPr id="73" name="TextBox 73"/>
              <p:cNvSpPr txBox="1"/>
              <p:nvPr/>
            </p:nvSpPr>
            <p:spPr>
              <a:xfrm>
                <a:off x="9477375" y="228600"/>
                <a:ext cx="31432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3. Evidence review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048750" y="981075"/>
                <a:ext cx="34290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2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Intent: locate change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048750" y="1371600"/>
                <a:ext cx="32385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Required evidence</a:t>
                </a:r>
                <a:endParaRPr lang="zh-CN" sz="1848">
                  <a:latin typeface="Arial"/>
                </a:endParaRP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239250" y="2105025"/>
                <a:ext cx="2952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supported interval</a:t>
                </a:r>
                <a:endParaRPr lang="zh-CN" sz="1848">
                  <a:latin typeface="Arial"/>
                </a:endParaRP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0858500" y="2914650"/>
                <a:ext cx="195262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Observed interval</a:t>
                </a:r>
                <a:endParaRPr lang="zh-CN" sz="1848">
                  <a:latin typeface="Arial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0858500" y="4229100"/>
                <a:ext cx="1952625" cy="619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84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Trend agreement</a:t>
                </a:r>
                <a:endParaRPr lang="zh-CN" sz="1848">
                  <a:latin typeface="Arial"/>
                </a:endParaRPr>
              </a:p>
            </p:txBody>
          </p:sp>
        </p:grpSp>
        <p:grpSp>
          <p:nvGrpSpPr>
            <p:cNvPr id="99" name="Grounded answer"/>
            <p:cNvGrpSpPr/>
            <p:nvPr/>
          </p:nvGrpSpPr>
          <p:grpSpPr>
            <a:xfrm>
              <a:off x="13373100" y="228600"/>
              <a:ext cx="3429000" cy="4295775"/>
              <a:chOff x="13373100" y="228600"/>
              <a:chExt cx="3429000" cy="4295775"/>
            </a:xfrm>
          </p:grpSpPr>
          <p:sp>
            <p:nvSpPr>
              <p:cNvPr id="7" name="Rect 7"/>
              <p:cNvSpPr/>
              <p:nvPr/>
            </p:nvSpPr>
            <p:spPr>
              <a:xfrm>
                <a:off x="15008820" y="2181225"/>
                <a:ext cx="193477" cy="2038350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3" name="Path 43"/>
              <p:cNvSpPr/>
              <p:nvPr/>
            </p:nvSpPr>
            <p:spPr>
              <a:xfrm>
                <a:off x="13525500" y="4219575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4" name="Path 44"/>
              <p:cNvSpPr/>
              <p:nvPr/>
            </p:nvSpPr>
            <p:spPr>
              <a:xfrm>
                <a:off x="1352550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5" name="Path 45"/>
              <p:cNvSpPr/>
              <p:nvPr/>
            </p:nvSpPr>
            <p:spPr>
              <a:xfrm>
                <a:off x="13525500" y="2661404"/>
                <a:ext cx="3095625" cy="12600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6" name="Path 46"/>
              <p:cNvSpPr/>
              <p:nvPr/>
            </p:nvSpPr>
            <p:spPr>
              <a:xfrm>
                <a:off x="1500882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7" name="Path 47"/>
              <p:cNvSpPr/>
              <p:nvPr/>
            </p:nvSpPr>
            <p:spPr>
              <a:xfrm>
                <a:off x="15202297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64" name="response-bubble"/>
              <p:cNvPicPr/>
              <p:nvPr/>
            </p:nvPicPr>
            <p:blipFill>
              <a:blip r:embed="rId5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492529" y="1028700"/>
                <a:ext cx="465992" cy="457200"/>
              </a:xfrm>
              <a:prstGeom prst="rect">
                <a:avLst/>
              </a:prstGeom>
            </p:spPr>
          </p:pic>
          <p:sp>
            <p:nvSpPr>
              <p:cNvPr id="74" name="TextBox 74"/>
              <p:cNvSpPr txBox="1"/>
              <p:nvPr/>
            </p:nvSpPr>
            <p:spPr>
              <a:xfrm>
                <a:off x="13373100" y="22860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4. Grounded answer</a:t>
                </a:r>
                <a:endParaRPr lang="zh-CN" sz="2200">
                  <a:latin typeface="Comic Sans MS"/>
                </a:endParaRP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14135100" y="885825"/>
                <a:ext cx="2571750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Change in the</a:t>
                </a:r>
                <a:endParaRPr lang="zh-CN" sz="2024">
                  <a:latin typeface="Arial"/>
                </a:endParaRPr>
              </a:p>
              <a:p>
                <a:pPr algn="l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highlighted interval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4673262" y="4248150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Time</a:t>
                </a:r>
                <a:endParaRPr lang="zh-CN" sz="1672">
                  <a:latin typeface="Arial"/>
                </a:endParaRPr>
              </a:p>
            </p:txBody>
          </p:sp>
        </p:grpSp>
        <p:grpSp>
          <p:nvGrpSpPr>
            <p:cNvPr id="100" name="Series and window"/>
            <p:cNvGrpSpPr/>
            <p:nvPr/>
          </p:nvGrpSpPr>
          <p:grpSpPr>
            <a:xfrm>
              <a:off x="384362" y="6591300"/>
              <a:ext cx="4168588" cy="1438275"/>
              <a:chOff x="384362" y="6591300"/>
              <a:chExt cx="4168588" cy="1438275"/>
            </a:xfrm>
          </p:grpSpPr>
          <p:sp>
            <p:nvSpPr>
              <p:cNvPr id="8" name="Rect 8"/>
              <p:cNvSpPr/>
              <p:nvPr/>
            </p:nvSpPr>
            <p:spPr>
              <a:xfrm>
                <a:off x="2127052" y="7172325"/>
                <a:ext cx="205383" cy="847725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0" name="Path 50"/>
              <p:cNvSpPr/>
              <p:nvPr/>
            </p:nvSpPr>
            <p:spPr>
              <a:xfrm>
                <a:off x="552450" y="8020050"/>
                <a:ext cx="3286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1" name="Path 51"/>
              <p:cNvSpPr/>
              <p:nvPr/>
            </p:nvSpPr>
            <p:spPr>
              <a:xfrm>
                <a:off x="552450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2" name="Path 52"/>
              <p:cNvSpPr/>
              <p:nvPr/>
            </p:nvSpPr>
            <p:spPr>
              <a:xfrm>
                <a:off x="552450" y="7404731"/>
                <a:ext cx="3286125" cy="46855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3" name="Path 53"/>
              <p:cNvSpPr/>
              <p:nvPr/>
            </p:nvSpPr>
            <p:spPr>
              <a:xfrm>
                <a:off x="2127052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4" name="Path 54"/>
              <p:cNvSpPr/>
              <p:nvPr/>
            </p:nvSpPr>
            <p:spPr>
              <a:xfrm>
                <a:off x="2332434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5" name="Path 55"/>
              <p:cNvSpPr/>
              <p:nvPr/>
            </p:nvSpPr>
            <p:spPr>
              <a:xfrm>
                <a:off x="4048125" y="7496175"/>
                <a:ext cx="504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65" name="series-storage"/>
              <p:cNvPicPr/>
              <p:nvPr/>
            </p:nvPicPr>
            <p:blipFill>
              <a:blip r:embed="rId6">
                <a:duotone>
                  <a:srgbClr val="258B79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84362" y="6591300"/>
                <a:ext cx="412376" cy="438150"/>
              </a:xfrm>
              <a:prstGeom prst="rect">
                <a:avLst/>
              </a:prstGeom>
            </p:spPr>
          </p:pic>
          <p:sp>
            <p:nvSpPr>
              <p:cNvPr id="90" name="TextBox 90"/>
              <p:cNvSpPr txBox="1"/>
              <p:nvPr/>
            </p:nvSpPr>
            <p:spPr>
              <a:xfrm>
                <a:off x="923925" y="6638925"/>
                <a:ext cx="285750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and window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101" name="Operation and arguments"/>
            <p:cNvGrpSpPr/>
            <p:nvPr/>
          </p:nvGrpSpPr>
          <p:grpSpPr>
            <a:xfrm>
              <a:off x="4713684" y="6581775"/>
              <a:ext cx="4163616" cy="1533525"/>
              <a:chOff x="4713684" y="6581775"/>
              <a:chExt cx="4163616" cy="1533525"/>
            </a:xfrm>
          </p:grpSpPr>
          <p:sp>
            <p:nvSpPr>
              <p:cNvPr id="56" name="Path 56"/>
              <p:cNvSpPr/>
              <p:nvPr/>
            </p:nvSpPr>
            <p:spPr>
              <a:xfrm>
                <a:off x="8429625" y="749617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66" name="operation-code"/>
              <p:cNvPicPr/>
              <p:nvPr/>
            </p:nvPicPr>
            <p:blipFill>
              <a:blip r:embed="rId7">
                <a:duotone>
                  <a:srgbClr val="7A659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713684" y="6581775"/>
                <a:ext cx="383381" cy="466725"/>
              </a:xfrm>
              <a:prstGeom prst="rect">
                <a:avLst/>
              </a:prstGeom>
            </p:spPr>
          </p:pic>
          <p:graphicFrame>
            <p:nvGraphicFramePr>
              <p:cNvPr id="70" name="Table 70"/>
              <p:cNvGraphicFramePr/>
              <p:nvPr/>
            </p:nvGraphicFramePr>
            <p:xfrm>
              <a:off x="4933950" y="7124700"/>
              <a:ext cx="3305175" cy="990600"/>
            </p:xfrm>
            <a:graphic>
              <a:graphicData uri="http://schemas.openxmlformats.org/drawingml/2006/table">
                <a:tbl>
                  <a:tblPr/>
                  <a:tblGrid>
                    <a:gridCol w="1537291"/>
                    <a:gridCol w="1767884"/>
                  </a:tblGrid>
                  <a:tr h="4953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070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Operation</a:t>
                          </a:r>
                          <a:endParaRPr lang="zh-CN" sz="207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Detect</a:t>
                          </a:r>
                          <a:endParaRPr lang="zh-CN" sz="210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953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070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Arguments</a:t>
                          </a:r>
                          <a:endParaRPr lang="zh-CN" sz="207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590">
                              <a:solidFill>
                                <a:srgbClr val="222222"/>
                              </a:solidFill>
                              <a:latin typeface="Arial"/>
                              <a:ea typeface="Times New Roman"/>
                              <a:cs typeface="Times New Roman"/>
                            </a:rPr>
                            <a:t>Series, window</a:t>
                          </a:r>
                          <a:endParaRPr lang="zh-CN" sz="159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8D4"/>
                          </a:solidFill>
                        </a:lnL>
                        <a:lnR w="7620">
                          <a:solidFill>
                            <a:srgbClr val="D8D8D4"/>
                          </a:solidFill>
                        </a:lnR>
                        <a:lnT w="7620">
                          <a:solidFill>
                            <a:srgbClr val="D8D8D4"/>
                          </a:solidFill>
                        </a:lnT>
                        <a:lnB w="7620">
                          <a:solidFill>
                            <a:srgbClr val="D8D8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91" name="TextBox 91"/>
              <p:cNvSpPr txBox="1"/>
              <p:nvPr/>
            </p:nvSpPr>
            <p:spPr>
              <a:xfrm>
                <a:off x="5238750" y="6638925"/>
                <a:ext cx="3333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Operation and arguments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102" name="Numerical output"/>
            <p:cNvGrpSpPr/>
            <p:nvPr/>
          </p:nvGrpSpPr>
          <p:grpSpPr>
            <a:xfrm>
              <a:off x="9039225" y="6601396"/>
              <a:ext cx="4219575" cy="1390079"/>
              <a:chOff x="9039225" y="6601396"/>
              <a:chExt cx="4219575" cy="1390079"/>
            </a:xfrm>
          </p:grpSpPr>
          <p:sp>
            <p:nvSpPr>
              <p:cNvPr id="9" name="Rect 9"/>
              <p:cNvSpPr/>
              <p:nvPr/>
            </p:nvSpPr>
            <p:spPr>
              <a:xfrm>
                <a:off x="10729516" y="7219950"/>
                <a:ext cx="215503" cy="152400"/>
              </a:xfrm>
              <a:prstGeom prst="rect">
                <a:avLst/>
              </a:prstGeom>
              <a:gradFill rotWithShape="1">
                <a:gsLst>
                  <a:gs pos="0">
                    <a:srgbClr val="F8FAFB"/>
                  </a:gs>
                  <a:gs pos="100000">
                    <a:srgbClr val="DCE5EB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7" name="Path 57"/>
              <p:cNvSpPr/>
              <p:nvPr/>
            </p:nvSpPr>
            <p:spPr>
              <a:xfrm>
                <a:off x="9077325" y="7296150"/>
                <a:ext cx="3448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8" name="Path 58"/>
              <p:cNvSpPr/>
              <p:nvPr/>
            </p:nvSpPr>
            <p:spPr>
              <a:xfrm>
                <a:off x="10729516" y="7105650"/>
                <a:ext cx="9525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9" name="Path 59"/>
              <p:cNvSpPr/>
              <p:nvPr/>
            </p:nvSpPr>
            <p:spPr>
              <a:xfrm>
                <a:off x="10945019" y="7105650"/>
                <a:ext cx="9525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304B63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60" name="Path 60"/>
              <p:cNvSpPr/>
              <p:nvPr/>
            </p:nvSpPr>
            <p:spPr>
              <a:xfrm>
                <a:off x="12811125" y="749617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67" name="numerical-output"/>
              <p:cNvPicPr/>
              <p:nvPr/>
            </p:nvPicPr>
            <p:blipFill>
              <a:blip r:embed="rId8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9039225" y="6601396"/>
                <a:ext cx="419100" cy="427482"/>
              </a:xfrm>
              <a:prstGeom prst="rect">
                <a:avLst/>
              </a:prstGeom>
            </p:spPr>
          </p:pic>
          <p:sp>
            <p:nvSpPr>
              <p:cNvPr id="92" name="TextBox 92"/>
              <p:cNvSpPr txBox="1"/>
              <p:nvPr/>
            </p:nvSpPr>
            <p:spPr>
              <a:xfrm>
                <a:off x="9610725" y="6638925"/>
                <a:ext cx="2952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Numerical output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9372600" y="7667625"/>
                <a:ext cx="28575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Change interval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103" name="Source link"/>
            <p:cNvGrpSpPr/>
            <p:nvPr/>
          </p:nvGrpSpPr>
          <p:grpSpPr>
            <a:xfrm>
              <a:off x="13457301" y="6600825"/>
              <a:ext cx="3211449" cy="1362075"/>
              <a:chOff x="13457301" y="6600825"/>
              <a:chExt cx="3211449" cy="1362075"/>
            </a:xfrm>
          </p:grpSpPr>
          <p:pic>
            <p:nvPicPr>
              <p:cNvPr id="68" name="source-link"/>
              <p:cNvPicPr/>
              <p:nvPr/>
            </p:nvPicPr>
            <p:blipFill>
              <a:blip r:embed="rId9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457301" y="6600825"/>
                <a:ext cx="403098" cy="438150"/>
              </a:xfrm>
              <a:prstGeom prst="rect">
                <a:avLst/>
              </a:prstGeom>
            </p:spPr>
          </p:pic>
          <p:pic>
            <p:nvPicPr>
              <p:cNvPr id="69" name="source-document"/>
              <p:cNvPicPr/>
              <p:nvPr/>
            </p:nvPicPr>
            <p:blipFill>
              <a:blip r:embed="rId10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515975" y="7210954"/>
                <a:ext cx="552450" cy="675217"/>
              </a:xfrm>
              <a:prstGeom prst="rect">
                <a:avLst/>
              </a:prstGeom>
            </p:spPr>
          </p:pic>
          <p:sp>
            <p:nvSpPr>
              <p:cNvPr id="94" name="TextBox 94"/>
              <p:cNvSpPr txBox="1"/>
              <p:nvPr/>
            </p:nvSpPr>
            <p:spPr>
              <a:xfrm>
                <a:off x="14097000" y="6638925"/>
                <a:ext cx="2571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Source link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14287500" y="7172325"/>
                <a:ext cx="2371725" cy="790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Series origin</a:t>
                </a:r>
                <a:endParaRPr lang="zh-CN" sz="1936">
                  <a:latin typeface="Arial"/>
                </a:endParaRPr>
              </a:p>
              <a:p>
                <a:pPr algn="l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Tool and trace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104" name="Additional operation and provenance"/>
            <p:cNvGrpSpPr/>
            <p:nvPr/>
          </p:nvGrpSpPr>
          <p:grpSpPr>
            <a:xfrm>
              <a:off x="238125" y="5133975"/>
              <a:ext cx="16411575" cy="1314450"/>
              <a:chOff x="238125" y="5133975"/>
              <a:chExt cx="16411575" cy="1314450"/>
            </a:xfrm>
          </p:grpSpPr>
          <p:sp>
            <p:nvSpPr>
              <p:cNvPr id="48" name="Path 48"/>
              <p:cNvSpPr/>
              <p:nvPr/>
            </p:nvSpPr>
            <p:spPr>
              <a:xfrm>
                <a:off x="6543675" y="5133975"/>
                <a:ext cx="5362575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3724"/>
                    </a:move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</a:path>
                </a:pathLst>
              </a:custGeom>
              <a:noFill/>
              <a:ln w="24765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49" name="Path 49"/>
              <p:cNvSpPr/>
              <p:nvPr/>
            </p:nvSpPr>
            <p:spPr>
              <a:xfrm>
                <a:off x="238125" y="5953125"/>
                <a:ext cx="16411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016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629525" y="5486400"/>
                <a:ext cx="3524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48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Additional operation</a:t>
                </a:r>
                <a:endParaRPr lang="zh-CN" sz="1848">
                  <a:latin typeface="Arial"/>
                </a:endParaRP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285750" y="6096000"/>
                <a:ext cx="5619750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1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Provenance of the answer</a:t>
                </a:r>
                <a:endParaRPr lang="zh-CN" sz="2112">
                  <a:latin typeface="Comic Sans MS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