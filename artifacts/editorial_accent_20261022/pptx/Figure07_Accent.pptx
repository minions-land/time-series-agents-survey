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6897350" cy="8448675" type="custom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6" name="Figure 7 — ungroup into temporal modules"/>
          <p:cNvGrpSpPr/>
          <p:nvPr/>
        </p:nvGrpSpPr>
        <p:grpSpPr>
          <a:xfrm>
            <a:off x="238125" y="47625"/>
            <a:ext cx="16516350" cy="8286750"/>
            <a:chOff x="238125" y="47625"/>
            <a:chExt cx="16516350" cy="8286750"/>
          </a:xfrm>
        </p:grpSpPr>
        <p:grpSp>
          <p:nvGrpSpPr>
            <p:cNvPr id="200" name="Availability timeline"/>
            <p:cNvGrpSpPr/>
            <p:nvPr/>
          </p:nvGrpSpPr>
          <p:grpSpPr>
            <a:xfrm>
              <a:off x="238125" y="47625"/>
              <a:ext cx="16287750" cy="1990725"/>
              <a:chOff x="238125" y="47625"/>
              <a:chExt cx="16287750" cy="1990725"/>
            </a:xfrm>
          </p:grpSpPr>
          <p:sp>
            <p:nvSpPr>
              <p:cNvPr id="2" name="Ellipse 2"/>
              <p:cNvSpPr/>
              <p:nvPr/>
            </p:nvSpPr>
            <p:spPr>
              <a:xfrm>
                <a:off x="780098" y="1239202"/>
                <a:ext cx="59055" cy="59055"/>
              </a:xfrm>
              <a:prstGeom prst="ellipse">
                <a:avLst/>
              </a:prstGeom>
              <a:solidFill>
                <a:srgbClr val="000000"/>
              </a:solidFill>
              <a:ln w="6350" cap="rnd">
                <a:solidFill>
                  <a:srgbClr val="000000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3" name="Ellipse 3"/>
              <p:cNvSpPr/>
              <p:nvPr/>
            </p:nvSpPr>
            <p:spPr>
              <a:xfrm>
                <a:off x="1084898" y="1071563"/>
                <a:ext cx="59055" cy="59055"/>
              </a:xfrm>
              <a:prstGeom prst="ellipse">
                <a:avLst/>
              </a:prstGeom>
              <a:solidFill>
                <a:srgbClr val="000000"/>
              </a:solidFill>
              <a:ln w="6350" cap="rnd">
                <a:solidFill>
                  <a:srgbClr val="000000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4" name="Ellipse 4"/>
              <p:cNvSpPr/>
              <p:nvPr/>
            </p:nvSpPr>
            <p:spPr>
              <a:xfrm>
                <a:off x="1389698" y="1176338"/>
                <a:ext cx="59055" cy="59055"/>
              </a:xfrm>
              <a:prstGeom prst="ellipse">
                <a:avLst/>
              </a:prstGeom>
              <a:solidFill>
                <a:srgbClr val="000000"/>
              </a:solidFill>
              <a:ln w="6350" cap="rnd">
                <a:solidFill>
                  <a:srgbClr val="000000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5" name="Ellipse 5"/>
              <p:cNvSpPr/>
              <p:nvPr/>
            </p:nvSpPr>
            <p:spPr>
              <a:xfrm>
                <a:off x="1694498" y="987743"/>
                <a:ext cx="59055" cy="59055"/>
              </a:xfrm>
              <a:prstGeom prst="ellipse">
                <a:avLst/>
              </a:prstGeom>
              <a:solidFill>
                <a:srgbClr val="000000"/>
              </a:solidFill>
              <a:ln w="6350" cap="rnd">
                <a:solidFill>
                  <a:srgbClr val="000000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6" name="Ellipse 6"/>
              <p:cNvSpPr/>
              <p:nvPr/>
            </p:nvSpPr>
            <p:spPr>
              <a:xfrm>
                <a:off x="1999298" y="1134428"/>
                <a:ext cx="59055" cy="59055"/>
              </a:xfrm>
              <a:prstGeom prst="ellipse">
                <a:avLst/>
              </a:prstGeom>
              <a:solidFill>
                <a:srgbClr val="000000"/>
              </a:solidFill>
              <a:ln w="6350" cap="rnd">
                <a:solidFill>
                  <a:srgbClr val="000000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7" name="Ellipse 7"/>
              <p:cNvSpPr/>
              <p:nvPr/>
            </p:nvSpPr>
            <p:spPr>
              <a:xfrm>
                <a:off x="2304098" y="1050608"/>
                <a:ext cx="59055" cy="59055"/>
              </a:xfrm>
              <a:prstGeom prst="ellipse">
                <a:avLst/>
              </a:prstGeom>
              <a:solidFill>
                <a:srgbClr val="000000"/>
              </a:solidFill>
              <a:ln w="6350" cap="rnd">
                <a:solidFill>
                  <a:srgbClr val="000000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8" name="Ellipse 8"/>
              <p:cNvSpPr/>
              <p:nvPr/>
            </p:nvSpPr>
            <p:spPr>
              <a:xfrm>
                <a:off x="2608898" y="1197293"/>
                <a:ext cx="59055" cy="59055"/>
              </a:xfrm>
              <a:prstGeom prst="ellipse">
                <a:avLst/>
              </a:prstGeom>
              <a:solidFill>
                <a:srgbClr val="000000"/>
              </a:solidFill>
              <a:ln w="6350" cap="rnd">
                <a:solidFill>
                  <a:srgbClr val="000000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9" name="Ellipse 9"/>
              <p:cNvSpPr/>
              <p:nvPr/>
            </p:nvSpPr>
            <p:spPr>
              <a:xfrm>
                <a:off x="2913698" y="945833"/>
                <a:ext cx="59055" cy="59055"/>
              </a:xfrm>
              <a:prstGeom prst="ellipse">
                <a:avLst/>
              </a:prstGeom>
              <a:solidFill>
                <a:srgbClr val="000000"/>
              </a:solidFill>
              <a:ln w="6350" cap="rnd">
                <a:solidFill>
                  <a:srgbClr val="000000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10" name="Ellipse 10"/>
              <p:cNvSpPr/>
              <p:nvPr/>
            </p:nvSpPr>
            <p:spPr>
              <a:xfrm>
                <a:off x="3218498" y="1071563"/>
                <a:ext cx="59055" cy="59055"/>
              </a:xfrm>
              <a:prstGeom prst="ellipse">
                <a:avLst/>
              </a:prstGeom>
              <a:solidFill>
                <a:srgbClr val="000000"/>
              </a:solidFill>
              <a:ln w="6350" cap="rnd">
                <a:solidFill>
                  <a:srgbClr val="000000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11" name="Ellipse 11"/>
              <p:cNvSpPr/>
              <p:nvPr/>
            </p:nvSpPr>
            <p:spPr>
              <a:xfrm>
                <a:off x="3523298" y="1155382"/>
                <a:ext cx="59055" cy="59055"/>
              </a:xfrm>
              <a:prstGeom prst="ellipse">
                <a:avLst/>
              </a:prstGeom>
              <a:solidFill>
                <a:srgbClr val="000000"/>
              </a:solidFill>
              <a:ln w="6350" cap="rnd">
                <a:solidFill>
                  <a:srgbClr val="000000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12" name="Ellipse 12"/>
              <p:cNvSpPr/>
              <p:nvPr/>
            </p:nvSpPr>
            <p:spPr>
              <a:xfrm>
                <a:off x="3828098" y="1029653"/>
                <a:ext cx="59055" cy="59055"/>
              </a:xfrm>
              <a:prstGeom prst="ellipse">
                <a:avLst/>
              </a:prstGeom>
              <a:solidFill>
                <a:srgbClr val="000000"/>
              </a:solidFill>
              <a:ln w="6350" cap="rnd">
                <a:solidFill>
                  <a:srgbClr val="000000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13" name="Ellipse 13"/>
              <p:cNvSpPr/>
              <p:nvPr/>
            </p:nvSpPr>
            <p:spPr>
              <a:xfrm>
                <a:off x="4419600" y="1590675"/>
                <a:ext cx="114300" cy="114300"/>
              </a:xfrm>
              <a:prstGeom prst="ellipse">
                <a:avLst/>
              </a:prstGeom>
              <a:solidFill>
                <a:srgbClr val="000000"/>
              </a:solidFill>
              <a:ln w="8890" cap="rnd">
                <a:solidFill>
                  <a:srgbClr val="000000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14" name="Ellipse 14"/>
              <p:cNvSpPr/>
              <p:nvPr/>
            </p:nvSpPr>
            <p:spPr>
              <a:xfrm>
                <a:off x="10039350" y="1590675"/>
                <a:ext cx="114300" cy="114300"/>
              </a:xfrm>
              <a:prstGeom prst="ellipse">
                <a:avLst/>
              </a:prstGeom>
              <a:solidFill>
                <a:srgbClr val="304B63"/>
              </a:solidFill>
              <a:ln w="8890">
                <a:solidFill>
                  <a:srgbClr val="304B63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15" name="Ellipse 15"/>
              <p:cNvSpPr/>
              <p:nvPr/>
            </p:nvSpPr>
            <p:spPr>
              <a:xfrm>
                <a:off x="14611350" y="1590675"/>
                <a:ext cx="114300" cy="114300"/>
              </a:xfrm>
              <a:prstGeom prst="ellipse">
                <a:avLst/>
              </a:prstGeom>
              <a:solidFill>
                <a:srgbClr val="A65F48"/>
              </a:solidFill>
              <a:ln w="8890">
                <a:solidFill>
                  <a:srgbClr val="A65F48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16" name="Rect 16"/>
              <p:cNvSpPr/>
              <p:nvPr/>
            </p:nvSpPr>
            <p:spPr>
              <a:xfrm>
                <a:off x="6477000" y="933450"/>
                <a:ext cx="2190750" cy="447675"/>
              </a:xfrm>
              <a:prstGeom prst="rect">
                <a:avLst/>
              </a:prstGeom>
              <a:gradFill rotWithShape="1">
                <a:gsLst>
                  <a:gs pos="0">
                    <a:srgbClr val="F8FAFB"/>
                  </a:gs>
                  <a:gs pos="100000">
                    <a:srgbClr val="E0E8ED"/>
                  </a:gs>
                </a:gsLst>
                <a:lin ang="5400000" scaled="1"/>
              </a:gradFill>
              <a:ln w="10160">
                <a:solidFill>
                  <a:srgbClr val="304B63"/>
                </a:solidFill>
              </a:ln>
              <a:effectLst>
                <a:outerShdw blurRad="18000" dist="11000" dir="5400000" algn="ctr" rotWithShape="0">
                  <a:srgbClr val="333333">
                    <a:alpha val="11000"/>
                  </a:srgbClr>
                </a:outerShdw>
              </a:effectLst>
            </p:spPr>
            <p:txBody>
              <a:bodyPr/>
              <a:lstStyle/>
              <a:p/>
            </p:txBody>
          </p:sp>
          <p:sp>
            <p:nvSpPr>
              <p:cNvPr id="110" name="Path 110"/>
              <p:cNvSpPr/>
              <p:nvPr/>
            </p:nvSpPr>
            <p:spPr>
              <a:xfrm>
                <a:off x="666750" y="1647825"/>
                <a:ext cx="15621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/>
              <a:ln w="26000">
                <a:gradFill rotWithShape="1">
                  <a:gsLst>
                    <a:gs pos="0">
                      <a:srgbClr val="87A1B1"/>
                    </a:gs>
                    <a:gs pos="100000">
                      <a:srgbClr val="3E6178"/>
                    </a:gs>
                  </a:gsLst>
                  <a:lin ang="0" scaled="1"/>
                </a:gradFill>
                <a:prstDash val="solid"/>
                <a:tailEnd type="triangle" w="med" len="med"/>
              </a:ln>
              <a:effectLst>
                <a:outerShdw blurRad="15000" dist="9000" dir="5400000" algn="ctr" rotWithShape="0">
                  <a:srgbClr val="333333">
                    <a:alpha val="12000"/>
                  </a:srgbClr>
                </a:outerShdw>
              </a:effectLst>
            </p:spPr>
            <p:txBody>
              <a:bodyPr/>
              <a:lstStyle/>
              <a:p/>
            </p:txBody>
          </p:sp>
          <p:sp>
            <p:nvSpPr>
              <p:cNvPr id="111" name="Path 111"/>
              <p:cNvSpPr/>
              <p:nvPr/>
            </p:nvSpPr>
            <p:spPr>
              <a:xfrm>
                <a:off x="809625" y="975360"/>
                <a:ext cx="3048000" cy="29337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21600"/>
                    </a:moveTo>
                    <a:lnTo>
                      <a:pt x="2160" y="9257"/>
                    </a:lnTo>
                    <a:lnTo>
                      <a:pt x="4320" y="16971"/>
                    </a:lnTo>
                    <a:lnTo>
                      <a:pt x="6480" y="3086"/>
                    </a:lnTo>
                    <a:lnTo>
                      <a:pt x="8640" y="13886"/>
                    </a:lnTo>
                    <a:lnTo>
                      <a:pt x="10800" y="7714"/>
                    </a:lnTo>
                    <a:lnTo>
                      <a:pt x="12960" y="18514"/>
                    </a:lnTo>
                    <a:lnTo>
                      <a:pt x="15120" y="0"/>
                    </a:lnTo>
                    <a:lnTo>
                      <a:pt x="17280" y="9257"/>
                    </a:lnTo>
                    <a:lnTo>
                      <a:pt x="19440" y="15429"/>
                    </a:lnTo>
                    <a:lnTo>
                      <a:pt x="21600" y="6171"/>
                    </a:lnTo>
                  </a:path>
                </a:pathLst>
              </a:custGeom>
              <a:noFill/>
              <a:ln w="20320" cap="rnd">
                <a:solidFill>
                  <a:srgbClr val="000000"/>
                </a:solidFill>
                <a:prstDash val="solid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112" name="Path 112"/>
              <p:cNvSpPr/>
              <p:nvPr/>
            </p:nvSpPr>
            <p:spPr>
              <a:xfrm>
                <a:off x="3857625" y="1143000"/>
                <a:ext cx="619125" cy="43815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21600" y="21600"/>
                    </a:lnTo>
                  </a:path>
                </a:pathLst>
              </a:custGeom>
              <a:noFill/>
              <a:ln w="20955">
                <a:gradFill rotWithShape="1">
                  <a:gsLst>
                    <a:gs pos="0">
                      <a:srgbClr val="87A1B1"/>
                    </a:gs>
                    <a:gs pos="100000">
                      <a:srgbClr val="3E6178"/>
                    </a:gs>
                  </a:gsLst>
                  <a:lin ang="0" scaled="1"/>
                </a:gradFill>
                <a:prstDash val="solid"/>
                <a:tailEnd type="triangle"/>
              </a:ln>
              <a:effectLst>
                <a:outerShdw blurRad="15000" dist="9000" dir="5400000" algn="ctr" rotWithShape="0">
                  <a:srgbClr val="333333">
                    <a:alpha val="12000"/>
                  </a:srgbClr>
                </a:outerShdw>
              </a:effectLst>
            </p:spPr>
            <p:txBody>
              <a:bodyPr/>
              <a:lstStyle/>
              <a:p/>
            </p:txBody>
          </p:sp>
          <p:sp>
            <p:nvSpPr>
              <p:cNvPr id="113" name="Path 113"/>
              <p:cNvSpPr/>
              <p:nvPr/>
            </p:nvSpPr>
            <p:spPr>
              <a:xfrm>
                <a:off x="8763000" y="1143000"/>
                <a:ext cx="1333500" cy="43815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21600" y="21600"/>
                    </a:lnTo>
                  </a:path>
                </a:pathLst>
              </a:custGeom>
              <a:noFill/>
              <a:ln w="20955">
                <a:gradFill rotWithShape="1">
                  <a:gsLst>
                    <a:gs pos="0">
                      <a:srgbClr val="87A1B1"/>
                    </a:gs>
                    <a:gs pos="100000">
                      <a:srgbClr val="3E6178"/>
                    </a:gs>
                  </a:gsLst>
                  <a:lin ang="0" scaled="1"/>
                </a:gradFill>
                <a:prstDash val="solid"/>
                <a:tailEnd type="triangle"/>
              </a:ln>
              <a:effectLst>
                <a:outerShdw blurRad="15000" dist="9000" dir="5400000" algn="ctr" rotWithShape="0">
                  <a:srgbClr val="333333">
                    <a:alpha val="12000"/>
                  </a:srgbClr>
                </a:outerShdw>
              </a:effectLst>
            </p:spPr>
            <p:txBody>
              <a:bodyPr/>
              <a:lstStyle/>
              <a:p/>
            </p:txBody>
          </p:sp>
          <p:sp>
            <p:nvSpPr>
              <p:cNvPr id="114" name="Path 114"/>
              <p:cNvSpPr/>
              <p:nvPr/>
            </p:nvSpPr>
            <p:spPr>
              <a:xfrm>
                <a:off x="14573250" y="1238250"/>
                <a:ext cx="95250" cy="33337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21600" y="21600"/>
                    </a:lnTo>
                  </a:path>
                </a:pathLst>
              </a:custGeom>
              <a:noFill/>
              <a:ln w="13970">
                <a:solidFill>
                  <a:srgbClr val="A65F48"/>
                </a:solidFill>
                <a:prstDash val="solid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115" name="Path 115"/>
              <p:cNvSpPr/>
              <p:nvPr/>
            </p:nvSpPr>
            <p:spPr>
              <a:xfrm>
                <a:off x="11782425" y="476250"/>
                <a:ext cx="9525" cy="131445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0" y="21600"/>
                    </a:lnTo>
                  </a:path>
                </a:pathLst>
              </a:custGeom>
              <a:noFill/>
              <a:ln w="16510">
                <a:solidFill>
                  <a:srgbClr val="767670"/>
                </a:solidFill>
                <a:prstDash val="dash"/>
                <a:tailEnd type="none"/>
              </a:ln>
            </p:spPr>
            <p:txBody>
              <a:bodyPr/>
              <a:lstStyle/>
              <a:p/>
            </p:txBody>
          </p:sp>
          <p:pic>
            <p:nvPicPr>
              <p:cNvPr id="157" name="late-report"/>
              <p:cNvPicPr/>
              <p:nvPr/>
            </p:nvPicPr>
            <p:blipFill>
              <a:blip r:embed="rId2">
                <a:duotone>
                  <a:srgbClr val="287EA6"/>
                  <a:srgbClr val="FFFFFF"/>
                </a:duotone>
              </a:blip>
              <a:stretch>
                <a:fillRect/>
              </a:stretch>
            </p:blipFill>
            <p:spPr>
              <a:xfrm>
                <a:off x="14198600" y="885825"/>
                <a:ext cx="444500" cy="571500"/>
              </a:xfrm>
              <a:prstGeom prst="rect">
                <a:avLst/>
              </a:prstGeom>
            </p:spPr>
          </p:pic>
          <p:sp>
            <p:nvSpPr>
              <p:cNvPr id="170" name="TextBox 170"/>
              <p:cNvSpPr txBox="1"/>
              <p:nvPr/>
            </p:nvSpPr>
            <p:spPr>
              <a:xfrm>
                <a:off x="238125" y="47625"/>
                <a:ext cx="333375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l"/>
                <a:r>
                  <a:rPr lang="zh-CN" sz="2196" b="1">
                    <a:solidFill>
                      <a:srgbClr val="222222"/>
                    </a:solidFill>
                    <a:latin typeface="Comic Sans MS"/>
                    <a:ea typeface="Times New Roman"/>
                    <a:cs typeface="Times New Roman"/>
                  </a:rPr>
                  <a:t>Information release</a:t>
                </a:r>
                <a:endParaRPr lang="zh-CN" sz="2196">
                  <a:solidFill>
                    <a:srgbClr val="222222"/>
                  </a:solidFill>
                  <a:latin typeface="Comic Sans MS"/>
                </a:endParaRPr>
              </a:p>
            </p:txBody>
          </p:sp>
          <p:sp>
            <p:nvSpPr>
              <p:cNvPr id="171" name="TextBox 171"/>
              <p:cNvSpPr txBox="1"/>
              <p:nvPr/>
            </p:nvSpPr>
            <p:spPr>
              <a:xfrm>
                <a:off x="666750" y="504825"/>
                <a:ext cx="257175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l"/>
                <a:r>
                  <a:rPr lang="zh-CN" sz="2013">
                    <a:solidFill>
                      <a:srgbClr val="222222"/>
                    </a:solidFill>
                    <a:latin typeface="Arial"/>
                    <a:ea typeface="Times New Roman"/>
                    <a:cs typeface="Times New Roman"/>
                  </a:rPr>
                  <a:t>Observed series</a:t>
                </a:r>
                <a:endParaRPr lang="zh-CN" sz="2013">
                  <a:solidFill>
                    <a:srgbClr val="222222"/>
                  </a:solidFill>
                  <a:latin typeface="Arial"/>
                </a:endParaRPr>
              </a:p>
            </p:txBody>
          </p:sp>
          <p:sp>
            <p:nvSpPr>
              <p:cNvPr id="172" name="TextBox 172"/>
              <p:cNvSpPr txBox="1"/>
              <p:nvPr/>
            </p:nvSpPr>
            <p:spPr>
              <a:xfrm>
                <a:off x="6381750" y="504825"/>
                <a:ext cx="266700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l"/>
                <a:r>
                  <a:rPr lang="zh-CN" sz="2013">
                    <a:solidFill>
                      <a:srgbClr val="222222"/>
                    </a:solidFill>
                    <a:latin typeface="Arial"/>
                    <a:ea typeface="Times New Roman"/>
                    <a:cs typeface="Times New Roman"/>
                  </a:rPr>
                  <a:t>Known calendar</a:t>
                </a:r>
                <a:endParaRPr lang="zh-CN" sz="2013">
                  <a:solidFill>
                    <a:srgbClr val="222222"/>
                  </a:solidFill>
                  <a:latin typeface="Arial"/>
                </a:endParaRPr>
              </a:p>
            </p:txBody>
          </p:sp>
          <p:sp>
            <p:nvSpPr>
              <p:cNvPr id="173" name="TextBox 173"/>
              <p:cNvSpPr txBox="1"/>
              <p:nvPr/>
            </p:nvSpPr>
            <p:spPr>
              <a:xfrm>
                <a:off x="13620750" y="504825"/>
                <a:ext cx="266700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l"/>
                <a:r>
                  <a:rPr lang="zh-CN" sz="2013">
                    <a:solidFill>
                      <a:srgbClr val="222222"/>
                    </a:solidFill>
                    <a:latin typeface="Arial"/>
                    <a:ea typeface="Times New Roman"/>
                    <a:cs typeface="Times New Roman"/>
                  </a:rPr>
                  <a:t>Late report</a:t>
                </a:r>
                <a:endParaRPr lang="zh-CN" sz="2013">
                  <a:solidFill>
                    <a:srgbClr val="222222"/>
                  </a:solidFill>
                  <a:latin typeface="Arial"/>
                </a:endParaRPr>
              </a:p>
            </p:txBody>
          </p:sp>
          <p:sp>
            <p:nvSpPr>
              <p:cNvPr id="174" name="TextBox 174"/>
              <p:cNvSpPr txBox="1"/>
              <p:nvPr/>
            </p:nvSpPr>
            <p:spPr>
              <a:xfrm>
                <a:off x="6581775" y="981075"/>
                <a:ext cx="2000250" cy="3333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1830">
                    <a:solidFill>
                      <a:srgbClr val="222222"/>
                    </a:solidFill>
                    <a:latin typeface="Arial"/>
                    <a:ea typeface="Times New Roman"/>
                    <a:cs typeface="Times New Roman"/>
                  </a:rPr>
                  <a:t>Future event</a:t>
                </a:r>
                <a:endParaRPr lang="zh-CN" sz="1830">
                  <a:solidFill>
                    <a:srgbClr val="222222"/>
                  </a:solidFill>
                  <a:latin typeface="Arial"/>
                </a:endParaRPr>
              </a:p>
            </p:txBody>
          </p:sp>
          <p:sp>
            <p:nvSpPr>
              <p:cNvPr id="175" name="TextBox 175"/>
              <p:cNvSpPr txBox="1"/>
              <p:nvPr/>
            </p:nvSpPr>
            <p:spPr>
              <a:xfrm>
                <a:off x="8972550" y="866775"/>
                <a:ext cx="1619250" cy="2857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l"/>
                <a:r>
                  <a:rPr lang="zh-CN" sz="1830">
                    <a:solidFill>
                      <a:srgbClr val="222222"/>
                    </a:solidFill>
                    <a:latin typeface="Arial"/>
                    <a:ea typeface="Times New Roman"/>
                    <a:cs typeface="Times New Roman"/>
                  </a:rPr>
                  <a:t>published</a:t>
                </a:r>
                <a:endParaRPr lang="zh-CN" sz="1830">
                  <a:solidFill>
                    <a:srgbClr val="222222"/>
                  </a:solidFill>
                  <a:latin typeface="Arial"/>
                </a:endParaRPr>
              </a:p>
            </p:txBody>
          </p:sp>
          <p:sp>
            <p:nvSpPr>
              <p:cNvPr id="176" name="TextBox 176"/>
              <p:cNvSpPr txBox="1"/>
              <p:nvPr/>
            </p:nvSpPr>
            <p:spPr>
              <a:xfrm>
                <a:off x="10668000" y="47625"/>
                <a:ext cx="30480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l"/>
                <a:r>
                  <a:rPr lang="zh-CN" sz="2105">
                    <a:solidFill>
                      <a:srgbClr val="222222"/>
                    </a:solidFill>
                    <a:latin typeface="Arial"/>
                    <a:ea typeface="Times New Roman"/>
                    <a:cs typeface="Times New Roman"/>
                  </a:rPr>
                  <a:t>Decision cutoff τ</a:t>
                </a:r>
                <a:endParaRPr lang="zh-CN" sz="2105">
                  <a:solidFill>
                    <a:srgbClr val="222222"/>
                  </a:solidFill>
                  <a:latin typeface="Arial"/>
                </a:endParaRPr>
              </a:p>
            </p:txBody>
          </p:sp>
          <p:sp>
            <p:nvSpPr>
              <p:cNvPr id="177" name="TextBox 177"/>
              <p:cNvSpPr txBox="1"/>
              <p:nvPr/>
            </p:nvSpPr>
            <p:spPr>
              <a:xfrm>
                <a:off x="13477875" y="1733550"/>
                <a:ext cx="304800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r"/>
                <a:r>
                  <a:rPr lang="zh-CN" sz="1830">
                    <a:solidFill>
                      <a:srgbClr val="222222"/>
                    </a:solidFill>
                    <a:latin typeface="Arial"/>
                    <a:ea typeface="Times New Roman"/>
                    <a:cs typeface="Times New Roman"/>
                  </a:rPr>
                  <a:t>Availability time v</a:t>
                </a:r>
                <a:endParaRPr lang="zh-CN" sz="1830">
                  <a:solidFill>
                    <a:srgbClr val="222222"/>
                  </a:solidFill>
                  <a:latin typeface="Arial"/>
                </a:endParaRPr>
              </a:p>
            </p:txBody>
          </p:sp>
        </p:grpSp>
        <p:grpSp>
          <p:nvGrpSpPr>
            <p:cNvPr id="201" name="Data management"/>
            <p:cNvGrpSpPr/>
            <p:nvPr/>
          </p:nvGrpSpPr>
          <p:grpSpPr>
            <a:xfrm>
              <a:off x="304800" y="2143125"/>
              <a:ext cx="3886200" cy="4124325"/>
              <a:chOff x="304800" y="2143125"/>
              <a:chExt cx="3886200" cy="4124325"/>
            </a:xfrm>
          </p:grpSpPr>
          <p:pic>
            <p:nvPicPr>
              <p:cNvPr id="158" name="source-database"/>
              <p:cNvPicPr/>
              <p:nvPr/>
            </p:nvPicPr>
            <p:blipFill>
              <a:blip r:embed="rId3">
                <a:duotone>
                  <a:srgbClr val="258B79"/>
                  <a:srgbClr val="FFFFFF"/>
                </a:duotone>
              </a:blip>
              <a:stretch>
                <a:fillRect/>
              </a:stretch>
            </p:blipFill>
            <p:spPr>
              <a:xfrm>
                <a:off x="400050" y="5299417"/>
                <a:ext cx="542925" cy="593041"/>
              </a:xfrm>
              <a:prstGeom prst="rect">
                <a:avLst/>
              </a:prstGeom>
            </p:spPr>
          </p:pic>
          <p:pic>
            <p:nvPicPr>
              <p:cNvPr id="159" name="version-document"/>
              <p:cNvPicPr/>
              <p:nvPr/>
            </p:nvPicPr>
            <p:blipFill>
              <a:blip r:embed="rId4">
                <a:duotone>
                  <a:srgbClr val="287EA6"/>
                  <a:srgbClr val="FFFFFF"/>
                </a:duotone>
              </a:blip>
              <a:stretch>
                <a:fillRect/>
              </a:stretch>
            </p:blipFill>
            <p:spPr>
              <a:xfrm>
                <a:off x="2390775" y="5286375"/>
                <a:ext cx="504825" cy="628650"/>
              </a:xfrm>
              <a:prstGeom prst="rect">
                <a:avLst/>
              </a:prstGeom>
            </p:spPr>
          </p:pic>
          <p:graphicFrame>
            <p:nvGraphicFramePr>
              <p:cNvPr id="169" name="Table 169"/>
              <p:cNvGraphicFramePr/>
              <p:nvPr/>
            </p:nvGraphicFramePr>
            <p:xfrm>
              <a:off x="381000" y="2752725"/>
              <a:ext cx="3714750" cy="2143125"/>
            </p:xfrm>
            <a:graphic>
              <a:graphicData uri="http://schemas.openxmlformats.org/drawingml/2006/table">
                <a:tbl>
                  <a:tblPr/>
                  <a:tblGrid>
                    <a:gridCol w="1463386"/>
                    <a:gridCol w="1125682"/>
                    <a:gridCol w="1125682"/>
                  </a:tblGrid>
                  <a:tr h="428625">
                    <a:tc>
                      <a:txBody>
                        <a:bodyPr wrap="none" anchor="ctr" lIns="0" tIns="0" rIns="0" bIns="0">
                          <a:noAutofit/>
                        </a:bodyPr>
                        <a:lstStyle/>
                        <a:p>
                          <a:pPr algn="ctr"/>
                          <a:r>
                            <a:rPr lang="zh-CN" sz="2184">
                              <a:solidFill>
                                <a:srgbClr val="222222"/>
                              </a:solidFill>
                              <a:latin typeface="Arial"/>
                              <a:ea typeface="Times New Roman"/>
                              <a:cs typeface="Times New Roman"/>
                            </a:rPr>
                            <a:t>Time</a:t>
                          </a:r>
                          <a:endParaRPr lang="zh-CN" sz="2184">
                            <a:solidFill>
                              <a:srgbClr val="222222"/>
                            </a:solidFill>
                            <a:latin typeface="Arial"/>
                          </a:endParaRPr>
                        </a:p>
                      </a:txBody>
                      <a:tcPr marL="18288" marR="18288" marT="9144" marB="9144" anchor="ctr">
                        <a:lnL w="7620">
                          <a:solidFill>
                            <a:srgbClr val="D8D8D4"/>
                          </a:solidFill>
                        </a:lnL>
                        <a:lnR w="7620">
                          <a:solidFill>
                            <a:srgbClr val="D8D8D4"/>
                          </a:solidFill>
                        </a:lnR>
                        <a:lnT w="7620">
                          <a:solidFill>
                            <a:srgbClr val="D8D8D4"/>
                          </a:solidFill>
                        </a:lnT>
                        <a:lnB w="7620">
                          <a:solidFill>
                            <a:srgbClr val="D8D8D4"/>
                          </a:solidFill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 wrap="none" anchor="ctr" lIns="0" tIns="0" rIns="0" bIns="0">
                          <a:noAutofit/>
                        </a:bodyPr>
                        <a:lstStyle/>
                        <a:p>
                          <a:pPr algn="ctr"/>
                          <a:r>
                            <a:rPr lang="zh-CN" sz="2184">
                              <a:solidFill>
                                <a:srgbClr val="222222"/>
                              </a:solidFill>
                              <a:latin typeface="Arial"/>
                              <a:ea typeface="Times New Roman"/>
                              <a:cs typeface="Times New Roman"/>
                            </a:rPr>
                            <a:t>Value</a:t>
                          </a:r>
                          <a:endParaRPr lang="zh-CN" sz="2184">
                            <a:solidFill>
                              <a:srgbClr val="222222"/>
                            </a:solidFill>
                            <a:latin typeface="Arial"/>
                          </a:endParaRPr>
                        </a:p>
                      </a:txBody>
                      <a:tcPr marL="18288" marR="18288" marT="9144" marB="9144" anchor="ctr">
                        <a:lnL w="7620">
                          <a:solidFill>
                            <a:srgbClr val="D8D8D4"/>
                          </a:solidFill>
                        </a:lnL>
                        <a:lnR w="7620">
                          <a:solidFill>
                            <a:srgbClr val="D8D8D4"/>
                          </a:solidFill>
                        </a:lnR>
                        <a:lnT w="7620">
                          <a:solidFill>
                            <a:srgbClr val="D8D8D4"/>
                          </a:solidFill>
                        </a:lnT>
                        <a:lnB w="7620">
                          <a:solidFill>
                            <a:srgbClr val="D8D8D4"/>
                          </a:solidFill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 wrap="none" anchor="ctr" lIns="0" tIns="0" rIns="0" bIns="0">
                          <a:noAutofit/>
                        </a:bodyPr>
                        <a:lstStyle/>
                        <a:p>
                          <a:pPr algn="ctr"/>
                          <a:r>
                            <a:rPr lang="zh-CN" sz="2184">
                              <a:solidFill>
                                <a:srgbClr val="222222"/>
                              </a:solidFill>
                              <a:latin typeface="Arial"/>
                              <a:ea typeface="Times New Roman"/>
                              <a:cs typeface="Times New Roman"/>
                            </a:rPr>
                            <a:t>Unit</a:t>
                          </a:r>
                          <a:endParaRPr lang="zh-CN" sz="2184">
                            <a:solidFill>
                              <a:srgbClr val="222222"/>
                            </a:solidFill>
                            <a:latin typeface="Arial"/>
                          </a:endParaRPr>
                        </a:p>
                      </a:txBody>
                      <a:tcPr marL="18288" marR="18288" marT="9144" marB="9144" anchor="ctr">
                        <a:lnL w="7620">
                          <a:solidFill>
                            <a:srgbClr val="D8D8D4"/>
                          </a:solidFill>
                        </a:lnL>
                        <a:lnR w="7620">
                          <a:solidFill>
                            <a:srgbClr val="D8D8D4"/>
                          </a:solidFill>
                        </a:lnR>
                        <a:lnT w="7620">
                          <a:solidFill>
                            <a:srgbClr val="D8D8D4"/>
                          </a:solidFill>
                        </a:lnT>
                        <a:lnB w="7620">
                          <a:solidFill>
                            <a:srgbClr val="D8D8D4"/>
                          </a:solidFill>
                        </a:lnB>
                        <a:solidFill>
                          <a:srgbClr val="FFFFFF"/>
                        </a:solidFill>
                      </a:tcPr>
                    </a:tc>
                  </a:tr>
                  <a:tr h="428625">
                    <a:tc>
                      <a:txBody>
                        <a:bodyPr wrap="none" anchor="ctr" lIns="0" tIns="0" rIns="0" bIns="0">
                          <a:noAutofit/>
                        </a:bodyPr>
                        <a:lstStyle/>
                        <a:p>
                          <a:pPr algn="ctr"/>
                          <a:r>
                            <a:rPr lang="zh-CN" sz="2184">
                              <a:solidFill>
                                <a:srgbClr val="222222"/>
                              </a:solidFill>
                              <a:latin typeface="Arial"/>
                              <a:ea typeface="Times New Roman"/>
                              <a:cs typeface="Times New Roman"/>
                            </a:rPr>
                            <a:t>t₁</a:t>
                          </a:r>
                          <a:endParaRPr lang="zh-CN" sz="2184">
                            <a:solidFill>
                              <a:srgbClr val="222222"/>
                            </a:solidFill>
                            <a:latin typeface="Arial"/>
                          </a:endParaRPr>
                        </a:p>
                      </a:txBody>
                      <a:tcPr marL="18288" marR="18288" marT="9144" marB="9144" anchor="ctr">
                        <a:lnL w="7620">
                          <a:solidFill>
                            <a:srgbClr val="D8D8D4"/>
                          </a:solidFill>
                        </a:lnL>
                        <a:lnR w="7620">
                          <a:solidFill>
                            <a:srgbClr val="D8D8D4"/>
                          </a:solidFill>
                        </a:lnR>
                        <a:lnT w="7620">
                          <a:solidFill>
                            <a:srgbClr val="D8D8D4"/>
                          </a:solidFill>
                        </a:lnT>
                        <a:lnB w="7620">
                          <a:solidFill>
                            <a:srgbClr val="D8D8D4"/>
                          </a:solidFill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 wrap="none" anchor="ctr" lIns="0" tIns="0" rIns="0" bIns="0">
                          <a:noAutofit/>
                        </a:bodyPr>
                        <a:lstStyle/>
                        <a:p>
                          <a:pPr algn="ctr"/>
                          <a:r>
                            <a:rPr lang="zh-CN" sz="2184">
                              <a:solidFill>
                                <a:srgbClr val="222222"/>
                              </a:solidFill>
                              <a:latin typeface="Arial"/>
                              <a:ea typeface="Times New Roman"/>
                              <a:cs typeface="Times New Roman"/>
                            </a:rPr>
                            <a:t>x₁</a:t>
                          </a:r>
                          <a:endParaRPr lang="zh-CN" sz="2184">
                            <a:solidFill>
                              <a:srgbClr val="222222"/>
                            </a:solidFill>
                            <a:latin typeface="Arial"/>
                          </a:endParaRPr>
                        </a:p>
                      </a:txBody>
                      <a:tcPr marL="18288" marR="18288" marT="9144" marB="9144" anchor="ctr">
                        <a:lnL w="7620">
                          <a:solidFill>
                            <a:srgbClr val="D8D8D4"/>
                          </a:solidFill>
                        </a:lnL>
                        <a:lnR w="7620">
                          <a:solidFill>
                            <a:srgbClr val="D8D8D4"/>
                          </a:solidFill>
                        </a:lnR>
                        <a:lnT w="7620">
                          <a:solidFill>
                            <a:srgbClr val="D8D8D4"/>
                          </a:solidFill>
                        </a:lnT>
                        <a:lnB w="7620">
                          <a:solidFill>
                            <a:srgbClr val="D8D8D4"/>
                          </a:solidFill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 wrap="none" anchor="ctr" lIns="0" tIns="0" rIns="0" bIns="0">
                          <a:noAutofit/>
                        </a:bodyPr>
                        <a:lstStyle/>
                        <a:p>
                          <a:pPr algn="ctr"/>
                          <a:r>
                            <a:rPr lang="zh-CN" sz="2184">
                              <a:solidFill>
                                <a:srgbClr val="222222"/>
                              </a:solidFill>
                              <a:latin typeface="Arial"/>
                              <a:ea typeface="Times New Roman"/>
                              <a:cs typeface="Times New Roman"/>
                            </a:rPr>
                            <a:t>u</a:t>
                          </a:r>
                          <a:endParaRPr lang="zh-CN" sz="2184">
                            <a:solidFill>
                              <a:srgbClr val="222222"/>
                            </a:solidFill>
                            <a:latin typeface="Arial"/>
                          </a:endParaRPr>
                        </a:p>
                      </a:txBody>
                      <a:tcPr marL="18288" marR="18288" marT="9144" marB="9144" anchor="ctr">
                        <a:lnL w="7620">
                          <a:solidFill>
                            <a:srgbClr val="D8D8D4"/>
                          </a:solidFill>
                        </a:lnL>
                        <a:lnR w="7620">
                          <a:solidFill>
                            <a:srgbClr val="D8D8D4"/>
                          </a:solidFill>
                        </a:lnR>
                        <a:lnT w="7620">
                          <a:solidFill>
                            <a:srgbClr val="D8D8D4"/>
                          </a:solidFill>
                        </a:lnT>
                        <a:lnB w="7620">
                          <a:solidFill>
                            <a:srgbClr val="D8D8D4"/>
                          </a:solidFill>
                        </a:lnB>
                        <a:solidFill>
                          <a:srgbClr val="FFFFFF"/>
                        </a:solidFill>
                      </a:tcPr>
                    </a:tc>
                  </a:tr>
                  <a:tr h="428625">
                    <a:tc>
                      <a:txBody>
                        <a:bodyPr wrap="none" anchor="ctr" lIns="0" tIns="0" rIns="0" bIns="0">
                          <a:noAutofit/>
                        </a:bodyPr>
                        <a:lstStyle/>
                        <a:p>
                          <a:pPr algn="ctr"/>
                          <a:r>
                            <a:rPr lang="zh-CN" sz="2184">
                              <a:solidFill>
                                <a:srgbClr val="222222"/>
                              </a:solidFill>
                              <a:latin typeface="Arial"/>
                              <a:ea typeface="Times New Roman"/>
                              <a:cs typeface="Times New Roman"/>
                            </a:rPr>
                            <a:t>t₂</a:t>
                          </a:r>
                          <a:endParaRPr lang="zh-CN" sz="2184">
                            <a:solidFill>
                              <a:srgbClr val="222222"/>
                            </a:solidFill>
                            <a:latin typeface="Arial"/>
                          </a:endParaRPr>
                        </a:p>
                      </a:txBody>
                      <a:tcPr marL="18288" marR="18288" marT="9144" marB="9144" anchor="ctr">
                        <a:lnL w="7620">
                          <a:solidFill>
                            <a:srgbClr val="D8D8D4"/>
                          </a:solidFill>
                        </a:lnL>
                        <a:lnR w="7620">
                          <a:solidFill>
                            <a:srgbClr val="D8D8D4"/>
                          </a:solidFill>
                        </a:lnR>
                        <a:lnT w="7620">
                          <a:solidFill>
                            <a:srgbClr val="D8D8D4"/>
                          </a:solidFill>
                        </a:lnT>
                        <a:lnB w="7620">
                          <a:solidFill>
                            <a:srgbClr val="D8D8D4"/>
                          </a:solidFill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 wrap="none" anchor="ctr" lIns="0" tIns="0" rIns="0" bIns="0">
                          <a:noAutofit/>
                        </a:bodyPr>
                        <a:lstStyle/>
                        <a:p>
                          <a:pPr algn="ctr"/>
                          <a:r>
                            <a:rPr lang="zh-CN" sz="2184">
                              <a:solidFill>
                                <a:srgbClr val="222222"/>
                              </a:solidFill>
                              <a:latin typeface="Arial"/>
                              <a:ea typeface="Times New Roman"/>
                              <a:cs typeface="Times New Roman"/>
                            </a:rPr>
                            <a:t>—</a:t>
                          </a:r>
                          <a:endParaRPr lang="zh-CN" sz="2184">
                            <a:solidFill>
                              <a:srgbClr val="222222"/>
                            </a:solidFill>
                            <a:latin typeface="Arial"/>
                          </a:endParaRPr>
                        </a:p>
                      </a:txBody>
                      <a:tcPr marL="18288" marR="18288" marT="9144" marB="9144" anchor="ctr">
                        <a:lnL w="7620">
                          <a:solidFill>
                            <a:srgbClr val="D8D8D4"/>
                          </a:solidFill>
                        </a:lnL>
                        <a:lnR w="7620">
                          <a:solidFill>
                            <a:srgbClr val="D8D8D4"/>
                          </a:solidFill>
                        </a:lnR>
                        <a:lnT w="7620">
                          <a:solidFill>
                            <a:srgbClr val="D8D8D4"/>
                          </a:solidFill>
                        </a:lnT>
                        <a:lnB w="7620">
                          <a:solidFill>
                            <a:srgbClr val="D8D8D4"/>
                          </a:solidFill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 wrap="none" anchor="ctr" lIns="0" tIns="0" rIns="0" bIns="0">
                          <a:noAutofit/>
                        </a:bodyPr>
                        <a:lstStyle/>
                        <a:p>
                          <a:pPr algn="ctr"/>
                          <a:r>
                            <a:rPr lang="zh-CN" sz="2184">
                              <a:solidFill>
                                <a:srgbClr val="222222"/>
                              </a:solidFill>
                              <a:latin typeface="Arial"/>
                              <a:ea typeface="Times New Roman"/>
                              <a:cs typeface="Times New Roman"/>
                            </a:rPr>
                            <a:t>u</a:t>
                          </a:r>
                          <a:endParaRPr lang="zh-CN" sz="2184">
                            <a:solidFill>
                              <a:srgbClr val="222222"/>
                            </a:solidFill>
                            <a:latin typeface="Arial"/>
                          </a:endParaRPr>
                        </a:p>
                      </a:txBody>
                      <a:tcPr marL="18288" marR="18288" marT="9144" marB="9144" anchor="ctr">
                        <a:lnL w="7620">
                          <a:solidFill>
                            <a:srgbClr val="D8D8D4"/>
                          </a:solidFill>
                        </a:lnL>
                        <a:lnR w="7620">
                          <a:solidFill>
                            <a:srgbClr val="D8D8D4"/>
                          </a:solidFill>
                        </a:lnR>
                        <a:lnT w="7620">
                          <a:solidFill>
                            <a:srgbClr val="D8D8D4"/>
                          </a:solidFill>
                        </a:lnT>
                        <a:lnB w="7620">
                          <a:solidFill>
                            <a:srgbClr val="D8D8D4"/>
                          </a:solidFill>
                        </a:lnB>
                        <a:solidFill>
                          <a:srgbClr val="FFFFFF"/>
                        </a:solidFill>
                      </a:tcPr>
                    </a:tc>
                  </a:tr>
                  <a:tr h="428625">
                    <a:tc>
                      <a:txBody>
                        <a:bodyPr wrap="none" anchor="ctr" lIns="0" tIns="0" rIns="0" bIns="0">
                          <a:noAutofit/>
                        </a:bodyPr>
                        <a:lstStyle/>
                        <a:p>
                          <a:pPr algn="ctr"/>
                          <a:r>
                            <a:rPr lang="zh-CN" sz="2184">
                              <a:solidFill>
                                <a:srgbClr val="222222"/>
                              </a:solidFill>
                              <a:latin typeface="Arial"/>
                              <a:ea typeface="Times New Roman"/>
                              <a:cs typeface="Times New Roman"/>
                            </a:rPr>
                            <a:t>t₃</a:t>
                          </a:r>
                          <a:endParaRPr lang="zh-CN" sz="2184">
                            <a:solidFill>
                              <a:srgbClr val="222222"/>
                            </a:solidFill>
                            <a:latin typeface="Arial"/>
                          </a:endParaRPr>
                        </a:p>
                      </a:txBody>
                      <a:tcPr marL="18288" marR="18288" marT="9144" marB="9144" anchor="ctr">
                        <a:lnL w="7620">
                          <a:solidFill>
                            <a:srgbClr val="D8D8D4"/>
                          </a:solidFill>
                        </a:lnL>
                        <a:lnR w="7620">
                          <a:solidFill>
                            <a:srgbClr val="D8D8D4"/>
                          </a:solidFill>
                        </a:lnR>
                        <a:lnT w="7620">
                          <a:solidFill>
                            <a:srgbClr val="D8D8D4"/>
                          </a:solidFill>
                        </a:lnT>
                        <a:lnB w="7620">
                          <a:solidFill>
                            <a:srgbClr val="D8D8D4"/>
                          </a:solidFill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 wrap="none" anchor="ctr" lIns="0" tIns="0" rIns="0" bIns="0">
                          <a:noAutofit/>
                        </a:bodyPr>
                        <a:lstStyle/>
                        <a:p>
                          <a:pPr algn="ctr"/>
                          <a:r>
                            <a:rPr lang="zh-CN" sz="2184">
                              <a:solidFill>
                                <a:srgbClr val="222222"/>
                              </a:solidFill>
                              <a:latin typeface="Arial"/>
                              <a:ea typeface="Times New Roman"/>
                              <a:cs typeface="Times New Roman"/>
                            </a:rPr>
                            <a:t>x₃</a:t>
                          </a:r>
                          <a:endParaRPr lang="zh-CN" sz="2184">
                            <a:solidFill>
                              <a:srgbClr val="222222"/>
                            </a:solidFill>
                            <a:latin typeface="Arial"/>
                          </a:endParaRPr>
                        </a:p>
                      </a:txBody>
                      <a:tcPr marL="18288" marR="18288" marT="9144" marB="9144" anchor="ctr">
                        <a:lnL w="7620">
                          <a:solidFill>
                            <a:srgbClr val="D8D8D4"/>
                          </a:solidFill>
                        </a:lnL>
                        <a:lnR w="7620">
                          <a:solidFill>
                            <a:srgbClr val="D8D8D4"/>
                          </a:solidFill>
                        </a:lnR>
                        <a:lnT w="7620">
                          <a:solidFill>
                            <a:srgbClr val="D8D8D4"/>
                          </a:solidFill>
                        </a:lnT>
                        <a:lnB w="7620">
                          <a:solidFill>
                            <a:srgbClr val="D8D8D4"/>
                          </a:solidFill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 wrap="none" anchor="ctr" lIns="0" tIns="0" rIns="0" bIns="0">
                          <a:noAutofit/>
                        </a:bodyPr>
                        <a:lstStyle/>
                        <a:p>
                          <a:pPr algn="ctr"/>
                          <a:r>
                            <a:rPr lang="zh-CN" sz="2184">
                              <a:solidFill>
                                <a:srgbClr val="222222"/>
                              </a:solidFill>
                              <a:latin typeface="Arial"/>
                              <a:ea typeface="Times New Roman"/>
                              <a:cs typeface="Times New Roman"/>
                            </a:rPr>
                            <a:t>u</a:t>
                          </a:r>
                          <a:endParaRPr lang="zh-CN" sz="2184">
                            <a:solidFill>
                              <a:srgbClr val="222222"/>
                            </a:solidFill>
                            <a:latin typeface="Arial"/>
                          </a:endParaRPr>
                        </a:p>
                      </a:txBody>
                      <a:tcPr marL="18288" marR="18288" marT="9144" marB="9144" anchor="ctr">
                        <a:lnL w="7620">
                          <a:solidFill>
                            <a:srgbClr val="D8D8D4"/>
                          </a:solidFill>
                        </a:lnL>
                        <a:lnR w="7620">
                          <a:solidFill>
                            <a:srgbClr val="D8D8D4"/>
                          </a:solidFill>
                        </a:lnR>
                        <a:lnT w="7620">
                          <a:solidFill>
                            <a:srgbClr val="D8D8D4"/>
                          </a:solidFill>
                        </a:lnT>
                        <a:lnB w="7620">
                          <a:solidFill>
                            <a:srgbClr val="D8D8D4"/>
                          </a:solidFill>
                        </a:lnB>
                        <a:solidFill>
                          <a:srgbClr val="FFFFFF"/>
                        </a:solidFill>
                      </a:tcPr>
                    </a:tc>
                  </a:tr>
                  <a:tr h="428625">
                    <a:tc>
                      <a:txBody>
                        <a:bodyPr wrap="none" anchor="ctr" lIns="0" tIns="0" rIns="0" bIns="0">
                          <a:noAutofit/>
                        </a:bodyPr>
                        <a:lstStyle/>
                        <a:p>
                          <a:pPr algn="ctr"/>
                          <a:r>
                            <a:rPr lang="zh-CN" sz="2184">
                              <a:solidFill>
                                <a:srgbClr val="222222"/>
                              </a:solidFill>
                              <a:latin typeface="Arial"/>
                              <a:ea typeface="Times New Roman"/>
                              <a:cs typeface="Times New Roman"/>
                            </a:rPr>
                            <a:t>…</a:t>
                          </a:r>
                          <a:endParaRPr lang="zh-CN" sz="2184">
                            <a:solidFill>
                              <a:srgbClr val="222222"/>
                            </a:solidFill>
                            <a:latin typeface="Arial"/>
                          </a:endParaRPr>
                        </a:p>
                      </a:txBody>
                      <a:tcPr marL="18288" marR="18288" marT="9144" marB="9144" anchor="ctr">
                        <a:lnL w="7620">
                          <a:solidFill>
                            <a:srgbClr val="D8D8D4"/>
                          </a:solidFill>
                        </a:lnL>
                        <a:lnR w="7620">
                          <a:solidFill>
                            <a:srgbClr val="D8D8D4"/>
                          </a:solidFill>
                        </a:lnR>
                        <a:lnT w="7620">
                          <a:solidFill>
                            <a:srgbClr val="D8D8D4"/>
                          </a:solidFill>
                        </a:lnT>
                        <a:lnB w="7620">
                          <a:solidFill>
                            <a:srgbClr val="D8D8D4"/>
                          </a:solidFill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 wrap="none" anchor="ctr" lIns="0" tIns="0" rIns="0" bIns="0">
                          <a:noAutofit/>
                        </a:bodyPr>
                        <a:lstStyle/>
                        <a:p>
                          <a:pPr algn="ctr"/>
                          <a:r>
                            <a:rPr lang="zh-CN" sz="2184">
                              <a:solidFill>
                                <a:srgbClr val="222222"/>
                              </a:solidFill>
                              <a:latin typeface="Arial"/>
                              <a:ea typeface="Times New Roman"/>
                              <a:cs typeface="Times New Roman"/>
                            </a:rPr>
                            <a:t>…</a:t>
                          </a:r>
                          <a:endParaRPr lang="zh-CN" sz="2184">
                            <a:solidFill>
                              <a:srgbClr val="222222"/>
                            </a:solidFill>
                            <a:latin typeface="Arial"/>
                          </a:endParaRPr>
                        </a:p>
                      </a:txBody>
                      <a:tcPr marL="18288" marR="18288" marT="9144" marB="9144" anchor="ctr">
                        <a:lnL w="7620">
                          <a:solidFill>
                            <a:srgbClr val="D8D8D4"/>
                          </a:solidFill>
                        </a:lnL>
                        <a:lnR w="7620">
                          <a:solidFill>
                            <a:srgbClr val="D8D8D4"/>
                          </a:solidFill>
                        </a:lnR>
                        <a:lnT w="7620">
                          <a:solidFill>
                            <a:srgbClr val="D8D8D4"/>
                          </a:solidFill>
                        </a:lnT>
                        <a:lnB w="7620">
                          <a:solidFill>
                            <a:srgbClr val="D8D8D4"/>
                          </a:solidFill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 wrap="none" anchor="ctr" lIns="0" tIns="0" rIns="0" bIns="0">
                          <a:noAutofit/>
                        </a:bodyPr>
                        <a:lstStyle/>
                        <a:p>
                          <a:pPr algn="ctr"/>
                          <a:r>
                            <a:rPr lang="zh-CN" sz="2184">
                              <a:solidFill>
                                <a:srgbClr val="222222"/>
                              </a:solidFill>
                              <a:latin typeface="Arial"/>
                              <a:ea typeface="Times New Roman"/>
                              <a:cs typeface="Times New Roman"/>
                            </a:rPr>
                            <a:t>…</a:t>
                          </a:r>
                          <a:endParaRPr lang="zh-CN" sz="2184">
                            <a:solidFill>
                              <a:srgbClr val="222222"/>
                            </a:solidFill>
                            <a:latin typeface="Arial"/>
                          </a:endParaRPr>
                        </a:p>
                      </a:txBody>
                      <a:tcPr marL="18288" marR="18288" marT="9144" marB="9144" anchor="ctr">
                        <a:lnL w="7620">
                          <a:solidFill>
                            <a:srgbClr val="D8D8D4"/>
                          </a:solidFill>
                        </a:lnL>
                        <a:lnR w="7620">
                          <a:solidFill>
                            <a:srgbClr val="D8D8D4"/>
                          </a:solidFill>
                        </a:lnR>
                        <a:lnT w="7620">
                          <a:solidFill>
                            <a:srgbClr val="D8D8D4"/>
                          </a:solidFill>
                        </a:lnT>
                        <a:lnB w="7620">
                          <a:solidFill>
                            <a:srgbClr val="D8D8D4"/>
                          </a:solidFill>
                        </a:lnB>
                        <a:solidFill>
                          <a:srgbClr val="FFFFFF"/>
                        </a:solidFill>
                      </a:tcPr>
                    </a:tc>
                  </a:tr>
                </a:tbl>
              </a:graphicData>
            </a:graphic>
          </p:graphicFrame>
          <p:sp>
            <p:nvSpPr>
              <p:cNvPr id="178" name="TextBox 178"/>
              <p:cNvSpPr txBox="1"/>
              <p:nvPr/>
            </p:nvSpPr>
            <p:spPr>
              <a:xfrm>
                <a:off x="304800" y="2143125"/>
                <a:ext cx="3857625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l"/>
                <a:r>
                  <a:rPr lang="zh-CN" sz="2196" b="1">
                    <a:solidFill>
                      <a:srgbClr val="222222"/>
                    </a:solidFill>
                    <a:latin typeface="Comic Sans MS"/>
                    <a:ea typeface="Times New Roman"/>
                    <a:cs typeface="Times New Roman"/>
                  </a:rPr>
                  <a:t>Data management</a:t>
                </a:r>
                <a:endParaRPr lang="zh-CN" sz="2196">
                  <a:solidFill>
                    <a:srgbClr val="222222"/>
                  </a:solidFill>
                  <a:latin typeface="Comic Sans MS"/>
                </a:endParaRPr>
              </a:p>
            </p:txBody>
          </p:sp>
          <p:sp>
            <p:nvSpPr>
              <p:cNvPr id="182" name="TextBox 182"/>
              <p:cNvSpPr txBox="1"/>
              <p:nvPr/>
            </p:nvSpPr>
            <p:spPr>
              <a:xfrm>
                <a:off x="1095375" y="5314950"/>
                <a:ext cx="1238250" cy="3238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l"/>
                <a:r>
                  <a:rPr lang="zh-CN" sz="1922">
                    <a:solidFill>
                      <a:srgbClr val="222222"/>
                    </a:solidFill>
                    <a:latin typeface="Arial"/>
                    <a:ea typeface="Times New Roman"/>
                    <a:cs typeface="Times New Roman"/>
                  </a:rPr>
                  <a:t>Source</a:t>
                </a:r>
                <a:endParaRPr lang="zh-CN" sz="1922">
                  <a:solidFill>
                    <a:srgbClr val="222222"/>
                  </a:solidFill>
                  <a:latin typeface="Arial"/>
                </a:endParaRPr>
              </a:p>
            </p:txBody>
          </p:sp>
          <p:sp>
            <p:nvSpPr>
              <p:cNvPr id="183" name="TextBox 183"/>
              <p:cNvSpPr txBox="1"/>
              <p:nvPr/>
            </p:nvSpPr>
            <p:spPr>
              <a:xfrm>
                <a:off x="3048000" y="5314950"/>
                <a:ext cx="1143000" cy="3238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l"/>
                <a:r>
                  <a:rPr lang="zh-CN" sz="1922">
                    <a:solidFill>
                      <a:srgbClr val="222222"/>
                    </a:solidFill>
                    <a:latin typeface="Arial"/>
                    <a:ea typeface="Times New Roman"/>
                    <a:cs typeface="Times New Roman"/>
                  </a:rPr>
                  <a:t>Version</a:t>
                </a:r>
                <a:endParaRPr lang="zh-CN" sz="1922">
                  <a:solidFill>
                    <a:srgbClr val="222222"/>
                  </a:solidFill>
                  <a:latin typeface="Arial"/>
                </a:endParaRPr>
              </a:p>
            </p:txBody>
          </p:sp>
          <p:sp>
            <p:nvSpPr>
              <p:cNvPr id="184" name="TextBox 184"/>
              <p:cNvSpPr txBox="1"/>
              <p:nvPr/>
            </p:nvSpPr>
            <p:spPr>
              <a:xfrm>
                <a:off x="428625" y="5981700"/>
                <a:ext cx="3667125" cy="2857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1922">
                    <a:solidFill>
                      <a:srgbClr val="222222"/>
                    </a:solidFill>
                    <a:latin typeface="Arial"/>
                    <a:ea typeface="Times New Roman"/>
                    <a:cs typeface="Times New Roman"/>
                  </a:rPr>
                  <a:t>series + index</a:t>
                </a:r>
                <a:endParaRPr lang="zh-CN" sz="1922">
                  <a:solidFill>
                    <a:srgbClr val="222222"/>
                  </a:solidFill>
                  <a:latin typeface="Arial"/>
                </a:endParaRPr>
              </a:p>
            </p:txBody>
          </p:sp>
        </p:grpSp>
        <p:grpSp>
          <p:nvGrpSpPr>
            <p:cNvPr id="202" name="Temporal processing"/>
            <p:cNvGrpSpPr/>
            <p:nvPr/>
          </p:nvGrpSpPr>
          <p:grpSpPr>
            <a:xfrm>
              <a:off x="4324350" y="2143125"/>
              <a:ext cx="4076700" cy="4257675"/>
              <a:chOff x="4324350" y="2143125"/>
              <a:chExt cx="4076700" cy="4257675"/>
            </a:xfrm>
          </p:grpSpPr>
          <p:sp>
            <p:nvSpPr>
              <p:cNvPr id="17" name="Rect 17"/>
              <p:cNvSpPr/>
              <p:nvPr/>
            </p:nvSpPr>
            <p:spPr>
              <a:xfrm>
                <a:off x="6076950" y="3105150"/>
                <a:ext cx="1076325" cy="552450"/>
              </a:xfrm>
              <a:prstGeom prst="rect">
                <a:avLst/>
              </a:prstGeom>
              <a:gradFill rotWithShape="1">
                <a:gsLst>
                  <a:gs pos="0">
                    <a:srgbClr val="F8FAFB"/>
                  </a:gs>
                  <a:gs pos="100000">
                    <a:srgbClr val="DCE5EB"/>
                  </a:gs>
                </a:gsLst>
                <a:lin ang="5400000" scaled="1"/>
              </a:gradFill>
              <a:ln>
                <a:noFill/>
              </a:ln>
            </p:spPr>
            <p:txBody>
              <a:bodyPr/>
              <a:lstStyle/>
              <a:p/>
            </p:txBody>
          </p:sp>
          <p:sp>
            <p:nvSpPr>
              <p:cNvPr id="18" name="Ellipse 18"/>
              <p:cNvSpPr/>
              <p:nvPr/>
            </p:nvSpPr>
            <p:spPr>
              <a:xfrm>
                <a:off x="4780598" y="3347275"/>
                <a:ext cx="59055" cy="59055"/>
              </a:xfrm>
              <a:prstGeom prst="ellipse">
                <a:avLst/>
              </a:prstGeom>
              <a:solidFill>
                <a:srgbClr val="000000"/>
              </a:solidFill>
              <a:ln w="6350" cap="rnd">
                <a:solidFill>
                  <a:srgbClr val="000000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19" name="Ellipse 19"/>
              <p:cNvSpPr/>
              <p:nvPr/>
            </p:nvSpPr>
            <p:spPr>
              <a:xfrm>
                <a:off x="5037772" y="3288982"/>
                <a:ext cx="59055" cy="59055"/>
              </a:xfrm>
              <a:prstGeom prst="ellipse">
                <a:avLst/>
              </a:prstGeom>
              <a:solidFill>
                <a:srgbClr val="000000"/>
              </a:solidFill>
              <a:ln w="6350" cap="rnd">
                <a:solidFill>
                  <a:srgbClr val="000000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20" name="Ellipse 20"/>
              <p:cNvSpPr/>
              <p:nvPr/>
            </p:nvSpPr>
            <p:spPr>
              <a:xfrm>
                <a:off x="5294948" y="3449288"/>
                <a:ext cx="59055" cy="59055"/>
              </a:xfrm>
              <a:prstGeom prst="ellipse">
                <a:avLst/>
              </a:prstGeom>
              <a:solidFill>
                <a:srgbClr val="000000"/>
              </a:solidFill>
              <a:ln w="6350" cap="rnd">
                <a:solidFill>
                  <a:srgbClr val="000000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21" name="Ellipse 21"/>
              <p:cNvSpPr/>
              <p:nvPr/>
            </p:nvSpPr>
            <p:spPr>
              <a:xfrm>
                <a:off x="5552122" y="3361849"/>
                <a:ext cx="59055" cy="59055"/>
              </a:xfrm>
              <a:prstGeom prst="ellipse">
                <a:avLst/>
              </a:prstGeom>
              <a:solidFill>
                <a:srgbClr val="000000"/>
              </a:solidFill>
              <a:ln w="6350" cap="rnd">
                <a:solidFill>
                  <a:srgbClr val="000000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22" name="Ellipse 22"/>
              <p:cNvSpPr/>
              <p:nvPr/>
            </p:nvSpPr>
            <p:spPr>
              <a:xfrm>
                <a:off x="5809297" y="3201543"/>
                <a:ext cx="59055" cy="59055"/>
              </a:xfrm>
              <a:prstGeom prst="ellipse">
                <a:avLst/>
              </a:prstGeom>
              <a:solidFill>
                <a:srgbClr val="000000"/>
              </a:solidFill>
              <a:ln w="6350" cap="rnd">
                <a:solidFill>
                  <a:srgbClr val="000000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23" name="Ellipse 23"/>
              <p:cNvSpPr/>
              <p:nvPr/>
            </p:nvSpPr>
            <p:spPr>
              <a:xfrm>
                <a:off x="6066472" y="3390995"/>
                <a:ext cx="59055" cy="59055"/>
              </a:xfrm>
              <a:prstGeom prst="ellipse">
                <a:avLst/>
              </a:prstGeom>
              <a:solidFill>
                <a:srgbClr val="000000"/>
              </a:solidFill>
              <a:ln w="6350" cap="rnd">
                <a:solidFill>
                  <a:srgbClr val="000000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24" name="Ellipse 24"/>
              <p:cNvSpPr/>
              <p:nvPr/>
            </p:nvSpPr>
            <p:spPr>
              <a:xfrm>
                <a:off x="6323648" y="3269552"/>
                <a:ext cx="59055" cy="59055"/>
              </a:xfrm>
              <a:prstGeom prst="ellipse">
                <a:avLst/>
              </a:prstGeom>
              <a:solidFill>
                <a:srgbClr val="000000"/>
              </a:solidFill>
              <a:ln w="6350" cap="rnd">
                <a:solidFill>
                  <a:srgbClr val="000000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25" name="Ellipse 25"/>
              <p:cNvSpPr/>
              <p:nvPr/>
            </p:nvSpPr>
            <p:spPr>
              <a:xfrm>
                <a:off x="6580822" y="3182112"/>
                <a:ext cx="59055" cy="59055"/>
              </a:xfrm>
              <a:prstGeom prst="ellipse">
                <a:avLst/>
              </a:prstGeom>
              <a:solidFill>
                <a:srgbClr val="000000"/>
              </a:solidFill>
              <a:ln w="6350" cap="rnd">
                <a:solidFill>
                  <a:srgbClr val="000000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26" name="Ellipse 26"/>
              <p:cNvSpPr/>
              <p:nvPr/>
            </p:nvSpPr>
            <p:spPr>
              <a:xfrm>
                <a:off x="6837997" y="3250121"/>
                <a:ext cx="59055" cy="59055"/>
              </a:xfrm>
              <a:prstGeom prst="ellipse">
                <a:avLst/>
              </a:prstGeom>
              <a:solidFill>
                <a:srgbClr val="000000"/>
              </a:solidFill>
              <a:ln w="6350" cap="rnd">
                <a:solidFill>
                  <a:srgbClr val="000000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27" name="Ellipse 27"/>
              <p:cNvSpPr/>
              <p:nvPr/>
            </p:nvSpPr>
            <p:spPr>
              <a:xfrm>
                <a:off x="7095172" y="3337560"/>
                <a:ext cx="59055" cy="59055"/>
              </a:xfrm>
              <a:prstGeom prst="ellipse">
                <a:avLst/>
              </a:prstGeom>
              <a:solidFill>
                <a:srgbClr val="000000"/>
              </a:solidFill>
              <a:ln w="6350" cap="rnd">
                <a:solidFill>
                  <a:srgbClr val="000000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28" name="Ellipse 28"/>
              <p:cNvSpPr/>
              <p:nvPr/>
            </p:nvSpPr>
            <p:spPr>
              <a:xfrm>
                <a:off x="7352348" y="3434715"/>
                <a:ext cx="59055" cy="59055"/>
              </a:xfrm>
              <a:prstGeom prst="ellipse">
                <a:avLst/>
              </a:prstGeom>
              <a:solidFill>
                <a:srgbClr val="000000"/>
              </a:solidFill>
              <a:ln w="6350" cap="rnd">
                <a:solidFill>
                  <a:srgbClr val="000000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29" name="Ellipse 29"/>
              <p:cNvSpPr/>
              <p:nvPr/>
            </p:nvSpPr>
            <p:spPr>
              <a:xfrm>
                <a:off x="7609522" y="3356991"/>
                <a:ext cx="59055" cy="59055"/>
              </a:xfrm>
              <a:prstGeom prst="ellipse">
                <a:avLst/>
              </a:prstGeom>
              <a:solidFill>
                <a:srgbClr val="000000"/>
              </a:solidFill>
              <a:ln w="6350" cap="rnd">
                <a:solidFill>
                  <a:srgbClr val="000000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30" name="Ellipse 30"/>
              <p:cNvSpPr/>
              <p:nvPr/>
            </p:nvSpPr>
            <p:spPr>
              <a:xfrm>
                <a:off x="7866698" y="3284125"/>
                <a:ext cx="59055" cy="59055"/>
              </a:xfrm>
              <a:prstGeom prst="ellipse">
                <a:avLst/>
              </a:prstGeom>
              <a:solidFill>
                <a:srgbClr val="000000"/>
              </a:solidFill>
              <a:ln w="6350" cap="rnd">
                <a:solidFill>
                  <a:srgbClr val="000000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31" name="Ellipse 31"/>
              <p:cNvSpPr/>
              <p:nvPr/>
            </p:nvSpPr>
            <p:spPr>
              <a:xfrm>
                <a:off x="8123872" y="3376422"/>
                <a:ext cx="59055" cy="59055"/>
              </a:xfrm>
              <a:prstGeom prst="ellipse">
                <a:avLst/>
              </a:prstGeom>
              <a:solidFill>
                <a:srgbClr val="000000"/>
              </a:solidFill>
              <a:ln w="6350" cap="rnd">
                <a:solidFill>
                  <a:srgbClr val="000000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32" name="Ellipse 32"/>
              <p:cNvSpPr/>
              <p:nvPr/>
            </p:nvSpPr>
            <p:spPr>
              <a:xfrm>
                <a:off x="4828222" y="4761548"/>
                <a:ext cx="59055" cy="59055"/>
              </a:xfrm>
              <a:prstGeom prst="ellipse">
                <a:avLst/>
              </a:prstGeom>
              <a:solidFill>
                <a:srgbClr val="000000"/>
              </a:solidFill>
              <a:ln w="6350" cap="rnd">
                <a:solidFill>
                  <a:srgbClr val="000000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33" name="Ellipse 33"/>
              <p:cNvSpPr/>
              <p:nvPr/>
            </p:nvSpPr>
            <p:spPr>
              <a:xfrm>
                <a:off x="5240972" y="4692968"/>
                <a:ext cx="59055" cy="59055"/>
              </a:xfrm>
              <a:prstGeom prst="ellipse">
                <a:avLst/>
              </a:prstGeom>
              <a:solidFill>
                <a:srgbClr val="000000"/>
              </a:solidFill>
              <a:ln w="6350" cap="rnd">
                <a:solidFill>
                  <a:srgbClr val="000000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34" name="Ellipse 34"/>
              <p:cNvSpPr/>
              <p:nvPr/>
            </p:nvSpPr>
            <p:spPr>
              <a:xfrm>
                <a:off x="5653722" y="4551998"/>
                <a:ext cx="59055" cy="59055"/>
              </a:xfrm>
              <a:prstGeom prst="ellipse">
                <a:avLst/>
              </a:prstGeom>
              <a:solidFill>
                <a:srgbClr val="000000"/>
              </a:solidFill>
              <a:ln w="6350" cap="rnd">
                <a:solidFill>
                  <a:srgbClr val="000000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35" name="Ellipse 35"/>
              <p:cNvSpPr/>
              <p:nvPr/>
            </p:nvSpPr>
            <p:spPr>
              <a:xfrm>
                <a:off x="6066472" y="4750118"/>
                <a:ext cx="59055" cy="59055"/>
              </a:xfrm>
              <a:prstGeom prst="ellipse">
                <a:avLst/>
              </a:prstGeom>
              <a:solidFill>
                <a:srgbClr val="000000"/>
              </a:solidFill>
              <a:ln w="6350" cap="rnd">
                <a:solidFill>
                  <a:srgbClr val="000000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36" name="Ellipse 36"/>
              <p:cNvSpPr/>
              <p:nvPr/>
            </p:nvSpPr>
            <p:spPr>
              <a:xfrm>
                <a:off x="6685598" y="4761548"/>
                <a:ext cx="59055" cy="59055"/>
              </a:xfrm>
              <a:prstGeom prst="ellipse">
                <a:avLst/>
              </a:prstGeom>
              <a:solidFill>
                <a:srgbClr val="000000"/>
              </a:solidFill>
              <a:ln w="6350" cap="rnd">
                <a:solidFill>
                  <a:srgbClr val="000000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37" name="Ellipse 37"/>
              <p:cNvSpPr/>
              <p:nvPr/>
            </p:nvSpPr>
            <p:spPr>
              <a:xfrm>
                <a:off x="6889705" y="4715828"/>
                <a:ext cx="59055" cy="59055"/>
              </a:xfrm>
              <a:prstGeom prst="ellipse">
                <a:avLst/>
              </a:prstGeom>
              <a:solidFill>
                <a:srgbClr val="000000"/>
              </a:solidFill>
              <a:ln w="6350" cap="rnd">
                <a:solidFill>
                  <a:srgbClr val="000000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38" name="Ellipse 38"/>
              <p:cNvSpPr/>
              <p:nvPr/>
            </p:nvSpPr>
            <p:spPr>
              <a:xfrm>
                <a:off x="7093812" y="4666298"/>
                <a:ext cx="59055" cy="59055"/>
              </a:xfrm>
              <a:prstGeom prst="ellipse">
                <a:avLst/>
              </a:prstGeom>
              <a:solidFill>
                <a:srgbClr val="000000"/>
              </a:solidFill>
              <a:ln w="6350" cap="rnd">
                <a:solidFill>
                  <a:srgbClr val="000000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39" name="Ellipse 39"/>
              <p:cNvSpPr/>
              <p:nvPr/>
            </p:nvSpPr>
            <p:spPr>
              <a:xfrm>
                <a:off x="7297919" y="4582478"/>
                <a:ext cx="59055" cy="59055"/>
              </a:xfrm>
              <a:prstGeom prst="ellipse">
                <a:avLst/>
              </a:prstGeom>
              <a:solidFill>
                <a:srgbClr val="000000"/>
              </a:solidFill>
              <a:ln w="6350" cap="rnd">
                <a:solidFill>
                  <a:srgbClr val="000000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40" name="Ellipse 40"/>
              <p:cNvSpPr/>
              <p:nvPr/>
            </p:nvSpPr>
            <p:spPr>
              <a:xfrm>
                <a:off x="7502026" y="4551998"/>
                <a:ext cx="59055" cy="59055"/>
              </a:xfrm>
              <a:prstGeom prst="ellipse">
                <a:avLst/>
              </a:prstGeom>
              <a:solidFill>
                <a:srgbClr val="000000"/>
              </a:solidFill>
              <a:ln w="6350" cap="rnd">
                <a:solidFill>
                  <a:srgbClr val="000000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41" name="Ellipse 41"/>
              <p:cNvSpPr/>
              <p:nvPr/>
            </p:nvSpPr>
            <p:spPr>
              <a:xfrm>
                <a:off x="7706133" y="4624388"/>
                <a:ext cx="59055" cy="59055"/>
              </a:xfrm>
              <a:prstGeom prst="ellipse">
                <a:avLst/>
              </a:prstGeom>
              <a:solidFill>
                <a:srgbClr val="000000"/>
              </a:solidFill>
              <a:ln w="6350" cap="rnd">
                <a:solidFill>
                  <a:srgbClr val="000000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42" name="Ellipse 42"/>
              <p:cNvSpPr/>
              <p:nvPr/>
            </p:nvSpPr>
            <p:spPr>
              <a:xfrm>
                <a:off x="7910240" y="4723448"/>
                <a:ext cx="59055" cy="59055"/>
              </a:xfrm>
              <a:prstGeom prst="ellipse">
                <a:avLst/>
              </a:prstGeom>
              <a:solidFill>
                <a:srgbClr val="000000"/>
              </a:solidFill>
              <a:ln w="6350" cap="rnd">
                <a:solidFill>
                  <a:srgbClr val="000000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43" name="Ellipse 43"/>
              <p:cNvSpPr/>
              <p:nvPr/>
            </p:nvSpPr>
            <p:spPr>
              <a:xfrm>
                <a:off x="8114347" y="4750118"/>
                <a:ext cx="59055" cy="59055"/>
              </a:xfrm>
              <a:prstGeom prst="ellipse">
                <a:avLst/>
              </a:prstGeom>
              <a:solidFill>
                <a:srgbClr val="000000"/>
              </a:solidFill>
              <a:ln w="6350" cap="rnd">
                <a:solidFill>
                  <a:srgbClr val="000000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44" name="Ellipse 44"/>
              <p:cNvSpPr/>
              <p:nvPr/>
            </p:nvSpPr>
            <p:spPr>
              <a:xfrm>
                <a:off x="5066347" y="5769292"/>
                <a:ext cx="59055" cy="59055"/>
              </a:xfrm>
              <a:prstGeom prst="ellipse">
                <a:avLst/>
              </a:prstGeom>
              <a:solidFill>
                <a:srgbClr val="000000"/>
              </a:solidFill>
              <a:ln w="6350" cap="rnd">
                <a:solidFill>
                  <a:srgbClr val="000000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45" name="Ellipse 45"/>
              <p:cNvSpPr/>
              <p:nvPr/>
            </p:nvSpPr>
            <p:spPr>
              <a:xfrm>
                <a:off x="5363528" y="5660708"/>
                <a:ext cx="59055" cy="59055"/>
              </a:xfrm>
              <a:prstGeom prst="ellipse">
                <a:avLst/>
              </a:prstGeom>
              <a:solidFill>
                <a:srgbClr val="000000"/>
              </a:solidFill>
              <a:ln w="6350" cap="rnd">
                <a:solidFill>
                  <a:srgbClr val="000000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46" name="Ellipse 46"/>
              <p:cNvSpPr/>
              <p:nvPr/>
            </p:nvSpPr>
            <p:spPr>
              <a:xfrm>
                <a:off x="5660708" y="5707761"/>
                <a:ext cx="59055" cy="59055"/>
              </a:xfrm>
              <a:prstGeom prst="ellipse">
                <a:avLst/>
              </a:prstGeom>
              <a:solidFill>
                <a:srgbClr val="000000"/>
              </a:solidFill>
              <a:ln w="6350" cap="rnd">
                <a:solidFill>
                  <a:srgbClr val="000000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47" name="Ellipse 47"/>
              <p:cNvSpPr/>
              <p:nvPr/>
            </p:nvSpPr>
            <p:spPr>
              <a:xfrm>
                <a:off x="5957888" y="5570220"/>
                <a:ext cx="59055" cy="59055"/>
              </a:xfrm>
              <a:prstGeom prst="ellipse">
                <a:avLst/>
              </a:prstGeom>
              <a:solidFill>
                <a:srgbClr val="000000"/>
              </a:solidFill>
              <a:ln w="6350" cap="rnd">
                <a:solidFill>
                  <a:srgbClr val="000000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48" name="Ellipse 48"/>
              <p:cNvSpPr/>
              <p:nvPr/>
            </p:nvSpPr>
            <p:spPr>
              <a:xfrm>
                <a:off x="6255068" y="5646230"/>
                <a:ext cx="59055" cy="59055"/>
              </a:xfrm>
              <a:prstGeom prst="ellipse">
                <a:avLst/>
              </a:prstGeom>
              <a:solidFill>
                <a:srgbClr val="000000"/>
              </a:solidFill>
              <a:ln w="6350" cap="rnd">
                <a:solidFill>
                  <a:srgbClr val="000000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49" name="Ellipse 49"/>
              <p:cNvSpPr/>
              <p:nvPr/>
            </p:nvSpPr>
            <p:spPr>
              <a:xfrm>
                <a:off x="6552248" y="5740337"/>
                <a:ext cx="59055" cy="59055"/>
              </a:xfrm>
              <a:prstGeom prst="ellipse">
                <a:avLst/>
              </a:prstGeom>
              <a:solidFill>
                <a:srgbClr val="000000"/>
              </a:solidFill>
              <a:ln w="6350" cap="rnd">
                <a:solidFill>
                  <a:srgbClr val="000000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50" name="Ellipse 50"/>
              <p:cNvSpPr/>
              <p:nvPr/>
            </p:nvSpPr>
            <p:spPr>
              <a:xfrm>
                <a:off x="6849428" y="5787390"/>
                <a:ext cx="59055" cy="59055"/>
              </a:xfrm>
              <a:prstGeom prst="ellipse">
                <a:avLst/>
              </a:prstGeom>
              <a:solidFill>
                <a:srgbClr val="000000"/>
              </a:solidFill>
              <a:ln w="6350" cap="rnd">
                <a:solidFill>
                  <a:srgbClr val="000000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51" name="Ellipse 51"/>
              <p:cNvSpPr/>
              <p:nvPr/>
            </p:nvSpPr>
            <p:spPr>
              <a:xfrm>
                <a:off x="7146608" y="5696903"/>
                <a:ext cx="59055" cy="59055"/>
              </a:xfrm>
              <a:prstGeom prst="ellipse">
                <a:avLst/>
              </a:prstGeom>
              <a:solidFill>
                <a:srgbClr val="000000"/>
              </a:solidFill>
              <a:ln w="6350" cap="rnd">
                <a:solidFill>
                  <a:srgbClr val="000000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52" name="Ellipse 52"/>
              <p:cNvSpPr/>
              <p:nvPr/>
            </p:nvSpPr>
            <p:spPr>
              <a:xfrm>
                <a:off x="7443788" y="5595556"/>
                <a:ext cx="59055" cy="59055"/>
              </a:xfrm>
              <a:prstGeom prst="ellipse">
                <a:avLst/>
              </a:prstGeom>
              <a:solidFill>
                <a:srgbClr val="000000"/>
              </a:solidFill>
              <a:ln w="6350" cap="rnd">
                <a:solidFill>
                  <a:srgbClr val="000000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53" name="Ellipse 53"/>
              <p:cNvSpPr/>
              <p:nvPr/>
            </p:nvSpPr>
            <p:spPr>
              <a:xfrm>
                <a:off x="7740967" y="5646230"/>
                <a:ext cx="59055" cy="59055"/>
              </a:xfrm>
              <a:prstGeom prst="ellipse">
                <a:avLst/>
              </a:prstGeom>
              <a:solidFill>
                <a:srgbClr val="000000"/>
              </a:solidFill>
              <a:ln w="6350" cap="rnd">
                <a:solidFill>
                  <a:srgbClr val="000000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54" name="Ellipse 54"/>
              <p:cNvSpPr/>
              <p:nvPr/>
            </p:nvSpPr>
            <p:spPr>
              <a:xfrm>
                <a:off x="8038148" y="5751195"/>
                <a:ext cx="59055" cy="59055"/>
              </a:xfrm>
              <a:prstGeom prst="ellipse">
                <a:avLst/>
              </a:prstGeom>
              <a:solidFill>
                <a:srgbClr val="000000"/>
              </a:solidFill>
              <a:ln w="6350" cap="rnd">
                <a:solidFill>
                  <a:srgbClr val="000000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55" name="Ellipse 55"/>
              <p:cNvSpPr/>
              <p:nvPr/>
            </p:nvSpPr>
            <p:spPr>
              <a:xfrm>
                <a:off x="5066347" y="6074092"/>
                <a:ext cx="59055" cy="59055"/>
              </a:xfrm>
              <a:prstGeom prst="ellipse">
                <a:avLst/>
              </a:prstGeom>
              <a:solidFill>
                <a:srgbClr val="000000"/>
              </a:solidFill>
              <a:ln w="6350" cap="rnd">
                <a:solidFill>
                  <a:srgbClr val="000000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56" name="Ellipse 56"/>
              <p:cNvSpPr/>
              <p:nvPr/>
            </p:nvSpPr>
            <p:spPr>
              <a:xfrm>
                <a:off x="5363528" y="6099810"/>
                <a:ext cx="59055" cy="59055"/>
              </a:xfrm>
              <a:prstGeom prst="ellipse">
                <a:avLst/>
              </a:prstGeom>
              <a:solidFill>
                <a:srgbClr val="000000"/>
              </a:solidFill>
              <a:ln w="6350" cap="rnd">
                <a:solidFill>
                  <a:srgbClr val="000000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57" name="Ellipse 57"/>
              <p:cNvSpPr/>
              <p:nvPr/>
            </p:nvSpPr>
            <p:spPr>
              <a:xfrm>
                <a:off x="5660708" y="6148673"/>
                <a:ext cx="59055" cy="59055"/>
              </a:xfrm>
              <a:prstGeom prst="ellipse">
                <a:avLst/>
              </a:prstGeom>
              <a:solidFill>
                <a:srgbClr val="000000"/>
              </a:solidFill>
              <a:ln w="6350" cap="rnd">
                <a:solidFill>
                  <a:srgbClr val="000000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58" name="Ellipse 58"/>
              <p:cNvSpPr/>
              <p:nvPr/>
            </p:nvSpPr>
            <p:spPr>
              <a:xfrm>
                <a:off x="5957888" y="5996940"/>
                <a:ext cx="59055" cy="59055"/>
              </a:xfrm>
              <a:prstGeom prst="ellipse">
                <a:avLst/>
              </a:prstGeom>
              <a:solidFill>
                <a:srgbClr val="000000"/>
              </a:solidFill>
              <a:ln w="6350" cap="rnd">
                <a:solidFill>
                  <a:srgbClr val="000000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59" name="Ellipse 59"/>
              <p:cNvSpPr/>
              <p:nvPr/>
            </p:nvSpPr>
            <p:spPr>
              <a:xfrm>
                <a:off x="6255068" y="6048375"/>
                <a:ext cx="59055" cy="59055"/>
              </a:xfrm>
              <a:prstGeom prst="ellipse">
                <a:avLst/>
              </a:prstGeom>
              <a:solidFill>
                <a:srgbClr val="000000"/>
              </a:solidFill>
              <a:ln w="6350" cap="rnd">
                <a:solidFill>
                  <a:srgbClr val="000000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60" name="Ellipse 60"/>
              <p:cNvSpPr/>
              <p:nvPr/>
            </p:nvSpPr>
            <p:spPr>
              <a:xfrm>
                <a:off x="6552248" y="6128099"/>
                <a:ext cx="59055" cy="59055"/>
              </a:xfrm>
              <a:prstGeom prst="ellipse">
                <a:avLst/>
              </a:prstGeom>
              <a:solidFill>
                <a:srgbClr val="000000"/>
              </a:solidFill>
              <a:ln w="6350" cap="rnd">
                <a:solidFill>
                  <a:srgbClr val="000000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61" name="Ellipse 61"/>
              <p:cNvSpPr/>
              <p:nvPr/>
            </p:nvSpPr>
            <p:spPr>
              <a:xfrm>
                <a:off x="6849428" y="6182106"/>
                <a:ext cx="59055" cy="59055"/>
              </a:xfrm>
              <a:prstGeom prst="ellipse">
                <a:avLst/>
              </a:prstGeom>
              <a:solidFill>
                <a:srgbClr val="000000"/>
              </a:solidFill>
              <a:ln w="6350" cap="rnd">
                <a:solidFill>
                  <a:srgbClr val="000000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62" name="Ellipse 62"/>
              <p:cNvSpPr/>
              <p:nvPr/>
            </p:nvSpPr>
            <p:spPr>
              <a:xfrm>
                <a:off x="7146608" y="6151245"/>
                <a:ext cx="59055" cy="59055"/>
              </a:xfrm>
              <a:prstGeom prst="ellipse">
                <a:avLst/>
              </a:prstGeom>
              <a:solidFill>
                <a:srgbClr val="000000"/>
              </a:solidFill>
              <a:ln w="6350" cap="rnd">
                <a:solidFill>
                  <a:srgbClr val="000000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63" name="Ellipse 63"/>
              <p:cNvSpPr/>
              <p:nvPr/>
            </p:nvSpPr>
            <p:spPr>
              <a:xfrm>
                <a:off x="7443788" y="6061234"/>
                <a:ext cx="59055" cy="59055"/>
              </a:xfrm>
              <a:prstGeom prst="ellipse">
                <a:avLst/>
              </a:prstGeom>
              <a:solidFill>
                <a:srgbClr val="000000"/>
              </a:solidFill>
              <a:ln w="6350" cap="rnd">
                <a:solidFill>
                  <a:srgbClr val="000000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64" name="Ellipse 64"/>
              <p:cNvSpPr/>
              <p:nvPr/>
            </p:nvSpPr>
            <p:spPr>
              <a:xfrm>
                <a:off x="7740967" y="6086951"/>
                <a:ext cx="59055" cy="59055"/>
              </a:xfrm>
              <a:prstGeom prst="ellipse">
                <a:avLst/>
              </a:prstGeom>
              <a:solidFill>
                <a:srgbClr val="000000"/>
              </a:solidFill>
              <a:ln w="6350" cap="rnd">
                <a:solidFill>
                  <a:srgbClr val="000000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65" name="Ellipse 65"/>
              <p:cNvSpPr/>
              <p:nvPr/>
            </p:nvSpPr>
            <p:spPr>
              <a:xfrm>
                <a:off x="8038148" y="6027801"/>
                <a:ext cx="59055" cy="59055"/>
              </a:xfrm>
              <a:prstGeom prst="ellipse">
                <a:avLst/>
              </a:prstGeom>
              <a:solidFill>
                <a:srgbClr val="000000"/>
              </a:solidFill>
              <a:ln w="6350" cap="rnd">
                <a:solidFill>
                  <a:srgbClr val="000000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116" name="Path 116"/>
              <p:cNvSpPr/>
              <p:nvPr/>
            </p:nvSpPr>
            <p:spPr>
              <a:xfrm>
                <a:off x="4324350" y="2257425"/>
                <a:ext cx="9525" cy="414337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0" y="21600"/>
                    </a:lnTo>
                  </a:path>
                </a:pathLst>
              </a:custGeom>
              <a:noFill/>
              <a:ln w="8890">
                <a:solidFill>
                  <a:srgbClr val="D8D8D4"/>
                </a:solidFill>
                <a:prstDash val="solid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119" name="Path 119"/>
              <p:cNvSpPr/>
              <p:nvPr/>
            </p:nvSpPr>
            <p:spPr>
              <a:xfrm>
                <a:off x="4810125" y="3211640"/>
                <a:ext cx="3343275" cy="267176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13353"/>
                    </a:moveTo>
                    <a:lnTo>
                      <a:pt x="1662" y="8640"/>
                    </a:lnTo>
                    <a:lnTo>
                      <a:pt x="3323" y="21600"/>
                    </a:lnTo>
                    <a:lnTo>
                      <a:pt x="4985" y="14531"/>
                    </a:lnTo>
                    <a:lnTo>
                      <a:pt x="6646" y="1571"/>
                    </a:lnTo>
                    <a:lnTo>
                      <a:pt x="8308" y="16887"/>
                    </a:lnTo>
                    <a:lnTo>
                      <a:pt x="9969" y="7069"/>
                    </a:lnTo>
                    <a:lnTo>
                      <a:pt x="11631" y="0"/>
                    </a:lnTo>
                    <a:lnTo>
                      <a:pt x="13292" y="5498"/>
                    </a:lnTo>
                    <a:lnTo>
                      <a:pt x="14954" y="12567"/>
                    </a:lnTo>
                    <a:lnTo>
                      <a:pt x="16615" y="20422"/>
                    </a:lnTo>
                    <a:lnTo>
                      <a:pt x="18277" y="14138"/>
                    </a:lnTo>
                    <a:lnTo>
                      <a:pt x="19938" y="8247"/>
                    </a:lnTo>
                    <a:lnTo>
                      <a:pt x="21600" y="15709"/>
                    </a:lnTo>
                  </a:path>
                </a:pathLst>
              </a:custGeom>
              <a:noFill/>
              <a:ln w="20320" cap="rnd">
                <a:solidFill>
                  <a:srgbClr val="000000"/>
                </a:solidFill>
                <a:prstDash val="solid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120" name="Path 120"/>
              <p:cNvSpPr/>
              <p:nvPr/>
            </p:nvSpPr>
            <p:spPr>
              <a:xfrm>
                <a:off x="6076950" y="3009900"/>
                <a:ext cx="9525" cy="71437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0" y="21600"/>
                    </a:lnTo>
                  </a:path>
                </a:pathLst>
              </a:custGeom>
              <a:noFill/>
              <a:ln w="11430">
                <a:solidFill>
                  <a:srgbClr val="767670"/>
                </a:solidFill>
                <a:prstDash val="dash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121" name="Path 121"/>
              <p:cNvSpPr/>
              <p:nvPr/>
            </p:nvSpPr>
            <p:spPr>
              <a:xfrm>
                <a:off x="7153275" y="3009900"/>
                <a:ext cx="9525" cy="71437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0" y="21600"/>
                    </a:lnTo>
                  </a:path>
                </a:pathLst>
              </a:custGeom>
              <a:noFill/>
              <a:ln w="11430">
                <a:solidFill>
                  <a:srgbClr val="767670"/>
                </a:solidFill>
                <a:prstDash val="dash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122" name="Path 122"/>
              <p:cNvSpPr/>
              <p:nvPr/>
            </p:nvSpPr>
            <p:spPr>
              <a:xfrm>
                <a:off x="4543425" y="3943350"/>
                <a:ext cx="38004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/>
              <a:ln w="8890">
                <a:solidFill>
                  <a:srgbClr val="D8D8D4"/>
                </a:solidFill>
                <a:prstDash val="solid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123" name="Path 123"/>
              <p:cNvSpPr/>
              <p:nvPr/>
            </p:nvSpPr>
            <p:spPr>
              <a:xfrm>
                <a:off x="4857750" y="4581525"/>
                <a:ext cx="1238250" cy="20955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21600"/>
                    </a:moveTo>
                    <a:lnTo>
                      <a:pt x="7200" y="14531"/>
                    </a:lnTo>
                    <a:lnTo>
                      <a:pt x="14400" y="0"/>
                    </a:lnTo>
                    <a:lnTo>
                      <a:pt x="21600" y="20422"/>
                    </a:lnTo>
                  </a:path>
                </a:pathLst>
              </a:custGeom>
              <a:noFill/>
              <a:ln w="20320" cap="rnd">
                <a:solidFill>
                  <a:srgbClr val="000000"/>
                </a:solidFill>
                <a:prstDash val="solid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124" name="Path 124"/>
              <p:cNvSpPr/>
              <p:nvPr/>
            </p:nvSpPr>
            <p:spPr>
              <a:xfrm>
                <a:off x="6248400" y="4714875"/>
                <a:ext cx="2762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/>
              <a:ln w="20955">
                <a:gradFill rotWithShape="1">
                  <a:gsLst>
                    <a:gs pos="0">
                      <a:srgbClr val="87A1B1"/>
                    </a:gs>
                    <a:gs pos="100000">
                      <a:srgbClr val="3E6178"/>
                    </a:gs>
                  </a:gsLst>
                  <a:lin ang="0" scaled="1"/>
                </a:gradFill>
                <a:prstDash val="solid"/>
                <a:tailEnd type="triangle"/>
              </a:ln>
              <a:effectLst>
                <a:outerShdw blurRad="15000" dist="9000" dir="5400000" algn="ctr" rotWithShape="0">
                  <a:srgbClr val="333333">
                    <a:alpha val="12000"/>
                  </a:srgbClr>
                </a:outerShdw>
              </a:effectLst>
            </p:spPr>
            <p:txBody>
              <a:bodyPr/>
              <a:lstStyle/>
              <a:p/>
            </p:txBody>
          </p:sp>
          <p:sp>
            <p:nvSpPr>
              <p:cNvPr id="125" name="Path 125"/>
              <p:cNvSpPr/>
              <p:nvPr/>
            </p:nvSpPr>
            <p:spPr>
              <a:xfrm>
                <a:off x="6715125" y="4581525"/>
                <a:ext cx="1428750" cy="20955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21600"/>
                    </a:moveTo>
                    <a:lnTo>
                      <a:pt x="3086" y="16887"/>
                    </a:lnTo>
                    <a:lnTo>
                      <a:pt x="6171" y="11782"/>
                    </a:lnTo>
                    <a:lnTo>
                      <a:pt x="9257" y="3142"/>
                    </a:lnTo>
                    <a:lnTo>
                      <a:pt x="12343" y="0"/>
                    </a:lnTo>
                    <a:lnTo>
                      <a:pt x="15429" y="7462"/>
                    </a:lnTo>
                    <a:lnTo>
                      <a:pt x="18514" y="17673"/>
                    </a:lnTo>
                    <a:lnTo>
                      <a:pt x="21600" y="20422"/>
                    </a:lnTo>
                  </a:path>
                </a:pathLst>
              </a:custGeom>
              <a:noFill/>
              <a:ln w="20320" cap="rnd">
                <a:solidFill>
                  <a:srgbClr val="000000"/>
                </a:solidFill>
                <a:prstDash val="solid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126" name="Path 126"/>
              <p:cNvSpPr/>
              <p:nvPr/>
            </p:nvSpPr>
            <p:spPr>
              <a:xfrm>
                <a:off x="4543425" y="5124450"/>
                <a:ext cx="38004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/>
              <a:ln w="8890">
                <a:solidFill>
                  <a:srgbClr val="D8D8D4"/>
                </a:solidFill>
                <a:prstDash val="solid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127" name="Path 127"/>
              <p:cNvSpPr/>
              <p:nvPr/>
            </p:nvSpPr>
            <p:spPr>
              <a:xfrm>
                <a:off x="5095875" y="5599748"/>
                <a:ext cx="2971800" cy="21717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19800"/>
                    </a:moveTo>
                    <a:lnTo>
                      <a:pt x="2160" y="9000"/>
                    </a:lnTo>
                    <a:lnTo>
                      <a:pt x="4320" y="13680"/>
                    </a:lnTo>
                    <a:lnTo>
                      <a:pt x="6480" y="0"/>
                    </a:lnTo>
                    <a:lnTo>
                      <a:pt x="8640" y="7560"/>
                    </a:lnTo>
                    <a:lnTo>
                      <a:pt x="10800" y="16920"/>
                    </a:lnTo>
                    <a:lnTo>
                      <a:pt x="12960" y="21600"/>
                    </a:lnTo>
                    <a:lnTo>
                      <a:pt x="15120" y="12600"/>
                    </a:lnTo>
                    <a:lnTo>
                      <a:pt x="17280" y="2520"/>
                    </a:lnTo>
                    <a:lnTo>
                      <a:pt x="19440" y="7560"/>
                    </a:lnTo>
                    <a:lnTo>
                      <a:pt x="21600" y="18000"/>
                    </a:lnTo>
                  </a:path>
                </a:pathLst>
              </a:custGeom>
              <a:noFill/>
              <a:ln w="20320" cap="rnd">
                <a:solidFill>
                  <a:srgbClr val="000000"/>
                </a:solidFill>
                <a:prstDash val="solid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128" name="Path 128"/>
              <p:cNvSpPr/>
              <p:nvPr/>
            </p:nvSpPr>
            <p:spPr>
              <a:xfrm>
                <a:off x="5095875" y="6026468"/>
                <a:ext cx="2971800" cy="185166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9000"/>
                    </a:moveTo>
                    <a:lnTo>
                      <a:pt x="2160" y="12000"/>
                    </a:lnTo>
                    <a:lnTo>
                      <a:pt x="4320" y="17700"/>
                    </a:lnTo>
                    <a:lnTo>
                      <a:pt x="6480" y="0"/>
                    </a:lnTo>
                    <a:lnTo>
                      <a:pt x="8640" y="6000"/>
                    </a:lnTo>
                    <a:lnTo>
                      <a:pt x="10800" y="15300"/>
                    </a:lnTo>
                    <a:lnTo>
                      <a:pt x="12960" y="21600"/>
                    </a:lnTo>
                    <a:lnTo>
                      <a:pt x="15120" y="18000"/>
                    </a:lnTo>
                    <a:lnTo>
                      <a:pt x="17280" y="7500"/>
                    </a:lnTo>
                    <a:lnTo>
                      <a:pt x="19440" y="10500"/>
                    </a:lnTo>
                    <a:lnTo>
                      <a:pt x="21600" y="3600"/>
                    </a:lnTo>
                  </a:path>
                </a:pathLst>
              </a:custGeom>
              <a:noFill/>
              <a:ln w="20320" cap="rnd">
                <a:solidFill>
                  <a:srgbClr val="000000"/>
                </a:solidFill>
                <a:prstDash val="solid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129" name="Path 129"/>
              <p:cNvSpPr/>
              <p:nvPr/>
            </p:nvSpPr>
            <p:spPr>
              <a:xfrm>
                <a:off x="5393055" y="5737860"/>
                <a:ext cx="9525" cy="343853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0" y="21600"/>
                    </a:lnTo>
                  </a:path>
                </a:pathLst>
              </a:custGeom>
              <a:noFill/>
              <a:ln w="8255">
                <a:solidFill>
                  <a:srgbClr val="D8D8D4"/>
                </a:solidFill>
                <a:prstDash val="dash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130" name="Path 130"/>
              <p:cNvSpPr/>
              <p:nvPr/>
            </p:nvSpPr>
            <p:spPr>
              <a:xfrm>
                <a:off x="5987415" y="5647373"/>
                <a:ext cx="9525" cy="33147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0" y="21600"/>
                    </a:lnTo>
                  </a:path>
                </a:pathLst>
              </a:custGeom>
              <a:noFill/>
              <a:ln w="8255">
                <a:solidFill>
                  <a:srgbClr val="D8D8D4"/>
                </a:solidFill>
                <a:prstDash val="dash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131" name="Path 131"/>
              <p:cNvSpPr/>
              <p:nvPr/>
            </p:nvSpPr>
            <p:spPr>
              <a:xfrm>
                <a:off x="6581775" y="5817489"/>
                <a:ext cx="9525" cy="292513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0" y="21600"/>
                    </a:lnTo>
                  </a:path>
                </a:pathLst>
              </a:custGeom>
              <a:noFill/>
              <a:ln w="8255">
                <a:solidFill>
                  <a:srgbClr val="D8D8D4"/>
                </a:solidFill>
                <a:prstDash val="dash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132" name="Path 132"/>
              <p:cNvSpPr/>
              <p:nvPr/>
            </p:nvSpPr>
            <p:spPr>
              <a:xfrm>
                <a:off x="7176135" y="5774055"/>
                <a:ext cx="9525" cy="359092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0" y="21600"/>
                    </a:lnTo>
                  </a:path>
                </a:pathLst>
              </a:custGeom>
              <a:noFill/>
              <a:ln w="8255">
                <a:solidFill>
                  <a:srgbClr val="D8D8D4"/>
                </a:solidFill>
                <a:prstDash val="dash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133" name="Path 133"/>
              <p:cNvSpPr/>
              <p:nvPr/>
            </p:nvSpPr>
            <p:spPr>
              <a:xfrm>
                <a:off x="7770495" y="5723382"/>
                <a:ext cx="9525" cy="345472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0" y="21600"/>
                    </a:lnTo>
                  </a:path>
                </a:pathLst>
              </a:custGeom>
              <a:noFill/>
              <a:ln w="8255">
                <a:solidFill>
                  <a:srgbClr val="D8D8D4"/>
                </a:solidFill>
                <a:prstDash val="dash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179" name="TextBox 179"/>
              <p:cNvSpPr txBox="1"/>
              <p:nvPr/>
            </p:nvSpPr>
            <p:spPr>
              <a:xfrm>
                <a:off x="4543425" y="2143125"/>
                <a:ext cx="3857625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l"/>
                <a:r>
                  <a:rPr lang="zh-CN" sz="2196" b="1">
                    <a:solidFill>
                      <a:srgbClr val="222222"/>
                    </a:solidFill>
                    <a:latin typeface="Comic Sans MS"/>
                    <a:ea typeface="Times New Roman"/>
                    <a:cs typeface="Times New Roman"/>
                  </a:rPr>
                  <a:t>Temporal processing</a:t>
                </a:r>
                <a:endParaRPr lang="zh-CN" sz="2196">
                  <a:solidFill>
                    <a:srgbClr val="222222"/>
                  </a:solidFill>
                  <a:latin typeface="Comic Sans MS"/>
                </a:endParaRPr>
              </a:p>
            </p:txBody>
          </p:sp>
          <p:sp>
            <p:nvSpPr>
              <p:cNvPr id="185" name="TextBox 185"/>
              <p:cNvSpPr txBox="1"/>
              <p:nvPr/>
            </p:nvSpPr>
            <p:spPr>
              <a:xfrm>
                <a:off x="4581525" y="2695575"/>
                <a:ext cx="161925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l"/>
                <a:r>
                  <a:rPr lang="zh-CN" sz="1922">
                    <a:solidFill>
                      <a:srgbClr val="222222"/>
                    </a:solidFill>
                    <a:latin typeface="Arial"/>
                    <a:ea typeface="Times New Roman"/>
                    <a:cs typeface="Times New Roman"/>
                  </a:rPr>
                  <a:t>Window</a:t>
                </a:r>
                <a:endParaRPr lang="zh-CN" sz="1922">
                  <a:solidFill>
                    <a:srgbClr val="222222"/>
                  </a:solidFill>
                  <a:latin typeface="Arial"/>
                </a:endParaRPr>
              </a:p>
            </p:txBody>
          </p:sp>
          <p:sp>
            <p:nvSpPr>
              <p:cNvPr id="186" name="TextBox 186"/>
              <p:cNvSpPr txBox="1"/>
              <p:nvPr/>
            </p:nvSpPr>
            <p:spPr>
              <a:xfrm>
                <a:off x="4581525" y="4057650"/>
                <a:ext cx="161925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l"/>
                <a:r>
                  <a:rPr lang="zh-CN" sz="1922">
                    <a:solidFill>
                      <a:srgbClr val="222222"/>
                    </a:solidFill>
                    <a:latin typeface="Arial"/>
                    <a:ea typeface="Times New Roman"/>
                    <a:cs typeface="Times New Roman"/>
                  </a:rPr>
                  <a:t>Resample</a:t>
                </a:r>
                <a:endParaRPr lang="zh-CN" sz="1922">
                  <a:solidFill>
                    <a:srgbClr val="222222"/>
                  </a:solidFill>
                  <a:latin typeface="Arial"/>
                </a:endParaRPr>
              </a:p>
            </p:txBody>
          </p:sp>
          <p:sp>
            <p:nvSpPr>
              <p:cNvPr id="187" name="TextBox 187"/>
              <p:cNvSpPr txBox="1"/>
              <p:nvPr/>
            </p:nvSpPr>
            <p:spPr>
              <a:xfrm>
                <a:off x="4581525" y="5191125"/>
                <a:ext cx="1428750" cy="2857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l"/>
                <a:r>
                  <a:rPr lang="zh-CN" sz="1922">
                    <a:solidFill>
                      <a:srgbClr val="222222"/>
                    </a:solidFill>
                    <a:latin typeface="Arial"/>
                    <a:ea typeface="Times New Roman"/>
                    <a:cs typeface="Times New Roman"/>
                  </a:rPr>
                  <a:t>Align</a:t>
                </a:r>
                <a:endParaRPr lang="zh-CN" sz="1922">
                  <a:solidFill>
                    <a:srgbClr val="222222"/>
                  </a:solidFill>
                  <a:latin typeface="Arial"/>
                </a:endParaRPr>
              </a:p>
            </p:txBody>
          </p:sp>
        </p:grpSp>
        <p:grpSp>
          <p:nvGrpSpPr>
            <p:cNvPr id="203" name="Context and memory"/>
            <p:cNvGrpSpPr/>
            <p:nvPr/>
          </p:nvGrpSpPr>
          <p:grpSpPr>
            <a:xfrm>
              <a:off x="8505825" y="2143125"/>
              <a:ext cx="4076700" cy="4257675"/>
              <a:chOff x="8505825" y="2143125"/>
              <a:chExt cx="4076700" cy="4257675"/>
            </a:xfrm>
          </p:grpSpPr>
          <p:sp>
            <p:nvSpPr>
              <p:cNvPr id="66" name="Ellipse 66"/>
              <p:cNvSpPr/>
              <p:nvPr/>
            </p:nvSpPr>
            <p:spPr>
              <a:xfrm>
                <a:off x="8895398" y="3632835"/>
                <a:ext cx="59055" cy="59055"/>
              </a:xfrm>
              <a:prstGeom prst="ellipse">
                <a:avLst/>
              </a:prstGeom>
              <a:solidFill>
                <a:srgbClr val="000000"/>
              </a:solidFill>
              <a:ln w="6350" cap="rnd">
                <a:solidFill>
                  <a:srgbClr val="000000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67" name="Ellipse 67"/>
              <p:cNvSpPr/>
              <p:nvPr/>
            </p:nvSpPr>
            <p:spPr>
              <a:xfrm>
                <a:off x="9141687" y="3722180"/>
                <a:ext cx="59055" cy="59055"/>
              </a:xfrm>
              <a:prstGeom prst="ellipse">
                <a:avLst/>
              </a:prstGeom>
              <a:solidFill>
                <a:srgbClr val="000000"/>
              </a:solidFill>
              <a:ln w="6350" cap="rnd">
                <a:solidFill>
                  <a:srgbClr val="000000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68" name="Ellipse 68"/>
              <p:cNvSpPr/>
              <p:nvPr/>
            </p:nvSpPr>
            <p:spPr>
              <a:xfrm>
                <a:off x="9387976" y="3543490"/>
                <a:ext cx="59055" cy="59055"/>
              </a:xfrm>
              <a:prstGeom prst="ellipse">
                <a:avLst/>
              </a:prstGeom>
              <a:solidFill>
                <a:srgbClr val="000000"/>
              </a:solidFill>
              <a:ln w="6350" cap="rnd">
                <a:solidFill>
                  <a:srgbClr val="000000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69" name="Ellipse 69"/>
              <p:cNvSpPr/>
              <p:nvPr/>
            </p:nvSpPr>
            <p:spPr>
              <a:xfrm>
                <a:off x="9634265" y="3645599"/>
                <a:ext cx="59055" cy="59055"/>
              </a:xfrm>
              <a:prstGeom prst="ellipse">
                <a:avLst/>
              </a:prstGeom>
              <a:solidFill>
                <a:srgbClr val="000000"/>
              </a:solidFill>
              <a:ln w="6350" cap="rnd">
                <a:solidFill>
                  <a:srgbClr val="000000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70" name="Ellipse 70"/>
              <p:cNvSpPr/>
              <p:nvPr/>
            </p:nvSpPr>
            <p:spPr>
              <a:xfrm>
                <a:off x="9880555" y="3760470"/>
                <a:ext cx="59055" cy="59055"/>
              </a:xfrm>
              <a:prstGeom prst="ellipse">
                <a:avLst/>
              </a:prstGeom>
              <a:solidFill>
                <a:srgbClr val="000000"/>
              </a:solidFill>
              <a:ln w="6350" cap="rnd">
                <a:solidFill>
                  <a:srgbClr val="000000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71" name="Ellipse 71"/>
              <p:cNvSpPr/>
              <p:nvPr/>
            </p:nvSpPr>
            <p:spPr>
              <a:xfrm>
                <a:off x="10126844" y="3849814"/>
                <a:ext cx="59055" cy="59055"/>
              </a:xfrm>
              <a:prstGeom prst="ellipse">
                <a:avLst/>
              </a:prstGeom>
              <a:solidFill>
                <a:srgbClr val="000000"/>
              </a:solidFill>
              <a:ln w="6350" cap="rnd">
                <a:solidFill>
                  <a:srgbClr val="000000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72" name="Ellipse 72"/>
              <p:cNvSpPr/>
              <p:nvPr/>
            </p:nvSpPr>
            <p:spPr>
              <a:xfrm>
                <a:off x="10373133" y="3728561"/>
                <a:ext cx="59055" cy="59055"/>
              </a:xfrm>
              <a:prstGeom prst="ellipse">
                <a:avLst/>
              </a:prstGeom>
              <a:solidFill>
                <a:srgbClr val="000000"/>
              </a:solidFill>
              <a:ln w="6350" cap="rnd">
                <a:solidFill>
                  <a:srgbClr val="000000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73" name="Ellipse 73"/>
              <p:cNvSpPr/>
              <p:nvPr/>
            </p:nvSpPr>
            <p:spPr>
              <a:xfrm>
                <a:off x="10619423" y="3492436"/>
                <a:ext cx="59055" cy="59055"/>
              </a:xfrm>
              <a:prstGeom prst="ellipse">
                <a:avLst/>
              </a:prstGeom>
              <a:solidFill>
                <a:srgbClr val="000000"/>
              </a:solidFill>
              <a:ln w="6350" cap="rnd">
                <a:solidFill>
                  <a:srgbClr val="000000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74" name="Ellipse 74"/>
              <p:cNvSpPr/>
              <p:nvPr/>
            </p:nvSpPr>
            <p:spPr>
              <a:xfrm>
                <a:off x="10865712" y="3364802"/>
                <a:ext cx="59055" cy="59055"/>
              </a:xfrm>
              <a:prstGeom prst="ellipse">
                <a:avLst/>
              </a:prstGeom>
              <a:solidFill>
                <a:srgbClr val="000000"/>
              </a:solidFill>
              <a:ln w="6350" cap="rnd">
                <a:solidFill>
                  <a:srgbClr val="000000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75" name="Ellipse 75"/>
              <p:cNvSpPr/>
              <p:nvPr/>
            </p:nvSpPr>
            <p:spPr>
              <a:xfrm>
                <a:off x="11112001" y="3556254"/>
                <a:ext cx="59055" cy="59055"/>
              </a:xfrm>
              <a:prstGeom prst="ellipse">
                <a:avLst/>
              </a:prstGeom>
              <a:solidFill>
                <a:srgbClr val="000000"/>
              </a:solidFill>
              <a:ln w="6350" cap="rnd">
                <a:solidFill>
                  <a:srgbClr val="000000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76" name="Ellipse 76"/>
              <p:cNvSpPr/>
              <p:nvPr/>
            </p:nvSpPr>
            <p:spPr>
              <a:xfrm>
                <a:off x="11358290" y="3709416"/>
                <a:ext cx="59055" cy="59055"/>
              </a:xfrm>
              <a:prstGeom prst="ellipse">
                <a:avLst/>
              </a:prstGeom>
              <a:solidFill>
                <a:srgbClr val="000000"/>
              </a:solidFill>
              <a:ln w="6350" cap="rnd">
                <a:solidFill>
                  <a:srgbClr val="000000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77" name="Ellipse 77"/>
              <p:cNvSpPr/>
              <p:nvPr/>
            </p:nvSpPr>
            <p:spPr>
              <a:xfrm>
                <a:off x="11604580" y="3760470"/>
                <a:ext cx="59055" cy="59055"/>
              </a:xfrm>
              <a:prstGeom prst="ellipse">
                <a:avLst/>
              </a:prstGeom>
              <a:solidFill>
                <a:srgbClr val="000000"/>
              </a:solidFill>
              <a:ln w="6350" cap="rnd">
                <a:solidFill>
                  <a:srgbClr val="000000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78" name="Ellipse 78"/>
              <p:cNvSpPr/>
              <p:nvPr/>
            </p:nvSpPr>
            <p:spPr>
              <a:xfrm>
                <a:off x="11850869" y="3600926"/>
                <a:ext cx="59055" cy="59055"/>
              </a:xfrm>
              <a:prstGeom prst="ellipse">
                <a:avLst/>
              </a:prstGeom>
              <a:solidFill>
                <a:srgbClr val="000000"/>
              </a:solidFill>
              <a:ln w="6350" cap="rnd">
                <a:solidFill>
                  <a:srgbClr val="000000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79" name="Ellipse 79"/>
              <p:cNvSpPr/>
              <p:nvPr/>
            </p:nvSpPr>
            <p:spPr>
              <a:xfrm>
                <a:off x="12097158" y="3779615"/>
                <a:ext cx="59055" cy="59055"/>
              </a:xfrm>
              <a:prstGeom prst="ellipse">
                <a:avLst/>
              </a:prstGeom>
              <a:solidFill>
                <a:srgbClr val="000000"/>
              </a:solidFill>
              <a:ln w="6350" cap="rnd">
                <a:solidFill>
                  <a:srgbClr val="000000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80" name="Ellipse 80"/>
              <p:cNvSpPr/>
              <p:nvPr/>
            </p:nvSpPr>
            <p:spPr>
              <a:xfrm>
                <a:off x="12343448" y="3562636"/>
                <a:ext cx="59055" cy="59055"/>
              </a:xfrm>
              <a:prstGeom prst="ellipse">
                <a:avLst/>
              </a:prstGeom>
              <a:solidFill>
                <a:srgbClr val="000000"/>
              </a:solidFill>
              <a:ln w="6350" cap="rnd">
                <a:solidFill>
                  <a:srgbClr val="000000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81" name="Ellipse 81"/>
              <p:cNvSpPr/>
              <p:nvPr/>
            </p:nvSpPr>
            <p:spPr>
              <a:xfrm>
                <a:off x="9862457" y="3105150"/>
                <a:ext cx="95250" cy="95250"/>
              </a:xfrm>
              <a:prstGeom prst="ellipse">
                <a:avLst/>
              </a:prstGeom>
              <a:solidFill>
                <a:srgbClr val="FFFFFF"/>
              </a:solidFill>
              <a:ln w="16510">
                <a:solidFill>
                  <a:srgbClr val="304B63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82" name="Ellipse 82"/>
              <p:cNvSpPr/>
              <p:nvPr/>
            </p:nvSpPr>
            <p:spPr>
              <a:xfrm>
                <a:off x="11340193" y="3105150"/>
                <a:ext cx="95250" cy="95250"/>
              </a:xfrm>
              <a:prstGeom prst="ellipse">
                <a:avLst/>
              </a:prstGeom>
              <a:solidFill>
                <a:srgbClr val="FFFFFF"/>
              </a:solidFill>
              <a:ln w="16510">
                <a:solidFill>
                  <a:srgbClr val="304B63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83" name="Rect 83"/>
              <p:cNvSpPr/>
              <p:nvPr/>
            </p:nvSpPr>
            <p:spPr>
              <a:xfrm>
                <a:off x="9991725" y="4895850"/>
                <a:ext cx="971550" cy="1238250"/>
              </a:xfrm>
              <a:prstGeom prst="rect">
                <a:avLst/>
              </a:prstGeom>
              <a:gradFill rotWithShape="1">
                <a:gsLst>
                  <a:gs pos="0">
                    <a:srgbClr val="F8FAFB"/>
                  </a:gs>
                  <a:gs pos="100000">
                    <a:srgbClr val="DCE5EB"/>
                  </a:gs>
                </a:gsLst>
                <a:lin ang="5400000" scaled="1"/>
              </a:gradFill>
              <a:ln>
                <a:noFill/>
              </a:ln>
            </p:spPr>
            <p:txBody>
              <a:bodyPr/>
              <a:lstStyle/>
              <a:p/>
            </p:txBody>
          </p:sp>
          <p:sp>
            <p:nvSpPr>
              <p:cNvPr id="84" name="Ellipse 84"/>
              <p:cNvSpPr/>
              <p:nvPr/>
            </p:nvSpPr>
            <p:spPr>
              <a:xfrm>
                <a:off x="8904923" y="5252085"/>
                <a:ext cx="59055" cy="59055"/>
              </a:xfrm>
              <a:prstGeom prst="ellipse">
                <a:avLst/>
              </a:prstGeom>
              <a:solidFill>
                <a:srgbClr val="000000"/>
              </a:solidFill>
              <a:ln w="6350" cap="rnd">
                <a:solidFill>
                  <a:srgbClr val="000000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85" name="Ellipse 85"/>
              <p:cNvSpPr/>
              <p:nvPr/>
            </p:nvSpPr>
            <p:spPr>
              <a:xfrm>
                <a:off x="9186704" y="5102066"/>
                <a:ext cx="59055" cy="59055"/>
              </a:xfrm>
              <a:prstGeom prst="ellipse">
                <a:avLst/>
              </a:prstGeom>
              <a:solidFill>
                <a:srgbClr val="000000"/>
              </a:solidFill>
              <a:ln w="6350" cap="rnd">
                <a:solidFill>
                  <a:srgbClr val="000000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86" name="Ellipse 86"/>
              <p:cNvSpPr/>
              <p:nvPr/>
            </p:nvSpPr>
            <p:spPr>
              <a:xfrm>
                <a:off x="9468485" y="5166360"/>
                <a:ext cx="59055" cy="59055"/>
              </a:xfrm>
              <a:prstGeom prst="ellipse">
                <a:avLst/>
              </a:prstGeom>
              <a:solidFill>
                <a:srgbClr val="000000"/>
              </a:solidFill>
              <a:ln w="6350" cap="rnd">
                <a:solidFill>
                  <a:srgbClr val="000000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87" name="Ellipse 87"/>
              <p:cNvSpPr/>
              <p:nvPr/>
            </p:nvSpPr>
            <p:spPr>
              <a:xfrm>
                <a:off x="9750266" y="5016341"/>
                <a:ext cx="59055" cy="59055"/>
              </a:xfrm>
              <a:prstGeom prst="ellipse">
                <a:avLst/>
              </a:prstGeom>
              <a:solidFill>
                <a:srgbClr val="000000"/>
              </a:solidFill>
              <a:ln w="6350" cap="rnd">
                <a:solidFill>
                  <a:srgbClr val="000000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88" name="Ellipse 88"/>
              <p:cNvSpPr/>
              <p:nvPr/>
            </p:nvSpPr>
            <p:spPr>
              <a:xfrm>
                <a:off x="10032048" y="5166360"/>
                <a:ext cx="59055" cy="59055"/>
              </a:xfrm>
              <a:prstGeom prst="ellipse">
                <a:avLst/>
              </a:prstGeom>
              <a:solidFill>
                <a:srgbClr val="000000"/>
              </a:solidFill>
              <a:ln w="6350" cap="rnd">
                <a:solidFill>
                  <a:srgbClr val="000000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89" name="Ellipse 89"/>
              <p:cNvSpPr/>
              <p:nvPr/>
            </p:nvSpPr>
            <p:spPr>
              <a:xfrm>
                <a:off x="10313829" y="5303520"/>
                <a:ext cx="59055" cy="59055"/>
              </a:xfrm>
              <a:prstGeom prst="ellipse">
                <a:avLst/>
              </a:prstGeom>
              <a:solidFill>
                <a:srgbClr val="000000"/>
              </a:solidFill>
              <a:ln w="6350" cap="rnd">
                <a:solidFill>
                  <a:srgbClr val="000000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90" name="Ellipse 90"/>
              <p:cNvSpPr/>
              <p:nvPr/>
            </p:nvSpPr>
            <p:spPr>
              <a:xfrm>
                <a:off x="10595610" y="5230654"/>
                <a:ext cx="59055" cy="59055"/>
              </a:xfrm>
              <a:prstGeom prst="ellipse">
                <a:avLst/>
              </a:prstGeom>
              <a:solidFill>
                <a:srgbClr val="000000"/>
              </a:solidFill>
              <a:ln w="6350" cap="rnd">
                <a:solidFill>
                  <a:srgbClr val="000000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91" name="Ellipse 91"/>
              <p:cNvSpPr/>
              <p:nvPr/>
            </p:nvSpPr>
            <p:spPr>
              <a:xfrm>
                <a:off x="10877391" y="5093494"/>
                <a:ext cx="59055" cy="59055"/>
              </a:xfrm>
              <a:prstGeom prst="ellipse">
                <a:avLst/>
              </a:prstGeom>
              <a:solidFill>
                <a:srgbClr val="000000"/>
              </a:solidFill>
              <a:ln w="6350" cap="rnd">
                <a:solidFill>
                  <a:srgbClr val="000000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92" name="Ellipse 92"/>
              <p:cNvSpPr/>
              <p:nvPr/>
            </p:nvSpPr>
            <p:spPr>
              <a:xfrm>
                <a:off x="11159173" y="4986338"/>
                <a:ext cx="59055" cy="59055"/>
              </a:xfrm>
              <a:prstGeom prst="ellipse">
                <a:avLst/>
              </a:prstGeom>
              <a:solidFill>
                <a:srgbClr val="000000"/>
              </a:solidFill>
              <a:ln w="6350" cap="rnd">
                <a:solidFill>
                  <a:srgbClr val="000000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93" name="Ellipse 93"/>
              <p:cNvSpPr/>
              <p:nvPr/>
            </p:nvSpPr>
            <p:spPr>
              <a:xfrm>
                <a:off x="11440954" y="5123498"/>
                <a:ext cx="59055" cy="59055"/>
              </a:xfrm>
              <a:prstGeom prst="ellipse">
                <a:avLst/>
              </a:prstGeom>
              <a:solidFill>
                <a:srgbClr val="000000"/>
              </a:solidFill>
              <a:ln w="6350" cap="rnd">
                <a:solidFill>
                  <a:srgbClr val="000000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94" name="Ellipse 94"/>
              <p:cNvSpPr/>
              <p:nvPr/>
            </p:nvSpPr>
            <p:spPr>
              <a:xfrm>
                <a:off x="11722735" y="5209222"/>
                <a:ext cx="59055" cy="59055"/>
              </a:xfrm>
              <a:prstGeom prst="ellipse">
                <a:avLst/>
              </a:prstGeom>
              <a:solidFill>
                <a:srgbClr val="000000"/>
              </a:solidFill>
              <a:ln w="6350" cap="rnd">
                <a:solidFill>
                  <a:srgbClr val="000000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95" name="Ellipse 95"/>
              <p:cNvSpPr/>
              <p:nvPr/>
            </p:nvSpPr>
            <p:spPr>
              <a:xfrm>
                <a:off x="12004516" y="5097780"/>
                <a:ext cx="59055" cy="59055"/>
              </a:xfrm>
              <a:prstGeom prst="ellipse">
                <a:avLst/>
              </a:prstGeom>
              <a:solidFill>
                <a:srgbClr val="000000"/>
              </a:solidFill>
              <a:ln w="6350" cap="rnd">
                <a:solidFill>
                  <a:srgbClr val="000000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96" name="Ellipse 96"/>
              <p:cNvSpPr/>
              <p:nvPr/>
            </p:nvSpPr>
            <p:spPr>
              <a:xfrm>
                <a:off x="12286298" y="5166360"/>
                <a:ext cx="59055" cy="59055"/>
              </a:xfrm>
              <a:prstGeom prst="ellipse">
                <a:avLst/>
              </a:prstGeom>
              <a:solidFill>
                <a:srgbClr val="000000"/>
              </a:solidFill>
              <a:ln w="6350" cap="rnd">
                <a:solidFill>
                  <a:srgbClr val="000000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97" name="Ellipse 97"/>
              <p:cNvSpPr/>
              <p:nvPr/>
            </p:nvSpPr>
            <p:spPr>
              <a:xfrm>
                <a:off x="8904923" y="5968841"/>
                <a:ext cx="59055" cy="59055"/>
              </a:xfrm>
              <a:prstGeom prst="ellipse">
                <a:avLst/>
              </a:prstGeom>
              <a:solidFill>
                <a:srgbClr val="000000"/>
              </a:solidFill>
              <a:ln w="6350" cap="rnd">
                <a:solidFill>
                  <a:srgbClr val="000000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98" name="Ellipse 98"/>
              <p:cNvSpPr/>
              <p:nvPr/>
            </p:nvSpPr>
            <p:spPr>
              <a:xfrm>
                <a:off x="9186704" y="5853112"/>
                <a:ext cx="59055" cy="59055"/>
              </a:xfrm>
              <a:prstGeom prst="ellipse">
                <a:avLst/>
              </a:prstGeom>
              <a:solidFill>
                <a:srgbClr val="000000"/>
              </a:solidFill>
              <a:ln w="6350" cap="rnd">
                <a:solidFill>
                  <a:srgbClr val="000000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99" name="Ellipse 99"/>
              <p:cNvSpPr/>
              <p:nvPr/>
            </p:nvSpPr>
            <p:spPr>
              <a:xfrm>
                <a:off x="9468485" y="5900261"/>
                <a:ext cx="59055" cy="59055"/>
              </a:xfrm>
              <a:prstGeom prst="ellipse">
                <a:avLst/>
              </a:prstGeom>
              <a:solidFill>
                <a:srgbClr val="000000"/>
              </a:solidFill>
              <a:ln w="6350" cap="rnd">
                <a:solidFill>
                  <a:srgbClr val="000000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100" name="Ellipse 100"/>
              <p:cNvSpPr/>
              <p:nvPr/>
            </p:nvSpPr>
            <p:spPr>
              <a:xfrm>
                <a:off x="9750266" y="5741670"/>
                <a:ext cx="59055" cy="59055"/>
              </a:xfrm>
              <a:prstGeom prst="ellipse">
                <a:avLst/>
              </a:prstGeom>
              <a:solidFill>
                <a:srgbClr val="000000"/>
              </a:solidFill>
              <a:ln w="6350" cap="rnd">
                <a:solidFill>
                  <a:srgbClr val="000000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101" name="Ellipse 101"/>
              <p:cNvSpPr/>
              <p:nvPr/>
            </p:nvSpPr>
            <p:spPr>
              <a:xfrm>
                <a:off x="10032048" y="5874544"/>
                <a:ext cx="59055" cy="59055"/>
              </a:xfrm>
              <a:prstGeom prst="ellipse">
                <a:avLst/>
              </a:prstGeom>
              <a:solidFill>
                <a:srgbClr val="000000"/>
              </a:solidFill>
              <a:ln w="6350" cap="rnd">
                <a:solidFill>
                  <a:srgbClr val="000000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102" name="Ellipse 102"/>
              <p:cNvSpPr/>
              <p:nvPr/>
            </p:nvSpPr>
            <p:spPr>
              <a:xfrm>
                <a:off x="10313829" y="6033135"/>
                <a:ext cx="59055" cy="59055"/>
              </a:xfrm>
              <a:prstGeom prst="ellipse">
                <a:avLst/>
              </a:prstGeom>
              <a:solidFill>
                <a:srgbClr val="000000"/>
              </a:solidFill>
              <a:ln w="6350" cap="rnd">
                <a:solidFill>
                  <a:srgbClr val="000000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103" name="Ellipse 103"/>
              <p:cNvSpPr/>
              <p:nvPr/>
            </p:nvSpPr>
            <p:spPr>
              <a:xfrm>
                <a:off x="10595610" y="5951696"/>
                <a:ext cx="59055" cy="59055"/>
              </a:xfrm>
              <a:prstGeom prst="ellipse">
                <a:avLst/>
              </a:prstGeom>
              <a:solidFill>
                <a:srgbClr val="000000"/>
              </a:solidFill>
              <a:ln w="6350" cap="rnd">
                <a:solidFill>
                  <a:srgbClr val="000000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104" name="Ellipse 104"/>
              <p:cNvSpPr/>
              <p:nvPr/>
            </p:nvSpPr>
            <p:spPr>
              <a:xfrm>
                <a:off x="10877391" y="5814536"/>
                <a:ext cx="59055" cy="59055"/>
              </a:xfrm>
              <a:prstGeom prst="ellipse">
                <a:avLst/>
              </a:prstGeom>
              <a:solidFill>
                <a:srgbClr val="000000"/>
              </a:solidFill>
              <a:ln w="6350" cap="rnd">
                <a:solidFill>
                  <a:srgbClr val="000000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105" name="Ellipse 105"/>
              <p:cNvSpPr/>
              <p:nvPr/>
            </p:nvSpPr>
            <p:spPr>
              <a:xfrm>
                <a:off x="11159173" y="5711666"/>
                <a:ext cx="59055" cy="59055"/>
              </a:xfrm>
              <a:prstGeom prst="ellipse">
                <a:avLst/>
              </a:prstGeom>
              <a:solidFill>
                <a:srgbClr val="000000"/>
              </a:solidFill>
              <a:ln w="6350" cap="rnd">
                <a:solidFill>
                  <a:srgbClr val="000000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106" name="Ellipse 106"/>
              <p:cNvSpPr/>
              <p:nvPr/>
            </p:nvSpPr>
            <p:spPr>
              <a:xfrm>
                <a:off x="11440954" y="5857399"/>
                <a:ext cx="59055" cy="59055"/>
              </a:xfrm>
              <a:prstGeom prst="ellipse">
                <a:avLst/>
              </a:prstGeom>
              <a:solidFill>
                <a:srgbClr val="000000"/>
              </a:solidFill>
              <a:ln w="6350" cap="rnd">
                <a:solidFill>
                  <a:srgbClr val="000000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107" name="Ellipse 107"/>
              <p:cNvSpPr/>
              <p:nvPr/>
            </p:nvSpPr>
            <p:spPr>
              <a:xfrm>
                <a:off x="11722735" y="5947410"/>
                <a:ext cx="59055" cy="59055"/>
              </a:xfrm>
              <a:prstGeom prst="ellipse">
                <a:avLst/>
              </a:prstGeom>
              <a:solidFill>
                <a:srgbClr val="000000"/>
              </a:solidFill>
              <a:ln w="6350" cap="rnd">
                <a:solidFill>
                  <a:srgbClr val="000000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108" name="Ellipse 108"/>
              <p:cNvSpPr/>
              <p:nvPr/>
            </p:nvSpPr>
            <p:spPr>
              <a:xfrm>
                <a:off x="12004516" y="5827395"/>
                <a:ext cx="59055" cy="59055"/>
              </a:xfrm>
              <a:prstGeom prst="ellipse">
                <a:avLst/>
              </a:prstGeom>
              <a:solidFill>
                <a:srgbClr val="000000"/>
              </a:solidFill>
              <a:ln w="6350" cap="rnd">
                <a:solidFill>
                  <a:srgbClr val="000000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109" name="Ellipse 109"/>
              <p:cNvSpPr/>
              <p:nvPr/>
            </p:nvSpPr>
            <p:spPr>
              <a:xfrm>
                <a:off x="12286298" y="5895975"/>
                <a:ext cx="59055" cy="59055"/>
              </a:xfrm>
              <a:prstGeom prst="ellipse">
                <a:avLst/>
              </a:prstGeom>
              <a:solidFill>
                <a:srgbClr val="000000"/>
              </a:solidFill>
              <a:ln w="6350" cap="rnd">
                <a:solidFill>
                  <a:srgbClr val="000000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117" name="Path 117"/>
              <p:cNvSpPr/>
              <p:nvPr/>
            </p:nvSpPr>
            <p:spPr>
              <a:xfrm>
                <a:off x="8505825" y="2257425"/>
                <a:ext cx="9525" cy="414337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0" y="21600"/>
                    </a:lnTo>
                  </a:path>
                </a:pathLst>
              </a:custGeom>
              <a:noFill/>
              <a:ln w="8890">
                <a:solidFill>
                  <a:srgbClr val="D8D8D4"/>
                </a:solidFill>
                <a:prstDash val="solid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134" name="Path 134"/>
              <p:cNvSpPr/>
              <p:nvPr/>
            </p:nvSpPr>
            <p:spPr>
              <a:xfrm>
                <a:off x="8924925" y="3394329"/>
                <a:ext cx="3448050" cy="485013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11937"/>
                    </a:moveTo>
                    <a:lnTo>
                      <a:pt x="1543" y="15916"/>
                    </a:lnTo>
                    <a:lnTo>
                      <a:pt x="3086" y="7958"/>
                    </a:lnTo>
                    <a:lnTo>
                      <a:pt x="4629" y="12505"/>
                    </a:lnTo>
                    <a:lnTo>
                      <a:pt x="6171" y="17621"/>
                    </a:lnTo>
                    <a:lnTo>
                      <a:pt x="7714" y="21600"/>
                    </a:lnTo>
                    <a:lnTo>
                      <a:pt x="9257" y="16200"/>
                    </a:lnTo>
                    <a:lnTo>
                      <a:pt x="10800" y="5684"/>
                    </a:lnTo>
                    <a:lnTo>
                      <a:pt x="12343" y="0"/>
                    </a:lnTo>
                    <a:lnTo>
                      <a:pt x="13886" y="8526"/>
                    </a:lnTo>
                    <a:lnTo>
                      <a:pt x="15429" y="15347"/>
                    </a:lnTo>
                    <a:lnTo>
                      <a:pt x="16971" y="17621"/>
                    </a:lnTo>
                    <a:lnTo>
                      <a:pt x="18514" y="10516"/>
                    </a:lnTo>
                    <a:lnTo>
                      <a:pt x="20057" y="18474"/>
                    </a:lnTo>
                    <a:lnTo>
                      <a:pt x="21600" y="8811"/>
                    </a:lnTo>
                  </a:path>
                </a:pathLst>
              </a:custGeom>
              <a:noFill/>
              <a:ln w="20320" cap="rnd">
                <a:solidFill>
                  <a:srgbClr val="000000"/>
                </a:solidFill>
                <a:prstDash val="solid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135" name="Path 135"/>
              <p:cNvSpPr/>
              <p:nvPr/>
            </p:nvSpPr>
            <p:spPr>
              <a:xfrm>
                <a:off x="9910082" y="3209925"/>
                <a:ext cx="9525" cy="580072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0" y="21600"/>
                    </a:lnTo>
                  </a:path>
                </a:pathLst>
              </a:custGeom>
              <a:noFill/>
              <a:ln w="11430">
                <a:solidFill>
                  <a:srgbClr val="304B63"/>
                </a:solidFill>
                <a:prstDash val="dash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136" name="Path 136"/>
              <p:cNvSpPr/>
              <p:nvPr/>
            </p:nvSpPr>
            <p:spPr>
              <a:xfrm>
                <a:off x="11387818" y="3209925"/>
                <a:ext cx="9525" cy="529019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0" y="21600"/>
                    </a:lnTo>
                  </a:path>
                </a:pathLst>
              </a:custGeom>
              <a:noFill/>
              <a:ln w="11430">
                <a:solidFill>
                  <a:srgbClr val="304B63"/>
                </a:solidFill>
                <a:prstDash val="dash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137" name="Path 137"/>
              <p:cNvSpPr/>
              <p:nvPr/>
            </p:nvSpPr>
            <p:spPr>
              <a:xfrm>
                <a:off x="8724900" y="4286250"/>
                <a:ext cx="37909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/>
              <a:ln w="8890">
                <a:solidFill>
                  <a:srgbClr val="D8D8D4"/>
                </a:solidFill>
                <a:prstDash val="solid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138" name="Path 138"/>
              <p:cNvSpPr/>
              <p:nvPr/>
            </p:nvSpPr>
            <p:spPr>
              <a:xfrm>
                <a:off x="8934450" y="5015865"/>
                <a:ext cx="3381375" cy="317182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18097"/>
                    </a:moveTo>
                    <a:lnTo>
                      <a:pt x="1800" y="7881"/>
                    </a:lnTo>
                    <a:lnTo>
                      <a:pt x="3600" y="12259"/>
                    </a:lnTo>
                    <a:lnTo>
                      <a:pt x="5400" y="2043"/>
                    </a:lnTo>
                    <a:lnTo>
                      <a:pt x="7200" y="12259"/>
                    </a:lnTo>
                    <a:lnTo>
                      <a:pt x="9000" y="21600"/>
                    </a:lnTo>
                    <a:lnTo>
                      <a:pt x="10800" y="16638"/>
                    </a:lnTo>
                    <a:lnTo>
                      <a:pt x="12600" y="7297"/>
                    </a:lnTo>
                    <a:lnTo>
                      <a:pt x="14400" y="0"/>
                    </a:lnTo>
                    <a:lnTo>
                      <a:pt x="16200" y="9341"/>
                    </a:lnTo>
                    <a:lnTo>
                      <a:pt x="18000" y="15178"/>
                    </a:lnTo>
                    <a:lnTo>
                      <a:pt x="19800" y="7589"/>
                    </a:lnTo>
                    <a:lnTo>
                      <a:pt x="21600" y="12259"/>
                    </a:lnTo>
                  </a:path>
                </a:pathLst>
              </a:custGeom>
              <a:noFill/>
              <a:ln w="20320" cap="rnd">
                <a:solidFill>
                  <a:srgbClr val="000000"/>
                </a:solidFill>
                <a:prstDash val="solid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139" name="Path 139"/>
              <p:cNvSpPr/>
              <p:nvPr/>
            </p:nvSpPr>
            <p:spPr>
              <a:xfrm>
                <a:off x="8934450" y="5741194"/>
                <a:ext cx="3381375" cy="321469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17280"/>
                    </a:moveTo>
                    <a:lnTo>
                      <a:pt x="1800" y="9504"/>
                    </a:lnTo>
                    <a:lnTo>
                      <a:pt x="3600" y="12672"/>
                    </a:lnTo>
                    <a:lnTo>
                      <a:pt x="5400" y="2016"/>
                    </a:lnTo>
                    <a:lnTo>
                      <a:pt x="7200" y="10944"/>
                    </a:lnTo>
                    <a:lnTo>
                      <a:pt x="9000" y="21600"/>
                    </a:lnTo>
                    <a:lnTo>
                      <a:pt x="10800" y="16128"/>
                    </a:lnTo>
                    <a:lnTo>
                      <a:pt x="12600" y="6912"/>
                    </a:lnTo>
                    <a:lnTo>
                      <a:pt x="14400" y="0"/>
                    </a:lnTo>
                    <a:lnTo>
                      <a:pt x="16200" y="9792"/>
                    </a:lnTo>
                    <a:lnTo>
                      <a:pt x="18000" y="15840"/>
                    </a:lnTo>
                    <a:lnTo>
                      <a:pt x="19800" y="7776"/>
                    </a:lnTo>
                    <a:lnTo>
                      <a:pt x="21600" y="12384"/>
                    </a:lnTo>
                  </a:path>
                </a:pathLst>
              </a:custGeom>
              <a:noFill/>
              <a:ln w="20320" cap="rnd">
                <a:solidFill>
                  <a:srgbClr val="000000"/>
                </a:solidFill>
                <a:prstDash val="solid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140" name="Path 140"/>
              <p:cNvSpPr/>
              <p:nvPr/>
            </p:nvSpPr>
            <p:spPr>
              <a:xfrm>
                <a:off x="10477500" y="5476875"/>
                <a:ext cx="9525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0" y="21600"/>
                    </a:lnTo>
                  </a:path>
                </a:pathLst>
              </a:custGeom>
              <a:noFill/>
              <a:ln w="17145">
                <a:gradFill rotWithShape="1">
                  <a:gsLst>
                    <a:gs pos="0">
                      <a:srgbClr val="87A1B1"/>
                    </a:gs>
                    <a:gs pos="100000">
                      <a:srgbClr val="3E6178"/>
                    </a:gs>
                  </a:gsLst>
                  <a:lin ang="0" scaled="1"/>
                </a:gradFill>
                <a:prstDash val="solid"/>
                <a:tailEnd type="triangle"/>
              </a:ln>
              <a:effectLst>
                <a:outerShdw blurRad="15000" dist="9000" dir="5400000" algn="ctr" rotWithShape="0">
                  <a:srgbClr val="333333">
                    <a:alpha val="12000"/>
                  </a:srgbClr>
                </a:outerShdw>
              </a:effectLst>
            </p:spPr>
            <p:txBody>
              <a:bodyPr/>
              <a:lstStyle/>
              <a:p/>
            </p:txBody>
          </p:sp>
          <p:sp>
            <p:nvSpPr>
              <p:cNvPr id="180" name="TextBox 180"/>
              <p:cNvSpPr txBox="1"/>
              <p:nvPr/>
            </p:nvSpPr>
            <p:spPr>
              <a:xfrm>
                <a:off x="8724900" y="2143125"/>
                <a:ext cx="3857625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l"/>
                <a:r>
                  <a:rPr lang="zh-CN" sz="2196" b="1">
                    <a:solidFill>
                      <a:srgbClr val="222222"/>
                    </a:solidFill>
                    <a:latin typeface="Comic Sans MS"/>
                    <a:ea typeface="Times New Roman"/>
                    <a:cs typeface="Times New Roman"/>
                  </a:rPr>
                  <a:t>Context and memory</a:t>
                </a:r>
                <a:endParaRPr lang="zh-CN" sz="2196">
                  <a:solidFill>
                    <a:srgbClr val="222222"/>
                  </a:solidFill>
                  <a:latin typeface="Comic Sans MS"/>
                </a:endParaRPr>
              </a:p>
            </p:txBody>
          </p:sp>
          <p:sp>
            <p:nvSpPr>
              <p:cNvPr id="188" name="TextBox 188"/>
              <p:cNvSpPr txBox="1"/>
              <p:nvPr/>
            </p:nvSpPr>
            <p:spPr>
              <a:xfrm>
                <a:off x="9267825" y="2733675"/>
                <a:ext cx="1381125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l"/>
                <a:r>
                  <a:rPr lang="zh-CN" sz="1922">
                    <a:solidFill>
                      <a:srgbClr val="222222"/>
                    </a:solidFill>
                    <a:latin typeface="Arial"/>
                    <a:ea typeface="Times New Roman"/>
                    <a:cs typeface="Times New Roman"/>
                  </a:rPr>
                  <a:t>Event A</a:t>
                </a:r>
                <a:endParaRPr lang="zh-CN" sz="1922">
                  <a:solidFill>
                    <a:srgbClr val="222222"/>
                  </a:solidFill>
                  <a:latin typeface="Arial"/>
                </a:endParaRPr>
              </a:p>
            </p:txBody>
          </p:sp>
          <p:sp>
            <p:nvSpPr>
              <p:cNvPr id="189" name="TextBox 189"/>
              <p:cNvSpPr txBox="1"/>
              <p:nvPr/>
            </p:nvSpPr>
            <p:spPr>
              <a:xfrm>
                <a:off x="10763250" y="2733675"/>
                <a:ext cx="142875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l"/>
                <a:r>
                  <a:rPr lang="zh-CN" sz="1922">
                    <a:solidFill>
                      <a:srgbClr val="222222"/>
                    </a:solidFill>
                    <a:latin typeface="Arial"/>
                    <a:ea typeface="Times New Roman"/>
                    <a:cs typeface="Times New Roman"/>
                  </a:rPr>
                  <a:t>Event B</a:t>
                </a:r>
                <a:endParaRPr lang="zh-CN" sz="1922">
                  <a:solidFill>
                    <a:srgbClr val="222222"/>
                  </a:solidFill>
                  <a:latin typeface="Arial"/>
                </a:endParaRPr>
              </a:p>
            </p:txBody>
          </p:sp>
          <p:sp>
            <p:nvSpPr>
              <p:cNvPr id="190" name="TextBox 190"/>
              <p:cNvSpPr txBox="1"/>
              <p:nvPr/>
            </p:nvSpPr>
            <p:spPr>
              <a:xfrm>
                <a:off x="8782050" y="4400550"/>
                <a:ext cx="219075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l"/>
                <a:r>
                  <a:rPr lang="zh-CN" sz="1922">
                    <a:solidFill>
                      <a:srgbClr val="222222"/>
                    </a:solidFill>
                    <a:latin typeface="Arial"/>
                    <a:ea typeface="Times New Roman"/>
                    <a:cs typeface="Times New Roman"/>
                  </a:rPr>
                  <a:t>Past case</a:t>
                </a:r>
                <a:endParaRPr lang="zh-CN" sz="1922">
                  <a:solidFill>
                    <a:srgbClr val="222222"/>
                  </a:solidFill>
                  <a:latin typeface="Arial"/>
                </a:endParaRPr>
              </a:p>
            </p:txBody>
          </p:sp>
        </p:grpSp>
        <p:grpSp>
          <p:nvGrpSpPr>
            <p:cNvPr id="204" name="Temporal validation"/>
            <p:cNvGrpSpPr/>
            <p:nvPr/>
          </p:nvGrpSpPr>
          <p:grpSpPr>
            <a:xfrm>
              <a:off x="12687300" y="2143125"/>
              <a:ext cx="4067175" cy="4305300"/>
              <a:chOff x="12687300" y="2143125"/>
              <a:chExt cx="4067175" cy="4305300"/>
            </a:xfrm>
          </p:grpSpPr>
          <p:sp>
            <p:nvSpPr>
              <p:cNvPr id="118" name="Path 118"/>
              <p:cNvSpPr/>
              <p:nvPr/>
            </p:nvSpPr>
            <p:spPr>
              <a:xfrm>
                <a:off x="12687300" y="2257425"/>
                <a:ext cx="9525" cy="414337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0" y="21600"/>
                    </a:lnTo>
                  </a:path>
                </a:pathLst>
              </a:custGeom>
              <a:noFill/>
              <a:ln w="8890">
                <a:solidFill>
                  <a:srgbClr val="D8D8D4"/>
                </a:solidFill>
                <a:prstDash val="solid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141" name="Path 141"/>
              <p:cNvSpPr/>
              <p:nvPr/>
            </p:nvSpPr>
            <p:spPr>
              <a:xfrm>
                <a:off x="12906375" y="3448050"/>
                <a:ext cx="36671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/>
              <a:ln w="8890">
                <a:solidFill>
                  <a:srgbClr val="D8D8D4"/>
                </a:solidFill>
                <a:prstDash val="solid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142" name="Path 142"/>
              <p:cNvSpPr/>
              <p:nvPr/>
            </p:nvSpPr>
            <p:spPr>
              <a:xfrm>
                <a:off x="14935200" y="4286250"/>
                <a:ext cx="8191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/>
              <a:ln w="20955">
                <a:gradFill rotWithShape="1">
                  <a:gsLst>
                    <a:gs pos="0">
                      <a:srgbClr val="87A1B1"/>
                    </a:gs>
                    <a:gs pos="100000">
                      <a:srgbClr val="3E6178"/>
                    </a:gs>
                  </a:gsLst>
                  <a:lin ang="0" scaled="1"/>
                </a:gradFill>
                <a:prstDash val="solid"/>
                <a:tailEnd type="triangle"/>
              </a:ln>
              <a:effectLst>
                <a:outerShdw blurRad="15000" dist="9000" dir="5400000" algn="ctr" rotWithShape="0">
                  <a:srgbClr val="333333">
                    <a:alpha val="12000"/>
                  </a:srgbClr>
                </a:outerShdw>
              </a:effectLst>
            </p:spPr>
            <p:txBody>
              <a:bodyPr/>
              <a:lstStyle/>
              <a:p/>
            </p:txBody>
          </p:sp>
          <p:sp>
            <p:nvSpPr>
              <p:cNvPr id="143" name="Path 143"/>
              <p:cNvSpPr/>
              <p:nvPr/>
            </p:nvSpPr>
            <p:spPr>
              <a:xfrm>
                <a:off x="12906375" y="5067300"/>
                <a:ext cx="36671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/>
              <a:ln w="8890">
                <a:solidFill>
                  <a:srgbClr val="D8D8D4"/>
                </a:solidFill>
                <a:prstDash val="solid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144" name="Path 144"/>
              <p:cNvSpPr/>
              <p:nvPr/>
            </p:nvSpPr>
            <p:spPr>
              <a:xfrm>
                <a:off x="14935200" y="5876925"/>
                <a:ext cx="8191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/>
              <a:ln w="20955">
                <a:gradFill rotWithShape="1">
                  <a:gsLst>
                    <a:gs pos="0">
                      <a:srgbClr val="D3A18B"/>
                    </a:gs>
                    <a:gs pos="100000">
                      <a:srgbClr val="A65F48"/>
                    </a:gs>
                  </a:gsLst>
                  <a:lin ang="0" scaled="1"/>
                </a:gradFill>
                <a:prstDash val="solid"/>
                <a:tailEnd type="triangle"/>
              </a:ln>
              <a:effectLst>
                <a:outerShdw blurRad="15000" dist="9000" dir="5400000" algn="ctr" rotWithShape="0">
                  <a:srgbClr val="333333">
                    <a:alpha val="12000"/>
                  </a:srgbClr>
                </a:outerShdw>
              </a:effectLst>
            </p:spPr>
            <p:txBody>
              <a:bodyPr/>
              <a:lstStyle/>
              <a:p/>
            </p:txBody>
          </p:sp>
          <p:pic>
            <p:nvPicPr>
              <p:cNvPr id="160" name="available-document"/>
              <p:cNvPicPr/>
              <p:nvPr/>
            </p:nvPicPr>
            <p:blipFill>
              <a:blip r:embed="rId5">
                <a:duotone>
                  <a:srgbClr val="287EA6"/>
                  <a:srgbClr val="FFFFFF"/>
                </a:duotone>
              </a:blip>
              <a:stretch>
                <a:fillRect/>
              </a:stretch>
            </p:blipFill>
            <p:spPr>
              <a:xfrm>
                <a:off x="14301998" y="4000500"/>
                <a:ext cx="485355" cy="600075"/>
              </a:xfrm>
              <a:prstGeom prst="rect">
                <a:avLst/>
              </a:prstGeom>
            </p:spPr>
          </p:pic>
          <p:pic>
            <p:nvPicPr>
              <p:cNvPr id="161" name="accepted-check"/>
              <p:cNvPicPr/>
              <p:nvPr/>
            </p:nvPicPr>
            <p:blipFill>
              <a:blip r:embed="rId6">
                <a:duotone>
                  <a:srgbClr val="258B79"/>
                  <a:srgbClr val="FFFFFF"/>
                </a:duotone>
              </a:blip>
              <a:stretch>
                <a:fillRect/>
              </a:stretch>
            </p:blipFill>
            <p:spPr>
              <a:xfrm>
                <a:off x="15935325" y="4047067"/>
                <a:ext cx="457200" cy="440267"/>
              </a:xfrm>
              <a:prstGeom prst="rect">
                <a:avLst/>
              </a:prstGeom>
            </p:spPr>
          </p:pic>
          <p:pic>
            <p:nvPicPr>
              <p:cNvPr id="162" name="late-document"/>
              <p:cNvPicPr/>
              <p:nvPr/>
            </p:nvPicPr>
            <p:blipFill>
              <a:blip r:embed="rId7">
                <a:duotone>
                  <a:srgbClr val="287EA6"/>
                  <a:srgbClr val="FFFFFF"/>
                </a:duotone>
              </a:blip>
              <a:stretch>
                <a:fillRect/>
              </a:stretch>
            </p:blipFill>
            <p:spPr>
              <a:xfrm>
                <a:off x="14297025" y="5593115"/>
                <a:ext cx="495300" cy="596194"/>
              </a:xfrm>
              <a:prstGeom prst="rect">
                <a:avLst/>
              </a:prstGeom>
            </p:spPr>
          </p:pic>
          <p:pic>
            <p:nvPicPr>
              <p:cNvPr id="163" name="rejected-cross"/>
              <p:cNvPicPr/>
              <p:nvPr/>
            </p:nvPicPr>
            <p:blipFill>
              <a:blip r:embed="rId8">
                <a:duotone>
                  <a:srgbClr val="C16A4A"/>
                  <a:srgbClr val="FFFFFF"/>
                </a:duotone>
              </a:blip>
              <a:stretch>
                <a:fillRect/>
              </a:stretch>
            </p:blipFill>
            <p:spPr>
              <a:xfrm>
                <a:off x="15935325" y="5638067"/>
                <a:ext cx="457200" cy="439615"/>
              </a:xfrm>
              <a:prstGeom prst="rect">
                <a:avLst/>
              </a:prstGeom>
            </p:spPr>
          </p:pic>
          <p:sp>
            <p:nvSpPr>
              <p:cNvPr id="181" name="TextBox 181"/>
              <p:cNvSpPr txBox="1"/>
              <p:nvPr/>
            </p:nvSpPr>
            <p:spPr>
              <a:xfrm>
                <a:off x="12896850" y="2143125"/>
                <a:ext cx="3857625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l"/>
                <a:r>
                  <a:rPr lang="zh-CN" sz="2196" b="1">
                    <a:solidFill>
                      <a:srgbClr val="222222"/>
                    </a:solidFill>
                    <a:latin typeface="Comic Sans MS"/>
                    <a:ea typeface="Times New Roman"/>
                    <a:cs typeface="Times New Roman"/>
                  </a:rPr>
                  <a:t>Temporal validation</a:t>
                </a:r>
                <a:endParaRPr lang="zh-CN" sz="2196">
                  <a:solidFill>
                    <a:srgbClr val="222222"/>
                  </a:solidFill>
                  <a:latin typeface="Comic Sans MS"/>
                </a:endParaRPr>
              </a:p>
            </p:txBody>
          </p:sp>
          <p:sp>
            <p:nvSpPr>
              <p:cNvPr id="191" name="TextBox 191"/>
              <p:cNvSpPr txBox="1"/>
              <p:nvPr/>
            </p:nvSpPr>
            <p:spPr>
              <a:xfrm>
                <a:off x="13049250" y="2781300"/>
                <a:ext cx="3429000" cy="4762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2563">
                    <a:solidFill>
                      <a:srgbClr val="222222"/>
                    </a:solidFill>
                    <a:latin typeface="Arial"/>
                    <a:ea typeface="Times New Roman"/>
                    <a:cs typeface="Times New Roman"/>
                  </a:rPr>
                  <a:t>v ≤ τ</a:t>
                </a:r>
                <a:endParaRPr lang="zh-CN" sz="2563">
                  <a:solidFill>
                    <a:srgbClr val="222222"/>
                  </a:solidFill>
                  <a:latin typeface="Arial"/>
                </a:endParaRPr>
              </a:p>
            </p:txBody>
          </p:sp>
          <p:sp>
            <p:nvSpPr>
              <p:cNvPr id="192" name="TextBox 192"/>
              <p:cNvSpPr txBox="1"/>
              <p:nvPr/>
            </p:nvSpPr>
            <p:spPr>
              <a:xfrm>
                <a:off x="12915900" y="3638550"/>
                <a:ext cx="142875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l"/>
                <a:r>
                  <a:rPr lang="zh-CN" sz="1922">
                    <a:solidFill>
                      <a:srgbClr val="222222"/>
                    </a:solidFill>
                    <a:latin typeface="Arial"/>
                    <a:ea typeface="Times New Roman"/>
                    <a:cs typeface="Times New Roman"/>
                  </a:rPr>
                  <a:t>Available</a:t>
                </a:r>
                <a:endParaRPr lang="zh-CN" sz="1922">
                  <a:solidFill>
                    <a:srgbClr val="222222"/>
                  </a:solidFill>
                  <a:latin typeface="Arial"/>
                </a:endParaRPr>
              </a:p>
            </p:txBody>
          </p:sp>
          <p:sp>
            <p:nvSpPr>
              <p:cNvPr id="193" name="TextBox 193"/>
              <p:cNvSpPr txBox="1"/>
              <p:nvPr/>
            </p:nvSpPr>
            <p:spPr>
              <a:xfrm>
                <a:off x="15782925" y="4591050"/>
                <a:ext cx="85725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1922">
                    <a:solidFill>
                      <a:srgbClr val="222222"/>
                    </a:solidFill>
                    <a:latin typeface="Arial"/>
                    <a:ea typeface="Times New Roman"/>
                    <a:cs typeface="Times New Roman"/>
                  </a:rPr>
                  <a:t>Admit</a:t>
                </a:r>
                <a:endParaRPr lang="zh-CN" sz="1922">
                  <a:solidFill>
                    <a:srgbClr val="222222"/>
                  </a:solidFill>
                  <a:latin typeface="Arial"/>
                </a:endParaRPr>
              </a:p>
            </p:txBody>
          </p:sp>
          <p:sp>
            <p:nvSpPr>
              <p:cNvPr id="194" name="TextBox 194"/>
              <p:cNvSpPr txBox="1"/>
              <p:nvPr/>
            </p:nvSpPr>
            <p:spPr>
              <a:xfrm>
                <a:off x="12915900" y="5248275"/>
                <a:ext cx="133350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l"/>
                <a:r>
                  <a:rPr lang="zh-CN" sz="1922">
                    <a:solidFill>
                      <a:srgbClr val="222222"/>
                    </a:solidFill>
                    <a:latin typeface="Arial"/>
                    <a:ea typeface="Times New Roman"/>
                    <a:cs typeface="Times New Roman"/>
                  </a:rPr>
                  <a:t>Late</a:t>
                </a:r>
                <a:endParaRPr lang="zh-CN" sz="1922">
                  <a:solidFill>
                    <a:srgbClr val="222222"/>
                  </a:solidFill>
                  <a:latin typeface="Arial"/>
                </a:endParaRPr>
              </a:p>
            </p:txBody>
          </p:sp>
          <p:sp>
            <p:nvSpPr>
              <p:cNvPr id="195" name="TextBox 195"/>
              <p:cNvSpPr txBox="1"/>
              <p:nvPr/>
            </p:nvSpPr>
            <p:spPr>
              <a:xfrm>
                <a:off x="15763875" y="6143625"/>
                <a:ext cx="95250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1922">
                    <a:solidFill>
                      <a:srgbClr val="222222"/>
                    </a:solidFill>
                    <a:latin typeface="Arial"/>
                    <a:ea typeface="Times New Roman"/>
                    <a:cs typeface="Times New Roman"/>
                  </a:rPr>
                  <a:t>Exclude</a:t>
                </a:r>
                <a:endParaRPr lang="zh-CN" sz="1922">
                  <a:solidFill>
                    <a:srgbClr val="222222"/>
                  </a:solidFill>
                  <a:latin typeface="Arial"/>
                </a:endParaRPr>
              </a:p>
            </p:txBody>
          </p:sp>
        </p:grpSp>
        <p:grpSp>
          <p:nvGrpSpPr>
            <p:cNvPr id="205" name="Requests and observations"/>
            <p:cNvGrpSpPr/>
            <p:nvPr/>
          </p:nvGrpSpPr>
          <p:grpSpPr>
            <a:xfrm>
              <a:off x="238125" y="6553200"/>
              <a:ext cx="16411575" cy="1781175"/>
              <a:chOff x="238125" y="6553200"/>
              <a:chExt cx="16411575" cy="1781175"/>
            </a:xfrm>
          </p:grpSpPr>
          <p:sp>
            <p:nvSpPr>
              <p:cNvPr id="145" name="Path 145"/>
              <p:cNvSpPr/>
              <p:nvPr/>
            </p:nvSpPr>
            <p:spPr>
              <a:xfrm>
                <a:off x="238125" y="6553200"/>
                <a:ext cx="164115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/>
              <a:ln w="10160">
                <a:solidFill>
                  <a:srgbClr val="D8D8D4"/>
                </a:solidFill>
                <a:prstDash val="solid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146" name="Path 146"/>
              <p:cNvSpPr/>
              <p:nvPr/>
            </p:nvSpPr>
            <p:spPr>
              <a:xfrm>
                <a:off x="4238625" y="6962775"/>
                <a:ext cx="120967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/>
              <a:ln w="16510">
                <a:solidFill>
                  <a:srgbClr val="767670"/>
                </a:solidFill>
                <a:prstDash val="solid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147" name="Path 147"/>
              <p:cNvSpPr/>
              <p:nvPr/>
            </p:nvSpPr>
            <p:spPr>
              <a:xfrm>
                <a:off x="1885950" y="7286625"/>
                <a:ext cx="2476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/>
              <a:ln w="16510">
                <a:solidFill>
                  <a:srgbClr val="767670"/>
                </a:solidFill>
                <a:prstDash val="solid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148" name="Path 148"/>
              <p:cNvSpPr/>
              <p:nvPr/>
            </p:nvSpPr>
            <p:spPr>
              <a:xfrm>
                <a:off x="2133600" y="6962775"/>
                <a:ext cx="2105025" cy="32385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21600"/>
                    </a:moveTo>
                    <a:lnTo>
                      <a:pt x="0" y="0"/>
                    </a:lnTo>
                    <a:lnTo>
                      <a:pt x="21600" y="0"/>
                    </a:lnTo>
                  </a:path>
                </a:pathLst>
              </a:custGeom>
              <a:noFill/>
              <a:ln w="16510">
                <a:solidFill>
                  <a:srgbClr val="767670"/>
                </a:solidFill>
                <a:prstDash val="solid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149" name="Path 149"/>
              <p:cNvSpPr/>
              <p:nvPr/>
            </p:nvSpPr>
            <p:spPr>
              <a:xfrm>
                <a:off x="4238625" y="7705725"/>
                <a:ext cx="120967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/>
              <a:ln w="16510">
                <a:solidFill>
                  <a:srgbClr val="767670"/>
                </a:solidFill>
                <a:prstDash val="solid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150" name="Path 150"/>
              <p:cNvSpPr/>
              <p:nvPr/>
            </p:nvSpPr>
            <p:spPr>
              <a:xfrm>
                <a:off x="1885950" y="7534275"/>
                <a:ext cx="2352675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21600" y="21600"/>
                    </a:moveTo>
                    <a:lnTo>
                      <a:pt x="2274" y="21600"/>
                    </a:lnTo>
                    <a:lnTo>
                      <a:pt x="2274" y="0"/>
                    </a:lnTo>
                    <a:lnTo>
                      <a:pt x="0" y="0"/>
                    </a:lnTo>
                  </a:path>
                </a:pathLst>
              </a:custGeom>
              <a:noFill/>
              <a:ln w="24765">
                <a:gradFill rotWithShape="1">
                  <a:gsLst>
                    <a:gs pos="0">
                      <a:srgbClr val="87A1B1"/>
                    </a:gs>
                    <a:gs pos="100000">
                      <a:srgbClr val="3E6178"/>
                    </a:gs>
                  </a:gsLst>
                  <a:lin ang="0" scaled="1"/>
                </a:gradFill>
                <a:prstDash val="solid"/>
                <a:tailEnd type="triangle"/>
              </a:ln>
              <a:effectLst>
                <a:outerShdw blurRad="15000" dist="9000" dir="5400000" algn="ctr" rotWithShape="0">
                  <a:srgbClr val="333333">
                    <a:alpha val="12000"/>
                  </a:srgbClr>
                </a:outerShdw>
              </a:effectLst>
            </p:spPr>
            <p:txBody>
              <a:bodyPr/>
              <a:lstStyle/>
              <a:p/>
            </p:txBody>
          </p:sp>
          <p:sp>
            <p:nvSpPr>
              <p:cNvPr id="151" name="Path 151"/>
              <p:cNvSpPr/>
              <p:nvPr/>
            </p:nvSpPr>
            <p:spPr>
              <a:xfrm>
                <a:off x="3190875" y="6648450"/>
                <a:ext cx="9525" cy="31432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21600"/>
                    </a:moveTo>
                    <a:lnTo>
                      <a:pt x="0" y="0"/>
                    </a:lnTo>
                  </a:path>
                </a:pathLst>
              </a:custGeom>
              <a:noFill/>
              <a:ln w="22860">
                <a:gradFill rotWithShape="1">
                  <a:gsLst>
                    <a:gs pos="0">
                      <a:srgbClr val="87A1B1"/>
                    </a:gs>
                    <a:gs pos="100000">
                      <a:srgbClr val="3E6178"/>
                    </a:gs>
                  </a:gsLst>
                  <a:lin ang="0" scaled="1"/>
                </a:gradFill>
                <a:prstDash val="solid"/>
                <a:tailEnd type="triangle"/>
              </a:ln>
              <a:effectLst>
                <a:outerShdw blurRad="15000" dist="9000" dir="5400000" algn="ctr" rotWithShape="0">
                  <a:srgbClr val="333333">
                    <a:alpha val="12000"/>
                  </a:srgbClr>
                </a:outerShdw>
              </a:effectLst>
            </p:spPr>
            <p:txBody>
              <a:bodyPr/>
              <a:lstStyle/>
              <a:p/>
            </p:txBody>
          </p:sp>
          <p:sp>
            <p:nvSpPr>
              <p:cNvPr id="152" name="Path 152"/>
              <p:cNvSpPr/>
              <p:nvPr/>
            </p:nvSpPr>
            <p:spPr>
              <a:xfrm>
                <a:off x="3190875" y="6962775"/>
                <a:ext cx="10477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/>
              <a:ln w="16510">
                <a:solidFill>
                  <a:srgbClr val="767670"/>
                </a:solidFill>
                <a:prstDash val="solid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153" name="Path 153"/>
              <p:cNvSpPr/>
              <p:nvPr/>
            </p:nvSpPr>
            <p:spPr>
              <a:xfrm>
                <a:off x="3714750" y="7705725"/>
                <a:ext cx="5238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/>
              <a:ln w="16510">
                <a:solidFill>
                  <a:srgbClr val="767670"/>
                </a:solidFill>
                <a:prstDash val="solid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154" name="Path 154"/>
              <p:cNvSpPr/>
              <p:nvPr/>
            </p:nvSpPr>
            <p:spPr>
              <a:xfrm>
                <a:off x="6762750" y="6648450"/>
                <a:ext cx="9525" cy="31432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21600"/>
                    </a:moveTo>
                    <a:lnTo>
                      <a:pt x="0" y="0"/>
                    </a:lnTo>
                  </a:path>
                </a:pathLst>
              </a:custGeom>
              <a:noFill/>
              <a:ln w="22860">
                <a:gradFill rotWithShape="1">
                  <a:gsLst>
                    <a:gs pos="0">
                      <a:srgbClr val="87A1B1"/>
                    </a:gs>
                    <a:gs pos="100000">
                      <a:srgbClr val="3E6178"/>
                    </a:gs>
                  </a:gsLst>
                  <a:lin ang="0" scaled="1"/>
                </a:gradFill>
                <a:prstDash val="solid"/>
                <a:tailEnd type="triangle"/>
              </a:ln>
              <a:effectLst>
                <a:outerShdw blurRad="15000" dist="9000" dir="5400000" algn="ctr" rotWithShape="0">
                  <a:srgbClr val="333333">
                    <a:alpha val="12000"/>
                  </a:srgbClr>
                </a:outerShdw>
              </a:effectLst>
            </p:spPr>
            <p:txBody>
              <a:bodyPr/>
              <a:lstStyle/>
              <a:p/>
            </p:txBody>
          </p:sp>
          <p:sp>
            <p:nvSpPr>
              <p:cNvPr id="155" name="Path 155"/>
              <p:cNvSpPr/>
              <p:nvPr/>
            </p:nvSpPr>
            <p:spPr>
              <a:xfrm>
                <a:off x="10906125" y="6648450"/>
                <a:ext cx="9525" cy="31432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21600"/>
                    </a:moveTo>
                    <a:lnTo>
                      <a:pt x="0" y="0"/>
                    </a:lnTo>
                  </a:path>
                </a:pathLst>
              </a:custGeom>
              <a:noFill/>
              <a:ln w="22860">
                <a:gradFill rotWithShape="1">
                  <a:gsLst>
                    <a:gs pos="0">
                      <a:srgbClr val="87A1B1"/>
                    </a:gs>
                    <a:gs pos="100000">
                      <a:srgbClr val="3E6178"/>
                    </a:gs>
                  </a:gsLst>
                  <a:lin ang="0" scaled="1"/>
                </a:gradFill>
                <a:prstDash val="solid"/>
                <a:tailEnd type="triangle"/>
              </a:ln>
              <a:effectLst>
                <a:outerShdw blurRad="15000" dist="9000" dir="5400000" algn="ctr" rotWithShape="0">
                  <a:srgbClr val="333333">
                    <a:alpha val="12000"/>
                  </a:srgbClr>
                </a:outerShdw>
              </a:effectLst>
            </p:spPr>
            <p:txBody>
              <a:bodyPr/>
              <a:lstStyle/>
              <a:p/>
            </p:txBody>
          </p:sp>
          <p:sp>
            <p:nvSpPr>
              <p:cNvPr id="156" name="Path 156"/>
              <p:cNvSpPr/>
              <p:nvPr/>
            </p:nvSpPr>
            <p:spPr>
              <a:xfrm>
                <a:off x="15049500" y="6648450"/>
                <a:ext cx="9525" cy="31432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21600"/>
                    </a:moveTo>
                    <a:lnTo>
                      <a:pt x="0" y="0"/>
                    </a:lnTo>
                  </a:path>
                </a:pathLst>
              </a:custGeom>
              <a:noFill/>
              <a:ln w="22860">
                <a:gradFill rotWithShape="1">
                  <a:gsLst>
                    <a:gs pos="0">
                      <a:srgbClr val="87A1B1"/>
                    </a:gs>
                    <a:gs pos="100000">
                      <a:srgbClr val="3E6178"/>
                    </a:gs>
                  </a:gsLst>
                  <a:lin ang="0" scaled="1"/>
                </a:gradFill>
                <a:prstDash val="solid"/>
                <a:tailEnd type="triangle"/>
              </a:ln>
              <a:effectLst>
                <a:outerShdw blurRad="15000" dist="9000" dir="5400000" algn="ctr" rotWithShape="0">
                  <a:srgbClr val="333333">
                    <a:alpha val="12000"/>
                  </a:srgbClr>
                </a:outerShdw>
              </a:effectLst>
            </p:spPr>
            <p:txBody>
              <a:bodyPr/>
              <a:lstStyle/>
              <a:p/>
            </p:txBody>
          </p:sp>
          <p:pic>
            <p:nvPicPr>
              <p:cNvPr id="164" name="llm"/>
              <p:cNvPicPr/>
              <p:nvPr/>
            </p:nvPicPr>
            <p:blipFill>
              <a:blip r:embed="rId9">
                <a:duotone>
                  <a:srgbClr val="287EA6"/>
                  <a:srgbClr val="FFFFFF"/>
                </a:duotone>
              </a:blip>
              <a:stretch>
                <a:fillRect/>
              </a:stretch>
            </p:blipFill>
            <p:spPr>
              <a:xfrm>
                <a:off x="285750" y="7059820"/>
                <a:ext cx="581025" cy="463136"/>
              </a:xfrm>
              <a:prstGeom prst="rect">
                <a:avLst/>
              </a:prstGeom>
            </p:spPr>
          </p:pic>
          <p:sp>
            <p:nvSpPr>
              <p:cNvPr id="165" name="Path 165"/>
              <p:cNvSpPr/>
              <p:nvPr/>
            </p:nvSpPr>
            <p:spPr>
              <a:xfrm>
                <a:off x="3714750" y="6648450"/>
                <a:ext cx="114300" cy="105727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0" y="4476"/>
                    </a:lnTo>
                    <a:quadBezTo>
                      <a:pt x="32400" y="6422"/>
                      <a:pt x="0" y="8368"/>
                    </a:quadBezTo>
                    <a:lnTo>
                      <a:pt x="0" y="21600"/>
                    </a:lnTo>
                  </a:path>
                </a:pathLst>
              </a:custGeom>
              <a:noFill/>
              <a:ln w="22860">
                <a:gradFill rotWithShape="1">
                  <a:gsLst>
                    <a:gs pos="0">
                      <a:srgbClr val="87A1B1"/>
                    </a:gs>
                    <a:gs pos="100000">
                      <a:srgbClr val="3E6178"/>
                    </a:gs>
                  </a:gsLst>
                  <a:lin ang="0" scaled="1"/>
                </a:gradFill>
                <a:tailEnd type="triangle"/>
              </a:ln>
              <a:effectLst>
                <a:outerShdw blurRad="15000" dist="9000" dir="5400000" algn="ctr" rotWithShape="0">
                  <a:srgbClr val="333333">
                    <a:alpha val="12000"/>
                  </a:srgbClr>
                </a:outerShdw>
              </a:effectLst>
            </p:spPr>
            <p:txBody>
              <a:bodyPr/>
              <a:lstStyle/>
              <a:p/>
            </p:txBody>
          </p:sp>
          <p:sp>
            <p:nvSpPr>
              <p:cNvPr id="166" name="Path 166"/>
              <p:cNvSpPr/>
              <p:nvPr/>
            </p:nvSpPr>
            <p:spPr>
              <a:xfrm>
                <a:off x="7286625" y="6648450"/>
                <a:ext cx="114300" cy="105727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0" y="4476"/>
                    </a:lnTo>
                    <a:quadBezTo>
                      <a:pt x="32400" y="6422"/>
                      <a:pt x="0" y="8368"/>
                    </a:quadBezTo>
                    <a:lnTo>
                      <a:pt x="0" y="21600"/>
                    </a:lnTo>
                  </a:path>
                </a:pathLst>
              </a:custGeom>
              <a:noFill/>
              <a:ln w="22860">
                <a:gradFill rotWithShape="1">
                  <a:gsLst>
                    <a:gs pos="0">
                      <a:srgbClr val="87A1B1"/>
                    </a:gs>
                    <a:gs pos="100000">
                      <a:srgbClr val="3E6178"/>
                    </a:gs>
                  </a:gsLst>
                  <a:lin ang="0" scaled="1"/>
                </a:gradFill>
                <a:tailEnd type="triangle"/>
              </a:ln>
              <a:effectLst>
                <a:outerShdw blurRad="15000" dist="9000" dir="5400000" algn="ctr" rotWithShape="0">
                  <a:srgbClr val="333333">
                    <a:alpha val="12000"/>
                  </a:srgbClr>
                </a:outerShdw>
              </a:effectLst>
            </p:spPr>
            <p:txBody>
              <a:bodyPr/>
              <a:lstStyle/>
              <a:p/>
            </p:txBody>
          </p:sp>
          <p:sp>
            <p:nvSpPr>
              <p:cNvPr id="167" name="Path 167"/>
              <p:cNvSpPr/>
              <p:nvPr/>
            </p:nvSpPr>
            <p:spPr>
              <a:xfrm>
                <a:off x="11430000" y="6648450"/>
                <a:ext cx="114300" cy="105727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0" y="4476"/>
                    </a:lnTo>
                    <a:quadBezTo>
                      <a:pt x="32400" y="6422"/>
                      <a:pt x="0" y="8368"/>
                    </a:quadBezTo>
                    <a:lnTo>
                      <a:pt x="0" y="21600"/>
                    </a:lnTo>
                  </a:path>
                </a:pathLst>
              </a:custGeom>
              <a:noFill/>
              <a:ln w="22860">
                <a:gradFill rotWithShape="1">
                  <a:gsLst>
                    <a:gs pos="0">
                      <a:srgbClr val="87A1B1"/>
                    </a:gs>
                    <a:gs pos="100000">
                      <a:srgbClr val="3E6178"/>
                    </a:gs>
                  </a:gsLst>
                  <a:lin ang="0" scaled="1"/>
                </a:gradFill>
                <a:tailEnd type="triangle"/>
              </a:ln>
              <a:effectLst>
                <a:outerShdw blurRad="15000" dist="9000" dir="5400000" algn="ctr" rotWithShape="0">
                  <a:srgbClr val="333333">
                    <a:alpha val="12000"/>
                  </a:srgbClr>
                </a:outerShdw>
              </a:effectLst>
            </p:spPr>
            <p:txBody>
              <a:bodyPr/>
              <a:lstStyle/>
              <a:p/>
            </p:txBody>
          </p:sp>
          <p:sp>
            <p:nvSpPr>
              <p:cNvPr id="168" name="Path 168"/>
              <p:cNvSpPr/>
              <p:nvPr/>
            </p:nvSpPr>
            <p:spPr>
              <a:xfrm>
                <a:off x="15573375" y="6648450"/>
                <a:ext cx="114300" cy="105727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0" y="4476"/>
                    </a:lnTo>
                    <a:quadBezTo>
                      <a:pt x="32400" y="6422"/>
                      <a:pt x="0" y="8368"/>
                    </a:quadBezTo>
                    <a:lnTo>
                      <a:pt x="0" y="21600"/>
                    </a:lnTo>
                  </a:path>
                </a:pathLst>
              </a:custGeom>
              <a:noFill/>
              <a:ln w="22860">
                <a:gradFill rotWithShape="1">
                  <a:gsLst>
                    <a:gs pos="0">
                      <a:srgbClr val="87A1B1"/>
                    </a:gs>
                    <a:gs pos="100000">
                      <a:srgbClr val="3E6178"/>
                    </a:gs>
                  </a:gsLst>
                  <a:lin ang="0" scaled="1"/>
                </a:gradFill>
                <a:tailEnd type="triangle"/>
              </a:ln>
              <a:effectLst>
                <a:outerShdw blurRad="15000" dist="9000" dir="5400000" algn="ctr" rotWithShape="0">
                  <a:srgbClr val="333333">
                    <a:alpha val="12000"/>
                  </a:srgbClr>
                </a:outerShdw>
              </a:effectLst>
            </p:spPr>
            <p:txBody>
              <a:bodyPr/>
              <a:lstStyle/>
              <a:p/>
            </p:txBody>
          </p:sp>
          <p:sp>
            <p:nvSpPr>
              <p:cNvPr id="196" name="TextBox 196"/>
              <p:cNvSpPr txBox="1"/>
              <p:nvPr/>
            </p:nvSpPr>
            <p:spPr>
              <a:xfrm>
                <a:off x="971550" y="7124700"/>
                <a:ext cx="104775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l"/>
                <a:r>
                  <a:rPr lang="zh-CN" sz="2021" b="1">
                    <a:solidFill>
                      <a:srgbClr val="222222"/>
                    </a:solidFill>
                    <a:latin typeface="Comic Sans MS"/>
                    <a:ea typeface="Times New Roman"/>
                    <a:cs typeface="Times New Roman"/>
                  </a:rPr>
                  <a:t>LLM</a:t>
                </a:r>
                <a:endParaRPr lang="zh-CN" sz="2021">
                  <a:solidFill>
                    <a:srgbClr val="222222"/>
                  </a:solidFill>
                  <a:latin typeface="Comic Sans MS"/>
                </a:endParaRPr>
              </a:p>
            </p:txBody>
          </p:sp>
          <p:sp>
            <p:nvSpPr>
              <p:cNvPr id="197" name="TextBox 197"/>
              <p:cNvSpPr txBox="1"/>
              <p:nvPr/>
            </p:nvSpPr>
            <p:spPr>
              <a:xfrm>
                <a:off x="4333875" y="7067550"/>
                <a:ext cx="190500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l"/>
                <a:r>
                  <a:rPr lang="zh-CN" sz="1922">
                    <a:solidFill>
                      <a:srgbClr val="222222"/>
                    </a:solidFill>
                    <a:latin typeface="Arial"/>
                    <a:ea typeface="Times New Roman"/>
                    <a:cs typeface="Times New Roman"/>
                  </a:rPr>
                  <a:t>Requests</a:t>
                </a:r>
                <a:endParaRPr lang="zh-CN" sz="1922">
                  <a:solidFill>
                    <a:srgbClr val="222222"/>
                  </a:solidFill>
                  <a:latin typeface="Arial"/>
                </a:endParaRPr>
              </a:p>
            </p:txBody>
          </p:sp>
          <p:sp>
            <p:nvSpPr>
              <p:cNvPr id="198" name="TextBox 198"/>
              <p:cNvSpPr txBox="1"/>
              <p:nvPr/>
            </p:nvSpPr>
            <p:spPr>
              <a:xfrm>
                <a:off x="2352675" y="7743825"/>
                <a:ext cx="200025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l"/>
                <a:r>
                  <a:rPr lang="zh-CN" sz="1922">
                    <a:solidFill>
                      <a:srgbClr val="222222"/>
                    </a:solidFill>
                    <a:latin typeface="Arial"/>
                    <a:ea typeface="Times New Roman"/>
                    <a:cs typeface="Times New Roman"/>
                  </a:rPr>
                  <a:t>Observations</a:t>
                </a:r>
                <a:endParaRPr lang="zh-CN" sz="1922">
                  <a:solidFill>
                    <a:srgbClr val="222222"/>
                  </a:solidFill>
                  <a:latin typeface="Arial"/>
                </a:endParaRPr>
              </a:p>
            </p:txBody>
          </p:sp>
          <p:sp>
            <p:nvSpPr>
              <p:cNvPr id="199" name="TextBox 199"/>
              <p:cNvSpPr txBox="1"/>
              <p:nvPr/>
            </p:nvSpPr>
            <p:spPr>
              <a:xfrm>
                <a:off x="6477000" y="8029575"/>
                <a:ext cx="571500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1922">
                    <a:solidFill>
                      <a:srgbClr val="222222"/>
                    </a:solidFill>
                    <a:latin typeface="Arial"/>
                    <a:ea typeface="Times New Roman"/>
                    <a:cs typeface="Times New Roman"/>
                  </a:rPr>
                  <a:t>Shared temporal workspace</a:t>
                </a:r>
                <a:endParaRPr lang="zh-CN" sz="1922">
                  <a:solidFill>
                    <a:srgbClr val="222222"/>
                  </a:solidFill>
                  <a:latin typeface="Arial"/>
                </a:endParaRPr>
              </a:p>
            </p:txBody>
          </p:sp>
        </p:grpSp>
      </p:grpSp>
    </p:spTree>
  </p:cSld>
  <p:clrMapOvr>
    <a:masterClrMapping/>
  </p:clrMapOvr>
</p:sld>
</file>

<file path=ppt/theme/theme1.xml><?xml version="1.0" encoding="utf-8"?>
<a:theme xmlns:a="http://schemas.openxmlformats.org/drawingml/2006/main" name="ImageToEditablePPT">
  <a:themeElements>
    <a:clrScheme name="Office">
      <a:dk1>
        <a:sysClr val="windowText" lastClr="000000"/>
      </a:dk1>
      <a:lt1>
        <a:sysClr val="window" lastClr="FFFFFF"/>
      </a:lt1>
      <a:dk2>
        <a:srgbClr val="1F1F1F"/>
      </a:dk2>
      <a:lt2>
        <a:srgbClr val="F8F8F8"/>
      </a:lt2>
      <a:accent1>
        <a:srgbClr val="0F766E"/>
      </a:accent1>
      <a:accent2>
        <a:srgbClr val="E66B00"/>
      </a:accent2>
      <a:accent3>
        <a:srgbClr val="F6D365"/>
      </a:accent3>
      <a:accent4>
        <a:srgbClr val="57C4B8"/>
      </a:accent4>
      <a:accent5>
        <a:srgbClr val="666666"/>
      </a:accent5>
      <a:accent6>
        <a:srgbClr val="111111"/>
      </a:accent6>
      <a:hlink>
        <a:srgbClr val="0563C1"/>
      </a:hlink>
      <a:folHlink>
        <a:srgbClr val="954F72"/>
      </a:folHlink>
    </a:clrScheme>
    <a:fontScheme name="PingFang">
      <a:majorFont>
        <a:latin typeface="PingFang SC"/>
        <a:ea typeface="PingFang SC"/>
        <a:cs typeface="PingFang SC"/>
      </a:majorFont>
      <a:minorFont>
        <a:latin typeface="PingFang SC"/>
        <a:ea typeface="PingFang SC"/>
        <a:cs typeface="PingFang SC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9525">
          <a:solidFill>
            <a:schemeClr val="phClr"/>
          </a:solidFill>
        </a:ln>
        <a:ln w="952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>
  <Application>Codex</Application>
  <PresentationFormat>Custom</PresentationFormat>
  <Slides>1</Slides>
</Properties>
</file>

<file path=docProps/core.xml><?xml version="1.0" encoding="utf-8"?>
<cp:coreProperties xmlns:cp="http://schemas.openxmlformats.org/package/2006/metadata/core-properties" xmlns:dc="http://purl.org/dc/elements/1.1/">
  <dc:title>Image to editable PPT</dc:title>
</cp:coreProperties>
</file>