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00" name="Figure 11 Evidence — ungroup into components"/>
          <p:cNvGrpSpPr/>
          <p:nvPr/>
        </p:nvGrpSpPr>
        <p:grpSpPr>
          <a:xfrm>
            <a:off x="190500" y="333375"/>
            <a:ext cx="16487775" cy="7553325"/>
            <a:chOff x="190500" y="333375"/>
            <a:chExt cx="16487775" cy="7553325"/>
          </a:xfrm>
        </p:grpSpPr>
        <p:grpSp>
          <p:nvGrpSpPr>
            <p:cNvPr id="10000" name="Contract"/>
            <p:cNvGrpSpPr/>
            <p:nvPr/>
          </p:nvGrpSpPr>
          <p:grpSpPr>
            <a:xfrm>
              <a:off x="190500" y="333375"/>
              <a:ext cx="4333875" cy="2381250"/>
              <a:chOff x="190500" y="333375"/>
              <a:chExt cx="4333875" cy="2381250"/>
            </a:xfrm>
          </p:grpSpPr>
          <p:sp>
            <p:nvSpPr>
              <p:cNvPr id="2" name="contract-boundary"/>
              <p:cNvSpPr/>
              <p:nvPr/>
            </p:nvSpPr>
            <p:spPr>
              <a:xfrm>
                <a:off x="190500" y="333375"/>
                <a:ext cx="4333875" cy="2381250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F2F4"/>
                  </a:gs>
                </a:gsLst>
                <a:lin ang="5400000" scaled="1"/>
              </a:gradFill>
              <a:ln w="8890">
                <a:solidFill>
                  <a:srgbClr val="D8D8D4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6" name="contract-time-tick0"/>
              <p:cNvSpPr/>
              <p:nvPr/>
            </p:nvSpPr>
            <p:spPr>
              <a:xfrm>
                <a:off x="182880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7" name="contract-time-tick1"/>
              <p:cNvSpPr/>
              <p:nvPr/>
            </p:nvSpPr>
            <p:spPr>
              <a:xfrm>
                <a:off x="230505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8" name="contract-time-tick2"/>
              <p:cNvSpPr/>
              <p:nvPr/>
            </p:nvSpPr>
            <p:spPr>
              <a:xfrm>
                <a:off x="2781300" y="1371600"/>
                <a:ext cx="85725" cy="114300"/>
              </a:xfrm>
              <a:prstGeom prst="rect">
                <a:avLst/>
              </a:prstGeom>
              <a:solidFill>
                <a:srgbClr val="FFFFFF"/>
              </a:solidFill>
              <a:ln w="8890">
                <a:solidFill>
                  <a:srgbClr val="304B63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8" name="contract-time"/>
              <p:cNvSpPr/>
              <p:nvPr/>
            </p:nvSpPr>
            <p:spPr>
              <a:xfrm>
                <a:off x="1695450" y="1428750"/>
                <a:ext cx="144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42" name="contract-spec"/>
              <p:cNvPicPr/>
              <p:nvPr/>
            </p:nvPicPr>
            <p:blipFill>
              <a:blip r:embed="rId2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514350" y="1066800"/>
                <a:ext cx="704850" cy="609600"/>
              </a:xfrm>
              <a:prstGeom prst="rect">
                <a:avLst/>
              </a:prstGeom>
            </p:spPr>
          </p:pic>
          <p:pic>
            <p:nvPicPr>
              <p:cNvPr id="43" name="contract-clock"/>
              <p:cNvPicPr/>
              <p:nvPr/>
            </p:nvPicPr>
            <p:blipFill>
              <a:blip r:embed="rId3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3495675" y="1066800"/>
                <a:ext cx="657225" cy="666750"/>
              </a:xfrm>
              <a:prstGeom prst="rect">
                <a:avLst/>
              </a:prstGeom>
            </p:spPr>
          </p:pic>
          <p:sp>
            <p:nvSpPr>
              <p:cNvPr id="57" name="contract-title"/>
              <p:cNvSpPr txBox="1"/>
              <p:nvPr/>
            </p:nvSpPr>
            <p:spPr>
              <a:xfrm>
                <a:off x="285750" y="438150"/>
                <a:ext cx="41433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Contract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1" name="contract-spec-label"/>
              <p:cNvSpPr txBox="1"/>
              <p:nvPr/>
            </p:nvSpPr>
            <p:spPr>
              <a:xfrm>
                <a:off x="266700" y="1790700"/>
                <a:ext cx="1381125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Output</a:t>
                </a:r>
                <a:endParaRPr lang="zh-CN" sz="1936">
                  <a:latin typeface="Arial"/>
                </a:endParaRPr>
              </a:p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specification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62" name="contract-time-label"/>
              <p:cNvSpPr txBox="1"/>
              <p:nvPr/>
            </p:nvSpPr>
            <p:spPr>
              <a:xfrm>
                <a:off x="1676400" y="1790700"/>
                <a:ext cx="1524000" cy="704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Time cutoff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63" name="contract-budget"/>
              <p:cNvSpPr txBox="1"/>
              <p:nvPr/>
            </p:nvSpPr>
            <p:spPr>
              <a:xfrm>
                <a:off x="3333750" y="1809750"/>
                <a:ext cx="1000125" cy="666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Budget</a:t>
                </a:r>
                <a:endParaRPr lang="zh-CN" sz="2024">
                  <a:latin typeface="Arial"/>
                </a:endParaRPr>
              </a:p>
            </p:txBody>
          </p:sp>
        </p:grpSp>
        <p:grpSp>
          <p:nvGrpSpPr>
            <p:cNvPr id="10001" name="Resources"/>
            <p:cNvGrpSpPr/>
            <p:nvPr/>
          </p:nvGrpSpPr>
          <p:grpSpPr>
            <a:xfrm>
              <a:off x="4857750" y="333375"/>
              <a:ext cx="3752850" cy="2381250"/>
              <a:chOff x="4857750" y="333375"/>
              <a:chExt cx="3752850" cy="2381250"/>
            </a:xfrm>
          </p:grpSpPr>
          <p:sp>
            <p:nvSpPr>
              <p:cNvPr id="3" name="resources-boundary"/>
              <p:cNvSpPr/>
              <p:nvPr/>
            </p:nvSpPr>
            <p:spPr>
              <a:xfrm>
                <a:off x="4857750" y="333375"/>
                <a:ext cx="3752850" cy="2381250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F2F4"/>
                  </a:gs>
                </a:gsLst>
                <a:lin ang="5400000" scaled="1"/>
              </a:gradFill>
              <a:ln w="8890">
                <a:solidFill>
                  <a:srgbClr val="D8D8D4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44" name="resources-data"/>
              <p:cNvPicPr/>
              <p:nvPr/>
            </p:nvPicPr>
            <p:blipFill>
              <a:blip r:embed="rId4">
                <a:duotone>
                  <a:srgbClr val="258B79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5143500" y="1095375"/>
                <a:ext cx="590550" cy="533400"/>
              </a:xfrm>
              <a:prstGeom prst="rect">
                <a:avLst/>
              </a:prstGeom>
            </p:spPr>
          </p:pic>
          <p:pic>
            <p:nvPicPr>
              <p:cNvPr id="45" name="resources-code"/>
              <p:cNvPicPr/>
              <p:nvPr/>
            </p:nvPicPr>
            <p:blipFill>
              <a:blip r:embed="rId5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486525" y="1095375"/>
                <a:ext cx="533400" cy="514350"/>
              </a:xfrm>
              <a:prstGeom prst="rect">
                <a:avLst/>
              </a:prstGeom>
            </p:spPr>
          </p:pic>
          <p:pic>
            <p:nvPicPr>
              <p:cNvPr id="46" name="resources-doc"/>
              <p:cNvPicPr/>
              <p:nvPr/>
            </p:nvPicPr>
            <p:blipFill>
              <a:blip r:embed="rId6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7781925" y="1057275"/>
                <a:ext cx="457200" cy="590550"/>
              </a:xfrm>
              <a:prstGeom prst="rect">
                <a:avLst/>
              </a:prstGeom>
            </p:spPr>
          </p:pic>
          <p:sp>
            <p:nvSpPr>
              <p:cNvPr id="58" name="resources-title"/>
              <p:cNvSpPr txBox="1"/>
              <p:nvPr/>
            </p:nvSpPr>
            <p:spPr>
              <a:xfrm>
                <a:off x="4953000" y="438150"/>
                <a:ext cx="35623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Resources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4" name="resources-data-label"/>
              <p:cNvSpPr txBox="1"/>
              <p:nvPr/>
            </p:nvSpPr>
            <p:spPr>
              <a:xfrm>
                <a:off x="4972050" y="1809750"/>
                <a:ext cx="971550" cy="714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Data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65" name="resources-code-label"/>
              <p:cNvSpPr txBox="1"/>
              <p:nvPr/>
            </p:nvSpPr>
            <p:spPr>
              <a:xfrm>
                <a:off x="6143625" y="1781175"/>
                <a:ext cx="129540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9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Code</a:t>
                </a:r>
                <a:endParaRPr lang="zh-CN" sz="1794">
                  <a:latin typeface="Arial"/>
                </a:endParaRPr>
              </a:p>
            </p:txBody>
          </p:sp>
          <p:sp>
            <p:nvSpPr>
              <p:cNvPr id="66" name="resources-docs-label"/>
              <p:cNvSpPr txBox="1"/>
              <p:nvPr/>
            </p:nvSpPr>
            <p:spPr>
              <a:xfrm>
                <a:off x="7381875" y="1781175"/>
                <a:ext cx="1123950" cy="742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79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Documents</a:t>
                </a:r>
                <a:endParaRPr lang="zh-CN" sz="1794">
                  <a:latin typeface="Arial"/>
                </a:endParaRPr>
              </a:p>
            </p:txBody>
          </p:sp>
        </p:grpSp>
        <p:grpSp>
          <p:nvGrpSpPr>
            <p:cNvPr id="10002" name="Execution"/>
            <p:cNvGrpSpPr/>
            <p:nvPr/>
          </p:nvGrpSpPr>
          <p:grpSpPr>
            <a:xfrm>
              <a:off x="8934450" y="333375"/>
              <a:ext cx="3810000" cy="2381250"/>
              <a:chOff x="8934450" y="333375"/>
              <a:chExt cx="3810000" cy="2381250"/>
            </a:xfrm>
          </p:grpSpPr>
          <p:sp>
            <p:nvSpPr>
              <p:cNvPr id="4" name="execution-boundary"/>
              <p:cNvSpPr/>
              <p:nvPr/>
            </p:nvSpPr>
            <p:spPr>
              <a:xfrm>
                <a:off x="8934450" y="333375"/>
                <a:ext cx="3810000" cy="2381250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F2F4"/>
                  </a:gs>
                </a:gsLst>
                <a:lin ang="5400000" scaled="1"/>
              </a:gradFill>
              <a:ln w="8890">
                <a:solidFill>
                  <a:srgbClr val="D8D8D4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19" name="execution-fork"/>
              <p:cNvSpPr/>
              <p:nvPr/>
            </p:nvSpPr>
            <p:spPr>
              <a:xfrm>
                <a:off x="9810750" y="1200150"/>
                <a:ext cx="80010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12857" y="21600"/>
                    </a:lnTo>
                    <a:lnTo>
                      <a:pt x="12857" y="0"/>
                    </a:ln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0" name="execution-failbranch"/>
              <p:cNvSpPr/>
              <p:nvPr/>
            </p:nvSpPr>
            <p:spPr>
              <a:xfrm>
                <a:off x="10287000" y="1533525"/>
                <a:ext cx="1485900" cy="5429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D3A18B"/>
                    </a:gs>
                    <a:gs pos="100000">
                      <a:srgbClr val="A65F4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47" name="execution-call"/>
              <p:cNvPicPr/>
              <p:nvPr/>
            </p:nvPicPr>
            <p:blipFill>
              <a:blip r:embed="rId7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9258300" y="1323975"/>
                <a:ext cx="447675" cy="428625"/>
              </a:xfrm>
              <a:prstGeom prst="rect">
                <a:avLst/>
              </a:prstGeom>
            </p:spPr>
          </p:pic>
          <p:pic>
            <p:nvPicPr>
              <p:cNvPr id="48" name="execution-result"/>
              <p:cNvPicPr/>
              <p:nvPr/>
            </p:nvPicPr>
            <p:blipFill>
              <a:blip r:embed="rId8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0715625" y="1019175"/>
                <a:ext cx="295275" cy="371475"/>
              </a:xfrm>
              <a:prstGeom prst="rect">
                <a:avLst/>
              </a:prstGeom>
            </p:spPr>
          </p:pic>
          <p:pic>
            <p:nvPicPr>
              <p:cNvPr id="49" name="execution-failure"/>
              <p:cNvPicPr/>
              <p:nvPr/>
            </p:nvPicPr>
            <p:blipFill>
              <a:blip r:embed="rId9">
                <a:duotone>
                  <a:srgbClr val="C16A4A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1906250" y="1885950"/>
                <a:ext cx="361950" cy="381000"/>
              </a:xfrm>
              <a:prstGeom prst="rect">
                <a:avLst/>
              </a:prstGeom>
            </p:spPr>
          </p:pic>
          <p:sp>
            <p:nvSpPr>
              <p:cNvPr id="59" name="execution-title"/>
              <p:cNvSpPr txBox="1"/>
              <p:nvPr/>
            </p:nvSpPr>
            <p:spPr>
              <a:xfrm>
                <a:off x="9029700" y="438150"/>
                <a:ext cx="3619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Execution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67" name="execution-call-label"/>
              <p:cNvSpPr txBox="1"/>
              <p:nvPr/>
            </p:nvSpPr>
            <p:spPr>
              <a:xfrm>
                <a:off x="9001125" y="1800225"/>
                <a:ext cx="10953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Tool call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68" name="execution-success-label"/>
              <p:cNvSpPr txBox="1"/>
              <p:nvPr/>
            </p:nvSpPr>
            <p:spPr>
              <a:xfrm>
                <a:off x="11096625" y="1009650"/>
                <a:ext cx="133350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Result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69" name="execution-fail-label"/>
              <p:cNvSpPr txBox="1"/>
              <p:nvPr/>
            </p:nvSpPr>
            <p:spPr>
              <a:xfrm>
                <a:off x="10763250" y="2266950"/>
                <a:ext cx="1524000" cy="3619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Failure</a:t>
                </a:r>
                <a:endParaRPr lang="zh-CN" sz="2024">
                  <a:latin typeface="Arial"/>
                </a:endParaRPr>
              </a:p>
            </p:txBody>
          </p:sp>
        </p:grpSp>
        <p:grpSp>
          <p:nvGrpSpPr>
            <p:cNvPr id="10003" name="Artifact"/>
            <p:cNvGrpSpPr/>
            <p:nvPr/>
          </p:nvGrpSpPr>
          <p:grpSpPr>
            <a:xfrm>
              <a:off x="13049250" y="333375"/>
              <a:ext cx="3629025" cy="2381250"/>
              <a:chOff x="13049250" y="333375"/>
              <a:chExt cx="3629025" cy="2381250"/>
            </a:xfrm>
          </p:grpSpPr>
          <p:sp>
            <p:nvSpPr>
              <p:cNvPr id="5" name="artifact-boundary"/>
              <p:cNvSpPr/>
              <p:nvPr/>
            </p:nvSpPr>
            <p:spPr>
              <a:xfrm>
                <a:off x="13049250" y="333375"/>
                <a:ext cx="3629025" cy="2381250"/>
              </a:xfrm>
              <a:prstGeom prst="rect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EEF2F4"/>
                  </a:gs>
                </a:gsLst>
                <a:lin ang="5400000" scaled="1"/>
              </a:gradFill>
              <a:ln w="8890">
                <a:solidFill>
                  <a:srgbClr val="D8D8D4"/>
                </a:solidFill>
              </a:ln>
              <a:effectLst>
                <a:outerShdw blurRad="18000" dist="11000" dir="5400000" algn="ctr" rotWithShape="0">
                  <a:srgbClr val="333333">
                    <a:alpha val="11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1" name="artifact-axis"/>
              <p:cNvSpPr/>
              <p:nvPr/>
            </p:nvSpPr>
            <p:spPr>
              <a:xfrm>
                <a:off x="13344525" y="1143000"/>
                <a:ext cx="17145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22" name="artifact-curve"/>
              <p:cNvSpPr/>
              <p:nvPr/>
            </p:nvSpPr>
            <p:spPr>
              <a:xfrm>
                <a:off x="13354050" y="1152525"/>
                <a:ext cx="16192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6800"/>
                    </a:lnTo>
                    <a:lnTo>
                      <a:pt x="4937" y="14400"/>
                    </a:lnTo>
                    <a:lnTo>
                      <a:pt x="7714" y="13280"/>
                    </a:lnTo>
                    <a:lnTo>
                      <a:pt x="10594" y="14880"/>
                    </a:lnTo>
                    <a:lnTo>
                      <a:pt x="13166" y="15840"/>
                    </a:lnTo>
                    <a:lnTo>
                      <a:pt x="15943" y="13280"/>
                    </a:lnTo>
                    <a:lnTo>
                      <a:pt x="19234" y="4800"/>
                    </a:lnTo>
                    <a:lnTo>
                      <a:pt x="21600" y="0"/>
                    </a:lnTo>
                  </a:path>
                </a:pathLst>
              </a:custGeom>
              <a:noFill/>
              <a:ln w="2032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0" name="artifact-file"/>
              <p:cNvPicPr/>
              <p:nvPr/>
            </p:nvPicPr>
            <p:blipFill>
              <a:blip r:embed="rId10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5763875" y="1057275"/>
                <a:ext cx="552450" cy="714375"/>
              </a:xfrm>
              <a:prstGeom prst="rect">
                <a:avLst/>
              </a:prstGeom>
            </p:spPr>
          </p:pic>
          <p:sp>
            <p:nvSpPr>
              <p:cNvPr id="60" name="artifact-title"/>
              <p:cNvSpPr txBox="1"/>
              <p:nvPr/>
            </p:nvSpPr>
            <p:spPr>
              <a:xfrm>
                <a:off x="13144500" y="438150"/>
                <a:ext cx="34385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Artifact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70" name="artifact-pred-label"/>
              <p:cNvSpPr txBox="1"/>
              <p:nvPr/>
            </p:nvSpPr>
            <p:spPr>
              <a:xfrm>
                <a:off x="13239750" y="1952625"/>
                <a:ext cx="200025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Prediction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71" name="artifact-file-label"/>
              <p:cNvSpPr txBox="1"/>
              <p:nvPr/>
            </p:nvSpPr>
            <p:spPr>
              <a:xfrm>
                <a:off x="15306675" y="1952625"/>
                <a:ext cx="12858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Output file</a:t>
                </a:r>
                <a:endParaRPr lang="zh-CN" sz="2024">
                  <a:latin typeface="Arial"/>
                </a:endParaRPr>
              </a:p>
            </p:txBody>
          </p:sp>
        </p:grpSp>
        <p:grpSp>
          <p:nvGrpSpPr>
            <p:cNvPr id="10004" name="Performance"/>
            <p:cNvGrpSpPr/>
            <p:nvPr/>
          </p:nvGrpSpPr>
          <p:grpSpPr>
            <a:xfrm>
              <a:off x="238125" y="3905250"/>
              <a:ext cx="5286375" cy="3981450"/>
              <a:chOff x="238125" y="3905250"/>
              <a:chExt cx="5286375" cy="3981450"/>
            </a:xfrm>
          </p:grpSpPr>
          <p:sp>
            <p:nvSpPr>
              <p:cNvPr id="9" name="performance-residual0"/>
              <p:cNvSpPr/>
              <p:nvPr/>
            </p:nvSpPr>
            <p:spPr>
              <a:xfrm>
                <a:off x="3705225" y="5581650"/>
                <a:ext cx="66675" cy="4762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0" name="performance-residual1"/>
              <p:cNvSpPr/>
              <p:nvPr/>
            </p:nvSpPr>
            <p:spPr>
              <a:xfrm>
                <a:off x="3876675" y="5600700"/>
                <a:ext cx="66675" cy="285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1" name="performance-residual2"/>
              <p:cNvSpPr/>
              <p:nvPr/>
            </p:nvSpPr>
            <p:spPr>
              <a:xfrm>
                <a:off x="4048125" y="5629275"/>
                <a:ext cx="66675" cy="23812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2" name="performance-residual3"/>
              <p:cNvSpPr/>
              <p:nvPr/>
            </p:nvSpPr>
            <p:spPr>
              <a:xfrm>
                <a:off x="4219575" y="5629275"/>
                <a:ext cx="66675" cy="266700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3" name="performance-residual4"/>
              <p:cNvSpPr/>
              <p:nvPr/>
            </p:nvSpPr>
            <p:spPr>
              <a:xfrm>
                <a:off x="4391025" y="5629275"/>
                <a:ext cx="66675" cy="285750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4" name="performance-residual5"/>
              <p:cNvSpPr/>
              <p:nvPr/>
            </p:nvSpPr>
            <p:spPr>
              <a:xfrm>
                <a:off x="4562475" y="5629275"/>
                <a:ext cx="66675" cy="3333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5" name="performance-residual6"/>
              <p:cNvSpPr/>
              <p:nvPr/>
            </p:nvSpPr>
            <p:spPr>
              <a:xfrm>
                <a:off x="4733925" y="5629275"/>
                <a:ext cx="66675" cy="285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6" name="performance-residual7"/>
              <p:cNvSpPr/>
              <p:nvPr/>
            </p:nvSpPr>
            <p:spPr>
              <a:xfrm>
                <a:off x="4905375" y="5362575"/>
                <a:ext cx="66675" cy="266700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17" name="performance-residual8"/>
              <p:cNvSpPr/>
              <p:nvPr/>
            </p:nvSpPr>
            <p:spPr>
              <a:xfrm>
                <a:off x="5076825" y="5334000"/>
                <a:ext cx="66675" cy="295275"/>
              </a:xfrm>
              <a:prstGeom prst="rect">
                <a:avLst/>
              </a:prstGeom>
              <a:solidFill>
                <a:srgbClr val="000000"/>
              </a:solidFill>
              <a:ln w="88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29" name="performance-rule"/>
              <p:cNvSpPr/>
              <p:nvPr/>
            </p:nvSpPr>
            <p:spPr>
              <a:xfrm>
                <a:off x="238125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2" name="performance-axes"/>
              <p:cNvSpPr/>
              <p:nvPr/>
            </p:nvSpPr>
            <p:spPr>
              <a:xfrm>
                <a:off x="581025" y="4819650"/>
                <a:ext cx="2162175" cy="156210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  <a:lnTo>
                      <a:pt x="21600" y="2160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3" name="performance-prediction"/>
              <p:cNvSpPr/>
              <p:nvPr/>
            </p:nvSpPr>
            <p:spPr>
              <a:xfrm>
                <a:off x="590550" y="4953000"/>
                <a:ext cx="2000250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6800"/>
                    </a:lnTo>
                    <a:lnTo>
                      <a:pt x="4937" y="14400"/>
                    </a:lnTo>
                    <a:lnTo>
                      <a:pt x="7714" y="13280"/>
                    </a:lnTo>
                    <a:lnTo>
                      <a:pt x="10594" y="14880"/>
                    </a:lnTo>
                    <a:lnTo>
                      <a:pt x="13166" y="15840"/>
                    </a:lnTo>
                    <a:lnTo>
                      <a:pt x="15943" y="13280"/>
                    </a:lnTo>
                    <a:lnTo>
                      <a:pt x="19234" y="4800"/>
                    </a:lnTo>
                    <a:lnTo>
                      <a:pt x="21600" y="0"/>
                    </a:lnTo>
                  </a:path>
                </a:pathLst>
              </a:custGeom>
              <a:noFill/>
              <a:ln w="2413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4" name="performance-reference"/>
              <p:cNvSpPr/>
              <p:nvPr/>
            </p:nvSpPr>
            <p:spPr>
              <a:xfrm>
                <a:off x="590550" y="5248275"/>
                <a:ext cx="2000250" cy="1038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600"/>
                    </a:moveTo>
                    <a:lnTo>
                      <a:pt x="2366" y="15259"/>
                    </a:lnTo>
                    <a:lnTo>
                      <a:pt x="4937" y="6738"/>
                    </a:lnTo>
                    <a:lnTo>
                      <a:pt x="7714" y="4756"/>
                    </a:lnTo>
                    <a:lnTo>
                      <a:pt x="10594" y="6341"/>
                    </a:lnTo>
                    <a:lnTo>
                      <a:pt x="13166" y="6539"/>
                    </a:lnTo>
                    <a:lnTo>
                      <a:pt x="15943" y="9710"/>
                    </a:lnTo>
                    <a:lnTo>
                      <a:pt x="19234" y="5350"/>
                    </a:lnTo>
                    <a:lnTo>
                      <a:pt x="21600" y="0"/>
                    </a:lnTo>
                  </a:path>
                </a:pathLst>
              </a:custGeom>
              <a:noFill/>
              <a:ln w="21590" cap="rnd">
                <a:solidFill>
                  <a:srgbClr val="000000"/>
                </a:solidFill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35" name="performance-key1"/>
              <p:cNvSpPr/>
              <p:nvPr/>
            </p:nvSpPr>
            <p:spPr>
              <a:xfrm>
                <a:off x="409575" y="6838950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 cap="rnd">
                <a:solidFill>
                  <a:srgbClr val="000000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6" name="performance-key2"/>
              <p:cNvSpPr/>
              <p:nvPr/>
            </p:nvSpPr>
            <p:spPr>
              <a:xfrm>
                <a:off x="409575" y="7248525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1590" cap="rnd">
                <a:solidFill>
                  <a:srgbClr val="000000"/>
                </a:solidFill>
                <a:prstDash val="dash"/>
              </a:ln>
            </p:spPr>
            <p:txBody>
              <a:bodyPr/>
              <a:lstStyle/>
              <a:p/>
            </p:txBody>
          </p:sp>
          <p:sp>
            <p:nvSpPr>
              <p:cNvPr id="37" name="performance-residual-axis"/>
              <p:cNvSpPr/>
              <p:nvPr/>
            </p:nvSpPr>
            <p:spPr>
              <a:xfrm>
                <a:off x="3571875" y="4838700"/>
                <a:ext cx="9525" cy="15430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9000">
                <a:gradFill rotWithShape="1">
                  <a:gsLst>
                    <a:gs pos="0">
                      <a:srgbClr val="A5AAA9"/>
                    </a:gs>
                    <a:gs pos="100000">
                      <a:srgbClr val="555D61"/>
                    </a:gs>
                  </a:gsLst>
                  <a:lin ang="0" scaled="1"/>
                </a:gradFill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38" name="performance-residual-zero"/>
              <p:cNvSpPr/>
              <p:nvPr/>
            </p:nvSpPr>
            <p:spPr>
              <a:xfrm>
                <a:off x="3571875" y="5629275"/>
                <a:ext cx="17811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905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72" name="performance-title"/>
              <p:cNvSpPr txBox="1"/>
              <p:nvPr/>
            </p:nvSpPr>
            <p:spPr>
              <a:xfrm>
                <a:off x="238125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Task performance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75" name="performance-output-label"/>
              <p:cNvSpPr txBox="1"/>
              <p:nvPr/>
            </p:nvSpPr>
            <p:spPr>
              <a:xfrm>
                <a:off x="619125" y="6648450"/>
                <a:ext cx="1428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Prediction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76" name="performance-reference-label"/>
              <p:cNvSpPr txBox="1"/>
              <p:nvPr/>
            </p:nvSpPr>
            <p:spPr>
              <a:xfrm>
                <a:off x="619125" y="7058025"/>
                <a:ext cx="14287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Reference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77" name="performance-residual-label"/>
              <p:cNvSpPr txBox="1"/>
              <p:nvPr/>
            </p:nvSpPr>
            <p:spPr>
              <a:xfrm>
                <a:off x="3438525" y="6648450"/>
                <a:ext cx="2000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Residuals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78" name="performance-purpose"/>
              <p:cNvSpPr txBox="1"/>
              <p:nvPr/>
            </p:nvSpPr>
            <p:spPr>
              <a:xfrm>
                <a:off x="333375" y="7467600"/>
                <a:ext cx="509587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Compare outputs with held-out references</a:t>
                </a:r>
                <a:endParaRPr lang="zh-CN" sz="1872">
                  <a:latin typeface="Arial"/>
                </a:endParaRPr>
              </a:p>
            </p:txBody>
          </p:sp>
        </p:grpSp>
        <p:grpSp>
          <p:nvGrpSpPr>
            <p:cNvPr id="10005" name="Validity"/>
            <p:cNvGrpSpPr/>
            <p:nvPr/>
          </p:nvGrpSpPr>
          <p:grpSpPr>
            <a:xfrm>
              <a:off x="5810250" y="3905250"/>
              <a:ext cx="5286375" cy="3981450"/>
              <a:chOff x="5810250" y="3905250"/>
              <a:chExt cx="5286375" cy="3981450"/>
            </a:xfrm>
          </p:grpSpPr>
          <p:sp>
            <p:nvSpPr>
              <p:cNvPr id="30" name="validity-rule"/>
              <p:cNvSpPr/>
              <p:nvPr/>
            </p:nvSpPr>
            <p:spPr>
              <a:xfrm>
                <a:off x="5810250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1" name="validity-file"/>
              <p:cNvPicPr/>
              <p:nvPr/>
            </p:nvPicPr>
            <p:blipFill>
              <a:blip r:embed="rId11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6248400" y="4914900"/>
                <a:ext cx="638175" cy="790575"/>
              </a:xfrm>
              <a:prstGeom prst="rect">
                <a:avLst/>
              </a:prstGeom>
            </p:spPr>
          </p:pic>
          <p:pic>
            <p:nvPicPr>
              <p:cNvPr id="52" name="validity-schema"/>
              <p:cNvPicPr/>
              <p:nvPr/>
            </p:nvPicPr>
            <p:blipFill>
              <a:blip r:embed="rId12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8134350" y="4943475"/>
                <a:ext cx="695325" cy="704850"/>
              </a:xfrm>
              <a:prstGeom prst="rect">
                <a:avLst/>
              </a:prstGeom>
            </p:spPr>
          </p:pic>
          <p:pic>
            <p:nvPicPr>
              <p:cNvPr id="53" name="validity-runs"/>
              <p:cNvPicPr/>
              <p:nvPr/>
            </p:nvPicPr>
            <p:blipFill>
              <a:blip r:embed="rId13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9925050" y="4933950"/>
                <a:ext cx="781050" cy="781050"/>
              </a:xfrm>
              <a:prstGeom prst="rect">
                <a:avLst/>
              </a:prstGeom>
            </p:spPr>
          </p:pic>
          <p:sp>
            <p:nvSpPr>
              <p:cNvPr id="73" name="validity-title"/>
              <p:cNvSpPr txBox="1"/>
              <p:nvPr/>
            </p:nvSpPr>
            <p:spPr>
              <a:xfrm>
                <a:off x="5810250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Artifact validity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79" name="validity-file-title"/>
              <p:cNvSpPr txBox="1"/>
              <p:nvPr/>
            </p:nvSpPr>
            <p:spPr>
              <a:xfrm>
                <a:off x="595312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File</a:t>
                </a:r>
                <a:endParaRPr lang="zh-CN" sz="2112">
                  <a:latin typeface="Arial"/>
                </a:endParaRPr>
              </a:p>
            </p:txBody>
          </p:sp>
          <p:sp>
            <p:nvSpPr>
              <p:cNvPr id="80" name="validity-file-desc"/>
              <p:cNvSpPr txBox="1"/>
              <p:nvPr/>
            </p:nvSpPr>
            <p:spPr>
              <a:xfrm>
                <a:off x="585787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Complete</a:t>
                </a:r>
                <a:endParaRPr lang="zh-CN" sz="2200">
                  <a:latin typeface="Arial"/>
                </a:endParaRPr>
              </a:p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and readable</a:t>
                </a:r>
                <a:endParaRPr lang="zh-CN" sz="2200">
                  <a:latin typeface="Arial"/>
                </a:endParaRPr>
              </a:p>
            </p:txBody>
          </p:sp>
          <p:sp>
            <p:nvSpPr>
              <p:cNvPr id="81" name="validity-schema-title"/>
              <p:cNvSpPr txBox="1"/>
              <p:nvPr/>
            </p:nvSpPr>
            <p:spPr>
              <a:xfrm>
                <a:off x="783907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Schema</a:t>
                </a:r>
                <a:endParaRPr lang="zh-CN" sz="2112">
                  <a:latin typeface="Arial"/>
                </a:endParaRPr>
              </a:p>
            </p:txBody>
          </p:sp>
          <p:sp>
            <p:nvSpPr>
              <p:cNvPr id="82" name="validity-schema-desc"/>
              <p:cNvSpPr txBox="1"/>
              <p:nvPr/>
            </p:nvSpPr>
            <p:spPr>
              <a:xfrm>
                <a:off x="774382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Required</a:t>
                </a:r>
                <a:endParaRPr lang="zh-CN" sz="2200">
                  <a:latin typeface="Arial"/>
                </a:endParaRPr>
              </a:p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structure</a:t>
                </a:r>
                <a:endParaRPr lang="zh-CN" sz="2200">
                  <a:latin typeface="Arial"/>
                </a:endParaRPr>
              </a:p>
            </p:txBody>
          </p:sp>
          <p:sp>
            <p:nvSpPr>
              <p:cNvPr id="83" name="validity-runs-title"/>
              <p:cNvSpPr txBox="1"/>
              <p:nvPr/>
            </p:nvSpPr>
            <p:spPr>
              <a:xfrm>
                <a:off x="9629775" y="5962650"/>
                <a:ext cx="1381125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12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Execution</a:t>
                </a:r>
                <a:endParaRPr lang="zh-CN" sz="2112">
                  <a:latin typeface="Arial"/>
                </a:endParaRPr>
              </a:p>
            </p:txBody>
          </p:sp>
          <p:sp>
            <p:nvSpPr>
              <p:cNvPr id="84" name="validity-runs-desc"/>
              <p:cNvSpPr txBox="1"/>
              <p:nvPr/>
            </p:nvSpPr>
            <p:spPr>
              <a:xfrm>
                <a:off x="9534525" y="6496050"/>
                <a:ext cx="1495425" cy="857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Runs, loads</a:t>
                </a:r>
                <a:endParaRPr lang="zh-CN" sz="2200">
                  <a:latin typeface="Arial"/>
                </a:endParaRPr>
              </a:p>
              <a:p>
                <a:pPr algn="ctr"/>
                <a:r>
                  <a:rPr lang="zh-CN" sz="2200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or parses</a:t>
                </a:r>
                <a:endParaRPr lang="zh-CN" sz="2200">
                  <a:latin typeface="Arial"/>
                </a:endParaRPr>
              </a:p>
            </p:txBody>
          </p:sp>
          <p:sp>
            <p:nvSpPr>
              <p:cNvPr id="85" name="validity-purpose"/>
              <p:cNvSpPr txBox="1"/>
              <p:nvPr/>
            </p:nvSpPr>
            <p:spPr>
              <a:xfrm>
                <a:off x="6000750" y="7467600"/>
                <a:ext cx="4857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872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Check the required artifact</a:t>
                </a:r>
                <a:endParaRPr lang="zh-CN" sz="1872">
                  <a:latin typeface="Arial"/>
                </a:endParaRPr>
              </a:p>
            </p:txBody>
          </p:sp>
        </p:grpSp>
        <p:grpSp>
          <p:nvGrpSpPr>
            <p:cNvPr id="10006" name="Record"/>
            <p:cNvGrpSpPr/>
            <p:nvPr/>
          </p:nvGrpSpPr>
          <p:grpSpPr>
            <a:xfrm>
              <a:off x="11382375" y="3905250"/>
              <a:ext cx="5286375" cy="3905250"/>
              <a:chOff x="11382375" y="3905250"/>
              <a:chExt cx="5286375" cy="3905250"/>
            </a:xfrm>
          </p:grpSpPr>
          <p:sp>
            <p:nvSpPr>
              <p:cNvPr id="31" name="record-rule"/>
              <p:cNvSpPr/>
              <p:nvPr/>
            </p:nvSpPr>
            <p:spPr>
              <a:xfrm>
                <a:off x="11382375" y="4429125"/>
                <a:ext cx="5286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39" name="record-rule0"/>
              <p:cNvSpPr/>
              <p:nvPr/>
            </p:nvSpPr>
            <p:spPr>
              <a:xfrm>
                <a:off x="11639550" y="5372100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0" name="record-rule1"/>
              <p:cNvSpPr/>
              <p:nvPr/>
            </p:nvSpPr>
            <p:spPr>
              <a:xfrm>
                <a:off x="11639550" y="6238875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sp>
            <p:nvSpPr>
              <p:cNvPr id="41" name="record-rule2"/>
              <p:cNvSpPr/>
              <p:nvPr/>
            </p:nvSpPr>
            <p:spPr>
              <a:xfrm>
                <a:off x="11639550" y="7105650"/>
                <a:ext cx="4743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7620">
                <a:solidFill>
                  <a:srgbClr val="D8D8D4"/>
                </a:solidFill>
              </a:ln>
            </p:spPr>
            <p:txBody>
              <a:bodyPr/>
              <a:lstStyle/>
              <a:p/>
            </p:txBody>
          </p:sp>
          <p:pic>
            <p:nvPicPr>
              <p:cNvPr id="54" name="record-clock"/>
              <p:cNvPicPr/>
              <p:nvPr/>
            </p:nvPicPr>
            <p:blipFill>
              <a:blip r:embed="rId14">
                <a:duotone>
                  <a:srgbClr val="287EA6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1687175" y="7448550"/>
                <a:ext cx="342900" cy="333375"/>
              </a:xfrm>
              <a:prstGeom prst="rect">
                <a:avLst/>
              </a:prstGeom>
            </p:spPr>
          </p:pic>
          <p:pic>
            <p:nvPicPr>
              <p:cNvPr id="55" name="record-cost"/>
              <p:cNvPicPr/>
              <p:nvPr/>
            </p:nvPicPr>
            <p:blipFill>
              <a:blip r:embed="rId15">
                <a:duotone>
                  <a:srgbClr val="C16A4A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3411200" y="7448550"/>
                <a:ext cx="333375" cy="333375"/>
              </a:xfrm>
              <a:prstGeom prst="rect">
                <a:avLst/>
              </a:prstGeom>
            </p:spPr>
          </p:pic>
          <p:pic>
            <p:nvPicPr>
              <p:cNvPr id="56" name="record-tools"/>
              <p:cNvPicPr/>
              <p:nvPr/>
            </p:nvPicPr>
            <p:blipFill>
              <a:blip r:embed="rId16">
                <a:duotone>
                  <a:srgbClr val="B9862E"/>
                  <a:srgbClr val="FFFFFF"/>
                </a:duotone>
              </a:blip>
              <a:stretch>
                <a:fillRect/>
              </a:stretch>
            </p:blipFill>
            <p:spPr>
              <a:xfrm>
                <a:off x="14954250" y="7448550"/>
                <a:ext cx="333375" cy="333375"/>
              </a:xfrm>
              <a:prstGeom prst="rect">
                <a:avLst/>
              </a:prstGeom>
            </p:spPr>
          </p:pic>
          <p:sp>
            <p:nvSpPr>
              <p:cNvPr id="74" name="record-title"/>
              <p:cNvSpPr txBox="1"/>
              <p:nvPr/>
            </p:nvSpPr>
            <p:spPr>
              <a:xfrm>
                <a:off x="11382375" y="3905250"/>
                <a:ext cx="5286375" cy="447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552" b="1">
                    <a:solidFill>
                      <a:srgbClr val="222222"/>
                    </a:solidFill>
                    <a:latin typeface="Comic Sans MS"/>
                    <a:ea typeface="Times New Roman"/>
                    <a:cs typeface="Times New Roman"/>
                  </a:rPr>
                  <a:t>Execution record</a:t>
                </a:r>
                <a:endParaRPr lang="zh-CN" sz="2552">
                  <a:latin typeface="Comic Sans MS"/>
                </a:endParaRPr>
              </a:p>
            </p:txBody>
          </p:sp>
          <p:sp>
            <p:nvSpPr>
              <p:cNvPr id="86" name="record-key0"/>
              <p:cNvSpPr txBox="1"/>
              <p:nvPr/>
            </p:nvSpPr>
            <p:spPr>
              <a:xfrm>
                <a:off x="11620500" y="4810125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Call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87" name="record-value0"/>
              <p:cNvSpPr txBox="1"/>
              <p:nvPr/>
            </p:nvSpPr>
            <p:spPr>
              <a:xfrm>
                <a:off x="12906375" y="4810125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tool(input)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88" name="record-key1"/>
              <p:cNvSpPr txBox="1"/>
              <p:nvPr/>
            </p:nvSpPr>
            <p:spPr>
              <a:xfrm>
                <a:off x="11620500" y="5676900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Status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89" name="record-value1"/>
              <p:cNvSpPr txBox="1"/>
              <p:nvPr/>
            </p:nvSpPr>
            <p:spPr>
              <a:xfrm>
                <a:off x="12906375" y="5676900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result or error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90" name="record-key2"/>
              <p:cNvSpPr txBox="1"/>
              <p:nvPr/>
            </p:nvSpPr>
            <p:spPr>
              <a:xfrm>
                <a:off x="11620500" y="6543675"/>
                <a:ext cx="1257300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 b="1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Artifact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91" name="record-value2"/>
              <p:cNvSpPr txBox="1"/>
              <p:nvPr/>
            </p:nvSpPr>
            <p:spPr>
              <a:xfrm>
                <a:off x="12906375" y="6543675"/>
                <a:ext cx="3381375" cy="409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024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output reference</a:t>
                </a:r>
                <a:endParaRPr lang="zh-CN" sz="2024">
                  <a:latin typeface="Arial"/>
                </a:endParaRPr>
              </a:p>
            </p:txBody>
          </p:sp>
          <p:sp>
            <p:nvSpPr>
              <p:cNvPr id="92" name="record-latency"/>
              <p:cNvSpPr txBox="1"/>
              <p:nvPr/>
            </p:nvSpPr>
            <p:spPr>
              <a:xfrm>
                <a:off x="12096750" y="7391400"/>
                <a:ext cx="10477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Latency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93" name="record-cost-label"/>
              <p:cNvSpPr txBox="1"/>
              <p:nvPr/>
            </p:nvSpPr>
            <p:spPr>
              <a:xfrm>
                <a:off x="13811250" y="7391400"/>
                <a:ext cx="857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Cost</a:t>
                </a:r>
                <a:endParaRPr lang="zh-CN" sz="1936">
                  <a:latin typeface="Arial"/>
                </a:endParaRPr>
              </a:p>
            </p:txBody>
          </p:sp>
          <p:sp>
            <p:nvSpPr>
              <p:cNvPr id="94" name="record-tool-label"/>
              <p:cNvSpPr txBox="1"/>
              <p:nvPr/>
            </p:nvSpPr>
            <p:spPr>
              <a:xfrm>
                <a:off x="15354300" y="7391400"/>
                <a:ext cx="1238250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36">
                    <a:solidFill>
                      <a:srgbClr val="222222"/>
                    </a:solidFill>
                    <a:latin typeface="Arial"/>
                    <a:ea typeface="Times New Roman"/>
                    <a:cs typeface="Times New Roman"/>
                  </a:rPr>
                  <a:t>Tool use</a:t>
                </a:r>
                <a:endParaRPr lang="zh-CN" sz="1936">
                  <a:latin typeface="Arial"/>
                </a:endParaRPr>
              </a:p>
            </p:txBody>
          </p:sp>
        </p:grpSp>
        <p:grpSp>
          <p:nvGrpSpPr>
            <p:cNvPr id="10007" name="Connectors"/>
            <p:cNvGrpSpPr/>
            <p:nvPr/>
          </p:nvGrpSpPr>
          <p:grpSpPr>
            <a:xfrm>
              <a:off x="2857500" y="1514475"/>
              <a:ext cx="11953875" cy="2286000"/>
              <a:chOff x="2857500" y="1514475"/>
              <a:chExt cx="11953875" cy="2286000"/>
            </a:xfrm>
          </p:grpSpPr>
          <p:sp>
            <p:nvSpPr>
              <p:cNvPr id="23" name="flow-stage0"/>
              <p:cNvSpPr/>
              <p:nvPr/>
            </p:nvSpPr>
            <p:spPr>
              <a:xfrm>
                <a:off x="4524375" y="1514475"/>
                <a:ext cx="304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4" name="flow-stage1"/>
              <p:cNvSpPr/>
              <p:nvPr/>
            </p:nvSpPr>
            <p:spPr>
              <a:xfrm>
                <a:off x="8620125" y="1514475"/>
                <a:ext cx="2952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5" name="flow-stage2"/>
              <p:cNvSpPr/>
              <p:nvPr/>
            </p:nvSpPr>
            <p:spPr>
              <a:xfrm>
                <a:off x="12763500" y="1514475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6" name="flow-artifact-performance"/>
              <p:cNvSpPr/>
              <p:nvPr/>
            </p:nvSpPr>
            <p:spPr>
              <a:xfrm>
                <a:off x="2857500" y="2724150"/>
                <a:ext cx="11953875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0"/>
                    </a:moveTo>
                    <a:lnTo>
                      <a:pt x="21600" y="7455"/>
                    </a:lnTo>
                    <a:lnTo>
                      <a:pt x="0" y="7455"/>
                    </a:lnTo>
                    <a:lnTo>
                      <a:pt x="0" y="2160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7" name="flow-artifact-validity"/>
              <p:cNvSpPr/>
              <p:nvPr/>
            </p:nvSpPr>
            <p:spPr>
              <a:xfrm>
                <a:off x="8524875" y="3095625"/>
                <a:ext cx="9525" cy="7048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sp>
            <p:nvSpPr>
              <p:cNvPr id="28" name="flow-execution-record"/>
              <p:cNvSpPr/>
              <p:nvPr/>
            </p:nvSpPr>
            <p:spPr>
              <a:xfrm>
                <a:off x="10858500" y="2724150"/>
                <a:ext cx="3343275" cy="10763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5352"/>
                    </a:lnTo>
                    <a:quadBezTo>
                      <a:pt x="1046" y="7455"/>
                      <a:pt x="0" y="9558"/>
                    </a:quadBezTo>
                    <a:lnTo>
                      <a:pt x="0" y="14145"/>
                    </a:lnTo>
                    <a:lnTo>
                      <a:pt x="21538" y="14145"/>
                    </a:lnTo>
                    <a:lnTo>
                      <a:pt x="21538" y="21600"/>
                    </a:lnTo>
                  </a:path>
                </a:pathLst>
              </a:custGeom>
              <a:noFill/>
              <a:ln w="26000">
                <a:gradFill rotWithShape="1">
                  <a:gsLst>
                    <a:gs pos="0">
                      <a:srgbClr val="87A1B1"/>
                    </a:gs>
                    <a:gs pos="100000">
                      <a:srgbClr val="3E6178"/>
                    </a:gs>
                  </a:gsLst>
                  <a:lin ang="0" scaled="1"/>
                </a:gradFill>
                <a:tailEnd type="triangle"/>
              </a:ln>
              <a:effectLst>
                <a:outerShdw blurRad="15000" dist="9000" dir="5400000" algn="ctr" rotWithShape="0">
                  <a:srgbClr val="333333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