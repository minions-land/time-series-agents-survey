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aeeae6cea2c47ee" /><Relationship Type="http://schemas.openxmlformats.org/officeDocument/2006/relationships/extended-properties" Target="/docProps/app.xml" Id="R75f1288dc0dd44b3" /><Relationship Type="http://schemas.openxmlformats.org/officeDocument/2006/relationships/officeDocument" Target="/ppt/presentation.xml" Id="Rbca4889eb693422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90b8e096fec4945"/>
  </p:sldMasterIdLst>
  <p:notesMasterIdLst>
    <p:notesMasterId xmlns:r="http://schemas.openxmlformats.org/officeDocument/2006/relationships" r:id="Rac95b4ffa86d4fc9"/>
  </p:notesMasterIdLst>
  <p:sldIdLst>
    <p:sldId xmlns:r="http://schemas.openxmlformats.org/officeDocument/2006/relationships" id="256" r:id="R3d63bb9418734535"/>
  </p:sldIdLst>
  <p:sldSz cx="11430000" cy="6191250" type="custom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f0ccec1b7394d8a" /><Relationship Type="http://schemas.openxmlformats.org/officeDocument/2006/relationships/slideMaster" Target="/ppt/slideMasters/slideMaster1.xml" Id="Rc90b8e096fec4945" /><Relationship Type="http://schemas.openxmlformats.org/officeDocument/2006/relationships/notesMaster" Target="/ppt/notesMasters/notesMaster1.xml" Id="Rac95b4ffa86d4fc9" /><Relationship Type="http://schemas.openxmlformats.org/officeDocument/2006/relationships/presProps" Target="/ppt/presProps.xml" Id="R4bf3fbf834c04805" /><Relationship Type="http://schemas.openxmlformats.org/officeDocument/2006/relationships/tableStyles" Target="/ppt/tableStyles.xml" Id="R8262f81ab10f4e83" /><Relationship Type="http://schemas.openxmlformats.org/officeDocument/2006/relationships/slide" Target="/ppt/slides/slide1.xml" Id="R3d63bb941873453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3a54a3ba696484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c4554ffd43f45dd" /><Relationship Type="http://schemas.openxmlformats.org/officeDocument/2006/relationships/notesMaster" Target="/ppt/notesMasters/notesMaster1.xml" Id="R089a467cc8a9432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From General to Specific: A Survey of Time-Series Agent Systems, Section 3, checked against the compiled Overleaf PDF on 2026-10-18, https://www.overleaf.com/read/zkcdwvrmxtrf#1c4b51 .</a:t>
            </a:r>
          </a:p>
          <a:p xmlns:a="http://schemas.openxmlformats.org/drawingml/2006/main">
            <a:r>
              <a:t>Columns 3.1 to 3.3 follow the three intervention points and subsection titles of Section 3: the representation presented to the model, the temporal instructions used to train it, and the policy for operating an analytical workflow. They overlap and are not exclusive paper categories.</a:t>
            </a:r>
          </a:p>
          <a:p xmlns:a="http://schemas.openxmlformats.org/drawingml/2006/main">
            <a:r>
              <a:t>Training signal and Harness support rows paraphrase the comparative paragraphs of Sections 3.1 to 3.3. Evaluation criteria and tests follow the evaluation paragraph in Section 3.2.</a:t>
            </a:r>
          </a:p>
          <a:p xmlns:a="http://schemas.openxmlformats.org/drawingml/2006/main">
            <a:r>
              <a:t>Agentic RAG refers to Agentic Retrieval-Augmented Generation for Time Series Analysis and its differentiable prompt pools. Chow et al. refers to Towards Time-Series Reasoning with LLMs. The series encoder stands for the learned input layers of Section 3.1.</a:t>
            </a:r>
          </a:p>
          <a:p xmlns:a="http://schemas.openxmlformats.org/drawingml/2006/main">
            <a:r>
              <a:t>ChatAD appears under 3.3 because the manuscript discusses it there. The figure states its distinct signal, graded preferences on analytical responses, rather than presenting it as tool-action learning.</a:t>
            </a:r>
          </a:p>
          <a:p xmlns:a="http://schemas.openxmlformats.org/drawingml/2006/main">
            <a:r>
              <a:t>The nested Harness follows the paper overview: General Harness contains General Time-Series Harness, which contains Task-Specific Harness. One observation and action exchange serves all three intervention points.</a:t>
            </a:r>
          </a:p>
          <a:p xmlns:a="http://schemas.openxmlformats.org/drawingml/2006/main">
            <a:r>
              <a:t>Original-paper claims were not independently re-audited for this figure.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766cfe7f1b4ca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c5c8855e508457c" /><Relationship Type="http://schemas.openxmlformats.org/officeDocument/2006/relationships/slideLayout" Target="/ppt/slideLayouts/slideLayout1.xml" Id="R6eba90f0d8e34f3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eba90f0d8e34f3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0c8ced19794861" /><Relationship Type="http://schemas.openxmlformats.org/officeDocument/2006/relationships/notesSlide" Target="/ppt/notesSlides/notesSlide1.xml" Id="Rc97623e33cfb478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10109" name="LLM-side contributions"/>
          <p:cNvGrpSpPr/>
          <p:nvPr/>
        </p:nvGrpSpPr>
        <p:grpSpPr>
          <ns1:xfrm xmlns:ns1="http://schemas.openxmlformats.org/drawingml/2006/main">
            <ns1:off x="190500" y="152400"/>
            <ns1:ext cx="11496675" cy="5800725"/>
            <ns1:chOff x="190500" y="152400"/>
            <ns1:chExt cx="11496675" cy="5800725"/>
          </ns1:xfrm>
        </p:grpSpPr>
        <p:grpSp>
          <p:nvGrpSpPr>
            <p:cNvPr id="10017" name="Representation &amp; alignment"/>
            <p:cNvGrpSpPr/>
            <p:nvPr/>
          </p:nvGrpSpPr>
          <p:grpSpPr>
            <ns1:xfrm xmlns:ns1="http://schemas.openxmlformats.org/drawingml/2006/main">
              <ns1:off x="285750" y="152400"/>
              <ns1:ext cx="3276600" cy="2266950"/>
              <ns1:chOff x="285750" y="152400"/>
              <ns1:chExt cx="3276600" cy="2266950"/>
            </ns1:xfrm>
          </p:grpSpPr>
          <p:sp>
            <p:nvSpPr>
              <p:cNvPr id="10001" name="Representation &amp; alignment"/>
              <p:cNvSpPr/>
              <p:nvPr/>
            </p:nvSpPr>
            <p:spPr>
              <ns1:xfrm xmlns:ns1="http://schemas.openxmlformats.org/drawingml/2006/main">
                <ns1:off x="285750" y="152400"/>
                <ns1:ext cx="3238500" cy="342900"/>
              </ns1:xfrm>
              <ns2:prstGeom xmlns:ns2="http://schemas.openxmlformats.org/drawingml/2006/main" prst="rect">
                <ns2:avLst/>
              </ns2:prstGeom>
              <ns3:noFill xmlns:ns3="http://schemas.openxmlformats.org/drawingml/2006/main"/>
              <ns4:ln xmlns:ns4="http://schemas.openxmlformats.org/drawingml/2006/main" w="9525" cap="rnd">
                <ns4:noFill/>
              </ns4:ln>
            </p:spPr>
            <p:txBody>
              <ns5:bodyPr xmlns:ns5="http://schemas.openxmlformats.org/drawingml/2006/main" wrap="square" anchor="ctr" lIns="0" rIns="0" tIns="0" bIns="0"/>
              <ns6:lstStyle xmlns:ns6="http://schemas.openxmlformats.org/drawingml/2006/main"/>
              <ns7:p xmlns:ns7="http://schemas.openxmlformats.org/drawingml/2006/main">
                <ns7:pPr algn="ctr"/>
                <ns7:r>
                  <ns7:rPr sz="1716" b="1">
                    <ns7:solidFill>
                      <ns7:srgbClr val="222222"/>
                    </ns7:solidFill>
                    <ns7:latin typeface="Comic Sans MS"/>
                    <ns7:ea typeface="Times New Roman"/>
                  </ns7:rPr>
                  <ns7:t>Representation &amp; alignment</ns7:t>
                </ns7:r>
              </ns7:p>
            </p:txBody>
          </p:sp>
          <p:grpSp>
            <p:nvGrpSpPr>
              <p:cNvPr id="10008" name="chart-no-axes-combined editable icon"/>
              <p:cNvGrpSpPr/>
              <p:nvPr/>
            </p:nvGrpSpPr>
            <p:grpSpPr>
              <ns1:xfrm xmlns:ns1="http://schemas.openxmlformats.org/drawingml/2006/main">
                <ns1:off x="647700" y="819150"/>
                <ns1:ext cx="723900" cy="723900"/>
                <ns1:chOff x="647700" y="819150"/>
                <ns1:chExt cx="723900" cy="723900"/>
              </ns1:xfrm>
            </p:grpSpPr>
            <p:sp>
              <p:nvSpPr>
                <p:cNvPr id="10002" name="chart-no-axes-combined-0"/>
                <p:cNvSpPr/>
                <p:nvPr/>
              </p:nvSpPr>
              <p:spPr>
                <ns1:xfrm xmlns:ns1="http://schemas.openxmlformats.org/drawingml/2006/main">
                  <ns1:off x="647700" y="819150"/>
                  <ns1:ext cx="723900" cy="7239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12000" y="16000"/>
                      </ns2:moveTo>
                      <ns2:lnTo>
                        <ns2:pt x="12000" y="21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45244" cap="rnd">
                  <ns4:solidFill>
                    <ns4:srgbClr val="000000"/>
                  </ns4:solidFill>
                </ns4:ln>
              </p:spPr>
            </p:sp>
            <p:sp>
              <p:nvSpPr>
                <p:cNvPr id="10003" name="chart-no-axes-combined-1"/>
                <p:cNvSpPr/>
                <p:nvPr/>
              </p:nvSpPr>
              <p:spPr>
                <ns1:xfrm xmlns:ns1="http://schemas.openxmlformats.org/drawingml/2006/main">
                  <ns1:off x="647700" y="819150"/>
                  <ns1:ext cx="723900" cy="7239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16000" y="14639"/>
                      </ns2:moveTo>
                      <ns2:lnTo>
                        <ns2:pt x="16000" y="21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45244" cap="rnd">
                  <ns4:solidFill>
                    <ns4:srgbClr val="000000"/>
                  </ns4:solidFill>
                </ns4:ln>
              </p:spPr>
            </p:sp>
            <p:sp>
              <p:nvSpPr>
                <p:cNvPr id="10004" name="chart-no-axes-combined-2"/>
                <p:cNvSpPr/>
                <p:nvPr/>
              </p:nvSpPr>
              <p:spPr>
                <ns1:xfrm xmlns:ns1="http://schemas.openxmlformats.org/drawingml/2006/main">
                  <ns1:off x="647700" y="819150"/>
                  <ns1:ext cx="723900" cy="7239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20000" y="10656"/>
                      </ns2:moveTo>
                      <ns2:lnTo>
                        <ns2:pt x="20000" y="21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45244" cap="rnd">
                  <ns4:solidFill>
                    <ns4:srgbClr val="000000"/>
                  </ns4:solidFill>
                </ns4:ln>
              </p:spPr>
            </p:sp>
            <p:sp>
              <p:nvSpPr>
                <p:cNvPr id="10005" name="chart-no-axes-combined-3"/>
                <p:cNvSpPr/>
                <p:nvPr/>
              </p:nvSpPr>
              <p:spPr>
                <ns1:xfrm xmlns:ns1="http://schemas.openxmlformats.org/drawingml/2006/main">
                  <ns1:off x="647700" y="819150"/>
                  <ns1:ext cx="723900" cy="7239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22000" y="3000"/>
                      </ns2:moveTo>
                      <ns2:lnTo>
                        <ns2:pt x="13354" y="11646"/>
                      </ns2:lnTo>
                      <ns2:cubicBezTo>
                        <ns2:pt x="13260" y="11740"/>
                        <ns2:pt x="13133" y="11793"/>
                        <ns2:pt x="13000" y="11793"/>
                      </ns2:cubicBezTo>
                      <ns2:cubicBezTo>
                        <ns2:pt x="12867" y="11793"/>
                        <ns2:pt x="12740" y="11740"/>
                        <ns2:pt x="12646" y="11646"/>
                      </ns2:cubicBezTo>
                      <ns2:lnTo>
                        <ns2:pt x="9354" y="8354"/>
                      </ns2:lnTo>
                      <ns2:cubicBezTo>
                        <ns2:pt x="9159" y="8159"/>
                        <ns2:pt x="8842" y="8159"/>
                        <ns2:pt x="8647" y="8354"/>
                      </ns2:cubicBezTo>
                      <ns2:lnTo>
                        <ns2:pt x="2000" y="15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45244" cap="rnd">
                  <ns4:solidFill>
                    <ns4:srgbClr val="000000"/>
                  </ns4:solidFill>
                </ns4:ln>
              </p:spPr>
            </p:sp>
            <p:sp>
              <p:nvSpPr>
                <p:cNvPr id="10006" name="chart-no-axes-combined-4"/>
                <p:cNvSpPr/>
                <p:nvPr/>
              </p:nvSpPr>
              <p:spPr>
                <ns1:xfrm xmlns:ns1="http://schemas.openxmlformats.org/drawingml/2006/main">
                  <ns1:off x="647700" y="819150"/>
                  <ns1:ext cx="723900" cy="7239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4000" y="18463"/>
                      </ns2:moveTo>
                      <ns2:lnTo>
                        <ns2:pt x="4000" y="21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45244" cap="rnd">
                  <ns4:solidFill>
                    <ns4:srgbClr val="000000"/>
                  </ns4:solidFill>
                </ns4:ln>
              </p:spPr>
            </p:sp>
            <p:sp>
              <p:nvSpPr>
                <p:cNvPr id="10007" name="chart-no-axes-combined-5"/>
                <p:cNvSpPr/>
                <p:nvPr/>
              </p:nvSpPr>
              <p:spPr>
                <ns1:xfrm xmlns:ns1="http://schemas.openxmlformats.org/drawingml/2006/main">
                  <ns1:off x="647700" y="819150"/>
                  <ns1:ext cx="723900" cy="7239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8000" y="14656"/>
                      </ns2:moveTo>
                      <ns2:lnTo>
                        <ns2:pt x="8000" y="21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45244" cap="rnd">
                  <ns4:solidFill>
                    <ns4:srgbClr val="000000"/>
                  </ns4:solidFill>
                </ns4:ln>
              </p:spPr>
            </p:sp>
          </p:grpSp>
          <p:grpSp>
            <p:nvGrpSpPr>
              <p:cNvPr id="10012" name="layers editable icon"/>
              <p:cNvGrpSpPr/>
              <p:nvPr/>
            </p:nvGrpSpPr>
            <p:grpSpPr>
              <ns1:xfrm xmlns:ns1="http://schemas.openxmlformats.org/drawingml/2006/main">
                <ns1:off x="2457450" y="819150"/>
                <ns1:ext cx="723900" cy="723900"/>
                <ns1:chOff x="2457450" y="819150"/>
                <ns1:chExt cx="723900" cy="723900"/>
              </ns1:xfrm>
            </p:grpSpPr>
            <p:sp>
              <p:nvSpPr>
                <p:cNvPr id="10009" name="layers-0"/>
                <p:cNvSpPr/>
                <p:nvPr/>
              </p:nvSpPr>
              <p:spPr>
                <ns1:xfrm xmlns:ns1="http://schemas.openxmlformats.org/drawingml/2006/main">
                  <ns1:off x="2457450" y="819150"/>
                  <ns1:ext cx="723900" cy="7239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12830" y="2180"/>
                      </ns2:moveTo>
                      <ns2:cubicBezTo>
                        <ns2:pt x="12303" y="1940"/>
                        <ns2:pt x="11697" y="1940"/>
                        <ns2:pt x="11170" y="2180"/>
                      </ns2:cubicBezTo>
                      <ns2:lnTo>
                        <ns2:pt x="2600" y="6080"/>
                      </ns2:lnTo>
                      <ns2:cubicBezTo>
                        <ns2:pt x="2237" y="6240"/>
                        <ns2:pt x="2003" y="6599"/>
                        <ns2:pt x="2003" y="6995"/>
                      </ns2:cubicBezTo>
                      <ns2:cubicBezTo>
                        <ns2:pt x="2003" y="7391"/>
                        <ns2:pt x="2237" y="7750"/>
                        <ns2:pt x="2600" y="7910"/>
                      </ns2:cubicBezTo>
                      <ns2:lnTo>
                        <ns2:pt x="11180" y="11820"/>
                      </ns2:lnTo>
                      <ns2:cubicBezTo>
                        <ns2:pt x="11707" y="12060"/>
                        <ns2:pt x="12313" y="12060"/>
                        <ns2:pt x="12840" y="11820"/>
                      </ns2:cubicBezTo>
                      <ns2:lnTo>
                        <ns2:pt x="21420" y="7920"/>
                      </ns2:lnTo>
                      <ns2:cubicBezTo>
                        <ns2:pt x="21783" y="7760"/>
                        <ns2:pt x="22017" y="7401"/>
                        <ns2:pt x="22017" y="7005"/>
                      </ns2:cubicBezTo>
                      <ns2:cubicBezTo>
                        <ns2:pt x="22017" y="6609"/>
                        <ns2:pt x="21783" y="6250"/>
                        <ns2:pt x="21420" y="6090"/>
                      </ns2:cubicBezTo>
                      <ns2:lnTo>
                        <ns2:pt x="12830" y="2180"/>
                      </ns2:lnTo>
                      <ns2:close/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45244" cap="rnd">
                  <ns4:solidFill>
                    <ns4:srgbClr val="287EA6"/>
                  </ns4:solidFill>
                </ns4:ln>
              </p:spPr>
            </p:sp>
            <p:sp>
              <p:nvSpPr>
                <p:cNvPr id="10010" name="layers-1"/>
                <p:cNvSpPr/>
                <p:nvPr/>
              </p:nvSpPr>
              <p:spPr>
                <ns1:xfrm xmlns:ns1="http://schemas.openxmlformats.org/drawingml/2006/main">
                  <ns1:off x="2457450" y="819150"/>
                  <ns1:ext cx="723900" cy="7239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2000" y="12000"/>
                      </ns2:moveTo>
                      <ns2:cubicBezTo>
                        <ns2:pt x="1999" y="12391"/>
                        <ns2:pt x="2226" y="12746"/>
                        <ns2:pt x="2580" y="12910"/>
                      </ns2:cubicBezTo>
                      <ns2:lnTo>
                        <ns2:pt x="11180" y="16820"/>
                      </ns2:lnTo>
                      <ns2:cubicBezTo>
                        <ns2:pt x="11704" y="17057"/>
                        <ns2:pt x="12306" y="17057"/>
                        <ns2:pt x="12830" y="16820"/>
                      </ns2:cubicBezTo>
                      <ns2:lnTo>
                        <ns2:pt x="21410" y="12920"/>
                      </ns2:lnTo>
                      <ns2:cubicBezTo>
                        <ns2:pt x="21772" y="12757"/>
                        <ns2:pt x="22003" y="12397"/>
                        <ns2:pt x="22000" y="12000"/>
                      </ns2:cubicBez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45244" cap="rnd">
                  <ns4:solidFill>
                    <ns4:srgbClr val="287EA6"/>
                  </ns4:solidFill>
                </ns4:ln>
              </p:spPr>
            </p:sp>
            <p:sp>
              <p:nvSpPr>
                <p:cNvPr id="10011" name="layers-2"/>
                <p:cNvSpPr/>
                <p:nvPr/>
              </p:nvSpPr>
              <p:spPr>
                <ns1:xfrm xmlns:ns1="http://schemas.openxmlformats.org/drawingml/2006/main">
                  <ns1:off x="2457450" y="819150"/>
                  <ns1:ext cx="723900" cy="7239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2000" y="17000"/>
                      </ns2:moveTo>
                      <ns2:cubicBezTo>
                        <ns2:pt x="1999" y="17391"/>
                        <ns2:pt x="2226" y="17746"/>
                        <ns2:pt x="2580" y="17910"/>
                      </ns2:cubicBezTo>
                      <ns2:lnTo>
                        <ns2:pt x="11180" y="21820"/>
                      </ns2:lnTo>
                      <ns2:cubicBezTo>
                        <ns2:pt x="11704" y="22057"/>
                        <ns2:pt x="12306" y="22057"/>
                        <ns2:pt x="12830" y="21820"/>
                      </ns2:cubicBezTo>
                      <ns2:lnTo>
                        <ns2:pt x="21410" y="17920"/>
                      </ns2:lnTo>
                      <ns2:cubicBezTo>
                        <ns2:pt x="21772" y="17757"/>
                        <ns2:pt x="22003" y="17397"/>
                        <ns2:pt x="22000" y="17000"/>
                      </ns2:cubicBez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45244" cap="rnd">
                  <ns4:solidFill>
                    <ns4:srgbClr val="287EA6"/>
                  </ns4:solidFill>
                </ns4:ln>
              </p:spPr>
            </p:sp>
          </p:grpSp>
          <p:sp>
            <p:nvSpPr>
              <p:cNvPr id="10013" name="learned mapping"/>
              <p:cNvSpPr/>
              <p:nvPr/>
            </p:nvSpPr>
            <p:spPr>
              <ns1:xfrm xmlns:ns1="http://schemas.openxmlformats.org/drawingml/2006/main">
                <ns1:off x="1543050" y="1181100"/>
                <ns1:ext cx="723900" cy="9525"/>
              </ns1:xfrm>
              <ns2:custGeom xmlns:ns2="http://schemas.openxmlformats.org/drawingml/2006/main">
                <ns2:avLst/>
                <ns2:gdLst/>
                <ns2:ahLst/>
                <ns2:cxnLst/>
                <ns2:rect l="l" t="t" r="r" b="b"/>
                <ns2:pathLst>
                  <ns2:path w="76000" h="1000" fill="none">
                    <ns2:moveTo>
                      <ns2:pt x="0" y="0"/>
                    </ns2:moveTo>
                    <ns2:lnTo>
                      <ns2:pt x="76000" y="0"/>
                    </ns2:lnTo>
                  </ns2:path>
                </ns2:pathLst>
              </ns2:custGeom>
              <ns3:noFill xmlns:ns3="http://schemas.openxmlformats.org/drawingml/2006/main"/>
              <ns4:ln xmlns:ns4="http://schemas.openxmlformats.org/drawingml/2006/main" w="26000" cap="rnd">
                <ns4:gradFill rotWithShape="1">
                  <ns4:gsLst>
                    <ns4:gs pos="0">
                      <ns4:srgbClr val="87A1B1"/>
                    </ns4:gs>
                    <ns4:gs pos="100000">
                      <ns4:srgbClr val="3E6178"/>
                    </ns4:gs>
                  </ns4:gsLst>
                  <ns4:lin ang="0" scaled="1"/>
                </ns4:gradFill>
                <ns4:tailEnd type="triangle"/>
              </ns4:ln>
              <ns0:effectLst xmlns:ns0="http://schemas.openxmlformats.org/drawingml/2006/main">
                <ns0:outerShdw blurRad="15000" dist="9000" dir="5400000" algn="ctr" rotWithShape="0">
                  <ns0:srgbClr val="333333">
                    <ns0:alpha val="12000"/>
                  </ns0:srgbClr>
                </ns0:outerShdw>
              </ns0:effectLst>
            </p:spPr>
          </p:sp>
          <p:sp>
            <p:nvSpPr>
              <p:cNvPr id="10014" name="input"/>
              <p:cNvSpPr/>
              <p:nvPr/>
            </p:nvSpPr>
            <p:spPr>
              <ns1:xfrm xmlns:ns1="http://schemas.openxmlformats.org/drawingml/2006/main">
                <ns1:off x="333375" y="1657350"/>
                <ns1:ext cx="1428750" cy="304800"/>
              </ns1:xfrm>
              <ns2:prstGeom xmlns:ns2="http://schemas.openxmlformats.org/drawingml/2006/main" prst="rect">
                <ns2:avLst/>
              </ns2:prstGeom>
              <ns3:noFill xmlns:ns3="http://schemas.openxmlformats.org/drawingml/2006/main"/>
              <ns4:ln xmlns:ns4="http://schemas.openxmlformats.org/drawingml/2006/main" w="9525" cap="rnd">
                <ns4:noFill/>
              </ns4:ln>
            </p:spPr>
            <p:txBody>
              <ns5:bodyPr xmlns:ns5="http://schemas.openxmlformats.org/drawingml/2006/main" wrap="square" anchor="ctr" lIns="0" rIns="0" tIns="0" bIns="0"/>
              <ns6:lstStyle xmlns:ns6="http://schemas.openxmlformats.org/drawingml/2006/main"/>
              <ns7:p xmlns:ns7="http://schemas.openxmlformats.org/drawingml/2006/main">
                <ns7:pPr algn="ctr"/>
                <ns7:r>
                  <ns7:rPr sz="1452" b="0">
                    <ns7:solidFill>
                      <ns7:srgbClr val="222222"/>
                    </ns7:solidFill>
                    <ns7:latin typeface="Arial"/>
                    <ns7:ea typeface="Times New Roman"/>
                  </ns7:rPr>
                  <ns7:t>Series patches</ns7:t>
                </ns7:r>
              </ns7:p>
            </p:txBody>
          </p:sp>
          <p:sp>
            <p:nvSpPr>
              <p:cNvPr id="10015" name="output"/>
              <p:cNvSpPr/>
              <p:nvPr/>
            </p:nvSpPr>
            <p:spPr>
              <ns1:xfrm xmlns:ns1="http://schemas.openxmlformats.org/drawingml/2006/main">
                <ns1:off x="2133600" y="1657350"/>
                <ns1:ext cx="1428750" cy="304800"/>
              </ns1:xfrm>
              <ns2:prstGeom xmlns:ns2="http://schemas.openxmlformats.org/drawingml/2006/main" prst="rect">
                <ns2:avLst/>
              </ns2:prstGeom>
              <ns3:noFill xmlns:ns3="http://schemas.openxmlformats.org/drawingml/2006/main"/>
              <ns4:ln xmlns:ns4="http://schemas.openxmlformats.org/drawingml/2006/main" w="9525" cap="rnd">
                <ns4:noFill/>
              </ns4:ln>
            </p:spPr>
            <p:txBody>
              <ns5:bodyPr xmlns:ns5="http://schemas.openxmlformats.org/drawingml/2006/main" wrap="square" anchor="ctr" lIns="0" rIns="0" tIns="0" bIns="0"/>
              <ns6:lstStyle xmlns:ns6="http://schemas.openxmlformats.org/drawingml/2006/main"/>
              <ns7:p xmlns:ns7="http://schemas.openxmlformats.org/drawingml/2006/main">
                <ns7:pPr algn="ctr"/>
                <ns7:r>
                  <ns7:rPr sz="1452" b="0">
                    <ns7:solidFill>
                      <ns7:srgbClr val="222222"/>
                    </ns7:solidFill>
                    <ns7:latin typeface="Arial"/>
                    <ns7:ea typeface="Times New Roman"/>
                  </ns7:rPr>
                  <ns7:t>Language space</ns7:t>
                </ns7:r>
              </ns7:p>
            </p:txBody>
          </p:sp>
          <p:sp>
            <p:nvSpPr>
              <p:cNvPr id="10016" name="learning signal"/>
              <p:cNvSpPr/>
              <p:nvPr/>
            </p:nvSpPr>
            <p:spPr>
              <ns1:xfrm xmlns:ns1="http://schemas.openxmlformats.org/drawingml/2006/main">
                <ns1:off x="285750" y="2095500"/>
                <ns1:ext cx="3238500" cy="323850"/>
              </ns1:xfrm>
              <ns2:prstGeom xmlns:ns2="http://schemas.openxmlformats.org/drawingml/2006/main" prst="rect">
                <ns2:avLst/>
              </ns2:prstGeom>
              <ns3:noFill xmlns:ns3="http://schemas.openxmlformats.org/drawingml/2006/main"/>
              <ns4:ln xmlns:ns4="http://schemas.openxmlformats.org/drawingml/2006/main" w="9525" cap="rnd">
                <ns4:noFill/>
              </ns4:ln>
            </p:spPr>
            <p:txBody>
              <ns5:bodyPr xmlns:ns5="http://schemas.openxmlformats.org/drawingml/2006/main" wrap="square" anchor="ctr" lIns="0" rIns="0" tIns="0" bIns="0"/>
              <ns6:lstStyle xmlns:ns6="http://schemas.openxmlformats.org/drawingml/2006/main"/>
              <ns7:p xmlns:ns7="http://schemas.openxmlformats.org/drawingml/2006/main">
                <ns7:pPr algn="ctr"/>
                <ns7:r>
                  <ns7:rPr sz="1500" b="0">
                    <ns7:solidFill>
                      <ns7:srgbClr val="222222"/>
                    </ns7:solidFill>
                    <ns7:latin typeface="Arial"/>
                    <ns7:ea typeface="Times New Roman"/>
                  </ns7:rPr>
                  <ns7:t>Scale and temporal structure</ns7:t>
                </ns7:r>
              </ns7:p>
            </p:txBody>
          </p:sp>
        </p:grpSp>
        <p:grpSp>
          <p:nvGrpSpPr>
            <p:cNvPr id="10042" name="Instruction &amp; reasoning"/>
            <p:cNvGrpSpPr/>
            <p:nvPr/>
          </p:nvGrpSpPr>
          <p:grpSpPr>
            <ns1:xfrm xmlns:ns1="http://schemas.openxmlformats.org/drawingml/2006/main">
              <ns1:off x="4095750" y="152400"/>
              <ns1:ext cx="3276600" cy="2266950"/>
              <ns1:chOff x="4095750" y="152400"/>
              <ns1:chExt cx="3276600" cy="2266950"/>
            </ns1:xfrm>
          </p:grpSpPr>
          <p:sp>
            <p:nvSpPr>
              <p:cNvPr id="10018" name="Instruction &amp; reasoning"/>
              <p:cNvSpPr/>
              <p:nvPr/>
            </p:nvSpPr>
            <p:spPr>
              <ns1:xfrm xmlns:ns1="http://schemas.openxmlformats.org/drawingml/2006/main">
                <ns1:off x="4095750" y="152400"/>
                <ns1:ext cx="3238500" cy="342900"/>
              </ns1:xfrm>
              <ns2:prstGeom xmlns:ns2="http://schemas.openxmlformats.org/drawingml/2006/main" prst="rect">
                <ns2:avLst/>
              </ns2:prstGeom>
              <ns3:noFill xmlns:ns3="http://schemas.openxmlformats.org/drawingml/2006/main"/>
              <ns4:ln xmlns:ns4="http://schemas.openxmlformats.org/drawingml/2006/main" w="9525" cap="rnd">
                <ns4:noFill/>
              </ns4:ln>
            </p:spPr>
            <p:txBody>
              <ns5:bodyPr xmlns:ns5="http://schemas.openxmlformats.org/drawingml/2006/main" wrap="square" anchor="ctr" lIns="0" rIns="0" tIns="0" bIns="0"/>
              <ns6:lstStyle xmlns:ns6="http://schemas.openxmlformats.org/drawingml/2006/main"/>
              <ns7:p xmlns:ns7="http://schemas.openxmlformats.org/drawingml/2006/main">
                <ns7:pPr algn="ctr"/>
                <ns7:r>
                  <ns7:rPr sz="1716" b="1">
                    <ns7:solidFill>
                      <ns7:srgbClr val="222222"/>
                    </ns7:solidFill>
                    <ns7:latin typeface="Comic Sans MS"/>
                    <ns7:ea typeface="Times New Roman"/>
                  </ns7:rPr>
                  <ns7:t>Instruction &amp; reasoning</ns7:t>
                </ns7:r>
              </ns7:p>
            </p:txBody>
          </p:sp>
          <p:grpSp>
            <p:nvGrpSpPr>
              <p:cNvPr id="10024" name="file-text editable icon"/>
              <p:cNvGrpSpPr/>
              <p:nvPr/>
            </p:nvGrpSpPr>
            <p:grpSpPr>
              <ns1:xfrm xmlns:ns1="http://schemas.openxmlformats.org/drawingml/2006/main">
                <ns1:off x="4457700" y="819150"/>
                <ns1:ext cx="723900" cy="723900"/>
                <ns1:chOff x="4457700" y="819150"/>
                <ns1:chExt cx="723900" cy="723900"/>
              </ns1:xfrm>
            </p:grpSpPr>
            <p:sp>
              <p:nvSpPr>
                <p:cNvPr id="10019" name="file-text-0"/>
                <p:cNvSpPr/>
                <p:nvPr/>
              </p:nvSpPr>
              <p:spPr>
                <ns1:xfrm xmlns:ns1="http://schemas.openxmlformats.org/drawingml/2006/main">
                  <ns1:off x="4457700" y="819150"/>
                  <ns1:ext cx="723900" cy="7239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6000" y="22000"/>
                      </ns2:moveTo>
                      <ns2:cubicBezTo>
                        <ns2:pt x="4895" y="22000"/>
                        <ns2:pt x="4000" y="21105"/>
                        <ns2:pt x="4000" y="20000"/>
                      </ns2:cubicBezTo>
                      <ns2:lnTo>
                        <ns2:pt x="4000" y="4000"/>
                      </ns2:lnTo>
                      <ns2:cubicBezTo>
                        <ns2:pt x="4000" y="2895"/>
                        <ns2:pt x="4895" y="2000"/>
                        <ns2:pt x="6000" y="2000"/>
                      </ns2:cubicBezTo>
                      <ns2:lnTo>
                        <ns2:pt x="14000" y="2000"/>
                      </ns2:lnTo>
                      <ns2:cubicBezTo>
                        <ns2:pt x="14639" y="1999"/>
                        <ns2:pt x="15253" y="2253"/>
                        <ns2:pt x="15704" y="2706"/>
                      </ns2:cubicBezTo>
                      <ns2:lnTo>
                        <ns2:pt x="19292" y="6294"/>
                      </ns2:lnTo>
                      <ns2:cubicBezTo>
                        <ns2:pt x="19746" y="6745"/>
                        <ns2:pt x="20001" y="7360"/>
                        <ns2:pt x="20000" y="8000"/>
                      </ns2:cubicBezTo>
                      <ns2:lnTo>
                        <ns2:pt x="20000" y="20000"/>
                      </ns2:lnTo>
                      <ns2:cubicBezTo>
                        <ns2:pt x="20000" y="21105"/>
                        <ns2:pt x="19105" y="22000"/>
                        <ns2:pt x="18000" y="22000"/>
                      </ns2:cubicBezTo>
                      <ns2:lnTo>
                        <ns2:pt x="6000" y="22000"/>
                      </ns2:lnTo>
                      <ns2:close/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45244" cap="rnd">
                  <ns4:solidFill>
                    <ns4:srgbClr val="287EA6"/>
                  </ns4:solidFill>
                </ns4:ln>
              </p:spPr>
            </p:sp>
            <p:sp>
              <p:nvSpPr>
                <p:cNvPr id="10020" name="file-text-1"/>
                <p:cNvSpPr/>
                <p:nvPr/>
              </p:nvSpPr>
              <p:spPr>
                <ns1:xfrm xmlns:ns1="http://schemas.openxmlformats.org/drawingml/2006/main">
                  <ns1:off x="4457700" y="819150"/>
                  <ns1:ext cx="723900" cy="7239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14000" y="2000"/>
                      </ns2:moveTo>
                      <ns2:lnTo>
                        <ns2:pt x="14000" y="7000"/>
                      </ns2:lnTo>
                      <ns2:cubicBezTo>
                        <ns2:pt x="14000" y="7552"/>
                        <ns2:pt x="14448" y="8000"/>
                        <ns2:pt x="15000" y="8000"/>
                      </ns2:cubicBezTo>
                      <ns2:lnTo>
                        <ns2:pt x="20000" y="8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45244" cap="rnd">
                  <ns4:solidFill>
                    <ns4:srgbClr val="287EA6"/>
                  </ns4:solidFill>
                </ns4:ln>
              </p:spPr>
            </p:sp>
            <p:sp>
              <p:nvSpPr>
                <p:cNvPr id="10021" name="file-text-2"/>
                <p:cNvSpPr/>
                <p:nvPr/>
              </p:nvSpPr>
              <p:spPr>
                <ns1:xfrm xmlns:ns1="http://schemas.openxmlformats.org/drawingml/2006/main">
                  <ns1:off x="4457700" y="819150"/>
                  <ns1:ext cx="723900" cy="7239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10000" y="9000"/>
                      </ns2:moveTo>
                      <ns2:lnTo>
                        <ns2:pt x="8000" y="9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45244" cap="rnd">
                  <ns4:solidFill>
                    <ns4:srgbClr val="287EA6"/>
                  </ns4:solidFill>
                </ns4:ln>
              </p:spPr>
            </p:sp>
            <p:sp>
              <p:nvSpPr>
                <p:cNvPr id="10022" name="file-text-3"/>
                <p:cNvSpPr/>
                <p:nvPr/>
              </p:nvSpPr>
              <p:spPr>
                <ns1:xfrm xmlns:ns1="http://schemas.openxmlformats.org/drawingml/2006/main">
                  <ns1:off x="4457700" y="819150"/>
                  <ns1:ext cx="723900" cy="7239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16000" y="13000"/>
                      </ns2:moveTo>
                      <ns2:lnTo>
                        <ns2:pt x="8000" y="13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45244" cap="rnd">
                  <ns4:solidFill>
                    <ns4:srgbClr val="287EA6"/>
                  </ns4:solidFill>
                </ns4:ln>
              </p:spPr>
            </p:sp>
            <p:sp>
              <p:nvSpPr>
                <p:cNvPr id="10023" name="file-text-4"/>
                <p:cNvSpPr/>
                <p:nvPr/>
              </p:nvSpPr>
              <p:spPr>
                <ns1:xfrm xmlns:ns1="http://schemas.openxmlformats.org/drawingml/2006/main">
                  <ns1:off x="4457700" y="819150"/>
                  <ns1:ext cx="723900" cy="7239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16000" y="17000"/>
                      </ns2:moveTo>
                      <ns2:lnTo>
                        <ns2:pt x="8000" y="17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45244" cap="rnd">
                  <ns4:solidFill>
                    <ns4:srgbClr val="287EA6"/>
                  </ns4:solidFill>
                </ns4:ln>
              </p:spPr>
            </p:sp>
          </p:grpSp>
          <p:grpSp>
            <p:nvGrpSpPr>
              <p:cNvPr id="10037" name="brain-circuit editable icon"/>
              <p:cNvGrpSpPr/>
              <p:nvPr/>
            </p:nvGrpSpPr>
            <p:grpSpPr>
              <ns1:xfrm xmlns:ns1="http://schemas.openxmlformats.org/drawingml/2006/main">
                <ns1:off x="6267450" y="819150"/>
                <ns1:ext cx="723900" cy="723900"/>
                <ns1:chOff x="6267450" y="819150"/>
                <ns1:chExt cx="723900" cy="723900"/>
              </ns1:xfrm>
            </p:grpSpPr>
            <p:sp>
              <p:nvSpPr>
                <p:cNvPr id="10025" name="brain-circuit-0"/>
                <p:cNvSpPr/>
                <p:nvPr/>
              </p:nvSpPr>
              <p:spPr>
                <ns1:xfrm xmlns:ns1="http://schemas.openxmlformats.org/drawingml/2006/main">
                  <ns1:off x="6267450" y="819150"/>
                  <ns1:ext cx="723900" cy="7239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12000" y="13000"/>
                      </ns2:moveTo>
                      <ns2:lnTo>
                        <ns2:pt x="16000" y="13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45244" cap="rnd">
                  <ns4:solidFill>
                    <ns4:srgbClr val="7A659B"/>
                  </ns4:solidFill>
                </ns4:ln>
              </p:spPr>
            </p:sp>
            <p:sp>
              <p:nvSpPr>
                <p:cNvPr id="10026" name="brain-circuit-1"/>
                <p:cNvSpPr/>
                <p:nvPr/>
              </p:nvSpPr>
              <p:spPr>
                <ns1:xfrm xmlns:ns1="http://schemas.openxmlformats.org/drawingml/2006/main">
                  <ns1:off x="6267450" y="819150"/>
                  <ns1:ext cx="723900" cy="7239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12000" y="18000"/>
                      </ns2:moveTo>
                      <ns2:lnTo>
                        <ns2:pt x="18000" y="18000"/>
                      </ns2:lnTo>
                      <ns2:cubicBezTo>
                        <ns2:pt x="19105" y="18000"/>
                        <ns2:pt x="20000" y="18895"/>
                        <ns2:pt x="20000" y="20000"/>
                      </ns2:cubicBezTo>
                      <ns2:lnTo>
                        <ns2:pt x="20000" y="21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45244" cap="rnd">
                  <ns4:solidFill>
                    <ns4:srgbClr val="7A659B"/>
                  </ns4:solidFill>
                </ns4:ln>
              </p:spPr>
            </p:sp>
            <p:sp>
              <p:nvSpPr>
                <p:cNvPr id="10027" name="brain-circuit-2"/>
                <p:cNvSpPr/>
                <p:nvPr/>
              </p:nvSpPr>
              <p:spPr>
                <ns1:xfrm xmlns:ns1="http://schemas.openxmlformats.org/drawingml/2006/main">
                  <ns1:off x="6267450" y="819150"/>
                  <ns1:ext cx="723900" cy="7239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12000" y="8000"/>
                      </ns2:moveTo>
                      <ns2:lnTo>
                        <ns2:pt x="20000" y="8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45244" cap="rnd">
                  <ns4:solidFill>
                    <ns4:srgbClr val="7A659B"/>
                  </ns4:solidFill>
                </ns4:ln>
              </p:spPr>
            </p:sp>
            <p:sp>
              <p:nvSpPr>
                <p:cNvPr id="10028" name="brain-circuit-3"/>
                <p:cNvSpPr/>
                <p:nvPr/>
              </p:nvSpPr>
              <p:spPr>
                <ns1:xfrm xmlns:ns1="http://schemas.openxmlformats.org/drawingml/2006/main">
                  <ns1:off x="6267450" y="819150"/>
                  <ns1:ext cx="723900" cy="7239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12000" y="9000"/>
                      </ns2:moveTo>
                      <ns2:cubicBezTo>
                        <ns2:pt x="11999" y="10851"/>
                        <ns2:pt x="10777" y="12481"/>
                        <ns2:pt x="9000" y="13000"/>
                      </ns2:cubicBez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45244" cap="rnd">
                  <ns4:solidFill>
                    <ns4:srgbClr val="7A659B"/>
                  </ns4:solidFill>
                </ns4:ln>
              </p:spPr>
            </p:sp>
            <p:sp>
              <p:nvSpPr>
                <p:cNvPr id="10029" name="brain-circuit-4"/>
                <p:cNvSpPr/>
                <p:nvPr/>
              </p:nvSpPr>
              <p:spPr>
                <ns1:xfrm xmlns:ns1="http://schemas.openxmlformats.org/drawingml/2006/main">
                  <ns1:off x="6267450" y="819150"/>
                  <ns1:ext cx="723900" cy="7239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16000" y="8000"/>
                      </ns2:moveTo>
                      <ns2:lnTo>
                        <ns2:pt x="16000" y="5000"/>
                      </ns2:lnTo>
                      <ns2:cubicBezTo>
                        <ns2:pt x="16000" y="3895"/>
                        <ns2:pt x="16895" y="3000"/>
                        <ns2:pt x="18000" y="3000"/>
                      </ns2:cubicBez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45244" cap="rnd">
                  <ns4:solidFill>
                    <ns4:srgbClr val="7A659B"/>
                  </ns4:solidFill>
                </ns4:ln>
              </p:spPr>
            </p:sp>
            <p:sp>
              <p:nvSpPr>
                <p:cNvPr id="10030" name="brain-circuit-5"/>
                <p:cNvSpPr/>
                <p:nvPr/>
              </p:nvSpPr>
              <p:spPr>
                <ns1:xfrm xmlns:ns1="http://schemas.openxmlformats.org/drawingml/2006/main">
                  <ns1:off x="6267450" y="819150"/>
                  <ns1:ext cx="723900" cy="7239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6000" y="18000"/>
                      </ns2:moveTo>
                      <ns2:cubicBezTo>
                        <ns2:pt x="4189" y="18001"/>
                        <ns2:pt x="2603" y="16785"/>
                        <ns2:pt x="2135" y="15035"/>
                      </ns2:cubicBezTo>
                      <ns2:cubicBezTo>
                        <ns2:pt x="1666" y="13286"/>
                        <ns2:pt x="2431" y="11440"/>
                        <ns2:pt x="4000" y="10535"/>
                      </ns2:cubicBez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45244" cap="rnd">
                  <ns4:solidFill>
                    <ns4:srgbClr val="7A659B"/>
                  </ns4:solidFill>
                </ns4:ln>
              </p:spPr>
            </p:sp>
            <p:sp>
              <p:nvSpPr>
                <p:cNvPr id="10031" name="brain-circuit-6"/>
                <p:cNvSpPr/>
                <p:nvPr/>
              </p:nvSpPr>
              <p:spPr>
                <ns1:xfrm xmlns:ns1="http://schemas.openxmlformats.org/drawingml/2006/main">
                  <ns1:off x="6267450" y="819150"/>
                  <ns1:ext cx="723900" cy="7239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6004" y="5125"/>
                      </ns2:moveTo>
                      <ns2:cubicBezTo>
                        <ns2:pt x="4813" y="5431"/>
                        <ns2:pt x="3829" y="6268"/>
                        <ns2:pt x="3336" y="7395"/>
                      </ns2:cubicBezTo>
                      <ns2:cubicBezTo>
                        <ns2:pt x="2843" y="8521"/>
                        <ns2:pt x="2895" y="9812"/>
                        <ns2:pt x="3478" y="10895"/>
                      </ns2:cubicBez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45244" cap="rnd">
                  <ns4:solidFill>
                    <ns4:srgbClr val="7A659B"/>
                  </ns4:solidFill>
                </ns4:ln>
              </p:spPr>
            </p:sp>
            <p:sp>
              <p:nvSpPr>
                <p:cNvPr id="10032" name="brain-circuit-7"/>
                <p:cNvSpPr/>
                <p:nvPr/>
              </p:nvSpPr>
              <p:spPr>
                <ns1:xfrm xmlns:ns1="http://schemas.openxmlformats.org/drawingml/2006/main">
                  <ns1:off x="6267450" y="819150"/>
                  <ns1:ext cx="723900" cy="7239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6294" y="6294"/>
                      </ns2:moveTo>
                      <ns2:cubicBezTo>
                        <ns2:pt x="5762" y="5182"/>
                        <ns2:pt x="5964" y="3857"/>
                        <ns2:pt x="6804" y="2954"/>
                      </ns2:cubicBezTo>
                      <ns2:cubicBezTo>
                        <ns2:pt x="7645" y="2052"/>
                        <ns2:pt x="8952" y="1756"/>
                        <ns2:pt x="10099" y="2207"/>
                      </ns2:cubicBezTo>
                      <ns2:cubicBezTo>
                        <ns2:pt x="11246" y="2659"/>
                        <ns2:pt x="12000" y="3767"/>
                        <ns2:pt x="12000" y="5000"/>
                      </ns2:cubicBezTo>
                      <ns2:lnTo>
                        <ns2:pt x="12000" y="18000"/>
                      </ns2:lnTo>
                      <ns2:cubicBezTo>
                        <ns2:pt x="11998" y="19490"/>
                        <ns2:pt x="11168" y="20855"/>
                        <ns2:pt x="9847" y="21543"/>
                      </ns2:cubicBezTo>
                      <ns2:cubicBezTo>
                        <ns2:pt x="8525" y="22231"/>
                        <ns2:pt x="6931" y="22127"/>
                        <ns2:pt x="5709" y="21274"/>
                      </ns2:cubicBezTo>
                      <ns2:cubicBezTo>
                        <ns2:pt x="4488" y="20421"/>
                        <ns2:pt x="3842" y="18960"/>
                        <ns2:pt x="4033" y="17482"/>
                      </ns2:cubicBez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45244" cap="rnd">
                  <ns4:solidFill>
                    <ns4:srgbClr val="7A659B"/>
                  </ns4:solidFill>
                </ns4:ln>
              </p:spPr>
            </p:sp>
            <p:sp>
              <p:nvSpPr>
                <p:cNvPr id="10033" name="brain-circuit-8"/>
                <p:cNvSpPr/>
                <p:nvPr/>
              </p:nvSpPr>
              <p:spPr>
                <ns1:xfrm xmlns:ns1="http://schemas.openxmlformats.org/drawingml/2006/main">
                  <ns1:off x="6734969" y="1196181"/>
                  <ns1:ext cx="30162" cy="30162"/>
                </ns1:xfrm>
                <ns2:prstGeom xmlns:ns2="http://schemas.openxmlformats.org/drawingml/2006/main" prst="ellipse">
                  <ns2:avLst/>
                </ns2:prstGeom>
                <ns3:noFill xmlns:ns3="http://schemas.openxmlformats.org/drawingml/2006/main"/>
                <ns5:ln xmlns:ns5="http://schemas.openxmlformats.org/drawingml/2006/main" w="45244" cap="rnd">
                  <ns5:solidFill>
                    <ns5:srgbClr val="7A659B"/>
                  </ns5:solidFill>
                </ns5:ln>
              </p:spPr>
            </p:sp>
            <p:sp>
              <p:nvSpPr>
                <p:cNvPr id="10034" name="brain-circuit-9"/>
                <p:cNvSpPr/>
                <p:nvPr/>
              </p:nvSpPr>
              <p:spPr>
                <ns1:xfrm xmlns:ns1="http://schemas.openxmlformats.org/drawingml/2006/main">
                  <ns1:off x="6795294" y="894556"/>
                  <ns1:ext cx="30162" cy="30162"/>
                </ns1:xfrm>
                <ns2:prstGeom xmlns:ns2="http://schemas.openxmlformats.org/drawingml/2006/main" prst="ellipse">
                  <ns2:avLst/>
                </ns2:prstGeom>
                <ns3:noFill xmlns:ns3="http://schemas.openxmlformats.org/drawingml/2006/main"/>
                <ns5:ln xmlns:ns5="http://schemas.openxmlformats.org/drawingml/2006/main" w="45244" cap="rnd">
                  <ns5:solidFill>
                    <ns5:srgbClr val="7A659B"/>
                  </ns5:solidFill>
                </ns5:ln>
              </p:spPr>
            </p:sp>
            <p:sp>
              <p:nvSpPr>
                <p:cNvPr id="10035" name="brain-circuit-10"/>
                <p:cNvSpPr/>
                <p:nvPr/>
              </p:nvSpPr>
              <p:spPr>
                <ns1:xfrm xmlns:ns1="http://schemas.openxmlformats.org/drawingml/2006/main">
                  <ns1:off x="6855619" y="1437481"/>
                  <ns1:ext cx="30162" cy="30162"/>
                </ns1:xfrm>
                <ns2:prstGeom xmlns:ns2="http://schemas.openxmlformats.org/drawingml/2006/main" prst="ellipse">
                  <ns2:avLst/>
                </ns2:prstGeom>
                <ns3:noFill xmlns:ns3="http://schemas.openxmlformats.org/drawingml/2006/main"/>
                <ns5:ln xmlns:ns5="http://schemas.openxmlformats.org/drawingml/2006/main" w="45244" cap="rnd">
                  <ns5:solidFill>
                    <ns5:srgbClr val="7A659B"/>
                  </ns5:solidFill>
                </ns5:ln>
              </p:spPr>
            </p:sp>
            <p:sp>
              <p:nvSpPr>
                <p:cNvPr id="10036" name="brain-circuit-11"/>
                <p:cNvSpPr/>
                <p:nvPr/>
              </p:nvSpPr>
              <p:spPr>
                <ns1:xfrm xmlns:ns1="http://schemas.openxmlformats.org/drawingml/2006/main">
                  <ns1:off x="6855619" y="1045369"/>
                  <ns1:ext cx="30162" cy="30162"/>
                </ns1:xfrm>
                <ns2:prstGeom xmlns:ns2="http://schemas.openxmlformats.org/drawingml/2006/main" prst="ellipse">
                  <ns2:avLst/>
                </ns2:prstGeom>
                <ns3:noFill xmlns:ns3="http://schemas.openxmlformats.org/drawingml/2006/main"/>
                <ns5:ln xmlns:ns5="http://schemas.openxmlformats.org/drawingml/2006/main" w="45244" cap="rnd">
                  <ns5:solidFill>
                    <ns5:srgbClr val="7A659B"/>
                  </ns5:solidFill>
                </ns5:ln>
              </p:spPr>
            </p:sp>
          </p:grpSp>
          <p:sp>
            <p:nvSpPr>
              <p:cNvPr id="10038" name="learned mapping"/>
              <p:cNvSpPr/>
              <p:nvPr/>
            </p:nvSpPr>
            <p:spPr>
              <ns1:xfrm xmlns:ns1="http://schemas.openxmlformats.org/drawingml/2006/main">
                <ns1:off x="5353050" y="1181100"/>
                <ns1:ext cx="723900" cy="9525"/>
              </ns1:xfrm>
              <ns2:custGeom xmlns:ns2="http://schemas.openxmlformats.org/drawingml/2006/main">
                <ns2:avLst/>
                <ns2:gdLst/>
                <ns2:ahLst/>
                <ns2:cxnLst/>
                <ns2:rect l="l" t="t" r="r" b="b"/>
                <ns2:pathLst>
                  <ns2:path w="76000" h="1000" fill="none">
                    <ns2:moveTo>
                      <ns2:pt x="0" y="0"/>
                    </ns2:moveTo>
                    <ns2:lnTo>
                      <ns2:pt x="76000" y="0"/>
                    </ns2:lnTo>
                  </ns2:path>
                </ns2:pathLst>
              </ns2:custGeom>
              <ns3:noFill xmlns:ns3="http://schemas.openxmlformats.org/drawingml/2006/main"/>
              <ns4:ln xmlns:ns4="http://schemas.openxmlformats.org/drawingml/2006/main" w="26000" cap="rnd">
                <ns4:gradFill rotWithShape="1">
                  <ns4:gsLst>
                    <ns4:gs pos="0">
                      <ns4:srgbClr val="87A1B1"/>
                    </ns4:gs>
                    <ns4:gs pos="100000">
                      <ns4:srgbClr val="3E6178"/>
                    </ns4:gs>
                  </ns4:gsLst>
                  <ns4:lin ang="0" scaled="1"/>
                </ns4:gradFill>
                <ns4:tailEnd type="triangle"/>
              </ns4:ln>
              <ns1:effectLst xmlns:ns1="http://schemas.openxmlformats.org/drawingml/2006/main">
                <ns1:outerShdw blurRad="15000" dist="9000" dir="5400000" algn="ctr" rotWithShape="0">
                  <ns1:srgbClr val="333333">
                    <ns1:alpha val="12000"/>
                  </ns1:srgbClr>
                </ns1:outerShdw>
              </ns1:effectLst>
            </p:spPr>
          </p:sp>
          <p:sp>
            <p:nvSpPr>
              <p:cNvPr id="10039" name="input"/>
              <p:cNvSpPr/>
              <p:nvPr/>
            </p:nvSpPr>
            <p:spPr>
              <ns1:xfrm xmlns:ns1="http://schemas.openxmlformats.org/drawingml/2006/main">
                <ns1:off x="4143375" y="1657350"/>
                <ns1:ext cx="1428750" cy="304800"/>
              </ns1:xfrm>
              <ns2:prstGeom xmlns:ns2="http://schemas.openxmlformats.org/drawingml/2006/main" prst="rect">
                <ns2:avLst/>
              </ns2:prstGeom>
              <ns3:noFill xmlns:ns3="http://schemas.openxmlformats.org/drawingml/2006/main"/>
              <ns4:ln xmlns:ns4="http://schemas.openxmlformats.org/drawingml/2006/main" w="9525" cap="rnd">
                <ns4:noFill/>
              </ns4:ln>
            </p:spPr>
            <p:txBody>
              <ns5:bodyPr xmlns:ns5="http://schemas.openxmlformats.org/drawingml/2006/main" wrap="square" anchor="ctr" lIns="0" rIns="0" tIns="0" bIns="0"/>
              <ns6:lstStyle xmlns:ns6="http://schemas.openxmlformats.org/drawingml/2006/main"/>
              <ns7:p xmlns:ns7="http://schemas.openxmlformats.org/drawingml/2006/main">
                <ns7:pPr algn="ctr"/>
                <ns7:r>
                  <ns7:rPr sz="1452" b="0">
                    <ns7:solidFill>
                      <ns7:srgbClr val="222222"/>
                    </ns7:solidFill>
                    <ns7:latin typeface="Arial"/>
                    <ns7:ea typeface="Times New Roman"/>
                  </ns7:rPr>
                  <ns7:t>Temporal questions</ns7:t>
                </ns7:r>
              </ns7:p>
            </p:txBody>
          </p:sp>
          <p:sp>
            <p:nvSpPr>
              <p:cNvPr id="10040" name="output"/>
              <p:cNvSpPr/>
              <p:nvPr/>
            </p:nvSpPr>
            <p:spPr>
              <ns1:xfrm xmlns:ns1="http://schemas.openxmlformats.org/drawingml/2006/main">
                <ns1:off x="5943600" y="1657350"/>
                <ns1:ext cx="1428750" cy="304800"/>
              </ns1:xfrm>
              <ns2:prstGeom xmlns:ns2="http://schemas.openxmlformats.org/drawingml/2006/main" prst="rect">
                <ns2:avLst/>
              </ns2:prstGeom>
              <ns3:noFill xmlns:ns3="http://schemas.openxmlformats.org/drawingml/2006/main"/>
              <ns4:ln xmlns:ns4="http://schemas.openxmlformats.org/drawingml/2006/main" w="9525" cap="rnd">
                <ns4:noFill/>
              </ns4:ln>
            </p:spPr>
            <p:txBody>
              <ns5:bodyPr xmlns:ns5="http://schemas.openxmlformats.org/drawingml/2006/main" wrap="square" anchor="ctr" lIns="0" rIns="0" tIns="0" bIns="0"/>
              <ns6:lstStyle xmlns:ns6="http://schemas.openxmlformats.org/drawingml/2006/main"/>
              <ns7:p xmlns:ns7="http://schemas.openxmlformats.org/drawingml/2006/main">
                <ns7:pPr algn="ctr"/>
                <ns7:r>
                  <ns7:rPr sz="1452" b="0">
                    <ns7:solidFill>
                      <ns7:srgbClr val="222222"/>
                    </ns7:solidFill>
                    <ns7:latin typeface="Arial"/>
                    <ns7:ea typeface="Times New Roman"/>
                  </ns7:rPr>
                  <ns7:t>Grounded answers</ns7:t>
                </ns7:r>
              </ns7:p>
            </p:txBody>
          </p:sp>
          <p:sp>
            <p:nvSpPr>
              <p:cNvPr id="10041" name="learning signal"/>
              <p:cNvSpPr/>
              <p:nvPr/>
            </p:nvSpPr>
            <p:spPr>
              <ns1:xfrm xmlns:ns1="http://schemas.openxmlformats.org/drawingml/2006/main">
                <ns1:off x="4095750" y="2095500"/>
                <ns1:ext cx="3238500" cy="323850"/>
              </ns1:xfrm>
              <ns2:prstGeom xmlns:ns2="http://schemas.openxmlformats.org/drawingml/2006/main" prst="rect">
                <ns2:avLst/>
              </ns2:prstGeom>
              <ns3:noFill xmlns:ns3="http://schemas.openxmlformats.org/drawingml/2006/main"/>
              <ns4:ln xmlns:ns4="http://schemas.openxmlformats.org/drawingml/2006/main" w="9525" cap="rnd">
                <ns4:noFill/>
              </ns4:ln>
            </p:spPr>
            <p:txBody>
              <ns5:bodyPr xmlns:ns5="http://schemas.openxmlformats.org/drawingml/2006/main" wrap="square" anchor="ctr" lIns="0" rIns="0" tIns="0" bIns="0"/>
              <ns6:lstStyle xmlns:ns6="http://schemas.openxmlformats.org/drawingml/2006/main"/>
              <ns7:p xmlns:ns7="http://schemas.openxmlformats.org/drawingml/2006/main">
                <ns7:pPr algn="ctr"/>
                <ns7:r>
                  <ns7:rPr sz="1500" b="0">
                    <ns7:solidFill>
                      <ns7:srgbClr val="222222"/>
                    </ns7:solidFill>
                    <ns7:latin typeface="Arial"/>
                    <ns7:ea typeface="Times New Roman"/>
                  </ns7:rPr>
                  <ns7:t>Instructions and outcome feedback</ns7:t>
                </ns7:r>
              </ns7:p>
            </p:txBody>
          </p:sp>
        </p:grpSp>
        <p:grpSp>
          <p:nvGrpSpPr>
            <p:cNvPr id="10056" name="Workflow learning"/>
            <p:cNvGrpSpPr/>
            <p:nvPr/>
          </p:nvGrpSpPr>
          <p:grpSpPr>
            <ns1:xfrm xmlns:ns1="http://schemas.openxmlformats.org/drawingml/2006/main">
              <ns1:off x="7905750" y="152400"/>
              <ns1:ext cx="3276600" cy="2266950"/>
              <ns1:chOff x="7905750" y="152400"/>
              <ns1:chExt cx="3276600" cy="2266950"/>
            </ns1:xfrm>
          </p:grpSpPr>
          <p:sp>
            <p:nvSpPr>
              <p:cNvPr id="10043" name="Workflow learning"/>
              <p:cNvSpPr/>
              <p:nvPr/>
            </p:nvSpPr>
            <p:spPr>
              <ns1:xfrm xmlns:ns1="http://schemas.openxmlformats.org/drawingml/2006/main">
                <ns1:off x="7905750" y="152400"/>
                <ns1:ext cx="3238500" cy="342900"/>
              </ns1:xfrm>
              <ns2:prstGeom xmlns:ns2="http://schemas.openxmlformats.org/drawingml/2006/main" prst="rect">
                <ns2:avLst/>
              </ns2:prstGeom>
              <ns3:noFill xmlns:ns3="http://schemas.openxmlformats.org/drawingml/2006/main"/>
              <ns4:ln xmlns:ns4="http://schemas.openxmlformats.org/drawingml/2006/main" w="9525" cap="rnd">
                <ns4:noFill/>
              </ns4:ln>
            </p:spPr>
            <p:txBody>
              <ns5:bodyPr xmlns:ns5="http://schemas.openxmlformats.org/drawingml/2006/main" wrap="square" anchor="ctr" lIns="0" rIns="0" tIns="0" bIns="0"/>
              <ns6:lstStyle xmlns:ns6="http://schemas.openxmlformats.org/drawingml/2006/main"/>
              <ns7:p xmlns:ns7="http://schemas.openxmlformats.org/drawingml/2006/main">
                <ns7:pPr algn="ctr"/>
                <ns7:r>
                  <ns7:rPr sz="1716" b="1">
                    <ns7:solidFill>
                      <ns7:srgbClr val="222222"/>
                    </ns7:solidFill>
                    <ns7:latin typeface="Comic Sans MS"/>
                    <ns7:ea typeface="Times New Roman"/>
                  </ns7:rPr>
                  <ns7:t>Workflow learning</ns7:t>
                </ns7:r>
              </ns7:p>
            </p:txBody>
          </p:sp>
          <p:grpSp>
            <p:nvGrpSpPr>
              <p:cNvPr id="10049" name="list-checks editable icon"/>
              <p:cNvGrpSpPr/>
              <p:nvPr/>
            </p:nvGrpSpPr>
            <p:grpSpPr>
              <ns1:xfrm xmlns:ns1="http://schemas.openxmlformats.org/drawingml/2006/main">
                <ns1:off x="8267700" y="819150"/>
                <ns1:ext cx="723900" cy="723900"/>
                <ns1:chOff x="8267700" y="819150"/>
                <ns1:chExt cx="723900" cy="723900"/>
              </ns1:xfrm>
            </p:grpSpPr>
            <p:sp>
              <p:nvSpPr>
                <p:cNvPr id="10044" name="list-checks-0"/>
                <p:cNvSpPr/>
                <p:nvPr/>
              </p:nvSpPr>
              <p:spPr>
                <ns1:xfrm xmlns:ns1="http://schemas.openxmlformats.org/drawingml/2006/main">
                  <ns1:off x="8267700" y="819150"/>
                  <ns1:ext cx="723900" cy="7239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13000" y="5000"/>
                      </ns2:moveTo>
                      <ns2:lnTo>
                        <ns2:pt x="21000" y="5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45244" cap="rnd">
                  <ns4:solidFill>
                    <ns4:srgbClr val="258B79"/>
                  </ns4:solidFill>
                </ns4:ln>
              </p:spPr>
            </p:sp>
            <p:sp>
              <p:nvSpPr>
                <p:cNvPr id="10045" name="list-checks-1"/>
                <p:cNvSpPr/>
                <p:nvPr/>
              </p:nvSpPr>
              <p:spPr>
                <ns1:xfrm xmlns:ns1="http://schemas.openxmlformats.org/drawingml/2006/main">
                  <ns1:off x="8267700" y="819150"/>
                  <ns1:ext cx="723900" cy="7239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13000" y="12000"/>
                      </ns2:moveTo>
                      <ns2:lnTo>
                        <ns2:pt x="21000" y="12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45244" cap="rnd">
                  <ns4:solidFill>
                    <ns4:srgbClr val="258B79"/>
                  </ns4:solidFill>
                </ns4:ln>
              </p:spPr>
            </p:sp>
            <p:sp>
              <p:nvSpPr>
                <p:cNvPr id="10046" name="list-checks-2"/>
                <p:cNvSpPr/>
                <p:nvPr/>
              </p:nvSpPr>
              <p:spPr>
                <ns1:xfrm xmlns:ns1="http://schemas.openxmlformats.org/drawingml/2006/main">
                  <ns1:off x="8267700" y="819150"/>
                  <ns1:ext cx="723900" cy="7239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13000" y="19000"/>
                      </ns2:moveTo>
                      <ns2:lnTo>
                        <ns2:pt x="21000" y="19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45244" cap="rnd">
                  <ns4:solidFill>
                    <ns4:srgbClr val="258B79"/>
                  </ns4:solidFill>
                </ns4:ln>
              </p:spPr>
            </p:sp>
            <p:sp>
              <p:nvSpPr>
                <p:cNvPr id="10047" name="list-checks-3"/>
                <p:cNvSpPr/>
                <p:nvPr/>
              </p:nvSpPr>
              <p:spPr>
                <ns1:xfrm xmlns:ns1="http://schemas.openxmlformats.org/drawingml/2006/main">
                  <ns1:off x="8267700" y="819150"/>
                  <ns1:ext cx="723900" cy="7239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3000" y="17000"/>
                      </ns2:moveTo>
                      <ns2:lnTo>
                        <ns2:pt x="5000" y="19000"/>
                      </ns2:lnTo>
                      <ns2:lnTo>
                        <ns2:pt x="9000" y="15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45244" cap="rnd">
                  <ns4:solidFill>
                    <ns4:srgbClr val="258B79"/>
                  </ns4:solidFill>
                </ns4:ln>
              </p:spPr>
            </p:sp>
            <p:sp>
              <p:nvSpPr>
                <p:cNvPr id="10048" name="list-checks-4"/>
                <p:cNvSpPr/>
                <p:nvPr/>
              </p:nvSpPr>
              <p:spPr>
                <ns1:xfrm xmlns:ns1="http://schemas.openxmlformats.org/drawingml/2006/main">
                  <ns1:off x="8267700" y="819150"/>
                  <ns1:ext cx="723900" cy="7239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3000" y="7000"/>
                      </ns2:moveTo>
                      <ns2:lnTo>
                        <ns2:pt x="5000" y="9000"/>
                      </ns2:lnTo>
                      <ns2:lnTo>
                        <ns2:pt x="9000" y="5000"/>
                      </ns2:lnTo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45244" cap="rnd">
                  <ns4:solidFill>
                    <ns4:srgbClr val="258B79"/>
                  </ns4:solidFill>
                </ns4:ln>
              </p:spPr>
            </p:sp>
          </p:grpSp>
          <p:grpSp>
            <p:nvGrpSpPr>
              <p:cNvPr id="10051" name="wrench editable icon"/>
              <p:cNvGrpSpPr/>
              <p:nvPr/>
            </p:nvGrpSpPr>
            <p:grpSpPr>
              <ns1:xfrm xmlns:ns1="http://schemas.openxmlformats.org/drawingml/2006/main">
                <ns1:off x="10077450" y="819150"/>
                <ns1:ext cx="723900" cy="723900"/>
                <ns1:chOff x="10077450" y="819150"/>
                <ns1:chExt cx="723900" cy="723900"/>
              </ns1:xfrm>
            </p:grpSpPr>
            <p:sp>
              <p:nvSpPr>
                <p:cNvPr id="10050" name="wrench-0"/>
                <p:cNvSpPr/>
                <p:nvPr/>
              </p:nvSpPr>
              <p:spPr>
                <ns1:xfrm xmlns:ns1="http://schemas.openxmlformats.org/drawingml/2006/main">
                  <ns1:off x="10077450" y="819150"/>
                  <ns1:ext cx="723900" cy="723900"/>
                </ns1:xfrm>
                <ns2:custGeom xmlns:ns2="http://schemas.openxmlformats.org/drawingml/2006/main">
                  <ns2:avLst/>
                  <ns2:gdLst/>
                  <ns2:ahLst/>
                  <ns2:cxnLst/>
                  <ns2:rect l="l" t="t" r="r" b="b"/>
                  <ns2:pathLst>
                    <ns2:path w="24000" h="24000" fill="none">
                      <ns2:moveTo>
                        <ns2:pt x="14700" y="6300"/>
                      </ns2:moveTo>
                      <ns2:cubicBezTo>
                        <ns2:pt x="14319" y="6689"/>
                        <ns2:pt x="14319" y="7311"/>
                        <ns2:pt x="14700" y="7700"/>
                      </ns2:cubicBezTo>
                      <ns2:lnTo>
                        <ns2:pt x="16300" y="9300"/>
                      </ns2:lnTo>
                      <ns2:cubicBezTo>
                        <ns2:pt x="16689" y="9681"/>
                        <ns2:pt x="17311" y="9681"/>
                        <ns2:pt x="17700" y="9300"/>
                      </ns2:cubicBezTo>
                      <ns2:lnTo>
                        <ns2:pt x="20806" y="6195"/>
                      </ns2:lnTo>
                      <ns2:cubicBezTo>
                        <ns2:pt x="21126" y="5873"/>
                        <ns2:pt x="21669" y="5975"/>
                        <ns2:pt x="21789" y="6413"/>
                      </ns2:cubicBezTo>
                      <ns2:cubicBezTo>
                        <ns2:pt x="22406" y="8656"/>
                        <ns2:pt x="21670" y="11054"/>
                        <ns2:pt x="19901" y="12565"/>
                      </ns2:cubicBezTo>
                      <ns2:cubicBezTo>
                        <ns2:pt x="18133" y="14077"/>
                        <ns2:pt x="15650" y="14429"/>
                        <ns2:pt x="13530" y="13470"/>
                      </ns2:cubicBezTo>
                      <ns2:lnTo>
                        <ns2:pt x="5620" y="21380"/>
                      </ns2:lnTo>
                      <ns2:cubicBezTo>
                        <ns2:pt x="4792" y="22208"/>
                        <ns2:pt x="3449" y="22208"/>
                        <ns2:pt x="2620" y="21380"/>
                      </ns2:cubicBezTo>
                      <ns2:cubicBezTo>
                        <ns2:pt x="1792" y="20551"/>
                        <ns2:pt x="1793" y="19208"/>
                        <ns2:pt x="2621" y="18380"/>
                      </ns2:cubicBezTo>
                      <ns2:lnTo>
                        <ns2:pt x="10531" y="10470"/>
                      </ns2:lnTo>
                      <ns2:cubicBezTo>
                        <ns2:pt x="9572" y="8350"/>
                        <ns2:pt x="9924" y="5867"/>
                        <ns2:pt x="11436" y="4099"/>
                      </ns2:cubicBezTo>
                      <ns2:cubicBezTo>
                        <ns2:pt x="12947" y="2330"/>
                        <ns2:pt x="15345" y="1594"/>
                        <ns2:pt x="17588" y="2211"/>
                      </ns2:cubicBezTo>
                      <ns2:cubicBezTo>
                        <ns2:pt x="18026" y="2331"/>
                        <ns2:pt x="18128" y="2873"/>
                        <ns2:pt x="17807" y="3195"/>
                      </ns2:cubicBezTo>
                      <ns2:lnTo>
                        <ns2:pt x="14700" y="6300"/>
                      </ns2:lnTo>
                      <ns2:close/>
                    </ns2:path>
                  </ns2:pathLst>
                </ns2:custGeom>
                <ns3:noFill xmlns:ns3="http://schemas.openxmlformats.org/drawingml/2006/main"/>
                <ns4:ln xmlns:ns4="http://schemas.openxmlformats.org/drawingml/2006/main" w="45244" cap="rnd">
                  <ns4:solidFill>
                    <ns4:srgbClr val="B9862E"/>
                  </ns4:solidFill>
                </ns4:ln>
              </p:spPr>
            </p:sp>
          </p:grpSp>
          <p:sp>
            <p:nvSpPr>
              <p:cNvPr id="10052" name="learned mapping"/>
              <p:cNvSpPr/>
              <p:nvPr/>
            </p:nvSpPr>
            <p:spPr>
              <ns1:xfrm xmlns:ns1="http://schemas.openxmlformats.org/drawingml/2006/main">
                <ns1:off x="9163050" y="1181100"/>
                <ns1:ext cx="723900" cy="9525"/>
              </ns1:xfrm>
              <ns2:custGeom xmlns:ns2="http://schemas.openxmlformats.org/drawingml/2006/main">
                <ns2:avLst/>
                <ns2:gdLst/>
                <ns2:ahLst/>
                <ns2:cxnLst/>
                <ns2:rect l="l" t="t" r="r" b="b"/>
                <ns2:pathLst>
                  <ns2:path w="76000" h="1000" fill="none">
                    <ns2:moveTo>
                      <ns2:pt x="0" y="0"/>
                    </ns2:moveTo>
                    <ns2:lnTo>
                      <ns2:pt x="76000" y="0"/>
                    </ns2:lnTo>
                  </ns2:path>
                </ns2:pathLst>
              </ns2:custGeom>
              <ns3:noFill xmlns:ns3="http://schemas.openxmlformats.org/drawingml/2006/main"/>
              <ns4:ln xmlns:ns4="http://schemas.openxmlformats.org/drawingml/2006/main" w="26000" cap="rnd">
                <ns4:gradFill rotWithShape="1">
                  <ns4:gsLst>
                    <ns4:gs pos="0">
                      <ns4:srgbClr val="87A1B1"/>
                    </ns4:gs>
                    <ns4:gs pos="100000">
                      <ns4:srgbClr val="3E6178"/>
                    </ns4:gs>
                  </ns4:gsLst>
                  <ns4:lin ang="0" scaled="1"/>
                </ns4:gradFill>
                <ns4:tailEnd type="triangle"/>
              </ns4:ln>
              <ns2:effectLst xmlns:ns2="http://schemas.openxmlformats.org/drawingml/2006/main">
                <ns2:outerShdw blurRad="15000" dist="9000" dir="5400000" algn="ctr" rotWithShape="0">
                  <ns2:srgbClr val="333333">
                    <ns2:alpha val="12000"/>
                  </ns2:srgbClr>
                </ns2:outerShdw>
              </ns2:effectLst>
            </p:spPr>
          </p:sp>
          <p:sp>
            <p:nvSpPr>
              <p:cNvPr id="10053" name="input"/>
              <p:cNvSpPr/>
              <p:nvPr/>
            </p:nvSpPr>
            <p:spPr>
              <ns1:xfrm xmlns:ns1="http://schemas.openxmlformats.org/drawingml/2006/main">
                <ns1:off x="7953375" y="1657350"/>
                <ns1:ext cx="1428750" cy="304800"/>
              </ns1:xfrm>
              <ns2:prstGeom xmlns:ns2="http://schemas.openxmlformats.org/drawingml/2006/main" prst="rect">
                <ns2:avLst/>
              </ns2:prstGeom>
              <ns3:noFill xmlns:ns3="http://schemas.openxmlformats.org/drawingml/2006/main"/>
              <ns4:ln xmlns:ns4="http://schemas.openxmlformats.org/drawingml/2006/main" w="9525" cap="rnd">
                <ns4:noFill/>
              </ns4:ln>
            </p:spPr>
            <p:txBody>
              <ns5:bodyPr xmlns:ns5="http://schemas.openxmlformats.org/drawingml/2006/main" wrap="square" anchor="ctr" lIns="0" rIns="0" tIns="0" bIns="0"/>
              <ns6:lstStyle xmlns:ns6="http://schemas.openxmlformats.org/drawingml/2006/main"/>
              <ns7:p xmlns:ns7="http://schemas.openxmlformats.org/drawingml/2006/main">
                <ns7:pPr algn="ctr"/>
                <ns7:r>
                  <ns7:rPr sz="1452" b="0">
                    <ns7:solidFill>
                      <ns7:srgbClr val="222222"/>
                    </ns7:solidFill>
                    <ns7:latin typeface="Arial"/>
                    <ns7:ea typeface="Times New Roman"/>
                  </ns7:rPr>
                  <ns7:t>Tool trajectories</ns7:t>
                </ns7:r>
              </ns7:p>
            </p:txBody>
          </p:sp>
          <p:sp>
            <p:nvSpPr>
              <p:cNvPr id="10054" name="output"/>
              <p:cNvSpPr/>
              <p:nvPr/>
            </p:nvSpPr>
            <p:spPr>
              <ns1:xfrm xmlns:ns1="http://schemas.openxmlformats.org/drawingml/2006/main">
                <ns1:off x="9753600" y="1657350"/>
                <ns1:ext cx="1428750" cy="304800"/>
              </ns1:xfrm>
              <ns2:prstGeom xmlns:ns2="http://schemas.openxmlformats.org/drawingml/2006/main" prst="rect">
                <ns2:avLst/>
              </ns2:prstGeom>
              <ns3:noFill xmlns:ns3="http://schemas.openxmlformats.org/drawingml/2006/main"/>
              <ns4:ln xmlns:ns4="http://schemas.openxmlformats.org/drawingml/2006/main" w="9525" cap="rnd">
                <ns4:noFill/>
              </ns4:ln>
            </p:spPr>
            <p:txBody>
              <ns5:bodyPr xmlns:ns5="http://schemas.openxmlformats.org/drawingml/2006/main" wrap="square" anchor="ctr" lIns="0" rIns="0" tIns="0" bIns="0"/>
              <ns6:lstStyle xmlns:ns6="http://schemas.openxmlformats.org/drawingml/2006/main"/>
              <ns7:p xmlns:ns7="http://schemas.openxmlformats.org/drawingml/2006/main">
                <ns7:pPr algn="ctr"/>
                <ns7:r>
                  <ns7:rPr sz="1452" b="0">
                    <ns7:solidFill>
                      <ns7:srgbClr val="222222"/>
                    </ns7:solidFill>
                    <ns7:latin typeface="Arial"/>
                    <ns7:ea typeface="Times New Roman"/>
                  </ns7:rPr>
                  <ns7:t>Action policy</ns7:t>
                </ns7:r>
              </ns7:p>
            </p:txBody>
          </p:sp>
          <p:sp>
            <p:nvSpPr>
              <p:cNvPr id="10055" name="learning signal"/>
              <p:cNvSpPr/>
              <p:nvPr/>
            </p:nvSpPr>
            <p:spPr>
              <ns1:xfrm xmlns:ns1="http://schemas.openxmlformats.org/drawingml/2006/main">
                <ns1:off x="7905750" y="2095500"/>
                <ns1:ext cx="3238500" cy="323850"/>
              </ns1:xfrm>
              <ns2:prstGeom xmlns:ns2="http://schemas.openxmlformats.org/drawingml/2006/main" prst="rect">
                <ns2:avLst/>
              </ns2:prstGeom>
              <ns3:noFill xmlns:ns3="http://schemas.openxmlformats.org/drawingml/2006/main"/>
              <ns4:ln xmlns:ns4="http://schemas.openxmlformats.org/drawingml/2006/main" w="9525" cap="rnd">
                <ns4:noFill/>
              </ns4:ln>
            </p:spPr>
            <p:txBody>
              <ns5:bodyPr xmlns:ns5="http://schemas.openxmlformats.org/drawingml/2006/main" wrap="square" anchor="ctr" lIns="0" rIns="0" tIns="0" bIns="0"/>
              <ns6:lstStyle xmlns:ns6="http://schemas.openxmlformats.org/drawingml/2006/main"/>
              <ns7:p xmlns:ns7="http://schemas.openxmlformats.org/drawingml/2006/main">
                <ns7:pPr algn="ctr"/>
                <ns7:r>
                  <ns7:rPr sz="1500" b="0">
                    <ns7:solidFill>
                      <ns7:srgbClr val="222222"/>
                    </ns7:solidFill>
                    <ns7:latin typeface="Arial"/>
                    <ns7:ea typeface="Times New Roman"/>
                  </ns7:rPr>
                  <ns7:t>Execution and preference feedback</ns7:t>
                </ns7:r>
              </ns7:p>
            </p:txBody>
          </p:sp>
        </p:grpSp>
        <p:sp>
          <p:nvSpPr>
            <p:cNvPr id="10057" name="divider"/>
            <p:cNvSpPr/>
            <p:nvPr/>
          </p:nvSpPr>
          <p:spPr>
            <ns1:xfrm xmlns:ns1="http://schemas.openxmlformats.org/drawingml/2006/main">
              <ns1:off x="285750" y="2619375"/>
              <ns1:ext cx="10858500" cy="9525"/>
            </ns1:xfrm>
            <ns2:custGeom xmlns:ns2="http://schemas.openxmlformats.org/drawingml/2006/main">
              <ns2:avLst/>
              <ns2:gdLst/>
              <ns2:ahLst/>
              <ns2:cxnLst/>
              <ns2:rect l="l" t="t" r="r" b="b"/>
              <ns2:pathLst>
                <ns2:path w="1140000" h="1000" fill="none">
                  <ns2:moveTo>
                    <ns2:pt x="0" y="0"/>
                  </ns2:moveTo>
                  <ns2:lnTo>
                    <ns2:pt x="1140000" y="0"/>
                  </ns2:lnTo>
                </ns2:path>
              </ns2:pathLst>
            </ns2:custGeom>
            <ns3:noFill xmlns:ns3="http://schemas.openxmlformats.org/drawingml/2006/main"/>
            <ns4:ln xmlns:ns4="http://schemas.openxmlformats.org/drawingml/2006/main" w="9525" cap="rnd">
              <ns4:solidFill>
                <ns4:srgbClr val="D8D8D4"/>
              </ns4:solidFill>
            </ns4:ln>
          </p:spPr>
        </p:sp>
        <p:grpSp>
          <p:nvGrpSpPr>
            <p:cNvPr id="10060" name="messages-square editable icon"/>
            <p:cNvGrpSpPr/>
            <p:nvPr/>
          </p:nvGrpSpPr>
          <p:grpSpPr>
            <ns1:xfrm xmlns:ns1="http://schemas.openxmlformats.org/drawingml/2006/main">
              <ns1:off x="523875" y="3171825"/>
              <ns1:ext cx="619125" cy="619125"/>
              <ns1:chOff x="523875" y="3171825"/>
              <ns1:chExt cx="619125" cy="619125"/>
            </ns1:xfrm>
          </p:grpSpPr>
          <p:sp>
            <p:nvSpPr>
              <p:cNvPr id="10058" name="messages-square-0"/>
              <p:cNvSpPr/>
              <p:nvPr/>
            </p:nvSpPr>
            <p:spPr>
              <ns1:xfrm xmlns:ns1="http://schemas.openxmlformats.org/drawingml/2006/main">
                <ns1:off x="523875" y="3171825"/>
                <ns1:ext cx="619125" cy="619125"/>
              </ns1:xfrm>
              <ns2:custGeom xmlns:ns2="http://schemas.openxmlformats.org/drawingml/2006/main">
                <ns2:avLst/>
                <ns2:gdLst/>
                <ns2:ahLst/>
                <ns2:cxnLst/>
                <ns2:rect l="l" t="t" r="r" b="b"/>
                <ns2:pathLst>
                  <ns2:path w="24000" h="24000" fill="none">
                    <ns2:moveTo>
                      <ns2:pt x="16000" y="10000"/>
                    </ns2:moveTo>
                    <ns2:cubicBezTo>
                      <ns2:pt x="16000" y="11105"/>
                      <ns2:pt x="15105" y="12000"/>
                      <ns2:pt x="14000" y="12000"/>
                    </ns2:cubicBezTo>
                    <ns2:lnTo>
                      <ns2:pt x="6828" y="12000"/>
                    </ns2:lnTo>
                    <ns2:cubicBezTo>
                      <ns2:pt x="6298" y="12000"/>
                      <ns2:pt x="5789" y="12211"/>
                      <ns2:pt x="5414" y="12586"/>
                    </ns2:cubicBezTo>
                    <ns2:lnTo>
                      <ns2:pt x="3212" y="14788"/>
                    </ns2:lnTo>
                    <ns2:cubicBezTo>
                      <ns2:pt x="3009" y="14991"/>
                      <ns2:pt x="2704" y="15052"/>
                      <ns2:pt x="2438" y="14942"/>
                    </ns2:cubicBezTo>
                    <ns2:cubicBezTo>
                      <ns2:pt x="2173" y="14832"/>
                      <ns2:pt x="2000" y="14573"/>
                      <ns2:pt x="2000" y="14286"/>
                    </ns2:cubicBezTo>
                    <ns2:lnTo>
                      <ns2:pt x="2000" y="4000"/>
                    </ns2:lnTo>
                    <ns2:cubicBezTo>
                      <ns2:pt x="2000" y="2895"/>
                      <ns2:pt x="2895" y="2000"/>
                      <ns2:pt x="4000" y="2000"/>
                    </ns2:cubicBezTo>
                    <ns2:lnTo>
                      <ns2:pt x="14000" y="2000"/>
                    </ns2:lnTo>
                    <ns2:cubicBezTo>
                      <ns2:pt x="15105" y="2000"/>
                      <ns2:pt x="16000" y="2895"/>
                      <ns2:pt x="16000" y="4000"/>
                    </ns2:cubicBezTo>
                    <ns2:lnTo>
                      <ns2:pt x="16000" y="10000"/>
                    </ns2:lnTo>
                    <ns2:close/>
                  </ns2:path>
                </ns2:pathLst>
              </ns2:custGeom>
              <ns3:noFill xmlns:ns3="http://schemas.openxmlformats.org/drawingml/2006/main"/>
              <ns4:ln xmlns:ns4="http://schemas.openxmlformats.org/drawingml/2006/main" w="38695" cap="rnd">
                <ns4:solidFill>
                  <ns4:srgbClr val="287EA6"/>
                </ns4:solidFill>
              </ns4:ln>
            </p:spPr>
          </p:sp>
          <p:sp>
            <p:nvSpPr>
              <p:cNvPr id="10059" name="messages-square-1"/>
              <p:cNvSpPr/>
              <p:nvPr/>
            </p:nvSpPr>
            <p:spPr>
              <ns1:xfrm xmlns:ns1="http://schemas.openxmlformats.org/drawingml/2006/main">
                <ns1:off x="523875" y="3171825"/>
                <ns1:ext cx="619125" cy="619125"/>
              </ns1:xfrm>
              <ns2:custGeom xmlns:ns2="http://schemas.openxmlformats.org/drawingml/2006/main">
                <ns2:avLst/>
                <ns2:gdLst/>
                <ns2:ahLst/>
                <ns2:cxnLst/>
                <ns2:rect l="l" t="t" r="r" b="b"/>
                <ns2:pathLst>
                  <ns2:path w="24000" h="24000" fill="none">
                    <ns2:moveTo>
                      <ns2:pt x="20000" y="9000"/>
                    </ns2:moveTo>
                    <ns2:cubicBezTo>
                      <ns2:pt x="21105" y="9000"/>
                      <ns2:pt x="22000" y="9895"/>
                      <ns2:pt x="22000" y="11000"/>
                    </ns2:cubicBezTo>
                    <ns2:lnTo>
                      <ns2:pt x="22000" y="21286"/>
                    </ns2:lnTo>
                    <ns2:cubicBezTo>
                      <ns2:pt x="22000" y="21573"/>
                      <ns2:pt x="21827" y="21832"/>
                      <ns2:pt x="21562" y="21942"/>
                    </ns2:cubicBezTo>
                    <ns2:cubicBezTo>
                      <ns2:pt x="21296" y="22052"/>
                      <ns2:pt x="20991" y="21991"/>
                      <ns2:pt x="20788" y="21788"/>
                    </ns2:cubicBezTo>
                    <ns2:lnTo>
                      <ns2:pt x="18586" y="19586"/>
                    </ns2:lnTo>
                    <ns2:cubicBezTo>
                      <ns2:pt x="18211" y="19211"/>
                      <ns2:pt x="17702" y="19000"/>
                      <ns2:pt x="17172" y="19000"/>
                    </ns2:cubicBezTo>
                    <ns2:lnTo>
                      <ns2:pt x="10000" y="19000"/>
                    </ns2:lnTo>
                    <ns2:cubicBezTo>
                      <ns2:pt x="8895" y="19000"/>
                      <ns2:pt x="8000" y="18105"/>
                      <ns2:pt x="8000" y="17000"/>
                    </ns2:cubicBezTo>
                    <ns2:lnTo>
                      <ns2:pt x="8000" y="16000"/>
                    </ns2:lnTo>
                  </ns2:path>
                </ns2:pathLst>
              </ns2:custGeom>
              <ns3:noFill xmlns:ns3="http://schemas.openxmlformats.org/drawingml/2006/main"/>
              <ns4:ln xmlns:ns4="http://schemas.openxmlformats.org/drawingml/2006/main" w="38695" cap="rnd">
                <ns4:solidFill>
                  <ns4:srgbClr val="287EA6"/>
                </ns4:solidFill>
              </ns4:ln>
            </p:spPr>
          </p:sp>
        </p:grpSp>
        <p:sp>
          <p:nvSpPr>
            <p:cNvPr id="10061" name="temporal signal"/>
            <p:cNvSpPr/>
            <p:nvPr/>
          </p:nvSpPr>
          <p:spPr>
            <ns1:xfrm xmlns:ns1="http://schemas.openxmlformats.org/drawingml/2006/main">
              <ns1:off x="523875" y="3948210"/>
              <ns1:ext cx="619125" cy="183309"/>
            </ns1:xfrm>
            <ns2:custGeom xmlns:ns2="http://schemas.openxmlformats.org/drawingml/2006/main">
              <ns2:avLst/>
              <ns2:gdLst/>
              <ns2:ahLst/>
              <ns2:cxnLst/>
              <ns2:rect l="l" t="t" r="r" b="b"/>
              <ns2:pathLst>
                <ns2:path w="65000" h="19245" fill="none">
                  <ns2:moveTo>
                    <ns2:pt x="0" y="13490"/>
                  </ns2:moveTo>
                  <ns2:lnTo>
                    <ns2:pt x="5417" y="19245"/>
                  </ns2:lnTo>
                  <ns2:lnTo>
                    <ns2:pt x="10833" y="4657"/>
                  </ns2:lnTo>
                  <ns2:lnTo>
                    <ns2:pt x="16250" y="14013"/>
                  </ns2:lnTo>
                  <ns2:lnTo>
                    <ns2:pt x="21667" y="15530"/>
                  </ns2:lnTo>
                  <ns2:lnTo>
                    <ns2:pt x="27083" y="2330"/>
                  </ns2:lnTo>
                  <ns2:lnTo>
                    <ns2:pt x="32500" y="14291"/>
                  </ns2:lnTo>
                  <ns2:lnTo>
                    <ns2:pt x="37917" y="11354"/>
                  </ns2:lnTo>
                  <ns2:lnTo>
                    <ns2:pt x="43333" y="791"/>
                  </ns2:lnTo>
                  <ns2:lnTo>
                    <ns2:pt x="48750" y="14102"/>
                  </ns2:lnTo>
                  <ns2:lnTo>
                    <ns2:pt x="54167" y="6940"/>
                  </ns2:lnTo>
                  <ns2:lnTo>
                    <ns2:pt x="59583" y="0"/>
                  </ns2:lnTo>
                  <ns2:lnTo>
                    <ns2:pt x="65000" y="13272"/>
                  </ns2:lnTo>
                </ns2:path>
              </ns2:pathLst>
            </ns2:custGeom>
            <ns3:noFill xmlns:ns3="http://schemas.openxmlformats.org/drawingml/2006/main"/>
            <ns4:ln xmlns:ns4="http://schemas.openxmlformats.org/drawingml/2006/main" w="28575" cap="rnd">
              <ns4:solidFill>
                <ns4:srgbClr val="000000"/>
              </ns4:solidFill>
            </ns4:ln>
          </p:spPr>
        </p:sp>
        <p:sp>
          <p:nvSpPr>
            <p:cNvPr id="10062" name="observations"/>
            <p:cNvSpPr/>
            <p:nvPr/>
          </p:nvSpPr>
          <p:spPr>
            <ns1:xfrm xmlns:ns1="http://schemas.openxmlformats.org/drawingml/2006/main">
              <ns1:off x="190500" y="4429125"/>
              <ns1:ext cx="1333500" cy="323850"/>
            </ns1:xfrm>
            <ns2:prstGeom xmlns:ns2="http://schemas.openxmlformats.org/drawingml/2006/main" prst="rect">
              <ns2:avLst/>
            </ns2:prstGeom>
            <ns3:noFill xmlns:ns3="http://schemas.openxmlformats.org/drawingml/2006/main"/>
            <ns4:ln xmlns:ns4="http://schemas.openxmlformats.org/drawingml/2006/main" w="9525" cap="rnd">
              <ns4:noFill/>
            </ns4:ln>
          </p:spPr>
          <p:txBody>
            <ns5:bodyPr xmlns:ns5="http://schemas.openxmlformats.org/drawingml/2006/main" wrap="square" anchor="ctr" lIns="0" rIns="0" tIns="0" bIns="0"/>
            <ns6:lstStyle xmlns:ns6="http://schemas.openxmlformats.org/drawingml/2006/main"/>
            <ns7:p xmlns:ns7="http://schemas.openxmlformats.org/drawingml/2006/main">
              <ns7:pPr algn="ctr"/>
              <ns7:r>
                <ns7:rPr sz="1518" b="0">
                  <ns7:solidFill>
                    <ns7:srgbClr val="222222"/>
                  </ns7:solidFill>
                  <ns7:latin typeface="Arial"/>
                  <ns7:ea typeface="Times New Roman"/>
                </ns7:rPr>
                <ns7:t>Observations</ns7:t>
              </ns7:r>
            </ns7:p>
          </p:txBody>
        </p:sp>
        <p:grpSp>
          <p:nvGrpSpPr>
            <p:cNvPr id="10069" name="bot editable icon"/>
            <p:cNvGrpSpPr/>
            <p:nvPr/>
          </p:nvGrpSpPr>
          <p:grpSpPr>
            <ns1:xfrm xmlns:ns1="http://schemas.openxmlformats.org/drawingml/2006/main">
              <ns1:off x="4381500" y="3095625"/>
              <ns1:ext cx="1047750" cy="1047750"/>
              <ns1:chOff x="4381500" y="3095625"/>
              <ns1:chExt cx="1047750" cy="1047750"/>
            </ns1:xfrm>
          </p:grpSpPr>
          <p:sp>
            <p:nvSpPr>
              <p:cNvPr id="10063" name="bot-0"/>
              <p:cNvSpPr/>
              <p:nvPr/>
            </p:nvSpPr>
            <p:spPr>
              <ns1:xfrm xmlns:ns1="http://schemas.openxmlformats.org/drawingml/2006/main">
                <ns1:off x="4381500" y="3095625"/>
                <ns1:ext cx="1047750" cy="1047750"/>
              </ns1:xfrm>
              <ns2:custGeom xmlns:ns2="http://schemas.openxmlformats.org/drawingml/2006/main">
                <ns2:avLst/>
                <ns2:gdLst/>
                <ns2:ahLst/>
                <ns2:cxnLst/>
                <ns2:rect l="l" t="t" r="r" b="b"/>
                <ns2:pathLst>
                  <ns2:path w="24000" h="24000" fill="none">
                    <ns2:moveTo>
                      <ns2:pt x="12000" y="8000"/>
                    </ns2:moveTo>
                    <ns2:lnTo>
                      <ns2:pt x="12000" y="4000"/>
                    </ns2:lnTo>
                    <ns2:lnTo>
                      <ns2:pt x="8000" y="4000"/>
                    </ns2:lnTo>
                  </ns2:path>
                </ns2:pathLst>
              </ns2:custGeom>
              <ns3:noFill xmlns:ns3="http://schemas.openxmlformats.org/drawingml/2006/main"/>
              <ns4:ln xmlns:ns4="http://schemas.openxmlformats.org/drawingml/2006/main" w="65484" cap="rnd">
                <ns4:solidFill>
                  <ns4:srgbClr val="7A659B"/>
                </ns4:solidFill>
              </ns4:ln>
            </p:spPr>
          </p:sp>
          <p:sp>
            <p:nvSpPr>
              <p:cNvPr id="10064" name="bot-1"/>
              <p:cNvSpPr/>
              <p:nvPr/>
            </p:nvSpPr>
            <p:spPr>
              <ns1:xfrm xmlns:ns1="http://schemas.openxmlformats.org/drawingml/2006/main">
                <ns1:off x="4556125" y="3444875"/>
                <ns1:ext cx="698500" cy="523875"/>
              </ns1:xfrm>
              <ns2:prstGeom xmlns:ns2="http://schemas.openxmlformats.org/drawingml/2006/main" prst="roundRect">
                <ns2:avLst/>
              </ns2:prstGeom>
              <ns3:noFill xmlns:ns3="http://schemas.openxmlformats.org/drawingml/2006/main"/>
              <ns5:ln xmlns:ns5="http://schemas.openxmlformats.org/drawingml/2006/main" w="65484" cap="rnd">
                <ns5:solidFill>
                  <ns5:srgbClr val="7A659B"/>
                </ns5:solidFill>
              </ns5:ln>
            </p:spPr>
          </p:sp>
          <p:sp>
            <p:nvSpPr>
              <p:cNvPr id="10065" name="bot-2"/>
              <p:cNvSpPr/>
              <p:nvPr/>
            </p:nvSpPr>
            <p:spPr>
              <ns1:xfrm xmlns:ns1="http://schemas.openxmlformats.org/drawingml/2006/main">
                <ns1:off x="4381500" y="3095625"/>
                <ns1:ext cx="1047750" cy="1047750"/>
              </ns1:xfrm>
              <ns2:custGeom xmlns:ns2="http://schemas.openxmlformats.org/drawingml/2006/main">
                <ns2:avLst/>
                <ns2:gdLst/>
                <ns2:ahLst/>
                <ns2:cxnLst/>
                <ns2:rect l="l" t="t" r="r" b="b"/>
                <ns2:pathLst>
                  <ns2:path w="24000" h="24000" fill="none">
                    <ns2:moveTo>
                      <ns2:pt x="2000" y="14000"/>
                    </ns2:moveTo>
                    <ns2:lnTo>
                      <ns2:pt x="4000" y="14000"/>
                    </ns2:lnTo>
                  </ns2:path>
                </ns2:pathLst>
              </ns2:custGeom>
              <ns3:noFill xmlns:ns3="http://schemas.openxmlformats.org/drawingml/2006/main"/>
              <ns4:ln xmlns:ns4="http://schemas.openxmlformats.org/drawingml/2006/main" w="65484" cap="rnd">
                <ns4:solidFill>
                  <ns4:srgbClr val="7A659B"/>
                </ns4:solidFill>
              </ns4:ln>
            </p:spPr>
          </p:sp>
          <p:sp>
            <p:nvSpPr>
              <p:cNvPr id="10066" name="bot-3"/>
              <p:cNvSpPr/>
              <p:nvPr/>
            </p:nvSpPr>
            <p:spPr>
              <ns1:xfrm xmlns:ns1="http://schemas.openxmlformats.org/drawingml/2006/main">
                <ns1:off x="4381500" y="3095625"/>
                <ns1:ext cx="1047750" cy="1047750"/>
              </ns1:xfrm>
              <ns2:custGeom xmlns:ns2="http://schemas.openxmlformats.org/drawingml/2006/main">
                <ns2:avLst/>
                <ns2:gdLst/>
                <ns2:ahLst/>
                <ns2:cxnLst/>
                <ns2:rect l="l" t="t" r="r" b="b"/>
                <ns2:pathLst>
                  <ns2:path w="24000" h="24000" fill="none">
                    <ns2:moveTo>
                      <ns2:pt x="20000" y="14000"/>
                    </ns2:moveTo>
                    <ns2:lnTo>
                      <ns2:pt x="22000" y="14000"/>
                    </ns2:lnTo>
                  </ns2:path>
                </ns2:pathLst>
              </ns2:custGeom>
              <ns3:noFill xmlns:ns3="http://schemas.openxmlformats.org/drawingml/2006/main"/>
              <ns4:ln xmlns:ns4="http://schemas.openxmlformats.org/drawingml/2006/main" w="65484" cap="rnd">
                <ns4:solidFill>
                  <ns4:srgbClr val="7A659B"/>
                </ns4:solidFill>
              </ns4:ln>
            </p:spPr>
          </p:sp>
          <p:sp>
            <p:nvSpPr>
              <p:cNvPr id="10067" name="bot-4"/>
              <p:cNvSpPr/>
              <p:nvPr/>
            </p:nvSpPr>
            <p:spPr>
              <ns1:xfrm xmlns:ns1="http://schemas.openxmlformats.org/drawingml/2006/main">
                <ns1:off x="4381500" y="3095625"/>
                <ns1:ext cx="1047750" cy="1047750"/>
              </ns1:xfrm>
              <ns2:custGeom xmlns:ns2="http://schemas.openxmlformats.org/drawingml/2006/main">
                <ns2:avLst/>
                <ns2:gdLst/>
                <ns2:ahLst/>
                <ns2:cxnLst/>
                <ns2:rect l="l" t="t" r="r" b="b"/>
                <ns2:pathLst>
                  <ns2:path w="24000" h="24000" fill="none">
                    <ns2:moveTo>
                      <ns2:pt x="15000" y="13000"/>
                    </ns2:moveTo>
                    <ns2:lnTo>
                      <ns2:pt x="15000" y="15000"/>
                    </ns2:lnTo>
                  </ns2:path>
                </ns2:pathLst>
              </ns2:custGeom>
              <ns3:noFill xmlns:ns3="http://schemas.openxmlformats.org/drawingml/2006/main"/>
              <ns4:ln xmlns:ns4="http://schemas.openxmlformats.org/drawingml/2006/main" w="65484" cap="rnd">
                <ns4:solidFill>
                  <ns4:srgbClr val="7A659B"/>
                </ns4:solidFill>
              </ns4:ln>
            </p:spPr>
          </p:sp>
          <p:sp>
            <p:nvSpPr>
              <p:cNvPr id="10068" name="bot-5"/>
              <p:cNvSpPr/>
              <p:nvPr/>
            </p:nvSpPr>
            <p:spPr>
              <ns1:xfrm xmlns:ns1="http://schemas.openxmlformats.org/drawingml/2006/main">
                <ns1:off x="4381500" y="3095625"/>
                <ns1:ext cx="1047750" cy="1047750"/>
              </ns1:xfrm>
              <ns2:custGeom xmlns:ns2="http://schemas.openxmlformats.org/drawingml/2006/main">
                <ns2:avLst/>
                <ns2:gdLst/>
                <ns2:ahLst/>
                <ns2:cxnLst/>
                <ns2:rect l="l" t="t" r="r" b="b"/>
                <ns2:pathLst>
                  <ns2:path w="24000" h="24000" fill="none">
                    <ns2:moveTo>
                      <ns2:pt x="9000" y="13000"/>
                    </ns2:moveTo>
                    <ns2:lnTo>
                      <ns2:pt x="9000" y="15000"/>
                    </ns2:lnTo>
                  </ns2:path>
                </ns2:pathLst>
              </ns2:custGeom>
              <ns3:noFill xmlns:ns3="http://schemas.openxmlformats.org/drawingml/2006/main"/>
              <ns4:ln xmlns:ns4="http://schemas.openxmlformats.org/drawingml/2006/main" w="65484" cap="rnd">
                <ns4:solidFill>
                  <ns4:srgbClr val="7A659B"/>
                </ns4:solidFill>
              </ns4:ln>
            </p:spPr>
          </p:sp>
        </p:grpSp>
        <p:sp>
          <p:nvSpPr>
            <p:cNvPr id="10070" name="llm"/>
            <p:cNvSpPr/>
            <p:nvPr/>
          </p:nvSpPr>
          <p:spPr>
            <ns1:xfrm xmlns:ns1="http://schemas.openxmlformats.org/drawingml/2006/main">
              <ns1:off x="4286250" y="4238625"/>
              <ns1:ext cx="1238250" cy="342900"/>
            </ns1:xfrm>
            <ns2:prstGeom xmlns:ns2="http://schemas.openxmlformats.org/drawingml/2006/main" prst="rect">
              <ns2:avLst/>
            </ns2:prstGeom>
            <ns3:noFill xmlns:ns3="http://schemas.openxmlformats.org/drawingml/2006/main"/>
            <ns4:ln xmlns:ns4="http://schemas.openxmlformats.org/drawingml/2006/main" w="9525" cap="rnd">
              <ns4:noFill/>
            </ns4:ln>
          </p:spPr>
          <p:txBody>
            <ns5:bodyPr xmlns:ns5="http://schemas.openxmlformats.org/drawingml/2006/main" wrap="square" anchor="ctr" lIns="0" rIns="0" tIns="0" bIns="0"/>
            <ns6:lstStyle xmlns:ns6="http://schemas.openxmlformats.org/drawingml/2006/main"/>
            <ns7:p xmlns:ns7="http://schemas.openxmlformats.org/drawingml/2006/main">
              <ns7:pPr algn="ctr"/>
              <ns7:r>
                <ns7:rPr sz="1914" b="1">
                  <ns7:solidFill>
                    <ns7:srgbClr val="222222"/>
                  </ns7:solidFill>
                  <ns7:latin typeface="Comic Sans MS"/>
                  <ns7:ea typeface="Times New Roman"/>
                </ns7:rPr>
                <ns7:t>LLM</ns7:t>
              </ns7:r>
            </ns7:p>
          </p:txBody>
        </p:sp>
        <p:grpSp>
          <p:nvGrpSpPr>
            <p:cNvPr id="10072" name="wrench editable icon"/>
            <p:cNvGrpSpPr/>
            <p:nvPr/>
          </p:nvGrpSpPr>
          <p:grpSpPr>
            <ns1:xfrm xmlns:ns1="http://schemas.openxmlformats.org/drawingml/2006/main">
              <ns1:off x="8572500" y="3124200"/>
              <ns1:ext cx="666750" cy="666750"/>
              <ns1:chOff x="8572500" y="3124200"/>
              <ns1:chExt cx="666750" cy="666750"/>
            </ns1:xfrm>
          </p:grpSpPr>
          <p:sp>
            <p:nvSpPr>
              <p:cNvPr id="10071" name="wrench-0"/>
              <p:cNvSpPr/>
              <p:nvPr/>
            </p:nvSpPr>
            <p:spPr>
              <ns1:xfrm xmlns:ns1="http://schemas.openxmlformats.org/drawingml/2006/main">
                <ns1:off x="8572500" y="3124200"/>
                <ns1:ext cx="666750" cy="666750"/>
              </ns1:xfrm>
              <ns2:custGeom xmlns:ns2="http://schemas.openxmlformats.org/drawingml/2006/main">
                <ns2:avLst/>
                <ns2:gdLst/>
                <ns2:ahLst/>
                <ns2:cxnLst/>
                <ns2:rect l="l" t="t" r="r" b="b"/>
                <ns2:pathLst>
                  <ns2:path w="24000" h="24000" fill="none">
                    <ns2:moveTo>
                      <ns2:pt x="14700" y="6300"/>
                    </ns2:moveTo>
                    <ns2:cubicBezTo>
                      <ns2:pt x="14319" y="6689"/>
                      <ns2:pt x="14319" y="7311"/>
                      <ns2:pt x="14700" y="7700"/>
                    </ns2:cubicBezTo>
                    <ns2:lnTo>
                      <ns2:pt x="16300" y="9300"/>
                    </ns2:lnTo>
                    <ns2:cubicBezTo>
                      <ns2:pt x="16689" y="9681"/>
                      <ns2:pt x="17311" y="9681"/>
                      <ns2:pt x="17700" y="9300"/>
                    </ns2:cubicBezTo>
                    <ns2:lnTo>
                      <ns2:pt x="20806" y="6195"/>
                    </ns2:lnTo>
                    <ns2:cubicBezTo>
                      <ns2:pt x="21126" y="5873"/>
                      <ns2:pt x="21669" y="5975"/>
                      <ns2:pt x="21789" y="6413"/>
                    </ns2:cubicBezTo>
                    <ns2:cubicBezTo>
                      <ns2:pt x="22406" y="8656"/>
                      <ns2:pt x="21670" y="11054"/>
                      <ns2:pt x="19901" y="12565"/>
                    </ns2:cubicBezTo>
                    <ns2:cubicBezTo>
                      <ns2:pt x="18133" y="14077"/>
                      <ns2:pt x="15650" y="14429"/>
                      <ns2:pt x="13530" y="13470"/>
                    </ns2:cubicBezTo>
                    <ns2:lnTo>
                      <ns2:pt x="5620" y="21380"/>
                    </ns2:lnTo>
                    <ns2:cubicBezTo>
                      <ns2:pt x="4792" y="22208"/>
                      <ns2:pt x="3449" y="22208"/>
                      <ns2:pt x="2620" y="21380"/>
                    </ns2:cubicBezTo>
                    <ns2:cubicBezTo>
                      <ns2:pt x="1792" y="20551"/>
                      <ns2:pt x="1793" y="19208"/>
                      <ns2:pt x="2621" y="18380"/>
                    </ns2:cubicBezTo>
                    <ns2:lnTo>
                      <ns2:pt x="10531" y="10470"/>
                    </ns2:lnTo>
                    <ns2:cubicBezTo>
                      <ns2:pt x="9572" y="8350"/>
                      <ns2:pt x="9924" y="5867"/>
                      <ns2:pt x="11436" y="4099"/>
                    </ns2:cubicBezTo>
                    <ns2:cubicBezTo>
                      <ns2:pt x="12947" y="2330"/>
                      <ns2:pt x="15345" y="1594"/>
                      <ns2:pt x="17588" y="2211"/>
                    </ns2:cubicBezTo>
                    <ns2:cubicBezTo>
                      <ns2:pt x="18026" y="2331"/>
                      <ns2:pt x="18128" y="2873"/>
                      <ns2:pt x="17807" y="3195"/>
                    </ns2:cubicBezTo>
                    <ns2:lnTo>
                      <ns2:pt x="14700" y="6300"/>
                    </ns2:lnTo>
                    <ns2:close/>
                  </ns2:path>
                </ns2:pathLst>
              </ns2:custGeom>
              <ns3:noFill xmlns:ns3="http://schemas.openxmlformats.org/drawingml/2006/main"/>
              <ns4:ln xmlns:ns4="http://schemas.openxmlformats.org/drawingml/2006/main" w="41672" cap="rnd">
                <ns4:solidFill>
                  <ns4:srgbClr val="B9862E"/>
                </ns4:solidFill>
              </ns4:ln>
            </p:spPr>
          </p:sp>
        </p:grpSp>
        <p:sp>
          <p:nvSpPr>
            <p:cNvPr id="10073" name="actions"/>
            <p:cNvSpPr/>
            <p:nvPr/>
          </p:nvSpPr>
          <p:spPr>
            <ns1:xfrm xmlns:ns1="http://schemas.openxmlformats.org/drawingml/2006/main">
              <ns1:off x="8096250" y="4019550"/>
              <ns1:ext cx="1619250" cy="323850"/>
            </ns1:xfrm>
            <ns2:prstGeom xmlns:ns2="http://schemas.openxmlformats.org/drawingml/2006/main" prst="rect">
              <ns2:avLst/>
            </ns2:prstGeom>
            <ns3:noFill xmlns:ns3="http://schemas.openxmlformats.org/drawingml/2006/main"/>
            <ns4:ln xmlns:ns4="http://schemas.openxmlformats.org/drawingml/2006/main" w="9525" cap="rnd">
              <ns4:noFill/>
            </ns4:ln>
          </p:spPr>
          <p:txBody>
            <ns5:bodyPr xmlns:ns5="http://schemas.openxmlformats.org/drawingml/2006/main" wrap="square" anchor="ctr" lIns="0" rIns="0" tIns="0" bIns="0"/>
            <ns6:lstStyle xmlns:ns6="http://schemas.openxmlformats.org/drawingml/2006/main"/>
            <ns7:p xmlns:ns7="http://schemas.openxmlformats.org/drawingml/2006/main">
              <ns7:pPr algn="ctr"/>
              <ns7:r>
                <ns7:rPr sz="1584" b="1">
                  <ns7:solidFill>
                    <ns7:srgbClr val="222222"/>
                  </ns7:solidFill>
                  <ns7:latin typeface="Arial"/>
                  <ns7:ea typeface="Times New Roman"/>
                </ns7:rPr>
                <ns7:t>Tool actions</ns7:t>
              </ns7:r>
            </ns7:p>
          </p:txBody>
        </p:sp>
        <p:grpSp>
          <p:nvGrpSpPr>
            <p:cNvPr id="10080" name="chart-no-axes-combined editable icon"/>
            <p:cNvGrpSpPr/>
            <p:nvPr/>
          </p:nvGrpSpPr>
          <p:grpSpPr>
            <ns1:xfrm xmlns:ns1="http://schemas.openxmlformats.org/drawingml/2006/main">
              <ns1:off x="10020300" y="3124200"/>
              <ns1:ext cx="666750" cy="666750"/>
              <ns1:chOff x="10020300" y="3124200"/>
              <ns1:chExt cx="666750" cy="666750"/>
            </ns1:xfrm>
          </p:grpSpPr>
          <p:sp>
            <p:nvSpPr>
              <p:cNvPr id="10074" name="chart-no-axes-combined-0"/>
              <p:cNvSpPr/>
              <p:nvPr/>
            </p:nvSpPr>
            <p:spPr>
              <ns1:xfrm xmlns:ns1="http://schemas.openxmlformats.org/drawingml/2006/main">
                <ns1:off x="10020300" y="3124200"/>
                <ns1:ext cx="666750" cy="666750"/>
              </ns1:xfrm>
              <ns2:custGeom xmlns:ns2="http://schemas.openxmlformats.org/drawingml/2006/main">
                <ns2:avLst/>
                <ns2:gdLst/>
                <ns2:ahLst/>
                <ns2:cxnLst/>
                <ns2:rect l="l" t="t" r="r" b="b"/>
                <ns2:pathLst>
                  <ns2:path w="24000" h="24000" fill="none">
                    <ns2:moveTo>
                      <ns2:pt x="12000" y="16000"/>
                    </ns2:moveTo>
                    <ns2:lnTo>
                      <ns2:pt x="12000" y="21000"/>
                    </ns2:lnTo>
                  </ns2:path>
                </ns2:pathLst>
              </ns2:custGeom>
              <ns3:noFill xmlns:ns3="http://schemas.openxmlformats.org/drawingml/2006/main"/>
              <ns4:ln xmlns:ns4="http://schemas.openxmlformats.org/drawingml/2006/main" w="41672" cap="rnd">
                <ns4:solidFill>
                  <ns4:srgbClr val="000000"/>
                </ns4:solidFill>
              </ns4:ln>
            </p:spPr>
          </p:sp>
          <p:sp>
            <p:nvSpPr>
              <p:cNvPr id="10075" name="chart-no-axes-combined-1"/>
              <p:cNvSpPr/>
              <p:nvPr/>
            </p:nvSpPr>
            <p:spPr>
              <ns1:xfrm xmlns:ns1="http://schemas.openxmlformats.org/drawingml/2006/main">
                <ns1:off x="10020300" y="3124200"/>
                <ns1:ext cx="666750" cy="666750"/>
              </ns1:xfrm>
              <ns2:custGeom xmlns:ns2="http://schemas.openxmlformats.org/drawingml/2006/main">
                <ns2:avLst/>
                <ns2:gdLst/>
                <ns2:ahLst/>
                <ns2:cxnLst/>
                <ns2:rect l="l" t="t" r="r" b="b"/>
                <ns2:pathLst>
                  <ns2:path w="24000" h="24000" fill="none">
                    <ns2:moveTo>
                      <ns2:pt x="16000" y="14639"/>
                    </ns2:moveTo>
                    <ns2:lnTo>
                      <ns2:pt x="16000" y="21000"/>
                    </ns2:lnTo>
                  </ns2:path>
                </ns2:pathLst>
              </ns2:custGeom>
              <ns3:noFill xmlns:ns3="http://schemas.openxmlformats.org/drawingml/2006/main"/>
              <ns4:ln xmlns:ns4="http://schemas.openxmlformats.org/drawingml/2006/main" w="41672" cap="rnd">
                <ns4:solidFill>
                  <ns4:srgbClr val="000000"/>
                </ns4:solidFill>
              </ns4:ln>
            </p:spPr>
          </p:sp>
          <p:sp>
            <p:nvSpPr>
              <p:cNvPr id="10076" name="chart-no-axes-combined-2"/>
              <p:cNvSpPr/>
              <p:nvPr/>
            </p:nvSpPr>
            <p:spPr>
              <ns1:xfrm xmlns:ns1="http://schemas.openxmlformats.org/drawingml/2006/main">
                <ns1:off x="10020300" y="3124200"/>
                <ns1:ext cx="666750" cy="666750"/>
              </ns1:xfrm>
              <ns2:custGeom xmlns:ns2="http://schemas.openxmlformats.org/drawingml/2006/main">
                <ns2:avLst/>
                <ns2:gdLst/>
                <ns2:ahLst/>
                <ns2:cxnLst/>
                <ns2:rect l="l" t="t" r="r" b="b"/>
                <ns2:pathLst>
                  <ns2:path w="24000" h="24000" fill="none">
                    <ns2:moveTo>
                      <ns2:pt x="20000" y="10656"/>
                    </ns2:moveTo>
                    <ns2:lnTo>
                      <ns2:pt x="20000" y="21000"/>
                    </ns2:lnTo>
                  </ns2:path>
                </ns2:pathLst>
              </ns2:custGeom>
              <ns3:noFill xmlns:ns3="http://schemas.openxmlformats.org/drawingml/2006/main"/>
              <ns4:ln xmlns:ns4="http://schemas.openxmlformats.org/drawingml/2006/main" w="41672" cap="rnd">
                <ns4:solidFill>
                  <ns4:srgbClr val="000000"/>
                </ns4:solidFill>
              </ns4:ln>
            </p:spPr>
          </p:sp>
          <p:sp>
            <p:nvSpPr>
              <p:cNvPr id="10077" name="chart-no-axes-combined-3"/>
              <p:cNvSpPr/>
              <p:nvPr/>
            </p:nvSpPr>
            <p:spPr>
              <ns1:xfrm xmlns:ns1="http://schemas.openxmlformats.org/drawingml/2006/main">
                <ns1:off x="10020300" y="3124200"/>
                <ns1:ext cx="666750" cy="666750"/>
              </ns1:xfrm>
              <ns2:custGeom xmlns:ns2="http://schemas.openxmlformats.org/drawingml/2006/main">
                <ns2:avLst/>
                <ns2:gdLst/>
                <ns2:ahLst/>
                <ns2:cxnLst/>
                <ns2:rect l="l" t="t" r="r" b="b"/>
                <ns2:pathLst>
                  <ns2:path w="24000" h="24000" fill="none">
                    <ns2:moveTo>
                      <ns2:pt x="22000" y="3000"/>
                    </ns2:moveTo>
                    <ns2:lnTo>
                      <ns2:pt x="13354" y="11646"/>
                    </ns2:lnTo>
                    <ns2:cubicBezTo>
                      <ns2:pt x="13260" y="11740"/>
                      <ns2:pt x="13133" y="11793"/>
                      <ns2:pt x="13000" y="11793"/>
                    </ns2:cubicBezTo>
                    <ns2:cubicBezTo>
                      <ns2:pt x="12867" y="11793"/>
                      <ns2:pt x="12740" y="11740"/>
                      <ns2:pt x="12646" y="11646"/>
                    </ns2:cubicBezTo>
                    <ns2:lnTo>
                      <ns2:pt x="9354" y="8354"/>
                    </ns2:lnTo>
                    <ns2:cubicBezTo>
                      <ns2:pt x="9159" y="8159"/>
                      <ns2:pt x="8842" y="8159"/>
                      <ns2:pt x="8647" y="8354"/>
                    </ns2:cubicBezTo>
                    <ns2:lnTo>
                      <ns2:pt x="2000" y="15000"/>
                    </ns2:lnTo>
                  </ns2:path>
                </ns2:pathLst>
              </ns2:custGeom>
              <ns3:noFill xmlns:ns3="http://schemas.openxmlformats.org/drawingml/2006/main"/>
              <ns4:ln xmlns:ns4="http://schemas.openxmlformats.org/drawingml/2006/main" w="41672" cap="rnd">
                <ns4:solidFill>
                  <ns4:srgbClr val="000000"/>
                </ns4:solidFill>
              </ns4:ln>
            </p:spPr>
          </p:sp>
          <p:sp>
            <p:nvSpPr>
              <p:cNvPr id="10078" name="chart-no-axes-combined-4"/>
              <p:cNvSpPr/>
              <p:nvPr/>
            </p:nvSpPr>
            <p:spPr>
              <ns1:xfrm xmlns:ns1="http://schemas.openxmlformats.org/drawingml/2006/main">
                <ns1:off x="10020300" y="3124200"/>
                <ns1:ext cx="666750" cy="666750"/>
              </ns1:xfrm>
              <ns2:custGeom xmlns:ns2="http://schemas.openxmlformats.org/drawingml/2006/main">
                <ns2:avLst/>
                <ns2:gdLst/>
                <ns2:ahLst/>
                <ns2:cxnLst/>
                <ns2:rect l="l" t="t" r="r" b="b"/>
                <ns2:pathLst>
                  <ns2:path w="24000" h="24000" fill="none">
                    <ns2:moveTo>
                      <ns2:pt x="4000" y="18463"/>
                    </ns2:moveTo>
                    <ns2:lnTo>
                      <ns2:pt x="4000" y="21000"/>
                    </ns2:lnTo>
                  </ns2:path>
                </ns2:pathLst>
              </ns2:custGeom>
              <ns3:noFill xmlns:ns3="http://schemas.openxmlformats.org/drawingml/2006/main"/>
              <ns4:ln xmlns:ns4="http://schemas.openxmlformats.org/drawingml/2006/main" w="41672" cap="rnd">
                <ns4:solidFill>
                  <ns4:srgbClr val="000000"/>
                </ns4:solidFill>
              </ns4:ln>
            </p:spPr>
          </p:sp>
          <p:sp>
            <p:nvSpPr>
              <p:cNvPr id="10079" name="chart-no-axes-combined-5"/>
              <p:cNvSpPr/>
              <p:nvPr/>
            </p:nvSpPr>
            <p:spPr>
              <ns1:xfrm xmlns:ns1="http://schemas.openxmlformats.org/drawingml/2006/main">
                <ns1:off x="10020300" y="3124200"/>
                <ns1:ext cx="666750" cy="666750"/>
              </ns1:xfrm>
              <ns2:custGeom xmlns:ns2="http://schemas.openxmlformats.org/drawingml/2006/main">
                <ns2:avLst/>
                <ns2:gdLst/>
                <ns2:ahLst/>
                <ns2:cxnLst/>
                <ns2:rect l="l" t="t" r="r" b="b"/>
                <ns2:pathLst>
                  <ns2:path w="24000" h="24000" fill="none">
                    <ns2:moveTo>
                      <ns2:pt x="8000" y="14656"/>
                    </ns2:moveTo>
                    <ns2:lnTo>
                      <ns2:pt x="8000" y="21000"/>
                    </ns2:lnTo>
                  </ns2:path>
                </ns2:pathLst>
              </ns2:custGeom>
              <ns3:noFill xmlns:ns3="http://schemas.openxmlformats.org/drawingml/2006/main"/>
              <ns4:ln xmlns:ns4="http://schemas.openxmlformats.org/drawingml/2006/main" w="41672" cap="rnd">
                <ns4:solidFill>
                  <ns4:srgbClr val="000000"/>
                </ns4:solidFill>
              </ns4:ln>
            </p:spPr>
          </p:sp>
        </p:grpSp>
        <p:sp>
          <p:nvSpPr>
            <p:cNvPr id="10081" name="answers"/>
            <p:cNvSpPr/>
            <p:nvPr/>
          </p:nvSpPr>
          <p:spPr>
            <ns1:xfrm xmlns:ns1="http://schemas.openxmlformats.org/drawingml/2006/main">
              <ns1:off x="9763125" y="4019550"/>
              <ns1:ext cx="1238250" cy="323850"/>
            </ns1:xfrm>
            <ns2:prstGeom xmlns:ns2="http://schemas.openxmlformats.org/drawingml/2006/main" prst="rect">
              <ns2:avLst/>
            </ns2:prstGeom>
            <ns3:noFill xmlns:ns3="http://schemas.openxmlformats.org/drawingml/2006/main"/>
            <ns4:ln xmlns:ns4="http://schemas.openxmlformats.org/drawingml/2006/main" w="9525" cap="rnd">
              <ns4:noFill/>
            </ns4:ln>
          </p:spPr>
          <p:txBody>
            <ns5:bodyPr xmlns:ns5="http://schemas.openxmlformats.org/drawingml/2006/main" wrap="square" anchor="ctr" lIns="0" rIns="0" tIns="0" bIns="0"/>
            <ns6:lstStyle xmlns:ns6="http://schemas.openxmlformats.org/drawingml/2006/main"/>
            <ns7:p xmlns:ns7="http://schemas.openxmlformats.org/drawingml/2006/main">
              <ns7:pPr algn="ctr"/>
              <ns7:r>
                <ns7:rPr sz="1584" b="1">
                  <ns7:solidFill>
                    <ns7:srgbClr val="222222"/>
                  </ns7:solidFill>
                  <ns7:latin typeface="Arial"/>
                  <ns7:ea typeface="Times New Roman"/>
                </ns7:rPr>
                <ns7:t>Outputs</ns7:t>
              </ns7:r>
            </ns7:p>
          </p:txBody>
        </p:sp>
        <p:sp>
          <p:nvSpPr>
            <p:cNvPr id="10082" name="encode"/>
            <p:cNvSpPr/>
            <p:nvPr/>
          </p:nvSpPr>
          <p:spPr>
            <ns1:xfrm xmlns:ns1="http://schemas.openxmlformats.org/drawingml/2006/main">
              <ns1:off x="1524000" y="3676650"/>
              <ns1:ext cx="2571750" cy="9525"/>
            </ns1:xfrm>
            <ns2:custGeom xmlns:ns2="http://schemas.openxmlformats.org/drawingml/2006/main">
              <ns2:avLst/>
              <ns2:gdLst/>
              <ns2:ahLst/>
              <ns2:cxnLst/>
              <ns2:rect l="l" t="t" r="r" b="b"/>
              <ns2:pathLst>
                <ns2:path w="270000" h="1000" fill="none">
                  <ns2:moveTo>
                    <ns2:pt x="0" y="0"/>
                  </ns2:moveTo>
                  <ns2:lnTo>
                    <ns2:pt x="270000" y="0"/>
                  </ns2:lnTo>
                </ns2:path>
              </ns2:pathLst>
            </ns2:custGeom>
            <ns3:noFill xmlns:ns3="http://schemas.openxmlformats.org/drawingml/2006/main"/>
            <ns4:ln xmlns:ns4="http://schemas.openxmlformats.org/drawingml/2006/main" w="26000" cap="rnd">
              <ns4:gradFill rotWithShape="1">
                <ns4:gsLst>
                  <ns4:gs pos="0">
                    <ns4:srgbClr val="87A1B1"/>
                  </ns4:gs>
                  <ns4:gs pos="100000">
                    <ns4:srgbClr val="3E6178"/>
                  </ns4:gs>
                </ns4:gsLst>
                <ns4:lin ang="0" scaled="1"/>
              </ns4:gradFill>
              <ns4:tailEnd type="triangle"/>
            </ns4:ln>
            <ns3:effectLst xmlns:ns3="http://schemas.openxmlformats.org/drawingml/2006/main">
              <ns3:outerShdw blurRad="15000" dist="9000" dir="5400000" algn="ctr" rotWithShape="0">
                <ns3:srgbClr val="333333">
                  <ns3:alpha val="12000"/>
                </ns3:srgbClr>
              </ns3:outerShdw>
            </ns3:effectLst>
          </p:spPr>
        </p:sp>
        <p:sp>
          <p:nvSpPr>
            <p:cNvPr id="10083" name="encoding"/>
            <p:cNvSpPr/>
            <p:nvPr/>
          </p:nvSpPr>
          <p:spPr>
            <ns1:xfrm xmlns:ns1="http://schemas.openxmlformats.org/drawingml/2006/main">
              <ns1:off x="1714500" y="3286125"/>
              <ns1:ext cx="2190750" cy="285750"/>
            </ns1:xfrm>
            <ns2:prstGeom xmlns:ns2="http://schemas.openxmlformats.org/drawingml/2006/main" prst="rect">
              <ns2:avLst/>
            </ns2:prstGeom>
            <ns3:noFill xmlns:ns3="http://schemas.openxmlformats.org/drawingml/2006/main"/>
            <ns4:ln xmlns:ns4="http://schemas.openxmlformats.org/drawingml/2006/main" w="9525" cap="rnd">
              <ns4:noFill/>
            </ns4:ln>
          </p:spPr>
          <p:txBody>
            <ns5:bodyPr xmlns:ns5="http://schemas.openxmlformats.org/drawingml/2006/main" wrap="square" anchor="ctr" lIns="0" rIns="0" tIns="0" bIns="0"/>
            <ns6:lstStyle xmlns:ns6="http://schemas.openxmlformats.org/drawingml/2006/main"/>
            <ns7:p xmlns:ns7="http://schemas.openxmlformats.org/drawingml/2006/main">
              <ns7:pPr algn="ctr"/>
              <ns7:r>
                <ns7:rPr sz="1452" b="0">
                  <ns7:solidFill>
                    <ns7:srgbClr val="222222"/>
                  </ns7:solidFill>
                  <ns7:latin typeface="Arial"/>
                  <ns7:ea typeface="Times New Roman"/>
                </ns7:rPr>
                <ns7:t>Encode / retrieve</ns7:t>
              </ns7:r>
            </ns7:p>
          </p:txBody>
        </p:sp>
        <p:sp>
          <p:nvSpPr>
            <p:cNvPr id="10084" name="act"/>
            <p:cNvSpPr/>
            <p:nvPr/>
          </p:nvSpPr>
          <p:spPr>
            <ns1:xfrm xmlns:ns1="http://schemas.openxmlformats.org/drawingml/2006/main">
              <ns1:off x="5619750" y="3676650"/>
              <ns1:ext cx="2628900" cy="9525"/>
            </ns1:xfrm>
            <ns2:custGeom xmlns:ns2="http://schemas.openxmlformats.org/drawingml/2006/main">
              <ns2:avLst/>
              <ns2:gdLst/>
              <ns2:ahLst/>
              <ns2:cxnLst/>
              <ns2:rect l="l" t="t" r="r" b="b"/>
              <ns2:pathLst>
                <ns2:path w="276000" h="1000" fill="none">
                  <ns2:moveTo>
                    <ns2:pt x="0" y="0"/>
                  </ns2:moveTo>
                  <ns2:lnTo>
                    <ns2:pt x="276000" y="0"/>
                  </ns2:lnTo>
                </ns2:path>
              </ns2:pathLst>
            </ns2:custGeom>
            <ns3:noFill xmlns:ns3="http://schemas.openxmlformats.org/drawingml/2006/main"/>
            <ns4:ln xmlns:ns4="http://schemas.openxmlformats.org/drawingml/2006/main" w="26000" cap="rnd">
              <ns4:gradFill rotWithShape="1">
                <ns4:gsLst>
                  <ns4:gs pos="0">
                    <ns4:srgbClr val="87A1B1"/>
                  </ns4:gs>
                  <ns4:gs pos="100000">
                    <ns4:srgbClr val="3E6178"/>
                  </ns4:gs>
                </ns4:gsLst>
                <ns4:lin ang="0" scaled="1"/>
              </ns4:gradFill>
              <ns4:tailEnd type="triangle"/>
            </ns4:ln>
            <ns4:effectLst xmlns:ns4="http://schemas.openxmlformats.org/drawingml/2006/main">
              <ns4:outerShdw blurRad="15000" dist="9000" dir="5400000" algn="ctr" rotWithShape="0">
                <ns4:srgbClr val="333333">
                  <ns4:alpha val="12000"/>
                </ns4:srgbClr>
              </ns4:outerShdw>
            </ns4:effectLst>
          </p:spPr>
        </p:sp>
        <p:sp>
          <p:nvSpPr>
            <p:cNvPr id="10085" name="selection"/>
            <p:cNvSpPr/>
            <p:nvPr/>
          </p:nvSpPr>
          <p:spPr>
            <ns1:xfrm xmlns:ns1="http://schemas.openxmlformats.org/drawingml/2006/main">
              <ns1:off x="5905500" y="3286125"/>
              <ns1:ext cx="2095500" cy="285750"/>
            </ns1:xfrm>
            <ns2:prstGeom xmlns:ns2="http://schemas.openxmlformats.org/drawingml/2006/main" prst="rect">
              <ns2:avLst/>
            </ns2:prstGeom>
            <ns3:noFill xmlns:ns3="http://schemas.openxmlformats.org/drawingml/2006/main"/>
            <ns4:ln xmlns:ns4="http://schemas.openxmlformats.org/drawingml/2006/main" w="9525" cap="rnd">
              <ns4:noFill/>
            </ns4:ln>
          </p:spPr>
          <p:txBody>
            <ns5:bodyPr xmlns:ns5="http://schemas.openxmlformats.org/drawingml/2006/main" wrap="square" anchor="ctr" lIns="0" rIns="0" tIns="0" bIns="0"/>
            <ns6:lstStyle xmlns:ns6="http://schemas.openxmlformats.org/drawingml/2006/main"/>
            <ns7:p xmlns:ns7="http://schemas.openxmlformats.org/drawingml/2006/main">
              <ns7:pPr algn="ctr"/>
              <ns7:r>
                <ns7:rPr sz="1452" b="0">
                  <ns7:solidFill>
                    <ns7:srgbClr val="222222"/>
                  </ns7:solidFill>
                  <ns7:latin typeface="Arial"/>
                  <ns7:ea typeface="Times New Roman"/>
                </ns7:rPr>
                <ns7:t>Select and assess</ns7:t>
              </ns7:r>
            </ns7:p>
          </p:txBody>
        </p:sp>
        <p:sp>
          <p:nvSpPr>
            <p:cNvPr id="10086" name="feedback"/>
            <p:cNvSpPr/>
            <p:nvPr/>
          </p:nvSpPr>
          <p:spPr>
            <ns1:xfrm xmlns:ns1="http://schemas.openxmlformats.org/drawingml/2006/main">
              <ns1:off x="1076325" y="4476750"/>
              <ns1:ext cx="9544050" cy="571500"/>
            </ns1:xfrm>
            <ns2:custGeom xmlns:ns2="http://schemas.openxmlformats.org/drawingml/2006/main">
              <ns2:avLst/>
              <ns2:gdLst/>
              <ns2:ahLst/>
              <ns2:cxnLst/>
              <ns2:rect l="l" t="t" r="r" b="b"/>
              <ns2:pathLst>
                <ns2:path w="1002000" h="60000" fill="none">
                  <ns2:moveTo>
                    <ns2:pt x="1002000" y="0"/>
                  </ns2:moveTo>
                  <ns2:lnTo>
                    <ns2:pt x="1002000" y="60000"/>
                  </ns2:lnTo>
                  <ns2:lnTo>
                    <ns2:pt x="0" y="60000"/>
                  </ns2:lnTo>
                  <ns2:lnTo>
                    <ns2:pt x="0" y="30000"/>
                  </ns2:lnTo>
                </ns2:path>
              </ns2:pathLst>
            </ns2:custGeom>
            <ns3:noFill xmlns:ns3="http://schemas.openxmlformats.org/drawingml/2006/main"/>
            <ns4:ln xmlns:ns4="http://schemas.openxmlformats.org/drawingml/2006/main" w="26000" cap="rnd">
              <ns4:gradFill rotWithShape="1">
                <ns4:gsLst>
                  <ns4:gs pos="0">
                    <ns4:srgbClr val="87A1B1"/>
                  </ns4:gs>
                  <ns4:gs pos="100000">
                    <ns4:srgbClr val="3E6178"/>
                  </ns4:gs>
                </ns4:gsLst>
                <ns4:lin ang="0" scaled="1"/>
              </ns4:gradFill>
              <ns4:tailEnd type="triangle"/>
            </ns4:ln>
            <ns5:effectLst xmlns:ns5="http://schemas.openxmlformats.org/drawingml/2006/main">
              <ns5:outerShdw blurRad="15000" dist="9000" dir="5400000" algn="ctr" rotWithShape="0">
                <ns5:srgbClr val="333333">
                  <ns5:alpha val="12000"/>
                </ns5:srgbClr>
              </ns5:outerShdw>
            </ns5:effectLst>
          </p:spPr>
        </p:sp>
        <p:sp>
          <p:nvSpPr>
            <p:cNvPr id="10087" name="feedback label"/>
            <p:cNvSpPr/>
            <p:nvPr/>
          </p:nvSpPr>
          <p:spPr>
            <ns1:xfrm xmlns:ns1="http://schemas.openxmlformats.org/drawingml/2006/main">
              <ns1:off x="3048000" y="5162550"/>
              <ns1:ext cx="4762500" cy="333375"/>
            </ns1:xfrm>
            <ns2:prstGeom xmlns:ns2="http://schemas.openxmlformats.org/drawingml/2006/main" prst="rect">
              <ns2:avLst/>
            </ns2:prstGeom>
            <ns3:noFill xmlns:ns3="http://schemas.openxmlformats.org/drawingml/2006/main"/>
            <ns4:ln xmlns:ns4="http://schemas.openxmlformats.org/drawingml/2006/main" w="9525" cap="rnd">
              <ns4:noFill/>
            </ns4:ln>
          </p:spPr>
          <p:txBody>
            <ns5:bodyPr xmlns:ns5="http://schemas.openxmlformats.org/drawingml/2006/main" wrap="square" anchor="ctr" lIns="0" rIns="0" tIns="0" bIns="0"/>
            <ns6:lstStyle xmlns:ns6="http://schemas.openxmlformats.org/drawingml/2006/main"/>
            <ns7:p xmlns:ns7="http://schemas.openxmlformats.org/drawingml/2006/main">
              <ns7:pPr algn="ctr"/>
              <ns7:r>
                <ns7:rPr sz="1518" b="1">
                  <ns7:solidFill>
                    <ns7:srgbClr val="222222"/>
                  </ns7:solidFill>
                  <ns7:latin typeface="Arial"/>
                  <ns7:ea typeface="Times New Roman"/>
                </ns7:rPr>
                <ns7:t>Harness: execution, state and feedback</ns7:t>
              </ns7:r>
            </ns7:p>
          </p:txBody>
        </p:sp>
        <p:grpSp>
          <p:nvGrpSpPr>
            <p:cNvPr id="10091" name="target editable icon"/>
            <p:cNvGrpSpPr/>
            <p:nvPr/>
          </p:nvGrpSpPr>
          <p:grpSpPr>
            <ns1:xfrm xmlns:ns1="http://schemas.openxmlformats.org/drawingml/2006/main">
              <ns1:off x="596900" y="5645150"/>
              <ns1:ext cx="254000" cy="254000"/>
              <ns1:chOff x="596900" y="5645150"/>
              <ns1:chExt cx="254000" cy="254000"/>
            </ns1:xfrm>
          </p:grpSpPr>
          <p:sp>
            <p:nvSpPr>
              <p:cNvPr id="10088" name="target-0"/>
              <p:cNvSpPr/>
              <p:nvPr/>
            </p:nvSpPr>
            <p:spPr>
              <ns1:xfrm xmlns:ns1="http://schemas.openxmlformats.org/drawingml/2006/main">
                <ns1:off x="596900" y="5645150"/>
                <ns1:ext cx="254000" cy="254000"/>
              </ns1:xfrm>
              <ns2:prstGeom xmlns:ns2="http://schemas.openxmlformats.org/drawingml/2006/main" prst="ellipse">
                <ns2:avLst/>
              </ns2:prstGeom>
              <ns3:noFill xmlns:ns3="http://schemas.openxmlformats.org/drawingml/2006/main"/>
              <ns5:ln xmlns:ns5="http://schemas.openxmlformats.org/drawingml/2006/main" w="19050" cap="rnd">
                <ns5:solidFill>
                  <ns5:srgbClr val="287EA6"/>
                </ns5:solidFill>
              </ns5:ln>
            </p:spPr>
          </p:sp>
          <p:sp>
            <p:nvSpPr>
              <p:cNvPr id="10089" name="target-1"/>
              <p:cNvSpPr/>
              <p:nvPr/>
            </p:nvSpPr>
            <p:spPr>
              <ns1:xfrm xmlns:ns1="http://schemas.openxmlformats.org/drawingml/2006/main">
                <ns1:off x="647700" y="5695950"/>
                <ns1:ext cx="152400" cy="152400"/>
              </ns1:xfrm>
              <ns2:prstGeom xmlns:ns2="http://schemas.openxmlformats.org/drawingml/2006/main" prst="ellipse">
                <ns2:avLst/>
              </ns2:prstGeom>
              <ns3:noFill xmlns:ns3="http://schemas.openxmlformats.org/drawingml/2006/main"/>
              <ns5:ln xmlns:ns5="http://schemas.openxmlformats.org/drawingml/2006/main" w="19050" cap="rnd">
                <ns5:solidFill>
                  <ns5:srgbClr val="287EA6"/>
                </ns5:solidFill>
              </ns5:ln>
            </p:spPr>
          </p:sp>
          <p:sp>
            <p:nvSpPr>
              <p:cNvPr id="10090" name="target-2"/>
              <p:cNvSpPr/>
              <p:nvPr/>
            </p:nvSpPr>
            <p:spPr>
              <ns1:xfrm xmlns:ns1="http://schemas.openxmlformats.org/drawingml/2006/main">
                <ns1:off x="698500" y="5746750"/>
                <ns1:ext cx="50800" cy="50800"/>
              </ns1:xfrm>
              <ns2:prstGeom xmlns:ns2="http://schemas.openxmlformats.org/drawingml/2006/main" prst="ellipse">
                <ns2:avLst/>
              </ns2:prstGeom>
              <ns3:noFill xmlns:ns3="http://schemas.openxmlformats.org/drawingml/2006/main"/>
              <ns5:ln xmlns:ns5="http://schemas.openxmlformats.org/drawingml/2006/main" w="19050" cap="rnd">
                <ns5:solidFill>
                  <ns5:srgbClr val="287EA6"/>
                </ns5:solidFill>
              </ns5:ln>
            </p:spPr>
          </p:sp>
        </p:grpSp>
        <p:sp>
          <p:nvSpPr>
            <p:cNvPr id="10092" name="Forecast accuracy"/>
            <p:cNvSpPr/>
            <p:nvPr/>
          </p:nvSpPr>
          <p:spPr>
            <ns1:xfrm xmlns:ns1="http://schemas.openxmlformats.org/drawingml/2006/main">
              <ns1:off x="971550" y="5591175"/>
              <ns1:ext cx="2286000" cy="361950"/>
            </ns1:xfrm>
            <ns2:prstGeom xmlns:ns2="http://schemas.openxmlformats.org/drawingml/2006/main" prst="rect">
              <ns2:avLst/>
            </ns2:prstGeom>
            <ns3:noFill xmlns:ns3="http://schemas.openxmlformats.org/drawingml/2006/main"/>
            <ns4:ln xmlns:ns4="http://schemas.openxmlformats.org/drawingml/2006/main" w="9525" cap="rnd">
              <ns4:noFill/>
            </ns4:ln>
          </p:spPr>
          <p:txBody>
            <ns5:bodyPr xmlns:ns5="http://schemas.openxmlformats.org/drawingml/2006/main" wrap="square" anchor="ctr" lIns="0" rIns="0" tIns="0" bIns="0"/>
            <ns6:lstStyle xmlns:ns6="http://schemas.openxmlformats.org/drawingml/2006/main"/>
            <ns7:p xmlns:ns7="http://schemas.openxmlformats.org/drawingml/2006/main">
              <ns7:pPr algn="ctr"/>
              <ns7:r>
                <ns7:rPr sz="1386" b="0">
                  <ns7:solidFill>
                    <ns7:srgbClr val="222222"/>
                  </ns7:solidFill>
                  <ns7:latin typeface="Arial"/>
                  <ns7:ea typeface="Times New Roman"/>
                </ns7:rPr>
                <ns7:t>Forecast accuracy</ns7:t>
              </ns7:r>
            </ns7:p>
          </p:txBody>
        </p:sp>
        <p:grpSp>
          <p:nvGrpSpPr>
            <p:cNvPr id="10099" name="scan-search editable icon"/>
            <p:cNvGrpSpPr/>
            <p:nvPr/>
          </p:nvGrpSpPr>
          <p:grpSpPr>
            <ns1:xfrm xmlns:ns1="http://schemas.openxmlformats.org/drawingml/2006/main">
              <ns1:off x="3381375" y="5619750"/>
              <ns1:ext cx="304800" cy="304800"/>
              <ns1:chOff x="3381375" y="5619750"/>
              <ns1:chExt cx="304800" cy="304800"/>
            </ns1:xfrm>
          </p:grpSpPr>
          <p:sp>
            <p:nvSpPr>
              <p:cNvPr id="10093" name="scan-search-0"/>
              <p:cNvSpPr/>
              <p:nvPr/>
            </p:nvSpPr>
            <p:spPr>
              <ns1:xfrm xmlns:ns1="http://schemas.openxmlformats.org/drawingml/2006/main">
                <ns1:off x="3381375" y="5619750"/>
                <ns1:ext cx="304800" cy="304800"/>
              </ns1:xfrm>
              <ns2:custGeom xmlns:ns2="http://schemas.openxmlformats.org/drawingml/2006/main">
                <ns2:avLst/>
                <ns2:gdLst/>
                <ns2:ahLst/>
                <ns2:cxnLst/>
                <ns2:rect l="l" t="t" r="r" b="b"/>
                <ns2:pathLst>
                  <ns2:path w="24000" h="24000" fill="none">
                    <ns2:moveTo>
                      <ns2:pt x="3000" y="7000"/>
                    </ns2:moveTo>
                    <ns2:lnTo>
                      <ns2:pt x="3000" y="5000"/>
                    </ns2:lnTo>
                    <ns2:cubicBezTo>
                      <ns2:pt x="3000" y="3895"/>
                      <ns2:pt x="3895" y="3000"/>
                      <ns2:pt x="5000" y="3000"/>
                    </ns2:cubicBezTo>
                    <ns2:lnTo>
                      <ns2:pt x="7000" y="3000"/>
                    </ns2:lnTo>
                  </ns2:path>
                </ns2:pathLst>
              </ns2:custGeom>
              <ns3:noFill xmlns:ns3="http://schemas.openxmlformats.org/drawingml/2006/main"/>
              <ns4:ln xmlns:ns4="http://schemas.openxmlformats.org/drawingml/2006/main" w="19050" cap="rnd">
                <ns4:solidFill>
                  <ns4:srgbClr val="287EA6"/>
                </ns4:solidFill>
              </ns4:ln>
            </p:spPr>
          </p:sp>
          <p:sp>
            <p:nvSpPr>
              <p:cNvPr id="10094" name="scan-search-1"/>
              <p:cNvSpPr/>
              <p:nvPr/>
            </p:nvSpPr>
            <p:spPr>
              <ns1:xfrm xmlns:ns1="http://schemas.openxmlformats.org/drawingml/2006/main">
                <ns1:off x="3381375" y="5619750"/>
                <ns1:ext cx="304800" cy="304800"/>
              </ns1:xfrm>
              <ns2:custGeom xmlns:ns2="http://schemas.openxmlformats.org/drawingml/2006/main">
                <ns2:avLst/>
                <ns2:gdLst/>
                <ns2:ahLst/>
                <ns2:cxnLst/>
                <ns2:rect l="l" t="t" r="r" b="b"/>
                <ns2:pathLst>
                  <ns2:path w="24000" h="24000" fill="none">
                    <ns2:moveTo>
                      <ns2:pt x="17000" y="3000"/>
                    </ns2:moveTo>
                    <ns2:lnTo>
                      <ns2:pt x="19000" y="3000"/>
                    </ns2:lnTo>
                    <ns2:cubicBezTo>
                      <ns2:pt x="20105" y="3000"/>
                      <ns2:pt x="21000" y="3895"/>
                      <ns2:pt x="21000" y="5000"/>
                    </ns2:cubicBezTo>
                    <ns2:lnTo>
                      <ns2:pt x="21000" y="7000"/>
                    </ns2:lnTo>
                  </ns2:path>
                </ns2:pathLst>
              </ns2:custGeom>
              <ns3:noFill xmlns:ns3="http://schemas.openxmlformats.org/drawingml/2006/main"/>
              <ns4:ln xmlns:ns4="http://schemas.openxmlformats.org/drawingml/2006/main" w="19050" cap="rnd">
                <ns4:solidFill>
                  <ns4:srgbClr val="287EA6"/>
                </ns4:solidFill>
              </ns4:ln>
            </p:spPr>
          </p:sp>
          <p:sp>
            <p:nvSpPr>
              <p:cNvPr id="10095" name="scan-search-2"/>
              <p:cNvSpPr/>
              <p:nvPr/>
            </p:nvSpPr>
            <p:spPr>
              <ns1:xfrm xmlns:ns1="http://schemas.openxmlformats.org/drawingml/2006/main">
                <ns1:off x="3381375" y="5619750"/>
                <ns1:ext cx="304800" cy="304800"/>
              </ns1:xfrm>
              <ns2:custGeom xmlns:ns2="http://schemas.openxmlformats.org/drawingml/2006/main">
                <ns2:avLst/>
                <ns2:gdLst/>
                <ns2:ahLst/>
                <ns2:cxnLst/>
                <ns2:rect l="l" t="t" r="r" b="b"/>
                <ns2:pathLst>
                  <ns2:path w="24000" h="24000" fill="none">
                    <ns2:moveTo>
                      <ns2:pt x="21000" y="17000"/>
                    </ns2:moveTo>
                    <ns2:lnTo>
                      <ns2:pt x="21000" y="19000"/>
                    </ns2:lnTo>
                    <ns2:cubicBezTo>
                      <ns2:pt x="21000" y="20105"/>
                      <ns2:pt x="20105" y="21000"/>
                      <ns2:pt x="19000" y="21000"/>
                    </ns2:cubicBezTo>
                    <ns2:lnTo>
                      <ns2:pt x="17000" y="21000"/>
                    </ns2:lnTo>
                  </ns2:path>
                </ns2:pathLst>
              </ns2:custGeom>
              <ns3:noFill xmlns:ns3="http://schemas.openxmlformats.org/drawingml/2006/main"/>
              <ns4:ln xmlns:ns4="http://schemas.openxmlformats.org/drawingml/2006/main" w="19050" cap="rnd">
                <ns4:solidFill>
                  <ns4:srgbClr val="287EA6"/>
                </ns4:solidFill>
              </ns4:ln>
            </p:spPr>
          </p:sp>
          <p:sp>
            <p:nvSpPr>
              <p:cNvPr id="10096" name="scan-search-3"/>
              <p:cNvSpPr/>
              <p:nvPr/>
            </p:nvSpPr>
            <p:spPr>
              <ns1:xfrm xmlns:ns1="http://schemas.openxmlformats.org/drawingml/2006/main">
                <ns1:off x="3381375" y="5619750"/>
                <ns1:ext cx="304800" cy="304800"/>
              </ns1:xfrm>
              <ns2:custGeom xmlns:ns2="http://schemas.openxmlformats.org/drawingml/2006/main">
                <ns2:avLst/>
                <ns2:gdLst/>
                <ns2:ahLst/>
                <ns2:cxnLst/>
                <ns2:rect l="l" t="t" r="r" b="b"/>
                <ns2:pathLst>
                  <ns2:path w="24000" h="24000" fill="none">
                    <ns2:moveTo>
                      <ns2:pt x="7000" y="21000"/>
                    </ns2:moveTo>
                    <ns2:lnTo>
                      <ns2:pt x="5000" y="21000"/>
                    </ns2:lnTo>
                    <ns2:cubicBezTo>
                      <ns2:pt x="3895" y="21000"/>
                      <ns2:pt x="3000" y="20105"/>
                      <ns2:pt x="3000" y="19000"/>
                    </ns2:cubicBezTo>
                    <ns2:lnTo>
                      <ns2:pt x="3000" y="17000"/>
                    </ns2:lnTo>
                  </ns2:path>
                </ns2:pathLst>
              </ns2:custGeom>
              <ns3:noFill xmlns:ns3="http://schemas.openxmlformats.org/drawingml/2006/main"/>
              <ns4:ln xmlns:ns4="http://schemas.openxmlformats.org/drawingml/2006/main" w="19050" cap="rnd">
                <ns4:solidFill>
                  <ns4:srgbClr val="287EA6"/>
                </ns4:solidFill>
              </ns4:ln>
            </p:spPr>
          </p:sp>
          <p:sp>
            <p:nvSpPr>
              <p:cNvPr id="10097" name="scan-search-4"/>
              <p:cNvSpPr/>
              <p:nvPr/>
            </p:nvSpPr>
            <p:spPr>
              <ns1:xfrm xmlns:ns1="http://schemas.openxmlformats.org/drawingml/2006/main">
                <ns1:off x="3495675" y="5734050"/>
                <ns1:ext cx="76200" cy="76200"/>
              </ns1:xfrm>
              <ns2:prstGeom xmlns:ns2="http://schemas.openxmlformats.org/drawingml/2006/main" prst="ellipse">
                <ns2:avLst/>
              </ns2:prstGeom>
              <ns3:noFill xmlns:ns3="http://schemas.openxmlformats.org/drawingml/2006/main"/>
              <ns5:ln xmlns:ns5="http://schemas.openxmlformats.org/drawingml/2006/main" w="19050" cap="rnd">
                <ns5:solidFill>
                  <ns5:srgbClr val="287EA6"/>
                </ns5:solidFill>
              </ns5:ln>
            </p:spPr>
          </p:sp>
          <p:sp>
            <p:nvSpPr>
              <p:cNvPr id="10098" name="scan-search-5"/>
              <p:cNvSpPr/>
              <p:nvPr/>
            </p:nvSpPr>
            <p:spPr>
              <ns1:xfrm xmlns:ns1="http://schemas.openxmlformats.org/drawingml/2006/main">
                <ns1:off x="3381375" y="5619750"/>
                <ns1:ext cx="304800" cy="304800"/>
              </ns1:xfrm>
              <ns2:custGeom xmlns:ns2="http://schemas.openxmlformats.org/drawingml/2006/main">
                <ns2:avLst/>
                <ns2:gdLst/>
                <ns2:ahLst/>
                <ns2:cxnLst/>
                <ns2:rect l="l" t="t" r="r" b="b"/>
                <ns2:pathLst>
                  <ns2:path w="24000" h="24000" fill="none">
                    <ns2:moveTo>
                      <ns2:pt x="16000" y="16000"/>
                    </ns2:moveTo>
                    <ns2:lnTo>
                      <ns2:pt x="14100" y="14100"/>
                    </ns2:lnTo>
                  </ns2:path>
                </ns2:pathLst>
              </ns2:custGeom>
              <ns3:noFill xmlns:ns3="http://schemas.openxmlformats.org/drawingml/2006/main"/>
              <ns4:ln xmlns:ns4="http://schemas.openxmlformats.org/drawingml/2006/main" w="19050" cap="rnd">
                <ns4:solidFill>
                  <ns4:srgbClr val="287EA6"/>
                </ns4:solidFill>
              </ns4:ln>
            </p:spPr>
          </p:sp>
        </p:grpSp>
        <p:sp>
          <p:nvSpPr>
            <p:cNvPr id="10100" name="Explanation faithfulness"/>
            <p:cNvSpPr/>
            <p:nvPr/>
          </p:nvSpPr>
          <p:spPr>
            <ns1:xfrm xmlns:ns1="http://schemas.openxmlformats.org/drawingml/2006/main">
              <ns1:off x="3781425" y="5591175"/>
              <ns1:ext cx="2286000" cy="361950"/>
            </ns1:xfrm>
            <ns2:prstGeom xmlns:ns2="http://schemas.openxmlformats.org/drawingml/2006/main" prst="rect">
              <ns2:avLst/>
            </ns2:prstGeom>
            <ns3:noFill xmlns:ns3="http://schemas.openxmlformats.org/drawingml/2006/main"/>
            <ns4:ln xmlns:ns4="http://schemas.openxmlformats.org/drawingml/2006/main" w="9525" cap="rnd">
              <ns4:noFill/>
            </ns4:ln>
          </p:spPr>
          <p:txBody>
            <ns5:bodyPr xmlns:ns5="http://schemas.openxmlformats.org/drawingml/2006/main" wrap="square" anchor="ctr" lIns="0" rIns="0" tIns="0" bIns="0"/>
            <ns6:lstStyle xmlns:ns6="http://schemas.openxmlformats.org/drawingml/2006/main"/>
            <ns7:p xmlns:ns7="http://schemas.openxmlformats.org/drawingml/2006/main">
              <ns7:pPr algn="ctr"/>
              <ns7:r>
                <ns7:rPr sz="1386" b="0">
                  <ns7:solidFill>
                    <ns7:srgbClr val="222222"/>
                  </ns7:solidFill>
                  <ns7:latin typeface="Arial"/>
                  <ns7:ea typeface="Times New Roman"/>
                </ns7:rPr>
                <ns7:t>Explanation faithfulness</ns7:t>
              </ns7:r>
            </ns7:p>
          </p:txBody>
        </p:sp>
        <p:grpSp>
          <p:nvGrpSpPr>
            <p:cNvPr id="10103" name="book-open editable icon"/>
            <p:cNvGrpSpPr/>
            <p:nvPr/>
          </p:nvGrpSpPr>
          <p:grpSpPr>
            <ns1:xfrm xmlns:ns1="http://schemas.openxmlformats.org/drawingml/2006/main">
              <ns1:off x="6286500" y="5619750"/>
              <ns1:ext cx="304800" cy="304800"/>
              <ns1:chOff x="6286500" y="5619750"/>
              <ns1:chExt cx="304800" cy="304800"/>
            </ns1:xfrm>
          </p:grpSpPr>
          <p:sp>
            <p:nvSpPr>
              <p:cNvPr id="10101" name="book-open-0"/>
              <p:cNvSpPr/>
              <p:nvPr/>
            </p:nvSpPr>
            <p:spPr>
              <ns1:xfrm xmlns:ns1="http://schemas.openxmlformats.org/drawingml/2006/main">
                <ns1:off x="6286500" y="5619750"/>
                <ns1:ext cx="304800" cy="304800"/>
              </ns1:xfrm>
              <ns2:custGeom xmlns:ns2="http://schemas.openxmlformats.org/drawingml/2006/main">
                <ns2:avLst/>
                <ns2:gdLst/>
                <ns2:ahLst/>
                <ns2:cxnLst/>
                <ns2:rect l="l" t="t" r="r" b="b"/>
                <ns2:pathLst>
                  <ns2:path w="24000" h="24000" fill="none">
                    <ns2:moveTo>
                      <ns2:pt x="12000" y="5000"/>
                    </ns2:moveTo>
                    <ns2:lnTo>
                      <ns2:pt x="12000" y="21000"/>
                    </ns2:lnTo>
                  </ns2:path>
                </ns2:pathLst>
              </ns2:custGeom>
              <ns3:noFill xmlns:ns3="http://schemas.openxmlformats.org/drawingml/2006/main"/>
              <ns4:ln xmlns:ns4="http://schemas.openxmlformats.org/drawingml/2006/main" w="19050" cap="rnd">
                <ns4:solidFill>
                  <ns4:srgbClr val="287EA6"/>
                </ns4:solidFill>
              </ns4:ln>
            </p:spPr>
          </p:sp>
          <p:sp>
            <p:nvSpPr>
              <p:cNvPr id="10102" name="book-open-1"/>
              <p:cNvSpPr/>
              <p:nvPr/>
            </p:nvSpPr>
            <p:spPr>
              <ns1:xfrm xmlns:ns1="http://schemas.openxmlformats.org/drawingml/2006/main">
                <ns1:off x="6286500" y="5619750"/>
                <ns1:ext cx="304800" cy="304800"/>
              </ns1:xfrm>
              <ns2:custGeom xmlns:ns2="http://schemas.openxmlformats.org/drawingml/2006/main">
                <ns2:avLst/>
                <ns2:gdLst/>
                <ns2:ahLst/>
                <ns2:cxnLst/>
                <ns2:rect l="l" t="t" r="r" b="b"/>
                <ns2:pathLst>
                  <ns2:path w="24000" h="24000" fill="none">
                    <ns2:moveTo>
                      <ns2:pt x="20001" y="19000"/>
                    </ns2:moveTo>
                    <ns2:cubicBezTo>
                      <ns2:pt x="21105" y="18999"/>
                      <ns2:pt x="22000" y="18104"/>
                      <ns2:pt x="22000" y="17000"/>
                    </ns2:cubicBezTo>
                    <ns2:lnTo>
                      <ns2:pt x="22000" y="5000"/>
                    </ns2:lnTo>
                    <ns2:cubicBezTo>
                      <ns2:pt x="22000" y="3896"/>
                      <ns2:pt x="21105" y="3001"/>
                      <ns2:pt x="20001" y="3000"/>
                    </ns2:cubicBezTo>
                    <ns2:lnTo>
                      <ns2:pt x="16000" y="3002"/>
                    </ns2:lnTo>
                    <ns2:cubicBezTo>
                      <ns2:pt x="14427" y="3002"/>
                      <ns2:pt x="12945" y="3742"/>
                      <ns2:pt x="12000" y="5000"/>
                    </ns2:cubicBezTo>
                    <ns2:cubicBezTo>
                      <ns2:pt x="11056" y="3741"/>
                      <ns2:pt x="9574" y="3000"/>
                      <ns2:pt x="8000" y="3000"/>
                    </ns2:cubicBezTo>
                    <ns2:lnTo>
                      <ns2:pt x="4000" y="3000"/>
                    </ns2:lnTo>
                    <ns2:cubicBezTo>
                      <ns2:pt x="2895" y="3000"/>
                      <ns2:pt x="2000" y="3895"/>
                      <ns2:pt x="2000" y="5000"/>
                    </ns2:cubicBezTo>
                    <ns2:lnTo>
                      <ns2:pt x="2000" y="17000"/>
                    </ns2:lnTo>
                    <ns2:cubicBezTo>
                      <ns2:pt x="2000" y="18104"/>
                      <ns2:pt x="2895" y="18999"/>
                      <ns2:pt x="3999" y="19000"/>
                    </ns2:cubicBezTo>
                    <ns2:lnTo>
                      <ns2:pt x="8000" y="19000"/>
                    </ns2:lnTo>
                    <ns2:cubicBezTo>
                      <ns2:pt x="9574" y="19000"/>
                      <ns2:pt x="11056" y="19741"/>
                      <ns2:pt x="12000" y="21000"/>
                    </ns2:cubicBezTo>
                    <ns2:cubicBezTo>
                      <ns2:pt x="12944" y="19741"/>
                      <ns2:pt x="14426" y="19000"/>
                      <ns2:pt x="16000" y="19000"/>
                    </ns2:cubicBezTo>
                    <ns2:lnTo>
                      <ns2:pt x="20001" y="19000"/>
                    </ns2:lnTo>
                    <ns2:close/>
                  </ns2:path>
                </ns2:pathLst>
              </ns2:custGeom>
              <ns3:noFill xmlns:ns3="http://schemas.openxmlformats.org/drawingml/2006/main"/>
              <ns4:ln xmlns:ns4="http://schemas.openxmlformats.org/drawingml/2006/main" w="19050" cap="rnd">
                <ns4:solidFill>
                  <ns4:srgbClr val="287EA6"/>
                </ns4:solidFill>
              </ns4:ln>
            </p:spPr>
          </p:sp>
        </p:grpSp>
        <p:sp>
          <p:nvSpPr>
            <p:cNvPr id="10104" name="Evidence grounding"/>
            <p:cNvSpPr/>
            <p:nvPr/>
          </p:nvSpPr>
          <p:spPr>
            <ns1:xfrm xmlns:ns1="http://schemas.openxmlformats.org/drawingml/2006/main">
              <ns1:off x="6686550" y="5591175"/>
              <ns1:ext cx="2286000" cy="361950"/>
            </ns1:xfrm>
            <ns2:prstGeom xmlns:ns2="http://schemas.openxmlformats.org/drawingml/2006/main" prst="rect">
              <ns2:avLst/>
            </ns2:prstGeom>
            <ns3:noFill xmlns:ns3="http://schemas.openxmlformats.org/drawingml/2006/main"/>
            <ns4:ln xmlns:ns4="http://schemas.openxmlformats.org/drawingml/2006/main" w="9525" cap="rnd">
              <ns4:noFill/>
            </ns4:ln>
          </p:spPr>
          <p:txBody>
            <ns5:bodyPr xmlns:ns5="http://schemas.openxmlformats.org/drawingml/2006/main" wrap="square" anchor="ctr" lIns="0" rIns="0" tIns="0" bIns="0"/>
            <ns6:lstStyle xmlns:ns6="http://schemas.openxmlformats.org/drawingml/2006/main"/>
            <ns7:p xmlns:ns7="http://schemas.openxmlformats.org/drawingml/2006/main">
              <ns7:pPr algn="ctr"/>
              <ns7:r>
                <ns7:rPr sz="1386" b="0">
                  <ns7:solidFill>
                    <ns7:srgbClr val="222222"/>
                  </ns7:solidFill>
                  <ns7:latin typeface="Arial"/>
                  <ns7:ea typeface="Times New Roman"/>
                </ns7:rPr>
                <ns7:t>Evidence grounding</ns7:t>
              </ns7:r>
            </ns7:p>
          </p:txBody>
        </p:sp>
        <p:grpSp>
          <p:nvGrpSpPr>
            <p:cNvPr id="10107" name="circle-check editable icon"/>
            <p:cNvGrpSpPr/>
            <p:nvPr/>
          </p:nvGrpSpPr>
          <p:grpSpPr>
            <ns1:xfrm xmlns:ns1="http://schemas.openxmlformats.org/drawingml/2006/main">
              <ns1:off x="9001125" y="5619750"/>
              <ns1:ext cx="304800" cy="304800"/>
              <ns1:chOff x="9001125" y="5619750"/>
              <ns1:chExt cx="304800" cy="304800"/>
            </ns1:xfrm>
          </p:grpSpPr>
          <p:sp>
            <p:nvSpPr>
              <p:cNvPr id="10105" name="circle-check-0"/>
              <p:cNvSpPr/>
              <p:nvPr/>
            </p:nvSpPr>
            <p:spPr>
              <ns1:xfrm xmlns:ns1="http://schemas.openxmlformats.org/drawingml/2006/main">
                <ns1:off x="9026525" y="5645150"/>
                <ns1:ext cx="254000" cy="254000"/>
              </ns1:xfrm>
              <ns2:prstGeom xmlns:ns2="http://schemas.openxmlformats.org/drawingml/2006/main" prst="ellipse">
                <ns2:avLst/>
              </ns2:prstGeom>
              <ns3:noFill xmlns:ns3="http://schemas.openxmlformats.org/drawingml/2006/main"/>
              <ns5:ln xmlns:ns5="http://schemas.openxmlformats.org/drawingml/2006/main" w="19050" cap="rnd">
                <ns5:solidFill>
                  <ns5:srgbClr val="258B79"/>
                </ns5:solidFill>
              </ns5:ln>
            </p:spPr>
          </p:sp>
          <p:sp>
            <p:nvSpPr>
              <p:cNvPr id="10106" name="circle-check-1"/>
              <p:cNvSpPr/>
              <p:nvPr/>
            </p:nvSpPr>
            <p:spPr>
              <ns1:xfrm xmlns:ns1="http://schemas.openxmlformats.org/drawingml/2006/main">
                <ns1:off x="9001125" y="5619750"/>
                <ns1:ext cx="304800" cy="304800"/>
              </ns1:xfrm>
              <ns2:custGeom xmlns:ns2="http://schemas.openxmlformats.org/drawingml/2006/main">
                <ns2:avLst/>
                <ns2:gdLst/>
                <ns2:ahLst/>
                <ns2:cxnLst/>
                <ns2:rect l="l" t="t" r="r" b="b"/>
                <ns2:pathLst>
                  <ns2:path w="24000" h="24000" fill="none">
                    <ns2:moveTo>
                      <ns2:pt x="16000" y="9000"/>
                    </ns2:moveTo>
                    <ns2:lnTo>
                      <ns2:pt x="10500" y="14500"/>
                    </ns2:lnTo>
                    <ns2:lnTo>
                      <ns2:pt x="8000" y="12000"/>
                    </ns2:lnTo>
                  </ns2:path>
                </ns2:pathLst>
              </ns2:custGeom>
              <ns3:noFill xmlns:ns3="http://schemas.openxmlformats.org/drawingml/2006/main"/>
              <ns4:ln xmlns:ns4="http://schemas.openxmlformats.org/drawingml/2006/main" w="19050" cap="rnd">
                <ns4:solidFill>
                  <ns4:srgbClr val="258B79"/>
                </ns4:solidFill>
              </ns4:ln>
            </p:spPr>
          </p:sp>
        </p:grpSp>
        <p:sp>
          <p:nvSpPr>
            <p:cNvPr id="10108" name="Action quality"/>
            <p:cNvSpPr/>
            <p:nvPr/>
          </p:nvSpPr>
          <p:spPr>
            <ns1:xfrm xmlns:ns1="http://schemas.openxmlformats.org/drawingml/2006/main">
              <ns1:off x="9401175" y="5591175"/>
              <ns1:ext cx="2286000" cy="361950"/>
            </ns1:xfrm>
            <ns2:prstGeom xmlns:ns2="http://schemas.openxmlformats.org/drawingml/2006/main" prst="rect">
              <ns2:avLst/>
            </ns2:prstGeom>
            <ns3:noFill xmlns:ns3="http://schemas.openxmlformats.org/drawingml/2006/main"/>
            <ns4:ln xmlns:ns4="http://schemas.openxmlformats.org/drawingml/2006/main" w="9525" cap="rnd">
              <ns4:noFill/>
            </ns4:ln>
          </p:spPr>
          <p:txBody>
            <ns5:bodyPr xmlns:ns5="http://schemas.openxmlformats.org/drawingml/2006/main" wrap="square" anchor="ctr" lIns="0" rIns="0" tIns="0" bIns="0"/>
            <ns6:lstStyle xmlns:ns6="http://schemas.openxmlformats.org/drawingml/2006/main"/>
            <ns7:p xmlns:ns7="http://schemas.openxmlformats.org/drawingml/2006/main">
              <ns7:pPr algn="ctr"/>
              <ns7:r>
                <ns7:rPr sz="1386" b="0">
                  <ns7:solidFill>
                    <ns7:srgbClr val="222222"/>
                  </ns7:solidFill>
                  <ns7:latin typeface="Arial"/>
                  <ns7:ea typeface="Times New Roman"/>
                </ns7:rPr>
                <ns7:t>Action quality</ns7:t>
              </ns7:r>
            </ns7:p>
          </p:txBody>
        </p:sp>
      </p:grpSp>
    </p:spTree>
    <p:extLst>
      <p:ext uri="{BB962C8B-B14F-4D97-AF65-F5344CB8AC3E}">
        <p14:creationId xmlns:p14="http://schemas.microsoft.com/office/powerpoint/2010/main" val="10576137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2026-10-19T05:54:47.7050000Z</dcterms:created>
  <dcterms:modified xsi:type="dcterms:W3CDTF">2026-10-19T05:54:47.7050000Z</dcterms:modified>
</coreProperties>
</file>