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801600" cy="59893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92608"/>
            <a:ext cx="1325880" cy="822960"/>
          </a:xfrm>
          <a:prstGeom prst="rect">
            <a:avLst/>
          </a:prstGeom>
          <a:noFill/>
        </p:spPr>
        <p:txBody>
          <a:bodyPr wrap="square" anchor="ctr" lIns="128016" rIns="128016" tIns="54864" bIns="54864">
            <a:spAutoFit/>
          </a:bodyPr>
          <a:lstStyle/>
          <a:p>
            <a:pPr algn="l"/>
            <a:r>
              <a:rPr sz="1450" b="1">
                <a:solidFill>
                  <a:srgbClr val="5C5C5C"/>
                </a:solidFill>
                <a:latin typeface="Times New Roman"/>
              </a:rPr>
              <a:t>Foundations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00200" y="274320"/>
            <a:ext cx="4846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850" b="1">
                <a:solidFill>
                  <a:srgbClr val="6B6B6B"/>
                </a:solidFill>
                <a:latin typeface="Times New Roman"/>
              </a:rPr>
              <a:t>§1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Introduction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construction question · taxonomy ·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18488" y="384048"/>
            <a:ext cx="64008" cy="64922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29400" y="274320"/>
            <a:ext cx="5897879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850" b="1">
                <a:solidFill>
                  <a:srgbClr val="6B6B6B"/>
                </a:solidFill>
                <a:latin typeface="Times New Roman"/>
              </a:rPr>
              <a:t>§2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What Is a Time Series Agent?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definition · scope of inclusion · layer assignment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7688" y="384048"/>
            <a:ext cx="64008" cy="64922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74320" y="1325880"/>
            <a:ext cx="12252960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" y="2286000"/>
            <a:ext cx="1325880" cy="822960"/>
          </a:xfrm>
          <a:prstGeom prst="rect">
            <a:avLst/>
          </a:prstGeom>
          <a:noFill/>
        </p:spPr>
        <p:txBody>
          <a:bodyPr wrap="square" anchor="ctr" lIns="128016" rIns="128016" tIns="54864" bIns="54864">
            <a:spAutoFit/>
          </a:bodyPr>
          <a:lstStyle/>
          <a:p>
            <a:pPr algn="l"/>
            <a:r>
              <a:rPr sz="1450" b="1">
                <a:solidFill>
                  <a:srgbClr val="5C5C5C"/>
                </a:solidFill>
                <a:latin typeface="Times New Roman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417320"/>
            <a:ext cx="2468880" cy="365760"/>
          </a:xfrm>
          <a:prstGeom prst="rect">
            <a:avLst/>
          </a:prstGeom>
          <a:noFill/>
        </p:spPr>
        <p:txBody>
          <a:bodyPr wrap="square" anchor="ctr" lIns="128016" rIns="128016" tIns="54864" bIns="54864">
            <a:spAutoFit/>
          </a:bodyPr>
          <a:lstStyle/>
          <a:p>
            <a:pPr algn="l"/>
            <a:r>
              <a:rPr sz="1450" b="1">
                <a:solidFill>
                  <a:srgbClr val="5C5C5C"/>
                </a:solidFill>
                <a:latin typeface="Times New Roman"/>
              </a:rPr>
              <a:t>LLMs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5384" y="1417320"/>
            <a:ext cx="8183879" cy="365760"/>
          </a:xfrm>
          <a:prstGeom prst="rect">
            <a:avLst/>
          </a:prstGeom>
          <a:noFill/>
        </p:spPr>
        <p:txBody>
          <a:bodyPr wrap="square" anchor="ctr" lIns="128016" rIns="128016" tIns="54864" bIns="54864">
            <a:spAutoFit/>
          </a:bodyPr>
          <a:lstStyle/>
          <a:p>
            <a:pPr algn="l"/>
            <a:r>
              <a:rPr sz="1450" b="1">
                <a:solidFill>
                  <a:srgbClr val="5C5C5C"/>
                </a:solidFill>
                <a:latin typeface="Times New Roman"/>
              </a:rPr>
              <a:t>Harness architectures, from general to specific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1828800"/>
            <a:ext cx="2468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A0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/>
            <a:r>
              <a:rPr sz="1850" b="1">
                <a:solidFill>
                  <a:srgbClr val="E8A033"/>
                </a:solidFill>
                <a:latin typeface="Times New Roman"/>
              </a:rPr>
              <a:t>§3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LLM-Side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temporal representation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instruction and reasoning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workflow learning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8488" y="1938528"/>
            <a:ext cx="64008" cy="1563624"/>
          </a:xfrm>
          <a:prstGeom prst="rect">
            <a:avLst/>
          </a:prstGeom>
          <a:solidFill>
            <a:srgbClr val="E8A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26974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3A53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/>
            <a:r>
              <a:rPr sz="1850" b="1">
                <a:solidFill>
                  <a:srgbClr val="3A5398"/>
                </a:solidFill>
                <a:latin typeface="Times New Roman"/>
              </a:rPr>
              <a:t>§4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General Harness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interface and interaction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memory and context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tools and execution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planning and orchestration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optimization and evolution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1938528"/>
            <a:ext cx="64008" cy="1563624"/>
          </a:xfrm>
          <a:prstGeom prst="rect">
            <a:avLst/>
          </a:prstGeom>
          <a:solidFill>
            <a:srgbClr val="3A5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88352" y="1828800"/>
            <a:ext cx="24231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A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/>
            <a:r>
              <a:rPr sz="1850" b="1">
                <a:solidFill>
                  <a:srgbClr val="00A087"/>
                </a:solidFill>
                <a:latin typeface="Times New Roman"/>
              </a:rPr>
              <a:t>§5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General Time Series Harness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data management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temporal processing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context and memory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temporal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938528"/>
            <a:ext cx="64008" cy="1563624"/>
          </a:xfrm>
          <a:prstGeom prst="rect">
            <a:avLst/>
          </a:prstGeom>
          <a:solidFill>
            <a:srgbClr val="00A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58984" y="1828800"/>
            <a:ext cx="2368295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4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/>
            <a:r>
              <a:rPr sz="1850" b="1">
                <a:solidFill>
                  <a:srgbClr val="E64B35"/>
                </a:solidFill>
                <a:latin typeface="Times New Roman"/>
              </a:rPr>
              <a:t>§6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Task-Specific Harness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forecasting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synthesis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anomaly diagnosis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decision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77272" y="1938528"/>
            <a:ext cx="64008" cy="1563624"/>
          </a:xfrm>
          <a:prstGeom prst="rect">
            <a:avLst/>
          </a:prstGeom>
          <a:solidFill>
            <a:srgbClr val="E6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077456" y="2720340"/>
            <a:ext cx="27432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48088" y="2720340"/>
            <a:ext cx="27432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74320" y="3794760"/>
            <a:ext cx="12252960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4320" y="3931920"/>
            <a:ext cx="1325880" cy="822960"/>
          </a:xfrm>
          <a:prstGeom prst="rect">
            <a:avLst/>
          </a:prstGeom>
          <a:noFill/>
        </p:spPr>
        <p:txBody>
          <a:bodyPr wrap="square" anchor="ctr" lIns="128016" rIns="128016" tIns="54864" bIns="54864">
            <a:spAutoFit/>
          </a:bodyPr>
          <a:lstStyle/>
          <a:p>
            <a:pPr algn="l"/>
            <a:r>
              <a:rPr sz="1450" b="1">
                <a:solidFill>
                  <a:srgbClr val="5C5C5C"/>
                </a:solidFill>
                <a:latin typeface="Times New Roman"/>
              </a:rPr>
              <a:t>Evaluation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0200" y="3913632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850" b="1">
                <a:solidFill>
                  <a:srgbClr val="6B6B6B"/>
                </a:solidFill>
                <a:latin typeface="Times New Roman"/>
              </a:rPr>
              <a:t>§7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Infrastructure and Benchmarks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evaluation contract · benchmark landscape · temporal question answering · reproducible infrastructure · benchmark selection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8488" y="4023360"/>
            <a:ext cx="64008" cy="55778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274320" y="4873752"/>
            <a:ext cx="12252960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4320" y="5029200"/>
            <a:ext cx="1325880" cy="822960"/>
          </a:xfrm>
          <a:prstGeom prst="rect">
            <a:avLst/>
          </a:prstGeom>
          <a:noFill/>
        </p:spPr>
        <p:txBody>
          <a:bodyPr wrap="square" anchor="ctr" lIns="128016" rIns="128016" tIns="54864" bIns="54864">
            <a:spAutoFit/>
          </a:bodyPr>
          <a:lstStyle/>
          <a:p>
            <a:pPr algn="l"/>
            <a:r>
              <a:rPr sz="1450" b="1">
                <a:solidFill>
                  <a:srgbClr val="5C5C5C"/>
                </a:solidFill>
                <a:latin typeface="Times New Roman"/>
              </a:rPr>
              <a:t>Outlook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00200" y="5010912"/>
            <a:ext cx="60350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850" b="1">
                <a:solidFill>
                  <a:srgbClr val="6B6B6B"/>
                </a:solidFill>
                <a:latin typeface="Times New Roman"/>
              </a:rPr>
              <a:t>§8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Open Problems and System Analyses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reusable temporal infrastructure · open problems · design implications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18488" y="5120640"/>
            <a:ext cx="64008" cy="55778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18120" y="5010912"/>
            <a:ext cx="4709159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850" b="1">
                <a:solidFill>
                  <a:srgbClr val="6B6B6B"/>
                </a:solidFill>
                <a:latin typeface="Times New Roman"/>
              </a:rPr>
              <a:t>§9  </a:t>
            </a:r>
            <a:r>
              <a:rPr sz="1850" b="1">
                <a:solidFill>
                  <a:srgbClr val="222222"/>
                </a:solidFill>
                <a:latin typeface="Times New Roman"/>
              </a:rPr>
              <a:t>Conclusion</a:t>
            </a:r>
          </a:p>
          <a:p>
            <a:pPr algn="l"/>
            <a:r>
              <a:rPr sz="1450" b="0">
                <a:solidFill>
                  <a:srgbClr val="5C5C5C"/>
                </a:solidFill>
                <a:latin typeface="Times New Roman"/>
              </a:rPr>
              <a:t>design judgments · alignment of the three parts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6408" y="5120640"/>
            <a:ext cx="64008" cy="55778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