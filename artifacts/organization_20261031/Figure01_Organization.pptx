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030200" cy="434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4B63"/>
                </a:solidFill>
                <a:latin typeface="Comic Sans MS"/>
              </a:rPr>
              <a:t>Define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868680"/>
            <a:ext cx="2286000" cy="1143000"/>
          </a:xfrm>
          <a:prstGeom prst="roundRect">
            <a:avLst>
              <a:gd name="adj" fmla="val 12000"/>
            </a:avLst>
          </a:prstGeom>
          <a:solidFill>
            <a:srgbClr val="F1F1EE"/>
          </a:solidFill>
          <a:ln w="25400">
            <a:solidFill>
              <a:srgbClr val="304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04B63"/>
                </a:solidFill>
                <a:latin typeface="Comic Sans MS"/>
              </a:rPr>
              <a:t>§ 1</a:t>
            </a:r>
          </a:p>
          <a:p>
            <a:pPr algn="ctr"/>
            <a:r>
              <a:rPr sz="1700" b="1">
                <a:solidFill>
                  <a:srgbClr val="1F1F1F"/>
                </a:solidFill>
                <a:latin typeface="Comic Sans MS"/>
              </a:rP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240280"/>
            <a:ext cx="2286000" cy="1280160"/>
          </a:xfrm>
          <a:prstGeom prst="roundRect">
            <a:avLst>
              <a:gd name="adj" fmla="val 12000"/>
            </a:avLst>
          </a:prstGeom>
          <a:solidFill>
            <a:srgbClr val="F1F1EE"/>
          </a:solidFill>
          <a:ln w="25400">
            <a:solidFill>
              <a:srgbClr val="304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04B63"/>
                </a:solidFill>
                <a:latin typeface="Comic Sans MS"/>
              </a:rPr>
              <a:t>§ 2</a:t>
            </a:r>
          </a:p>
          <a:p>
            <a:pPr algn="ctr"/>
            <a:r>
              <a:rPr sz="1700" b="1">
                <a:solidFill>
                  <a:srgbClr val="1F1F1F"/>
                </a:solidFill>
                <a:latin typeface="Comic Sans MS"/>
              </a:rPr>
              <a:t>What Is a Time Series Agent?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228600"/>
            <a:ext cx="5166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4B63"/>
                </a:solidFill>
                <a:latin typeface="Comic Sans MS"/>
              </a:rPr>
              <a:t>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868680"/>
            <a:ext cx="1325880" cy="2651760"/>
          </a:xfrm>
          <a:prstGeom prst="roundRect">
            <a:avLst>
              <a:gd name="adj" fmla="val 12000"/>
            </a:avLst>
          </a:prstGeom>
          <a:solidFill>
            <a:srgbClr val="FBF0DA"/>
          </a:solidFill>
          <a:ln w="25400">
            <a:solidFill>
              <a:srgbClr val="E8A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8A033"/>
                </a:solidFill>
                <a:latin typeface="Comic Sans MS"/>
              </a:rPr>
              <a:t>§ 3</a:t>
            </a:r>
          </a:p>
          <a:p>
            <a:pPr algn="ctr"/>
            <a:r>
              <a:rPr sz="1700" b="1">
                <a:solidFill>
                  <a:srgbClr val="1F1F1F"/>
                </a:solidFill>
                <a:latin typeface="Comic Sans MS"/>
              </a:rPr>
              <a:t>LLM 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868680"/>
            <a:ext cx="3246120" cy="749808"/>
          </a:xfrm>
          <a:prstGeom prst="roundRect">
            <a:avLst>
              <a:gd name="adj" fmla="val 12000"/>
            </a:avLst>
          </a:prstGeom>
          <a:solidFill>
            <a:srgbClr val="E5EAF4"/>
          </a:solidFill>
          <a:ln w="25400">
            <a:solidFill>
              <a:srgbClr val="3A53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A5398"/>
                </a:solidFill>
                <a:latin typeface="Comic Sans MS"/>
              </a:rPr>
              <a:t>§ 4  </a:t>
            </a:r>
            <a:r>
              <a:rPr sz="1700" b="1">
                <a:solidFill>
                  <a:srgbClr val="1F1F1F"/>
                </a:solidFill>
                <a:latin typeface="Comic Sans MS"/>
              </a:rPr>
              <a:t>General Harness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19656"/>
            <a:ext cx="3246120" cy="749808"/>
          </a:xfrm>
          <a:prstGeom prst="roundRect">
            <a:avLst>
              <a:gd name="adj" fmla="val 12000"/>
            </a:avLst>
          </a:prstGeom>
          <a:solidFill>
            <a:srgbClr val="DDF2EC"/>
          </a:solidFill>
          <a:ln w="25400">
            <a:solidFill>
              <a:srgbClr val="00A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0A087"/>
                </a:solidFill>
                <a:latin typeface="Comic Sans MS"/>
              </a:rPr>
              <a:t>§ 5  </a:t>
            </a:r>
            <a:r>
              <a:rPr sz="1700" b="1">
                <a:solidFill>
                  <a:srgbClr val="1F1F1F"/>
                </a:solidFill>
                <a:latin typeface="Comic Sans MS"/>
              </a:rPr>
              <a:t>General Time Series Harness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770632"/>
            <a:ext cx="3246120" cy="749808"/>
          </a:xfrm>
          <a:prstGeom prst="roundRect">
            <a:avLst>
              <a:gd name="adj" fmla="val 12000"/>
            </a:avLst>
          </a:prstGeom>
          <a:solidFill>
            <a:srgbClr val="FBE5E0"/>
          </a:solidFill>
          <a:ln w="25400">
            <a:solidFill>
              <a:srgbClr val="E64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64B35"/>
                </a:solidFill>
                <a:latin typeface="Comic Sans MS"/>
              </a:rPr>
              <a:t>§ 6  </a:t>
            </a:r>
            <a:r>
              <a:rPr sz="1700" b="1">
                <a:solidFill>
                  <a:srgbClr val="1F1F1F"/>
                </a:solidFill>
                <a:latin typeface="Comic Sans MS"/>
              </a:rPr>
              <a:t>Task-Specific Harness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73568" y="960120"/>
            <a:ext cx="0" cy="2468880"/>
          </a:xfrm>
          <a:prstGeom prst="line">
            <a:avLst/>
          </a:prstGeom>
          <a:ln w="19050">
            <a:solidFill>
              <a:srgbClr val="767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5400000">
            <a:off x="7269480" y="20391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767670"/>
                </a:solidFill>
                <a:latin typeface="Arial"/>
              </a:rPr>
              <a:t>general to specific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2860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4B63"/>
                </a:solidFill>
                <a:latin typeface="Comic Sans MS"/>
              </a:rPr>
              <a:t>Evaluate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7160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1F1EE"/>
          </a:solidFill>
          <a:ln w="25400">
            <a:solidFill>
              <a:srgbClr val="304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04B63"/>
                </a:solidFill>
                <a:latin typeface="Comic Sans MS"/>
              </a:rPr>
              <a:t>§ 7</a:t>
            </a:r>
          </a:p>
          <a:p>
            <a:pPr algn="ctr"/>
            <a:r>
              <a:rPr sz="1700" b="1">
                <a:solidFill>
                  <a:srgbClr val="1F1F1F"/>
                </a:solidFill>
                <a:latin typeface="Comic Sans MS"/>
              </a:rPr>
              <a:t>Infrastructure and Benchmarks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22860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4B63"/>
                </a:solidFill>
                <a:latin typeface="Comic Sans MS"/>
              </a:rPr>
              <a:t>Advance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247120" y="868680"/>
            <a:ext cx="1463040" cy="1143000"/>
          </a:xfrm>
          <a:prstGeom prst="roundRect">
            <a:avLst>
              <a:gd name="adj" fmla="val 12000"/>
            </a:avLst>
          </a:prstGeom>
          <a:solidFill>
            <a:srgbClr val="F1F1EE"/>
          </a:solidFill>
          <a:ln w="25400">
            <a:solidFill>
              <a:srgbClr val="304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04B63"/>
                </a:solidFill>
                <a:latin typeface="Comic Sans MS"/>
              </a:rPr>
              <a:t>§ 8</a:t>
            </a:r>
          </a:p>
          <a:p>
            <a:pPr algn="ctr"/>
            <a:r>
              <a:rPr sz="1700" b="1">
                <a:solidFill>
                  <a:srgbClr val="1F1F1F"/>
                </a:solidFill>
                <a:latin typeface="Comic Sans MS"/>
              </a:rPr>
              <a:t>Open Problems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47120" y="2377440"/>
            <a:ext cx="1463040" cy="1143000"/>
          </a:xfrm>
          <a:prstGeom prst="roundRect">
            <a:avLst>
              <a:gd name="adj" fmla="val 12000"/>
            </a:avLst>
          </a:prstGeom>
          <a:solidFill>
            <a:srgbClr val="F1F1EE"/>
          </a:solidFill>
          <a:ln w="25400">
            <a:solidFill>
              <a:srgbClr val="304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04B63"/>
                </a:solidFill>
                <a:latin typeface="Comic Sans MS"/>
              </a:rPr>
              <a:t>§ 9</a:t>
            </a:r>
          </a:p>
          <a:p>
            <a:pPr algn="ctr"/>
            <a:r>
              <a:rPr sz="1700" b="1">
                <a:solidFill>
                  <a:srgbClr val="1F1F1F"/>
                </a:solidFill>
                <a:latin typeface="Comic Sans MS"/>
              </a:rPr>
              <a:t>Conclusion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3472" y="2194560"/>
            <a:ext cx="384048" cy="0"/>
          </a:xfrm>
          <a:prstGeom prst="line">
            <a:avLst/>
          </a:prstGeom>
          <a:ln w="28575">
            <a:solidFill>
              <a:srgbClr val="304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66760" y="2194560"/>
            <a:ext cx="411480" cy="0"/>
          </a:xfrm>
          <a:prstGeom prst="line">
            <a:avLst/>
          </a:prstGeom>
          <a:ln w="28575">
            <a:solidFill>
              <a:srgbClr val="304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89920" y="2194560"/>
            <a:ext cx="411480" cy="0"/>
          </a:xfrm>
          <a:prstGeom prst="line">
            <a:avLst/>
          </a:prstGeom>
          <a:ln w="28575">
            <a:solidFill>
              <a:srgbClr val="304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84080" y="3035808"/>
            <a:ext cx="0" cy="914400"/>
          </a:xfrm>
          <a:prstGeom prst="line">
            <a:avLst/>
          </a:prstGeom>
          <a:ln w="19050">
            <a:solidFill>
              <a:srgbClr val="7676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144768" y="3950208"/>
            <a:ext cx="3639312" cy="0"/>
          </a:xfrm>
          <a:prstGeom prst="line">
            <a:avLst/>
          </a:prstGeom>
          <a:ln w="19050">
            <a:solidFill>
              <a:srgbClr val="7676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144768" y="3557016"/>
            <a:ext cx="0" cy="393192"/>
          </a:xfrm>
          <a:prstGeom prst="line">
            <a:avLst/>
          </a:prstGeom>
          <a:ln w="19050">
            <a:solidFill>
              <a:srgbClr val="76767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03720" y="3931920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767670"/>
                </a:solidFill>
                <a:latin typeface="Arial"/>
              </a:rPr>
              <a:t>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