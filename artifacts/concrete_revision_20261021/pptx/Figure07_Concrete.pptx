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e2c0c480074515" /><Relationship Type="http://schemas.openxmlformats.org/officeDocument/2006/relationships/extended-properties" Target="/docProps/app.xml" Id="R24287d91df8241cc" /><Relationship Type="http://schemas.openxmlformats.org/officeDocument/2006/relationships/officeDocument" Target="/ppt/presentation.xml" Id="Raeaa04ba8fb241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a09a5eaa8e462f"/>
  </p:sldMasterIdLst>
  <p:notesMasterIdLst>
    <p:notesMasterId xmlns:r="http://schemas.openxmlformats.org/officeDocument/2006/relationships" r:id="R16de9850e7e6436c"/>
  </p:notesMasterIdLst>
  <p:sldIdLst>
    <p:sldId xmlns:r="http://schemas.openxmlformats.org/officeDocument/2006/relationships" id="256" r:id="Rf0164722fb424c86"/>
  </p:sldIdLst>
  <p:sldSz cx="11430000" cy="6000750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8b9bafb56545b8" /><Relationship Type="http://schemas.openxmlformats.org/officeDocument/2006/relationships/slideMaster" Target="/ppt/slideMasters/slideMaster1.xml" Id="R75a09a5eaa8e462f" /><Relationship Type="http://schemas.openxmlformats.org/officeDocument/2006/relationships/notesMaster" Target="/ppt/notesMasters/notesMaster1.xml" Id="R16de9850e7e6436c" /><Relationship Type="http://schemas.openxmlformats.org/officeDocument/2006/relationships/presProps" Target="/ppt/presProps.xml" Id="Rff62d66e6ec14e74" /><Relationship Type="http://schemas.openxmlformats.org/officeDocument/2006/relationships/tableStyles" Target="/ppt/tableStyles.xml" Id="Rc07fc3360f4b4359" /><Relationship Type="http://schemas.openxmlformats.org/officeDocument/2006/relationships/slide" Target="/ppt/slides/slide1.xml" Id="Rf0164722fb424c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c7fcb8aeb642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65ea5047cb46c6" /><Relationship Type="http://schemas.openxmlformats.org/officeDocument/2006/relationships/notesMaster" Target="/ppt/notesMasters/notesMaster1.xml" Id="R2fb46c6dba8a49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Revised Figure 07. Native editable scientific schematic, styled after Figures 5 and 6. Numerical curves, tables and code fragments illustrate the objects handled by modules; they are not experimental results or executable API specifications. Scientific content and method citations follow the matching main.tex paragraph and caption. Lucide line icons: https://lucide.dev, ISC license. Retain semantic groups when editing; ungroup to access labels, connectors, charts and icon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07619d505547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08d33f959346d5" /><Relationship Type="http://schemas.openxmlformats.org/officeDocument/2006/relationships/slideLayout" Target="/ppt/slideLayouts/slideLayout1.xml" Id="R4a8220fe7d924b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8220fe7d924b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9e356eaae4154" /><Relationship Type="http://schemas.openxmlformats.org/officeDocument/2006/relationships/notesSlide" Target="/ppt/notesSlides/notesSlide1.xml" Id="Re17977cfa0344b9e" /></Relationships>
</file>

<file path=ppt/slides/slide1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109" name="Figure 07 — ungroup to edit modules"/>
          <p:cNvGrpSpPr/>
          <p:nvPr/>
        </p:nvGrpSpPr>
        <p:grpSpPr>
          <ns1:xfrm xmlns:ns1="http://schemas.openxmlformats.org/drawingml/2006/main">
            <ns1:off x="238125" y="47625"/>
            <ns1:ext cx="11144250" cy="5781675"/>
            <ns1:chOff x="238125" y="47625"/>
            <ns1:chExt cx="11144250" cy="5781675"/>
          </ns1:xfrm>
        </p:grpSpPr>
        <p:sp>
          <p:nvSpPr>
            <p:cNvPr id="10001" name="Information available at decision time"/>
            <p:cNvSpPr/>
            <p:nvPr/>
          </p:nvSpPr>
          <p:spPr>
            <ns1:xfrm xmlns:ns1="http://schemas.openxmlformats.org/drawingml/2006/main">
              <ns1:off x="1809750" y="47625"/>
              <ns1:ext cx="78105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Information available at decision time</ns7:t>
              </ns7:r>
            </ns7:p>
          </p:txBody>
        </p:sp>
        <p:sp>
          <p:nvSpPr>
            <p:cNvPr id="10002" name="Availability timeline"/>
            <p:cNvSpPr/>
            <p:nvPr/>
          </p:nvSpPr>
          <p:spPr>
            <ns1:xfrm xmlns:ns1="http://schemas.openxmlformats.org/drawingml/2006/main">
              <ns1:off x="762000" y="1066800"/>
              <ns1:ext cx="98107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030000" h="1000" fill="none">
                  <ns2:moveTo>
                    <ns2:pt x="0" y="0"/>
                  </ns2:moveTo>
                  <ns2:lnTo>
                    <ns2:pt x="103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47788"/>
              </ns4:solidFill>
            </ns4:ln>
          </p:spPr>
        </p:sp>
        <p:sp>
          <p:nvSpPr>
            <p:cNvPr id="10003" name="Decision cutoff"/>
            <p:cNvSpPr/>
            <p:nvPr/>
          </p:nvSpPr>
          <p:spPr>
            <ns1:xfrm xmlns:ns1="http://schemas.openxmlformats.org/drawingml/2006/main">
              <ns1:off x="8001000" y="523875"/>
              <ns1:ext cx="9525" cy="86677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000" h="91000" fill="none">
                  <ns2:moveTo>
                    <ns2:pt x="0" y="0"/>
                  </ns2:moveTo>
                  <ns2:lnTo>
                    <ns2:pt x="0" y="9100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B7524A"/>
              </ns4:solidFill>
            </ns4:ln>
          </p:spPr>
        </p:sp>
        <p:sp>
          <p:nvSpPr>
            <p:cNvPr id="10004" name="τ"/>
            <p:cNvSpPr/>
            <p:nvPr/>
          </p:nvSpPr>
          <p:spPr>
            <ns1:xfrm xmlns:ns1="http://schemas.openxmlformats.org/drawingml/2006/main">
              <ns1:off x="7810500" y="161925"/>
              <ns1:ext cx="38100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250" b="1">
                  <ns7:solidFill>
                    <ns7:srgbClr val="B7524A"/>
                  </ns7:solidFill>
                  <ns7:latin typeface="Times New Roman"/>
                  <ns7:ea typeface="Times New Roman"/>
                </ns7:rPr>
                <ns7:t>τ</ns7:t>
              </ns7:r>
            </ns7:p>
          </p:txBody>
        </p:sp>
        <p:grpSp>
          <p:nvGrpSpPr>
            <p:cNvPr id="10014" name="Observations"/>
            <p:cNvGrpSpPr/>
            <p:nvPr/>
          </p:nvGrpSpPr>
          <p:grpSpPr>
            <ns1:xfrm xmlns:ns1="http://schemas.openxmlformats.org/drawingml/2006/main">
              <ns1:off x="381000" y="495300"/>
              <ns1:ext cx="1476375" cy="914400"/>
              <ns1:chOff x="381000" y="495300"/>
              <ns1:chExt cx="1476375" cy="914400"/>
            </ns1:xfrm>
          </p:grpSpPr>
          <p:grpSp>
            <p:nvGrpSpPr>
              <p:cNvPr id="10011" name="file-spreadsheet editable icon"/>
              <p:cNvGrpSpPr/>
              <p:nvPr/>
            </p:nvGrpSpPr>
            <p:grpSpPr>
              <ns1:xfrm xmlns:ns1="http://schemas.openxmlformats.org/drawingml/2006/main">
                <ns1:off x="904875" y="495300"/>
                <ns1:ext cx="361950" cy="361950"/>
                <ns1:chOff x="904875" y="495300"/>
                <ns1:chExt cx="361950" cy="361950"/>
              </ns1:xfrm>
            </p:grpSpPr>
            <p:sp>
              <p:nvSpPr>
                <p:cNvPr id="10005" name="file-spreadsheet-0"/>
                <p:cNvSpPr/>
                <p:nvPr/>
              </p:nvSpPr>
              <p:spPr>
                <ns1:xfrm xmlns:ns1="http://schemas.openxmlformats.org/drawingml/2006/main">
                  <ns1:off x="904875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2000"/>
                      </ns2:moveTo>
                      <ns2:lnTo>
                        <ns2:pt x="6000" y="2000"/>
                      </ns2:lnTo>
                      <ns2:cubicBezTo>
                        <ns2:pt x="4895" y="2000"/>
                        <ns2:pt x="4000" y="2895"/>
                        <ns2:pt x="4000" y="4000"/>
                      </ns2:cubicBezTo>
                      <ns2:lnTo>
                        <ns2:pt x="4000" y="20000"/>
                      </ns2:lnTo>
                      <ns2:cubicBezTo>
                        <ns2:pt x="4000" y="21105"/>
                        <ns2:pt x="4895" y="22000"/>
                        <ns2:pt x="6000" y="22000"/>
                      </ns2:cubicBezTo>
                      <ns2:lnTo>
                        <ns2:pt x="18000" y="22000"/>
                      </ns2:lnTo>
                      <ns2:cubicBezTo>
                        <ns2:pt x="19105" y="22000"/>
                        <ns2:pt x="20000" y="21105"/>
                        <ns2:pt x="20000" y="20000"/>
                      </ns2:cubicBezTo>
                      <ns2:lnTo>
                        <ns2:pt x="20000" y="7000"/>
                      </ns2:lnTo>
                      <ns2:lnTo>
                        <ns2:pt x="15000" y="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3376A0"/>
                  </ns4:solidFill>
                </ns4:ln>
              </p:spPr>
            </p:sp>
            <p:sp>
              <p:nvSpPr>
                <p:cNvPr id="10006" name="file-spreadsheet-1"/>
                <p:cNvSpPr/>
                <p:nvPr/>
              </p:nvSpPr>
              <p:spPr>
                <ns1:xfrm xmlns:ns1="http://schemas.openxmlformats.org/drawingml/2006/main">
                  <ns1:off x="904875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6000"/>
                      </ns2:lnTo>
                      <ns2:cubicBezTo>
                        <ns2:pt x="14000" y="7105"/>
                        <ns2:pt x="14895" y="8000"/>
                        <ns2:pt x="16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3376A0"/>
                  </ns4:solidFill>
                </ns4:ln>
              </p:spPr>
            </p:sp>
            <p:sp>
              <p:nvSpPr>
                <p:cNvPr id="10007" name="file-spreadsheet-2"/>
                <p:cNvSpPr/>
                <p:nvPr/>
              </p:nvSpPr>
              <p:spPr>
                <ns1:xfrm xmlns:ns1="http://schemas.openxmlformats.org/drawingml/2006/main">
                  <ns1:off x="904875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3000"/>
                      </ns2:moveTo>
                      <ns2:lnTo>
                        <ns2:pt x="10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3376A0"/>
                  </ns4:solidFill>
                </ns4:ln>
              </p:spPr>
            </p:sp>
            <p:sp>
              <p:nvSpPr>
                <p:cNvPr id="10008" name="file-spreadsheet-3"/>
                <p:cNvSpPr/>
                <p:nvPr/>
              </p:nvSpPr>
              <p:spPr>
                <ns1:xfrm xmlns:ns1="http://schemas.openxmlformats.org/drawingml/2006/main">
                  <ns1:off x="904875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13000"/>
                      </ns2:moveTo>
                      <ns2:lnTo>
                        <ns2:pt x="16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3376A0"/>
                  </ns4:solidFill>
                </ns4:ln>
              </p:spPr>
            </p:sp>
            <p:sp>
              <p:nvSpPr>
                <p:cNvPr id="10009" name="file-spreadsheet-4"/>
                <p:cNvSpPr/>
                <p:nvPr/>
              </p:nvSpPr>
              <p:spPr>
                <ns1:xfrm xmlns:ns1="http://schemas.openxmlformats.org/drawingml/2006/main">
                  <ns1:off x="904875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7000"/>
                      </ns2:moveTo>
                      <ns2:lnTo>
                        <ns2:pt x="10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3376A0"/>
                  </ns4:solidFill>
                </ns4:ln>
              </p:spPr>
            </p:sp>
            <p:sp>
              <p:nvSpPr>
                <p:cNvPr id="10010" name="file-spreadsheet-5"/>
                <p:cNvSpPr/>
                <p:nvPr/>
              </p:nvSpPr>
              <p:spPr>
                <ns1:xfrm xmlns:ns1="http://schemas.openxmlformats.org/drawingml/2006/main">
                  <ns1:off x="904875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17000"/>
                      </ns2:moveTo>
                      <ns2:lnTo>
                        <ns2:pt x="16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3376A0"/>
                  </ns4:solidFill>
                </ns4:ln>
              </p:spPr>
            </p:sp>
          </p:grpSp>
          <p:sp>
            <p:nvSpPr>
              <p:cNvPr id="10012" name="Observations"/>
              <p:cNvSpPr/>
              <p:nvPr/>
            </p:nvSpPr>
            <p:spPr>
              <ns1:xfrm xmlns:ns1="http://schemas.openxmlformats.org/drawingml/2006/main">
                <ns1:off x="381000" y="1123950"/>
                <ns1:ext cx="14763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75" b="0">
                    <ns7:solidFill>
                      <ns7:srgbClr val="3376A0"/>
                    </ns7:solidFill>
                    <ns7:latin typeface="Times New Roman"/>
                    <ns7:ea typeface="Times New Roman"/>
                  </ns7:rPr>
                  <ns7:t>Observations</ns7:t>
                </ns7:r>
              </ns7:p>
            </p:txBody>
          </p:sp>
          <p:sp>
            <p:nvSpPr>
              <p:cNvPr id="10013" name="Release time"/>
              <p:cNvSpPr/>
              <p:nvPr/>
            </p:nvSpPr>
            <p:spPr>
              <ns1:xfrm xmlns:ns1="http://schemas.openxmlformats.org/drawingml/2006/main">
                <ns1:off x="1038225" y="1009650"/>
                <ns1:ext cx="114300" cy="114300"/>
              </ns1:xfrm>
              <ns2:prstGeom xmlns:ns2="http://schemas.openxmlformats.org/drawingml/2006/main" prst="ellipse">
                <ns2:avLst/>
              </ns2:prstGeom>
              <ns3:solidFill xmlns:ns3="http://schemas.openxmlformats.org/drawingml/2006/main">
                <ns3:srgbClr val="3376A0"/>
              </ns3:solidFill>
              <ns4:ln xmlns:ns4="http://schemas.openxmlformats.org/drawingml/2006/main" w="9525" cap="rnd">
                <ns4:noFill/>
              </ns4:ln>
            </p:spPr>
          </p:sp>
        </p:grpSp>
        <p:grpSp>
          <p:nvGrpSpPr>
            <p:cNvPr id="10028" name="Known calendar"/>
            <p:cNvGrpSpPr/>
            <p:nvPr/>
          </p:nvGrpSpPr>
          <p:grpSpPr>
            <ns1:xfrm xmlns:ns1="http://schemas.openxmlformats.org/drawingml/2006/main">
              <ns1:off x="2762250" y="495300"/>
              <ns1:ext cx="1476375" cy="914400"/>
              <ns1:chOff x="2762250" y="495300"/>
              <ns1:chExt cx="1476375" cy="914400"/>
            </ns1:xfrm>
          </p:grpSpPr>
          <p:grpSp>
            <p:nvGrpSpPr>
              <p:cNvPr id="10025" name="calendar-days editable icon"/>
              <p:cNvGrpSpPr/>
              <p:nvPr/>
            </p:nvGrpSpPr>
            <p:grpSpPr>
              <ns1:xfrm xmlns:ns1="http://schemas.openxmlformats.org/drawingml/2006/main">
                <ns1:off x="3286125" y="495300"/>
                <ns1:ext cx="361950" cy="361950"/>
                <ns1:chOff x="3286125" y="495300"/>
                <ns1:chExt cx="361950" cy="361950"/>
              </ns1:xfrm>
            </p:grpSpPr>
            <p:sp>
              <p:nvSpPr>
                <p:cNvPr id="10015" name="calendar-days-0"/>
                <p:cNvSpPr/>
                <p:nvPr/>
              </p:nvSpPr>
              <p:spPr>
                <ns1:xfrm xmlns:ns1="http://schemas.openxmlformats.org/drawingml/2006/main">
                  <ns1:off x="3286125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2000"/>
                      </ns2:moveTo>
                      <ns2:lnTo>
                        <ns2:pt x="8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39846C"/>
                  </ns4:solidFill>
                </ns4:ln>
              </p:spPr>
            </p:sp>
            <p:sp>
              <p:nvSpPr>
                <p:cNvPr id="10016" name="calendar-days-1"/>
                <p:cNvSpPr/>
                <p:nvPr/>
              </p:nvSpPr>
              <p:spPr>
                <ns1:xfrm xmlns:ns1="http://schemas.openxmlformats.org/drawingml/2006/main">
                  <ns1:off x="3286125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2000"/>
                      </ns2:moveTo>
                      <ns2:lnTo>
                        <ns2:pt x="16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39846C"/>
                  </ns4:solidFill>
                </ns4:ln>
              </p:spPr>
            </p:sp>
            <p:sp>
              <p:nvSpPr>
                <p:cNvPr id="10017" name="calendar-days-2"/>
                <p:cNvSpPr/>
                <p:nvPr/>
              </p:nvSpPr>
              <p:spPr>
                <ns1:xfrm xmlns:ns1="http://schemas.openxmlformats.org/drawingml/2006/main">
                  <ns1:off x="3331369" y="540544"/>
                  <ns1:ext cx="271462" cy="271462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22622" cap="rnd">
                  <ns5:solidFill>
                    <ns5:srgbClr val="39846C"/>
                  </ns5:solidFill>
                </ns5:ln>
              </p:spPr>
            </p:sp>
            <p:sp>
              <p:nvSpPr>
                <p:cNvPr id="10018" name="calendar-days-3"/>
                <p:cNvSpPr/>
                <p:nvPr/>
              </p:nvSpPr>
              <p:spPr>
                <ns1:xfrm xmlns:ns1="http://schemas.openxmlformats.org/drawingml/2006/main">
                  <ns1:off x="3286125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9000"/>
                      </ns2:moveTo>
                      <ns2:lnTo>
                        <ns2:pt x="21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39846C"/>
                  </ns4:solidFill>
                </ns4:ln>
              </p:spPr>
            </p:sp>
            <p:sp>
              <p:nvSpPr>
                <p:cNvPr id="10019" name="calendar-days-4"/>
                <p:cNvSpPr/>
                <p:nvPr/>
              </p:nvSpPr>
              <p:spPr>
                <ns1:xfrm xmlns:ns1="http://schemas.openxmlformats.org/drawingml/2006/main">
                  <ns1:off x="3286125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3000"/>
                      </ns2:moveTo>
                      <ns2:lnTo>
                        <ns2:pt x="801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39846C"/>
                  </ns4:solidFill>
                </ns4:ln>
              </p:spPr>
            </p:sp>
            <p:sp>
              <p:nvSpPr>
                <p:cNvPr id="10020" name="calendar-days-5"/>
                <p:cNvSpPr/>
                <p:nvPr/>
              </p:nvSpPr>
              <p:spPr>
                <ns1:xfrm xmlns:ns1="http://schemas.openxmlformats.org/drawingml/2006/main">
                  <ns1:off x="3286125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3000"/>
                      </ns2:moveTo>
                      <ns2:lnTo>
                        <ns2:pt x="1201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39846C"/>
                  </ns4:solidFill>
                </ns4:ln>
              </p:spPr>
            </p:sp>
            <p:sp>
              <p:nvSpPr>
                <p:cNvPr id="10021" name="calendar-days-6"/>
                <p:cNvSpPr/>
                <p:nvPr/>
              </p:nvSpPr>
              <p:spPr>
                <ns1:xfrm xmlns:ns1="http://schemas.openxmlformats.org/drawingml/2006/main">
                  <ns1:off x="3286125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1601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39846C"/>
                  </ns4:solidFill>
                </ns4:ln>
              </p:spPr>
            </p:sp>
            <p:sp>
              <p:nvSpPr>
                <p:cNvPr id="10022" name="calendar-days-7"/>
                <p:cNvSpPr/>
                <p:nvPr/>
              </p:nvSpPr>
              <p:spPr>
                <ns1:xfrm xmlns:ns1="http://schemas.openxmlformats.org/drawingml/2006/main">
                  <ns1:off x="3286125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7000"/>
                      </ns2:moveTo>
                      <ns2:lnTo>
                        <ns2:pt x="801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39846C"/>
                  </ns4:solidFill>
                </ns4:ln>
              </p:spPr>
            </p:sp>
            <p:sp>
              <p:nvSpPr>
                <p:cNvPr id="10023" name="calendar-days-8"/>
                <p:cNvSpPr/>
                <p:nvPr/>
              </p:nvSpPr>
              <p:spPr>
                <ns1:xfrm xmlns:ns1="http://schemas.openxmlformats.org/drawingml/2006/main">
                  <ns1:off x="3286125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7000"/>
                      </ns2:moveTo>
                      <ns2:lnTo>
                        <ns2:pt x="1201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39846C"/>
                  </ns4:solidFill>
                </ns4:ln>
              </p:spPr>
            </p:sp>
            <p:sp>
              <p:nvSpPr>
                <p:cNvPr id="10024" name="calendar-days-9"/>
                <p:cNvSpPr/>
                <p:nvPr/>
              </p:nvSpPr>
              <p:spPr>
                <ns1:xfrm xmlns:ns1="http://schemas.openxmlformats.org/drawingml/2006/main">
                  <ns1:off x="3286125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1601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39846C"/>
                  </ns4:solidFill>
                </ns4:ln>
              </p:spPr>
            </p:sp>
          </p:grpSp>
          <p:sp>
            <p:nvSpPr>
              <p:cNvPr id="10026" name="Known calendar"/>
              <p:cNvSpPr/>
              <p:nvPr/>
            </p:nvSpPr>
            <p:spPr>
              <ns1:xfrm xmlns:ns1="http://schemas.openxmlformats.org/drawingml/2006/main">
                <ns1:off x="2762250" y="1123950"/>
                <ns1:ext cx="14763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75" b="0">
                    <ns7:solidFill>
                      <ns7:srgbClr val="39846C"/>
                    </ns7:solidFill>
                    <ns7:latin typeface="Times New Roman"/>
                    <ns7:ea typeface="Times New Roman"/>
                  </ns7:rPr>
                  <ns7:t>Known calendar</ns7:t>
                </ns7:r>
              </ns7:p>
            </p:txBody>
          </p:sp>
          <p:sp>
            <p:nvSpPr>
              <p:cNvPr id="10027" name="Release time"/>
              <p:cNvSpPr/>
              <p:nvPr/>
            </p:nvSpPr>
            <p:spPr>
              <ns1:xfrm xmlns:ns1="http://schemas.openxmlformats.org/drawingml/2006/main">
                <ns1:off x="3419475" y="1009650"/>
                <ns1:ext cx="114300" cy="114300"/>
              </ns1:xfrm>
              <ns2:prstGeom xmlns:ns2="http://schemas.openxmlformats.org/drawingml/2006/main" prst="ellipse">
                <ns2:avLst/>
              </ns2:prstGeom>
              <ns3:solidFill xmlns:ns3="http://schemas.openxmlformats.org/drawingml/2006/main">
                <ns3:srgbClr val="39846C"/>
              </ns3:solidFill>
              <ns4:ln xmlns:ns4="http://schemas.openxmlformats.org/drawingml/2006/main" w="9525" cap="rnd">
                <ns4:noFill/>
              </ns4:ln>
            </p:spPr>
          </p:sp>
        </p:grpSp>
        <p:grpSp>
          <p:nvGrpSpPr>
            <p:cNvPr id="10037" name="Released news"/>
            <p:cNvGrpSpPr/>
            <p:nvPr/>
          </p:nvGrpSpPr>
          <p:grpSpPr>
            <ns1:xfrm xmlns:ns1="http://schemas.openxmlformats.org/drawingml/2006/main">
              <ns1:off x="5191125" y="495300"/>
              <ns1:ext cx="1476375" cy="914400"/>
              <ns1:chOff x="5191125" y="495300"/>
              <ns1:chExt cx="1476375" cy="914400"/>
            </ns1:xfrm>
          </p:grpSpPr>
          <p:grpSp>
            <p:nvGrpSpPr>
              <p:cNvPr id="10034" name="file-text editable icon"/>
              <p:cNvGrpSpPr/>
              <p:nvPr/>
            </p:nvGrpSpPr>
            <p:grpSpPr>
              <ns1:xfrm xmlns:ns1="http://schemas.openxmlformats.org/drawingml/2006/main">
                <ns1:off x="5715000" y="495300"/>
                <ns1:ext cx="361950" cy="361950"/>
                <ns1:chOff x="5715000" y="495300"/>
                <ns1:chExt cx="361950" cy="361950"/>
              </ns1:xfrm>
            </p:grpSpPr>
            <p:sp>
              <p:nvSpPr>
                <p:cNvPr id="10029" name="file-text-0"/>
                <p:cNvSpPr/>
                <p:nvPr/>
              </p:nvSpPr>
              <p:spPr>
                <ns1:xfrm xmlns:ns1="http://schemas.openxmlformats.org/drawingml/2006/main">
                  <ns1:off x="5715000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22000"/>
                      </ns2:moveTo>
                      <ns2:cubicBezTo>
                        <ns2:pt x="4895" y="22000"/>
                        <ns2:pt x="4000" y="21105"/>
                        <ns2:pt x="4000" y="20000"/>
                      </ns2:cubicBezTo>
                      <ns2:lnTo>
                        <ns2:pt x="4000" y="4000"/>
                      </ns2:lnTo>
                      <ns2:cubicBezTo>
                        <ns2:pt x="4000" y="2895"/>
                        <ns2:pt x="4895" y="2000"/>
                        <ns2:pt x="6000" y="2000"/>
                      </ns2:cubicBezTo>
                      <ns2:lnTo>
                        <ns2:pt x="14000" y="2000"/>
                      </ns2:lnTo>
                      <ns2:cubicBezTo>
                        <ns2:pt x="14639" y="1999"/>
                        <ns2:pt x="15253" y="2253"/>
                        <ns2:pt x="15704" y="2706"/>
                      </ns2:cubicBezTo>
                      <ns2:lnTo>
                        <ns2:pt x="19292" y="6294"/>
                      </ns2:lnTo>
                      <ns2:cubicBezTo>
                        <ns2:pt x="19746" y="6745"/>
                        <ns2:pt x="20001" y="7360"/>
                        <ns2:pt x="20000" y="8000"/>
                      </ns2:cubicBezTo>
                      <ns2:lnTo>
                        <ns2:pt x="20000" y="20000"/>
                      </ns2:lnTo>
                      <ns2:cubicBezTo>
                        <ns2:pt x="20000" y="21105"/>
                        <ns2:pt x="19105" y="22000"/>
                        <ns2:pt x="18000" y="22000"/>
                      </ns2:cubicBezTo>
                      <ns2:lnTo>
                        <ns2:pt x="6000" y="2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39846C"/>
                  </ns4:solidFill>
                </ns4:ln>
              </p:spPr>
            </p:sp>
            <p:sp>
              <p:nvSpPr>
                <p:cNvPr id="10030" name="file-text-1"/>
                <p:cNvSpPr/>
                <p:nvPr/>
              </p:nvSpPr>
              <p:spPr>
                <ns1:xfrm xmlns:ns1="http://schemas.openxmlformats.org/drawingml/2006/main">
                  <ns1:off x="5715000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7000"/>
                      </ns2:lnTo>
                      <ns2:cubicBezTo>
                        <ns2:pt x="14000" y="7552"/>
                        <ns2:pt x="14448" y="8000"/>
                        <ns2:pt x="15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39846C"/>
                  </ns4:solidFill>
                </ns4:ln>
              </p:spPr>
            </p:sp>
            <p:sp>
              <p:nvSpPr>
                <p:cNvPr id="10031" name="file-text-2"/>
                <p:cNvSpPr/>
                <p:nvPr/>
              </p:nvSpPr>
              <p:spPr>
                <ns1:xfrm xmlns:ns1="http://schemas.openxmlformats.org/drawingml/2006/main">
                  <ns1:off x="5715000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9000"/>
                      </ns2:moveTo>
                      <ns2:lnTo>
                        <ns2:pt x="8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39846C"/>
                  </ns4:solidFill>
                </ns4:ln>
              </p:spPr>
            </p:sp>
            <p:sp>
              <p:nvSpPr>
                <p:cNvPr id="10032" name="file-text-3"/>
                <p:cNvSpPr/>
                <p:nvPr/>
              </p:nvSpPr>
              <p:spPr>
                <ns1:xfrm xmlns:ns1="http://schemas.openxmlformats.org/drawingml/2006/main">
                  <ns1:off x="5715000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8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39846C"/>
                  </ns4:solidFill>
                </ns4:ln>
              </p:spPr>
            </p:sp>
            <p:sp>
              <p:nvSpPr>
                <p:cNvPr id="10033" name="file-text-4"/>
                <p:cNvSpPr/>
                <p:nvPr/>
              </p:nvSpPr>
              <p:spPr>
                <ns1:xfrm xmlns:ns1="http://schemas.openxmlformats.org/drawingml/2006/main">
                  <ns1:off x="5715000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8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39846C"/>
                  </ns4:solidFill>
                </ns4:ln>
              </p:spPr>
            </p:sp>
          </p:grpSp>
          <p:sp>
            <p:nvSpPr>
              <p:cNvPr id="10035" name="Released news"/>
              <p:cNvSpPr/>
              <p:nvPr/>
            </p:nvSpPr>
            <p:spPr>
              <ns1:xfrm xmlns:ns1="http://schemas.openxmlformats.org/drawingml/2006/main">
                <ns1:off x="5191125" y="1123950"/>
                <ns1:ext cx="14763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75" b="0">
                    <ns7:solidFill>
                      <ns7:srgbClr val="39846C"/>
                    </ns7:solidFill>
                    <ns7:latin typeface="Times New Roman"/>
                    <ns7:ea typeface="Times New Roman"/>
                  </ns7:rPr>
                  <ns7:t>Released news</ns7:t>
                </ns7:r>
              </ns7:p>
            </p:txBody>
          </p:sp>
          <p:sp>
            <p:nvSpPr>
              <p:cNvPr id="10036" name="Release time"/>
              <p:cNvSpPr/>
              <p:nvPr/>
            </p:nvSpPr>
            <p:spPr>
              <ns1:xfrm xmlns:ns1="http://schemas.openxmlformats.org/drawingml/2006/main">
                <ns1:off x="5848350" y="1009650"/>
                <ns1:ext cx="114300" cy="114300"/>
              </ns1:xfrm>
              <ns2:prstGeom xmlns:ns2="http://schemas.openxmlformats.org/drawingml/2006/main" prst="ellipse">
                <ns2:avLst/>
              </ns2:prstGeom>
              <ns3:solidFill xmlns:ns3="http://schemas.openxmlformats.org/drawingml/2006/main">
                <ns3:srgbClr val="39846C"/>
              </ns3:solidFill>
              <ns4:ln xmlns:ns4="http://schemas.openxmlformats.org/drawingml/2006/main" w="9525" cap="rnd">
                <ns4:noFill/>
              </ns4:ln>
            </p:spPr>
          </p:sp>
        </p:grpSp>
        <p:grpSp>
          <p:nvGrpSpPr>
            <p:cNvPr id="10043" name="Late report"/>
            <p:cNvGrpSpPr/>
            <p:nvPr/>
          </p:nvGrpSpPr>
          <p:grpSpPr>
            <ns1:xfrm xmlns:ns1="http://schemas.openxmlformats.org/drawingml/2006/main">
              <ns1:off x="9001125" y="495300"/>
              <ns1:ext cx="1476375" cy="914400"/>
              <ns1:chOff x="9001125" y="495300"/>
              <ns1:chExt cx="1476375" cy="914400"/>
            </ns1:xfrm>
          </p:grpSpPr>
          <p:grpSp>
            <p:nvGrpSpPr>
              <p:cNvPr id="10040" name="clock editable icon"/>
              <p:cNvGrpSpPr/>
              <p:nvPr/>
            </p:nvGrpSpPr>
            <p:grpSpPr>
              <ns1:xfrm xmlns:ns1="http://schemas.openxmlformats.org/drawingml/2006/main">
                <ns1:off x="9525000" y="495300"/>
                <ns1:ext cx="361950" cy="361950"/>
                <ns1:chOff x="9525000" y="495300"/>
                <ns1:chExt cx="361950" cy="361950"/>
              </ns1:xfrm>
            </p:grpSpPr>
            <p:sp>
              <p:nvSpPr>
                <p:cNvPr id="10038" name="clock-0"/>
                <p:cNvSpPr/>
                <p:nvPr/>
              </p:nvSpPr>
              <p:spPr>
                <ns1:xfrm xmlns:ns1="http://schemas.openxmlformats.org/drawingml/2006/main">
                  <ns1:off x="9555162" y="525462"/>
                  <ns1:ext cx="301625" cy="301625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22622" cap="rnd">
                  <ns5:solidFill>
                    <ns5:srgbClr val="B7524A"/>
                  </ns5:solidFill>
                </ns5:ln>
              </p:spPr>
            </p:sp>
            <p:sp>
              <p:nvSpPr>
                <p:cNvPr id="10039" name="clock-1"/>
                <p:cNvSpPr/>
                <p:nvPr/>
              </p:nvSpPr>
              <p:spPr>
                <ns1:xfrm xmlns:ns1="http://schemas.openxmlformats.org/drawingml/2006/main">
                  <ns1:off x="9525000" y="495300"/>
                  <ns1:ext cx="361950" cy="3619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6000"/>
                      </ns2:moveTo>
                      <ns2:lnTo>
                        <ns2:pt x="12000" y="12000"/>
                      </ns2:lnTo>
                      <ns2:lnTo>
                        <ns2:pt x="16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2622" cap="rnd">
                  <ns4:solidFill>
                    <ns4:srgbClr val="B7524A"/>
                  </ns4:solidFill>
                </ns4:ln>
              </p:spPr>
            </p:sp>
          </p:grpSp>
          <p:sp>
            <p:nvSpPr>
              <p:cNvPr id="10041" name="Late report"/>
              <p:cNvSpPr/>
              <p:nvPr/>
            </p:nvSpPr>
            <p:spPr>
              <ns1:xfrm xmlns:ns1="http://schemas.openxmlformats.org/drawingml/2006/main">
                <ns1:off x="9001125" y="1123950"/>
                <ns1:ext cx="14763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75" b="0">
                    <ns7:solidFill>
                      <ns7:srgbClr val="B7524A"/>
                    </ns7:solidFill>
                    <ns7:latin typeface="Times New Roman"/>
                    <ns7:ea typeface="Times New Roman"/>
                  </ns7:rPr>
                  <ns7:t>Late report</ns7:t>
                </ns7:r>
              </ns7:p>
            </p:txBody>
          </p:sp>
          <p:sp>
            <p:nvSpPr>
              <p:cNvPr id="10042" name="Release time"/>
              <p:cNvSpPr/>
              <p:nvPr/>
            </p:nvSpPr>
            <p:spPr>
              <ns1:xfrm xmlns:ns1="http://schemas.openxmlformats.org/drawingml/2006/main">
                <ns1:off x="9658350" y="1009650"/>
                <ns1:ext cx="114300" cy="114300"/>
              </ns1:xfrm>
              <ns2:prstGeom xmlns:ns2="http://schemas.openxmlformats.org/drawingml/2006/main" prst="ellipse">
                <ns2:avLst/>
              </ns2:prstGeom>
              <ns3:solidFill xmlns:ns3="http://schemas.openxmlformats.org/drawingml/2006/main">
                <ns3:srgbClr val="B7524A"/>
              </ns3:solidFill>
              <ns4:ln xmlns:ns4="http://schemas.openxmlformats.org/drawingml/2006/main" w="9525" cap="rnd">
                <ns4:noFill/>
              </ns4:ln>
            </p:spPr>
          </p:sp>
        </p:grpSp>
        <p:sp>
          <p:nvSpPr>
            <p:cNvPr id="10044" name="Section rule"/>
            <p:cNvSpPr/>
            <p:nvPr/>
          </p:nvSpPr>
          <p:spPr>
            <ns1:xfrm xmlns:ns1="http://schemas.openxmlformats.org/drawingml/2006/main">
              <ns1:off x="238125" y="1581150"/>
              <ns1:ext cx="109537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50000" h="1000" fill="none">
                  <ns2:moveTo>
                    <ns2:pt x="0" y="0"/>
                  </ns2:moveTo>
                  <ns2:lnTo>
                    <ns2:pt x="115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CE5EA"/>
              </ns4:solidFill>
            </ns4:ln>
          </p:spPr>
        </p:sp>
        <p:sp>
          <p:nvSpPr>
            <p:cNvPr id="10045" name="Data management"/>
            <p:cNvSpPr/>
            <p:nvPr/>
          </p:nvSpPr>
          <p:spPr>
            <ns1:xfrm xmlns:ns1="http://schemas.openxmlformats.org/drawingml/2006/main">
              <ns1:off x="238125" y="1809750"/>
              <ns1:ext cx="25717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Data management</ns7:t>
              </ns7:r>
            </ns7:p>
          </p:txBody>
        </p:sp>
        <p:sp>
          <p:nvSpPr>
            <p:cNvPr id="10046" name="Temporal processing"/>
            <p:cNvSpPr/>
            <p:nvPr/>
          </p:nvSpPr>
          <p:spPr>
            <ns1:xfrm xmlns:ns1="http://schemas.openxmlformats.org/drawingml/2006/main">
              <ns1:off x="3095625" y="1809750"/>
              <ns1:ext cx="25717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Temporal processing</ns7:t>
              </ns7:r>
            </ns7:p>
          </p:txBody>
        </p:sp>
        <p:sp>
          <p:nvSpPr>
            <p:cNvPr id="10047" name="Context &amp; memory"/>
            <p:cNvSpPr/>
            <p:nvPr/>
          </p:nvSpPr>
          <p:spPr>
            <ns1:xfrm xmlns:ns1="http://schemas.openxmlformats.org/drawingml/2006/main">
              <ns1:off x="5953125" y="1809750"/>
              <ns1:ext cx="25717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Context &amp; memory</ns7:t>
              </ns7:r>
            </ns7:p>
          </p:txBody>
        </p:sp>
        <p:sp>
          <p:nvSpPr>
            <p:cNvPr id="10048" name="Temporal validation"/>
            <p:cNvSpPr/>
            <p:nvPr/>
          </p:nvSpPr>
          <p:spPr>
            <ns1:xfrm xmlns:ns1="http://schemas.openxmlformats.org/drawingml/2006/main">
              <ns1:off x="8810625" y="1809750"/>
              <ns1:ext cx="25717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A87835"/>
                  </ns7:solidFill>
                  <ns7:latin typeface="Times New Roman"/>
                  <ns7:ea typeface="Times New Roman"/>
                </ns7:rPr>
                <ns7:t>Temporal validation</ns7:t>
              </ns7:r>
            </ns7:p>
          </p:txBody>
        </p:sp>
        <p:grpSp>
          <p:nvGrpSpPr>
            <p:cNvPr id="10064" name="Data management"/>
            <p:cNvGrpSpPr/>
            <p:nvPr/>
          </p:nvGrpSpPr>
          <p:grpSpPr>
            <ns1:xfrm xmlns:ns1="http://schemas.openxmlformats.org/drawingml/2006/main">
              <ns1:off x="333375" y="2352675"/>
              <ns1:ext cx="2381250" cy="1752600"/>
              <ns1:chOff x="333375" y="2352675"/>
              <ns1:chExt cx="2381250" cy="1752600"/>
            </ns1:xfrm>
          </p:grpSpPr>
          <p:sp>
            <p:nvSpPr>
              <p:cNvPr id="10049" name="Data table"/>
              <p:cNvSpPr/>
              <p:nvPr/>
            </p:nvSpPr>
            <p:spPr>
              <ns1:xfrm xmlns:ns1="http://schemas.openxmlformats.org/drawingml/2006/main">
                <ns1:off x="590550" y="2352675"/>
                <ns1:ext cx="1857375" cy="104775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solidFill>
                  <ns4:srgbClr val="DCE5EA"/>
                </ns4:solidFill>
              </ns4:ln>
            </p:spPr>
          </p:sp>
          <p:sp>
            <p:nvSpPr>
              <p:cNvPr id="10050" name="Table header"/>
              <p:cNvSpPr/>
              <p:nvPr/>
            </p:nvSpPr>
            <p:spPr>
              <ns1:xfrm xmlns:ns1="http://schemas.openxmlformats.org/drawingml/2006/main">
                <ns1:off x="590550" y="2352675"/>
                <ns1:ext cx="1857375" cy="261938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0F5F8"/>
              </ns3:solidFill>
              <ns4:ln xmlns:ns4="http://schemas.openxmlformats.org/drawingml/2006/main" w="9525" cap="rnd">
                <ns4:noFill/>
              </ns4:ln>
            </p:spPr>
          </p:sp>
          <p:sp>
            <p:nvSpPr>
              <p:cNvPr id="10051" name="Time"/>
              <p:cNvSpPr/>
              <p:nvPr/>
            </p:nvSpPr>
            <p:spPr>
              <ns1:xfrm xmlns:ns1="http://schemas.openxmlformats.org/drawingml/2006/main">
                <ns1:off x="590550" y="2352675"/>
                <ns1:ext cx="928688" cy="261938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1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Time</ns7:t>
                </ns7:r>
              </ns7:p>
            </p:txBody>
          </p:sp>
          <p:sp>
            <p:nvSpPr>
              <p:cNvPr id="10052" name="Value"/>
              <p:cNvSpPr/>
              <p:nvPr/>
            </p:nvSpPr>
            <p:spPr>
              <ns1:xfrm xmlns:ns1="http://schemas.openxmlformats.org/drawingml/2006/main">
                <ns1:off x="1519238" y="2352675"/>
                <ns1:ext cx="928688" cy="261938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1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Value</ns7:t>
                </ns7:r>
              </ns7:p>
            </p:txBody>
          </p:sp>
          <p:sp>
            <p:nvSpPr>
              <p:cNvPr id="10053" name="Table rule"/>
              <p:cNvSpPr/>
              <p:nvPr/>
            </p:nvSpPr>
            <p:spPr>
              <ns1:xfrm xmlns:ns1="http://schemas.openxmlformats.org/drawingml/2006/main">
                <ns1:off x="590550" y="2614612"/>
                <ns1:ext cx="1857375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95000" h="1000" fill="none">
                    <ns2:moveTo>
                      <ns2:pt x="0" y="0"/>
                    </ns2:moveTo>
                    <ns2:lnTo>
                      <ns2:pt x="195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668" cap="rnd">
                <ns4:solidFill>
                  <ns4:srgbClr val="DCE5EA"/>
                </ns4:solidFill>
              </ns4:ln>
            </p:spPr>
          </p:sp>
          <p:sp>
            <p:nvSpPr>
              <p:cNvPr id="10054" name="t−2"/>
              <p:cNvSpPr/>
              <p:nvPr/>
            </p:nvSpPr>
            <p:spPr>
              <ns1:xfrm xmlns:ns1="http://schemas.openxmlformats.org/drawingml/2006/main">
                <ns1:off x="590550" y="2614612"/>
                <ns1:ext cx="928688" cy="261938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t−2</ns7:t>
                </ns7:r>
              </ns7:p>
            </p:txBody>
          </p:sp>
          <p:sp>
            <p:nvSpPr>
              <p:cNvPr id="10055" name="8"/>
              <p:cNvSpPr/>
              <p:nvPr/>
            </p:nvSpPr>
            <p:spPr>
              <ns1:xfrm xmlns:ns1="http://schemas.openxmlformats.org/drawingml/2006/main">
                <ns1:off x="1519238" y="2614612"/>
                <ns1:ext cx="928688" cy="261938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8</ns7:t>
                </ns7:r>
              </ns7:p>
            </p:txBody>
          </p:sp>
          <p:sp>
            <p:nvSpPr>
              <p:cNvPr id="10056" name="Table rule"/>
              <p:cNvSpPr/>
              <p:nvPr/>
            </p:nvSpPr>
            <p:spPr>
              <ns1:xfrm xmlns:ns1="http://schemas.openxmlformats.org/drawingml/2006/main">
                <ns1:off x="590550" y="2876550"/>
                <ns1:ext cx="1857375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95000" h="1000" fill="none">
                    <ns2:moveTo>
                      <ns2:pt x="0" y="0"/>
                    </ns2:moveTo>
                    <ns2:lnTo>
                      <ns2:pt x="195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668" cap="rnd">
                <ns4:solidFill>
                  <ns4:srgbClr val="DCE5EA"/>
                </ns4:solidFill>
              </ns4:ln>
            </p:spPr>
          </p:sp>
          <p:sp>
            <p:nvSpPr>
              <p:cNvPr id="10057" name="t−1"/>
              <p:cNvSpPr/>
              <p:nvPr/>
            </p:nvSpPr>
            <p:spPr>
              <ns1:xfrm xmlns:ns1="http://schemas.openxmlformats.org/drawingml/2006/main">
                <ns1:off x="590550" y="2876550"/>
                <ns1:ext cx="928688" cy="261938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t−1</ns7:t>
                </ns7:r>
              </ns7:p>
            </p:txBody>
          </p:sp>
          <p:sp>
            <p:nvSpPr>
              <p:cNvPr id="10058" name="…"/>
              <p:cNvSpPr/>
              <p:nvPr/>
            </p:nvSpPr>
            <p:spPr>
              <ns1:xfrm xmlns:ns1="http://schemas.openxmlformats.org/drawingml/2006/main">
                <ns1:off x="1519238" y="2876550"/>
                <ns1:ext cx="928688" cy="261938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…</ns7:t>
                </ns7:r>
              </ns7:p>
            </p:txBody>
          </p:sp>
          <p:sp>
            <p:nvSpPr>
              <p:cNvPr id="10059" name="Table rule"/>
              <p:cNvSpPr/>
              <p:nvPr/>
            </p:nvSpPr>
            <p:spPr>
              <ns1:xfrm xmlns:ns1="http://schemas.openxmlformats.org/drawingml/2006/main">
                <ns1:off x="590550" y="3138488"/>
                <ns1:ext cx="1857375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95000" h="1000" fill="none">
                    <ns2:moveTo>
                      <ns2:pt x="0" y="0"/>
                    </ns2:moveTo>
                    <ns2:lnTo>
                      <ns2:pt x="195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668" cap="rnd">
                <ns4:solidFill>
                  <ns4:srgbClr val="DCE5EA"/>
                </ns4:solidFill>
              </ns4:ln>
            </p:spPr>
          </p:sp>
          <p:sp>
            <p:nvSpPr>
              <p:cNvPr id="10060" name="t"/>
              <p:cNvSpPr/>
              <p:nvPr/>
            </p:nvSpPr>
            <p:spPr>
              <ns1:xfrm xmlns:ns1="http://schemas.openxmlformats.org/drawingml/2006/main">
                <ns1:off x="590550" y="3138488"/>
                <ns1:ext cx="928688" cy="261938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t</ns7:t>
                </ns7:r>
              </ns7:p>
            </p:txBody>
          </p:sp>
          <p:sp>
            <p:nvSpPr>
              <p:cNvPr id="10061" name="11"/>
              <p:cNvSpPr/>
              <p:nvPr/>
            </p:nvSpPr>
            <p:spPr>
              <ns1:xfrm xmlns:ns1="http://schemas.openxmlformats.org/drawingml/2006/main">
                <ns1:off x="1519238" y="3138488"/>
                <ns1:ext cx="928688" cy="261938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11</ns7:t>
                </ns7:r>
              </ns7:p>
            </p:txBody>
          </p:sp>
          <p:sp>
            <p:nvSpPr>
              <p:cNvPr id="10062" name="Timestamped values"/>
              <p:cNvSpPr/>
              <p:nvPr/>
            </p:nvSpPr>
            <p:spPr>
              <ns1:xfrm xmlns:ns1="http://schemas.openxmlformats.org/drawingml/2006/main">
                <ns1:off x="333375" y="3495675"/>
                <ns1:ext cx="23812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3376A0"/>
                    </ns7:solidFill>
                    <ns7:latin typeface="Times New Roman"/>
                    <ns7:ea typeface="Times New Roman"/>
                  </ns7:rPr>
                  <ns7:t>Timestamped values</ns7:t>
                </ns7:r>
              </ns7:p>
            </p:txBody>
          </p:sp>
          <p:sp>
            <p:nvSpPr>
              <p:cNvPr id="10063" name="Units and missingness"/>
              <p:cNvSpPr/>
              <p:nvPr/>
            </p:nvSpPr>
            <p:spPr>
              <ns1:xfrm xmlns:ns1="http://schemas.openxmlformats.org/drawingml/2006/main">
                <ns1:off x="333375" y="3819525"/>
                <ns1:ext cx="23812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7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Units and missingness</ns7:t>
                </ns7:r>
              </ns7:p>
            </p:txBody>
          </p:sp>
        </p:grpSp>
        <p:grpSp>
          <p:nvGrpSpPr>
            <p:cNvPr id="10070" name="Temporal processing"/>
            <p:cNvGrpSpPr/>
            <p:nvPr/>
          </p:nvGrpSpPr>
          <p:grpSpPr>
            <ns1:xfrm xmlns:ns1="http://schemas.openxmlformats.org/drawingml/2006/main">
              <ns1:off x="3190875" y="2438400"/>
              <ns1:ext cx="2381250" cy="1666875"/>
              <ns1:chOff x="3190875" y="2438400"/>
              <ns1:chExt cx="2381250" cy="1666875"/>
            </ns1:xfrm>
          </p:grpSpPr>
          <p:sp>
            <p:nvSpPr>
              <p:cNvPr id="10065" name="Time axis"/>
              <p:cNvSpPr/>
              <p:nvPr/>
            </p:nvSpPr>
            <p:spPr>
              <ns1:xfrm xmlns:ns1="http://schemas.openxmlformats.org/drawingml/2006/main">
                <ns1:off x="3343275" y="2438400"/>
                <ns1:ext cx="2028825" cy="809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13000" h="85000" fill="none">
                    <ns2:moveTo>
                      <ns2:pt x="0" y="0"/>
                    </ns2:moveTo>
                    <ns2:lnTo>
                      <ns2:pt x="0" y="85000"/>
                    </ns2:lnTo>
                    <ns2:lnTo>
                      <ns2:pt x="213000" y="8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B8C6CE"/>
                </ns4:solidFill>
              </ns4:ln>
            </p:spPr>
          </p:sp>
          <p:sp>
            <p:nvSpPr>
              <p:cNvPr id="10066" name="Selected interval"/>
              <p:cNvSpPr/>
              <p:nvPr/>
            </p:nvSpPr>
            <p:spPr>
              <ns1:xfrm xmlns:ns1="http://schemas.openxmlformats.org/drawingml/2006/main">
                <ns1:off x="4377976" y="2438400"/>
                <ns1:ext cx="507206" cy="809625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EDF0F7"/>
              </ns3:solidFill>
              <ns4:ln xmlns:ns4="http://schemas.openxmlformats.org/drawingml/2006/main" w="9525" cap="rnd">
                <ns4:noFill/>
              </ns4:ln>
            </p:spPr>
          </p:sp>
          <p:sp>
            <p:nvSpPr>
              <p:cNvPr id="10067" name="Schematic series"/>
              <p:cNvSpPr/>
              <p:nvPr/>
            </p:nvSpPr>
            <p:spPr>
              <ns1:xfrm xmlns:ns1="http://schemas.openxmlformats.org/drawingml/2006/main">
                <ns1:off x="3343275" y="2746058"/>
                <ns1:ext cx="2028825" cy="242888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13000" h="25500" fill="none">
                    <ns2:moveTo>
                      <ns2:pt x="0" y="17000"/>
                    </ns2:moveTo>
                    <ns2:lnTo>
                      <ns2:pt x="17750" y="10200"/>
                    </ns2:lnTo>
                    <ns2:lnTo>
                      <ns2:pt x="35500" y="22100"/>
                    </ns2:lnTo>
                    <ns2:lnTo>
                      <ns2:pt x="53250" y="5100"/>
                    </ns2:lnTo>
                    <ns2:lnTo>
                      <ns2:pt x="71000" y="11900"/>
                    </ns2:lnTo>
                    <ns2:lnTo>
                      <ns2:pt x="88750" y="25500"/>
                    </ns2:lnTo>
                    <ns2:lnTo>
                      <ns2:pt x="106500" y="14450"/>
                    </ns2:lnTo>
                    <ns2:lnTo>
                      <ns2:pt x="124250" y="2550"/>
                    </ns2:lnTo>
                    <ns2:lnTo>
                      <ns2:pt x="142000" y="17850"/>
                    </ns2:lnTo>
                    <ns2:lnTo>
                      <ns2:pt x="159750" y="11900"/>
                    </ns2:lnTo>
                    <ns2:lnTo>
                      <ns2:pt x="177500" y="0"/>
                    </ns2:lnTo>
                    <ns2:lnTo>
                      <ns2:pt x="195250" y="14450"/>
                    </ns2:lnTo>
                    <ns2:lnTo>
                      <ns2:pt x="213000" y="595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68528D"/>
                </ns4:solidFill>
              </ns4:ln>
            </p:spPr>
          </p:sp>
          <p:sp>
            <p:nvSpPr>
              <p:cNvPr id="10068" name="Selected window"/>
              <p:cNvSpPr/>
              <p:nvPr/>
            </p:nvSpPr>
            <p:spPr>
              <ns1:xfrm xmlns:ns1="http://schemas.openxmlformats.org/drawingml/2006/main">
                <ns1:off x="3190875" y="3495675"/>
                <ns1:ext cx="23812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68528D"/>
                    </ns7:solidFill>
                    <ns7:latin typeface="Times New Roman"/>
                    <ns7:ea typeface="Times New Roman"/>
                  </ns7:rPr>
                  <ns7:t>Selected window</ns7:t>
                </ns7:r>
              </ns7:p>
            </p:txBody>
          </p:sp>
          <p:sp>
            <p:nvSpPr>
              <p:cNvPr id="10069" name="Transform or fit a model"/>
              <p:cNvSpPr/>
              <p:nvPr/>
            </p:nvSpPr>
            <p:spPr>
              <ns1:xfrm xmlns:ns1="http://schemas.openxmlformats.org/drawingml/2006/main">
                <ns1:off x="3190875" y="3819525"/>
                <ns1:ext cx="23812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7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Transform or fit a model</ns7:t>
                </ns7:r>
              </ns7:p>
            </p:txBody>
          </p:sp>
        </p:grpSp>
        <p:grpSp>
          <p:nvGrpSpPr>
            <p:cNvPr id="10078" name="Context and memory"/>
            <p:cNvGrpSpPr/>
            <p:nvPr/>
          </p:nvGrpSpPr>
          <p:grpSpPr>
            <ns1:xfrm xmlns:ns1="http://schemas.openxmlformats.org/drawingml/2006/main">
              <ns1:off x="6048375" y="2286000"/>
              <ns1:ext cx="2571750" cy="1819275"/>
              <ns1:chOff x="6048375" y="2286000"/>
              <ns1:chExt cx="2571750" cy="1819275"/>
            </ns1:xfrm>
          </p:grpSpPr>
          <p:sp>
            <p:nvSpPr>
              <p:cNvPr id="10071" name="Time axis"/>
              <p:cNvSpPr/>
              <p:nvPr/>
            </p:nvSpPr>
            <p:spPr>
              <ns1:xfrm xmlns:ns1="http://schemas.openxmlformats.org/drawingml/2006/main">
                <ns1:off x="6191250" y="2752725"/>
                <ns1:ext cx="2095500" cy="5524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20000" h="58000" fill="none">
                    <ns2:moveTo>
                      <ns2:pt x="0" y="0"/>
                    </ns2:moveTo>
                    <ns2:lnTo>
                      <ns2:pt x="0" y="58000"/>
                    </ns2:lnTo>
                    <ns2:lnTo>
                      <ns2:pt x="220000" y="58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B8C6CE"/>
                </ns4:solidFill>
              </ns4:ln>
            </p:spPr>
          </p:sp>
          <p:sp>
            <p:nvSpPr>
              <p:cNvPr id="10072" name="Schematic series"/>
              <p:cNvSpPr/>
              <p:nvPr/>
            </p:nvSpPr>
            <p:spPr>
              <ns1:xfrm xmlns:ns1="http://schemas.openxmlformats.org/drawingml/2006/main">
                <ns1:off x="6191250" y="2962656"/>
                <ns1:ext cx="2095500" cy="16573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20000" h="17400" fill="none">
                    <ns2:moveTo>
                      <ns2:pt x="0" y="11600"/>
                    </ns2:moveTo>
                    <ns2:lnTo>
                      <ns2:pt x="18333" y="6960"/>
                    </ns2:lnTo>
                    <ns2:lnTo>
                      <ns2:pt x="36667" y="15080"/>
                    </ns2:lnTo>
                    <ns2:lnTo>
                      <ns2:pt x="55000" y="3480"/>
                    </ns2:lnTo>
                    <ns2:lnTo>
                      <ns2:pt x="73333" y="8120"/>
                    </ns2:lnTo>
                    <ns2:lnTo>
                      <ns2:pt x="91667" y="17400"/>
                    </ns2:lnTo>
                    <ns2:lnTo>
                      <ns2:pt x="110000" y="9860"/>
                    </ns2:lnTo>
                    <ns2:lnTo>
                      <ns2:pt x="128333" y="1740"/>
                    </ns2:lnTo>
                    <ns2:lnTo>
                      <ns2:pt x="146667" y="12180"/>
                    </ns2:lnTo>
                    <ns2:lnTo>
                      <ns2:pt x="165000" y="8120"/>
                    </ns2:lnTo>
                    <ns2:lnTo>
                      <ns2:pt x="183333" y="0"/>
                    </ns2:lnTo>
                    <ns2:lnTo>
                      <ns2:pt x="201667" y="9860"/>
                    </ns2:lnTo>
                    <ns2:lnTo>
                      <ns2:pt x="220000" y="406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39846C"/>
                </ns4:solidFill>
              </ns4:ln>
            </p:spPr>
          </p:sp>
          <p:sp>
            <p:nvSpPr>
              <p:cNvPr id="10073" name="Document Event"/>
              <p:cNvSpPr/>
              <p:nvPr/>
            </p:nvSpPr>
            <p:spPr>
              <ns1:xfrm xmlns:ns1="http://schemas.openxmlformats.org/drawingml/2006/main">
                <ns1:off x="6762750" y="2286000"/>
                <ns1:ext cx="952500" cy="40005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solidFill>
                  <ns4:srgbClr val="DCE5EA"/>
                </ns4:solidFill>
              </ns4:ln>
            </p:spPr>
          </p:sp>
          <p:sp>
            <p:nvSpPr>
              <p:cNvPr id="10074" name="Event"/>
              <p:cNvSpPr/>
              <p:nvPr/>
            </p:nvSpPr>
            <p:spPr>
              <ns1:xfrm xmlns:ns1="http://schemas.openxmlformats.org/drawingml/2006/main">
                <ns1:off x="6810375" y="2324100"/>
                <ns1:ext cx="8572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1">
                    <ns7:solidFill>
                      <ns7:srgbClr val="39846C"/>
                    </ns7:solidFill>
                    <ns7:latin typeface="Times New Roman"/>
                    <ns7:ea typeface="Times New Roman"/>
                  </ns7:rPr>
                  <ns7:t>Event</ns7:t>
                </ns7:r>
              </ns7:p>
            </p:txBody>
          </p:sp>
          <p:sp>
            <p:nvSpPr>
              <p:cNvPr id="10075" name="Event aligned to series"/>
              <p:cNvSpPr/>
              <p:nvPr/>
            </p:nvSpPr>
            <p:spPr>
              <ns1:xfrm xmlns:ns1="http://schemas.openxmlformats.org/drawingml/2006/main">
                <ns1:off x="7239000" y="2686050"/>
                <ns1:ext cx="9525" cy="5905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000" h="62000" fill="none">
                    <ns2:moveTo>
                      <ns2:pt x="0" y="0"/>
                    </ns2:moveTo>
                    <ns2:lnTo>
                      <ns2:pt x="0" y="6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4288" cap="rnd">
                <ns4:solidFill>
                  <ns4:srgbClr val="39846C"/>
                </ns4:solidFill>
              </ns4:ln>
            </p:spPr>
          </p:sp>
          <p:sp>
            <p:nvSpPr>
              <p:cNvPr id="10076" name="Event and series aligned"/>
              <p:cNvSpPr/>
              <p:nvPr/>
            </p:nvSpPr>
            <p:spPr>
              <ns1:xfrm xmlns:ns1="http://schemas.openxmlformats.org/drawingml/2006/main">
                <ns1:off x="6048375" y="3495675"/>
                <ns1:ext cx="25717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39846C"/>
                    </ns7:solidFill>
                    <ns7:latin typeface="Times New Roman"/>
                    <ns7:ea typeface="Times New Roman"/>
                  </ns7:rPr>
                  <ns7:t>Event and series aligned</ns7:t>
                </ns7:r>
              </ns7:p>
            </p:txBody>
          </p:sp>
          <p:sp>
            <p:nvSpPr>
              <p:cNvPr id="10077" name="Retrieve relevant history"/>
              <p:cNvSpPr/>
              <p:nvPr/>
            </p:nvSpPr>
            <p:spPr>
              <ns1:xfrm xmlns:ns1="http://schemas.openxmlformats.org/drawingml/2006/main">
                <ns1:off x="6048375" y="3819525"/>
                <ns1:ext cx="25717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7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Retrieve relevant history</ns7:t>
                </ns7:r>
              </ns7:p>
            </p:txBody>
          </p:sp>
        </p:grpSp>
        <p:grpSp>
          <p:nvGrpSpPr>
            <p:cNvPr id="10088" name="Temporal validation"/>
            <p:cNvGrpSpPr/>
            <p:nvPr/>
          </p:nvGrpSpPr>
          <p:grpSpPr>
            <ns1:xfrm xmlns:ns1="http://schemas.openxmlformats.org/drawingml/2006/main">
              <ns1:off x="8858250" y="2333625"/>
              <ns1:ext cx="2381250" cy="1771650"/>
              <ns1:chOff x="8858250" y="2333625"/>
              <ns1:chExt cx="2381250" cy="1771650"/>
            </ns1:xfrm>
          </p:grpSpPr>
          <p:sp>
            <p:nvSpPr>
              <p:cNvPr id="10079" name="Release ≤ decision time"/>
              <p:cNvSpPr/>
              <p:nvPr/>
            </p:nvSpPr>
            <p:spPr>
              <ns1:xfrm xmlns:ns1="http://schemas.openxmlformats.org/drawingml/2006/main">
                <ns1:off x="8858250" y="2333625"/>
                <ns1:ext cx="23812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75" b="0">
                    <ns7:solidFill>
                      <ns7:srgbClr val="A87835"/>
                    </ns7:solidFill>
                    <ns7:latin typeface="Times New Roman"/>
                    <ns7:ea typeface="Times New Roman"/>
                  </ns7:rPr>
                  <ns7:t>Release ≤ decision time</ns7:t>
                </ns7:r>
              </ns7:p>
            </p:txBody>
          </p:sp>
          <p:grpSp>
            <p:nvGrpSpPr>
              <p:cNvPr id="10081" name="check editable icon"/>
              <p:cNvGrpSpPr/>
              <p:nvPr/>
            </p:nvGrpSpPr>
            <p:grpSpPr>
              <ns1:xfrm xmlns:ns1="http://schemas.openxmlformats.org/drawingml/2006/main">
                <ns1:off x="9048750" y="2809875"/>
                <ns1:ext cx="266700" cy="266700"/>
                <ns1:chOff x="9048750" y="2809875"/>
                <ns1:chExt cx="266700" cy="266700"/>
              </ns1:xfrm>
            </p:grpSpPr>
            <p:sp>
              <p:nvSpPr>
                <p:cNvPr id="10080" name="check-0"/>
                <p:cNvSpPr/>
                <p:nvPr/>
              </p:nvSpPr>
              <p:spPr>
                <ns1:xfrm xmlns:ns1="http://schemas.openxmlformats.org/drawingml/2006/main">
                  <ns1:off x="9048750" y="2809875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6000"/>
                      </ns2:moveTo>
                      <ns2:lnTo>
                        <ns2:pt x="9000" y="17000"/>
                      </ns2:lnTo>
                      <ns2:lnTo>
                        <ns2:pt x="4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39846C"/>
                  </ns4:solidFill>
                </ns4:ln>
              </p:spPr>
            </p:sp>
          </p:grpSp>
          <p:sp>
            <p:nvSpPr>
              <p:cNvPr id="10082" name="Available"/>
              <p:cNvSpPr/>
              <p:nvPr/>
            </p:nvSpPr>
            <p:spPr>
              <ns1:xfrm xmlns:ns1="http://schemas.openxmlformats.org/drawingml/2006/main">
                <ns1:off x="9429750" y="2790825"/>
                <ns1:ext cx="152400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39846C"/>
                    </ns7:solidFill>
                    <ns7:latin typeface="Times New Roman"/>
                    <ns7:ea typeface="Times New Roman"/>
                  </ns7:rPr>
                  <ns7:t>Available</ns7:t>
                </ns7:r>
              </ns7:p>
            </p:txBody>
          </p:sp>
          <p:grpSp>
            <p:nvGrpSpPr>
              <p:cNvPr id="10085" name="x editable icon"/>
              <p:cNvGrpSpPr/>
              <p:nvPr/>
            </p:nvGrpSpPr>
            <p:grpSpPr>
              <ns1:xfrm xmlns:ns1="http://schemas.openxmlformats.org/drawingml/2006/main">
                <ns1:off x="9048750" y="3200400"/>
                <ns1:ext cx="266700" cy="266700"/>
                <ns1:chOff x="9048750" y="3200400"/>
                <ns1:chExt cx="266700" cy="266700"/>
              </ns1:xfrm>
            </p:grpSpPr>
            <p:sp>
              <p:nvSpPr>
                <p:cNvPr id="10083" name="x-0"/>
                <p:cNvSpPr/>
                <p:nvPr/>
              </p:nvSpPr>
              <p:spPr>
                <ns1:xfrm xmlns:ns1="http://schemas.openxmlformats.org/drawingml/2006/main">
                  <ns1:off x="9048750" y="3200400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8000" y="6000"/>
                      </ns2:moveTo>
                      <ns2:lnTo>
                        <ns2:pt x="600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B7524A"/>
                  </ns4:solidFill>
                </ns4:ln>
              </p:spPr>
            </p:sp>
            <p:sp>
              <p:nvSpPr>
                <p:cNvPr id="10084" name="x-1"/>
                <p:cNvSpPr/>
                <p:nvPr/>
              </p:nvSpPr>
              <p:spPr>
                <ns1:xfrm xmlns:ns1="http://schemas.openxmlformats.org/drawingml/2006/main">
                  <ns1:off x="9048750" y="3200400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6000"/>
                      </ns2:moveTo>
                      <ns2:lnTo>
                        <ns2:pt x="1800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B7524A"/>
                  </ns4:solidFill>
                </ns4:ln>
              </p:spPr>
            </p:sp>
          </p:grpSp>
          <p:sp>
            <p:nvSpPr>
              <p:cNvPr id="10086" name="Late"/>
              <p:cNvSpPr/>
              <p:nvPr/>
            </p:nvSpPr>
            <p:spPr>
              <ns1:xfrm xmlns:ns1="http://schemas.openxmlformats.org/drawingml/2006/main">
                <ns1:off x="9429750" y="3181350"/>
                <ns1:ext cx="152400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B7524A"/>
                    </ns7:solidFill>
                    <ns7:latin typeface="Times New Roman"/>
                    <ns7:ea typeface="Times New Roman"/>
                  </ns7:rPr>
                  <ns7:t>Late</ns7:t>
                </ns7:r>
              </ns7:p>
            </p:txBody>
          </p:sp>
          <p:sp>
            <p:nvSpPr>
              <p:cNvPr id="10087" name="Admit or exclude evidence"/>
              <p:cNvSpPr/>
              <p:nvPr/>
            </p:nvSpPr>
            <p:spPr>
              <ns1:xfrm xmlns:ns1="http://schemas.openxmlformats.org/drawingml/2006/main">
                <ns1:off x="8858250" y="3819525"/>
                <ns1:ext cx="23812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7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Admit or exclude evidence</ns7:t>
                </ns7:r>
              </ns7:p>
            </p:txBody>
          </p:sp>
        </p:grpSp>
        <p:sp>
          <p:nvSpPr>
            <p:cNvPr id="10089" name="Lower separator"/>
            <p:cNvSpPr/>
            <p:nvPr/>
          </p:nvSpPr>
          <p:spPr>
            <ns1:xfrm xmlns:ns1="http://schemas.openxmlformats.org/drawingml/2006/main">
              <ns1:off x="238125" y="4295775"/>
              <ns1:ext cx="109537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50000" h="1000" fill="none">
                  <ns2:moveTo>
                    <ns2:pt x="0" y="0"/>
                  </ns2:moveTo>
                  <ns2:lnTo>
                    <ns2:pt x="115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CE5EA"/>
              </ns4:solidFill>
            </ns4:ln>
          </p:spPr>
        </p:sp>
        <p:grpSp>
          <p:nvGrpSpPr>
            <p:cNvPr id="10096" name="bot editable icon"/>
            <p:cNvGrpSpPr/>
            <p:nvPr/>
          </p:nvGrpSpPr>
          <p:grpSpPr>
            <ns1:xfrm xmlns:ns1="http://schemas.openxmlformats.org/drawingml/2006/main">
              <ns1:off x="5286375" y="4810125"/>
              <ns1:ext cx="619125" cy="619125"/>
              <ns1:chOff x="5286375" y="4810125"/>
              <ns1:chExt cx="619125" cy="619125"/>
            </ns1:xfrm>
          </p:grpSpPr>
          <p:sp>
            <p:nvSpPr>
              <p:cNvPr id="10090" name="bot-0"/>
              <p:cNvSpPr/>
              <p:nvPr/>
            </p:nvSpPr>
            <p:spPr>
              <ns1:xfrm xmlns:ns1="http://schemas.openxmlformats.org/drawingml/2006/main">
                <ns1:off x="5286375" y="48101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8000"/>
                    </ns2:moveTo>
                    <ns2:lnTo>
                      <ns2:pt x="12000" y="4000"/>
                    </ns2:lnTo>
                    <ns2:lnTo>
                      <ns2:pt x="8000" y="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68528D"/>
                </ns4:solidFill>
              </ns4:ln>
            </p:spPr>
          </p:sp>
          <p:sp>
            <p:nvSpPr>
              <p:cNvPr id="10091" name="bot-1"/>
              <p:cNvSpPr/>
              <p:nvPr/>
            </p:nvSpPr>
            <p:spPr>
              <ns1:xfrm xmlns:ns1="http://schemas.openxmlformats.org/drawingml/2006/main">
                <ns1:off x="5389562" y="5016500"/>
                <ns1:ext cx="412750" cy="309562"/>
              </ns1:xfrm>
              <ns2:prstGeom xmlns:ns2="http://schemas.openxmlformats.org/drawingml/2006/main" prst="roundRect">
                <ns2:avLst/>
              </ns2:prstGeom>
              <ns3:noFill xmlns:ns3="http://schemas.openxmlformats.org/drawingml/2006/main"/>
              <ns5:ln xmlns:ns5="http://schemas.openxmlformats.org/drawingml/2006/main" w="38695" cap="rnd">
                <ns5:solidFill>
                  <ns5:srgbClr val="68528D"/>
                </ns5:solidFill>
              </ns5:ln>
            </p:spPr>
          </p:sp>
          <p:sp>
            <p:nvSpPr>
              <p:cNvPr id="10092" name="bot-2"/>
              <p:cNvSpPr/>
              <p:nvPr/>
            </p:nvSpPr>
            <p:spPr>
              <ns1:xfrm xmlns:ns1="http://schemas.openxmlformats.org/drawingml/2006/main">
                <ns1:off x="5286375" y="48101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4000"/>
                    </ns2:moveTo>
                    <ns2:lnTo>
                      <ns2:pt x="4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68528D"/>
                </ns4:solidFill>
              </ns4:ln>
            </p:spPr>
          </p:sp>
          <p:sp>
            <p:nvSpPr>
              <p:cNvPr id="10093" name="bot-3"/>
              <p:cNvSpPr/>
              <p:nvPr/>
            </p:nvSpPr>
            <p:spPr>
              <ns1:xfrm xmlns:ns1="http://schemas.openxmlformats.org/drawingml/2006/main">
                <ns1:off x="5286375" y="48101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14000"/>
                    </ns2:moveTo>
                    <ns2:lnTo>
                      <ns2:pt x="22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68528D"/>
                </ns4:solidFill>
              </ns4:ln>
            </p:spPr>
          </p:sp>
          <p:sp>
            <p:nvSpPr>
              <p:cNvPr id="10094" name="bot-4"/>
              <p:cNvSpPr/>
              <p:nvPr/>
            </p:nvSpPr>
            <p:spPr>
              <ns1:xfrm xmlns:ns1="http://schemas.openxmlformats.org/drawingml/2006/main">
                <ns1:off x="5286375" y="48101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5000" y="13000"/>
                    </ns2:moveTo>
                    <ns2:lnTo>
                      <ns2:pt x="15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68528D"/>
                </ns4:solidFill>
              </ns4:ln>
            </p:spPr>
          </p:sp>
          <p:sp>
            <p:nvSpPr>
              <p:cNvPr id="10095" name="bot-5"/>
              <p:cNvSpPr/>
              <p:nvPr/>
            </p:nvSpPr>
            <p:spPr>
              <ns1:xfrm xmlns:ns1="http://schemas.openxmlformats.org/drawingml/2006/main">
                <ns1:off x="5286375" y="48101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9000" y="13000"/>
                    </ns2:moveTo>
                    <ns2:lnTo>
                      <ns2:pt x="9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68528D"/>
                </ns4:solidFill>
              </ns4:ln>
            </p:spPr>
          </p:sp>
        </p:grpSp>
        <p:sp>
          <p:nvSpPr>
            <p:cNvPr id="10097" name="LLM"/>
            <p:cNvSpPr/>
            <p:nvPr/>
          </p:nvSpPr>
          <p:spPr>
            <ns1:xfrm xmlns:ns1="http://schemas.openxmlformats.org/drawingml/2006/main">
              <ns1:off x="5095875" y="5505450"/>
              <ns1:ext cx="1000125" cy="3238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LLM</ns7:t>
              </ns7:r>
            </ns7:p>
          </p:txBody>
        </p:sp>
        <p:sp>
          <p:nvSpPr>
            <p:cNvPr id="10098" name="Requests"/>
            <p:cNvSpPr/>
            <p:nvPr/>
          </p:nvSpPr>
          <p:spPr>
            <ns1:xfrm xmlns:ns1="http://schemas.openxmlformats.org/drawingml/2006/main">
              <ns1:off x="2286000" y="4705350"/>
              <ns1:ext cx="1714500" cy="3048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Requests</ns7:t>
              </ns7:r>
            </ns7:p>
          </p:txBody>
        </p:sp>
        <p:sp>
          <p:nvSpPr>
            <p:cNvPr id="10099" name="Observations"/>
            <p:cNvSpPr/>
            <p:nvPr/>
          </p:nvSpPr>
          <p:spPr>
            <ns1:xfrm xmlns:ns1="http://schemas.openxmlformats.org/drawingml/2006/main">
              <ns1:off x="7572375" y="4705350"/>
              <ns1:ext cx="2095500" cy="3048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Observations</ns7:t>
              </ns7:r>
            </ns7:p>
          </p:txBody>
        </p:sp>
        <p:sp>
          <p:nvSpPr>
            <p:cNvPr id="10100" name="flow"/>
            <p:cNvSpPr/>
            <p:nvPr/>
          </p:nvSpPr>
          <p:spPr>
            <ns1:xfrm xmlns:ns1="http://schemas.openxmlformats.org/drawingml/2006/main">
              <ns1:off x="1524000" y="5162550"/>
              <ns1:ext cx="36385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382000" h="1000" fill="none">
                  <ns2:moveTo>
                    <ns2:pt x="382000" y="0"/>
                  </ns2:moveTo>
                  <ns2:lnTo>
                    <ns2:pt x="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8528D"/>
              </ns4:solidFill>
              <ns4:tailEnd type="triangle"/>
            </ns4:ln>
          </p:spPr>
        </p:sp>
        <p:sp>
          <p:nvSpPr>
            <p:cNvPr id="10101" name="Shared request bus"/>
            <p:cNvSpPr/>
            <p:nvPr/>
          </p:nvSpPr>
          <p:spPr>
            <ns1:xfrm xmlns:ns1="http://schemas.openxmlformats.org/drawingml/2006/main">
              <ns1:off x="1524000" y="4514850"/>
              <ns1:ext cx="8763000" cy="64770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920000" h="68000" fill="none">
                  <ns2:moveTo>
                    <ns2:pt x="0" y="68000"/>
                  </ns2:moveTo>
                  <ns2:lnTo>
                    <ns2:pt x="0" y="0"/>
                  </ns2:lnTo>
                  <ns2:lnTo>
                    <ns2:pt x="92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4288" cap="rnd">
              <ns4:solidFill>
                <ns4:srgbClr val="68528D"/>
              </ns4:solidFill>
            </ns4:ln>
          </p:spPr>
        </p:sp>
        <p:sp>
          <p:nvSpPr>
            <p:cNvPr id="10102" name="flow"/>
            <p:cNvSpPr/>
            <p:nvPr/>
          </p:nvSpPr>
          <p:spPr>
            <ns1:xfrm xmlns:ns1="http://schemas.openxmlformats.org/drawingml/2006/main">
              <ns1:off x="10287000" y="4171950"/>
              <ns1:ext cx="9525" cy="34290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000" h="36000" fill="none">
                  <ns2:moveTo>
                    <ns2:pt x="0" y="36000"/>
                  </ns2:moveTo>
                  <ns2:lnTo>
                    <ns2:pt x="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8528D"/>
              </ns4:solidFill>
              <ns4:tailEnd type="triangle"/>
            </ns4:ln>
          </p:spPr>
        </p:sp>
        <p:sp>
          <p:nvSpPr>
            <p:cNvPr id="10105" name="flow"/>
            <p:cNvSpPr/>
            <p:nvPr/>
          </p:nvSpPr>
          <p:spPr>
            <ns1:xfrm xmlns:ns1="http://schemas.openxmlformats.org/drawingml/2006/main">
              <ns1:off x="6048375" y="5162550"/>
              <ns1:ext cx="3952875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415000" h="1000" fill="none">
                  <ns2:moveTo>
                    <ns2:pt x="415000" y="0"/>
                  </ns2:moveTo>
                  <ns2:lnTo>
                    <ns2:pt x="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39846C"/>
              </ns4:solidFill>
              <ns4:tailEnd type="triangle"/>
            </ns4:ln>
          </p:spPr>
        </p:sp>
        <p:sp>
          <p:nvSpPr>
            <p:cNvPr id="10104" name="Observation return"/>
            <p:cNvSpPr/>
            <p:nvPr/>
          </p:nvSpPr>
          <p:spPr>
            <ns1:xfrm xmlns:ns1="http://schemas.openxmlformats.org/drawingml/2006/main">
              <ns1:off x="10001250" y="4333875"/>
              <ns1:ext cx="638175" cy="82867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67000" h="87000" fill="none">
                  <ns2:moveTo>
                    <ns2:pt x="0" y="87000"/>
                  </ns2:moveTo>
                  <ns2:lnTo>
                    <ns2:pt x="67000" y="87000"/>
                  </ns2:lnTo>
                  <ns2:lnTo>
                    <ns2:pt x="67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4288" cap="rnd">
              <ns4:solidFill>
                <ns4:srgbClr val="39846C"/>
              </ns4:solidFill>
            </ns4:ln>
          </p:spPr>
        </p:sp>
        <p:sp>
          <p:nvSpPr>
            <p:cNvPr id="10106" name="flow"/>
            <p:cNvSpPr/>
            <p:nvPr/>
          </p:nvSpPr>
          <p:spPr>
            <ns1:xfrm xmlns:ns1="http://schemas.openxmlformats.org/drawingml/2006/main">
              <ns1:off x="1524000" y="4171950"/>
              <ns1:ext cx="9525" cy="34290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000" h="36000" fill="none">
                  <ns2:moveTo>
                    <ns2:pt x="0" y="36000"/>
                  </ns2:moveTo>
                  <ns2:lnTo>
                    <ns2:pt x="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8528D"/>
              </ns4:solidFill>
              <ns4:tailEnd type="triangle"/>
            </ns4:ln>
          </p:spPr>
        </p:sp>
        <p:sp>
          <p:nvSpPr>
            <p:cNvPr id="10107" name="flow"/>
            <p:cNvSpPr/>
            <p:nvPr/>
          </p:nvSpPr>
          <p:spPr>
            <ns1:xfrm xmlns:ns1="http://schemas.openxmlformats.org/drawingml/2006/main">
              <ns1:off x="4381500" y="4171950"/>
              <ns1:ext cx="9525" cy="34290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000" h="36000" fill="none">
                  <ns2:moveTo>
                    <ns2:pt x="0" y="36000"/>
                  </ns2:moveTo>
                  <ns2:lnTo>
                    <ns2:pt x="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8528D"/>
              </ns4:solidFill>
              <ns4:tailEnd type="triangle"/>
            </ns4:ln>
          </p:spPr>
        </p:sp>
        <p:sp>
          <p:nvSpPr>
            <p:cNvPr id="10108" name="flow"/>
            <p:cNvSpPr/>
            <p:nvPr/>
          </p:nvSpPr>
          <p:spPr>
            <ns1:xfrm xmlns:ns1="http://schemas.openxmlformats.org/drawingml/2006/main">
              <ns1:off x="7239000" y="4171950"/>
              <ns1:ext cx="9525" cy="34290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000" h="36000" fill="none">
                  <ns2:moveTo>
                    <ns2:pt x="0" y="36000"/>
                  </ns2:moveTo>
                  <ns2:lnTo>
                    <ns2:pt x="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8528D"/>
              </ns4:solidFill>
              <ns4:tailEnd type="triangle"/>
            </ns4:ln>
          </p:spPr>
        </p: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2026-10-21T08:48:17.8370000Z</dcterms:created>
  <dcterms:modified xsi:type="dcterms:W3CDTF">2026-10-21T08:48:17.8370000Z</dcterms:modified>
</coreProperties>
</file>