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371bb0d6c46c4" /><Relationship Type="http://schemas.openxmlformats.org/officeDocument/2006/relationships/extended-properties" Target="/docProps/app.xml" Id="R73f1e61c9cce43c1" /><Relationship Type="http://schemas.openxmlformats.org/officeDocument/2006/relationships/officeDocument" Target="/ppt/presentation.xml" Id="Ra9b2ea8af4214f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5d84584a24723"/>
  </p:sldMasterIdLst>
  <p:notesMasterIdLst>
    <p:notesMasterId xmlns:r="http://schemas.openxmlformats.org/officeDocument/2006/relationships" r:id="R1e01f6ac64db4c8d"/>
  </p:notesMasterIdLst>
  <p:sldIdLst>
    <p:sldId xmlns:r="http://schemas.openxmlformats.org/officeDocument/2006/relationships" id="256" r:id="R72c2806f03ff4110"/>
  </p:sldIdLst>
  <p:sldSz cx="11430000" cy="708660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2c1d1c6f884529" /><Relationship Type="http://schemas.openxmlformats.org/officeDocument/2006/relationships/slideMaster" Target="/ppt/slideMasters/slideMaster1.xml" Id="R81b5d84584a24723" /><Relationship Type="http://schemas.openxmlformats.org/officeDocument/2006/relationships/notesMaster" Target="/ppt/notesMasters/notesMaster1.xml" Id="R1e01f6ac64db4c8d" /><Relationship Type="http://schemas.openxmlformats.org/officeDocument/2006/relationships/presProps" Target="/ppt/presProps.xml" Id="R825c9538e0af46d6" /><Relationship Type="http://schemas.openxmlformats.org/officeDocument/2006/relationships/tableStyles" Target="/ppt/tableStyles.xml" Id="R2befae751af94f4d" /><Relationship Type="http://schemas.openxmlformats.org/officeDocument/2006/relationships/slide" Target="/ppt/slides/slide1.xml" Id="R72c2806f03ff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c23a3b5bb649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88ce91243c4b16" /><Relationship Type="http://schemas.openxmlformats.org/officeDocument/2006/relationships/notesMaster" Target="/ppt/notesMasters/notesMaster1.xml" Id="Rb5ec5c191aec42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04.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35bc1179c46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b4816667148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6204b217245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3f2172cb64f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917d7cca947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dd7ffcdbd40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9B8C54-7EE8-4075-8BFE-EC00144091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022600"/>
            <a:ext cx="9144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FB0001-4F9C-40B9-B14D-499DC24CD8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4400550"/>
            <a:ext cx="8001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C5D9A3-EE92-4DA1-B213-942A6501D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333750"/>
            <a:ext cx="914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6EDA82-D0D0-433E-8ABA-44D631C2D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4B1CE2-8535-4D3A-8305-88695A3AA3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1014412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C69CAC-FB43-436F-8046-4282C7013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55654D-6E4D-4ACF-8161-5175F5A18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FE88FE-53EF-4A2C-AA44-388B27AFE7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3338E0-DD95-4C56-AFEB-53A5CF1C5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A22FCF-9518-4BF2-A878-F2A9D1A3B9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8f6a8a24184c59" /><Relationship Type="http://schemas.openxmlformats.org/officeDocument/2006/relationships/slideLayout" Target="/ppt/slideLayouts/slideLayout1.xml" Id="Rff5521ed2189498d" /><Relationship Type="http://schemas.openxmlformats.org/officeDocument/2006/relationships/slideLayout" Target="/ppt/slideLayouts/slideLayout2.xml" Id="R11423a29087b47d7" /><Relationship Type="http://schemas.openxmlformats.org/officeDocument/2006/relationships/slideLayout" Target="/ppt/slideLayouts/slideLayout3.xml" Id="Rbdca2308b4894070" /><Relationship Type="http://schemas.openxmlformats.org/officeDocument/2006/relationships/slideLayout" Target="/ppt/slideLayouts/slideLayout4.xml" Id="R69a0d527375b417e" /><Relationship Type="http://schemas.openxmlformats.org/officeDocument/2006/relationships/slideLayout" Target="/ppt/slideLayouts/slideLayout5.xml" Id="R5c27c2068f8a4a41" /><Relationship Type="http://schemas.openxmlformats.org/officeDocument/2006/relationships/slideLayout" Target="/ppt/slideLayouts/slideLayout6.xml" Id="R59195128abf1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521ed2189498d"/>
    <p:sldLayoutId xmlns:r="http://schemas.openxmlformats.org/officeDocument/2006/relationships" id="2147483650" r:id="R11423a29087b47d7"/>
    <p:sldLayoutId xmlns:r="http://schemas.openxmlformats.org/officeDocument/2006/relationships" id="2147483651" r:id="Rbdca2308b4894070"/>
    <p:sldLayoutId xmlns:r="http://schemas.openxmlformats.org/officeDocument/2006/relationships" id="2147483652" r:id="R69a0d527375b417e"/>
    <p:sldLayoutId xmlns:r="http://schemas.openxmlformats.org/officeDocument/2006/relationships" id="2147483653" r:id="R5c27c2068f8a4a41"/>
    <p:sldLayoutId xmlns:r="http://schemas.openxmlformats.org/officeDocument/2006/relationships" id="2147483654" r:id="R59195128abf1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110f71130489e" /><Relationship Type="http://schemas.openxmlformats.org/officeDocument/2006/relationships/notesSlide" Target="/ppt/notesSlides/notesSlide1.xml" Id="R6c27d21e615641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219" name="Figure 4 — ungroup to edit tasks, functions and workflow"/>
          <p:cNvGrpSpPr/>
          <p:nvPr/>
        </p:nvGrpSpPr>
        <p:grpSpPr>
          <ns1:xfrm xmlns:ns1="http://schemas.openxmlformats.org/drawingml/2006/main">
            <ns1:off x="190500" y="76200"/>
            <ns1:ext cx="11049000" cy="6934200"/>
            <ns1:chOff x="190500" y="76200"/>
            <ns1:chExt cx="11049000" cy="6934200"/>
          </ns1:xfrm>
        </p:grpSpPr>
        <p:sp>
          <p:nvSpPr>
            <p:cNvPr id="10001" name="(a) Tasks and temporal functions"/>
            <p:cNvSpPr/>
            <p:nvPr/>
          </p:nvSpPr>
          <p:spPr>
            <ns1:xfrm xmlns:ns1="http://schemas.openxmlformats.org/drawingml/2006/main">
              <ns1:off x="190500" y="76200"/>
              <ns1:ext cx="8572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l"/>
              <ns7:r>
                <ns7:rPr sz="2025" b="1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(a) Tasks and temporal functions</ns7:t>
              </ns7:r>
            </ns7:p>
          </p:txBody>
        </p:sp>
        <p:grpSp>
          <p:nvGrpSpPr>
            <p:cNvPr id="10010" name="Task Forecasting and prediction"/>
            <p:cNvGrpSpPr/>
            <p:nvPr/>
          </p:nvGrpSpPr>
          <p:grpSpPr>
            <ns1:xfrm xmlns:ns1="http://schemas.openxmlformats.org/drawingml/2006/main">
              <ns1:off x="1905000" y="542925"/>
              <ns1:ext cx="2286000" cy="990600"/>
              <ns1:chOff x="1905000" y="542925"/>
              <ns1:chExt cx="2286000" cy="990600"/>
            </ns1:xfrm>
          </p:grpSpPr>
          <p:grpSp>
            <p:nvGrpSpPr>
              <p:cNvPr id="10008" name="chart-no-axes-combined editable icon"/>
              <p:cNvGrpSpPr/>
              <p:nvPr/>
            </p:nvGrpSpPr>
            <p:grpSpPr>
              <ns1:xfrm xmlns:ns1="http://schemas.openxmlformats.org/drawingml/2006/main">
                <ns1:off x="2828925" y="542925"/>
                <ns1:ext cx="409575" cy="409575"/>
                <ns1:chOff x="2828925" y="542925"/>
                <ns1:chExt cx="409575" cy="409575"/>
              </ns1:xfrm>
            </p:grpSpPr>
            <p:sp>
              <p:nvSpPr>
                <p:cNvPr id="10002" name="chart-no-axes-combined-0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  <p:sp>
              <p:nvSpPr>
                <p:cNvPr id="10003" name="chart-no-axes-combined-1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639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  <p:sp>
              <p:nvSpPr>
                <p:cNvPr id="10004" name="chart-no-axes-combined-2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0656"/>
                      </ns2:move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  <p:sp>
              <p:nvSpPr>
                <p:cNvPr id="10005" name="chart-no-axes-combined-3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2000" y="3000"/>
                      </ns2:moveTo>
                      <ns2:lnTo>
                        <ns2:pt x="13354" y="11646"/>
                      </ns2:lnTo>
                      <ns2:cubicBezTo>
                        <ns2:pt x="13260" y="11740"/>
                        <ns2:pt x="13133" y="11793"/>
                        <ns2:pt x="13000" y="11793"/>
                      </ns2:cubicBezTo>
                      <ns2:cubicBezTo>
                        <ns2:pt x="12867" y="11793"/>
                        <ns2:pt x="12740" y="11740"/>
                        <ns2:pt x="12646" y="11646"/>
                      </ns2:cubicBezTo>
                      <ns2:lnTo>
                        <ns2:pt x="9354" y="8354"/>
                      </ns2:lnTo>
                      <ns2:cubicBezTo>
                        <ns2:pt x="9159" y="8159"/>
                        <ns2:pt x="8842" y="8159"/>
                        <ns2:pt x="8647" y="8354"/>
                      </ns2:cubicBezTo>
                      <ns2:lnTo>
                        <ns2:pt x="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  <p:sp>
              <p:nvSpPr>
                <p:cNvPr id="10006" name="chart-no-axes-combined-4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8463"/>
                      </ns2:moveTo>
                      <ns2:lnTo>
                        <ns2:pt x="4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  <p:sp>
              <p:nvSpPr>
                <p:cNvPr id="10007" name="chart-no-axes-combined-5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656"/>
                      </ns2:moveTo>
                      <ns2:lnTo>
                        <ns2:pt x="8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009" name="Forecasting&#10;and prediction"/>
              <p:cNvSpPr/>
              <p:nvPr/>
            </p:nvSpPr>
            <p:spPr>
              <ns1:xfrm xmlns:ns1="http://schemas.openxmlformats.org/drawingml/2006/main">
                <ns1:off x="1905000" y="1000125"/>
                <ns1:ext cx="2286000" cy="5334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Forecasting</ns7:t>
                </ns7:r>
              </ns7:p>
              <ns8:p xmlns:ns8="http://schemas.openxmlformats.org/drawingml/2006/main">
                <ns8:pPr algn="ctr"/>
                <ns8:r>
                  <ns8:rPr sz="1725" b="1">
                    <ns8:solidFill>
                      <ns8:srgbClr val="327EA6"/>
                    </ns8:solidFill>
                    <ns8:latin typeface="Times New Roman"/>
                    <ns8:ea typeface="Times New Roman"/>
                  </ns8:rPr>
                  <ns8:t>and prediction</ns8:t>
                </ns8:r>
              </ns8:p>
            </p:txBody>
          </p:sp>
        </p:grpSp>
        <p:grpSp>
          <p:nvGrpSpPr>
            <p:cNvPr id="10016" name="Task Augmentation and synthesis"/>
            <p:cNvGrpSpPr/>
            <p:nvPr/>
          </p:nvGrpSpPr>
          <p:grpSpPr>
            <ns1:xfrm xmlns:ns1="http://schemas.openxmlformats.org/drawingml/2006/main">
              <ns1:off x="4238625" y="542925"/>
              <ns1:ext cx="2286000" cy="990600"/>
              <ns1:chOff x="4238625" y="542925"/>
              <ns1:chExt cx="2286000" cy="990600"/>
            </ns1:xfrm>
          </p:grpSpPr>
          <p:grpSp>
            <p:nvGrpSpPr>
              <p:cNvPr id="10014" name="layers editable icon"/>
              <p:cNvGrpSpPr/>
              <p:nvPr/>
            </p:nvGrpSpPr>
            <p:grpSpPr>
              <ns1:xfrm xmlns:ns1="http://schemas.openxmlformats.org/drawingml/2006/main">
                <ns1:off x="5162550" y="542925"/>
                <ns1:ext cx="409575" cy="409575"/>
                <ns1:chOff x="5162550" y="542925"/>
                <ns1:chExt cx="409575" cy="409575"/>
              </ns1:xfrm>
            </p:grpSpPr>
            <p:sp>
              <p:nvSpPr>
                <p:cNvPr id="10011" name="layers-0"/>
                <p:cNvSpPr/>
                <p:nvPr/>
              </p:nvSpPr>
              <p:spPr>
                <ns1:xfrm xmlns:ns1="http://schemas.openxmlformats.org/drawingml/2006/main">
                  <ns1:off x="5162550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830" y="2180"/>
                      </ns2:moveTo>
                      <ns2:cubicBezTo>
                        <ns2:pt x="12303" y="1940"/>
                        <ns2:pt x="11697" y="1940"/>
                        <ns2:pt x="11170" y="2180"/>
                      </ns2:cubicBezTo>
                      <ns2:lnTo>
                        <ns2:pt x="2600" y="6080"/>
                      </ns2:lnTo>
                      <ns2:cubicBezTo>
                        <ns2:pt x="2237" y="6240"/>
                        <ns2:pt x="2003" y="6599"/>
                        <ns2:pt x="2003" y="6995"/>
                      </ns2:cubicBezTo>
                      <ns2:cubicBezTo>
                        <ns2:pt x="2003" y="7391"/>
                        <ns2:pt x="2237" y="7750"/>
                        <ns2:pt x="2600" y="7910"/>
                      </ns2:cubicBezTo>
                      <ns2:lnTo>
                        <ns2:pt x="11180" y="11820"/>
                      </ns2:lnTo>
                      <ns2:cubicBezTo>
                        <ns2:pt x="11707" y="12060"/>
                        <ns2:pt x="12313" y="12060"/>
                        <ns2:pt x="12840" y="11820"/>
                      </ns2:cubicBezTo>
                      <ns2:lnTo>
                        <ns2:pt x="21420" y="7920"/>
                      </ns2:lnTo>
                      <ns2:cubicBezTo>
                        <ns2:pt x="21783" y="7760"/>
                        <ns2:pt x="22017" y="7401"/>
                        <ns2:pt x="22017" y="7005"/>
                      </ns2:cubicBezTo>
                      <ns2:cubicBezTo>
                        <ns2:pt x="22017" y="6609"/>
                        <ns2:pt x="21783" y="6250"/>
                        <ns2:pt x="21420" y="6090"/>
                      </ns2:cubicBezTo>
                      <ns2:lnTo>
                        <ns2:pt x="12830" y="218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705A99"/>
                  </ns4:solidFill>
                </ns4:ln>
              </p:spPr>
            </p:sp>
            <p:sp>
              <p:nvSpPr>
                <p:cNvPr id="10012" name="layers-1"/>
                <p:cNvSpPr/>
                <p:nvPr/>
              </p:nvSpPr>
              <p:spPr>
                <ns1:xfrm xmlns:ns1="http://schemas.openxmlformats.org/drawingml/2006/main">
                  <ns1:off x="5162550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cubicBezTo>
                        <ns2:pt x="1999" y="12391"/>
                        <ns2:pt x="2226" y="12746"/>
                        <ns2:pt x="2580" y="12910"/>
                      </ns2:cubicBezTo>
                      <ns2:lnTo>
                        <ns2:pt x="11180" y="16820"/>
                      </ns2:lnTo>
                      <ns2:cubicBezTo>
                        <ns2:pt x="11704" y="17057"/>
                        <ns2:pt x="12306" y="17057"/>
                        <ns2:pt x="12830" y="16820"/>
                      </ns2:cubicBezTo>
                      <ns2:lnTo>
                        <ns2:pt x="21410" y="12920"/>
                      </ns2:lnTo>
                      <ns2:cubicBezTo>
                        <ns2:pt x="21772" y="12757"/>
                        <ns2:pt x="22003" y="12397"/>
                        <ns2:pt x="22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705A99"/>
                  </ns4:solidFill>
                </ns4:ln>
              </p:spPr>
            </p:sp>
            <p:sp>
              <p:nvSpPr>
                <p:cNvPr id="10013" name="layers-2"/>
                <p:cNvSpPr/>
                <p:nvPr/>
              </p:nvSpPr>
              <p:spPr>
                <ns1:xfrm xmlns:ns1="http://schemas.openxmlformats.org/drawingml/2006/main">
                  <ns1:off x="5162550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7000"/>
                      </ns2:moveTo>
                      <ns2:cubicBezTo>
                        <ns2:pt x="1999" y="17391"/>
                        <ns2:pt x="2226" y="17746"/>
                        <ns2:pt x="2580" y="17910"/>
                      </ns2:cubicBezTo>
                      <ns2:lnTo>
                        <ns2:pt x="11180" y="21820"/>
                      </ns2:lnTo>
                      <ns2:cubicBezTo>
                        <ns2:pt x="11704" y="22057"/>
                        <ns2:pt x="12306" y="22057"/>
                        <ns2:pt x="12830" y="21820"/>
                      </ns2:cubicBezTo>
                      <ns2:lnTo>
                        <ns2:pt x="21410" y="17920"/>
                      </ns2:lnTo>
                      <ns2:cubicBezTo>
                        <ns2:pt x="21772" y="17757"/>
                        <ns2:pt x="22003" y="17397"/>
                        <ns2:pt x="22000" y="17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015" name="Augmentation&#10;and synthesis"/>
              <p:cNvSpPr/>
              <p:nvPr/>
            </p:nvSpPr>
            <p:spPr>
              <ns1:xfrm xmlns:ns1="http://schemas.openxmlformats.org/drawingml/2006/main">
                <ns1:off x="4238625" y="1000125"/>
                <ns1:ext cx="2286000" cy="5334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1">
                    <ns7:solidFill>
                      <ns7:srgbClr val="705A99"/>
                    </ns7:solidFill>
                    <ns7:latin typeface="Times New Roman"/>
                    <ns7:ea typeface="Times New Roman"/>
                  </ns7:rPr>
                  <ns7:t>Augmentation</ns7:t>
                </ns7:r>
              </ns7:p>
              <ns8:p xmlns:ns8="http://schemas.openxmlformats.org/drawingml/2006/main">
                <ns8:pPr algn="ctr"/>
                <ns8:r>
                  <ns8:rPr sz="1725" b="1">
                    <ns8:solidFill>
                      <ns8:srgbClr val="705A99"/>
                    </ns8:solidFill>
                    <ns8:latin typeface="Times New Roman"/>
                    <ns8:ea typeface="Times New Roman"/>
                  </ns8:rPr>
                  <ns8:t>and synthesis</ns8:t>
                </ns8:r>
              </ns8:p>
            </p:txBody>
          </p:sp>
        </p:grpSp>
        <p:grpSp>
          <p:nvGrpSpPr>
            <p:cNvPr id="10025" name="Task Anomaly detection and diagnosis"/>
            <p:cNvGrpSpPr/>
            <p:nvPr/>
          </p:nvGrpSpPr>
          <p:grpSpPr>
            <ns1:xfrm xmlns:ns1="http://schemas.openxmlformats.org/drawingml/2006/main">
              <ns1:off x="6572250" y="542925"/>
              <ns1:ext cx="2286000" cy="990600"/>
              <ns1:chOff x="6572250" y="542925"/>
              <ns1:chExt cx="2286000" cy="990600"/>
            </ns1:xfrm>
          </p:grpSpPr>
          <p:grpSp>
            <p:nvGrpSpPr>
              <p:cNvPr id="10023" name="scan-search editable icon"/>
              <p:cNvGrpSpPr/>
              <p:nvPr/>
            </p:nvGrpSpPr>
            <p:grpSpPr>
              <ns1:xfrm xmlns:ns1="http://schemas.openxmlformats.org/drawingml/2006/main">
                <ns1:off x="7496175" y="542925"/>
                <ns1:ext cx="409575" cy="409575"/>
                <ns1:chOff x="7496175" y="542925"/>
                <ns1:chExt cx="409575" cy="409575"/>
              </ns1:xfrm>
            </p:grpSpPr>
            <p:sp>
              <p:nvSpPr>
                <p:cNvPr id="10017" name="scan-search-0"/>
                <p:cNvSpPr/>
                <p:nvPr/>
              </p:nvSpPr>
              <p:spPr>
                <ns1:xfrm xmlns:ns1="http://schemas.openxmlformats.org/drawingml/2006/main">
                  <ns1:off x="749617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3000" y="5000"/>
                      </ns2:lnTo>
                      <ns2:cubicBezTo>
                        <ns2:pt x="3000" y="3895"/>
                        <ns2:pt x="3895" y="3000"/>
                        <ns2:pt x="5000" y="3000"/>
                      </ns2:cubicBezTo>
                      <ns2:lnTo>
                        <ns2:pt x="7000" y="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58972"/>
                  </ns4:solidFill>
                </ns4:ln>
              </p:spPr>
            </p:sp>
            <p:sp>
              <p:nvSpPr>
                <p:cNvPr id="10018" name="scan-search-1"/>
                <p:cNvSpPr/>
                <p:nvPr/>
              </p:nvSpPr>
              <p:spPr>
                <ns1:xfrm xmlns:ns1="http://schemas.openxmlformats.org/drawingml/2006/main">
                  <ns1:off x="749617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7000" y="3000"/>
                      </ns2:moveTo>
                      <ns2:lnTo>
                        <ns2:pt x="19000" y="3000"/>
                      </ns2:lnTo>
                      <ns2:cubicBezTo>
                        <ns2:pt x="20105" y="3000"/>
                        <ns2:pt x="21000" y="3895"/>
                        <ns2:pt x="21000" y="5000"/>
                      </ns2:cubicBezTo>
                      <ns2:lnTo>
                        <ns2:pt x="2100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58972"/>
                  </ns4:solidFill>
                </ns4:ln>
              </p:spPr>
            </p:sp>
            <p:sp>
              <p:nvSpPr>
                <p:cNvPr id="10019" name="scan-search-2"/>
                <p:cNvSpPr/>
                <p:nvPr/>
              </p:nvSpPr>
              <p:spPr>
                <ns1:xfrm xmlns:ns1="http://schemas.openxmlformats.org/drawingml/2006/main">
                  <ns1:off x="749617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7000"/>
                      </ns2:moveTo>
                      <ns2:lnTo>
                        <ns2:pt x="21000" y="19000"/>
                      </ns2:lnTo>
                      <ns2:cubicBezTo>
                        <ns2:pt x="21000" y="20105"/>
                        <ns2:pt x="20105" y="21000"/>
                        <ns2:pt x="19000" y="21000"/>
                      </ns2:cubicBezTo>
                      <ns2:lnTo>
                        <ns2:pt x="17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58972"/>
                  </ns4:solidFill>
                </ns4:ln>
              </p:spPr>
            </p:sp>
            <p:sp>
              <p:nvSpPr>
                <p:cNvPr id="10020" name="scan-search-3"/>
                <p:cNvSpPr/>
                <p:nvPr/>
              </p:nvSpPr>
              <p:spPr>
                <ns1:xfrm xmlns:ns1="http://schemas.openxmlformats.org/drawingml/2006/main">
                  <ns1:off x="749617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000" y="21000"/>
                      </ns2:moveTo>
                      <ns2:lnTo>
                        <ns2:pt x="5000" y="21000"/>
                      </ns2:lnTo>
                      <ns2:cubicBezTo>
                        <ns2:pt x="3895" y="21000"/>
                        <ns2:pt x="3000" y="20105"/>
                        <ns2:pt x="3000" y="19000"/>
                      </ns2:cubicBezTo>
                      <ns2:lnTo>
                        <ns2:pt x="3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58972"/>
                  </ns4:solidFill>
                </ns4:ln>
              </p:spPr>
            </p:sp>
            <p:sp>
              <p:nvSpPr>
                <p:cNvPr id="10021" name="scan-search-4"/>
                <p:cNvSpPr/>
                <p:nvPr/>
              </p:nvSpPr>
              <p:spPr>
                <ns1:xfrm xmlns:ns1="http://schemas.openxmlformats.org/drawingml/2006/main">
                  <ns1:off x="7649766" y="696516"/>
                  <ns1:ext cx="102394" cy="102394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25598" cap="rnd">
                  <ns5:solidFill>
                    <ns5:srgbClr val="358972"/>
                  </ns5:solidFill>
                </ns5:ln>
              </p:spPr>
            </p:sp>
            <p:sp>
              <p:nvSpPr>
                <p:cNvPr id="10022" name="scan-search-5"/>
                <p:cNvSpPr/>
                <p:nvPr/>
              </p:nvSpPr>
              <p:spPr>
                <ns1:xfrm xmlns:ns1="http://schemas.openxmlformats.org/drawingml/2006/main">
                  <ns1:off x="749617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6000"/>
                      </ns2:moveTo>
                      <ns2:lnTo>
                        <ns2:pt x="14100" y="141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024" name="Anomaly detection&#10;and diagnosis"/>
              <p:cNvSpPr/>
              <p:nvPr/>
            </p:nvSpPr>
            <p:spPr>
              <ns1:xfrm xmlns:ns1="http://schemas.openxmlformats.org/drawingml/2006/main">
                <ns1:off x="6572250" y="1000125"/>
                <ns1:ext cx="2286000" cy="5334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1">
                    <ns7:solidFill>
                      <ns7:srgbClr val="358972"/>
                    </ns7:solidFill>
                    <ns7:latin typeface="Times New Roman"/>
                    <ns7:ea typeface="Times New Roman"/>
                  </ns7:rPr>
                  <ns7:t>Anomaly detection</ns7:t>
                </ns7:r>
              </ns7:p>
              <ns8:p xmlns:ns8="http://schemas.openxmlformats.org/drawingml/2006/main">
                <ns8:pPr algn="ctr"/>
                <ns8:r>
                  <ns8:rPr sz="1725" b="1">
                    <ns8:solidFill>
                      <ns8:srgbClr val="358972"/>
                    </ns8:solidFill>
                    <ns8:latin typeface="Times New Roman"/>
                    <ns8:ea typeface="Times New Roman"/>
                  </ns8:rPr>
                  <ns8:t>and diagnosis</ns8:t>
                </ns8:r>
              </ns8:p>
            </p:txBody>
          </p:sp>
        </p:grpSp>
        <p:grpSp>
          <p:nvGrpSpPr>
            <p:cNvPr id="10031" name="Task Decision support"/>
            <p:cNvGrpSpPr/>
            <p:nvPr/>
          </p:nvGrpSpPr>
          <p:grpSpPr>
            <ns1:xfrm xmlns:ns1="http://schemas.openxmlformats.org/drawingml/2006/main">
              <ns1:off x="8905875" y="542925"/>
              <ns1:ext cx="2286000" cy="990600"/>
              <ns1:chOff x="8905875" y="542925"/>
              <ns1:chExt cx="2286000" cy="990600"/>
            </ns1:xfrm>
          </p:grpSpPr>
          <p:grpSp>
            <p:nvGrpSpPr>
              <p:cNvPr id="10029" name="git-branch editable icon"/>
              <p:cNvGrpSpPr/>
              <p:nvPr/>
            </p:nvGrpSpPr>
            <p:grpSpPr>
              <ns1:xfrm xmlns:ns1="http://schemas.openxmlformats.org/drawingml/2006/main">
                <ns1:off x="9829800" y="542925"/>
                <ns1:ext cx="409575" cy="409575"/>
                <ns1:chOff x="9829800" y="542925"/>
                <ns1:chExt cx="409575" cy="409575"/>
              </ns1:xfrm>
            </p:grpSpPr>
            <p:sp>
              <p:nvSpPr>
                <p:cNvPr id="10026" name="git-branch-0"/>
                <p:cNvSpPr/>
                <p:nvPr/>
              </p:nvSpPr>
              <p:spPr>
                <ns1:xfrm xmlns:ns1="http://schemas.openxmlformats.org/drawingml/2006/main">
                  <ns1:off x="9829800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6000"/>
                      </ns2:moveTo>
                      <ns2:cubicBezTo>
                        <ns2:pt x="10029" y="6000"/>
                        <ns2:pt x="6000" y="10029"/>
                        <ns2:pt x="6000" y="15000"/>
                      </ns2:cubicBezTo>
                      <ns2:lnTo>
                        <ns2:pt x="6000" y="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A77838"/>
                  </ns4:solidFill>
                </ns4:ln>
              </p:spPr>
            </p:sp>
            <p:sp>
              <p:nvSpPr>
                <p:cNvPr id="10027" name="git-branch-1"/>
                <p:cNvSpPr/>
                <p:nvPr/>
              </p:nvSpPr>
              <p:spPr>
                <ns1:xfrm xmlns:ns1="http://schemas.openxmlformats.org/drawingml/2006/main">
                  <ns1:off x="10085784" y="594122"/>
                  <ns1:ext cx="102394" cy="102394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25598" cap="rnd">
                  <ns5:solidFill>
                    <ns5:srgbClr val="A77838"/>
                  </ns5:solidFill>
                </ns5:ln>
              </p:spPr>
            </p:sp>
            <p:sp>
              <p:nvSpPr>
                <p:cNvPr id="10028" name="git-branch-2"/>
                <p:cNvSpPr/>
                <p:nvPr/>
              </p:nvSpPr>
              <p:spPr>
                <ns1:xfrm xmlns:ns1="http://schemas.openxmlformats.org/drawingml/2006/main">
                  <ns1:off x="9880997" y="798909"/>
                  <ns1:ext cx="102394" cy="102394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25598" cap="rnd">
                  <ns5:solidFill>
                    <ns5:srgbClr val="A77838"/>
                  </ns5:solidFill>
                </ns5:ln>
              </p:spPr>
            </p:sp>
          </p:grpSp>
          <p:sp>
            <p:nvSpPr>
              <p:cNvPr id="10030" name="Decision&#10;support"/>
              <p:cNvSpPr/>
              <p:nvPr/>
            </p:nvSpPr>
            <p:spPr>
              <ns1:xfrm xmlns:ns1="http://schemas.openxmlformats.org/drawingml/2006/main">
                <ns1:off x="8905875" y="1000125"/>
                <ns1:ext cx="2286000" cy="5334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1">
                    <ns7:solidFill>
                      <ns7:srgbClr val="A77838"/>
                    </ns7:solidFill>
                    <ns7:latin typeface="Times New Roman"/>
                    <ns7:ea typeface="Times New Roman"/>
                  </ns7:rPr>
                  <ns7:t>Decision</ns7:t>
                </ns7:r>
              </ns7:p>
              <ns8:p xmlns:ns8="http://schemas.openxmlformats.org/drawingml/2006/main">
                <ns8:pPr algn="ctr"/>
                <ns8:r>
                  <ns8:rPr sz="1725" b="1">
                    <ns8:solidFill>
                      <ns8:srgbClr val="A77838"/>
                    </ns8:solidFill>
                    <ns8:latin typeface="Times New Roman"/>
                    <ns8:ea typeface="Times New Roman"/>
                  </ns8:rPr>
                  <ns8:t>support</ns8:t>
                </ns8:r>
              </ns8:p>
            </p:txBody>
          </p:sp>
        </p:grpSp>
        <p:grpSp>
          <p:nvGrpSpPr>
            <p:cNvPr id="10064" name="Temporal function Data management"/>
            <p:cNvGrpSpPr/>
            <p:nvPr/>
          </p:nvGrpSpPr>
          <p:grpSpPr>
            <ns1:xfrm xmlns:ns1="http://schemas.openxmlformats.org/drawingml/2006/main">
              <ns1:off x="190500" y="1676400"/>
              <ns1:ext cx="11049000" cy="685800"/>
              <ns1:chOff x="190500" y="1676400"/>
              <ns1:chExt cx="11049000" cy="685800"/>
            </ns1:xfrm>
          </p:grpSpPr>
          <p:sp>
            <p:nvSpPr>
              <p:cNvPr id="10032" name="Row background"/>
              <p:cNvSpPr/>
              <p:nvPr/>
            </p:nvSpPr>
            <p:spPr>
              <ns1:xfrm xmlns:ns1="http://schemas.openxmlformats.org/drawingml/2006/main">
                <ns1:off x="190500" y="1676400"/>
                <ns1:ext cx="11049000" cy="685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5F8FA"/>
              </ns3:solidFill>
              <ns4:ln xmlns:ns4="http://schemas.openxmlformats.org/drawingml/2006/main" w="9525" cap="rnd">
                <ns4:noFill/>
              </ns4:ln>
            </p:spPr>
          </p:sp>
          <p:grpSp>
            <p:nvGrpSpPr>
              <p:cNvPr id="10036" name="database editable icon"/>
              <p:cNvGrpSpPr/>
              <p:nvPr/>
            </p:nvGrpSpPr>
            <p:grpSpPr>
              <ns1:xfrm xmlns:ns1="http://schemas.openxmlformats.org/drawingml/2006/main">
                <ns1:off x="285750" y="1847850"/>
                <ns1:ext cx="304800" cy="304800"/>
                <ns1:chOff x="285750" y="1847850"/>
                <ns1:chExt cx="304800" cy="304800"/>
              </ns1:xfrm>
            </p:grpSpPr>
            <p:sp>
              <p:nvSpPr>
                <p:cNvPr id="10033" name="database-0"/>
                <p:cNvSpPr/>
                <p:nvPr/>
              </p:nvSpPr>
              <p:spPr>
                <ns1:xfrm xmlns:ns1="http://schemas.openxmlformats.org/drawingml/2006/main">
                  <ns1:off x="323850" y="1873250"/>
                  <ns1:ext cx="228600" cy="76200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9050" cap="rnd">
                  <ns5:solidFill>
                    <ns5:srgbClr val="327EA6"/>
                  </ns5:solidFill>
                </ns5:ln>
              </p:spPr>
            </p:sp>
            <p:sp>
              <p:nvSpPr>
                <p:cNvPr id="10034" name="database-1"/>
                <p:cNvSpPr/>
                <p:nvPr/>
              </p:nvSpPr>
              <p:spPr>
                <ns1:xfrm xmlns:ns1="http://schemas.openxmlformats.org/drawingml/2006/main">
                  <ns1:off x="285750" y="18478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5000"/>
                      </ns2:moveTo>
                      <ns2:lnTo>
                        <ns2:pt x="3000" y="19000"/>
                      </ns2:lnTo>
                      <ns2:cubicBezTo>
                        <ns2:pt x="3000" y="20657"/>
                        <ns2:pt x="7029" y="22000"/>
                        <ns2:pt x="12000" y="22000"/>
                      </ns2:cubicBezTo>
                      <ns2:cubicBezTo>
                        <ns2:pt x="16971" y="22000"/>
                        <ns2:pt x="21000" y="20657"/>
                        <ns2:pt x="21000" y="19000"/>
                      </ns2:cubicBez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35" name="database-2"/>
                <p:cNvSpPr/>
                <p:nvPr/>
              </p:nvSpPr>
              <p:spPr>
                <ns1:xfrm xmlns:ns1="http://schemas.openxmlformats.org/drawingml/2006/main">
                  <ns1:off x="285750" y="18478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2000"/>
                      </ns2:moveTo>
                      <ns2:cubicBezTo>
                        <ns2:pt x="3000" y="13657"/>
                        <ns2:pt x="7029" y="15000"/>
                        <ns2:pt x="12000" y="15000"/>
                      </ns2:cubicBezTo>
                      <ns2:cubicBezTo>
                        <ns2:pt x="16971" y="15000"/>
                        <ns2:pt x="21000" y="13657"/>
                        <ns2:pt x="21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037" name="Data&#10;management"/>
              <p:cNvSpPr/>
              <p:nvPr/>
            </p:nvSpPr>
            <p:spPr>
              <ns1:xfrm xmlns:ns1="http://schemas.openxmlformats.org/drawingml/2006/main">
                <ns1:off x="695325" y="1752600"/>
                <ns1:ext cx="1133475" cy="5429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Data</ns7:t>
                </ns7:r>
              </ns7:p>
              <ns8:p xmlns:ns8="http://schemas.openxmlformats.org/drawingml/2006/main">
                <ns8:pPr algn="l"/>
                <ns8:r>
                  <ns8:rPr sz="1575" b="1">
                    <ns8:solidFill>
                      <ns8:srgbClr val="327EA6"/>
                    </ns8:solidFill>
                    <ns8:latin typeface="Times New Roman"/>
                    <ns8:ea typeface="Times New Roman"/>
                  </ns8:rPr>
                  <ns8:t>management</ns8:t>
                </ns8:r>
              </ns8:p>
            </p:txBody>
          </p:sp>
          <p:grpSp>
            <p:nvGrpSpPr>
              <p:cNvPr id="10041" name="database editable icon"/>
              <p:cNvGrpSpPr/>
              <p:nvPr/>
            </p:nvGrpSpPr>
            <p:grpSpPr>
              <ns1:xfrm xmlns:ns1="http://schemas.openxmlformats.org/drawingml/2006/main">
                <ns1:off x="1981200" y="1876425"/>
                <ns1:ext cx="285750" cy="285750"/>
                <ns1:chOff x="1981200" y="1876425"/>
                <ns1:chExt cx="285750" cy="285750"/>
              </ns1:xfrm>
            </p:grpSpPr>
            <p:sp>
              <p:nvSpPr>
                <p:cNvPr id="10038" name="database-0"/>
                <p:cNvSpPr/>
                <p:nvPr/>
              </p:nvSpPr>
              <p:spPr>
                <ns1:xfrm xmlns:ns1="http://schemas.openxmlformats.org/drawingml/2006/main">
                  <ns1:off x="2016919" y="1900238"/>
                  <ns1:ext cx="214312" cy="71438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27EA6"/>
                  </ns5:solidFill>
                </ns5:ln>
              </p:spPr>
            </p:sp>
            <p:sp>
              <p:nvSpPr>
                <p:cNvPr id="10039" name="database-1"/>
                <p:cNvSpPr/>
                <p:nvPr/>
              </p:nvSpPr>
              <p:spPr>
                <ns1:xfrm xmlns:ns1="http://schemas.openxmlformats.org/drawingml/2006/main">
                  <ns1:off x="198120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5000"/>
                      </ns2:moveTo>
                      <ns2:lnTo>
                        <ns2:pt x="3000" y="19000"/>
                      </ns2:lnTo>
                      <ns2:cubicBezTo>
                        <ns2:pt x="3000" y="20657"/>
                        <ns2:pt x="7029" y="22000"/>
                        <ns2:pt x="12000" y="22000"/>
                      </ns2:cubicBezTo>
                      <ns2:cubicBezTo>
                        <ns2:pt x="16971" y="22000"/>
                        <ns2:pt x="21000" y="20657"/>
                        <ns2:pt x="21000" y="19000"/>
                      </ns2:cubicBez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40" name="database-2"/>
                <p:cNvSpPr/>
                <p:nvPr/>
              </p:nvSpPr>
              <p:spPr>
                <ns1:xfrm xmlns:ns1="http://schemas.openxmlformats.org/drawingml/2006/main">
                  <ns1:off x="198120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2000"/>
                      </ns2:moveTo>
                      <ns2:cubicBezTo>
                        <ns2:pt x="3000" y="13657"/>
                        <ns2:pt x="7029" y="15000"/>
                        <ns2:pt x="12000" y="15000"/>
                      </ns2:cubicBezTo>
                      <ns2:cubicBezTo>
                        <ns2:pt x="16971" y="15000"/>
                        <ns2:pt x="21000" y="13657"/>
                        <ns2:pt x="21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042" name="History &amp; covariates"/>
              <p:cNvSpPr/>
              <p:nvPr/>
            </p:nvSpPr>
            <p:spPr>
              <ns1:xfrm xmlns:ns1="http://schemas.openxmlformats.org/drawingml/2006/main">
                <ns1:off x="2352675" y="17716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History &amp; covariates</ns7:t>
                </ns7:r>
              </ns7:p>
            </p:txBody>
          </p:sp>
          <p:grpSp>
            <p:nvGrpSpPr>
              <p:cNvPr id="10047" name="file-input editable icon"/>
              <p:cNvGrpSpPr/>
              <p:nvPr/>
            </p:nvGrpSpPr>
            <p:grpSpPr>
              <ns1:xfrm xmlns:ns1="http://schemas.openxmlformats.org/drawingml/2006/main">
                <ns1:off x="4314825" y="1876425"/>
                <ns1:ext cx="285750" cy="285750"/>
                <ns1:chOff x="4314825" y="1876425"/>
                <ns1:chExt cx="285750" cy="285750"/>
              </ns1:xfrm>
            </p:grpSpPr>
            <p:sp>
              <p:nvSpPr>
                <p:cNvPr id="10043" name="file-input-0"/>
                <p:cNvSpPr/>
                <p:nvPr/>
              </p:nvSpPr>
              <p:spPr>
                <ns1:xfrm xmlns:ns1="http://schemas.openxmlformats.org/drawingml/2006/main">
                  <ns1:off x="431482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22000"/>
                      </ns2:moveTo>
                      <ns2:lnTo>
                        <ns2:pt x="18000" y="22000"/>
                      </ns2:lnTo>
                      <ns2:cubicBezTo>
                        <ns2:pt x="19105" y="22000"/>
                        <ns2:pt x="20000" y="21105"/>
                        <ns2:pt x="20000" y="20000"/>
                      </ns2:cubicBezTo>
                      <ns2:lnTo>
                        <ns2:pt x="20000" y="7000"/>
                      </ns2:lnTo>
                      <ns2:lnTo>
                        <ns2:pt x="15000" y="2000"/>
                      </ns2:lnTo>
                      <ns2:lnTo>
                        <ns2:pt x="6000" y="2000"/>
                      </ns2:lnTo>
                      <ns2:cubicBezTo>
                        <ns2:pt x="4895" y="2000"/>
                        <ns2:pt x="4000" y="2895"/>
                        <ns2:pt x="4000" y="4000"/>
                      </ns2:cubicBezTo>
                      <ns2:lnTo>
                        <ns2:pt x="4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44" name="file-input-1"/>
                <p:cNvSpPr/>
                <p:nvPr/>
              </p:nvSpPr>
              <p:spPr>
                <ns1:xfrm xmlns:ns1="http://schemas.openxmlformats.org/drawingml/2006/main">
                  <ns1:off x="431482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6000"/>
                      </ns2:lnTo>
                      <ns2:cubicBezTo>
                        <ns2:pt x="14000" y="7105"/>
                        <ns2:pt x="14895" y="8000"/>
                        <ns2:pt x="16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45" name="file-input-2"/>
                <p:cNvSpPr/>
                <p:nvPr/>
              </p:nvSpPr>
              <p:spPr>
                <ns1:xfrm xmlns:ns1="http://schemas.openxmlformats.org/drawingml/2006/main">
                  <ns1:off x="431482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5000"/>
                      </ns2:moveTo>
                      <ns2:lnTo>
                        <ns2:pt x="1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46" name="file-input-3"/>
                <p:cNvSpPr/>
                <p:nvPr/>
              </p:nvSpPr>
              <p:spPr>
                <ns1:xfrm xmlns:ns1="http://schemas.openxmlformats.org/drawingml/2006/main">
                  <ns1:off x="431482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18000"/>
                      </ns2:moveTo>
                      <ns2:lnTo>
                        <ns2:pt x="12000" y="15000"/>
                      </ns2:lnTo>
                      <ns2:lnTo>
                        <ns2:pt x="9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048" name="Series &amp; conditions"/>
              <p:cNvSpPr/>
              <p:nvPr/>
            </p:nvSpPr>
            <p:spPr>
              <ns1:xfrm xmlns:ns1="http://schemas.openxmlformats.org/drawingml/2006/main">
                <ns1:off x="4686300" y="17716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Series &amp; conditions</ns7:t>
                </ns7:r>
              </ns7:p>
            </p:txBody>
          </p:sp>
          <p:grpSp>
            <p:nvGrpSpPr>
              <p:cNvPr id="10054" name="radio editable icon"/>
              <p:cNvGrpSpPr/>
              <p:nvPr/>
            </p:nvGrpSpPr>
            <p:grpSpPr>
              <ns1:xfrm xmlns:ns1="http://schemas.openxmlformats.org/drawingml/2006/main">
                <ns1:off x="6648450" y="1876425"/>
                <ns1:ext cx="285750" cy="285750"/>
                <ns1:chOff x="6648450" y="1876425"/>
                <ns1:chExt cx="285750" cy="285750"/>
              </ns1:xfrm>
            </p:grpSpPr>
            <p:sp>
              <p:nvSpPr>
                <p:cNvPr id="10049" name="radio-0"/>
                <p:cNvSpPr/>
                <p:nvPr/>
              </p:nvSpPr>
              <p:spPr>
                <ns1:xfrm xmlns:ns1="http://schemas.openxmlformats.org/drawingml/2006/main">
                  <ns1:off x="664845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900" y="19100"/>
                      </ns2:moveTo>
                      <ns2:cubicBezTo>
                        <ns2:pt x="1000" y="15200"/>
                        <ns2:pt x="1000" y="8800"/>
                        <ns2:pt x="4900" y="49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050" name="radio-1"/>
                <p:cNvSpPr/>
                <p:nvPr/>
              </p:nvSpPr>
              <p:spPr>
                <ns1:xfrm xmlns:ns1="http://schemas.openxmlformats.org/drawingml/2006/main">
                  <ns1:off x="664845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800" y="16200"/>
                      </ns2:moveTo>
                      <ns2:cubicBezTo>
                        <ns2:pt x="5500" y="13900"/>
                        <ns2:pt x="5500" y="10100"/>
                        <ns2:pt x="7800" y="77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051" name="radio-2"/>
                <p:cNvSpPr/>
                <p:nvPr/>
              </p:nvSpPr>
              <p:spPr>
                <ns1:xfrm xmlns:ns1="http://schemas.openxmlformats.org/drawingml/2006/main">
                  <ns1:off x="6767512" y="1995488"/>
                  <ns1:ext cx="47625" cy="47625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58972"/>
                  </ns5:solidFill>
                </ns5:ln>
              </p:spPr>
            </p:sp>
            <p:sp>
              <p:nvSpPr>
                <p:cNvPr id="10052" name="radio-3"/>
                <p:cNvSpPr/>
                <p:nvPr/>
              </p:nvSpPr>
              <p:spPr>
                <ns1:xfrm xmlns:ns1="http://schemas.openxmlformats.org/drawingml/2006/main">
                  <ns1:off x="664845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200" y="7800"/>
                      </ns2:moveTo>
                      <ns2:cubicBezTo>
                        <ns2:pt x="18500" y="10100"/>
                        <ns2:pt x="18500" y="13900"/>
                        <ns2:pt x="16200" y="163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053" name="radio-4"/>
                <p:cNvSpPr/>
                <p:nvPr/>
              </p:nvSpPr>
              <p:spPr>
                <ns1:xfrm xmlns:ns1="http://schemas.openxmlformats.org/drawingml/2006/main">
                  <ns1:off x="664845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9100" y="4900"/>
                      </ns2:moveTo>
                      <ns2:cubicBezTo>
                        <ns2:pt x="23000" y="8800"/>
                        <ns2:pt x="23000" y="15100"/>
                        <ns2:pt x="19100" y="19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055" name="Streams &amp; logs"/>
              <p:cNvSpPr/>
              <p:nvPr/>
            </p:nvSpPr>
            <p:spPr>
              <ns1:xfrm xmlns:ns1="http://schemas.openxmlformats.org/drawingml/2006/main">
                <ns1:off x="7019925" y="17716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Streams &amp; logs</ns7:t>
                </ns7:r>
              </ns7:p>
            </p:txBody>
          </p:sp>
          <p:grpSp>
            <p:nvGrpSpPr>
              <p:cNvPr id="10062" name="clipboard-list editable icon"/>
              <p:cNvGrpSpPr/>
              <p:nvPr/>
            </p:nvGrpSpPr>
            <p:grpSpPr>
              <ns1:xfrm xmlns:ns1="http://schemas.openxmlformats.org/drawingml/2006/main">
                <ns1:off x="8982075" y="1876425"/>
                <ns1:ext cx="285750" cy="285750"/>
                <ns1:chOff x="8982075" y="1876425"/>
                <ns1:chExt cx="285750" cy="285750"/>
              </ns1:xfrm>
            </p:grpSpPr>
            <p:sp>
              <p:nvSpPr>
                <p:cNvPr id="10056" name="clipboard-list-0"/>
                <p:cNvSpPr/>
                <p:nvPr/>
              </p:nvSpPr>
              <p:spPr>
                <ns1:xfrm xmlns:ns1="http://schemas.openxmlformats.org/drawingml/2006/main">
                  <ns1:off x="9077325" y="1900238"/>
                  <ns1:ext cx="95250" cy="47625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A77838"/>
                  </ns5:solidFill>
                </ns5:ln>
              </p:spPr>
            </p:sp>
            <p:sp>
              <p:nvSpPr>
                <p:cNvPr id="10057" name="clipboard-list-1"/>
                <p:cNvSpPr/>
                <p:nvPr/>
              </p:nvSpPr>
              <p:spPr>
                <ns1:xfrm xmlns:ns1="http://schemas.openxmlformats.org/drawingml/2006/main">
                  <ns1:off x="898207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4000"/>
                      </ns2:moveTo>
                      <ns2:lnTo>
                        <ns2:pt x="18000" y="4000"/>
                      </ns2:lnTo>
                      <ns2:cubicBezTo>
                        <ns2:pt x="19105" y="4000"/>
                        <ns2:pt x="20000" y="4895"/>
                        <ns2:pt x="20000" y="6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6000"/>
                      </ns2:lnTo>
                      <ns2:cubicBezTo>
                        <ns2:pt x="4000" y="4895"/>
                        <ns2:pt x="4895" y="4000"/>
                        <ns2:pt x="6000" y="4000"/>
                      </ns2:cubicBezTo>
                      <ns2:lnTo>
                        <ns2:pt x="8000" y="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058" name="clipboard-list-2"/>
                <p:cNvSpPr/>
                <p:nvPr/>
              </p:nvSpPr>
              <p:spPr>
                <ns1:xfrm xmlns:ns1="http://schemas.openxmlformats.org/drawingml/2006/main">
                  <ns1:off x="898207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1000"/>
                      </ns2:moveTo>
                      <ns2:lnTo>
                        <ns2:pt x="16000" y="1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059" name="clipboard-list-3"/>
                <p:cNvSpPr/>
                <p:nvPr/>
              </p:nvSpPr>
              <p:spPr>
                <ns1:xfrm xmlns:ns1="http://schemas.openxmlformats.org/drawingml/2006/main">
                  <ns1:off x="898207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6000" y="1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060" name="clipboard-list-4"/>
                <p:cNvSpPr/>
                <p:nvPr/>
              </p:nvSpPr>
              <p:spPr>
                <ns1:xfrm xmlns:ns1="http://schemas.openxmlformats.org/drawingml/2006/main">
                  <ns1:off x="898207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1000"/>
                      </ns2:moveTo>
                      <ns2:lnTo>
                        <ns2:pt x="8010" y="1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061" name="clipboard-list-5"/>
                <p:cNvSpPr/>
                <p:nvPr/>
              </p:nvSpPr>
              <p:spPr>
                <ns1:xfrm xmlns:ns1="http://schemas.openxmlformats.org/drawingml/2006/main">
                  <ns1:off x="898207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6000"/>
                      </ns2:moveTo>
                      <ns2:lnTo>
                        <ns2:pt x="8010" y="1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</p:grpSp>
          <p:sp>
            <p:nvSpPr>
              <p:cNvPr id="10063" name="Observations &amp; actions"/>
              <p:cNvSpPr/>
              <p:nvPr/>
            </p:nvSpPr>
            <p:spPr>
              <ns1:xfrm xmlns:ns1="http://schemas.openxmlformats.org/drawingml/2006/main">
                <ns1:off x="9353550" y="17716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Observations &amp; actions</ns7:t>
                </ns7:r>
              </ns7:p>
            </p:txBody>
          </p:sp>
        </p:grpSp>
        <p:grpSp>
          <p:nvGrpSpPr>
            <p:cNvPr id="10097" name="Temporal function Temporal processing"/>
            <p:cNvGrpSpPr/>
            <p:nvPr/>
          </p:nvGrpSpPr>
          <p:grpSpPr>
            <ns1:xfrm xmlns:ns1="http://schemas.openxmlformats.org/drawingml/2006/main">
              <ns1:off x="190500" y="2400300"/>
              <ns1:ext cx="11049000" cy="685800"/>
              <ns1:chOff x="190500" y="2400300"/>
              <ns1:chExt cx="11049000" cy="685800"/>
            </ns1:xfrm>
          </p:grpSpPr>
          <p:sp>
            <p:nvSpPr>
              <p:cNvPr id="10065" name="Row background"/>
              <p:cNvSpPr/>
              <p:nvPr/>
            </p:nvSpPr>
            <p:spPr>
              <ns1:xfrm xmlns:ns1="http://schemas.openxmlformats.org/drawingml/2006/main">
                <ns1:off x="190500" y="2400300"/>
                <ns1:ext cx="11049000" cy="685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noFill/>
              </ns4:ln>
            </p:spPr>
          </p:sp>
          <p:grpSp>
            <p:nvGrpSpPr>
              <p:cNvPr id="10075" name="sliders-horizontal editable icon"/>
              <p:cNvGrpSpPr/>
              <p:nvPr/>
            </p:nvGrpSpPr>
            <p:grpSpPr>
              <ns1:xfrm xmlns:ns1="http://schemas.openxmlformats.org/drawingml/2006/main">
                <ns1:off x="285750" y="2571750"/>
                <ns1:ext cx="304800" cy="304800"/>
                <ns1:chOff x="285750" y="2571750"/>
                <ns1:chExt cx="304800" cy="304800"/>
              </ns1:xfrm>
            </p:grpSpPr>
            <p:sp>
              <p:nvSpPr>
                <p:cNvPr id="10066" name="sliders-horizontal-0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5000"/>
                      </ns2:moveTo>
                      <ns2:lnTo>
                        <ns2:pt x="3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67" name="sliders-horizontal-1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9000"/>
                      </ns2:moveTo>
                      <ns2:lnTo>
                        <ns2:pt x="3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68" name="sliders-horizontal-2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3000"/>
                      </ns2:moveTo>
                      <ns2:lnTo>
                        <ns2:pt x="1400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69" name="sliders-horizontal-3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70" name="sliders-horizontal-4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71" name="sliders-horizontal-5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9000"/>
                      </ns2:moveTo>
                      <ns2:lnTo>
                        <ns2:pt x="16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72" name="sliders-horizontal-6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5000"/>
                      </ns2:moveTo>
                      <ns2:lnTo>
                        <ns2:pt x="14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73" name="sliders-horizontal-7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74" name="sliders-horizontal-8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2000"/>
                      </ns2:moveTo>
                      <ns2:lnTo>
                        <ns2:pt x="3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076" name="Temporal&#10;processing"/>
              <p:cNvSpPr/>
              <p:nvPr/>
            </p:nvSpPr>
            <p:spPr>
              <ns1:xfrm xmlns:ns1="http://schemas.openxmlformats.org/drawingml/2006/main">
                <ns1:off x="695325" y="2476500"/>
                <ns1:ext cx="1133475" cy="5429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Temporal</ns7:t>
                </ns7:r>
              </ns7:p>
              <ns8:p xmlns:ns8="http://schemas.openxmlformats.org/drawingml/2006/main">
                <ns8:pPr algn="l"/>
                <ns8:r>
                  <ns8:rPr sz="1575" b="1">
                    <ns8:solidFill>
                      <ns8:srgbClr val="327EA6"/>
                    </ns8:solidFill>
                    <ns8:latin typeface="Times New Roman"/>
                    <ns8:ea typeface="Times New Roman"/>
                  </ns8:rPr>
                  <ns8:t>processing</ns8:t>
                </ns8:r>
              </ns8:p>
            </p:txBody>
          </p:sp>
          <p:grpSp>
            <p:nvGrpSpPr>
              <p:cNvPr id="10080" name="panels-top-left editable icon"/>
              <p:cNvGrpSpPr/>
              <p:nvPr/>
            </p:nvGrpSpPr>
            <p:grpSpPr>
              <ns1:xfrm xmlns:ns1="http://schemas.openxmlformats.org/drawingml/2006/main">
                <ns1:off x="1981200" y="2600325"/>
                <ns1:ext cx="285750" cy="285750"/>
                <ns1:chOff x="1981200" y="2600325"/>
                <ns1:chExt cx="285750" cy="285750"/>
              </ns1:xfrm>
            </p:grpSpPr>
            <p:sp>
              <p:nvSpPr>
                <p:cNvPr id="10077" name="panels-top-left-0"/>
                <p:cNvSpPr/>
                <p:nvPr/>
              </p:nvSpPr>
              <p:spPr>
                <ns1:xfrm xmlns:ns1="http://schemas.openxmlformats.org/drawingml/2006/main">
                  <ns1:off x="2016919" y="2636044"/>
                  <ns1:ext cx="214312" cy="214312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27EA6"/>
                  </ns5:solidFill>
                </ns5:ln>
              </p:spPr>
            </p:sp>
            <p:sp>
              <p:nvSpPr>
                <p:cNvPr id="10078" name="panels-top-left-1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9000"/>
                      </ns2:moveTo>
                      <ns2:lnTo>
                        <ns2:pt x="21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79" name="panels-top-left-2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21000"/>
                      </ns2:moveTo>
                      <ns2:lnTo>
                        <ns2:pt x="9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081" name="Forecast windows"/>
              <p:cNvSpPr/>
              <p:nvPr/>
            </p:nvSpPr>
            <p:spPr>
              <ns1:xfrm xmlns:ns1="http://schemas.openxmlformats.org/drawingml/2006/main">
                <ns1:off x="2352675" y="24955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Forecast windows</ns7:t>
                </ns7:r>
              </ns7:p>
            </p:txBody>
          </p:sp>
          <p:grpSp>
            <p:nvGrpSpPr>
              <p:cNvPr id="10087" name="scissors editable icon"/>
              <p:cNvGrpSpPr/>
              <p:nvPr/>
            </p:nvGrpSpPr>
            <p:grpSpPr>
              <ns1:xfrm xmlns:ns1="http://schemas.openxmlformats.org/drawingml/2006/main">
                <ns1:off x="4314825" y="2600325"/>
                <ns1:ext cx="285750" cy="285750"/>
                <ns1:chOff x="4314825" y="2600325"/>
                <ns1:chExt cx="285750" cy="285750"/>
              </ns1:xfrm>
            </p:grpSpPr>
            <p:sp>
              <p:nvSpPr>
                <p:cNvPr id="10082" name="scissors-0"/>
                <p:cNvSpPr/>
                <p:nvPr/>
              </p:nvSpPr>
              <p:spPr>
                <ns1:xfrm xmlns:ns1="http://schemas.openxmlformats.org/drawingml/2006/main">
                  <ns1:off x="4350544" y="2636044"/>
                  <ns1:ext cx="71438" cy="71438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705A99"/>
                  </ns5:solidFill>
                </ns5:ln>
              </p:spPr>
            </p:sp>
            <p:sp>
              <p:nvSpPr>
                <p:cNvPr id="10083" name="scissors-1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120" y="812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84" name="scissors-2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4000"/>
                      </ns2:moveTo>
                      <ns2:lnTo>
                        <ns2:pt x="8120" y="1588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85" name="scissors-3"/>
                <p:cNvSpPr/>
                <p:nvPr/>
              </p:nvSpPr>
              <p:spPr>
                <ns1:xfrm xmlns:ns1="http://schemas.openxmlformats.org/drawingml/2006/main">
                  <ns1:off x="4350544" y="2778919"/>
                  <ns1:ext cx="71438" cy="71438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705A99"/>
                  </ns5:solidFill>
                </ns5:ln>
              </p:spPr>
            </p:sp>
            <p:sp>
              <p:nvSpPr>
                <p:cNvPr id="10086" name="scissors-4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800" y="14800"/>
                      </ns2:moveTo>
                      <ns2:lnTo>
                        <ns2:pt x="20000" y="2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088" name="Segment transforms"/>
              <p:cNvSpPr/>
              <p:nvPr/>
            </p:nvSpPr>
            <p:spPr>
              <ns1:xfrm xmlns:ns1="http://schemas.openxmlformats.org/drawingml/2006/main">
                <ns1:off x="4686300" y="24955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Segment transforms</ns7:t>
                </ns7:r>
              </ns7:p>
            </p:txBody>
          </p:sp>
          <p:grpSp>
            <p:nvGrpSpPr>
              <p:cNvPr id="10091" name="chart-spline editable icon"/>
              <p:cNvGrpSpPr/>
              <p:nvPr/>
            </p:nvGrpSpPr>
            <p:grpSpPr>
              <ns1:xfrm xmlns:ns1="http://schemas.openxmlformats.org/drawingml/2006/main">
                <ns1:off x="6648450" y="2600325"/>
                <ns1:ext cx="285750" cy="285750"/>
                <ns1:chOff x="6648450" y="2600325"/>
                <ns1:chExt cx="285750" cy="285750"/>
              </ns1:xfrm>
            </p:grpSpPr>
            <p:sp>
              <p:nvSpPr>
                <p:cNvPr id="10089" name="chart-spline-0"/>
                <p:cNvSpPr/>
                <p:nvPr/>
              </p:nvSpPr>
              <p:spPr>
                <ns1:xfrm xmlns:ns1="http://schemas.openxmlformats.org/drawingml/2006/main">
                  <ns1:off x="664845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3000"/>
                      </ns2:moveTo>
                      <ns2:lnTo>
                        <ns2:pt x="3000" y="19000"/>
                      </ns2:lnTo>
                      <ns2:cubicBezTo>
                        <ns2:pt x="3000" y="20105"/>
                        <ns2:pt x="3895" y="21000"/>
                        <ns2:pt x="5000" y="21000"/>
                      </ns2:cubicBezTo>
                      <ns2:lnTo>
                        <ns2:pt x="21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090" name="chart-spline-1"/>
                <p:cNvSpPr/>
                <p:nvPr/>
              </p:nvSpPr>
              <p:spPr>
                <ns1:xfrm xmlns:ns1="http://schemas.openxmlformats.org/drawingml/2006/main">
                  <ns1:off x="664845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000" y="16000"/>
                      </ns2:moveTo>
                      <ns2:cubicBezTo>
                        <ns2:pt x="7500" y="14000"/>
                        <ns2:pt x="8500" y="9000"/>
                        <ns2:pt x="11000" y="9000"/>
                      </ns2:cubicBezTo>
                      <ns2:cubicBezTo>
                        <ns2:pt x="13000" y="9000"/>
                        <ns2:pt x="13000" y="12000"/>
                        <ns2:pt x="15000" y="12000"/>
                      </ns2:cubicBezTo>
                      <ns2:cubicBezTo>
                        <ns2:pt x="17500" y="12000"/>
                        <ns2:pt x="19500" y="7000"/>
                        <ns2:pt x="20000" y="5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092" name="Changes &amp; relations"/>
              <p:cNvSpPr/>
              <p:nvPr/>
            </p:nvSpPr>
            <p:spPr>
              <ns1:xfrm xmlns:ns1="http://schemas.openxmlformats.org/drawingml/2006/main">
                <ns1:off x="7019925" y="24955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Changes &amp; relations</ns7:t>
                </ns7:r>
              </ns7:p>
            </p:txBody>
          </p:sp>
          <p:grpSp>
            <p:nvGrpSpPr>
              <p:cNvPr id="10095" name="gauge editable icon"/>
              <p:cNvGrpSpPr/>
              <p:nvPr/>
            </p:nvGrpSpPr>
            <p:grpSpPr>
              <ns1:xfrm xmlns:ns1="http://schemas.openxmlformats.org/drawingml/2006/main">
                <ns1:off x="8982075" y="2600325"/>
                <ns1:ext cx="285750" cy="285750"/>
                <ns1:chOff x="8982075" y="2600325"/>
                <ns1:chExt cx="285750" cy="285750"/>
              </ns1:xfrm>
            </p:grpSpPr>
            <p:sp>
              <p:nvSpPr>
                <p:cNvPr id="10093" name="gauge-0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4000"/>
                      </ns2:moveTo>
                      <ns2:lnTo>
                        <ns2:pt x="1600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094" name="gauge-1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340" y="19000"/>
                      </ns2:moveTo>
                      <ns2:cubicBezTo>
                        <ns2:pt x="913" y="14797"/>
                        <ns2:pt x="1854" y="9459"/>
                        <ns2:pt x="5572" y="6339"/>
                      </ns2:cubicBezTo>
                      <ns2:cubicBezTo>
                        <ns2:pt x="9290" y="3220"/>
                        <ns2:pt x="14710" y="3220"/>
                        <ns2:pt x="18428" y="6339"/>
                      </ns2:cubicBezTo>
                      <ns2:cubicBezTo>
                        <ns2:pt x="22146" y="9459"/>
                        <ns2:pt x="23087" y="14797"/>
                        <ns2:pt x="20660" y="19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</p:grpSp>
          <p:sp>
            <p:nvSpPr>
              <p:cNvPr id="10096" name="Decision windows"/>
              <p:cNvSpPr/>
              <p:nvPr/>
            </p:nvSpPr>
            <p:spPr>
              <ns1:xfrm xmlns:ns1="http://schemas.openxmlformats.org/drawingml/2006/main">
                <ns1:off x="9353550" y="24955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Decision windows</ns7:t>
                </ns7:r>
              </ns7:p>
            </p:txBody>
          </p:sp>
        </p:grpSp>
        <p:grpSp>
          <p:nvGrpSpPr>
            <p:cNvPr id="10135" name="Temporal function Context and memory"/>
            <p:cNvGrpSpPr/>
            <p:nvPr/>
          </p:nvGrpSpPr>
          <p:grpSpPr>
            <ns1:xfrm xmlns:ns1="http://schemas.openxmlformats.org/drawingml/2006/main">
              <ns1:off x="190500" y="3124200"/>
              <ns1:ext cx="11049000" cy="685800"/>
              <ns1:chOff x="190500" y="3124200"/>
              <ns1:chExt cx="11049000" cy="685800"/>
            </ns1:xfrm>
          </p:grpSpPr>
          <p:sp>
            <p:nvSpPr>
              <p:cNvPr id="10098" name="Row background"/>
              <p:cNvSpPr/>
              <p:nvPr/>
            </p:nvSpPr>
            <p:spPr>
              <ns1:xfrm xmlns:ns1="http://schemas.openxmlformats.org/drawingml/2006/main">
                <ns1:off x="190500" y="3124200"/>
                <ns1:ext cx="11049000" cy="685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5F8FA"/>
              </ns3:solidFill>
              <ns4:ln xmlns:ns4="http://schemas.openxmlformats.org/drawingml/2006/main" w="9525" cap="rnd">
                <ns4:noFill/>
              </ns4:ln>
            </p:spPr>
          </p:sp>
          <p:grpSp>
            <p:nvGrpSpPr>
              <p:cNvPr id="10101" name="book-open editable icon"/>
              <p:cNvGrpSpPr/>
              <p:nvPr/>
            </p:nvGrpSpPr>
            <p:grpSpPr>
              <ns1:xfrm xmlns:ns1="http://schemas.openxmlformats.org/drawingml/2006/main">
                <ns1:off x="285750" y="3295650"/>
                <ns1:ext cx="304800" cy="304800"/>
                <ns1:chOff x="285750" y="3295650"/>
                <ns1:chExt cx="304800" cy="304800"/>
              </ns1:xfrm>
            </p:grpSpPr>
            <p:sp>
              <p:nvSpPr>
                <p:cNvPr id="10099" name="book-open-0"/>
                <p:cNvSpPr/>
                <p:nvPr/>
              </p:nvSpPr>
              <p:spPr>
                <ns1:xfrm xmlns:ns1="http://schemas.openxmlformats.org/drawingml/2006/main">
                  <ns1:off x="285750" y="32956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5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100" name="book-open-1"/>
                <p:cNvSpPr/>
                <p:nvPr/>
              </p:nvSpPr>
              <p:spPr>
                <ns1:xfrm xmlns:ns1="http://schemas.openxmlformats.org/drawingml/2006/main">
                  <ns1:off x="285750" y="32956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1" y="19000"/>
                      </ns2:moveTo>
                      <ns2:cubicBezTo>
                        <ns2:pt x="21105" y="18999"/>
                        <ns2:pt x="22000" y="18104"/>
                        <ns2:pt x="22000" y="17000"/>
                      </ns2:cubicBezTo>
                      <ns2:lnTo>
                        <ns2:pt x="22000" y="5000"/>
                      </ns2:lnTo>
                      <ns2:cubicBezTo>
                        <ns2:pt x="22000" y="3896"/>
                        <ns2:pt x="21105" y="3001"/>
                        <ns2:pt x="20001" y="3000"/>
                      </ns2:cubicBezTo>
                      <ns2:lnTo>
                        <ns2:pt x="16000" y="3002"/>
                      </ns2:lnTo>
                      <ns2:cubicBezTo>
                        <ns2:pt x="14427" y="3002"/>
                        <ns2:pt x="12945" y="3742"/>
                        <ns2:pt x="12000" y="5000"/>
                      </ns2:cubicBezTo>
                      <ns2:cubicBezTo>
                        <ns2:pt x="11056" y="3741"/>
                        <ns2:pt x="9574" y="3000"/>
                        <ns2:pt x="8000" y="3000"/>
                      </ns2:cubicBezTo>
                      <ns2:lnTo>
                        <ns2:pt x="4000" y="3000"/>
                      </ns2:lnTo>
                      <ns2:cubicBezTo>
                        <ns2:pt x="2895" y="3000"/>
                        <ns2:pt x="2000" y="3895"/>
                        <ns2:pt x="2000" y="5000"/>
                      </ns2:cubicBezTo>
                      <ns2:lnTo>
                        <ns2:pt x="2000" y="17000"/>
                      </ns2:lnTo>
                      <ns2:cubicBezTo>
                        <ns2:pt x="2000" y="18104"/>
                        <ns2:pt x="2895" y="18999"/>
                        <ns2:pt x="3999" y="19000"/>
                      </ns2:cubicBezTo>
                      <ns2:lnTo>
                        <ns2:pt x="8000" y="19000"/>
                      </ns2:lnTo>
                      <ns2:cubicBezTo>
                        <ns2:pt x="9574" y="19000"/>
                        <ns2:pt x="11056" y="19741"/>
                        <ns2:pt x="12000" y="21000"/>
                      </ns2:cubicBezTo>
                      <ns2:cubicBezTo>
                        <ns2:pt x="12944" y="19741"/>
                        <ns2:pt x="14426" y="19000"/>
                        <ns2:pt x="16000" y="19000"/>
                      </ns2:cubicBezTo>
                      <ns2:lnTo>
                        <ns2:pt x="20001" y="19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102" name="Context&#10;and memory"/>
              <p:cNvSpPr/>
              <p:nvPr/>
            </p:nvSpPr>
            <p:spPr>
              <ns1:xfrm xmlns:ns1="http://schemas.openxmlformats.org/drawingml/2006/main">
                <ns1:off x="695325" y="3200400"/>
                <ns1:ext cx="1133475" cy="5429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Context</ns7:t>
                </ns7:r>
              </ns7:p>
              <ns8:p xmlns:ns8="http://schemas.openxmlformats.org/drawingml/2006/main">
                <ns8:pPr algn="l"/>
                <ns8:r>
                  <ns8:rPr sz="1575" b="1">
                    <ns8:solidFill>
                      <ns8:srgbClr val="327EA6"/>
                    </ns8:solidFill>
                    <ns8:latin typeface="Times New Roman"/>
                    <ns8:ea typeface="Times New Roman"/>
                  </ns8:rPr>
                  <ns8:t>and memory</ns8:t>
                </ns8:r>
              </ns8:p>
            </p:txBody>
          </p:sp>
          <p:grpSp>
            <p:nvGrpSpPr>
              <p:cNvPr id="10113" name="calendar-days editable icon"/>
              <p:cNvGrpSpPr/>
              <p:nvPr/>
            </p:nvGrpSpPr>
            <p:grpSpPr>
              <ns1:xfrm xmlns:ns1="http://schemas.openxmlformats.org/drawingml/2006/main">
                <ns1:off x="1981200" y="3324225"/>
                <ns1:ext cx="285750" cy="285750"/>
                <ns1:chOff x="1981200" y="3324225"/>
                <ns1:chExt cx="285750" cy="285750"/>
              </ns1:xfrm>
            </p:grpSpPr>
            <p:sp>
              <p:nvSpPr>
                <p:cNvPr id="10103" name="calendar-days-0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2000"/>
                      </ns2:moveTo>
                      <ns2:lnTo>
                        <ns2:pt x="8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04" name="calendar-days-1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2000"/>
                      </ns2:moveTo>
                      <ns2:lnTo>
                        <ns2:pt x="16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05" name="calendar-days-2"/>
                <p:cNvSpPr/>
                <p:nvPr/>
              </p:nvSpPr>
              <p:spPr>
                <ns1:xfrm xmlns:ns1="http://schemas.openxmlformats.org/drawingml/2006/main">
                  <ns1:off x="2016919" y="3359944"/>
                  <ns1:ext cx="214312" cy="214312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27EA6"/>
                  </ns5:solidFill>
                </ns5:ln>
              </p:spPr>
            </p:sp>
            <p:sp>
              <p:nvSpPr>
                <p:cNvPr id="10106" name="calendar-days-3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9000"/>
                      </ns2:moveTo>
                      <ns2:lnTo>
                        <ns2:pt x="21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07" name="calendar-days-4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3000"/>
                      </ns2:moveTo>
                      <ns2:lnTo>
                        <ns2:pt x="8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08" name="calendar-days-5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2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09" name="calendar-days-6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16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10" name="calendar-days-7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7000"/>
                      </ns2:moveTo>
                      <ns2:lnTo>
                        <ns2:pt x="8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11" name="calendar-days-8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7000"/>
                      </ns2:moveTo>
                      <ns2:lnTo>
                        <ns2:pt x="12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12" name="calendar-days-9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114" name="Events &amp; cases"/>
              <p:cNvSpPr/>
              <p:nvPr/>
            </p:nvSpPr>
            <p:spPr>
              <ns1:xfrm xmlns:ns1="http://schemas.openxmlformats.org/drawingml/2006/main">
                <ns1:off x="2352675" y="32194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Events &amp; cases</ns7:t>
                </ns7:r>
              </ns7:p>
            </p:txBody>
          </p:sp>
          <p:grpSp>
            <p:nvGrpSpPr>
              <p:cNvPr id="10117" name="book-open editable icon"/>
              <p:cNvGrpSpPr/>
              <p:nvPr/>
            </p:nvGrpSpPr>
            <p:grpSpPr>
              <ns1:xfrm xmlns:ns1="http://schemas.openxmlformats.org/drawingml/2006/main">
                <ns1:off x="4314825" y="3324225"/>
                <ns1:ext cx="285750" cy="285750"/>
                <ns1:chOff x="4314825" y="3324225"/>
                <ns1:chExt cx="285750" cy="285750"/>
              </ns1:xfrm>
            </p:grpSpPr>
            <p:sp>
              <p:nvSpPr>
                <p:cNvPr id="10115" name="book-open-0"/>
                <p:cNvSpPr/>
                <p:nvPr/>
              </p:nvSpPr>
              <p:spPr>
                <ns1:xfrm xmlns:ns1="http://schemas.openxmlformats.org/drawingml/2006/main">
                  <ns1:off x="431482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5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116" name="book-open-1"/>
                <p:cNvSpPr/>
                <p:nvPr/>
              </p:nvSpPr>
              <p:spPr>
                <ns1:xfrm xmlns:ns1="http://schemas.openxmlformats.org/drawingml/2006/main">
                  <ns1:off x="431482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1" y="19000"/>
                      </ns2:moveTo>
                      <ns2:cubicBezTo>
                        <ns2:pt x="21105" y="18999"/>
                        <ns2:pt x="22000" y="18104"/>
                        <ns2:pt x="22000" y="17000"/>
                      </ns2:cubicBezTo>
                      <ns2:lnTo>
                        <ns2:pt x="22000" y="5000"/>
                      </ns2:lnTo>
                      <ns2:cubicBezTo>
                        <ns2:pt x="22000" y="3896"/>
                        <ns2:pt x="21105" y="3001"/>
                        <ns2:pt x="20001" y="3000"/>
                      </ns2:cubicBezTo>
                      <ns2:lnTo>
                        <ns2:pt x="16000" y="3002"/>
                      </ns2:lnTo>
                      <ns2:cubicBezTo>
                        <ns2:pt x="14427" y="3002"/>
                        <ns2:pt x="12945" y="3742"/>
                        <ns2:pt x="12000" y="5000"/>
                      </ns2:cubicBezTo>
                      <ns2:cubicBezTo>
                        <ns2:pt x="11056" y="3741"/>
                        <ns2:pt x="9574" y="3000"/>
                        <ns2:pt x="8000" y="3000"/>
                      </ns2:cubicBezTo>
                      <ns2:lnTo>
                        <ns2:pt x="4000" y="3000"/>
                      </ns2:lnTo>
                      <ns2:cubicBezTo>
                        <ns2:pt x="2895" y="3000"/>
                        <ns2:pt x="2000" y="3895"/>
                        <ns2:pt x="2000" y="5000"/>
                      </ns2:cubicBezTo>
                      <ns2:lnTo>
                        <ns2:pt x="2000" y="17000"/>
                      </ns2:lnTo>
                      <ns2:cubicBezTo>
                        <ns2:pt x="2000" y="18104"/>
                        <ns2:pt x="2895" y="18999"/>
                        <ns2:pt x="3999" y="19000"/>
                      </ns2:cubicBezTo>
                      <ns2:lnTo>
                        <ns2:pt x="8000" y="19000"/>
                      </ns2:lnTo>
                      <ns2:cubicBezTo>
                        <ns2:pt x="9574" y="19000"/>
                        <ns2:pt x="11056" y="19741"/>
                        <ns2:pt x="12000" y="21000"/>
                      </ns2:cubicBezTo>
                      <ns2:cubicBezTo>
                        <ns2:pt x="12944" y="19741"/>
                        <ns2:pt x="14426" y="19000"/>
                        <ns2:pt x="16000" y="19000"/>
                      </ns2:cubicBezTo>
                      <ns2:lnTo>
                        <ns2:pt x="20001" y="19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118" name="Reference examples"/>
              <p:cNvSpPr/>
              <p:nvPr/>
            </p:nvSpPr>
            <p:spPr>
              <ns1:xfrm xmlns:ns1="http://schemas.openxmlformats.org/drawingml/2006/main">
                <ns1:off x="4686300" y="32194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Reference examples</ns7:t>
                </ns7:r>
              </ns7:p>
            </p:txBody>
          </p:sp>
          <p:grpSp>
            <p:nvGrpSpPr>
              <p:cNvPr id="10122" name="history editable icon"/>
              <p:cNvGrpSpPr/>
              <p:nvPr/>
            </p:nvGrpSpPr>
            <p:grpSpPr>
              <ns1:xfrm xmlns:ns1="http://schemas.openxmlformats.org/drawingml/2006/main">
                <ns1:off x="6648450" y="3324225"/>
                <ns1:ext cx="285750" cy="285750"/>
                <ns1:chOff x="6648450" y="3324225"/>
                <ns1:chExt cx="285750" cy="285750"/>
              </ns1:xfrm>
            </p:grpSpPr>
            <p:sp>
              <p:nvSpPr>
                <p:cNvPr id="10119" name="history-0"/>
                <p:cNvSpPr/>
                <p:nvPr/>
              </p:nvSpPr>
              <p:spPr>
                <ns1:xfrm xmlns:ns1="http://schemas.openxmlformats.org/drawingml/2006/main">
                  <ns1:off x="664845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2000"/>
                      </ns2:moveTo>
                      <ns2:cubicBezTo>
                        <ns2:pt x="3000" y="16971"/>
                        <ns2:pt x="7029" y="21000"/>
                        <ns2:pt x="12000" y="21000"/>
                      </ns2:cubicBezTo>
                      <ns2:cubicBezTo>
                        <ns2:pt x="16971" y="21000"/>
                        <ns2:pt x="21000" y="16971"/>
                        <ns2:pt x="21000" y="12000"/>
                      </ns2:cubicBezTo>
                      <ns2:cubicBezTo>
                        <ns2:pt x="21000" y="7029"/>
                        <ns2:pt x="16971" y="3000"/>
                        <ns2:pt x="12000" y="3000"/>
                      </ns2:cubicBezTo>
                      <ns2:cubicBezTo>
                        <ns2:pt x="9484" y="3009"/>
                        <ns2:pt x="7069" y="3991"/>
                        <ns2:pt x="5260" y="5740"/>
                      </ns2:cubicBezTo>
                      <ns2:lnTo>
                        <ns2:pt x="3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20" name="history-1"/>
                <p:cNvSpPr/>
                <p:nvPr/>
              </p:nvSpPr>
              <p:spPr>
                <ns1:xfrm xmlns:ns1="http://schemas.openxmlformats.org/drawingml/2006/main">
                  <ns1:off x="664845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3000"/>
                      </ns2:moveTo>
                      <ns2:lnTo>
                        <ns2:pt x="3000" y="8000"/>
                      </ns2:lnTo>
                      <ns2:lnTo>
                        <ns2:pt x="8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21" name="history-2"/>
                <p:cNvSpPr/>
                <p:nvPr/>
              </p:nvSpPr>
              <p:spPr>
                <ns1:xfrm xmlns:ns1="http://schemas.openxmlformats.org/drawingml/2006/main">
                  <ns1:off x="664845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7000"/>
                      </ns2:moveTo>
                      <ns2:lnTo>
                        <ns2:pt x="12000" y="12000"/>
                      </ns2:lnTo>
                      <ns2:lnTo>
                        <ns2:pt x="16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123" name="Incident history"/>
              <p:cNvSpPr/>
              <p:nvPr/>
            </p:nvSpPr>
            <p:spPr>
              <ns1:xfrm xmlns:ns1="http://schemas.openxmlformats.org/drawingml/2006/main">
                <ns1:off x="7019925" y="32194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Incident history</ns7:t>
                </ns7:r>
              </ns7:p>
            </p:txBody>
          </p:sp>
          <p:grpSp>
            <p:nvGrpSpPr>
              <p:cNvPr id="10133" name="notebook-tabs editable icon"/>
              <p:cNvGrpSpPr/>
              <p:nvPr/>
            </p:nvGrpSpPr>
            <p:grpSpPr>
              <ns1:xfrm xmlns:ns1="http://schemas.openxmlformats.org/drawingml/2006/main">
                <ns1:off x="8982075" y="3324225"/>
                <ns1:ext cx="285750" cy="285750"/>
                <ns1:chOff x="8982075" y="3324225"/>
                <ns1:chExt cx="285750" cy="285750"/>
              </ns1:xfrm>
            </p:grpSpPr>
            <p:sp>
              <p:nvSpPr>
                <p:cNvPr id="10124" name="notebook-tabs-0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6000"/>
                      </ns2:moveTo>
                      <ns2:lnTo>
                        <ns2:pt x="6000" y="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25" name="notebook-tabs-1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0000"/>
                      </ns2:moveTo>
                      <ns2:lnTo>
                        <ns2:pt x="600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26" name="notebook-tabs-2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4000"/>
                      </ns2:moveTo>
                      <ns2:lnTo>
                        <ns2:pt x="6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27" name="notebook-tabs-3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8000"/>
                      </ns2:moveTo>
                      <ns2:lnTo>
                        <ns2:pt x="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28" name="notebook-tabs-4"/>
                <p:cNvSpPr/>
                <p:nvPr/>
              </p:nvSpPr>
              <p:spPr>
                <ns1:xfrm xmlns:ns1="http://schemas.openxmlformats.org/drawingml/2006/main">
                  <ns1:off x="9029700" y="3348038"/>
                  <ns1:ext cx="190500" cy="238125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A77838"/>
                  </ns5:solidFill>
                </ns5:ln>
              </p:spPr>
            </p:sp>
            <p:sp>
              <p:nvSpPr>
                <p:cNvPr id="10129" name="notebook-tabs-5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2000"/>
                      </ns2:moveTo>
                      <ns2:lnTo>
                        <ns2:pt x="15000" y="2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30" name="notebook-tabs-6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7000"/>
                      </ns2:moveTo>
                      <ns2:lnTo>
                        <ns2:pt x="2000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31" name="notebook-tabs-7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12000"/>
                      </ns2:moveTo>
                      <ns2:lnTo>
                        <ns2:pt x="20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32" name="notebook-tabs-8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17000"/>
                      </ns2:moveTo>
                      <ns2:lnTo>
                        <ns2:pt x="20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</p:grpSp>
          <p:sp>
            <p:nvSpPr>
              <p:cNvPr id="10134" name="Action history"/>
              <p:cNvSpPr/>
              <p:nvPr/>
            </p:nvSpPr>
            <p:spPr>
              <ns1:xfrm xmlns:ns1="http://schemas.openxmlformats.org/drawingml/2006/main">
                <ns1:off x="9353550" y="32194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Action history</ns7:t>
                </ns7:r>
              </ns7:p>
            </p:txBody>
          </p:sp>
        </p:grpSp>
        <p:grpSp>
          <p:nvGrpSpPr>
            <p:cNvPr id="10166" name="Temporal function Temporal validation"/>
            <p:cNvGrpSpPr/>
            <p:nvPr/>
          </p:nvGrpSpPr>
          <p:grpSpPr>
            <ns1:xfrm xmlns:ns1="http://schemas.openxmlformats.org/drawingml/2006/main">
              <ns1:off x="190500" y="3848100"/>
              <ns1:ext cx="11049000" cy="685800"/>
              <ns1:chOff x="190500" y="3848100"/>
              <ns1:chExt cx="11049000" cy="685800"/>
            </ns1:xfrm>
          </p:grpSpPr>
          <p:sp>
            <p:nvSpPr>
              <p:cNvPr id="10136" name="Row background"/>
              <p:cNvSpPr/>
              <p:nvPr/>
            </p:nvSpPr>
            <p:spPr>
              <ns1:xfrm xmlns:ns1="http://schemas.openxmlformats.org/drawingml/2006/main">
                <ns1:off x="190500" y="3848100"/>
                <ns1:ext cx="11049000" cy="685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noFill/>
              </ns4:ln>
            </p:spPr>
          </p:sp>
          <p:grpSp>
            <p:nvGrpSpPr>
              <p:cNvPr id="10139" name="shield-check editable icon"/>
              <p:cNvGrpSpPr/>
              <p:nvPr/>
            </p:nvGrpSpPr>
            <p:grpSpPr>
              <ns1:xfrm xmlns:ns1="http://schemas.openxmlformats.org/drawingml/2006/main">
                <ns1:off x="285750" y="4019550"/>
                <ns1:ext cx="304800" cy="304800"/>
                <ns1:chOff x="285750" y="4019550"/>
                <ns1:chExt cx="304800" cy="304800"/>
              </ns1:xfrm>
            </p:grpSpPr>
            <p:sp>
              <p:nvSpPr>
                <p:cNvPr id="10137" name="shield-check-0"/>
                <p:cNvSpPr/>
                <p:nvPr/>
              </p:nvSpPr>
              <p:spPr>
                <ns1:xfrm xmlns:ns1="http://schemas.openxmlformats.org/drawingml/2006/main">
                  <ns1:off x="285750" y="40195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3000"/>
                      </ns2:moveTo>
                      <ns2:cubicBezTo>
                        <ns2:pt x="20000" y="18000"/>
                        <ns2:pt x="16500" y="20500"/>
                        <ns2:pt x="12340" y="21950"/>
                      </ns2:cubicBezTo>
                      <ns2:cubicBezTo>
                        <ns2:pt x="12122" y="22024"/>
                        <ns2:pt x="11886" y="22020"/>
                        <ns2:pt x="11670" y="21940"/>
                      </ns2:cubicBezTo>
                      <ns2:cubicBezTo>
                        <ns2:pt x="7500" y="20500"/>
                        <ns2:pt x="4000" y="18000"/>
                        <ns2:pt x="4000" y="13000"/>
                      </ns2:cubicBezTo>
                      <ns2:lnTo>
                        <ns2:pt x="4000" y="6000"/>
                      </ns2:lnTo>
                      <ns2:cubicBezTo>
                        <ns2:pt x="4000" y="5448"/>
                        <ns2:pt x="4448" y="5000"/>
                        <ns2:pt x="5000" y="5000"/>
                      </ns2:cubicBezTo>
                      <ns2:cubicBezTo>
                        <ns2:pt x="7000" y="5000"/>
                        <ns2:pt x="9500" y="3800"/>
                        <ns2:pt x="11240" y="2280"/>
                      </ns2:cubicBezTo>
                      <ns2:cubicBezTo>
                        <ns2:pt x="11678" y="1906"/>
                        <ns2:pt x="12322" y="1906"/>
                        <ns2:pt x="12760" y="2280"/>
                      </ns2:cubicBezTo>
                      <ns2:cubicBezTo>
                        <ns2:pt x="14510" y="3810"/>
                        <ns2:pt x="17000" y="5000"/>
                        <ns2:pt x="19000" y="5000"/>
                      </ns2:cubicBezTo>
                      <ns2:cubicBezTo>
                        <ns2:pt x="19552" y="5000"/>
                        <ns2:pt x="20000" y="5448"/>
                        <ns2:pt x="20000" y="6000"/>
                      </ns2:cubicBezTo>
                      <ns2:lnTo>
                        <ns2:pt x="20000" y="13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138" name="shield-check-1"/>
                <p:cNvSpPr/>
                <p:nvPr/>
              </p:nvSpPr>
              <p:spPr>
                <ns1:xfrm xmlns:ns1="http://schemas.openxmlformats.org/drawingml/2006/main">
                  <ns1:off x="285750" y="40195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12000"/>
                      </ns2:moveTo>
                      <ns2:lnTo>
                        <ns2:pt x="11000" y="14000"/>
                      </ns2:lnTo>
                      <ns2:lnTo>
                        <ns2:pt x="1500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140" name="Temporal&#10;validation"/>
              <p:cNvSpPr/>
              <p:nvPr/>
            </p:nvSpPr>
            <p:spPr>
              <ns1:xfrm xmlns:ns1="http://schemas.openxmlformats.org/drawingml/2006/main">
                <ns1:off x="695325" y="3924300"/>
                <ns1:ext cx="1133475" cy="5429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Temporal</ns7:t>
                </ns7:r>
              </ns7:p>
              <ns8:p xmlns:ns8="http://schemas.openxmlformats.org/drawingml/2006/main">
                <ns8:pPr algn="l"/>
                <ns8:r>
                  <ns8:rPr sz="1575" b="1">
                    <ns8:solidFill>
                      <ns8:srgbClr val="327EA6"/>
                    </ns8:solidFill>
                    <ns8:latin typeface="Times New Roman"/>
                    <ns8:ea typeface="Times New Roman"/>
                  </ns8:rPr>
                  <ns8:t>validation</ns8:t>
                </ns8:r>
              </ns8:p>
            </p:txBody>
          </p:sp>
          <p:grpSp>
            <p:nvGrpSpPr>
              <p:cNvPr id="10143" name="clock editable icon"/>
              <p:cNvGrpSpPr/>
              <p:nvPr/>
            </p:nvGrpSpPr>
            <p:grpSpPr>
              <ns1:xfrm xmlns:ns1="http://schemas.openxmlformats.org/drawingml/2006/main">
                <ns1:off x="1981200" y="4048125"/>
                <ns1:ext cx="285750" cy="285750"/>
                <ns1:chOff x="1981200" y="4048125"/>
                <ns1:chExt cx="285750" cy="285750"/>
              </ns1:xfrm>
            </p:grpSpPr>
            <p:sp>
              <p:nvSpPr>
                <p:cNvPr id="10141" name="clock-0"/>
                <p:cNvSpPr/>
                <p:nvPr/>
              </p:nvSpPr>
              <p:spPr>
                <ns1:xfrm xmlns:ns1="http://schemas.openxmlformats.org/drawingml/2006/main">
                  <ns1:off x="2005012" y="4071938"/>
                  <ns1:ext cx="238125" cy="238125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27EA6"/>
                  </ns5:solidFill>
                </ns5:ln>
              </p:spPr>
            </p:sp>
            <p:sp>
              <p:nvSpPr>
                <p:cNvPr id="10142" name="clock-1"/>
                <p:cNvSpPr/>
                <p:nvPr/>
              </p:nvSpPr>
              <p:spPr>
                <ns1:xfrm xmlns:ns1="http://schemas.openxmlformats.org/drawingml/2006/main">
                  <ns1:off x="198120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6000"/>
                      </ns2:moveTo>
                      <ns2:lnTo>
                        <ns2:pt x="12000" y="12000"/>
                      </ns2:lnTo>
                      <ns2:lnTo>
                        <ns2:pt x="16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144" name="Information cutoff"/>
              <p:cNvSpPr/>
              <p:nvPr/>
            </p:nvSpPr>
            <p:spPr>
              <ns1:xfrm xmlns:ns1="http://schemas.openxmlformats.org/drawingml/2006/main">
                <ns1:off x="2352675" y="39433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Information cutoff</ns7:t>
                </ns7:r>
              </ns7:p>
            </p:txBody>
          </p:sp>
          <p:grpSp>
            <p:nvGrpSpPr>
              <p:cNvPr id="10149" name="git-compare editable icon"/>
              <p:cNvGrpSpPr/>
              <p:nvPr/>
            </p:nvGrpSpPr>
            <p:grpSpPr>
              <ns1:xfrm xmlns:ns1="http://schemas.openxmlformats.org/drawingml/2006/main">
                <ns1:off x="4314825" y="4048125"/>
                <ns1:ext cx="285750" cy="285750"/>
                <ns1:chOff x="4314825" y="4048125"/>
                <ns1:chExt cx="285750" cy="285750"/>
              </ns1:xfrm>
            </p:grpSpPr>
            <p:sp>
              <p:nvSpPr>
                <p:cNvPr id="10145" name="git-compare-0"/>
                <p:cNvSpPr/>
                <p:nvPr/>
              </p:nvSpPr>
              <p:spPr>
                <ns1:xfrm xmlns:ns1="http://schemas.openxmlformats.org/drawingml/2006/main">
                  <ns1:off x="4493419" y="4226719"/>
                  <ns1:ext cx="71438" cy="71438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705A99"/>
                  </ns5:solidFill>
                </ns5:ln>
              </p:spPr>
            </p:sp>
            <p:sp>
              <p:nvSpPr>
                <p:cNvPr id="10146" name="git-compare-1"/>
                <p:cNvSpPr/>
                <p:nvPr/>
              </p:nvSpPr>
              <p:spPr>
                <ns1:xfrm xmlns:ns1="http://schemas.openxmlformats.org/drawingml/2006/main">
                  <ns1:off x="4350544" y="4083844"/>
                  <ns1:ext cx="71438" cy="71438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705A99"/>
                  </ns5:solidFill>
                </ns5:ln>
              </p:spPr>
            </p:sp>
            <p:sp>
              <p:nvSpPr>
                <p:cNvPr id="10147" name="git-compare-2"/>
                <p:cNvSpPr/>
                <p:nvPr/>
              </p:nvSpPr>
              <p:spPr>
                <ns1:xfrm xmlns:ns1="http://schemas.openxmlformats.org/drawingml/2006/main">
                  <ns1:off x="431482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6000"/>
                      </ns2:moveTo>
                      <ns2:lnTo>
                        <ns2:pt x="16000" y="6000"/>
                      </ns2:lnTo>
                      <ns2:cubicBezTo>
                        <ns2:pt x="17105" y="6000"/>
                        <ns2:pt x="18000" y="6895"/>
                        <ns2:pt x="18000" y="8000"/>
                      </ns2:cubicBezTo>
                      <ns2:lnTo>
                        <ns2:pt x="18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148" name="git-compare-3"/>
                <p:cNvSpPr/>
                <p:nvPr/>
              </p:nvSpPr>
              <p:spPr>
                <ns1:xfrm xmlns:ns1="http://schemas.openxmlformats.org/drawingml/2006/main">
                  <ns1:off x="431482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1000" y="18000"/>
                      </ns2:moveTo>
                      <ns2:lnTo>
                        <ns2:pt x="8000" y="18000"/>
                      </ns2:lnTo>
                      <ns2:cubicBezTo>
                        <ns2:pt x="6895" y="18000"/>
                        <ns2:pt x="6000" y="17105"/>
                        <ns2:pt x="6000" y="16000"/>
                      </ns2:cubicBezTo>
                      <ns2:lnTo>
                        <ns2:pt x="6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150" name="Structure &amp; fidelity"/>
              <p:cNvSpPr/>
              <p:nvPr/>
            </p:nvSpPr>
            <p:spPr>
              <ns1:xfrm xmlns:ns1="http://schemas.openxmlformats.org/drawingml/2006/main">
                <ns1:off x="4686300" y="39433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Structure &amp; fidelity</ns7:t>
                </ns7:r>
              </ns7:p>
            </p:txBody>
          </p:sp>
          <p:grpSp>
            <p:nvGrpSpPr>
              <p:cNvPr id="10157" name="locate-fixed editable icon"/>
              <p:cNvGrpSpPr/>
              <p:nvPr/>
            </p:nvGrpSpPr>
            <p:grpSpPr>
              <ns1:xfrm xmlns:ns1="http://schemas.openxmlformats.org/drawingml/2006/main">
                <ns1:off x="6648450" y="4048125"/>
                <ns1:ext cx="285750" cy="285750"/>
                <ns1:chOff x="6648450" y="4048125"/>
                <ns1:chExt cx="285750" cy="285750"/>
              </ns1:xfrm>
            </p:grpSpPr>
            <p:sp>
              <p:nvSpPr>
                <p:cNvPr id="10151" name="locate-fixed-0"/>
                <p:cNvSpPr/>
                <p:nvPr/>
              </p:nvSpPr>
              <p:spPr>
                <ns1:xfrm xmlns:ns1="http://schemas.openxmlformats.org/drawingml/2006/main">
                  <ns1:off x="664845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lnTo>
                        <ns2:pt x="5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52" name="locate-fixed-1"/>
                <p:cNvSpPr/>
                <p:nvPr/>
              </p:nvSpPr>
              <p:spPr>
                <ns1:xfrm xmlns:ns1="http://schemas.openxmlformats.org/drawingml/2006/main">
                  <ns1:off x="664845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9000" y="12000"/>
                      </ns2:moveTo>
                      <ns2:lnTo>
                        <ns2:pt x="2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53" name="locate-fixed-2"/>
                <p:cNvSpPr/>
                <p:nvPr/>
              </p:nvSpPr>
              <p:spPr>
                <ns1:xfrm xmlns:ns1="http://schemas.openxmlformats.org/drawingml/2006/main">
                  <ns1:off x="664845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2000"/>
                      </ns2:moveTo>
                      <ns2:lnTo>
                        <ns2:pt x="12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54" name="locate-fixed-3"/>
                <p:cNvSpPr/>
                <p:nvPr/>
              </p:nvSpPr>
              <p:spPr>
                <ns1:xfrm xmlns:ns1="http://schemas.openxmlformats.org/drawingml/2006/main">
                  <ns1:off x="664845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9000"/>
                      </ns2:moveTo>
                      <ns2:lnTo>
                        <ns2:pt x="12000" y="2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55" name="locate-fixed-4"/>
                <p:cNvSpPr/>
                <p:nvPr/>
              </p:nvSpPr>
              <p:spPr>
                <ns1:xfrm xmlns:ns1="http://schemas.openxmlformats.org/drawingml/2006/main">
                  <ns1:off x="6707981" y="4107656"/>
                  <ns1:ext cx="166688" cy="166688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58972"/>
                  </ns5:solidFill>
                </ns5:ln>
              </p:spPr>
            </p:sp>
            <p:sp>
              <p:nvSpPr>
                <p:cNvPr id="10156" name="locate-fixed-5"/>
                <p:cNvSpPr/>
                <p:nvPr/>
              </p:nvSpPr>
              <p:spPr>
                <ns1:xfrm xmlns:ns1="http://schemas.openxmlformats.org/drawingml/2006/main">
                  <ns1:off x="6755606" y="4155281"/>
                  <ns1:ext cx="71438" cy="71438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58972"/>
                  </ns5:solidFill>
                </ns5:ln>
              </p:spPr>
            </p:sp>
          </p:grpSp>
          <p:sp>
            <p:nvSpPr>
              <p:cNvPr id="10158" name="Location &amp; evidence"/>
              <p:cNvSpPr/>
              <p:nvPr/>
            </p:nvSpPr>
            <p:spPr>
              <ns1:xfrm xmlns:ns1="http://schemas.openxmlformats.org/drawingml/2006/main">
                <ns1:off x="7019925" y="39433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Location &amp; evidence</ns7:t>
                </ns7:r>
              </ns7:p>
            </p:txBody>
          </p:sp>
          <p:grpSp>
            <p:nvGrpSpPr>
              <p:cNvPr id="10164" name="calendar-check editable icon"/>
              <p:cNvGrpSpPr/>
              <p:nvPr/>
            </p:nvGrpSpPr>
            <p:grpSpPr>
              <ns1:xfrm xmlns:ns1="http://schemas.openxmlformats.org/drawingml/2006/main">
                <ns1:off x="8982075" y="4048125"/>
                <ns1:ext cx="285750" cy="285750"/>
                <ns1:chOff x="8982075" y="4048125"/>
                <ns1:chExt cx="285750" cy="285750"/>
              </ns1:xfrm>
            </p:grpSpPr>
            <p:sp>
              <p:nvSpPr>
                <p:cNvPr id="10159" name="calendar-check-0"/>
                <p:cNvSpPr/>
                <p:nvPr/>
              </p:nvSpPr>
              <p:spPr>
                <ns1:xfrm xmlns:ns1="http://schemas.openxmlformats.org/drawingml/2006/main">
                  <ns1:off x="898207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2000"/>
                      </ns2:moveTo>
                      <ns2:lnTo>
                        <ns2:pt x="8000" y="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60" name="calendar-check-1"/>
                <p:cNvSpPr/>
                <p:nvPr/>
              </p:nvSpPr>
              <p:spPr>
                <ns1:xfrm xmlns:ns1="http://schemas.openxmlformats.org/drawingml/2006/main">
                  <ns1:off x="898207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2000"/>
                      </ns2:moveTo>
                      <ns2:lnTo>
                        <ns2:pt x="16000" y="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61" name="calendar-check-2"/>
                <p:cNvSpPr/>
                <p:nvPr/>
              </p:nvSpPr>
              <p:spPr>
                <ns1:xfrm xmlns:ns1="http://schemas.openxmlformats.org/drawingml/2006/main">
                  <ns1:off x="9017794" y="4095750"/>
                  <ns1:ext cx="214312" cy="214312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A77838"/>
                  </ns5:solidFill>
                </ns5:ln>
              </p:spPr>
            </p:sp>
            <p:sp>
              <p:nvSpPr>
                <p:cNvPr id="10162" name="calendar-check-3"/>
                <p:cNvSpPr/>
                <p:nvPr/>
              </p:nvSpPr>
              <p:spPr>
                <ns1:xfrm xmlns:ns1="http://schemas.openxmlformats.org/drawingml/2006/main">
                  <ns1:off x="898207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0000"/>
                      </ns2:moveTo>
                      <ns2:lnTo>
                        <ns2:pt x="2100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63" name="calendar-check-4"/>
                <p:cNvSpPr/>
                <p:nvPr/>
              </p:nvSpPr>
              <p:spPr>
                <ns1:xfrm xmlns:ns1="http://schemas.openxmlformats.org/drawingml/2006/main">
                  <ns1:off x="898207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16000"/>
                      </ns2:moveTo>
                      <ns2:lnTo>
                        <ns2:pt x="11000" y="18000"/>
                      </ns2:lnTo>
                      <ns2:lnTo>
                        <ns2:pt x="15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</p:grpSp>
          <p:sp>
            <p:nvSpPr>
              <p:cNvPr id="10165" name="Evidence at action time"/>
              <p:cNvSpPr/>
              <p:nvPr/>
            </p:nvSpPr>
            <p:spPr>
              <ns1:xfrm xmlns:ns1="http://schemas.openxmlformats.org/drawingml/2006/main">
                <ns1:off x="9353550" y="39433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Evidence at action time</ns7:t>
                </ns7:r>
              </ns7:p>
            </p:txBody>
          </p:sp>
        </p:grpSp>
        <p:sp>
          <p:nvSpPr>
            <p:cNvPr id="10167" name="Panel divider"/>
            <p:cNvSpPr/>
            <p:nvPr/>
          </p:nvSpPr>
          <p:spPr>
            <ns1:xfrm xmlns:ns1="http://schemas.openxmlformats.org/drawingml/2006/main">
              <ns1:off x="190500" y="47244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E1E5"/>
              </ns4:solidFill>
            </ns4:ln>
          </p:spPr>
        </p:sp>
        <p:sp>
          <p:nvSpPr>
            <p:cNvPr id="10168" name="(b) Demand forecasting and inventory decisions"/>
            <p:cNvSpPr/>
            <p:nvPr/>
          </p:nvSpPr>
          <p:spPr>
            <ns1:xfrm xmlns:ns1="http://schemas.openxmlformats.org/drawingml/2006/main">
              <ns1:off x="190500" y="4810125"/>
              <ns1:ext cx="11049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l"/>
              <ns7:r>
                <ns7:rPr sz="2025" b="1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(b) Demand forecasting and inventory decisions</ns7:t>
              </ns7:r>
            </ns7:p>
          </p:txBody>
        </p:sp>
        <p:grpSp>
          <p:nvGrpSpPr>
            <p:cNvPr id="10178" name="General execution"/>
            <p:cNvGrpSpPr/>
            <p:nvPr/>
          </p:nvGrpSpPr>
          <p:grpSpPr>
            <ns1:xfrm xmlns:ns1="http://schemas.openxmlformats.org/drawingml/2006/main">
              <ns1:off x="190500" y="5219700"/>
              <ns1:ext cx="2619375" cy="1790700"/>
              <ns1:chOff x="190500" y="5219700"/>
              <ns1:chExt cx="2619375" cy="1790700"/>
            </ns1:xfrm>
          </p:grpSpPr>
          <p:sp>
            <p:nvSpPr>
              <p:cNvPr id="10169" name="General execution"/>
              <p:cNvSpPr/>
              <p:nvPr/>
            </p:nvSpPr>
            <p:spPr>
              <ns1:xfrm xmlns:ns1="http://schemas.openxmlformats.org/drawingml/2006/main">
                <ns1:off x="190500" y="5219700"/>
                <ns1:ext cx="2619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General execution</ns7:t>
                </ns7:r>
              </ns7:p>
            </p:txBody>
          </p:sp>
          <p:grpSp>
            <p:nvGrpSpPr>
              <p:cNvPr id="10172" name="terminal editable icon"/>
              <p:cNvGrpSpPr/>
              <p:nvPr/>
            </p:nvGrpSpPr>
            <p:grpSpPr>
              <ns1:xfrm xmlns:ns1="http://schemas.openxmlformats.org/drawingml/2006/main">
                <ns1:off x="333375" y="5667375"/>
                <ns1:ext cx="495300" cy="495300"/>
                <ns1:chOff x="333375" y="5667375"/>
                <ns1:chExt cx="495300" cy="495300"/>
              </ns1:xfrm>
            </p:grpSpPr>
            <p:sp>
              <p:nvSpPr>
                <p:cNvPr id="10170" name="terminal-0"/>
                <p:cNvSpPr/>
                <p:nvPr/>
              </p:nvSpPr>
              <p:spPr>
                <ns1:xfrm xmlns:ns1="http://schemas.openxmlformats.org/drawingml/2006/main">
                  <ns1:off x="33337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7000"/>
                      </ns2:moveTo>
                      <ns2:lnTo>
                        <ns2:pt x="10000" y="11000"/>
                      </ns2:lnTo>
                      <ns2:lnTo>
                        <ns2:pt x="4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27EA6"/>
                  </ns4:solidFill>
                </ns4:ln>
              </p:spPr>
            </p:sp>
            <p:sp>
              <p:nvSpPr>
                <p:cNvPr id="10171" name="terminal-1"/>
                <p:cNvSpPr/>
                <p:nvPr/>
              </p:nvSpPr>
              <p:spPr>
                <ns1:xfrm xmlns:ns1="http://schemas.openxmlformats.org/drawingml/2006/main">
                  <ns1:off x="33337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9000"/>
                      </ns2:moveTo>
                      <ns2:lnTo>
                        <ns2:pt x="20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173" name="Run tools&#10;Retain artifacts"/>
              <p:cNvSpPr/>
              <p:nvPr/>
            </p:nvSpPr>
            <p:spPr>
              <ns1:xfrm xmlns:ns1="http://schemas.openxmlformats.org/drawingml/2006/main">
                <ns1:off x="1009650" y="5619750"/>
                <ns1:ext cx="1762125" cy="5810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Run tools</ns7:t>
                </ns7:r>
              </ns7:p>
              <ns8:p xmlns:ns8="http://schemas.openxmlformats.org/drawingml/2006/main">
                <ns8:pPr algn="l"/>
                <ns8:r>
                  <ns8:rPr sz="1650" b="0">
                    <ns8:solidFill>
                      <ns8:srgbClr val="25465E"/>
                    </ns8:solidFill>
                    <ns8:latin typeface="Times New Roman"/>
                    <ns8:ea typeface="Times New Roman"/>
                  </ns8:rPr>
                  <ns8:t>Retain artifacts</ns8:t>
                </ns8:r>
              </ns8:p>
            </p:txBody>
          </p:sp>
          <p:sp>
            <p:nvSpPr>
              <p:cNvPr id="10174" name="General Harness"/>
              <p:cNvSpPr/>
              <p:nvPr/>
            </p:nvSpPr>
            <p:spPr>
              <ns1:xfrm xmlns:ns1="http://schemas.openxmlformats.org/drawingml/2006/main">
                <ns1:off x="190500" y="6267450"/>
                <ns1:ext cx="2619375" cy="2476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50" b="0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General Harness</ns7:t>
                </ns7:r>
              </ns7:p>
            </p:txBody>
          </p:sp>
          <p:sp>
            <p:nvSpPr>
              <p:cNvPr id="10175" name="Resource separator"/>
              <p:cNvSpPr/>
              <p:nvPr/>
            </p:nvSpPr>
            <p:spPr>
              <ns1:xfrm xmlns:ns1="http://schemas.openxmlformats.org/drawingml/2006/main">
                <ns1:off x="285750" y="6619875"/>
                <ns1:ext cx="24288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55000" h="1000" fill="none">
                    <ns2:moveTo>
                      <ns2:pt x="0" y="0"/>
                    </ns2:moveTo>
                    <ns2:lnTo>
                      <ns2:pt x="25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D8E1E5"/>
                </ns4:solidFill>
              </ns4:ln>
            </p:spPr>
          </p:sp>
          <p:sp>
            <p:nvSpPr>
              <p:cNvPr id="10176" name="Artifact checks"/>
              <p:cNvSpPr/>
              <p:nvPr/>
            </p:nvSpPr>
            <p:spPr>
              <ns1:xfrm xmlns:ns1="http://schemas.openxmlformats.org/drawingml/2006/main">
                <ns1:off x="190500" y="6696075"/>
                <ns1:ext cx="2619375" cy="2667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1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Artifact checks</ns7:t>
                </ns7:r>
              </ns7:p>
            </p:txBody>
          </p:sp>
          <p:sp>
            <p:nvSpPr>
              <p:cNvPr id="10177" name=""/>
              <p:cNvSpPr/>
              <p:nvPr/>
            </p:nvSpPr>
            <p:spPr>
              <ns1:xfrm xmlns:ns1="http://schemas.openxmlformats.org/drawingml/2006/main">
                <ns1:off x="190500" y="7000875"/>
                <ns1:ext cx="2619375" cy="95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/>
                </ns7:r>
              </ns7:p>
            </p:txBody>
          </p:sp>
        </p:grpSp>
        <p:sp>
          <p:nvSpPr>
            <p:cNvPr id="10179" name="Composition arrow"/>
            <p:cNvSpPr/>
            <p:nvPr/>
          </p:nvSpPr>
          <p:spPr>
            <ns1:xfrm xmlns:ns1="http://schemas.openxmlformats.org/drawingml/2006/main">
              <ns1:off x="2781300" y="5915025"/>
              <ns1:ext cx="2095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2000" h="1000" fill="none">
                  <ns2:moveTo>
                    <ns2:pt x="0" y="0"/>
                  </ns2:moveTo>
                  <ns2:lnTo>
                    <ns2:pt x="22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91A4AF"/>
              </ns4:solidFill>
              <ns4:tailEnd type="triangle"/>
            </ns4:ln>
          </p:spPr>
        </p:sp>
        <p:grpSp>
          <p:nvGrpSpPr>
            <p:cNvPr id="10190" name="Temporal preparation"/>
            <p:cNvGrpSpPr/>
            <p:nvPr/>
          </p:nvGrpSpPr>
          <p:grpSpPr>
            <ns1:xfrm xmlns:ns1="http://schemas.openxmlformats.org/drawingml/2006/main">
              <ns1:off x="3000375" y="5219700"/>
              <ns1:ext cx="2619375" cy="1790700"/>
              <ns1:chOff x="3000375" y="5219700"/>
              <ns1:chExt cx="2619375" cy="1790700"/>
            </ns1:xfrm>
          </p:grpSpPr>
          <p:sp>
            <p:nvSpPr>
              <p:cNvPr id="10180" name="Temporal preparation"/>
              <p:cNvSpPr/>
              <p:nvPr/>
            </p:nvSpPr>
            <p:spPr>
              <ns1:xfrm xmlns:ns1="http://schemas.openxmlformats.org/drawingml/2006/main">
                <ns1:off x="3000375" y="5219700"/>
                <ns1:ext cx="2619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358972"/>
                    </ns7:solidFill>
                    <ns7:latin typeface="Times New Roman"/>
                    <ns7:ea typeface="Times New Roman"/>
                  </ns7:rPr>
                  <ns7:t>Temporal preparation</ns7:t>
                </ns7:r>
              </ns7:p>
            </p:txBody>
          </p:sp>
          <p:grpSp>
            <p:nvGrpSpPr>
              <p:cNvPr id="10184" name="align-horizontal-justify-center editable icon"/>
              <p:cNvGrpSpPr/>
              <p:nvPr/>
            </p:nvGrpSpPr>
            <p:grpSpPr>
              <ns1:xfrm xmlns:ns1="http://schemas.openxmlformats.org/drawingml/2006/main">
                <ns1:off x="3143250" y="5667375"/>
                <ns1:ext cx="495300" cy="495300"/>
                <ns1:chOff x="3143250" y="5667375"/>
                <ns1:chExt cx="495300" cy="495300"/>
              </ns1:xfrm>
            </p:grpSpPr>
            <p:sp>
              <p:nvSpPr>
                <p:cNvPr id="10181" name="align-horizontal-justify-center-0"/>
                <p:cNvSpPr/>
                <p:nvPr/>
              </p:nvSpPr>
              <p:spPr>
                <ns1:xfrm xmlns:ns1="http://schemas.openxmlformats.org/drawingml/2006/main">
                  <ns1:off x="3184525" y="5770562"/>
                  <ns1:ext cx="123825" cy="288925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30956" cap="rnd">
                  <ns5:solidFill>
                    <ns5:srgbClr val="358972"/>
                  </ns5:solidFill>
                </ns5:ln>
              </p:spPr>
            </p:sp>
            <p:sp>
              <p:nvSpPr>
                <p:cNvPr id="10182" name="align-horizontal-justify-center-1"/>
                <p:cNvSpPr/>
                <p:nvPr/>
              </p:nvSpPr>
              <p:spPr>
                <ns1:xfrm xmlns:ns1="http://schemas.openxmlformats.org/drawingml/2006/main">
                  <ns1:off x="3473450" y="5811838"/>
                  <ns1:ext cx="123825" cy="206375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30956" cap="rnd">
                  <ns5:solidFill>
                    <ns5:srgbClr val="358972"/>
                  </ns5:solidFill>
                </ns5:ln>
              </p:spPr>
            </p:sp>
            <p:sp>
              <p:nvSpPr>
                <p:cNvPr id="10183" name="align-horizontal-justify-center-2"/>
                <p:cNvSpPr/>
                <p:nvPr/>
              </p:nvSpPr>
              <p:spPr>
                <ns1:xfrm xmlns:ns1="http://schemas.openxmlformats.org/drawingml/2006/main">
                  <ns1:off x="314325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2000"/>
                      </ns2:moveTo>
                      <ns2:lnTo>
                        <ns2:pt x="12000" y="2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185" name="Align history&#10;Retrieve context"/>
              <p:cNvSpPr/>
              <p:nvPr/>
            </p:nvSpPr>
            <p:spPr>
              <ns1:xfrm xmlns:ns1="http://schemas.openxmlformats.org/drawingml/2006/main">
                <ns1:off x="3819525" y="5619750"/>
                <ns1:ext cx="1762125" cy="5810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Align history</ns7:t>
                </ns7:r>
              </ns7:p>
              <ns8:p xmlns:ns8="http://schemas.openxmlformats.org/drawingml/2006/main">
                <ns8:pPr algn="l"/>
                <ns8:r>
                  <ns8:rPr sz="1650" b="0">
                    <ns8:solidFill>
                      <ns8:srgbClr val="25465E"/>
                    </ns8:solidFill>
                    <ns8:latin typeface="Times New Roman"/>
                    <ns8:ea typeface="Times New Roman"/>
                  </ns8:rPr>
                  <ns8:t>Retrieve context</ns8:t>
                </ns8:r>
              </ns8:p>
            </p:txBody>
          </p:sp>
          <p:sp>
            <p:nvSpPr>
              <p:cNvPr id="10186" name="General Time-Series Harness"/>
              <p:cNvSpPr/>
              <p:nvPr/>
            </p:nvSpPr>
            <p:spPr>
              <ns1:xfrm xmlns:ns1="http://schemas.openxmlformats.org/drawingml/2006/main">
                <ns1:off x="3000375" y="6267450"/>
                <ns1:ext cx="2619375" cy="2476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50" b="0">
                    <ns7:solidFill>
                      <ns7:srgbClr val="358972"/>
                    </ns7:solidFill>
                    <ns7:latin typeface="Times New Roman"/>
                    <ns7:ea typeface="Times New Roman"/>
                  </ns7:rPr>
                  <ns7:t>General Time-Series Harness</ns7:t>
                </ns7:r>
              </ns7:p>
            </p:txBody>
          </p:sp>
          <p:sp>
            <p:nvSpPr>
              <p:cNvPr id="10187" name="Resource separator"/>
              <p:cNvSpPr/>
              <p:nvPr/>
            </p:nvSpPr>
            <p:spPr>
              <ns1:xfrm xmlns:ns1="http://schemas.openxmlformats.org/drawingml/2006/main">
                <ns1:off x="3095625" y="6619875"/>
                <ns1:ext cx="24288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55000" h="1000" fill="none">
                    <ns2:moveTo>
                      <ns2:pt x="0" y="0"/>
                    </ns2:moveTo>
                    <ns2:lnTo>
                      <ns2:pt x="25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D8E1E5"/>
                </ns4:solidFill>
              </ns4:ln>
            </p:spPr>
          </p:sp>
          <p:sp>
            <p:nvSpPr>
              <p:cNvPr id="10188" name="Context tests"/>
              <p:cNvSpPr/>
              <p:nvPr/>
            </p:nvSpPr>
            <p:spPr>
              <ns1:xfrm xmlns:ns1="http://schemas.openxmlformats.org/drawingml/2006/main">
                <ns1:off x="3000375" y="6696075"/>
                <ns1:ext cx="2619375" cy="2667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1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Context tests</ns7:t>
                </ns7:r>
              </ns7:p>
            </p:txBody>
          </p:sp>
          <p:sp>
            <p:nvSpPr>
              <p:cNvPr id="10189" name=""/>
              <p:cNvSpPr/>
              <p:nvPr/>
            </p:nvSpPr>
            <p:spPr>
              <ns1:xfrm xmlns:ns1="http://schemas.openxmlformats.org/drawingml/2006/main">
                <ns1:off x="3000375" y="7000875"/>
                <ns1:ext cx="2619375" cy="95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/>
                </ns7:r>
              </ns7:p>
            </p:txBody>
          </p:sp>
        </p:grpSp>
        <p:sp>
          <p:nvSpPr>
            <p:cNvPr id="10191" name="Composition arrow"/>
            <p:cNvSpPr/>
            <p:nvPr/>
          </p:nvSpPr>
          <p:spPr>
            <ns1:xfrm xmlns:ns1="http://schemas.openxmlformats.org/drawingml/2006/main">
              <ns1:off x="5591175" y="5915025"/>
              <ns1:ext cx="2095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2000" h="1000" fill="none">
                  <ns2:moveTo>
                    <ns2:pt x="0" y="0"/>
                  </ns2:moveTo>
                  <ns2:lnTo>
                    <ns2:pt x="22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91A4AF"/>
              </ns4:solidFill>
              <ns4:tailEnd type="triangle"/>
            </ns4:ln>
          </p:spPr>
        </p:sp>
        <p:grpSp>
          <p:nvGrpSpPr>
            <p:cNvPr id="10205" name="Forecast procedure"/>
            <p:cNvGrpSpPr/>
            <p:nvPr/>
          </p:nvGrpSpPr>
          <p:grpSpPr>
            <ns1:xfrm xmlns:ns1="http://schemas.openxmlformats.org/drawingml/2006/main">
              <ns1:off x="5810250" y="5219700"/>
              <ns1:ext cx="2619375" cy="1790700"/>
              <ns1:chOff x="5810250" y="5219700"/>
              <ns1:chExt cx="2619375" cy="1790700"/>
            </ns1:xfrm>
          </p:grpSpPr>
          <p:sp>
            <p:nvSpPr>
              <p:cNvPr id="10192" name="Forecast procedure"/>
              <p:cNvSpPr/>
              <p:nvPr/>
            </p:nvSpPr>
            <p:spPr>
              <ns1:xfrm xmlns:ns1="http://schemas.openxmlformats.org/drawingml/2006/main">
                <ns1:off x="5810250" y="5219700"/>
                <ns1:ext cx="2619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705A99"/>
                    </ns7:solidFill>
                    <ns7:latin typeface="Times New Roman"/>
                    <ns7:ea typeface="Times New Roman"/>
                  </ns7:rPr>
                  <ns7:t>Forecast procedure</ns7:t>
                </ns7:r>
              </ns7:p>
            </p:txBody>
          </p:sp>
          <p:grpSp>
            <p:nvGrpSpPr>
              <p:cNvPr id="10199" name="chart-no-axes-combined editable icon"/>
              <p:cNvGrpSpPr/>
              <p:nvPr/>
            </p:nvGrpSpPr>
            <p:grpSpPr>
              <ns1:xfrm xmlns:ns1="http://schemas.openxmlformats.org/drawingml/2006/main">
                <ns1:off x="5953125" y="5667375"/>
                <ns1:ext cx="495300" cy="495300"/>
                <ns1:chOff x="5953125" y="5667375"/>
                <ns1:chExt cx="495300" cy="495300"/>
              </ns1:xfrm>
            </p:grpSpPr>
            <p:sp>
              <p:nvSpPr>
                <p:cNvPr id="10193" name="chart-no-axes-combined-0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  <p:sp>
              <p:nvSpPr>
                <p:cNvPr id="10194" name="chart-no-axes-combined-1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639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  <p:sp>
              <p:nvSpPr>
                <p:cNvPr id="10195" name="chart-no-axes-combined-2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0656"/>
                      </ns2:move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  <p:sp>
              <p:nvSpPr>
                <p:cNvPr id="10196" name="chart-no-axes-combined-3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2000" y="3000"/>
                      </ns2:moveTo>
                      <ns2:lnTo>
                        <ns2:pt x="13354" y="11646"/>
                      </ns2:lnTo>
                      <ns2:cubicBezTo>
                        <ns2:pt x="13260" y="11740"/>
                        <ns2:pt x="13133" y="11793"/>
                        <ns2:pt x="13000" y="11793"/>
                      </ns2:cubicBezTo>
                      <ns2:cubicBezTo>
                        <ns2:pt x="12867" y="11793"/>
                        <ns2:pt x="12740" y="11740"/>
                        <ns2:pt x="12646" y="11646"/>
                      </ns2:cubicBezTo>
                      <ns2:lnTo>
                        <ns2:pt x="9354" y="8354"/>
                      </ns2:lnTo>
                      <ns2:cubicBezTo>
                        <ns2:pt x="9159" y="8159"/>
                        <ns2:pt x="8842" y="8159"/>
                        <ns2:pt x="8647" y="8354"/>
                      </ns2:cubicBezTo>
                      <ns2:lnTo>
                        <ns2:pt x="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  <p:sp>
              <p:nvSpPr>
                <p:cNvPr id="10197" name="chart-no-axes-combined-4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8463"/>
                      </ns2:moveTo>
                      <ns2:lnTo>
                        <ns2:pt x="4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  <p:sp>
              <p:nvSpPr>
                <p:cNvPr id="10198" name="chart-no-axes-combined-5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656"/>
                      </ns2:moveTo>
                      <ns2:lnTo>
                        <ns2:pt x="8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200" name="Select model&#10;Revise forecast"/>
              <p:cNvSpPr/>
              <p:nvPr/>
            </p:nvSpPr>
            <p:spPr>
              <ns1:xfrm xmlns:ns1="http://schemas.openxmlformats.org/drawingml/2006/main">
                <ns1:off x="6629400" y="5619750"/>
                <ns1:ext cx="1762125" cy="5810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Select model</ns7:t>
                </ns7:r>
              </ns7:p>
              <ns8:p xmlns:ns8="http://schemas.openxmlformats.org/drawingml/2006/main">
                <ns8:pPr algn="l"/>
                <ns8:r>
                  <ns8:rPr sz="1650" b="0">
                    <ns8:solidFill>
                      <ns8:srgbClr val="25465E"/>
                    </ns8:solidFill>
                    <ns8:latin typeface="Times New Roman"/>
                    <ns8:ea typeface="Times New Roman"/>
                  </ns8:rPr>
                  <ns8:t>Revise forecast</ns8:t>
                </ns8:r>
              </ns8:p>
            </p:txBody>
          </p:sp>
          <p:sp>
            <p:nvSpPr>
              <p:cNvPr id="10201" name="Task-Specific Harness"/>
              <p:cNvSpPr/>
              <p:nvPr/>
            </p:nvSpPr>
            <p:spPr>
              <ns1:xfrm xmlns:ns1="http://schemas.openxmlformats.org/drawingml/2006/main">
                <ns1:off x="5810250" y="6267450"/>
                <ns1:ext cx="2619375" cy="2476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50" b="0">
                    <ns7:solidFill>
                      <ns7:srgbClr val="705A99"/>
                    </ns7:solidFill>
                    <ns7:latin typeface="Times New Roman"/>
                    <ns7:ea typeface="Times New Roman"/>
                  </ns7:rPr>
                  <ns7:t>Task-Specific Harness</ns7:t>
                </ns7:r>
              </ns7:p>
            </p:txBody>
          </p:sp>
          <p:sp>
            <p:nvSpPr>
              <p:cNvPr id="10202" name="Resource separator"/>
              <p:cNvSpPr/>
              <p:nvPr/>
            </p:nvSpPr>
            <p:spPr>
              <ns1:xfrm xmlns:ns1="http://schemas.openxmlformats.org/drawingml/2006/main">
                <ns1:off x="5905500" y="6619875"/>
                <ns1:ext cx="24288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55000" h="1000" fill="none">
                    <ns2:moveTo>
                      <ns2:pt x="0" y="0"/>
                    </ns2:moveTo>
                    <ns2:lnTo>
                      <ns2:pt x="25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D8E1E5"/>
                </ns4:solidFill>
              </ns4:ln>
            </p:spPr>
          </p:sp>
          <p:sp>
            <p:nvSpPr>
              <p:cNvPr id="10203" name="Model library"/>
              <p:cNvSpPr/>
              <p:nvPr/>
            </p:nvSpPr>
            <p:spPr>
              <ns1:xfrm xmlns:ns1="http://schemas.openxmlformats.org/drawingml/2006/main">
                <ns1:off x="5810250" y="6696075"/>
                <ns1:ext cx="2619375" cy="2667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1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Model library</ns7:t>
                </ns7:r>
              </ns7:p>
            </p:txBody>
          </p:sp>
          <p:sp>
            <p:nvSpPr>
              <p:cNvPr id="10204" name=""/>
              <p:cNvSpPr/>
              <p:nvPr/>
            </p:nvSpPr>
            <p:spPr>
              <ns1:xfrm xmlns:ns1="http://schemas.openxmlformats.org/drawingml/2006/main">
                <ns1:off x="5810250" y="7000875"/>
                <ns1:ext cx="2619375" cy="95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/>
                </ns7:r>
              </ns7:p>
            </p:txBody>
          </p:sp>
        </p:grpSp>
        <p:sp>
          <p:nvSpPr>
            <p:cNvPr id="10206" name="Composition arrow"/>
            <p:cNvSpPr/>
            <p:nvPr/>
          </p:nvSpPr>
          <p:spPr>
            <ns1:xfrm xmlns:ns1="http://schemas.openxmlformats.org/drawingml/2006/main">
              <ns1:off x="8401050" y="5915025"/>
              <ns1:ext cx="2095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2000" h="1000" fill="none">
                  <ns2:moveTo>
                    <ns2:pt x="0" y="0"/>
                  </ns2:moveTo>
                  <ns2:lnTo>
                    <ns2:pt x="22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91A4AF"/>
              </ns4:solidFill>
              <ns4:tailEnd type="triangle"/>
            </ns4:ln>
          </p:spPr>
        </p:sp>
        <p:grpSp>
          <p:nvGrpSpPr>
            <p:cNvPr id="10218" name="Inventory decision"/>
            <p:cNvGrpSpPr/>
            <p:nvPr/>
          </p:nvGrpSpPr>
          <p:grpSpPr>
            <ns1:xfrm xmlns:ns1="http://schemas.openxmlformats.org/drawingml/2006/main">
              <ns1:off x="8620125" y="5219700"/>
              <ns1:ext cx="2619375" cy="1790700"/>
              <ns1:chOff x="8620125" y="5219700"/>
              <ns1:chExt cx="2619375" cy="1790700"/>
            </ns1:xfrm>
          </p:grpSpPr>
          <p:sp>
            <p:nvSpPr>
              <p:cNvPr id="10207" name="Inventory decision"/>
              <p:cNvSpPr/>
              <p:nvPr/>
            </p:nvSpPr>
            <p:spPr>
              <ns1:xfrm xmlns:ns1="http://schemas.openxmlformats.org/drawingml/2006/main">
                <ns1:off x="8620125" y="5219700"/>
                <ns1:ext cx="2619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A77838"/>
                    </ns7:solidFill>
                    <ns7:latin typeface="Times New Roman"/>
                    <ns7:ea typeface="Times New Roman"/>
                  </ns7:rPr>
                  <ns7:t>Inventory decision</ns7:t>
                </ns7:r>
              </ns7:p>
            </p:txBody>
          </p:sp>
          <p:grpSp>
            <p:nvGrpSpPr>
              <p:cNvPr id="10212" name="package editable icon"/>
              <p:cNvGrpSpPr/>
              <p:nvPr/>
            </p:nvGrpSpPr>
            <p:grpSpPr>
              <ns1:xfrm xmlns:ns1="http://schemas.openxmlformats.org/drawingml/2006/main">
                <ns1:off x="8763000" y="5667375"/>
                <ns1:ext cx="495300" cy="495300"/>
                <ns1:chOff x="8763000" y="5667375"/>
                <ns1:chExt cx="495300" cy="495300"/>
              </ns1:xfrm>
            </p:grpSpPr>
            <p:sp>
              <p:nvSpPr>
                <p:cNvPr id="10208" name="package-0"/>
                <p:cNvSpPr/>
                <p:nvPr/>
              </p:nvSpPr>
              <p:spPr>
                <ns1:xfrm xmlns:ns1="http://schemas.openxmlformats.org/drawingml/2006/main">
                  <ns1:off x="876300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1000" y="21730"/>
                      </ns2:moveTo>
                      <ns2:cubicBezTo>
                        <ns2:pt x="11619" y="22087"/>
                        <ns2:pt x="12381" y="22087"/>
                        <ns2:pt x="13000" y="21730"/>
                      </ns2:cubicBezTo>
                      <ns2:lnTo>
                        <ns2:pt x="20000" y="17730"/>
                      </ns2:lnTo>
                      <ns2:cubicBezTo>
                        <ns2:pt x="20618" y="17373"/>
                        <ns2:pt x="20999" y="16714"/>
                        <ns2:pt x="21000" y="16000"/>
                      </ns2:cubicBezTo>
                      <ns2:lnTo>
                        <ns2:pt x="21000" y="8000"/>
                      </ns2:lnTo>
                      <ns2:cubicBezTo>
                        <ns2:pt x="20999" y="7286"/>
                        <ns2:pt x="20618" y="6627"/>
                        <ns2:pt x="20000" y="6270"/>
                      </ns2:cubicBezTo>
                      <ns2:lnTo>
                        <ns2:pt x="13000" y="2270"/>
                      </ns2:lnTo>
                      <ns2:cubicBezTo>
                        <ns2:pt x="12381" y="1913"/>
                        <ns2:pt x="11619" y="1913"/>
                        <ns2:pt x="11000" y="2270"/>
                      </ns2:cubicBezTo>
                      <ns2:lnTo>
                        <ns2:pt x="4000" y="6270"/>
                      </ns2:lnTo>
                      <ns2:cubicBezTo>
                        <ns2:pt x="3382" y="6627"/>
                        <ns2:pt x="3001" y="7286"/>
                        <ns2:pt x="3000" y="8000"/>
                      </ns2:cubicBezTo>
                      <ns2:lnTo>
                        <ns2:pt x="3000" y="16000"/>
                      </ns2:lnTo>
                      <ns2:cubicBezTo>
                        <ns2:pt x="3001" y="16714"/>
                        <ns2:pt x="3382" y="17373"/>
                        <ns2:pt x="4000" y="17730"/>
                      </ns2:cubicBezTo>
                      <ns2:lnTo>
                        <ns2:pt x="11000" y="2173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A77838"/>
                  </ns4:solidFill>
                </ns4:ln>
              </p:spPr>
            </p:sp>
            <p:sp>
              <p:nvSpPr>
                <p:cNvPr id="10209" name="package-1"/>
                <p:cNvSpPr/>
                <p:nvPr/>
              </p:nvSpPr>
              <p:spPr>
                <ns1:xfrm xmlns:ns1="http://schemas.openxmlformats.org/drawingml/2006/main">
                  <ns1:off x="876300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2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A77838"/>
                  </ns4:solidFill>
                </ns4:ln>
              </p:spPr>
            </p:sp>
            <p:sp>
              <p:nvSpPr>
                <p:cNvPr id="10210" name="package-2"/>
                <p:cNvSpPr/>
                <p:nvPr/>
              </p:nvSpPr>
              <p:spPr>
                <ns1:xfrm xmlns:ns1="http://schemas.openxmlformats.org/drawingml/2006/main">
                  <ns1:off x="876300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290" y="7000"/>
                      </ns2:moveTo>
                      <ns2:lnTo>
                        <ns2:pt x="12000" y="12000"/>
                      </ns2:lnTo>
                      <ns2:lnTo>
                        <ns2:pt x="2071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A77838"/>
                  </ns4:solidFill>
                </ns4:ln>
              </p:spPr>
            </p:sp>
            <p:sp>
              <p:nvSpPr>
                <p:cNvPr id="10211" name="package-3"/>
                <p:cNvSpPr/>
                <p:nvPr/>
              </p:nvSpPr>
              <p:spPr>
                <ns1:xfrm xmlns:ns1="http://schemas.openxmlformats.org/drawingml/2006/main">
                  <ns1:off x="876300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500" y="4270"/>
                      </ns2:moveTo>
                      <ns2:lnTo>
                        <ns2:pt x="16500" y="942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A77838"/>
                  </ns4:solidFill>
                </ns4:ln>
              </p:spPr>
            </p:sp>
          </p:grpSp>
          <p:sp>
            <p:nvSpPr>
              <p:cNvPr id="10213" name="Set stock levels&#10;Check costs"/>
              <p:cNvSpPr/>
              <p:nvPr/>
            </p:nvSpPr>
            <p:spPr>
              <ns1:xfrm xmlns:ns1="http://schemas.openxmlformats.org/drawingml/2006/main">
                <ns1:off x="9439275" y="5619750"/>
                <ns1:ext cx="1762125" cy="5810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Set stock levels</ns7:t>
                </ns7:r>
              </ns7:p>
              <ns8:p xmlns:ns8="http://schemas.openxmlformats.org/drawingml/2006/main">
                <ns8:pPr algn="l"/>
                <ns8:r>
                  <ns8:rPr sz="1650" b="0">
                    <ns8:solidFill>
                      <ns8:srgbClr val="25465E"/>
                    </ns8:solidFill>
                    <ns8:latin typeface="Times New Roman"/>
                    <ns8:ea typeface="Times New Roman"/>
                  </ns8:rPr>
                  <ns8:t>Check costs</ns8:t>
                </ns8:r>
              </ns8:p>
            </p:txBody>
          </p:sp>
          <p:sp>
            <p:nvSpPr>
              <p:cNvPr id="10214" name="Task-Specific Harness"/>
              <p:cNvSpPr/>
              <p:nvPr/>
            </p:nvSpPr>
            <p:spPr>
              <ns1:xfrm xmlns:ns1="http://schemas.openxmlformats.org/drawingml/2006/main">
                <ns1:off x="8620125" y="6267450"/>
                <ns1:ext cx="2619375" cy="2476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50" b="0">
                    <ns7:solidFill>
                      <ns7:srgbClr val="A77838"/>
                    </ns7:solidFill>
                    <ns7:latin typeface="Times New Roman"/>
                    <ns7:ea typeface="Times New Roman"/>
                  </ns7:rPr>
                  <ns7:t>Task-Specific Harness</ns7:t>
                </ns7:r>
              </ns7:p>
            </p:txBody>
          </p:sp>
          <p:sp>
            <p:nvSpPr>
              <p:cNvPr id="10215" name="Resource separator"/>
              <p:cNvSpPr/>
              <p:nvPr/>
            </p:nvSpPr>
            <p:spPr>
              <ns1:xfrm xmlns:ns1="http://schemas.openxmlformats.org/drawingml/2006/main">
                <ns1:off x="8715375" y="6619875"/>
                <ns1:ext cx="24288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55000" h="1000" fill="none">
                    <ns2:moveTo>
                      <ns2:pt x="0" y="0"/>
                    </ns2:moveTo>
                    <ns2:lnTo>
                      <ns2:pt x="25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D8E1E5"/>
                </ns4:solidFill>
              </ns4:ln>
            </p:spPr>
          </p:sp>
          <p:sp>
            <p:nvSpPr>
              <p:cNvPr id="10216" name="Scenario evaluation"/>
              <p:cNvSpPr/>
              <p:nvPr/>
            </p:nvSpPr>
            <p:spPr>
              <ns1:xfrm xmlns:ns1="http://schemas.openxmlformats.org/drawingml/2006/main">
                <ns1:off x="8620125" y="6696075"/>
                <ns1:ext cx="2619375" cy="2667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1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Scenario evaluation</ns7:t>
                </ns7:r>
              </ns7:p>
            </p:txBody>
          </p:sp>
          <p:sp>
            <p:nvSpPr>
              <p:cNvPr id="10217" name=""/>
              <p:cNvSpPr/>
              <p:nvPr/>
            </p:nvSpPr>
            <p:spPr>
              <ns1:xfrm xmlns:ns1="http://schemas.openxmlformats.org/drawingml/2006/main">
                <ns1:off x="8620125" y="7000875"/>
                <ns1:ext cx="2619375" cy="95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/>
                </ns7:r>
              </ns7:p>
            </p:txBody>
          </p:sp>
        </p:grpSp>
      </p:grpSp>
    </p:spTree>
    <p:extLst>
      <p:ext uri="{BB962C8B-B14F-4D97-AF65-F5344CB8AC3E}">
        <p14:creationId xmlns:p14="http://schemas.microsoft.com/office/powerpoint/2010/main" val="1506854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2026-10-21T08:48:17.7360000Z</dcterms:created>
  <dcterms:modified xsi:type="dcterms:W3CDTF">2026-10-21T08:48:17.7360000Z</dcterms:modified>
</coreProperties>
</file>