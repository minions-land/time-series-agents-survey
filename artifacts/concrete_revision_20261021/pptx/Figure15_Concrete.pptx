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0cba69fe848bd" /><Relationship Type="http://schemas.openxmlformats.org/officeDocument/2006/relationships/extended-properties" Target="/docProps/app.xml" Id="R726296310be64730" /><Relationship Type="http://schemas.openxmlformats.org/officeDocument/2006/relationships/officeDocument" Target="/ppt/presentation.xml" Id="Rc14424a12e2b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2d11cd9e741be"/>
  </p:sldMasterIdLst>
  <p:notesMasterIdLst>
    <p:notesMasterId xmlns:r="http://schemas.openxmlformats.org/officeDocument/2006/relationships" r:id="R40497b9773924fc6"/>
  </p:notesMasterIdLst>
  <p:sldIdLst>
    <p:sldId xmlns:r="http://schemas.openxmlformats.org/officeDocument/2006/relationships" id="256" r:id="R2d137d57f8e74dd3"/>
  </p:sldIdLst>
  <p:sldSz cx="11430000" cy="71913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ae3c100447d9" /><Relationship Type="http://schemas.openxmlformats.org/officeDocument/2006/relationships/slideMaster" Target="/ppt/slideMasters/slideMaster1.xml" Id="R62d2d11cd9e741be" /><Relationship Type="http://schemas.openxmlformats.org/officeDocument/2006/relationships/notesMaster" Target="/ppt/notesMasters/notesMaster1.xml" Id="R40497b9773924fc6" /><Relationship Type="http://schemas.openxmlformats.org/officeDocument/2006/relationships/presProps" Target="/ppt/presProps.xml" Id="Rdc38535f99e14d12" /><Relationship Type="http://schemas.openxmlformats.org/officeDocument/2006/relationships/tableStyles" Target="/ppt/tableStyles.xml" Id="R1c100f5d167c426e" /><Relationship Type="http://schemas.openxmlformats.org/officeDocument/2006/relationships/slide" Target="/ppt/slides/slide1.xml" Id="R2d137d57f8e7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d6cdfeadb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c6e62484447c5" /><Relationship Type="http://schemas.openxmlformats.org/officeDocument/2006/relationships/notesMaster" Target="/ppt/notesMasters/notesMaster1.xml" Id="R9e8e7e0ed366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15.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3abe1465a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df29043b94a5b" /><Relationship Type="http://schemas.openxmlformats.org/officeDocument/2006/relationships/slideLayout" Target="/ppt/slideLayouts/slideLayout1.xml" Id="R92c323f9e400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323f9e400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3f449134b4d59" /><Relationship Type="http://schemas.openxmlformats.org/officeDocument/2006/relationships/notesSlide" Target="/ppt/notesSlides/notesSlide1.xml" Id="R5edc627300b84282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97" name="Figure 15 — ungroup to edit modules"/>
          <p:cNvGrpSpPr/>
          <p:nvPr/>
        </p:nvGrpSpPr>
        <p:grpSpPr>
          <ns1:xfrm xmlns:ns1="http://schemas.openxmlformats.org/drawingml/2006/main">
            <ns1:off x="190500" y="47625"/>
            <ns1:ext cx="11096625" cy="6981825"/>
            <ns1:chOff x="190500" y="47625"/>
            <ns1:chExt cx="11096625" cy="6981825"/>
          </ns1:xfrm>
        </p:grpSpPr>
        <p:sp>
          <p:nvSpPr>
            <p:cNvPr id="10507" name="Open question"/>
            <p:cNvSpPr/>
            <p:nvPr/>
          </p:nvSpPr>
          <p:spPr>
            <ns1:xfrm xmlns:ns1="http://schemas.openxmlformats.org/drawingml/2006/main">
              <ns1:off x="190500" y="47625"/>
              <ns1:ext cx="3048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Open question</ns7:t>
              </ns7:r>
            </ns7:p>
          </p:txBody>
        </p:sp>
        <p:sp>
          <p:nvSpPr>
            <p:cNvPr id="10508" name="Controlled comparison"/>
            <p:cNvSpPr/>
            <p:nvPr/>
          </p:nvSpPr>
          <p:spPr>
            <ns1:xfrm xmlns:ns1="http://schemas.openxmlformats.org/drawingml/2006/main">
              <ns1:off x="3524250" y="47625"/>
              <ns1:ext cx="476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Controlled comparison</ns7:t>
              </ns7:r>
            </ns7:p>
          </p:txBody>
        </p:sp>
        <p:sp>
          <p:nvSpPr>
            <p:cNvPr id="10509" name="Evidence to record"/>
            <p:cNvSpPr/>
            <p:nvPr/>
          </p:nvSpPr>
          <p:spPr>
            <ns1:xfrm xmlns:ns1="http://schemas.openxmlformats.org/drawingml/2006/main">
              <ns1:off x="8667750" y="4762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Evidence to record</ns7:t>
              </ns7:r>
            </ns7:p>
          </p:txBody>
        </p:sp>
        <p:sp>
          <p:nvSpPr>
            <p:cNvPr id="10510" name="Row rule"/>
            <p:cNvSpPr/>
            <p:nvPr/>
          </p:nvSpPr>
          <p:spPr>
            <ns1:xfrm xmlns:ns1="http://schemas.openxmlformats.org/drawingml/2006/main">
              <ns1:off x="190500" y="5715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11" name="Perception or execution"/>
            <p:cNvSpPr/>
            <p:nvPr/>
          </p:nvSpPr>
          <p:spPr>
            <ns1:xfrm xmlns:ns1="http://schemas.openxmlformats.org/drawingml/2006/main">
              <ns1:off x="190500" y="8096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Perception or execution</ns7:t>
              </ns7:r>
            </ns7:p>
          </p:txBody>
        </p:sp>
        <p:sp>
          <p:nvSpPr>
            <p:cNvPr id="10512" name="Numerical error&#10;Execution cost"/>
            <p:cNvSpPr/>
            <p:nvPr/>
          </p:nvSpPr>
          <p:spPr>
            <ns1:xfrm xmlns:ns1="http://schemas.openxmlformats.org/drawingml/2006/main">
              <ns1:off x="8667750" y="8096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Numerical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Execution cost</ns8:t>
              </ns8:r>
            </ns8:p>
          </p:txBody>
        </p:sp>
        <p:grpSp>
          <p:nvGrpSpPr>
            <p:cNvPr id="10534" name="Perception or execution"/>
            <p:cNvGrpSpPr/>
            <p:nvPr/>
          </p:nvGrpSpPr>
          <p:grpSpPr>
            <ns1:xfrm xmlns:ns1="http://schemas.openxmlformats.org/drawingml/2006/main">
              <ns1:off x="3381375" y="704850"/>
              <ns1:ext cx="4762500" cy="809625"/>
              <ns1:chOff x="3381375" y="704850"/>
              <ns1:chExt cx="4762500" cy="809625"/>
            </ns1:xfrm>
          </p:grpSpPr>
          <p:grpSp>
            <p:nvGrpSpPr>
              <p:cNvPr id="10519" name="bot editable icon"/>
              <p:cNvGrpSpPr/>
              <p:nvPr/>
            </p:nvGrpSpPr>
            <p:grpSpPr>
              <ns1:xfrm xmlns:ns1="http://schemas.openxmlformats.org/drawingml/2006/main">
                <ns1:off x="3886200" y="704850"/>
                <ns1:ext cx="381000" cy="381000"/>
                <ns1:chOff x="3886200" y="704850"/>
                <ns1:chExt cx="381000" cy="381000"/>
              </ns1:xfrm>
            </p:grpSpPr>
            <p:sp>
              <p:nvSpPr>
                <p:cNvPr id="10513" name="bot-0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12000" y="4000"/>
                      </ns2:ln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4" name="bot-1"/>
                <p:cNvSpPr/>
                <p:nvPr/>
              </p:nvSpPr>
              <p:spPr>
                <ns1:xfrm xmlns:ns1="http://schemas.openxmlformats.org/drawingml/2006/main">
                  <ns1:off x="3949700" y="831850"/>
                  <ns1:ext cx="254000" cy="190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68528D"/>
                  </ns5:solidFill>
                </ns5:ln>
              </p:spPr>
            </p:sp>
            <p:sp>
              <p:nvSpPr>
                <p:cNvPr id="10515" name="bot-2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4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6" name="bot-3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4000"/>
                      </ns2:moveTo>
                      <ns2:lnTo>
                        <ns2:pt x="22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7" name="bot-4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3000"/>
                      </ns2:moveTo>
                      <ns2:lnTo>
                        <ns2:pt x="15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8" name="bot-5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3000"/>
                      </ns2:move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</p:grpSp>
          <p:sp>
            <p:nvSpPr>
              <p:cNvPr id="10520" name="Model judgment"/>
              <p:cNvSpPr/>
              <p:nvPr/>
            </p:nvSpPr>
            <p:spPr>
              <ns1:xfrm xmlns:ns1="http://schemas.openxmlformats.org/drawingml/2006/main">
                <ns1:off x="3381375" y="1228725"/>
                <ns1:ext cx="1809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Model judgment</ns7:t>
                </ns7:r>
              </ns7:p>
            </p:txBody>
          </p:sp>
          <p:sp>
            <p:nvSpPr>
              <p:cNvPr id="10521" name="vs."/>
              <p:cNvSpPr/>
              <p:nvPr/>
            </p:nvSpPr>
            <p:spPr>
              <ns1:xfrm xmlns:ns1="http://schemas.openxmlformats.org/drawingml/2006/main">
                <ns1:off x="5591175" y="89535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32" name="calculator editable icon"/>
              <p:cNvGrpSpPr/>
              <p:nvPr/>
            </p:nvGrpSpPr>
            <p:grpSpPr>
              <ns1:xfrm xmlns:ns1="http://schemas.openxmlformats.org/drawingml/2006/main">
                <ns1:off x="6819900" y="704850"/>
                <ns1:ext cx="381000" cy="381000"/>
                <ns1:chOff x="6819900" y="704850"/>
                <ns1:chExt cx="381000" cy="381000"/>
              </ns1:xfrm>
            </p:grpSpPr>
            <p:sp>
              <p:nvSpPr>
                <p:cNvPr id="10522" name="calculator-0"/>
                <p:cNvSpPr/>
                <p:nvPr/>
              </p:nvSpPr>
              <p:spPr>
                <ns1:xfrm xmlns:ns1="http://schemas.openxmlformats.org/drawingml/2006/main">
                  <ns1:off x="6883400" y="736600"/>
                  <ns1:ext cx="254000" cy="317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39846C"/>
                  </ns5:solidFill>
                </ns5:ln>
              </p:spPr>
            </p:sp>
            <p:sp>
              <p:nvSpPr>
                <p:cNvPr id="10523" name="calculator-1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4" name="calculator-2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5" name="calculator-3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6" name="calculator-4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7" name="calculator-5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8" name="calculator-6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9" name="calculator-7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30" name="calculator-8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31" name="calculator-9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533" name="Numerical tool"/>
              <p:cNvSpPr/>
              <p:nvPr/>
            </p:nvSpPr>
            <p:spPr>
              <ns1:xfrm xmlns:ns1="http://schemas.openxmlformats.org/drawingml/2006/main">
                <ns1:off x="6238875" y="1228725"/>
                <ns1:ext cx="1905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Numerical tool</ns7:t>
                </ns7:r>
              </ns7:p>
            </p:txBody>
          </p:sp>
        </p:grpSp>
        <p:sp>
          <p:nvSpPr>
            <p:cNvPr id="10535" name="Row rule"/>
            <p:cNvSpPr/>
            <p:nvPr/>
          </p:nvSpPr>
          <p:spPr>
            <ns1:xfrm xmlns:ns1="http://schemas.openxmlformats.org/drawingml/2006/main">
              <ns1:off x="190500" y="174307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36" name="Memory under change"/>
            <p:cNvSpPr/>
            <p:nvPr/>
          </p:nvSpPr>
          <p:spPr>
            <ns1:xfrm xmlns:ns1="http://schemas.openxmlformats.org/drawingml/2006/main">
              <ns1:off x="190500" y="198120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Memory under change</ns7:t>
              </ns7:r>
            </ns7:p>
          </p:txBody>
        </p:sp>
        <p:sp>
          <p:nvSpPr>
            <p:cNvPr id="10537" name="Revalidation&#10;Updated conclusions"/>
            <p:cNvSpPr/>
            <p:nvPr/>
          </p:nvSpPr>
          <p:spPr>
            <ns1:xfrm xmlns:ns1="http://schemas.openxmlformats.org/drawingml/2006/main">
              <ns1:off x="8667750" y="198120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Revalidation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Updated conclusions</ns8:t>
              </ns8:r>
            </ns8:p>
          </p:txBody>
        </p:sp>
        <p:grpSp>
          <p:nvGrpSpPr>
            <p:cNvPr id="10545" name="Memory under change"/>
            <p:cNvGrpSpPr/>
            <p:nvPr/>
          </p:nvGrpSpPr>
          <p:grpSpPr>
            <ns1:xfrm xmlns:ns1="http://schemas.openxmlformats.org/drawingml/2006/main">
              <ns1:off x="3476625" y="1876425"/>
              <ns1:ext cx="4495800" cy="790575"/>
              <ns1:chOff x="3476625" y="1876425"/>
              <ns1:chExt cx="4495800" cy="790575"/>
            </ns1:xfrm>
          </p:grpSpPr>
          <p:sp>
            <p:nvSpPr>
              <p:cNvPr id="10538" name="Document Release v₁"/>
              <p:cNvSpPr/>
              <p:nvPr/>
            </p:nvSpPr>
            <p:spPr>
              <ns1:xfrm xmlns:ns1="http://schemas.openxmlformats.org/drawingml/2006/main">
                <ns1:off x="3476625" y="1876425"/>
                <ns1:ext cx="1524000" cy="79057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539" name="Release v₁"/>
              <p:cNvSpPr/>
              <p:nvPr/>
            </p:nvSpPr>
            <p:spPr>
              <ns1:xfrm xmlns:ns1="http://schemas.openxmlformats.org/drawingml/2006/main">
                <ns1:off x="35242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Release v₁</ns7:t>
                </ns7:r>
              </ns7:p>
            </p:txBody>
          </p:sp>
          <p:sp>
            <p:nvSpPr>
              <p:cNvPr id="10540" name="Prior evidence"/>
              <p:cNvSpPr/>
              <p:nvPr/>
            </p:nvSpPr>
            <p:spPr>
              <ns1:xfrm xmlns:ns1="http://schemas.openxmlformats.org/drawingml/2006/main">
                <ns1:off x="35623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Prior evidence</ns7:t>
                </ns7:r>
              </ns7:p>
            </p:txBody>
          </p:sp>
          <p:sp>
            <p:nvSpPr>
              <p:cNvPr id="10541" name="flow"/>
              <p:cNvSpPr/>
              <p:nvPr/>
            </p:nvSpPr>
            <p:spPr>
              <ns1:xfrm xmlns:ns1="http://schemas.openxmlformats.org/drawingml/2006/main">
                <ns1:off x="5314950" y="2228850"/>
                <ns1:ext cx="7620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0000" h="1000" fill="none">
                    <ns2:moveTo>
                      <ns2:pt x="0" y="0"/>
                    </ns2:moveTo>
                    <ns2:lnTo>
                      <ns2:pt x="8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sp>
            <p:nvSpPr>
              <p:cNvPr id="10542" name="Document Release v₂"/>
              <p:cNvSpPr/>
              <p:nvPr/>
            </p:nvSpPr>
            <p:spPr>
              <ns1:xfrm xmlns:ns1="http://schemas.openxmlformats.org/drawingml/2006/main">
                <ns1:off x="6448425" y="1876425"/>
                <ns1:ext cx="1524000" cy="79057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543" name="Release v₂"/>
              <p:cNvSpPr/>
              <p:nvPr/>
            </p:nvSpPr>
            <p:spPr>
              <ns1:xfrm xmlns:ns1="http://schemas.openxmlformats.org/drawingml/2006/main">
                <ns1:off x="64960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Release v₂</ns7:t>
                </ns7:r>
              </ns7:p>
            </p:txBody>
          </p:sp>
          <p:sp>
            <p:nvSpPr>
              <p:cNvPr id="10544" name="Revised values"/>
              <p:cNvSpPr/>
              <p:nvPr/>
            </p:nvSpPr>
            <p:spPr>
              <ns1:xfrm xmlns:ns1="http://schemas.openxmlformats.org/drawingml/2006/main">
                <ns1:off x="65341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Revised values</ns7:t>
                </ns7:r>
              </ns7:p>
            </p:txBody>
          </p:sp>
        </p:grpSp>
        <p:sp>
          <p:nvSpPr>
            <p:cNvPr id="10546" name="Row rule"/>
            <p:cNvSpPr/>
            <p:nvPr/>
          </p:nvSpPr>
          <p:spPr>
            <ns1:xfrm xmlns:ns1="http://schemas.openxmlformats.org/drawingml/2006/main">
              <ns1:off x="190500" y="291465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47" name="Procedure transfer"/>
            <p:cNvSpPr/>
            <p:nvPr/>
          </p:nvSpPr>
          <p:spPr>
            <ns1:xfrm xmlns:ns1="http://schemas.openxmlformats.org/drawingml/2006/main">
              <ns1:off x="190500" y="315277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Procedure transfer</ns7:t>
              </ns7:r>
            </ns7:p>
          </p:txBody>
        </p:sp>
        <p:sp>
          <p:nvSpPr>
            <p:cNvPr id="10548" name="Held-out performance&#10;Reuse success"/>
            <p:cNvSpPr/>
            <p:nvPr/>
          </p:nvSpPr>
          <p:spPr>
            <ns1:xfrm xmlns:ns1="http://schemas.openxmlformats.org/drawingml/2006/main">
              <ns1:off x="8667750" y="315277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Held-out performance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Reuse success</ns8:t>
              </ns8:r>
            </ns8:p>
          </p:txBody>
        </p:sp>
        <p:grpSp>
          <p:nvGrpSpPr>
            <p:cNvPr id="10556" name="Procedure transfer"/>
            <p:cNvGrpSpPr/>
            <p:nvPr/>
          </p:nvGrpSpPr>
          <p:grpSpPr>
            <ns1:xfrm xmlns:ns1="http://schemas.openxmlformats.org/drawingml/2006/main">
              <ns1:off x="3286125" y="3028950"/>
              <ns1:ext cx="4972050" cy="847725"/>
              <ns1:chOff x="3286125" y="3028950"/>
              <ns1:chExt cx="4972050" cy="847725"/>
            </ns1:xfrm>
          </p:grpSpPr>
          <p:sp>
            <p:nvSpPr>
              <p:cNvPr id="10549" name="Time axis"/>
              <p:cNvSpPr/>
              <p:nvPr/>
            </p:nvSpPr>
            <p:spPr>
              <ns1:xfrm xmlns:ns1="http://schemas.openxmlformats.org/drawingml/2006/main">
                <ns1:off x="3476625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550" name="Schematic series"/>
              <p:cNvSpPr/>
              <p:nvPr/>
            </p:nvSpPr>
            <p:spPr>
              <ns1:xfrm xmlns:ns1="http://schemas.openxmlformats.org/drawingml/2006/main">
                <ns1:off x="3476625" y="322802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551" name="Seen setting"/>
              <p:cNvSpPr/>
              <p:nvPr/>
            </p:nvSpPr>
            <p:spPr>
              <ns1:xfrm xmlns:ns1="http://schemas.openxmlformats.org/drawingml/2006/main">
                <ns1:off x="32861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Seen setting</ns7:t>
                </ns7:r>
              </ns7:p>
            </p:txBody>
          </p:sp>
          <p:sp>
            <p:nvSpPr>
              <p:cNvPr id="10552" name="vs."/>
              <p:cNvSpPr/>
              <p:nvPr/>
            </p:nvSpPr>
            <p:spPr>
              <ns1:xfrm xmlns:ns1="http://schemas.openxmlformats.org/drawingml/2006/main">
                <ns1:off x="5591175" y="323850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sp>
            <p:nvSpPr>
              <p:cNvPr id="10553" name="Time axis"/>
              <p:cNvSpPr/>
              <p:nvPr/>
            </p:nvSpPr>
            <p:spPr>
              <ns1:xfrm xmlns:ns1="http://schemas.openxmlformats.org/drawingml/2006/main">
                <ns1:off x="6477000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554" name="Schematic series"/>
              <p:cNvSpPr/>
              <p:nvPr/>
            </p:nvSpPr>
            <p:spPr>
              <ns1:xfrm xmlns:ns1="http://schemas.openxmlformats.org/drawingml/2006/main">
                <ns1:off x="6477000" y="3157299"/>
                <ns1:ext cx="1571625" cy="311706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32725" fill="none">
                    <ns2:moveTo>
                      <ns2:pt x="0" y="32725"/>
                    </ns2:moveTo>
                    <ns2:lnTo>
                      <ns2:pt x="13750" y="24750"/>
                    </ns2:lnTo>
                    <ns2:lnTo>
                      <ns2:pt x="27500" y="27775"/>
                    </ns2:lnTo>
                    <ns2:lnTo>
                      <ns2:pt x="41250" y="19800"/>
                    </ns2:lnTo>
                    <ns2:lnTo>
                      <ns2:pt x="55000" y="22825"/>
                    </ns2:lnTo>
                    <ns2:lnTo>
                      <ns2:pt x="68750" y="14850"/>
                    </ns2:lnTo>
                    <ns2:lnTo>
                      <ns2:pt x="82500" y="17875"/>
                    </ns2:lnTo>
                    <ns2:lnTo>
                      <ns2:pt x="96250" y="9900"/>
                    </ns2:lnTo>
                    <ns2:lnTo>
                      <ns2:pt x="110000" y="12925"/>
                    </ns2:lnTo>
                    <ns2:lnTo>
                      <ns2:pt x="123750" y="4950"/>
                    </ns2:lnTo>
                    <ns2:lnTo>
                      <ns2:pt x="137500" y="7975"/>
                    </ns2:lnTo>
                    <ns2:lnTo>
                      <ns2:pt x="151250" y="0"/>
                    </ns2:lnTo>
                    <ns2:lnTo>
                      <ns2:pt x="165000" y="3025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sp>
            <p:nvSpPr>
              <p:cNvPr id="10555" name="Held-out setting"/>
              <p:cNvSpPr/>
              <p:nvPr/>
            </p:nvSpPr>
            <p:spPr>
              <ns1:xfrm xmlns:ns1="http://schemas.openxmlformats.org/drawingml/2006/main">
                <ns1:off x="62579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Held-out setting</ns7:t>
                </ns7:r>
              </ns7:p>
            </p:txBody>
          </p:sp>
        </p:grpSp>
        <p:sp>
          <p:nvSpPr>
            <p:cNvPr id="10557" name="Row rule"/>
            <p:cNvSpPr/>
            <p:nvPr/>
          </p:nvSpPr>
          <p:spPr>
            <ns1:xfrm xmlns:ns1="http://schemas.openxmlformats.org/drawingml/2006/main">
              <ns1:off x="190500" y="408622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58" name="Evidence sensitivity"/>
            <p:cNvSpPr/>
            <p:nvPr/>
          </p:nvSpPr>
          <p:spPr>
            <ns1:xfrm xmlns:ns1="http://schemas.openxmlformats.org/drawingml/2006/main">
              <ns1:off x="190500" y="432435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Evidence sensitivity</ns7:t>
              </ns7:r>
            </ns7:p>
          </p:txBody>
        </p:sp>
        <p:sp>
          <p:nvSpPr>
            <p:cNvPr id="10559" name="Response to removal&#10;Grounded claims"/>
            <p:cNvSpPr/>
            <p:nvPr/>
          </p:nvSpPr>
          <p:spPr>
            <ns1:xfrm xmlns:ns1="http://schemas.openxmlformats.org/drawingml/2006/main">
              <ns1:off x="8667750" y="432435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Response to removal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Grounded claims</ns8:t>
              </ns8:r>
            </ns8:p>
          </p:txBody>
        </p:sp>
        <p:grpSp>
          <p:nvGrpSpPr>
            <p:cNvPr id="10580" name="Evidence sensitivity"/>
            <p:cNvGrpSpPr/>
            <p:nvPr/>
          </p:nvGrpSpPr>
          <p:grpSpPr>
            <ns1:xfrm xmlns:ns1="http://schemas.openxmlformats.org/drawingml/2006/main">
              <ns1:off x="3286125" y="4229100"/>
              <ns1:ext cx="5143500" cy="809625"/>
              <ns1:chOff x="3286125" y="4229100"/>
              <ns1:chExt cx="5143500" cy="809625"/>
            </ns1:xfrm>
          </p:grpSpPr>
          <p:grpSp>
            <p:nvGrpSpPr>
              <p:cNvPr id="10565" name="file-text editable icon"/>
              <p:cNvGrpSpPr/>
              <p:nvPr/>
            </p:nvGrpSpPr>
            <p:grpSpPr>
              <ns1:xfrm xmlns:ns1="http://schemas.openxmlformats.org/drawingml/2006/main">
                <ns1:off x="4038600" y="4229100"/>
                <ns1:ext cx="381000" cy="381000"/>
                <ns1:chOff x="4038600" y="4229100"/>
                <ns1:chExt cx="381000" cy="381000"/>
              </ns1:xfrm>
            </p:grpSpPr>
            <p:sp>
              <p:nvSpPr>
                <p:cNvPr id="10560" name="file-text-0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1" name="file-text-1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2" name="file-text-2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3" name="file-text-3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4" name="file-text-4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567" name="check editable icon"/>
              <p:cNvGrpSpPr/>
              <p:nvPr/>
            </p:nvGrpSpPr>
            <p:grpSpPr>
              <ns1:xfrm xmlns:ns1="http://schemas.openxmlformats.org/drawingml/2006/main">
                <ns1:off x="4438650" y="4467225"/>
                <ns1:ext cx="266700" cy="266700"/>
                <ns1:chOff x="4438650" y="4467225"/>
                <ns1:chExt cx="266700" cy="266700"/>
              </ns1:xfrm>
            </p:grpSpPr>
            <p:sp>
              <p:nvSpPr>
                <p:cNvPr id="10566" name="check-0"/>
                <p:cNvSpPr/>
                <p:nvPr/>
              </p:nvSpPr>
              <p:spPr>
                <ns1:xfrm xmlns:ns1="http://schemas.openxmlformats.org/drawingml/2006/main">
                  <ns1:off x="4438650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568" name="Evidence present"/>
              <p:cNvSpPr/>
              <p:nvPr/>
            </p:nvSpPr>
            <p:spPr>
              <ns1:xfrm xmlns:ns1="http://schemas.openxmlformats.org/drawingml/2006/main">
                <ns1:off x="3286125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Evidence present</ns7:t>
                </ns7:r>
              </ns7:p>
            </p:txBody>
          </p:sp>
          <p:sp>
            <p:nvSpPr>
              <p:cNvPr id="10569" name="vs."/>
              <p:cNvSpPr/>
              <p:nvPr/>
            </p:nvSpPr>
            <p:spPr>
              <ns1:xfrm xmlns:ns1="http://schemas.openxmlformats.org/drawingml/2006/main">
                <ns1:off x="5591175" y="4410075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75" name="file-text editable icon"/>
              <p:cNvGrpSpPr/>
              <p:nvPr/>
            </p:nvGrpSpPr>
            <p:grpSpPr>
              <ns1:xfrm xmlns:ns1="http://schemas.openxmlformats.org/drawingml/2006/main">
                <ns1:off x="7000875" y="4229100"/>
                <ns1:ext cx="381000" cy="381000"/>
                <ns1:chOff x="7000875" y="4229100"/>
                <ns1:chExt cx="381000" cy="381000"/>
              </ns1:xfrm>
            </p:grpSpPr>
            <p:sp>
              <p:nvSpPr>
                <p:cNvPr id="10570" name="file-text-0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1" name="file-text-1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2" name="file-text-2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3" name="file-text-3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4" name="file-text-4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</p:grpSp>
          <p:grpSp>
            <p:nvGrpSpPr>
              <p:cNvPr id="10578" name="x editable icon"/>
              <p:cNvGrpSpPr/>
              <p:nvPr/>
            </p:nvGrpSpPr>
            <p:grpSpPr>
              <ns1:xfrm xmlns:ns1="http://schemas.openxmlformats.org/drawingml/2006/main">
                <ns1:off x="7419975" y="4467225"/>
                <ns1:ext cx="266700" cy="266700"/>
                <ns1:chOff x="7419975" y="4467225"/>
                <ns1:chExt cx="266700" cy="266700"/>
              </ns1:xfrm>
            </p:grpSpPr>
            <p:sp>
              <p:nvSpPr>
                <p:cNvPr id="10576" name="x-0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  <p:sp>
              <p:nvSpPr>
                <p:cNvPr id="10577" name="x-1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579" name="Evidence removed"/>
              <p:cNvSpPr/>
              <p:nvPr/>
            </p:nvSpPr>
            <p:spPr>
              <ns1:xfrm xmlns:ns1="http://schemas.openxmlformats.org/drawingml/2006/main">
                <ns1:off x="6286500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Evidence removed</ns7:t>
                </ns7:r>
              </ns7:p>
            </p:txBody>
          </p:sp>
        </p:grpSp>
        <p:sp>
          <p:nvSpPr>
            <p:cNvPr id="10581" name="Row rule"/>
            <p:cNvSpPr/>
            <p:nvPr/>
          </p:nvSpPr>
          <p:spPr>
            <ns1:xfrm xmlns:ns1="http://schemas.openxmlformats.org/drawingml/2006/main">
              <ns1:off x="190500" y="52578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82" name="Prediction to decision"/>
            <p:cNvSpPr/>
            <p:nvPr/>
          </p:nvSpPr>
          <p:spPr>
            <ns1:xfrm xmlns:ns1="http://schemas.openxmlformats.org/drawingml/2006/main">
              <ns1:off x="190500" y="54959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Prediction to decision</ns7:t>
              </ns7:r>
            </ns7:p>
          </p:txBody>
        </p:sp>
        <p:sp>
          <p:nvSpPr>
            <p:cNvPr id="10583" name="Forecast error&#10;Action utility"/>
            <p:cNvSpPr/>
            <p:nvPr/>
          </p:nvSpPr>
          <p:spPr>
            <ns1:xfrm xmlns:ns1="http://schemas.openxmlformats.org/drawingml/2006/main">
              <ns1:off x="8667750" y="54959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Forecast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Action utility</ns8:t>
              </ns8:r>
            </ns8:p>
          </p:txBody>
        </p:sp>
        <p:grpSp>
          <p:nvGrpSpPr>
            <p:cNvPr id="10594" name="Prediction to decision"/>
            <p:cNvGrpSpPr/>
            <p:nvPr/>
          </p:nvGrpSpPr>
          <p:grpSpPr>
            <ns1:xfrm xmlns:ns1="http://schemas.openxmlformats.org/drawingml/2006/main">
              <ns1:off x="3286125" y="5372100"/>
              <ns1:ext cx="5143500" cy="847725"/>
              <ns1:chOff x="3286125" y="5372100"/>
              <ns1:chExt cx="5143500" cy="847725"/>
            </ns1:xfrm>
          </p:grpSpPr>
          <p:sp>
            <p:nvSpPr>
              <p:cNvPr id="10584" name="Time axis"/>
              <p:cNvSpPr/>
              <p:nvPr/>
            </p:nvSpPr>
            <p:spPr>
              <ns1:xfrm xmlns:ns1="http://schemas.openxmlformats.org/drawingml/2006/main">
                <ns1:off x="3476625" y="537210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585" name="Schematic series"/>
              <p:cNvSpPr/>
              <p:nvPr/>
            </p:nvSpPr>
            <p:spPr>
              <ns1:xfrm xmlns:ns1="http://schemas.openxmlformats.org/drawingml/2006/main">
                <ns1:off x="3476625" y="557117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586" name="Forecast"/>
              <p:cNvSpPr/>
              <p:nvPr/>
            </p:nvSpPr>
            <p:spPr>
              <ns1:xfrm xmlns:ns1="http://schemas.openxmlformats.org/drawingml/2006/main">
                <ns1:off x="3286125" y="596265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Forecast</ns7:t>
                </ns7:r>
              </ns7:p>
            </p:txBody>
          </p:sp>
          <p:sp>
            <p:nvSpPr>
              <p:cNvPr id="10587" name="flow"/>
              <p:cNvSpPr/>
              <p:nvPr/>
            </p:nvSpPr>
            <p:spPr>
              <ns1:xfrm xmlns:ns1="http://schemas.openxmlformats.org/drawingml/2006/main">
                <ns1:off x="5334000" y="5724525"/>
                <ns1:ext cx="7810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2000" h="1000" fill="none">
                    <ns2:moveTo>
                      <ns2:pt x="0" y="0"/>
                    </ns2:moveTo>
                    <ns2:lnTo>
                      <ns2:pt x="82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grpSp>
            <p:nvGrpSpPr>
              <p:cNvPr id="10592" name="package editable icon"/>
              <p:cNvGrpSpPr/>
              <p:nvPr/>
            </p:nvGrpSpPr>
            <p:grpSpPr>
              <ns1:xfrm xmlns:ns1="http://schemas.openxmlformats.org/drawingml/2006/main">
                <ns1:off x="6838950" y="5391150"/>
                <ns1:ext cx="428625" cy="428625"/>
                <ns1:chOff x="6838950" y="5391150"/>
                <ns1:chExt cx="428625" cy="428625"/>
              </ns1:xfrm>
            </p:grpSpPr>
            <p:sp>
              <p:nvSpPr>
                <p:cNvPr id="10588" name="package-0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89" name="package-1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90" name="package-2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91" name="package-3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593" name="Inventory action"/>
              <p:cNvSpPr/>
              <p:nvPr/>
            </p:nvSpPr>
            <p:spPr>
              <ns1:xfrm xmlns:ns1="http://schemas.openxmlformats.org/drawingml/2006/main">
                <ns1:off x="6286500" y="5962650"/>
                <ns1:ext cx="2143125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Inventory action</ns7:t>
                </ns7:r>
              </ns7:p>
            </p:txBody>
          </p:sp>
        </p:grpSp>
        <p:sp>
          <p:nvSpPr>
            <p:cNvPr id="10595" name="Footer rule"/>
            <p:cNvSpPr/>
            <p:nvPr/>
          </p:nvSpPr>
          <p:spPr>
            <ns1:xfrm xmlns:ns1="http://schemas.openxmlformats.org/drawingml/2006/main">
              <ns1:off x="190500" y="65532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96" name="Match the backbone, information boundary and resource budget"/>
            <p:cNvSpPr/>
            <p:nvPr/>
          </p:nvSpPr>
          <p:spPr>
            <ns1:xfrm xmlns:ns1="http://schemas.openxmlformats.org/drawingml/2006/main">
              <ns1:off x="904875" y="6696075"/>
              <ns1:ext cx="9620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Match the backbone, information boundary and resource budget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2026-10-21T08:48:18.1700000Z</dcterms:created>
  <dcterms:modified xsi:type="dcterms:W3CDTF">2026-10-21T08:48:18.1700000Z</dcterms:modified>
</coreProperties>
</file>