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45d8696aad49d9" /><Relationship Type="http://schemas.openxmlformats.org/officeDocument/2006/relationships/extended-properties" Target="/docProps/app.xml" Id="R7ceb459c620e4bef" /><Relationship Type="http://schemas.openxmlformats.org/officeDocument/2006/relationships/officeDocument" Target="/ppt/presentation.xml" Id="R8c14878680024f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e3d31a301a4d02"/>
  </p:sldMasterIdLst>
  <p:notesMasterIdLst>
    <p:notesMasterId xmlns:r="http://schemas.openxmlformats.org/officeDocument/2006/relationships" r:id="R8d8e0219725645c7"/>
  </p:notesMasterIdLst>
  <p:sldIdLst>
    <p:sldId xmlns:r="http://schemas.openxmlformats.org/officeDocument/2006/relationships" id="256" r:id="R3a7e39b0000846b7"/>
  </p:sldIdLst>
  <p:sldSz cx="11430000" cy="585787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8320eed7c24791" /><Relationship Type="http://schemas.openxmlformats.org/officeDocument/2006/relationships/slideMaster" Target="/ppt/slideMasters/slideMaster1.xml" Id="Re3e3d31a301a4d02" /><Relationship Type="http://schemas.openxmlformats.org/officeDocument/2006/relationships/notesMaster" Target="/ppt/notesMasters/notesMaster1.xml" Id="R8d8e0219725645c7" /><Relationship Type="http://schemas.openxmlformats.org/officeDocument/2006/relationships/presProps" Target="/ppt/presProps.xml" Id="R2b1dba1dcd8f4079" /><Relationship Type="http://schemas.openxmlformats.org/officeDocument/2006/relationships/tableStyles" Target="/ppt/tableStyles.xml" Id="R005a3a9d5a63438d" /><Relationship Type="http://schemas.openxmlformats.org/officeDocument/2006/relationships/slide" Target="/ppt/slides/slide1.xml" Id="R3a7e39b0000846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4c3517522140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a6dda8879d4674" /><Relationship Type="http://schemas.openxmlformats.org/officeDocument/2006/relationships/notesMaster" Target="/ppt/notesMasters/notesMaster1.xml" Id="R83516ef808e04c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14.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f8cc3dc5248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66d44d970341b1" /><Relationship Type="http://schemas.openxmlformats.org/officeDocument/2006/relationships/slideLayout" Target="/ppt/slideLayouts/slideLayout1.xml" Id="R489f9d99961743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9f9d99961743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b938f52274b43" /><Relationship Type="http://schemas.openxmlformats.org/officeDocument/2006/relationships/notesSlide" Target="/ppt/notesSlides/notesSlide1.xml" Id="Rfb7433f3e5b2407d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506" name="Figure 14 — ungroup to edit modules"/>
          <p:cNvGrpSpPr/>
          <p:nvPr/>
        </p:nvGrpSpPr>
        <p:grpSpPr>
          <ns1:xfrm xmlns:ns1="http://schemas.openxmlformats.org/drawingml/2006/main">
            <ns1:off x="190500" y="95250"/>
            <ns1:ext cx="11144250" cy="5600700"/>
            <ns1:chOff x="190500" y="95250"/>
            <ns1:chExt cx="11144250" cy="5600700"/>
          </ns1:xfrm>
        </p:grpSpPr>
        <p:sp>
          <p:nvSpPr>
            <p:cNvPr id="10432" name="Numerical workspace"/>
            <p:cNvSpPr/>
            <p:nvPr/>
          </p:nvSpPr>
          <p:spPr>
            <ns1:xfrm xmlns:ns1="http://schemas.openxmlformats.org/drawingml/2006/main">
              <ns1:off x="190500" y="95250"/>
              <ns1:ext cx="3429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Numerical workspace</ns7:t>
              </ns7:r>
            </ns7:p>
          </p:txBody>
        </p:sp>
        <p:sp>
          <p:nvSpPr>
            <p:cNvPr id="10433" name="Temporal tools"/>
            <p:cNvSpPr/>
            <p:nvPr/>
          </p:nvSpPr>
          <p:spPr>
            <ns1:xfrm xmlns:ns1="http://schemas.openxmlformats.org/drawingml/2006/main">
              <ns1:off x="4095750" y="95250"/>
              <ns1:ext cx="3048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Temporal tools</ns7:t>
              </ns7:r>
            </ns7:p>
          </p:txBody>
        </p:sp>
        <p:sp>
          <p:nvSpPr>
            <p:cNvPr id="10434" name="Multimodal memory"/>
            <p:cNvSpPr/>
            <p:nvPr/>
          </p:nvSpPr>
          <p:spPr>
            <ns1:xfrm xmlns:ns1="http://schemas.openxmlformats.org/drawingml/2006/main">
              <ns1:off x="8001000" y="95250"/>
              <ns1:ext cx="3238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Multimodal memory</ns7:t>
              </ns7:r>
            </ns7:p>
          </p:txBody>
        </p:sp>
        <p:grpSp>
          <p:nvGrpSpPr>
            <p:cNvPr id="10449" name="Numerical workspace"/>
            <p:cNvGrpSpPr/>
            <p:nvPr/>
          </p:nvGrpSpPr>
          <p:grpSpPr>
            <ns1:xfrm xmlns:ns1="http://schemas.openxmlformats.org/drawingml/2006/main">
              <ns1:off x="190500" y="723900"/>
              <ns1:ext cx="3429000" cy="1866900"/>
              <ns1:chOff x="190500" y="723900"/>
              <ns1:chExt cx="3429000" cy="1866900"/>
            </ns1:xfrm>
          </p:grpSpPr>
          <p:sp>
            <p:nvSpPr>
              <p:cNvPr id="10435" name="Data table"/>
              <p:cNvSpPr/>
              <p:nvPr/>
            </p:nvSpPr>
            <p:spPr>
              <ns1:xfrm xmlns:ns1="http://schemas.openxmlformats.org/drawingml/2006/main">
                <ns1:off x="495300" y="723900"/>
                <ns1:ext cx="2476500" cy="12192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436" name="Table header"/>
              <p:cNvSpPr/>
              <p:nvPr/>
            </p:nvSpPr>
            <p:spPr>
              <ns1:xfrm xmlns:ns1="http://schemas.openxmlformats.org/drawingml/2006/main">
                <ns1:off x="495300" y="723900"/>
                <ns1:ext cx="2476500" cy="304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0F5F8"/>
              </ns3:solidFill>
              <ns4:ln xmlns:ns4="http://schemas.openxmlformats.org/drawingml/2006/main" w="9525" cap="rnd">
                <ns4:noFill/>
              </ns4:ln>
            </p:spPr>
          </p:sp>
          <p:sp>
            <p:nvSpPr>
              <p:cNvPr id="10437" name="Object"/>
              <p:cNvSpPr/>
              <p:nvPr/>
            </p:nvSpPr>
            <p:spPr>
              <ns1:xfrm xmlns:ns1="http://schemas.openxmlformats.org/drawingml/2006/main">
                <ns1:off x="495300" y="723900"/>
                <ns1:ext cx="1238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1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Object</ns7:t>
                </ns7:r>
              </ns7:p>
            </p:txBody>
          </p:sp>
          <p:sp>
            <p:nvSpPr>
              <p:cNvPr id="10438" name="Metadata"/>
              <p:cNvSpPr/>
              <p:nvPr/>
            </p:nvSpPr>
            <p:spPr>
              <ns1:xfrm xmlns:ns1="http://schemas.openxmlformats.org/drawingml/2006/main">
                <ns1:off x="1733550" y="723900"/>
                <ns1:ext cx="1238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1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Metadata</ns7:t>
                </ns7:r>
              </ns7:p>
            </p:txBody>
          </p:sp>
          <p:sp>
            <p:nvSpPr>
              <p:cNvPr id="10439" name="Table rule"/>
              <p:cNvSpPr/>
              <p:nvPr/>
            </p:nvSpPr>
            <p:spPr>
              <ns1:xfrm xmlns:ns1="http://schemas.openxmlformats.org/drawingml/2006/main">
                <ns1:off x="495300" y="1028700"/>
                <ns1:ext cx="24765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60000" h="1000" fill="none">
                    <ns2:moveTo>
                      <ns2:pt x="0" y="0"/>
                    </ns2:moveTo>
                    <ns2:lnTo>
                      <ns2:pt x="260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668" cap="rnd">
                <ns4:solidFill>
                  <ns4:srgbClr val="DCE5EA"/>
                </ns4:solidFill>
              </ns4:ln>
            </p:spPr>
          </p:sp>
          <p:sp>
            <p:nvSpPr>
              <p:cNvPr id="10440" name="Series"/>
              <p:cNvSpPr/>
              <p:nvPr/>
            </p:nvSpPr>
            <p:spPr>
              <ns1:xfrm xmlns:ns1="http://schemas.openxmlformats.org/drawingml/2006/main">
                <ns1:off x="495300" y="1028700"/>
                <ns1:ext cx="1238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Series</ns7:t>
                </ns7:r>
              </ns7:p>
            </p:txBody>
          </p:sp>
          <p:sp>
            <p:nvSpPr>
              <p:cNvPr id="10441" name="Timestamps"/>
              <p:cNvSpPr/>
              <p:nvPr/>
            </p:nvSpPr>
            <p:spPr>
              <ns1:xfrm xmlns:ns1="http://schemas.openxmlformats.org/drawingml/2006/main">
                <ns1:off x="1733550" y="1028700"/>
                <ns1:ext cx="1238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Timestamps</ns7:t>
                </ns7:r>
              </ns7:p>
            </p:txBody>
          </p:sp>
          <p:sp>
            <p:nvSpPr>
              <p:cNvPr id="10442" name="Table rule"/>
              <p:cNvSpPr/>
              <p:nvPr/>
            </p:nvSpPr>
            <p:spPr>
              <ns1:xfrm xmlns:ns1="http://schemas.openxmlformats.org/drawingml/2006/main">
                <ns1:off x="495300" y="1333500"/>
                <ns1:ext cx="24765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60000" h="1000" fill="none">
                    <ns2:moveTo>
                      <ns2:pt x="0" y="0"/>
                    </ns2:moveTo>
                    <ns2:lnTo>
                      <ns2:pt x="260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668" cap="rnd">
                <ns4:solidFill>
                  <ns4:srgbClr val="DCE5EA"/>
                </ns4:solidFill>
              </ns4:ln>
            </p:spPr>
          </p:sp>
          <p:sp>
            <p:nvSpPr>
              <p:cNvPr id="10443" name="Window"/>
              <p:cNvSpPr/>
              <p:nvPr/>
            </p:nvSpPr>
            <p:spPr>
              <ns1:xfrm xmlns:ns1="http://schemas.openxmlformats.org/drawingml/2006/main">
                <ns1:off x="495300" y="1333500"/>
                <ns1:ext cx="1238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Window</ns7:t>
                </ns7:r>
              </ns7:p>
            </p:txBody>
          </p:sp>
          <p:sp>
            <p:nvSpPr>
              <p:cNvPr id="10444" name="Start / end"/>
              <p:cNvSpPr/>
              <p:nvPr/>
            </p:nvSpPr>
            <p:spPr>
              <ns1:xfrm xmlns:ns1="http://schemas.openxmlformats.org/drawingml/2006/main">
                <ns1:off x="1733550" y="1333500"/>
                <ns1:ext cx="1238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Start / end</ns7:t>
                </ns7:r>
              </ns7:p>
            </p:txBody>
          </p:sp>
          <p:sp>
            <p:nvSpPr>
              <p:cNvPr id="10445" name="Table rule"/>
              <p:cNvSpPr/>
              <p:nvPr/>
            </p:nvSpPr>
            <p:spPr>
              <ns1:xfrm xmlns:ns1="http://schemas.openxmlformats.org/drawingml/2006/main">
                <ns1:off x="495300" y="1638300"/>
                <ns1:ext cx="24765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60000" h="1000" fill="none">
                    <ns2:moveTo>
                      <ns2:pt x="0" y="0"/>
                    </ns2:moveTo>
                    <ns2:lnTo>
                      <ns2:pt x="260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668" cap="rnd">
                <ns4:solidFill>
                  <ns4:srgbClr val="DCE5EA"/>
                </ns4:solidFill>
              </ns4:ln>
            </p:spPr>
          </p:sp>
          <p:sp>
            <p:nvSpPr>
              <p:cNvPr id="10446" name="Context"/>
              <p:cNvSpPr/>
              <p:nvPr/>
            </p:nvSpPr>
            <p:spPr>
              <ns1:xfrm xmlns:ns1="http://schemas.openxmlformats.org/drawingml/2006/main">
                <ns1:off x="495300" y="1638300"/>
                <ns1:ext cx="1238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Context</ns7:t>
                </ns7:r>
              </ns7:p>
            </p:txBody>
          </p:sp>
          <p:sp>
            <p:nvSpPr>
              <p:cNvPr id="10447" name="Release time"/>
              <p:cNvSpPr/>
              <p:nvPr/>
            </p:nvSpPr>
            <p:spPr>
              <ns1:xfrm xmlns:ns1="http://schemas.openxmlformats.org/drawingml/2006/main">
                <ns1:off x="1733550" y="1638300"/>
                <ns1:ext cx="12382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Release time</ns7:t>
                </ns7:r>
              </ns7:p>
            </p:txBody>
          </p:sp>
          <p:sp>
            <p:nvSpPr>
              <p:cNvPr id="10448" name="Addressable numerical state"/>
              <p:cNvSpPr/>
              <p:nvPr/>
            </p:nvSpPr>
            <p:spPr>
              <ns1:xfrm xmlns:ns1="http://schemas.openxmlformats.org/drawingml/2006/main">
                <ns1:off x="190500" y="2286000"/>
                <ns1:ext cx="342900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Addressable numerical state</ns7:t>
                </ns7:r>
              </ns7:p>
            </p:txBody>
          </p:sp>
        </p:grpSp>
        <p:grpSp>
          <p:nvGrpSpPr>
            <p:cNvPr id="10455" name="Temporal tools"/>
            <p:cNvGrpSpPr/>
            <p:nvPr/>
          </p:nvGrpSpPr>
          <p:grpSpPr>
            <ns1:xfrm xmlns:ns1="http://schemas.openxmlformats.org/drawingml/2006/main">
              <ns1:off x="4048125" y="762000"/>
              <ns1:ext cx="3429000" cy="1828800"/>
              <ns1:chOff x="4048125" y="762000"/>
              <ns1:chExt cx="3429000" cy="1828800"/>
            </ns1:xfrm>
          </p:grpSpPr>
          <p:sp>
            <p:nvSpPr>
              <p:cNvPr id="10450" name="Time axis"/>
              <p:cNvSpPr/>
              <p:nvPr/>
            </p:nvSpPr>
            <p:spPr>
              <ns1:xfrm xmlns:ns1="http://schemas.openxmlformats.org/drawingml/2006/main">
                <ns1:off x="4552950" y="762000"/>
                <ns1:ext cx="2286000" cy="685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0" h="72000" fill="none">
                    <ns2:moveTo>
                      <ns2:pt x="0" y="0"/>
                    </ns2:moveTo>
                    <ns2:lnTo>
                      <ns2:pt x="0" y="72000"/>
                    </ns2:lnTo>
                    <ns2:lnTo>
                      <ns2:pt x="240000" y="7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451" name="Selected interval"/>
              <p:cNvSpPr/>
              <p:nvPr/>
            </p:nvSpPr>
            <p:spPr>
              <ns1:xfrm xmlns:ns1="http://schemas.openxmlformats.org/drawingml/2006/main">
                <ns1:off x="5718810" y="762000"/>
                <ns1:ext cx="571500" cy="685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EDF0F7"/>
              </ns3:solidFill>
              <ns4:ln xmlns:ns4="http://schemas.openxmlformats.org/drawingml/2006/main" w="9525" cap="rnd">
                <ns4:noFill/>
              </ns4:ln>
            </p:spPr>
          </p:sp>
          <p:sp>
            <p:nvSpPr>
              <p:cNvPr id="10452" name="Schematic series"/>
              <p:cNvSpPr/>
              <p:nvPr/>
            </p:nvSpPr>
            <p:spPr>
              <ns1:xfrm xmlns:ns1="http://schemas.openxmlformats.org/drawingml/2006/main">
                <ns1:off x="4552950" y="1022604"/>
                <ns1:ext cx="2286000" cy="20574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0" h="21600" fill="none">
                    <ns2:moveTo>
                      <ns2:pt x="0" y="14400"/>
                    </ns2:moveTo>
                    <ns2:lnTo>
                      <ns2:pt x="20000" y="8640"/>
                    </ns2:lnTo>
                    <ns2:lnTo>
                      <ns2:pt x="40000" y="18720"/>
                    </ns2:lnTo>
                    <ns2:lnTo>
                      <ns2:pt x="60000" y="4320"/>
                    </ns2:lnTo>
                    <ns2:lnTo>
                      <ns2:pt x="80000" y="10080"/>
                    </ns2:lnTo>
                    <ns2:lnTo>
                      <ns2:pt x="100000" y="21600"/>
                    </ns2:lnTo>
                    <ns2:lnTo>
                      <ns2:pt x="120000" y="12240"/>
                    </ns2:lnTo>
                    <ns2:lnTo>
                      <ns2:pt x="140000" y="2160"/>
                    </ns2:lnTo>
                    <ns2:lnTo>
                      <ns2:pt x="160000" y="15120"/>
                    </ns2:lnTo>
                    <ns2:lnTo>
                      <ns2:pt x="180000" y="10080"/>
                    </ns2:lnTo>
                    <ns2:lnTo>
                      <ns2:pt x="200000" y="0"/>
                    </ns2:lnTo>
                    <ns2:lnTo>
                      <ns2:pt x="220000" y="12240"/>
                    </ns2:lnTo>
                    <ns2:lnTo>
                      <ns2:pt x="240000" y="504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9846C"/>
                </ns4:solidFill>
              </ns4:ln>
            </p:spPr>
          </p:sp>
          <p:sp>
            <p:nvSpPr>
              <p:cNvPr id="10453" name="Window  ·  transform  ·  analyse"/>
              <p:cNvSpPr/>
              <p:nvPr/>
            </p:nvSpPr>
            <p:spPr>
              <ns1:xfrm xmlns:ns1="http://schemas.openxmlformats.org/drawingml/2006/main">
                <ns1:off x="4048125" y="1714500"/>
                <ns1:ext cx="3429000" cy="3333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Window  ·  transform  ·  analyse</ns7:t>
                </ns7:r>
              </ns7:p>
            </p:txBody>
          </p:sp>
          <p:sp>
            <p:nvSpPr>
              <p:cNvPr id="10454" name="Execute on stored series"/>
              <p:cNvSpPr/>
              <p:nvPr/>
            </p:nvSpPr>
            <p:spPr>
              <ns1:xfrm xmlns:ns1="http://schemas.openxmlformats.org/drawingml/2006/main">
                <ns1:off x="4048125" y="2286000"/>
                <ns1:ext cx="342900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Execute on stored series</ns7:t>
                </ns7:r>
              </ns7:p>
            </p:txBody>
          </p:sp>
        </p:grpSp>
        <p:grpSp>
          <p:nvGrpSpPr>
            <p:cNvPr id="10464" name="Multimodal memory"/>
            <p:cNvGrpSpPr/>
            <p:nvPr/>
          </p:nvGrpSpPr>
          <p:grpSpPr>
            <ns1:xfrm xmlns:ns1="http://schemas.openxmlformats.org/drawingml/2006/main">
              <ns1:off x="8001000" y="723900"/>
              <ns1:ext cx="3238500" cy="1866900"/>
              <ns1:chOff x="8001000" y="723900"/>
              <ns1:chExt cx="3238500" cy="1866900"/>
            </ns1:xfrm>
          </p:grpSpPr>
          <p:sp>
            <p:nvSpPr>
              <p:cNvPr id="10456" name="Document Experience"/>
              <p:cNvSpPr/>
              <p:nvPr/>
            </p:nvSpPr>
            <p:spPr>
              <ns1:xfrm xmlns:ns1="http://schemas.openxmlformats.org/drawingml/2006/main">
                <ns1:off x="8315325" y="723900"/>
                <ns1:ext cx="1238250" cy="1066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solidFill>
                  <ns4:srgbClr val="DCE5EA"/>
                </ns4:solidFill>
              </ns4:ln>
            </p:spPr>
          </p:sp>
          <p:sp>
            <p:nvSpPr>
              <p:cNvPr id="10457" name="Experience"/>
              <p:cNvSpPr/>
              <p:nvPr/>
            </p:nvSpPr>
            <p:spPr>
              <ns1:xfrm xmlns:ns1="http://schemas.openxmlformats.org/drawingml/2006/main">
                <ns1:off x="8362950" y="762000"/>
                <ns1:ext cx="1143000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650" b="1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Experience</ns7:t>
                </ns7:r>
              </ns7:p>
            </p:txBody>
          </p:sp>
          <p:sp>
            <p:nvSpPr>
              <p:cNvPr id="10458" name="Document line"/>
              <p:cNvSpPr/>
              <p:nvPr/>
            </p:nvSpPr>
            <p:spPr>
              <ns1:xfrm xmlns:ns1="http://schemas.openxmlformats.org/drawingml/2006/main">
                <ns1:off x="8458200" y="1171575"/>
                <ns1:ext cx="69342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2800" h="1000" fill="none">
                    <ns2:moveTo>
                      <ns2:pt x="0" y="0"/>
                    </ns2:moveTo>
                    <ns2:lnTo>
                      <ns2:pt x="728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3335" cap="rnd">
                <ns4:solidFill>
                  <ns4:srgbClr val="68528D"/>
                </ns4:solidFill>
              </ns4:ln>
            </p:spPr>
          </p:sp>
          <p:sp>
            <p:nvSpPr>
              <p:cNvPr id="10459" name="Document line"/>
              <p:cNvSpPr/>
              <p:nvPr/>
            </p:nvSpPr>
            <p:spPr>
              <ns1:xfrm xmlns:ns1="http://schemas.openxmlformats.org/drawingml/2006/main">
                <ns1:off x="8458200" y="1333500"/>
                <ns1:ext cx="52006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54600" h="1000" fill="none">
                    <ns2:moveTo>
                      <ns2:pt x="0" y="0"/>
                    </ns2:moveTo>
                    <ns2:lnTo>
                      <ns2:pt x="546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3335" cap="rnd">
                <ns4:solidFill>
                  <ns4:srgbClr val="68528D"/>
                </ns4:solidFill>
              </ns4:ln>
            </p:spPr>
          </p:sp>
          <p:sp>
            <p:nvSpPr>
              <p:cNvPr id="10460" name="Document line"/>
              <p:cNvSpPr/>
              <p:nvPr/>
            </p:nvSpPr>
            <p:spPr>
              <ns1:xfrm xmlns:ns1="http://schemas.openxmlformats.org/drawingml/2006/main">
                <ns1:off x="8458200" y="1495425"/>
                <ns1:ext cx="624078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65520" h="1000" fill="none">
                    <ns2:moveTo>
                      <ns2:pt x="0" y="0"/>
                    </ns2:moveTo>
                    <ns2:lnTo>
                      <ns2:pt x="6552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3335" cap="rnd">
                <ns4:solidFill>
                  <ns4:srgbClr val="68528D"/>
                </ns4:solidFill>
              </ns4:ln>
            </p:spPr>
          </p:sp>
          <p:sp>
            <p:nvSpPr>
              <p:cNvPr id="10461" name="Time axis"/>
              <p:cNvSpPr/>
              <p:nvPr/>
            </p:nvSpPr>
            <p:spPr>
              <ns1:xfrm xmlns:ns1="http://schemas.openxmlformats.org/drawingml/2006/main">
                <ns1:off x="9810750" y="857250"/>
                <ns1:ext cx="1190625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25000" h="70000" fill="none">
                    <ns2:moveTo>
                      <ns2:pt x="0" y="0"/>
                    </ns2:moveTo>
                    <ns2:lnTo>
                      <ns2:pt x="0" y="70000"/>
                    </ns2:lnTo>
                    <ns2:lnTo>
                      <ns2:pt x="125000" y="70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462" name="Schematic series"/>
              <p:cNvSpPr/>
              <p:nvPr/>
            </p:nvSpPr>
            <p:spPr>
              <ns1:xfrm xmlns:ns1="http://schemas.openxmlformats.org/drawingml/2006/main">
                <ns1:off x="9810750" y="1110615"/>
                <ns1:ext cx="1190625" cy="2000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25000" h="21000" fill="none">
                    <ns2:moveTo>
                      <ns2:pt x="0" y="14000"/>
                    </ns2:moveTo>
                    <ns2:lnTo>
                      <ns2:pt x="10417" y="8400"/>
                    </ns2:lnTo>
                    <ns2:lnTo>
                      <ns2:pt x="20833" y="18200"/>
                    </ns2:lnTo>
                    <ns2:lnTo>
                      <ns2:pt x="31250" y="4200"/>
                    </ns2:lnTo>
                    <ns2:lnTo>
                      <ns2:pt x="41667" y="9800"/>
                    </ns2:lnTo>
                    <ns2:lnTo>
                      <ns2:pt x="52083" y="21000"/>
                    </ns2:lnTo>
                    <ns2:lnTo>
                      <ns2:pt x="62500" y="11900"/>
                    </ns2:lnTo>
                    <ns2:lnTo>
                      <ns2:pt x="72917" y="2100"/>
                    </ns2:lnTo>
                    <ns2:lnTo>
                      <ns2:pt x="83333" y="14700"/>
                    </ns2:lnTo>
                    <ns2:lnTo>
                      <ns2:pt x="93750" y="9800"/>
                    </ns2:lnTo>
                    <ns2:lnTo>
                      <ns2:pt x="104167" y="0"/>
                    </ns2:lnTo>
                    <ns2:lnTo>
                      <ns2:pt x="114583" y="11900"/>
                    </ns2:lnTo>
                    <ns2:lnTo>
                      <ns2:pt x="125000" y="49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68528D"/>
                </ns4:solidFill>
              </ns4:ln>
            </p:spPr>
          </p:sp>
          <p:sp>
            <p:nvSpPr>
              <p:cNvPr id="10463" name="Text, plots and past analyses"/>
              <p:cNvSpPr/>
              <p:nvPr/>
            </p:nvSpPr>
            <p:spPr>
              <ns1:xfrm xmlns:ns1="http://schemas.openxmlformats.org/drawingml/2006/main">
                <ns1:off x="8001000" y="2286000"/>
                <ns1:ext cx="323850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Text, plots and past analyses</ns7:t>
                </ns7:r>
              </ns7:p>
            </p:txBody>
          </p:sp>
        </p:grpSp>
        <p:sp>
          <p:nvSpPr>
            <p:cNvPr id="10465" name="flow"/>
            <p:cNvSpPr/>
            <p:nvPr/>
          </p:nvSpPr>
          <p:spPr>
            <ns1:xfrm xmlns:ns1="http://schemas.openxmlformats.org/drawingml/2006/main">
              <ns1:off x="3476625" y="1390650"/>
              <ns1:ext cx="52387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55000" h="1000" fill="none">
                  <ns2:moveTo>
                    <ns2:pt x="0" y="0"/>
                  </ns2:moveTo>
                  <ns2:lnTo>
                    <ns2:pt x="55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376A0"/>
              </ns4:solidFill>
              <ns4:tailEnd type="triangle"/>
            </ns4:ln>
          </p:spPr>
        </p:sp>
        <p:sp>
          <p:nvSpPr>
            <p:cNvPr id="10466" name="flow"/>
            <p:cNvSpPr/>
            <p:nvPr/>
          </p:nvSpPr>
          <p:spPr>
            <ns1:xfrm xmlns:ns1="http://schemas.openxmlformats.org/drawingml/2006/main">
              <ns1:off x="7381875" y="1200150"/>
              <ns1:ext cx="5334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56000" h="1000" fill="none">
                  <ns2:moveTo>
                    <ns2:pt x="0" y="0"/>
                  </ns2:moveTo>
                  <ns2:lnTo>
                    <ns2:pt x="56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467" name="flow"/>
            <p:cNvSpPr/>
            <p:nvPr/>
          </p:nvSpPr>
          <p:spPr>
            <ns1:xfrm xmlns:ns1="http://schemas.openxmlformats.org/drawingml/2006/main">
              <ns1:off x="7381875" y="1581150"/>
              <ns1:ext cx="5334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56000" h="1000" fill="none">
                  <ns2:moveTo>
                    <ns2:pt x="56000" y="0"/>
                  </ns2:move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468" name="Evolution divider"/>
            <p:cNvSpPr/>
            <p:nvPr/>
          </p:nvSpPr>
          <p:spPr>
            <ns1:xfrm xmlns:ns1="http://schemas.openxmlformats.org/drawingml/2006/main">
              <ns1:off x="238125" y="2876550"/>
              <ns1:ext cx="10953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50000" h="1000" fill="none">
                  <ns2:moveTo>
                    <ns2:pt x="0" y="0"/>
                  </ns2:moveTo>
                  <ns2:lnTo>
                    <ns2:pt x="115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CE5EA"/>
              </ns4:solidFill>
            </ns4:ln>
          </p:spPr>
        </p:sp>
        <p:sp>
          <p:nvSpPr>
            <p:cNvPr id="10469" name="Capability evolution"/>
            <p:cNvSpPr/>
            <p:nvPr/>
          </p:nvSpPr>
          <p:spPr>
            <ns1:xfrm xmlns:ns1="http://schemas.openxmlformats.org/drawingml/2006/main">
              <ns1:off x="238125" y="3000375"/>
              <ns1:ext cx="109537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A87835"/>
                  </ns7:solidFill>
                  <ns7:latin typeface="Times New Roman"/>
                  <ns7:ea typeface="Times New Roman"/>
                </ns7:rPr>
                <ns7:t>Capability evolution</ns7:t>
              </ns7:r>
            </ns7:p>
          </p:txBody>
        </p:sp>
        <p:grpSp>
          <p:nvGrpSpPr>
            <p:cNvPr id="10477" name="Execution traces"/>
            <p:cNvGrpSpPr/>
            <p:nvPr/>
          </p:nvGrpSpPr>
          <p:grpSpPr>
            <ns1:xfrm xmlns:ns1="http://schemas.openxmlformats.org/drawingml/2006/main">
              <ns1:off x="333375" y="3733800"/>
              <ns1:ext cx="2476500" cy="904875"/>
              <ns1:chOff x="333375" y="3733800"/>
              <ns1:chExt cx="2476500" cy="904875"/>
            </ns1:xfrm>
          </p:grpSpPr>
          <p:grpSp>
            <p:nvGrpSpPr>
              <p:cNvPr id="10475" name="list-checks editable icon"/>
              <p:cNvGrpSpPr/>
              <p:nvPr/>
            </p:nvGrpSpPr>
            <p:grpSpPr>
              <ns1:xfrm xmlns:ns1="http://schemas.openxmlformats.org/drawingml/2006/main">
                <ns1:off x="1228725" y="3733800"/>
                <ns1:ext cx="476250" cy="476250"/>
                <ns1:chOff x="1228725" y="3733800"/>
                <ns1:chExt cx="476250" cy="476250"/>
              </ns1:xfrm>
            </p:grpSpPr>
            <p:sp>
              <p:nvSpPr>
                <p:cNvPr id="10470" name="list-checks-0"/>
                <p:cNvSpPr/>
                <p:nvPr/>
              </p:nvSpPr>
              <p:spPr>
                <ns1:xfrm xmlns:ns1="http://schemas.openxmlformats.org/drawingml/2006/main">
                  <ns1:off x="122872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5000"/>
                      </ns2:move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71" name="list-checks-1"/>
                <p:cNvSpPr/>
                <p:nvPr/>
              </p:nvSpPr>
              <p:spPr>
                <ns1:xfrm xmlns:ns1="http://schemas.openxmlformats.org/drawingml/2006/main">
                  <ns1:off x="122872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2000"/>
                      </ns2:moveTo>
                      <ns2:lnTo>
                        <ns2:pt x="21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72" name="list-checks-2"/>
                <p:cNvSpPr/>
                <p:nvPr/>
              </p:nvSpPr>
              <p:spPr>
                <ns1:xfrm xmlns:ns1="http://schemas.openxmlformats.org/drawingml/2006/main">
                  <ns1:off x="122872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9000"/>
                      </ns2:moveTo>
                      <ns2:lnTo>
                        <ns2:pt x="21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73" name="list-checks-3"/>
                <p:cNvSpPr/>
                <p:nvPr/>
              </p:nvSpPr>
              <p:spPr>
                <ns1:xfrm xmlns:ns1="http://schemas.openxmlformats.org/drawingml/2006/main">
                  <ns1:off x="122872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7000"/>
                      </ns2:moveTo>
                      <ns2:lnTo>
                        <ns2:pt x="5000" y="19000"/>
                      </ns2:ln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74" name="list-checks-4"/>
                <p:cNvSpPr/>
                <p:nvPr/>
              </p:nvSpPr>
              <p:spPr>
                <ns1:xfrm xmlns:ns1="http://schemas.openxmlformats.org/drawingml/2006/main">
                  <ns1:off x="122872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5000" y="9000"/>
                      </ns2:lnTo>
                      <ns2:lnTo>
                        <ns2:pt x="9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</p:grpSp>
          <p:sp>
            <p:nvSpPr>
              <p:cNvPr id="10476" name="Execution traces"/>
              <p:cNvSpPr/>
              <p:nvPr/>
            </p:nvSpPr>
            <p:spPr>
              <ns1:xfrm xmlns:ns1="http://schemas.openxmlformats.org/drawingml/2006/main">
                <ns1:off x="333375" y="4314825"/>
                <ns1:ext cx="2476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A87835"/>
                    </ns7:solidFill>
                    <ns7:latin typeface="Times New Roman"/>
                    <ns7:ea typeface="Times New Roman"/>
                  </ns7:rPr>
                  <ns7:t>Execution traces</ns7:t>
                </ns7:r>
              </ns7:p>
            </p:txBody>
          </p:sp>
        </p:grpSp>
        <p:grpSp>
          <p:nvGrpSpPr>
            <p:cNvPr id="10484" name="Candidate procedure"/>
            <p:cNvGrpSpPr/>
            <p:nvPr/>
          </p:nvGrpSpPr>
          <p:grpSpPr>
            <ns1:xfrm xmlns:ns1="http://schemas.openxmlformats.org/drawingml/2006/main">
              <ns1:off x="3143250" y="3733800"/>
              <ns1:ext cx="2476500" cy="904875"/>
              <ns1:chOff x="3143250" y="3733800"/>
              <ns1:chExt cx="2476500" cy="904875"/>
            </ns1:xfrm>
          </p:grpSpPr>
          <p:grpSp>
            <p:nvGrpSpPr>
              <p:cNvPr id="10482" name="file-code editable icon"/>
              <p:cNvGrpSpPr/>
              <p:nvPr/>
            </p:nvGrpSpPr>
            <p:grpSpPr>
              <ns1:xfrm xmlns:ns1="http://schemas.openxmlformats.org/drawingml/2006/main">
                <ns1:off x="4038600" y="3733800"/>
                <ns1:ext cx="476250" cy="476250"/>
                <ns1:chOff x="4038600" y="3733800"/>
                <ns1:chExt cx="476250" cy="476250"/>
              </ns1:xfrm>
            </p:grpSpPr>
            <p:sp>
              <p:nvSpPr>
                <p:cNvPr id="10478" name="file-code-0"/>
                <p:cNvSpPr/>
                <p:nvPr/>
              </p:nvSpPr>
              <p:spPr>
                <ns1:xfrm xmlns:ns1="http://schemas.openxmlformats.org/drawingml/2006/main">
                  <ns1:off x="4038600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12500"/>
                      </ns2:moveTo>
                      <ns2:lnTo>
                        <ns2:pt x="8000" y="15000"/>
                      </ns2:lnTo>
                      <ns2:lnTo>
                        <ns2:pt x="10000" y="175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79" name="file-code-1"/>
                <p:cNvSpPr/>
                <p:nvPr/>
              </p:nvSpPr>
              <p:spPr>
                <ns1:xfrm xmlns:ns1="http://schemas.openxmlformats.org/drawingml/2006/main">
                  <ns1:off x="4038600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12500"/>
                      </ns2:moveTo>
                      <ns2:lnTo>
                        <ns2:pt x="16000" y="15000"/>
                      </ns2:lnTo>
                      <ns2:lnTo>
                        <ns2:pt x="14000" y="175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80" name="file-code-2"/>
                <p:cNvSpPr/>
                <p:nvPr/>
              </p:nvSpPr>
              <p:spPr>
                <ns1:xfrm xmlns:ns1="http://schemas.openxmlformats.org/drawingml/2006/main">
                  <ns1:off x="4038600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6000"/>
                      </ns2:lnTo>
                      <ns2:cubicBezTo>
                        <ns2:pt x="14000" y="7105"/>
                        <ns2:pt x="14895" y="8000"/>
                        <ns2:pt x="16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81" name="file-code-3"/>
                <p:cNvSpPr/>
                <p:nvPr/>
              </p:nvSpPr>
              <p:spPr>
                <ns1:xfrm xmlns:ns1="http://schemas.openxmlformats.org/drawingml/2006/main">
                  <ns1:off x="4038600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2000"/>
                      </ns2:moveTo>
                      <ns2:lnTo>
                        <ns2:pt x="6000" y="2000"/>
                      </ns2:lnTo>
                      <ns2:cubicBezTo>
                        <ns2:pt x="4895" y="2000"/>
                        <ns2:pt x="4000" y="2895"/>
                        <ns2:pt x="4000" y="4000"/>
                      </ns2:cubicBezTo>
                      <ns2:lnTo>
                        <ns2:pt x="4000" y="20000"/>
                      </ns2:lnTo>
                      <ns2:cubicBezTo>
                        <ns2:pt x="4000" y="21105"/>
                        <ns2:pt x="4895" y="22000"/>
                        <ns2:pt x="6000" y="22000"/>
                      </ns2:cubicBezTo>
                      <ns2:lnTo>
                        <ns2:pt x="18000" y="22000"/>
                      </ns2:lnTo>
                      <ns2:cubicBezTo>
                        <ns2:pt x="19105" y="22000"/>
                        <ns2:pt x="20000" y="21105"/>
                        <ns2:pt x="20000" y="20000"/>
                      </ns2:cubicBezTo>
                      <ns2:lnTo>
                        <ns2:pt x="20000" y="7000"/>
                      </ns2:lnTo>
                      <ns2:lnTo>
                        <ns2:pt x="15000" y="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</p:grpSp>
          <p:sp>
            <p:nvSpPr>
              <p:cNvPr id="10483" name="Candidate procedure"/>
              <p:cNvSpPr/>
              <p:nvPr/>
            </p:nvSpPr>
            <p:spPr>
              <ns1:xfrm xmlns:ns1="http://schemas.openxmlformats.org/drawingml/2006/main">
                <ns1:off x="3143250" y="4314825"/>
                <ns1:ext cx="2476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A87835"/>
                    </ns7:solidFill>
                    <ns7:latin typeface="Times New Roman"/>
                    <ns7:ea typeface="Times New Roman"/>
                  </ns7:rPr>
                  <ns7:t>Candidate procedure</ns7:t>
                </ns7:r>
              </ns7:p>
            </p:txBody>
          </p:sp>
        </p:grpSp>
        <p:grpSp>
          <p:nvGrpSpPr>
            <p:cNvPr id="10493" name="Held-out task tests"/>
            <p:cNvGrpSpPr/>
            <p:nvPr/>
          </p:nvGrpSpPr>
          <p:grpSpPr>
            <ns1:xfrm xmlns:ns1="http://schemas.openxmlformats.org/drawingml/2006/main">
              <ns1:off x="5953125" y="3733800"/>
              <ns1:ext cx="2476500" cy="904875"/>
              <ns1:chOff x="5953125" y="3733800"/>
              <ns1:chExt cx="2476500" cy="904875"/>
            </ns1:xfrm>
          </p:grpSpPr>
          <p:grpSp>
            <p:nvGrpSpPr>
              <p:cNvPr id="10491" name="clipboard-list editable icon"/>
              <p:cNvGrpSpPr/>
              <p:nvPr/>
            </p:nvGrpSpPr>
            <p:grpSpPr>
              <ns1:xfrm xmlns:ns1="http://schemas.openxmlformats.org/drawingml/2006/main">
                <ns1:off x="6848475" y="3733800"/>
                <ns1:ext cx="476250" cy="476250"/>
                <ns1:chOff x="6848475" y="3733800"/>
                <ns1:chExt cx="476250" cy="476250"/>
              </ns1:xfrm>
            </p:grpSpPr>
            <p:sp>
              <p:nvSpPr>
                <p:cNvPr id="10485" name="clipboard-list-0"/>
                <p:cNvSpPr/>
                <p:nvPr/>
              </p:nvSpPr>
              <p:spPr>
                <ns1:xfrm xmlns:ns1="http://schemas.openxmlformats.org/drawingml/2006/main">
                  <ns1:off x="7007225" y="3773488"/>
                  <ns1:ext cx="158750" cy="79375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29766" cap="rnd">
                  <ns5:solidFill>
                    <ns5:srgbClr val="A87835"/>
                  </ns5:solidFill>
                </ns5:ln>
              </p:spPr>
            </p:sp>
            <p:sp>
              <p:nvSpPr>
                <p:cNvPr id="10486" name="clipboard-list-1"/>
                <p:cNvSpPr/>
                <p:nvPr/>
              </p:nvSpPr>
              <p:spPr>
                <ns1:xfrm xmlns:ns1="http://schemas.openxmlformats.org/drawingml/2006/main">
                  <ns1:off x="684847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4000"/>
                      </ns2:moveTo>
                      <ns2:lnTo>
                        <ns2:pt x="18000" y="4000"/>
                      </ns2:lnTo>
                      <ns2:cubicBezTo>
                        <ns2:pt x="19105" y="4000"/>
                        <ns2:pt x="20000" y="4895"/>
                        <ns2:pt x="20000" y="6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6000"/>
                      </ns2:lnTo>
                      <ns2:cubicBezTo>
                        <ns2:pt x="4000" y="4895"/>
                        <ns2:pt x="4895" y="4000"/>
                        <ns2:pt x="6000" y="4000"/>
                      </ns2:cubicBezTo>
                      <ns2:lnTo>
                        <ns2:pt x="8000" y="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87" name="clipboard-list-2"/>
                <p:cNvSpPr/>
                <p:nvPr/>
              </p:nvSpPr>
              <p:spPr>
                <ns1:xfrm xmlns:ns1="http://schemas.openxmlformats.org/drawingml/2006/main">
                  <ns1:off x="684847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1000"/>
                      </ns2:moveTo>
                      <ns2:lnTo>
                        <ns2:pt x="16000" y="1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88" name="clipboard-list-3"/>
                <p:cNvSpPr/>
                <p:nvPr/>
              </p:nvSpPr>
              <p:spPr>
                <ns1:xfrm xmlns:ns1="http://schemas.openxmlformats.org/drawingml/2006/main">
                  <ns1:off x="684847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6000" y="1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89" name="clipboard-list-4"/>
                <p:cNvSpPr/>
                <p:nvPr/>
              </p:nvSpPr>
              <p:spPr>
                <ns1:xfrm xmlns:ns1="http://schemas.openxmlformats.org/drawingml/2006/main">
                  <ns1:off x="684847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1000"/>
                      </ns2:moveTo>
                      <ns2:lnTo>
                        <ns2:pt x="8010" y="1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  <p:sp>
              <p:nvSpPr>
                <p:cNvPr id="10490" name="clipboard-list-5"/>
                <p:cNvSpPr/>
                <p:nvPr/>
              </p:nvSpPr>
              <p:spPr>
                <ns1:xfrm xmlns:ns1="http://schemas.openxmlformats.org/drawingml/2006/main">
                  <ns1:off x="6848475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6000"/>
                      </ns2:moveTo>
                      <ns2:lnTo>
                        <ns2:pt x="8010" y="1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</p:grpSp>
          <p:sp>
            <p:nvSpPr>
              <p:cNvPr id="10492" name="Held-out task tests"/>
              <p:cNvSpPr/>
              <p:nvPr/>
            </p:nvSpPr>
            <p:spPr>
              <ns1:xfrm xmlns:ns1="http://schemas.openxmlformats.org/drawingml/2006/main">
                <ns1:off x="5953125" y="4314825"/>
                <ns1:ext cx="2476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A87835"/>
                    </ns7:solidFill>
                    <ns7:latin typeface="Times New Roman"/>
                    <ns7:ea typeface="Times New Roman"/>
                  </ns7:rPr>
                  <ns7:t>Held-out task tests</ns7:t>
                </ns7:r>
              </ns7:p>
            </p:txBody>
          </p:sp>
        </p:grpSp>
        <p:grpSp>
          <p:nvGrpSpPr>
            <p:cNvPr id="10497" name="Tool registration"/>
            <p:cNvGrpSpPr/>
            <p:nvPr/>
          </p:nvGrpSpPr>
          <p:grpSpPr>
            <ns1:xfrm xmlns:ns1="http://schemas.openxmlformats.org/drawingml/2006/main">
              <ns1:off x="8763000" y="3733800"/>
              <ns1:ext cx="2476500" cy="904875"/>
              <ns1:chOff x="8763000" y="3733800"/>
              <ns1:chExt cx="2476500" cy="904875"/>
            </ns1:xfrm>
          </p:grpSpPr>
          <p:grpSp>
            <p:nvGrpSpPr>
              <p:cNvPr id="10495" name="wrench editable icon"/>
              <p:cNvGrpSpPr/>
              <p:nvPr/>
            </p:nvGrpSpPr>
            <p:grpSpPr>
              <ns1:xfrm xmlns:ns1="http://schemas.openxmlformats.org/drawingml/2006/main">
                <ns1:off x="9658350" y="3733800"/>
                <ns1:ext cx="476250" cy="476250"/>
                <ns1:chOff x="9658350" y="3733800"/>
                <ns1:chExt cx="476250" cy="476250"/>
              </ns1:xfrm>
            </p:grpSpPr>
            <p:sp>
              <p:nvSpPr>
                <p:cNvPr id="10494" name="wrench-0"/>
                <p:cNvSpPr/>
                <p:nvPr/>
              </p:nvSpPr>
              <p:spPr>
                <ns1:xfrm xmlns:ns1="http://schemas.openxmlformats.org/drawingml/2006/main">
                  <ns1:off x="9658350" y="3733800"/>
                  <ns1:ext cx="476250" cy="4762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700" y="6300"/>
                      </ns2:moveTo>
                      <ns2:cubicBezTo>
                        <ns2:pt x="14319" y="6689"/>
                        <ns2:pt x="14319" y="7311"/>
                        <ns2:pt x="14700" y="7700"/>
                      </ns2:cubicBezTo>
                      <ns2:lnTo>
                        <ns2:pt x="16300" y="9300"/>
                      </ns2:lnTo>
                      <ns2:cubicBezTo>
                        <ns2:pt x="16689" y="9681"/>
                        <ns2:pt x="17311" y="9681"/>
                        <ns2:pt x="17700" y="9300"/>
                      </ns2:cubicBezTo>
                      <ns2:lnTo>
                        <ns2:pt x="20806" y="6195"/>
                      </ns2:lnTo>
                      <ns2:cubicBezTo>
                        <ns2:pt x="21126" y="5873"/>
                        <ns2:pt x="21669" y="5975"/>
                        <ns2:pt x="21789" y="6413"/>
                      </ns2:cubicBezTo>
                      <ns2:cubicBezTo>
                        <ns2:pt x="22406" y="8656"/>
                        <ns2:pt x="21670" y="11054"/>
                        <ns2:pt x="19901" y="12565"/>
                      </ns2:cubicBezTo>
                      <ns2:cubicBezTo>
                        <ns2:pt x="18133" y="14077"/>
                        <ns2:pt x="15650" y="14429"/>
                        <ns2:pt x="13530" y="13470"/>
                      </ns2:cubicBezTo>
                      <ns2:lnTo>
                        <ns2:pt x="5620" y="21380"/>
                      </ns2:lnTo>
                      <ns2:cubicBezTo>
                        <ns2:pt x="4792" y="22208"/>
                        <ns2:pt x="3449" y="22208"/>
                        <ns2:pt x="2620" y="21380"/>
                      </ns2:cubicBezTo>
                      <ns2:cubicBezTo>
                        <ns2:pt x="1792" y="20551"/>
                        <ns2:pt x="1793" y="19208"/>
                        <ns2:pt x="2621" y="18380"/>
                      </ns2:cubicBezTo>
                      <ns2:lnTo>
                        <ns2:pt x="10531" y="10470"/>
                      </ns2:lnTo>
                      <ns2:cubicBezTo>
                        <ns2:pt x="9572" y="8350"/>
                        <ns2:pt x="9924" y="5867"/>
                        <ns2:pt x="11436" y="4099"/>
                      </ns2:cubicBezTo>
                      <ns2:cubicBezTo>
                        <ns2:pt x="12947" y="2330"/>
                        <ns2:pt x="15345" y="1594"/>
                        <ns2:pt x="17588" y="2211"/>
                      </ns2:cubicBezTo>
                      <ns2:cubicBezTo>
                        <ns2:pt x="18026" y="2331"/>
                        <ns2:pt x="18128" y="2873"/>
                        <ns2:pt x="17807" y="3195"/>
                      </ns2:cubicBezTo>
                      <ns2:lnTo>
                        <ns2:pt x="14700" y="63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9766" cap="rnd">
                  <ns4:solidFill>
                    <ns4:srgbClr val="A87835"/>
                  </ns4:solidFill>
                </ns4:ln>
              </p:spPr>
            </p:sp>
          </p:grpSp>
          <p:sp>
            <p:nvSpPr>
              <p:cNvPr id="10496" name="Tool registration"/>
              <p:cNvSpPr/>
              <p:nvPr/>
            </p:nvSpPr>
            <p:spPr>
              <ns1:xfrm xmlns:ns1="http://schemas.openxmlformats.org/drawingml/2006/main">
                <ns1:off x="8763000" y="4314825"/>
                <ns1:ext cx="2476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A87835"/>
                    </ns7:solidFill>
                    <ns7:latin typeface="Times New Roman"/>
                    <ns7:ea typeface="Times New Roman"/>
                  </ns7:rPr>
                  <ns7:t>Tool registration</ns7:t>
                </ns7:r>
              </ns7:p>
            </p:txBody>
          </p:sp>
        </p:grpSp>
        <p:sp>
          <p:nvSpPr>
            <p:cNvPr id="10498" name="flow"/>
            <p:cNvSpPr/>
            <p:nvPr/>
          </p:nvSpPr>
          <p:spPr>
            <ns1:xfrm xmlns:ns1="http://schemas.openxmlformats.org/drawingml/2006/main">
              <ns1:off x="2781300" y="3962400"/>
              <ns1:ext cx="3238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34000" h="1000" fill="none">
                  <ns2:moveTo>
                    <ns2:pt x="0" y="0"/>
                  </ns2:moveTo>
                  <ns2:lnTo>
                    <ns2:pt x="34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A87835"/>
              </ns4:solidFill>
              <ns4:tailEnd type="triangle"/>
            </ns4:ln>
          </p:spPr>
        </p:sp>
        <p:sp>
          <p:nvSpPr>
            <p:cNvPr id="10499" name="flow"/>
            <p:cNvSpPr/>
            <p:nvPr/>
          </p:nvSpPr>
          <p:spPr>
            <ns1:xfrm xmlns:ns1="http://schemas.openxmlformats.org/drawingml/2006/main">
              <ns1:off x="5591175" y="3962400"/>
              <ns1:ext cx="3238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34000" h="1000" fill="none">
                  <ns2:moveTo>
                    <ns2:pt x="0" y="0"/>
                  </ns2:moveTo>
                  <ns2:lnTo>
                    <ns2:pt x="34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A87835"/>
              </ns4:solidFill>
              <ns4:tailEnd type="triangle"/>
            </ns4:ln>
          </p:spPr>
        </p:sp>
        <p:sp>
          <p:nvSpPr>
            <p:cNvPr id="10500" name="flow"/>
            <p:cNvSpPr/>
            <p:nvPr/>
          </p:nvSpPr>
          <p:spPr>
            <ns1:xfrm xmlns:ns1="http://schemas.openxmlformats.org/drawingml/2006/main">
              <ns1:off x="8401050" y="3962400"/>
              <ns1:ext cx="3238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34000" h="1000" fill="none">
                  <ns2:moveTo>
                    <ns2:pt x="0" y="0"/>
                  </ns2:moveTo>
                  <ns2:lnTo>
                    <ns2:pt x="34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A87835"/>
              </ns4:solidFill>
              <ns4:tailEnd type="triangle"/>
            </ns4:ln>
          </p:spPr>
        </p:sp>
        <p:sp>
          <p:nvSpPr>
            <p:cNvPr id="10501" name="Extract recurring operations"/>
            <p:cNvSpPr/>
            <p:nvPr/>
          </p:nvSpPr>
          <p:spPr>
            <ns1:xfrm xmlns:ns1="http://schemas.openxmlformats.org/drawingml/2006/main">
              <ns1:off x="2857500" y="4752975"/>
              <ns1:ext cx="314325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Extract recurring operations</ns7:t>
              </ns7:r>
            </ns7:p>
          </p:txBody>
        </p:sp>
        <p:sp>
          <p:nvSpPr>
            <p:cNvPr id="10502" name="Check on similar tasks"/>
            <p:cNvSpPr/>
            <p:nvPr/>
          </p:nvSpPr>
          <p:spPr>
            <ns1:xfrm xmlns:ns1="http://schemas.openxmlformats.org/drawingml/2006/main">
              <ns1:off x="6000750" y="4752975"/>
              <ns1:ext cx="247650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Check on similar tasks</ns7:t>
              </ns7:r>
            </ns7:p>
          </p:txBody>
        </p:sp>
        <p:sp>
          <p:nvSpPr>
            <p:cNvPr id="10503" name="Save invocation description"/>
            <p:cNvSpPr/>
            <p:nvPr/>
          </p:nvSpPr>
          <p:spPr>
            <ns1:xfrm xmlns:ns1="http://schemas.openxmlformats.org/drawingml/2006/main">
              <ns1:off x="8667750" y="4752975"/>
              <ns1:ext cx="266700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Save invocation description</ns7:t>
              </ns7:r>
            </ns7:p>
          </p:txBody>
        </p:sp>
        <p:sp>
          <p:nvSpPr>
            <p:cNvPr id="10504" name="Promote capability to runtime"/>
            <p:cNvSpPr/>
            <p:nvPr/>
          </p:nvSpPr>
          <p:spPr>
            <ns1:xfrm xmlns:ns1="http://schemas.openxmlformats.org/drawingml/2006/main">
              <ns1:off x="5734050" y="2628900"/>
              <ns1:ext cx="5505450" cy="25908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578000" h="272000" fill="none">
                  <ns2:moveTo>
                    <ns2:pt x="458000" y="272000"/>
                  </ns2:moveTo>
                  <ns2:lnTo>
                    <ns2:pt x="578000" y="272000"/>
                  </ns2:lnTo>
                  <ns2:lnTo>
                    <ns2:pt x="578000" y="15000"/>
                  </ns2:lnTo>
                  <ns2:lnTo>
                    <ns2:pt x="0" y="15000"/>
                  </ns2:ln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4288" cap="rnd">
              <ns4:solidFill>
                <ns4:srgbClr val="A87835"/>
              </ns4:solidFill>
              <ns4:tailEnd type="triangle"/>
            </ns4:ln>
          </p:spPr>
        </p:sp>
        <p:sp>
          <p:nvSpPr>
            <p:cNvPr id="10505" name="Accepted tools return to the runtime"/>
            <p:cNvSpPr/>
            <p:nvPr/>
          </p:nvSpPr>
          <p:spPr>
            <ns1:xfrm xmlns:ns1="http://schemas.openxmlformats.org/drawingml/2006/main">
              <ns1:off x="2762250" y="5391150"/>
              <ns1:ext cx="657225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A87835"/>
                  </ns7:solidFill>
                  <ns7:latin typeface="Times New Roman"/>
                  <ns7:ea typeface="Times New Roman"/>
                </ns7:rPr>
                <ns7:t>Accepted tools return to the runtime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2026-10-21T08:48:18.1430000Z</dcterms:created>
  <dcterms:modified xsi:type="dcterms:W3CDTF">2026-10-21T08:48:18.1430000Z</dcterms:modified>
</coreProperties>
</file>