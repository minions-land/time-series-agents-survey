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fc6caeadcbb4642" Type="http://schemas.openxmlformats.org/officeDocument/2006/relationships/officeDocument" Target="ppt/presentation.xml"/><Relationship Id="R98a5e8e5c5064a0b" Type="http://schemas.openxmlformats.org/officeDocument/2006/relationships/extended-properties" Target="docProps/app.xml"/><Relationship Id="Rfbb81fdae2c84d6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f05076ed8649da"/>
  </p:sldMasterIdLst>
  <p:notesMasterIdLst>
    <p:notesMasterId xmlns:r="http://schemas.openxmlformats.org/officeDocument/2006/relationships" r:id="R2a237cd5ae414640"/>
  </p:notesMasterIdLst>
  <p:sldIdLst>
    <p:sldId xmlns:r="http://schemas.openxmlformats.org/officeDocument/2006/relationships" id="256" r:id="Rb858e979d71243bb"/>
  </p:sldIdLst>
  <p:sldSz cx="13335000" cy="619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a237cd5ae414640" Type="http://schemas.openxmlformats.org/officeDocument/2006/relationships/notesMaster" Target="notesMasters/notesMaster1.xml"/><Relationship Id="R2e57ac6662514a3a" Type="http://schemas.openxmlformats.org/officeDocument/2006/relationships/presProps" Target="presProps.xml"/><Relationship Id="R5af5f99590074245" Type="http://schemas.openxmlformats.org/officeDocument/2006/relationships/theme" Target="theme/theme1.xml"/><Relationship Id="Rb858e979d71243bb" Type="http://schemas.openxmlformats.org/officeDocument/2006/relationships/slide" Target="slides/slide1.xml"/><Relationship Id="Rc7f05076ed8649da" Type="http://schemas.openxmlformats.org/officeDocument/2006/relationships/slideMaster" Target="slideMasters/slideMaster1.xml"/><Relationship Id="Rf49407a54d59447b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9cc75d675d904e6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55dd3da94e34202" Type="http://schemas.openxmlformats.org/officeDocument/2006/relationships/notesMaster" Target="../notesMasters/notesMaster1.xml"/><Relationship Id="Recc40e2a66174a11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MERIT. Source: https://aclanthology.org/2025.findings-acl.1231/ Sections 3.2-3.5, equations 1-11, Figure 2. Coarse similarity retrieval then LLM relevance refinement; context-dependent strategy selection; review returns Correct/Error and rationale; accepted views enter M; rejected views restart retrieval; positives are M plus retrieved neighbors R. The two transformation outcomes are illustrative, not source-reported acceptance rules or results.</a:t>
            </a:r>
          </a:p>
          <a:p xmlns:a="http://schemas.openxmlformats.org/drawingml/2006/main">
            <a:r>
              <a:t>Icons: Lucide, ISC license, original source SVGs and license in assets/. All curves are schematic didactic examples, not experimental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aaed8dbdbc8499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a7d2bbac3d8414c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c50dad82f1748c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a5388c3b30b64bea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5e75422ed34469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1e7d4869d9094d2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879E52-11A8-4063-959C-5A869E5A3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338917"/>
            <a:ext cx="10668000" cy="894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A136B4-A1B3-4E2B-B5E6-59D1E34C5C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0250" y="3405188"/>
            <a:ext cx="9334500" cy="687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B7C7AC-959A-4C8B-93D1-17176F108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579688"/>
            <a:ext cx="1066800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98A02-0EBC-43C2-869F-59DB5A026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81542"/>
            <a:ext cx="11834813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DD5576-47B7-4616-A50B-BAC974C621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19792"/>
            <a:ext cx="1183481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6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81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56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318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070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822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57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32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07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C2BD35-3BD6-4E0F-9268-7131DD2A0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81542"/>
            <a:ext cx="11834813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1FFE5-4F28-4A9D-9252-180027390F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19792"/>
            <a:ext cx="5500688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6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81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56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318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070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822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57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32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07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E4B647-B14E-4E10-B06D-8831AE8F27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4219" y="1719792"/>
            <a:ext cx="5500688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6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81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56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318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070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822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57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32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07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18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6A8B3-56D9-4B4A-ABA8-E99BFC600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81542"/>
            <a:ext cx="11834813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C30690-E737-42C6-9A66-1C469A9BA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719792"/>
            <a:ext cx="5500688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6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81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56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318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070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822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57375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32542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07708" indent="-206375" algn="l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 sz="2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605e65d94654d00" Type="http://schemas.openxmlformats.org/officeDocument/2006/relationships/slideLayout" Target="../slideLayouts/slideLayout1.xml"/><Relationship Id="R1b16e6a6b52f42fd" Type="http://schemas.openxmlformats.org/officeDocument/2006/relationships/slideLayout" Target="../slideLayouts/slideLayout3.xml"/><Relationship Id="R4af0d3a28ca44001" Type="http://schemas.openxmlformats.org/officeDocument/2006/relationships/slideLayout" Target="../slideLayouts/slideLayout6.xml"/><Relationship Id="R99c97cba4bcc42e4" Type="http://schemas.openxmlformats.org/officeDocument/2006/relationships/slideLayout" Target="../slideLayouts/slideLayout4.xml"/><Relationship Id="R9b03e83d4aa14ac7" Type="http://schemas.openxmlformats.org/officeDocument/2006/relationships/slideLayout" Target="../slideLayouts/slideLayout5.xml"/><Relationship Id="Rcd639bfc6fbb4bef" Type="http://schemas.openxmlformats.org/officeDocument/2006/relationships/slideLayout" Target="../slideLayouts/slideLayout2.xml"/><Relationship Id="Rd346af5c4fdc408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5e65d94654d00"/>
    <p:sldLayoutId xmlns:r="http://schemas.openxmlformats.org/officeDocument/2006/relationships" id="2147483650" r:id="Rcd639bfc6fbb4bef"/>
    <p:sldLayoutId xmlns:r="http://schemas.openxmlformats.org/officeDocument/2006/relationships" id="2147483651" r:id="R1b16e6a6b52f42fd"/>
    <p:sldLayoutId xmlns:r="http://schemas.openxmlformats.org/officeDocument/2006/relationships" id="2147483652" r:id="R99c97cba4bcc42e4"/>
    <p:sldLayoutId xmlns:r="http://schemas.openxmlformats.org/officeDocument/2006/relationships" id="2147483653" r:id="R9b03e83d4aa14ac7"/>
    <p:sldLayoutId xmlns:r="http://schemas.openxmlformats.org/officeDocument/2006/relationships" id="2147483654" r:id="R4af0d3a28ca4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ccf3e6f42948d9" Type="http://schemas.openxmlformats.org/officeDocument/2006/relationships/slideLayout" Target="../slideLayouts/slideLayout6.xml"/><Relationship Id="Rd3f17fa58f2045e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24" name="Figure 09 - ungroup to edit modules"/>
          <p:cNvGrpSpPr/>
          <p:nvPr/>
        </p:nvGrpSpPr>
        <p:grpSpPr>
          <ns1:xfrm xmlns:ns1="http://schemas.openxmlformats.org/drawingml/2006/main">
            <ns1:off x="161925" y="104775"/>
            <ns1:ext cx="12858750" cy="5905500"/>
            <ns1:chOff x="161925" y="104775"/>
            <ns1:chExt cx="12858750" cy="5905500"/>
          </ns1:xfrm>
        </p:grpSpPr>
        <p:grpSp>
          <p:nvGrpSpPr>
            <p:cNvPr id="125" name="retrieval"/>
            <p:cNvGrpSpPr/>
            <p:nvPr/>
          </p:nvGrpSpPr>
          <p:grpSpPr>
            <ns1:xfrm xmlns:ns1="http://schemas.openxmlformats.org/drawingml/2006/main">
              <ns1:off x="228600" y="104775"/>
              <ns1:ext cx="3333750" cy="4543425"/>
              <ns1:chOff x="228600" y="104775"/>
              <ns1:chExt cx="3333750" cy="4543425"/>
            </ns1:xfrm>
          </p:grpSpPr>
          <p:sp>
            <p:nvSpPr>
              <p:cNvPr id="123" name="retrieval//dot-1">
                <a:extLst xmlns:a="http://schemas.openxmlformats.org/drawingml/2006/main">
                  <a:ext uri="{FF2B5EF4-FFF2-40B4-BE49-F238E27FC236}">
                    <a16:creationId xmlns:a16="http://schemas.microsoft.com/office/drawing/2014/main" id="{38F355FC-2E70-496B-966C-4B923552736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152400"/>
                <a:ext cx="247650" cy="2476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F6C85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" name="retrieval//box-2">
                <a:extLst xmlns:a="http://schemas.openxmlformats.org/drawingml/2006/main">
                  <a:ext uri="{FF2B5EF4-FFF2-40B4-BE49-F238E27FC236}">
                    <a16:creationId xmlns:a16="http://schemas.microsoft.com/office/drawing/2014/main" id="{E7CE3881-76BC-4B80-BC20-F8FA690D63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142875"/>
                <a:ext cx="2476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3" name="retrieval//box-3">
                <a:extLst xmlns:a="http://schemas.openxmlformats.org/drawingml/2006/main">
                  <a:ext uri="{FF2B5EF4-FFF2-40B4-BE49-F238E27FC236}">
                    <a16:creationId xmlns:a16="http://schemas.microsoft.com/office/drawing/2014/main" id="{CB5BB5AD-9FA2-44DC-9AF6-9EE9892F1C7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81025" y="104775"/>
                <a:ext cx="298132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Retrieve references</a:t>
                </a:r>
              </a:p>
            </p:txBody>
          </p:sp>
          <p:grpSp>
            <p:nvGrpSpPr>
              <p:cNvPr id="126" name="icon-list-filter-3"/>
              <p:cNvGrpSpPr/>
              <p:nvPr/>
            </p:nvGrpSpPr>
            <p:grpSpPr>
              <ns1:xfrm xmlns:ns1="http://schemas.openxmlformats.org/drawingml/2006/main">
                <ns1:off x="3228975" y="142875"/>
                <ns1:ext cx="266700" cy="266700"/>
                <ns1:chOff x="3228975" y="142875"/>
                <ns1:chExt cx="266700" cy="266700"/>
              </ns1:xfrm>
            </p:grpSpPr>
            <p:sp>
              <p:nvSpPr>
                <p:cNvPr id="4" name="retrieval/icon-list-filter-3//list-filter-4">
                  <a:extLst xmlns:a="http://schemas.openxmlformats.org/drawingml/2006/main">
                    <a:ext uri="{FF2B5EF4-FFF2-40B4-BE49-F238E27FC236}">
                      <a16:creationId xmlns:a16="http://schemas.microsoft.com/office/drawing/2014/main" id="{FD66EB72-EE2A-4297-AEA0-46BE4536E67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47625"/>
                      </a:moveTo>
                      <a:lnTo>
                        <a:pt x="209550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" name="retrieval/icon-list-filter-3//list-filter-5">
                  <a:extLst xmlns:a="http://schemas.openxmlformats.org/drawingml/2006/main">
                    <a:ext uri="{FF2B5EF4-FFF2-40B4-BE49-F238E27FC236}">
                      <a16:creationId xmlns:a16="http://schemas.microsoft.com/office/drawing/2014/main" id="{47AB5353-DCA9-498D-9FE4-C93C10D4BAE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14300"/>
                      </a:moveTo>
                      <a:lnTo>
                        <a:pt x="17145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6" name="retrieval/icon-list-filter-3//list-filter-6">
                  <a:extLst xmlns:a="http://schemas.openxmlformats.org/drawingml/2006/main">
                    <a:ext uri="{FF2B5EF4-FFF2-40B4-BE49-F238E27FC236}">
                      <a16:creationId xmlns:a16="http://schemas.microsoft.com/office/drawing/2014/main" id="{47E31DCA-F4BF-4ECF-B408-1ED8566B05F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2289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80975"/>
                      </a:moveTo>
                      <a:lnTo>
                        <a:pt x="142875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7" name="retrieval//box-7">
                <a:extLst xmlns:a="http://schemas.openxmlformats.org/drawingml/2006/main">
                  <a:ext uri="{FF2B5EF4-FFF2-40B4-BE49-F238E27FC236}">
                    <a16:creationId xmlns:a16="http://schemas.microsoft.com/office/drawing/2014/main" id="{A767E4DA-5F98-4738-8F8A-204C0921EDB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3375" y="619125"/>
                <a:ext cx="285750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Target sequence x</a:t>
                </a:r>
              </a:p>
            </p:txBody>
          </p:sp>
          <p:sp>
            <p:nvSpPr>
              <p:cNvPr id="8" name="retrieval//axes-8">
                <a:extLst xmlns:a="http://schemas.openxmlformats.org/drawingml/2006/main">
                  <a:ext uri="{FF2B5EF4-FFF2-40B4-BE49-F238E27FC236}">
                    <a16:creationId xmlns:a16="http://schemas.microsoft.com/office/drawing/2014/main" id="{2D32D6AC-FD7A-4C52-ADD8-8E5CBBB44F7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1162050"/>
                <a:ext cx="2686050" cy="981075"/>
              </a:xfrm>
              <a:custGeom xmlns:a="http://schemas.openxmlformats.org/drawingml/2006/main">
                <a:pathLst>
                  <a:path w="2686050" h="981075">
                    <a:moveTo>
                      <a:pt x="0" y="0"/>
                    </a:moveTo>
                    <a:lnTo>
                      <a:pt x="0" y="981075"/>
                    </a:lnTo>
                    <a:lnTo>
                      <a:pt x="2686050" y="98107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478" cap="rnd">
                <a:solidFill>
                  <a:srgbClr val="8D969B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9" name="retrieval//box-9">
                <a:extLst xmlns:a="http://schemas.openxmlformats.org/drawingml/2006/main">
                  <a:ext uri="{FF2B5EF4-FFF2-40B4-BE49-F238E27FC236}">
                    <a16:creationId xmlns:a16="http://schemas.microsoft.com/office/drawing/2014/main" id="{693A55F3-D678-45FA-96CB-7E2D3C62C6C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476500" y="2181225"/>
                <a:ext cx="666750" cy="2000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Time</a:t>
                </a:r>
              </a:p>
            </p:txBody>
          </p:sp>
          <p:sp>
            <p:nvSpPr>
              <p:cNvPr id="10" name="retrieval//box-10">
                <a:extLst xmlns:a="http://schemas.openxmlformats.org/drawingml/2006/main">
                  <a:ext uri="{FF2B5EF4-FFF2-40B4-BE49-F238E27FC236}">
                    <a16:creationId xmlns:a16="http://schemas.microsoft.com/office/drawing/2014/main" id="{AD808181-3D1E-458A-AC4C-601B54773FB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933450"/>
                <a:ext cx="2686050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Value</a:t>
                </a:r>
              </a:p>
            </p:txBody>
          </p:sp>
          <p:sp>
            <p:nvSpPr>
              <p:cNvPr id="11" name="retrieval//series-11">
                <a:extLst xmlns:a="http://schemas.openxmlformats.org/drawingml/2006/main">
                  <a:ext uri="{FF2B5EF4-FFF2-40B4-BE49-F238E27FC236}">
                    <a16:creationId xmlns:a16="http://schemas.microsoft.com/office/drawing/2014/main" id="{5122CE24-5430-492F-9579-03124BEEAC4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7200" y="1392368"/>
                <a:ext cx="2686050" cy="539774"/>
              </a:xfrm>
              <a:custGeom xmlns:a="http://schemas.openxmlformats.org/drawingml/2006/main">
                <a:pathLst>
                  <a:path w="2686050" h="539774">
                    <a:moveTo>
                      <a:pt x="0" y="525109"/>
                    </a:moveTo>
                    <a:lnTo>
                      <a:pt x="43323" y="513581"/>
                    </a:lnTo>
                    <a:lnTo>
                      <a:pt x="86647" y="510773"/>
                    </a:lnTo>
                    <a:lnTo>
                      <a:pt x="129970" y="518801"/>
                    </a:lnTo>
                    <a:lnTo>
                      <a:pt x="173294" y="531555"/>
                    </a:lnTo>
                    <a:lnTo>
                      <a:pt x="216617" y="539283"/>
                    </a:lnTo>
                    <a:lnTo>
                      <a:pt x="259940" y="535856"/>
                    </a:lnTo>
                    <a:lnTo>
                      <a:pt x="303264" y="523162"/>
                    </a:lnTo>
                    <a:lnTo>
                      <a:pt x="346587" y="509163"/>
                    </a:lnTo>
                    <a:lnTo>
                      <a:pt x="389910" y="500954"/>
                    </a:lnTo>
                    <a:lnTo>
                      <a:pt x="433234" y="497912"/>
                    </a:lnTo>
                    <a:lnTo>
                      <a:pt x="476557" y="490130"/>
                    </a:lnTo>
                    <a:lnTo>
                      <a:pt x="519881" y="463539"/>
                    </a:lnTo>
                    <a:lnTo>
                      <a:pt x="563204" y="408479"/>
                    </a:lnTo>
                    <a:lnTo>
                      <a:pt x="606527" y="326110"/>
                    </a:lnTo>
                    <a:lnTo>
                      <a:pt x="649851" y="228759"/>
                    </a:lnTo>
                    <a:lnTo>
                      <a:pt x="693174" y="134439"/>
                    </a:lnTo>
                    <a:lnTo>
                      <a:pt x="736498" y="59462"/>
                    </a:lnTo>
                    <a:lnTo>
                      <a:pt x="779821" y="13628"/>
                    </a:lnTo>
                    <a:lnTo>
                      <a:pt x="823144" y="0"/>
                    </a:lnTo>
                    <a:lnTo>
                      <a:pt x="866468" y="17728"/>
                    </a:lnTo>
                    <a:lnTo>
                      <a:pt x="909791" y="64558"/>
                    </a:lnTo>
                    <a:lnTo>
                      <a:pt x="953115" y="136675"/>
                    </a:lnTo>
                    <a:lnTo>
                      <a:pt x="996438" y="226442"/>
                    </a:lnTo>
                    <a:lnTo>
                      <a:pt x="1039761" y="320993"/>
                    </a:lnTo>
                    <a:lnTo>
                      <a:pt x="1083085" y="404428"/>
                    </a:lnTo>
                    <a:lnTo>
                      <a:pt x="1126408" y="463606"/>
                    </a:lnTo>
                    <a:lnTo>
                      <a:pt x="1169731" y="494219"/>
                    </a:lnTo>
                    <a:lnTo>
                      <a:pt x="1213055" y="502809"/>
                    </a:lnTo>
                    <a:lnTo>
                      <a:pt x="1256378" y="502644"/>
                    </a:lnTo>
                    <a:lnTo>
                      <a:pt x="1299702" y="505629"/>
                    </a:lnTo>
                    <a:lnTo>
                      <a:pt x="1343025" y="515424"/>
                    </a:lnTo>
                    <a:lnTo>
                      <a:pt x="1386348" y="526298"/>
                    </a:lnTo>
                    <a:lnTo>
                      <a:pt x="1429672" y="528306"/>
                    </a:lnTo>
                    <a:lnTo>
                      <a:pt x="1472995" y="514861"/>
                    </a:lnTo>
                    <a:lnTo>
                      <a:pt x="1516319" y="487192"/>
                    </a:lnTo>
                    <a:lnTo>
                      <a:pt x="1559642" y="452652"/>
                    </a:lnTo>
                    <a:lnTo>
                      <a:pt x="1602965" y="418592"/>
                    </a:lnTo>
                    <a:lnTo>
                      <a:pt x="1646289" y="386870"/>
                    </a:lnTo>
                    <a:lnTo>
                      <a:pt x="1689612" y="353500"/>
                    </a:lnTo>
                    <a:lnTo>
                      <a:pt x="1732935" y="313838"/>
                    </a:lnTo>
                    <a:lnTo>
                      <a:pt x="1776259" y="269194"/>
                    </a:lnTo>
                    <a:lnTo>
                      <a:pt x="1819582" y="229384"/>
                    </a:lnTo>
                    <a:lnTo>
                      <a:pt x="1862906" y="208586"/>
                    </a:lnTo>
                    <a:lnTo>
                      <a:pt x="1906229" y="216944"/>
                    </a:lnTo>
                    <a:lnTo>
                      <a:pt x="1949552" y="253729"/>
                    </a:lnTo>
                    <a:lnTo>
                      <a:pt x="1992876" y="307051"/>
                    </a:lnTo>
                    <a:lnTo>
                      <a:pt x="2036199" y="360528"/>
                    </a:lnTo>
                    <a:lnTo>
                      <a:pt x="2079523" y="402394"/>
                    </a:lnTo>
                    <a:lnTo>
                      <a:pt x="2122846" y="430865"/>
                    </a:lnTo>
                    <a:lnTo>
                      <a:pt x="2166169" y="452390"/>
                    </a:lnTo>
                    <a:lnTo>
                      <a:pt x="2209493" y="474607"/>
                    </a:lnTo>
                    <a:lnTo>
                      <a:pt x="2252816" y="499525"/>
                    </a:lnTo>
                    <a:lnTo>
                      <a:pt x="2296140" y="521974"/>
                    </a:lnTo>
                    <a:lnTo>
                      <a:pt x="2339463" y="534189"/>
                    </a:lnTo>
                    <a:lnTo>
                      <a:pt x="2382786" y="532702"/>
                    </a:lnTo>
                    <a:lnTo>
                      <a:pt x="2426110" y="521996"/>
                    </a:lnTo>
                    <a:lnTo>
                      <a:pt x="2469433" y="511993"/>
                    </a:lnTo>
                    <a:lnTo>
                      <a:pt x="2512756" y="511177"/>
                    </a:lnTo>
                    <a:lnTo>
                      <a:pt x="2556080" y="520597"/>
                    </a:lnTo>
                    <a:lnTo>
                      <a:pt x="2599403" y="533311"/>
                    </a:lnTo>
                    <a:lnTo>
                      <a:pt x="2642727" y="539774"/>
                    </a:lnTo>
                    <a:lnTo>
                      <a:pt x="2686050" y="535124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27" name="icon-list-filter-11"/>
              <p:cNvGrpSpPr/>
              <p:nvPr/>
            </p:nvGrpSpPr>
            <p:grpSpPr>
              <ns1:xfrm xmlns:ns1="http://schemas.openxmlformats.org/drawingml/2006/main">
                <ns1:off x="390525" y="2543175"/>
                <ns1:ext cx="323850" cy="323850"/>
                <ns1:chOff x="390525" y="2543175"/>
                <ns1:chExt cx="323850" cy="323850"/>
              </ns1:xfrm>
            </p:grpSpPr>
            <p:sp>
              <p:nvSpPr>
                <p:cNvPr id="12" name="retrieval/icon-list-filter-11//list-filter-12">
                  <a:extLst xmlns:a="http://schemas.openxmlformats.org/drawingml/2006/main">
                    <a:ext uri="{FF2B5EF4-FFF2-40B4-BE49-F238E27FC236}">
                      <a16:creationId xmlns:a16="http://schemas.microsoft.com/office/drawing/2014/main" id="{950C4874-CF82-47A9-8F91-E5B88F807BB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0525" y="254317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47625"/>
                      </a:moveTo>
                      <a:lnTo>
                        <a:pt x="209550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3" name="retrieval/icon-list-filter-11//list-filter-13">
                  <a:extLst xmlns:a="http://schemas.openxmlformats.org/drawingml/2006/main">
                    <a:ext uri="{FF2B5EF4-FFF2-40B4-BE49-F238E27FC236}">
                      <a16:creationId xmlns:a16="http://schemas.microsoft.com/office/drawing/2014/main" id="{BD4468CF-74AE-41BC-82BA-8B62E259C8F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0525" y="254317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14300"/>
                      </a:moveTo>
                      <a:lnTo>
                        <a:pt x="17145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4" name="retrieval/icon-list-filter-11//list-filter-14">
                  <a:extLst xmlns:a="http://schemas.openxmlformats.org/drawingml/2006/main">
                    <a:ext uri="{FF2B5EF4-FFF2-40B4-BE49-F238E27FC236}">
                      <a16:creationId xmlns:a16="http://schemas.microsoft.com/office/drawing/2014/main" id="{913A936A-7A6E-49C5-AE00-2A63C1C212F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0525" y="254317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80975"/>
                      </a:moveTo>
                      <a:lnTo>
                        <a:pt x="142875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5" name="retrieval//box-15">
                <a:extLst xmlns:a="http://schemas.openxmlformats.org/drawingml/2006/main">
                  <a:ext uri="{FF2B5EF4-FFF2-40B4-BE49-F238E27FC236}">
                    <a16:creationId xmlns:a16="http://schemas.microsoft.com/office/drawing/2014/main" id="{40F3CDD8-5369-4C85-A489-4EA0176DD87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8200" y="2514600"/>
                <a:ext cx="233362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Similarity shortlist</a:t>
                </a:r>
              </a:p>
            </p:txBody>
          </p:sp>
          <p:sp>
            <p:nvSpPr>
              <p:cNvPr id="16" name="retrieval//flow-16">
                <a:extLst xmlns:a="http://schemas.openxmlformats.org/drawingml/2006/main">
                  <a:ext uri="{FF2B5EF4-FFF2-40B4-BE49-F238E27FC236}">
                    <a16:creationId xmlns:a16="http://schemas.microsoft.com/office/drawing/2014/main" id="{730E6425-7F3E-4E23-98A8-62FDDE28F03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724025" y="2343150"/>
                <a:ext cx="95" cy="161925"/>
              </a:xfrm>
              <a:custGeom xmlns:a="http://schemas.openxmlformats.org/drawingml/2006/main">
                <a:pathLst>
                  <a:path w="95" h="161925">
                    <a:moveTo>
                      <a:pt x="0" y="0"/>
                    </a:moveTo>
                    <a:lnTo>
                      <a:pt x="0" y="1619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7" name="retrieval//flow-tip-17">
                <a:extLst xmlns:a="http://schemas.openxmlformats.org/drawingml/2006/main">
                  <a:ext uri="{FF2B5EF4-FFF2-40B4-BE49-F238E27FC236}">
                    <a16:creationId xmlns:a16="http://schemas.microsoft.com/office/drawing/2014/main" id="{3909884B-58C8-43AB-9AAC-5FD44A43E96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83068" y="2428875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8" y="76200"/>
                    </a:moveTo>
                    <a:lnTo>
                      <a:pt x="819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8" name="retrieval//box-18">
                <a:extLst xmlns:a="http://schemas.openxmlformats.org/drawingml/2006/main">
                  <a:ext uri="{FF2B5EF4-FFF2-40B4-BE49-F238E27FC236}">
                    <a16:creationId xmlns:a16="http://schemas.microsoft.com/office/drawing/2014/main" id="{6CF8AA1D-ABFB-4ACD-BC63-FC43200AF9D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9575" y="2914650"/>
                <a:ext cx="271462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LLM relevance review</a:t>
                </a:r>
              </a:p>
            </p:txBody>
          </p:sp>
          <p:sp>
            <p:nvSpPr>
              <p:cNvPr id="19" name="retrieval//selected-reference-19">
                <a:extLst xmlns:a="http://schemas.openxmlformats.org/drawingml/2006/main">
                  <a:ext uri="{FF2B5EF4-FFF2-40B4-BE49-F238E27FC236}">
                    <a16:creationId xmlns:a16="http://schemas.microsoft.com/office/drawing/2014/main" id="{4B33B507-DD4F-4AA7-BE5D-05E29EB22F0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81000" y="3333750"/>
                <a:ext cx="2762250" cy="9810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AF0F3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20" name="retrieval//box-20">
                <a:extLst xmlns:a="http://schemas.openxmlformats.org/drawingml/2006/main">
                  <a:ext uri="{FF2B5EF4-FFF2-40B4-BE49-F238E27FC236}">
                    <a16:creationId xmlns:a16="http://schemas.microsoft.com/office/drawing/2014/main" id="{1B70E345-BB6A-401D-9C8E-AE45790359A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5300" y="3390900"/>
                <a:ext cx="2286000" cy="219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1" i="0">
                    <a:solidFill>
                      <a:srgbClr val="3F6C8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1" i="0">
                    <a:solidFill>
                      <a:srgbClr val="3F6C85"/>
                    </a:solidFill>
                    <a:latin typeface="Times New Roman"/>
                    <a:ea typeface="Arial"/>
                    <a:cs typeface="Arial"/>
                  </a:rPr>
                  <a:t>Selected neighbor</a:t>
                </a:r>
              </a:p>
            </p:txBody>
          </p:sp>
          <p:sp>
            <p:nvSpPr>
              <p:cNvPr id="21" name="retrieval//series-21">
                <a:extLst xmlns:a="http://schemas.openxmlformats.org/drawingml/2006/main">
                  <a:ext uri="{FF2B5EF4-FFF2-40B4-BE49-F238E27FC236}">
                    <a16:creationId xmlns:a16="http://schemas.microsoft.com/office/drawing/2014/main" id="{7F76BE51-3FED-4FF9-9F35-4345717F986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14350" y="3870160"/>
                <a:ext cx="1781175" cy="207221"/>
              </a:xfrm>
              <a:custGeom xmlns:a="http://schemas.openxmlformats.org/drawingml/2006/main">
                <a:pathLst>
                  <a:path w="1781175" h="207221">
                    <a:moveTo>
                      <a:pt x="0" y="195986"/>
                    </a:moveTo>
                    <a:lnTo>
                      <a:pt x="28729" y="188387"/>
                    </a:lnTo>
                    <a:lnTo>
                      <a:pt x="57457" y="184424"/>
                    </a:lnTo>
                    <a:lnTo>
                      <a:pt x="86186" y="185167"/>
                    </a:lnTo>
                    <a:lnTo>
                      <a:pt x="114915" y="188477"/>
                    </a:lnTo>
                    <a:lnTo>
                      <a:pt x="143643" y="190746"/>
                    </a:lnTo>
                    <a:lnTo>
                      <a:pt x="172372" y="189682"/>
                    </a:lnTo>
                    <a:lnTo>
                      <a:pt x="201100" y="185987"/>
                    </a:lnTo>
                    <a:lnTo>
                      <a:pt x="229829" y="182617"/>
                    </a:lnTo>
                    <a:lnTo>
                      <a:pt x="258558" y="182119"/>
                    </a:lnTo>
                    <a:lnTo>
                      <a:pt x="287286" y="184017"/>
                    </a:lnTo>
                    <a:lnTo>
                      <a:pt x="316015" y="184228"/>
                    </a:lnTo>
                    <a:lnTo>
                      <a:pt x="344744" y="177056"/>
                    </a:lnTo>
                    <a:lnTo>
                      <a:pt x="373472" y="158515"/>
                    </a:lnTo>
                    <a:lnTo>
                      <a:pt x="402201" y="128817"/>
                    </a:lnTo>
                    <a:lnTo>
                      <a:pt x="430929" y="92524"/>
                    </a:lnTo>
                    <a:lnTo>
                      <a:pt x="459658" y="56461"/>
                    </a:lnTo>
                    <a:lnTo>
                      <a:pt x="488387" y="26881"/>
                    </a:lnTo>
                    <a:lnTo>
                      <a:pt x="517115" y="7619"/>
                    </a:lnTo>
                    <a:lnTo>
                      <a:pt x="545844" y="0"/>
                    </a:lnTo>
                    <a:lnTo>
                      <a:pt x="574573" y="3909"/>
                    </a:lnTo>
                    <a:lnTo>
                      <a:pt x="603301" y="18739"/>
                    </a:lnTo>
                    <a:lnTo>
                      <a:pt x="632030" y="43308"/>
                    </a:lnTo>
                    <a:lnTo>
                      <a:pt x="660758" y="74960"/>
                    </a:lnTo>
                    <a:lnTo>
                      <a:pt x="689487" y="109005"/>
                    </a:lnTo>
                    <a:lnTo>
                      <a:pt x="718216" y="139537"/>
                    </a:lnTo>
                    <a:lnTo>
                      <a:pt x="746944" y="161640"/>
                    </a:lnTo>
                    <a:lnTo>
                      <a:pt x="775673" y="173717"/>
                    </a:lnTo>
                    <a:lnTo>
                      <a:pt x="804402" y="178255"/>
                    </a:lnTo>
                    <a:lnTo>
                      <a:pt x="833130" y="180244"/>
                    </a:lnTo>
                    <a:lnTo>
                      <a:pt x="861859" y="184080"/>
                    </a:lnTo>
                    <a:lnTo>
                      <a:pt x="890588" y="190929"/>
                    </a:lnTo>
                    <a:lnTo>
                      <a:pt x="919316" y="198311"/>
                    </a:lnTo>
                    <a:lnTo>
                      <a:pt x="948045" y="202118"/>
                    </a:lnTo>
                    <a:lnTo>
                      <a:pt x="976773" y="199545"/>
                    </a:lnTo>
                    <a:lnTo>
                      <a:pt x="1005502" y="190834"/>
                    </a:lnTo>
                    <a:lnTo>
                      <a:pt x="1034231" y="178640"/>
                    </a:lnTo>
                    <a:lnTo>
                      <a:pt x="1062959" y="165691"/>
                    </a:lnTo>
                    <a:lnTo>
                      <a:pt x="1091688" y="152689"/>
                    </a:lnTo>
                    <a:lnTo>
                      <a:pt x="1120417" y="138173"/>
                    </a:lnTo>
                    <a:lnTo>
                      <a:pt x="1149145" y="120509"/>
                    </a:lnTo>
                    <a:lnTo>
                      <a:pt x="1177874" y="100416"/>
                    </a:lnTo>
                    <a:lnTo>
                      <a:pt x="1206602" y="81929"/>
                    </a:lnTo>
                    <a:lnTo>
                      <a:pt x="1235331" y="70784"/>
                    </a:lnTo>
                    <a:lnTo>
                      <a:pt x="1264060" y="71162"/>
                    </a:lnTo>
                    <a:lnTo>
                      <a:pt x="1292788" y="83036"/>
                    </a:lnTo>
                    <a:lnTo>
                      <a:pt x="1321517" y="102037"/>
                    </a:lnTo>
                    <a:lnTo>
                      <a:pt x="1350246" y="122001"/>
                    </a:lnTo>
                    <a:lnTo>
                      <a:pt x="1378974" y="138458"/>
                    </a:lnTo>
                    <a:lnTo>
                      <a:pt x="1407703" y="150689"/>
                    </a:lnTo>
                    <a:lnTo>
                      <a:pt x="1436431" y="161059"/>
                    </a:lnTo>
                    <a:lnTo>
                      <a:pt x="1465160" y="172318"/>
                    </a:lnTo>
                    <a:lnTo>
                      <a:pt x="1493889" y="184995"/>
                    </a:lnTo>
                    <a:lnTo>
                      <a:pt x="1522617" y="196825"/>
                    </a:lnTo>
                    <a:lnTo>
                      <a:pt x="1551346" y="204539"/>
                    </a:lnTo>
                    <a:lnTo>
                      <a:pt x="1580075" y="206532"/>
                    </a:lnTo>
                    <a:lnTo>
                      <a:pt x="1608803" y="204300"/>
                    </a:lnTo>
                    <a:lnTo>
                      <a:pt x="1637532" y="201488"/>
                    </a:lnTo>
                    <a:lnTo>
                      <a:pt x="1666260" y="201266"/>
                    </a:lnTo>
                    <a:lnTo>
                      <a:pt x="1694989" y="204030"/>
                    </a:lnTo>
                    <a:lnTo>
                      <a:pt x="1723718" y="207186"/>
                    </a:lnTo>
                    <a:lnTo>
                      <a:pt x="1752446" y="207221"/>
                    </a:lnTo>
                    <a:lnTo>
                      <a:pt x="1781175" y="20248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2" name="retrieval//check-22">
                <a:extLst xmlns:a="http://schemas.openxmlformats.org/drawingml/2006/main">
                  <a:ext uri="{FF2B5EF4-FFF2-40B4-BE49-F238E27FC236}">
                    <a16:creationId xmlns:a16="http://schemas.microsoft.com/office/drawing/2014/main" id="{FC14807F-5E0C-40BF-983C-22A8394A655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638425" y="3857625"/>
                <a:ext cx="142875" cy="95250"/>
              </a:xfrm>
              <a:custGeom xmlns:a="http://schemas.openxmlformats.org/drawingml/2006/main"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765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3" name="retrieval//box-23">
                <a:extLst xmlns:a="http://schemas.openxmlformats.org/drawingml/2006/main">
                  <a:ext uri="{FF2B5EF4-FFF2-40B4-BE49-F238E27FC236}">
                    <a16:creationId xmlns:a16="http://schemas.microsoft.com/office/drawing/2014/main" id="{C7C51081-647E-42D4-90B0-0509534FF11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28625" y="4410075"/>
                <a:ext cx="26860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Reference set R</a:t>
                </a:r>
              </a:p>
            </p:txBody>
          </p:sp>
        </p:grpSp>
        <p:grpSp>
          <p:nvGrpSpPr>
            <p:cNvPr id="128" name="augmentation"/>
            <p:cNvGrpSpPr/>
            <p:nvPr/>
          </p:nvGrpSpPr>
          <p:grpSpPr>
            <ns1:xfrm xmlns:ns1="http://schemas.openxmlformats.org/drawingml/2006/main">
              <ns1:off x="3781425" y="104775"/>
              <ns1:ext cx="5362575" cy="4524375"/>
              <ns1:chOff x="3781425" y="104775"/>
              <ns1:chExt cx="5362575" cy="4524375"/>
            </ns1:xfrm>
          </p:grpSpPr>
          <p:sp>
            <p:nvSpPr>
              <p:cNvPr id="24" name="augmentation//dot-24">
                <a:extLst xmlns:a="http://schemas.openxmlformats.org/drawingml/2006/main">
                  <a:ext uri="{FF2B5EF4-FFF2-40B4-BE49-F238E27FC236}">
                    <a16:creationId xmlns:a16="http://schemas.microsoft.com/office/drawing/2014/main" id="{2A128C9B-C0FD-4079-B491-E653AA34C28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81425" y="152400"/>
                <a:ext cx="247650" cy="2476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836780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25" name="augmentation//box-25">
                <a:extLst xmlns:a="http://schemas.openxmlformats.org/drawingml/2006/main">
                  <a:ext uri="{FF2B5EF4-FFF2-40B4-BE49-F238E27FC236}">
                    <a16:creationId xmlns:a16="http://schemas.microsoft.com/office/drawing/2014/main" id="{30C8B7A6-FEC1-4DCD-804C-04EBCED41F8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81425" y="142875"/>
                <a:ext cx="2476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6" name="augmentation//box-26">
                <a:extLst xmlns:a="http://schemas.openxmlformats.org/drawingml/2006/main">
                  <a:ext uri="{FF2B5EF4-FFF2-40B4-BE49-F238E27FC236}">
                    <a16:creationId xmlns:a16="http://schemas.microsoft.com/office/drawing/2014/main" id="{A15C9855-D9AB-4DB2-8B43-B61DC0A65CF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133850" y="104775"/>
                <a:ext cx="46101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Construct positive views</a:t>
                </a:r>
              </a:p>
            </p:txBody>
          </p:sp>
          <p:grpSp>
            <p:nvGrpSpPr>
              <p:cNvPr id="129" name="icon-sliders-vertical-26"/>
              <p:cNvGrpSpPr/>
              <p:nvPr/>
            </p:nvGrpSpPr>
            <p:grpSpPr>
              <ns1:xfrm xmlns:ns1="http://schemas.openxmlformats.org/drawingml/2006/main">
                <ns1:off x="8410575" y="142875"/>
                <ns1:ext cx="266700" cy="266700"/>
                <ns1:chOff x="8410575" y="142875"/>
                <ns1:chExt cx="266700" cy="266700"/>
              </ns1:xfrm>
            </p:grpSpPr>
            <p:sp>
              <p:nvSpPr>
                <p:cNvPr id="27" name="augmentation/icon-sliders-vertical-26//sliders-vertical-27">
                  <a:extLst xmlns:a="http://schemas.openxmlformats.org/drawingml/2006/main">
                    <a:ext uri="{FF2B5EF4-FFF2-40B4-BE49-F238E27FC236}">
                      <a16:creationId xmlns:a16="http://schemas.microsoft.com/office/drawing/2014/main" id="{39273E3A-1248-401E-80DC-B36529E7375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76200"/>
                      </a:moveTo>
                      <a:lnTo>
                        <a:pt x="133350" y="762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8" name="augmentation/icon-sliders-vertical-26//sliders-vertical-28">
                  <a:extLst xmlns:a="http://schemas.openxmlformats.org/drawingml/2006/main">
                    <a:ext uri="{FF2B5EF4-FFF2-40B4-BE49-F238E27FC236}">
                      <a16:creationId xmlns:a16="http://schemas.microsoft.com/office/drawing/2014/main" id="{89B1C1A4-5B8D-4F74-9E67-036A7F4CB66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200025"/>
                      </a:moveTo>
                      <a:lnTo>
                        <a:pt x="114300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29" name="augmentation/icon-sliders-vertical-26//sliders-vertical-29">
                  <a:extLst xmlns:a="http://schemas.openxmlformats.org/drawingml/2006/main">
                    <a:ext uri="{FF2B5EF4-FFF2-40B4-BE49-F238E27FC236}">
                      <a16:creationId xmlns:a16="http://schemas.microsoft.com/office/drawing/2014/main" id="{A00BE300-8D34-4F38-8932-7D7256EA07D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76200"/>
                      </a:moveTo>
                      <a:lnTo>
                        <a:pt x="114300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0" name="augmentation/icon-sliders-vertical-26//sliders-vertical-30">
                  <a:extLst xmlns:a="http://schemas.openxmlformats.org/drawingml/2006/main">
                    <a:ext uri="{FF2B5EF4-FFF2-40B4-BE49-F238E27FC236}">
                      <a16:creationId xmlns:a16="http://schemas.microsoft.com/office/drawing/2014/main" id="{33019D55-6366-4B1D-9395-02279E8761F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152400"/>
                      </a:moveTo>
                      <a:lnTo>
                        <a:pt x="20002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1" name="augmentation/icon-sliders-vertical-26//sliders-vertical-31">
                  <a:extLst xmlns:a="http://schemas.openxmlformats.org/drawingml/2006/main">
                    <a:ext uri="{FF2B5EF4-FFF2-40B4-BE49-F238E27FC236}">
                      <a16:creationId xmlns:a16="http://schemas.microsoft.com/office/drawing/2014/main" id="{40BAE0EE-1D74-4300-BE3E-6FB7D3C759A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114300"/>
                      </a:moveTo>
                      <a:lnTo>
                        <a:pt x="18097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2" name="augmentation/icon-sliders-vertical-26//sliders-vertical-32">
                  <a:extLst xmlns:a="http://schemas.openxmlformats.org/drawingml/2006/main">
                    <a:ext uri="{FF2B5EF4-FFF2-40B4-BE49-F238E27FC236}">
                      <a16:creationId xmlns:a16="http://schemas.microsoft.com/office/drawing/2014/main" id="{E9627125-00D6-4AAE-B85C-5329C3AB0E3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200025"/>
                      </a:moveTo>
                      <a:lnTo>
                        <a:pt x="18097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3" name="augmentation/icon-sliders-vertical-26//sliders-vertical-33">
                  <a:extLst xmlns:a="http://schemas.openxmlformats.org/drawingml/2006/main">
                    <a:ext uri="{FF2B5EF4-FFF2-40B4-BE49-F238E27FC236}">
                      <a16:creationId xmlns:a16="http://schemas.microsoft.com/office/drawing/2014/main" id="{EFB5E4AC-E7B2-4B2C-AE60-A71ED1CC21F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133350"/>
                      </a:moveTo>
                      <a:lnTo>
                        <a:pt x="6667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4" name="augmentation/icon-sliders-vertical-26//sliders-vertical-34">
                  <a:extLst xmlns:a="http://schemas.openxmlformats.org/drawingml/2006/main">
                    <a:ext uri="{FF2B5EF4-FFF2-40B4-BE49-F238E27FC236}">
                      <a16:creationId xmlns:a16="http://schemas.microsoft.com/office/drawing/2014/main" id="{5C1246D5-623B-48A3-8DD5-3A9368C229A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95250"/>
                      </a:moveTo>
                      <a:lnTo>
                        <a:pt x="4762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5" name="augmentation/icon-sliders-vertical-26//sliders-vertical-35">
                  <a:extLst xmlns:a="http://schemas.openxmlformats.org/drawingml/2006/main">
                    <a:ext uri="{FF2B5EF4-FFF2-40B4-BE49-F238E27FC236}">
                      <a16:creationId xmlns:a16="http://schemas.microsoft.com/office/drawing/2014/main" id="{73D03C8F-4344-40D0-9BCC-F9E1784B2E0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8410575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00025"/>
                      </a:moveTo>
                      <a:lnTo>
                        <a:pt x="4762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36" name="augmentation//box-36">
                <a:extLst xmlns:a="http://schemas.openxmlformats.org/drawingml/2006/main">
                  <a:ext uri="{FF2B5EF4-FFF2-40B4-BE49-F238E27FC236}">
                    <a16:creationId xmlns:a16="http://schemas.microsoft.com/office/drawing/2014/main" id="{CE7E936E-07A6-4E95-8A04-B0697AFEE66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924300" y="619125"/>
                <a:ext cx="461962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Choose a transformation using x and R</a:t>
                </a:r>
              </a:p>
            </p:txBody>
          </p:sp>
          <p:grpSp>
            <p:nvGrpSpPr>
              <p:cNvPr id="130" name="icon-audio-lines-36"/>
              <p:cNvGrpSpPr/>
              <p:nvPr/>
            </p:nvGrpSpPr>
            <p:grpSpPr>
              <ns1:xfrm xmlns:ns1="http://schemas.openxmlformats.org/drawingml/2006/main">
                <ns1:off x="3981450" y="1066800"/>
                <ns1:ext cx="276225" cy="276225"/>
                <ns1:chOff x="3981450" y="1066800"/>
                <ns1:chExt cx="276225" cy="276225"/>
              </ns1:xfrm>
            </p:grpSpPr>
            <p:sp>
              <p:nvSpPr>
                <p:cNvPr id="37" name="augmentation/icon-audio-lines-36//audio-lines-37">
                  <a:extLst xmlns:a="http://schemas.openxmlformats.org/drawingml/2006/main">
                    <a:ext uri="{FF2B5EF4-FFF2-40B4-BE49-F238E27FC236}">
                      <a16:creationId xmlns:a16="http://schemas.microsoft.com/office/drawing/2014/main" id="{1B413EF3-7D96-4A3B-8AAC-1814BD4B70A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95250"/>
                      </a:moveTo>
                      <a:lnTo>
                        <a:pt x="19050" y="1238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8" name="augmentation/icon-audio-lines-36//audio-lines-38">
                  <a:extLst xmlns:a="http://schemas.openxmlformats.org/drawingml/2006/main">
                    <a:ext uri="{FF2B5EF4-FFF2-40B4-BE49-F238E27FC236}">
                      <a16:creationId xmlns:a16="http://schemas.microsoft.com/office/drawing/2014/main" id="{49168C05-E984-464D-8DFB-0E15D452819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57150"/>
                      </a:moveTo>
                      <a:lnTo>
                        <a:pt x="57150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39" name="augmentation/icon-audio-lines-36//audio-lines-39">
                  <a:extLst xmlns:a="http://schemas.openxmlformats.org/drawingml/2006/main">
                    <a:ext uri="{FF2B5EF4-FFF2-40B4-BE49-F238E27FC236}">
                      <a16:creationId xmlns:a16="http://schemas.microsoft.com/office/drawing/2014/main" id="{994ABBA8-41B1-40DA-BFB2-52CF8402035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95250" y="28575"/>
                      </a:moveTo>
                      <a:lnTo>
                        <a:pt x="95250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0" name="augmentation/icon-audio-lines-36//audio-lines-40">
                  <a:extLst xmlns:a="http://schemas.openxmlformats.org/drawingml/2006/main">
                    <a:ext uri="{FF2B5EF4-FFF2-40B4-BE49-F238E27FC236}">
                      <a16:creationId xmlns:a16="http://schemas.microsoft.com/office/drawing/2014/main" id="{38B1B2D9-57EF-4330-BE96-DB7AA8CDF0E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76200"/>
                      </a:moveTo>
                      <a:lnTo>
                        <a:pt x="133350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1" name="augmentation/icon-audio-lines-36//audio-lines-41">
                  <a:extLst xmlns:a="http://schemas.openxmlformats.org/drawingml/2006/main">
                    <a:ext uri="{FF2B5EF4-FFF2-40B4-BE49-F238E27FC236}">
                      <a16:creationId xmlns:a16="http://schemas.microsoft.com/office/drawing/2014/main" id="{2FC09512-1474-40C9-86BF-0A3E1D4D1DC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47625"/>
                      </a:moveTo>
                      <a:lnTo>
                        <a:pt x="1714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2" name="augmentation/icon-audio-lines-36//audio-lines-42">
                  <a:extLst xmlns:a="http://schemas.openxmlformats.org/drawingml/2006/main">
                    <a:ext uri="{FF2B5EF4-FFF2-40B4-BE49-F238E27FC236}">
                      <a16:creationId xmlns:a16="http://schemas.microsoft.com/office/drawing/2014/main" id="{71524677-9906-48A7-BD77-1D7E039439E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39814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209550" y="95250"/>
                      </a:moveTo>
                      <a:lnTo>
                        <a:pt x="209550" y="1238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3" name="augmentation//box-43">
                <a:extLst xmlns:a="http://schemas.openxmlformats.org/drawingml/2006/main">
                  <a:ext uri="{FF2B5EF4-FFF2-40B4-BE49-F238E27FC236}">
                    <a16:creationId xmlns:a16="http://schemas.microsoft.com/office/drawing/2014/main" id="{65B69C90-4B3E-4B54-A179-0333DFDC9C0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33875" y="1057275"/>
                <a:ext cx="11239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Jittering</a:t>
                </a:r>
              </a:p>
            </p:txBody>
          </p:sp>
          <p:grpSp>
            <p:nvGrpSpPr>
              <p:cNvPr id="131" name="icon-crop-43"/>
              <p:cNvGrpSpPr/>
              <p:nvPr/>
            </p:nvGrpSpPr>
            <p:grpSpPr>
              <ns1:xfrm xmlns:ns1="http://schemas.openxmlformats.org/drawingml/2006/main">
                <ns1:off x="5657850" y="1066800"/>
                <ns1:ext cx="276225" cy="276225"/>
                <ns1:chOff x="5657850" y="1066800"/>
                <ns1:chExt cx="276225" cy="276225"/>
              </ns1:xfrm>
            </p:grpSpPr>
            <p:sp>
              <p:nvSpPr>
                <p:cNvPr id="44" name="augmentation/icon-crop-43//crop-44">
                  <a:extLst xmlns:a="http://schemas.openxmlformats.org/drawingml/2006/main">
                    <a:ext uri="{FF2B5EF4-FFF2-40B4-BE49-F238E27FC236}">
                      <a16:creationId xmlns:a16="http://schemas.microsoft.com/office/drawing/2014/main" id="{22AC050D-F4B7-47E2-AE99-1F32A1AA3A1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578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9050"/>
                      </a:moveTo>
                      <a:lnTo>
                        <a:pt x="57150" y="152400"/>
                      </a:lnTo>
                      <a:cubicBezTo>
                        <a:pt x="57150" y="157450"/>
                        <a:pt x="59158" y="162299"/>
                        <a:pt x="62730" y="165870"/>
                      </a:cubicBezTo>
                      <a:cubicBezTo>
                        <a:pt x="66301" y="169442"/>
                        <a:pt x="71150" y="171450"/>
                        <a:pt x="76200" y="171450"/>
                      </a:cubicBezTo>
                      <a:lnTo>
                        <a:pt x="2095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5" name="augmentation/icon-crop-43//crop-45">
                  <a:extLst xmlns:a="http://schemas.openxmlformats.org/drawingml/2006/main">
                    <a:ext uri="{FF2B5EF4-FFF2-40B4-BE49-F238E27FC236}">
                      <a16:creationId xmlns:a16="http://schemas.microsoft.com/office/drawing/2014/main" id="{592263AE-8A41-4B5B-94D8-75243F3D139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5785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209550"/>
                      </a:moveTo>
                      <a:lnTo>
                        <a:pt x="171450" y="76200"/>
                      </a:lnTo>
                      <a:cubicBezTo>
                        <a:pt x="171450" y="71150"/>
                        <a:pt x="169442" y="66301"/>
                        <a:pt x="165870" y="62730"/>
                      </a:cubicBezTo>
                      <a:cubicBezTo>
                        <a:pt x="162299" y="59158"/>
                        <a:pt x="157450" y="57150"/>
                        <a:pt x="152400" y="57150"/>
                      </a:cubicBezTo>
                      <a:lnTo>
                        <a:pt x="19050" y="571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46" name="augmentation//box-46">
                <a:extLst xmlns:a="http://schemas.openxmlformats.org/drawingml/2006/main">
                  <a:ext uri="{FF2B5EF4-FFF2-40B4-BE49-F238E27FC236}">
                    <a16:creationId xmlns:a16="http://schemas.microsoft.com/office/drawing/2014/main" id="{8DFBA93B-AC3D-4DFE-9B93-2024DA92FBA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019800" y="1057275"/>
                <a:ext cx="15144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Time masking</a:t>
                </a:r>
              </a:p>
            </p:txBody>
          </p:sp>
          <p:grpSp>
            <p:nvGrpSpPr>
              <p:cNvPr id="132" name="icon-shuffle-46"/>
              <p:cNvGrpSpPr/>
              <p:nvPr/>
            </p:nvGrpSpPr>
            <p:grpSpPr>
              <ns1:xfrm xmlns:ns1="http://schemas.openxmlformats.org/drawingml/2006/main">
                <ns1:off x="7543800" y="1066800"/>
                <ns1:ext cx="276225" cy="276225"/>
                <ns1:chOff x="7543800" y="1066800"/>
                <ns1:chExt cx="276225" cy="276225"/>
              </ns1:xfrm>
            </p:grpSpPr>
            <p:sp>
              <p:nvSpPr>
                <p:cNvPr id="47" name="augmentation/icon-shuffle-46//shuffle-47">
                  <a:extLst xmlns:a="http://schemas.openxmlformats.org/drawingml/2006/main">
                    <a:ext uri="{FF2B5EF4-FFF2-40B4-BE49-F238E27FC236}">
                      <a16:creationId xmlns:a16="http://schemas.microsoft.com/office/drawing/2014/main" id="{473976AD-D523-49B7-BFA5-639C1812191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4380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133350"/>
                      </a:moveTo>
                      <a:lnTo>
                        <a:pt x="209550" y="171450"/>
                      </a:lnTo>
                      <a:lnTo>
                        <a:pt x="171450" y="2095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8" name="augmentation/icon-shuffle-46//shuffle-48">
                  <a:extLst xmlns:a="http://schemas.openxmlformats.org/drawingml/2006/main">
                    <a:ext uri="{FF2B5EF4-FFF2-40B4-BE49-F238E27FC236}">
                      <a16:creationId xmlns:a16="http://schemas.microsoft.com/office/drawing/2014/main" id="{662452CB-2F90-4070-A3F9-E8509E9EEE5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4380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71450" y="19050"/>
                      </a:moveTo>
                      <a:lnTo>
                        <a:pt x="209550" y="57150"/>
                      </a:lnTo>
                      <a:lnTo>
                        <a:pt x="171450" y="952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49" name="augmentation/icon-shuffle-46//shuffle-49">
                  <a:extLst xmlns:a="http://schemas.openxmlformats.org/drawingml/2006/main">
                    <a:ext uri="{FF2B5EF4-FFF2-40B4-BE49-F238E27FC236}">
                      <a16:creationId xmlns:a16="http://schemas.microsoft.com/office/drawing/2014/main" id="{7326C792-8171-40B8-B1E5-ACA532BBA5C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4380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171450"/>
                      </a:moveTo>
                      <a:lnTo>
                        <a:pt x="37843" y="171450"/>
                      </a:lnTo>
                      <a:cubicBezTo>
                        <a:pt x="50331" y="171535"/>
                        <a:pt x="62095" y="165475"/>
                        <a:pt x="69275" y="155258"/>
                      </a:cubicBezTo>
                      <a:lnTo>
                        <a:pt x="121225" y="73343"/>
                      </a:lnTo>
                      <a:cubicBezTo>
                        <a:pt x="128405" y="63125"/>
                        <a:pt x="140169" y="57065"/>
                        <a:pt x="152657" y="57150"/>
                      </a:cubicBezTo>
                      <a:lnTo>
                        <a:pt x="209550" y="571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0" name="augmentation/icon-shuffle-46//shuffle-50">
                  <a:extLst xmlns:a="http://schemas.openxmlformats.org/drawingml/2006/main">
                    <a:ext uri="{FF2B5EF4-FFF2-40B4-BE49-F238E27FC236}">
                      <a16:creationId xmlns:a16="http://schemas.microsoft.com/office/drawing/2014/main" id="{02E963E9-1EFF-4911-9AE2-EEB26D6F525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4380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57150"/>
                      </a:moveTo>
                      <a:lnTo>
                        <a:pt x="37833" y="57150"/>
                      </a:lnTo>
                      <a:cubicBezTo>
                        <a:pt x="44933" y="57101"/>
                        <a:pt x="51907" y="59037"/>
                        <a:pt x="57966" y="62739"/>
                      </a:cubicBezTo>
                      <a:cubicBezTo>
                        <a:pt x="64024" y="66441"/>
                        <a:pt x="68928" y="71764"/>
                        <a:pt x="72123" y="7810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51" name="augmentation/icon-shuffle-46//shuffle-51">
                  <a:extLst xmlns:a="http://schemas.openxmlformats.org/drawingml/2006/main">
                    <a:ext uri="{FF2B5EF4-FFF2-40B4-BE49-F238E27FC236}">
                      <a16:creationId xmlns:a16="http://schemas.microsoft.com/office/drawing/2014/main" id="{54B03629-F810-4969-B840-84673D5F0D6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7543800" y="1066800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209550" y="171450"/>
                      </a:moveTo>
                      <a:lnTo>
                        <a:pt x="152009" y="171450"/>
                      </a:lnTo>
                      <a:cubicBezTo>
                        <a:pt x="139344" y="171321"/>
                        <a:pt x="127543" y="164884"/>
                        <a:pt x="120577" y="154305"/>
                      </a:cubicBezTo>
                      <a:lnTo>
                        <a:pt x="117158" y="150019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B76C4D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52" name="augmentation//box-52">
                <a:extLst xmlns:a="http://schemas.openxmlformats.org/drawingml/2006/main">
                  <a:ext uri="{FF2B5EF4-FFF2-40B4-BE49-F238E27FC236}">
                    <a16:creationId xmlns:a16="http://schemas.microsoft.com/office/drawing/2014/main" id="{01701E14-0A0B-46D8-B35D-4DD7610209A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905750" y="1057275"/>
                <a:ext cx="12382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Permutation</a:t>
                </a:r>
              </a:p>
            </p:txBody>
          </p:sp>
          <p:sp>
            <p:nvSpPr>
              <p:cNvPr id="53" name="augmentation//box-53">
                <a:extLst xmlns:a="http://schemas.openxmlformats.org/drawingml/2006/main">
                  <a:ext uri="{FF2B5EF4-FFF2-40B4-BE49-F238E27FC236}">
                    <a16:creationId xmlns:a16="http://schemas.microsoft.com/office/drawing/2014/main" id="{F2789F0D-2717-4F9E-AA02-39C3D7A0A85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924300" y="1543050"/>
                <a:ext cx="40005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Example candidates</a:t>
                </a:r>
              </a:p>
            </p:txBody>
          </p:sp>
          <p:sp>
            <p:nvSpPr>
              <p:cNvPr id="54" name="augmentation//candidate-positive-54">
                <a:extLst xmlns:a="http://schemas.openxmlformats.org/drawingml/2006/main">
                  <a:ext uri="{FF2B5EF4-FFF2-40B4-BE49-F238E27FC236}">
                    <a16:creationId xmlns:a16="http://schemas.microsoft.com/office/drawing/2014/main" id="{09830195-880F-4983-A72C-FA36E7CA06D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886200" y="1933575"/>
                <a:ext cx="4562475" cy="10572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9F2EE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55" name="augmentation//box-55">
                <a:extLst xmlns:a="http://schemas.openxmlformats.org/drawingml/2006/main">
                  <a:ext uri="{FF2B5EF4-FFF2-40B4-BE49-F238E27FC236}">
                    <a16:creationId xmlns:a16="http://schemas.microsoft.com/office/drawing/2014/main" id="{4AF32023-32FA-4414-95D3-1D1B124504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19550" y="2076450"/>
                <a:ext cx="2857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328372"/>
                    </a:solidFill>
                    <a:latin typeface="Times New Roman"/>
                    <a:ea typeface="Arial"/>
                    <a:cs typeface="Arial"/>
                  </a:rPr>
                  <a:t>A</a:t>
                </a:r>
              </a:p>
            </p:txBody>
          </p:sp>
          <p:sp>
            <p:nvSpPr>
              <p:cNvPr id="56" name="augmentation//box-56">
                <a:extLst xmlns:a="http://schemas.openxmlformats.org/drawingml/2006/main">
                  <a:ext uri="{FF2B5EF4-FFF2-40B4-BE49-F238E27FC236}">
                    <a16:creationId xmlns:a16="http://schemas.microsoft.com/office/drawing/2014/main" id="{C44E461A-F7AC-4A16-8CBE-CAAD399AB75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62450" y="2000250"/>
                <a:ext cx="209550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Small jitter</a:t>
                </a:r>
              </a:p>
            </p:txBody>
          </p:sp>
          <p:sp>
            <p:nvSpPr>
              <p:cNvPr id="57" name="augmentation//series-57">
                <a:extLst xmlns:a="http://schemas.openxmlformats.org/drawingml/2006/main">
                  <a:ext uri="{FF2B5EF4-FFF2-40B4-BE49-F238E27FC236}">
                    <a16:creationId xmlns:a16="http://schemas.microsoft.com/office/drawing/2014/main" id="{EF5351A0-BF6F-4043-B61C-4BEC784FFBE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62450" y="2473525"/>
                <a:ext cx="2533650" cy="282685"/>
              </a:xfrm>
              <a:custGeom xmlns:a="http://schemas.openxmlformats.org/drawingml/2006/main">
                <a:pathLst>
                  <a:path w="2533650" h="282685">
                    <a:moveTo>
                      <a:pt x="0" y="264912"/>
                    </a:moveTo>
                    <a:lnTo>
                      <a:pt x="40865" y="248627"/>
                    </a:lnTo>
                    <a:lnTo>
                      <a:pt x="81731" y="268745"/>
                    </a:lnTo>
                    <a:lnTo>
                      <a:pt x="122596" y="261642"/>
                    </a:lnTo>
                    <a:lnTo>
                      <a:pt x="163461" y="257459"/>
                    </a:lnTo>
                    <a:lnTo>
                      <a:pt x="204327" y="282685"/>
                    </a:lnTo>
                    <a:lnTo>
                      <a:pt x="245192" y="269713"/>
                    </a:lnTo>
                    <a:lnTo>
                      <a:pt x="286057" y="253494"/>
                    </a:lnTo>
                    <a:lnTo>
                      <a:pt x="326923" y="268162"/>
                    </a:lnTo>
                    <a:lnTo>
                      <a:pt x="367788" y="252562"/>
                    </a:lnTo>
                    <a:lnTo>
                      <a:pt x="408653" y="241350"/>
                    </a:lnTo>
                    <a:lnTo>
                      <a:pt x="449519" y="259016"/>
                    </a:lnTo>
                    <a:lnTo>
                      <a:pt x="490384" y="234192"/>
                    </a:lnTo>
                    <a:lnTo>
                      <a:pt x="531249" y="198051"/>
                    </a:lnTo>
                    <a:lnTo>
                      <a:pt x="572115" y="179487"/>
                    </a:lnTo>
                    <a:lnTo>
                      <a:pt x="612980" y="120013"/>
                    </a:lnTo>
                    <a:lnTo>
                      <a:pt x="653845" y="65140"/>
                    </a:lnTo>
                    <a:lnTo>
                      <a:pt x="694710" y="50134"/>
                    </a:lnTo>
                    <a:lnTo>
                      <a:pt x="735576" y="15373"/>
                    </a:lnTo>
                    <a:lnTo>
                      <a:pt x="776441" y="0"/>
                    </a:lnTo>
                    <a:lnTo>
                      <a:pt x="817306" y="29959"/>
                    </a:lnTo>
                    <a:lnTo>
                      <a:pt x="858172" y="39890"/>
                    </a:lnTo>
                    <a:lnTo>
                      <a:pt x="899037" y="66471"/>
                    </a:lnTo>
                    <a:lnTo>
                      <a:pt x="939902" y="131359"/>
                    </a:lnTo>
                    <a:lnTo>
                      <a:pt x="980768" y="164166"/>
                    </a:lnTo>
                    <a:lnTo>
                      <a:pt x="1021633" y="196575"/>
                    </a:lnTo>
                    <a:lnTo>
                      <a:pt x="1062498" y="246565"/>
                    </a:lnTo>
                    <a:lnTo>
                      <a:pt x="1103364" y="248050"/>
                    </a:lnTo>
                    <a:lnTo>
                      <a:pt x="1144229" y="244463"/>
                    </a:lnTo>
                    <a:lnTo>
                      <a:pt x="1185094" y="265591"/>
                    </a:lnTo>
                    <a:lnTo>
                      <a:pt x="1225960" y="253384"/>
                    </a:lnTo>
                    <a:lnTo>
                      <a:pt x="1266825" y="250719"/>
                    </a:lnTo>
                    <a:lnTo>
                      <a:pt x="1307690" y="277145"/>
                    </a:lnTo>
                    <a:lnTo>
                      <a:pt x="1348556" y="264187"/>
                    </a:lnTo>
                    <a:lnTo>
                      <a:pt x="1389421" y="250581"/>
                    </a:lnTo>
                    <a:lnTo>
                      <a:pt x="1430286" y="258230"/>
                    </a:lnTo>
                    <a:lnTo>
                      <a:pt x="1471152" y="227257"/>
                    </a:lnTo>
                    <a:lnTo>
                      <a:pt x="1512017" y="203986"/>
                    </a:lnTo>
                    <a:lnTo>
                      <a:pt x="1552882" y="209596"/>
                    </a:lnTo>
                    <a:lnTo>
                      <a:pt x="1593748" y="178922"/>
                    </a:lnTo>
                    <a:lnTo>
                      <a:pt x="1634613" y="153275"/>
                    </a:lnTo>
                    <a:lnTo>
                      <a:pt x="1675478" y="152534"/>
                    </a:lnTo>
                    <a:lnTo>
                      <a:pt x="1716344" y="118468"/>
                    </a:lnTo>
                    <a:lnTo>
                      <a:pt x="1757209" y="102324"/>
                    </a:lnTo>
                    <a:lnTo>
                      <a:pt x="1798074" y="127228"/>
                    </a:lnTo>
                    <a:lnTo>
                      <a:pt x="1838940" y="130084"/>
                    </a:lnTo>
                    <a:lnTo>
                      <a:pt x="1879805" y="150268"/>
                    </a:lnTo>
                    <a:lnTo>
                      <a:pt x="1920670" y="196984"/>
                    </a:lnTo>
                    <a:lnTo>
                      <a:pt x="1961535" y="202050"/>
                    </a:lnTo>
                    <a:lnTo>
                      <a:pt x="2002401" y="210520"/>
                    </a:lnTo>
                    <a:lnTo>
                      <a:pt x="2043266" y="241629"/>
                    </a:lnTo>
                    <a:lnTo>
                      <a:pt x="2084131" y="236905"/>
                    </a:lnTo>
                    <a:lnTo>
                      <a:pt x="2124997" y="244001"/>
                    </a:lnTo>
                    <a:lnTo>
                      <a:pt x="2165862" y="275456"/>
                    </a:lnTo>
                    <a:lnTo>
                      <a:pt x="2206727" y="265629"/>
                    </a:lnTo>
                    <a:lnTo>
                      <a:pt x="2247593" y="260258"/>
                    </a:lnTo>
                    <a:lnTo>
                      <a:pt x="2288458" y="275512"/>
                    </a:lnTo>
                    <a:lnTo>
                      <a:pt x="2329323" y="254656"/>
                    </a:lnTo>
                    <a:lnTo>
                      <a:pt x="2370189" y="249965"/>
                    </a:lnTo>
                    <a:lnTo>
                      <a:pt x="2411054" y="274875"/>
                    </a:lnTo>
                    <a:lnTo>
                      <a:pt x="2451919" y="264808"/>
                    </a:lnTo>
                    <a:lnTo>
                      <a:pt x="2492785" y="264004"/>
                    </a:lnTo>
                    <a:lnTo>
                      <a:pt x="2533650" y="28196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58" name="augmentation//box-58">
                <a:extLst xmlns:a="http://schemas.openxmlformats.org/drawingml/2006/main">
                  <a:ext uri="{FF2B5EF4-FFF2-40B4-BE49-F238E27FC236}">
                    <a16:creationId xmlns:a16="http://schemas.microsoft.com/office/drawing/2014/main" id="{914489DB-3424-4413-B462-B8D9C9FE004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77075" y="2343150"/>
                <a:ext cx="12382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Peak order</a:t>
                </a:r>
              </a:p>
              <a:p xmlns:a="http://schemas.openxmlformats.org/drawingml/2006/main">
                <a: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retained</a:t>
                </a:r>
              </a:p>
            </p:txBody>
          </p:sp>
          <p:sp>
            <p:nvSpPr>
              <p:cNvPr id="59" name="augmentation//candidate-reject-59">
                <a:extLst xmlns:a="http://schemas.openxmlformats.org/drawingml/2006/main">
                  <a:ext uri="{FF2B5EF4-FFF2-40B4-BE49-F238E27FC236}">
                    <a16:creationId xmlns:a16="http://schemas.microsoft.com/office/drawing/2014/main" id="{FEE724AE-D991-4F9A-AC5C-4F4326F2F3B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886200" y="3228975"/>
                <a:ext cx="4562475" cy="10572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7EDE7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60" name="augmentation//box-60">
                <a:extLst xmlns:a="http://schemas.openxmlformats.org/drawingml/2006/main">
                  <a:ext uri="{FF2B5EF4-FFF2-40B4-BE49-F238E27FC236}">
                    <a16:creationId xmlns:a16="http://schemas.microsoft.com/office/drawing/2014/main" id="{A7603846-FDCE-4284-9E96-EB44D08D74A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19550" y="3371850"/>
                <a:ext cx="2857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B76C4D"/>
                    </a:solidFill>
                    <a:latin typeface="Times New Roman"/>
                    <a:ea typeface="Arial"/>
                    <a:cs typeface="Arial"/>
                  </a:rPr>
                  <a:t>B</a:t>
                </a:r>
              </a:p>
            </p:txBody>
          </p:sp>
          <p:sp>
            <p:nvSpPr>
              <p:cNvPr id="61" name="augmentation//box-61">
                <a:extLst xmlns:a="http://schemas.openxmlformats.org/drawingml/2006/main">
                  <a:ext uri="{FF2B5EF4-FFF2-40B4-BE49-F238E27FC236}">
                    <a16:creationId xmlns:a16="http://schemas.microsoft.com/office/drawing/2014/main" id="{8D0673B4-B331-4012-B610-2B05A6B47FB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62450" y="3286125"/>
                <a:ext cx="261937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Block permutation</a:t>
                </a:r>
              </a:p>
            </p:txBody>
          </p:sp>
          <p:sp>
            <p:nvSpPr>
              <p:cNvPr id="62" name="augmentation//series-62">
                <a:extLst xmlns:a="http://schemas.openxmlformats.org/drawingml/2006/main">
                  <a:ext uri="{FF2B5EF4-FFF2-40B4-BE49-F238E27FC236}">
                    <a16:creationId xmlns:a16="http://schemas.microsoft.com/office/drawing/2014/main" id="{45CC6AEF-25E6-40A9-8D94-39944195AFD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62450" y="3759880"/>
                <a:ext cx="2533650" cy="262026"/>
              </a:xfrm>
              <a:custGeom xmlns:a="http://schemas.openxmlformats.org/drawingml/2006/main">
                <a:pathLst>
                  <a:path w="2533650" h="262026">
                    <a:moveTo>
                      <a:pt x="0" y="255485"/>
                    </a:moveTo>
                    <a:lnTo>
                      <a:pt x="40865" y="256459"/>
                    </a:lnTo>
                    <a:lnTo>
                      <a:pt x="81731" y="249933"/>
                    </a:lnTo>
                    <a:lnTo>
                      <a:pt x="122596" y="236501"/>
                    </a:lnTo>
                    <a:lnTo>
                      <a:pt x="163461" y="219734"/>
                    </a:lnTo>
                    <a:lnTo>
                      <a:pt x="204327" y="203200"/>
                    </a:lnTo>
                    <a:lnTo>
                      <a:pt x="245192" y="187801"/>
                    </a:lnTo>
                    <a:lnTo>
                      <a:pt x="286057" y="171602"/>
                    </a:lnTo>
                    <a:lnTo>
                      <a:pt x="326923" y="152349"/>
                    </a:lnTo>
                    <a:lnTo>
                      <a:pt x="367788" y="130677"/>
                    </a:lnTo>
                    <a:lnTo>
                      <a:pt x="408653" y="111351"/>
                    </a:lnTo>
                    <a:lnTo>
                      <a:pt x="449519" y="101255"/>
                    </a:lnTo>
                    <a:lnTo>
                      <a:pt x="490384" y="105313"/>
                    </a:lnTo>
                    <a:lnTo>
                      <a:pt x="531249" y="123170"/>
                    </a:lnTo>
                    <a:lnTo>
                      <a:pt x="572115" y="149054"/>
                    </a:lnTo>
                    <a:lnTo>
                      <a:pt x="612980" y="175013"/>
                    </a:lnTo>
                    <a:lnTo>
                      <a:pt x="653845" y="195337"/>
                    </a:lnTo>
                    <a:lnTo>
                      <a:pt x="694710" y="209158"/>
                    </a:lnTo>
                    <a:lnTo>
                      <a:pt x="735576" y="219607"/>
                    </a:lnTo>
                    <a:lnTo>
                      <a:pt x="776441" y="230392"/>
                    </a:lnTo>
                    <a:lnTo>
                      <a:pt x="817306" y="242488"/>
                    </a:lnTo>
                    <a:lnTo>
                      <a:pt x="858172" y="253385"/>
                    </a:lnTo>
                    <a:lnTo>
                      <a:pt x="899037" y="259315"/>
                    </a:lnTo>
                    <a:lnTo>
                      <a:pt x="939902" y="258593"/>
                    </a:lnTo>
                    <a:lnTo>
                      <a:pt x="980768" y="253396"/>
                    </a:lnTo>
                    <a:lnTo>
                      <a:pt x="1021633" y="248540"/>
                    </a:lnTo>
                    <a:lnTo>
                      <a:pt x="1062498" y="248144"/>
                    </a:lnTo>
                    <a:lnTo>
                      <a:pt x="1103364" y="252717"/>
                    </a:lnTo>
                    <a:lnTo>
                      <a:pt x="1144229" y="258889"/>
                    </a:lnTo>
                    <a:lnTo>
                      <a:pt x="1185094" y="262026"/>
                    </a:lnTo>
                    <a:lnTo>
                      <a:pt x="1225960" y="259769"/>
                    </a:lnTo>
                    <a:lnTo>
                      <a:pt x="1266825" y="254907"/>
                    </a:lnTo>
                    <a:lnTo>
                      <a:pt x="1307690" y="249311"/>
                    </a:lnTo>
                    <a:lnTo>
                      <a:pt x="1348556" y="247948"/>
                    </a:lnTo>
                    <a:lnTo>
                      <a:pt x="1389421" y="251845"/>
                    </a:lnTo>
                    <a:lnTo>
                      <a:pt x="1430286" y="258037"/>
                    </a:lnTo>
                    <a:lnTo>
                      <a:pt x="1471152" y="261788"/>
                    </a:lnTo>
                    <a:lnTo>
                      <a:pt x="1512017" y="260124"/>
                    </a:lnTo>
                    <a:lnTo>
                      <a:pt x="1552882" y="253962"/>
                    </a:lnTo>
                    <a:lnTo>
                      <a:pt x="1593748" y="247167"/>
                    </a:lnTo>
                    <a:lnTo>
                      <a:pt x="1634613" y="243181"/>
                    </a:lnTo>
                    <a:lnTo>
                      <a:pt x="1675478" y="241705"/>
                    </a:lnTo>
                    <a:lnTo>
                      <a:pt x="1716344" y="237927"/>
                    </a:lnTo>
                    <a:lnTo>
                      <a:pt x="1757209" y="225019"/>
                    </a:lnTo>
                    <a:lnTo>
                      <a:pt x="1798074" y="198291"/>
                    </a:lnTo>
                    <a:lnTo>
                      <a:pt x="1838940" y="158306"/>
                    </a:lnTo>
                    <a:lnTo>
                      <a:pt x="1879805" y="111048"/>
                    </a:lnTo>
                    <a:lnTo>
                      <a:pt x="1920670" y="65262"/>
                    </a:lnTo>
                    <a:lnTo>
                      <a:pt x="1961535" y="28865"/>
                    </a:lnTo>
                    <a:lnTo>
                      <a:pt x="2002401" y="6616"/>
                    </a:lnTo>
                    <a:lnTo>
                      <a:pt x="2043266" y="0"/>
                    </a:lnTo>
                    <a:lnTo>
                      <a:pt x="2084131" y="8606"/>
                    </a:lnTo>
                    <a:lnTo>
                      <a:pt x="2124997" y="31339"/>
                    </a:lnTo>
                    <a:lnTo>
                      <a:pt x="2165862" y="66347"/>
                    </a:lnTo>
                    <a:lnTo>
                      <a:pt x="2206727" y="109923"/>
                    </a:lnTo>
                    <a:lnTo>
                      <a:pt x="2247593" y="155822"/>
                    </a:lnTo>
                    <a:lnTo>
                      <a:pt x="2288458" y="196324"/>
                    </a:lnTo>
                    <a:lnTo>
                      <a:pt x="2329323" y="225051"/>
                    </a:lnTo>
                    <a:lnTo>
                      <a:pt x="2370189" y="239912"/>
                    </a:lnTo>
                    <a:lnTo>
                      <a:pt x="2411054" y="244082"/>
                    </a:lnTo>
                    <a:lnTo>
                      <a:pt x="2451919" y="244002"/>
                    </a:lnTo>
                    <a:lnTo>
                      <a:pt x="2492785" y="245451"/>
                    </a:lnTo>
                    <a:lnTo>
                      <a:pt x="2533650" y="25020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24272A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63" name="augmentation//box-63">
                <a:extLst xmlns:a="http://schemas.openxmlformats.org/drawingml/2006/main">
                  <a:ext uri="{FF2B5EF4-FFF2-40B4-BE49-F238E27FC236}">
                    <a16:creationId xmlns:a16="http://schemas.microsoft.com/office/drawing/2014/main" id="{516D59EF-A711-4B14-B11F-79FE91C1BD8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7077075" y="3638550"/>
                <a:ext cx="12382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Peak order</a:t>
                </a:r>
              </a:p>
              <a:p xmlns:a="http://schemas.openxmlformats.org/drawingml/2006/main">
                <a:pPr algn="l">
                  <a:defRPr sz="127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changed</a:t>
                </a:r>
              </a:p>
            </p:txBody>
          </p:sp>
          <p:sp>
            <p:nvSpPr>
              <p:cNvPr id="64" name="augmentation//interval-bracket-64">
                <a:extLst xmlns:a="http://schemas.openxmlformats.org/drawingml/2006/main">
                  <a:ext uri="{FF2B5EF4-FFF2-40B4-BE49-F238E27FC236}">
                    <a16:creationId xmlns:a16="http://schemas.microsoft.com/office/drawing/2014/main" id="{BE6294E5-352F-4FFF-984A-12765A15C1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62450" y="4305300"/>
                <a:ext cx="2533650" cy="47625"/>
              </a:xfrm>
              <a:custGeom xmlns:a="http://schemas.openxmlformats.org/drawingml/2006/main">
                <a:pathLst>
                  <a:path w="2533650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2533650" y="47625"/>
                    </a:lnTo>
                    <a:lnTo>
                      <a:pt x="25336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626A6F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65" name="augmentation//box-65">
                <a:extLst xmlns:a="http://schemas.openxmlformats.org/drawingml/2006/main">
                  <a:ext uri="{FF2B5EF4-FFF2-40B4-BE49-F238E27FC236}">
                    <a16:creationId xmlns:a16="http://schemas.microsoft.com/office/drawing/2014/main" id="{75C02991-C866-48FB-AD12-C650F292835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05375" y="4419600"/>
                <a:ext cx="1714500" cy="209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Same time axis</a:t>
                </a:r>
              </a:p>
            </p:txBody>
          </p:sp>
        </p:grpSp>
        <p:grpSp>
          <p:nvGrpSpPr>
            <p:cNvPr id="133" name="review"/>
            <p:cNvGrpSpPr/>
            <p:nvPr/>
          </p:nvGrpSpPr>
          <p:grpSpPr>
            <ns1:xfrm xmlns:ns1="http://schemas.openxmlformats.org/drawingml/2006/main">
              <ns1:off x="9020175" y="104775"/>
              <ns1:ext cx="4000500" cy="4057650"/>
              <ns1:chOff x="9020175" y="104775"/>
              <ns1:chExt cx="4000500" cy="4057650"/>
            </ns1:xfrm>
          </p:grpSpPr>
          <p:sp>
            <p:nvSpPr>
              <p:cNvPr id="66" name="review//dot-66">
                <a:extLst xmlns:a="http://schemas.openxmlformats.org/drawingml/2006/main">
                  <a:ext uri="{FF2B5EF4-FFF2-40B4-BE49-F238E27FC236}">
                    <a16:creationId xmlns:a16="http://schemas.microsoft.com/office/drawing/2014/main" id="{D744788C-C975-484E-A610-95AB2166265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20175" y="152400"/>
                <a:ext cx="247650" cy="2476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28372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67" name="review//box-67">
                <a:extLst xmlns:a="http://schemas.openxmlformats.org/drawingml/2006/main">
                  <a:ext uri="{FF2B5EF4-FFF2-40B4-BE49-F238E27FC236}">
                    <a16:creationId xmlns:a16="http://schemas.microsoft.com/office/drawing/2014/main" id="{A0651311-3874-49E5-85AC-31BEA9C34BC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20175" y="142875"/>
                <a:ext cx="2476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275" b="1" i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68" name="review//box-68">
                <a:extLst xmlns:a="http://schemas.openxmlformats.org/drawingml/2006/main">
                  <a:ext uri="{FF2B5EF4-FFF2-40B4-BE49-F238E27FC236}">
                    <a16:creationId xmlns:a16="http://schemas.microsoft.com/office/drawing/2014/main" id="{BAAEB5BD-BB17-4CF0-B1F0-723E2906909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372600" y="104775"/>
                <a:ext cx="36480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Review each view</a:t>
                </a:r>
              </a:p>
            </p:txBody>
          </p:sp>
          <p:grpSp>
            <p:nvGrpSpPr>
              <p:cNvPr id="134" name="icon-file-check-2-68"/>
              <p:cNvGrpSpPr/>
              <p:nvPr/>
            </p:nvGrpSpPr>
            <p:grpSpPr>
              <ns1:xfrm xmlns:ns1="http://schemas.openxmlformats.org/drawingml/2006/main">
                <ns1:off x="12687300" y="142875"/>
                <ns1:ext cx="266700" cy="266700"/>
                <ns1:chOff x="12687300" y="142875"/>
                <ns1:chExt cx="266700" cy="266700"/>
              </ns1:xfrm>
            </p:grpSpPr>
            <p:sp>
              <p:nvSpPr>
                <p:cNvPr id="69" name="review/icon-file-check-2-68//file-check-2-69">
                  <a:extLst xmlns:a="http://schemas.openxmlformats.org/drawingml/2006/main">
                    <a:ext uri="{FF2B5EF4-FFF2-40B4-BE49-F238E27FC236}">
                      <a16:creationId xmlns:a16="http://schemas.microsoft.com/office/drawing/2014/main" id="{9482AA34-A1DC-40DD-A258-27960B8BEB4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2687300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00013" y="209550"/>
                      </a:moveTo>
                      <a:lnTo>
                        <a:pt x="57150" y="209550"/>
                      </a:lnTo>
                      <a:cubicBezTo>
                        <a:pt x="52100" y="209550"/>
                        <a:pt x="47251" y="207542"/>
                        <a:pt x="43680" y="203970"/>
                      </a:cubicBezTo>
                      <a:cubicBezTo>
                        <a:pt x="40108" y="200399"/>
                        <a:pt x="38100" y="195550"/>
                        <a:pt x="38100" y="190500"/>
                      </a:cubicBezTo>
                      <a:lnTo>
                        <a:pt x="38100" y="38100"/>
                      </a:lnTo>
                      <a:cubicBezTo>
                        <a:pt x="38100" y="33050"/>
                        <a:pt x="40108" y="28201"/>
                        <a:pt x="43680" y="24630"/>
                      </a:cubicBezTo>
                      <a:cubicBezTo>
                        <a:pt x="47251" y="21058"/>
                        <a:pt x="52100" y="19050"/>
                        <a:pt x="57150" y="19050"/>
                      </a:cubicBezTo>
                      <a:lnTo>
                        <a:pt x="133350" y="19050"/>
                      </a:lnTo>
                      <a:cubicBezTo>
                        <a:pt x="139444" y="19035"/>
                        <a:pt x="145298" y="21458"/>
                        <a:pt x="149600" y="25775"/>
                      </a:cubicBezTo>
                      <a:lnTo>
                        <a:pt x="183775" y="59950"/>
                      </a:lnTo>
                      <a:cubicBezTo>
                        <a:pt x="188092" y="64252"/>
                        <a:pt x="190515" y="70106"/>
                        <a:pt x="190500" y="76200"/>
                      </a:cubicBezTo>
                      <a:lnTo>
                        <a:pt x="190500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0" name="review/icon-file-check-2-68//file-check-2-70">
                  <a:extLst xmlns:a="http://schemas.openxmlformats.org/drawingml/2006/main">
                    <a:ext uri="{FF2B5EF4-FFF2-40B4-BE49-F238E27FC236}">
                      <a16:creationId xmlns:a16="http://schemas.microsoft.com/office/drawing/2014/main" id="{845B0890-E9F3-4280-9510-23464B7F442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2687300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9050"/>
                      </a:moveTo>
                      <a:lnTo>
                        <a:pt x="133350" y="66675"/>
                      </a:lnTo>
                      <a:cubicBezTo>
                        <a:pt x="133350" y="69200"/>
                        <a:pt x="134354" y="71625"/>
                        <a:pt x="136140" y="73410"/>
                      </a:cubicBezTo>
                      <a:cubicBezTo>
                        <a:pt x="137925" y="75196"/>
                        <a:pt x="140350" y="76200"/>
                        <a:pt x="142875" y="76200"/>
                      </a:cubicBezTo>
                      <a:lnTo>
                        <a:pt x="190500" y="762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1" name="review/icon-file-check-2-68//file-check-2-71">
                  <a:extLst xmlns:a="http://schemas.openxmlformats.org/drawingml/2006/main">
                    <a:ext uri="{FF2B5EF4-FFF2-40B4-BE49-F238E27FC236}">
                      <a16:creationId xmlns:a16="http://schemas.microsoft.com/office/drawing/2014/main" id="{9AADCD58-9A0B-49A3-8CBF-28C559127B3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2687300" y="142875"/>
                  <a:ext cx="266700" cy="26670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190500"/>
                      </a:moveTo>
                      <a:lnTo>
                        <a:pt x="152400" y="209550"/>
                      </a:lnTo>
                      <a:lnTo>
                        <a:pt x="19050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grpSp>
            <p:nvGrpSpPr>
              <p:cNvPr id="135" name="icon-scan-eye-71"/>
              <p:cNvGrpSpPr/>
              <p:nvPr/>
            </p:nvGrpSpPr>
            <p:grpSpPr>
              <ns1:xfrm xmlns:ns1="http://schemas.openxmlformats.org/drawingml/2006/main">
                <ns1:off x="9220200" y="762000"/>
                <ns1:ext cx="323850" cy="323850"/>
                <ns1:chOff x="9220200" y="762000"/>
                <ns1:chExt cx="323850" cy="323850"/>
              </ns1:xfrm>
            </p:grpSpPr>
            <p:sp>
              <p:nvSpPr>
                <p:cNvPr id="72" name="review/icon-scan-eye-71//scan-eye-72">
                  <a:extLst xmlns:a="http://schemas.openxmlformats.org/drawingml/2006/main">
                    <a:ext uri="{FF2B5EF4-FFF2-40B4-BE49-F238E27FC236}">
                      <a16:creationId xmlns:a16="http://schemas.microsoft.com/office/drawing/2014/main" id="{FD193AEA-500C-457F-B81F-4758DCA6F6A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66675"/>
                      </a:moveTo>
                      <a:lnTo>
                        <a:pt x="28575" y="47625"/>
                      </a:lnTo>
                      <a:cubicBezTo>
                        <a:pt x="28575" y="42575"/>
                        <a:pt x="30583" y="37726"/>
                        <a:pt x="34155" y="34155"/>
                      </a:cubicBezTo>
                      <a:cubicBezTo>
                        <a:pt x="37726" y="30583"/>
                        <a:pt x="42575" y="28575"/>
                        <a:pt x="47625" y="28575"/>
                      </a:cubicBezTo>
                      <a:lnTo>
                        <a:pt x="6667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3" name="review/icon-scan-eye-71//scan-eye-73">
                  <a:extLst xmlns:a="http://schemas.openxmlformats.org/drawingml/2006/main">
                    <a:ext uri="{FF2B5EF4-FFF2-40B4-BE49-F238E27FC236}">
                      <a16:creationId xmlns:a16="http://schemas.microsoft.com/office/drawing/2014/main" id="{06F21C52-3FE4-4E23-B6AA-DF0AE311F72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28575"/>
                      </a:moveTo>
                      <a:lnTo>
                        <a:pt x="180975" y="28575"/>
                      </a:lnTo>
                      <a:cubicBezTo>
                        <a:pt x="186025" y="28575"/>
                        <a:pt x="190874" y="30583"/>
                        <a:pt x="194445" y="34155"/>
                      </a:cubicBezTo>
                      <a:cubicBezTo>
                        <a:pt x="198017" y="37726"/>
                        <a:pt x="200025" y="42575"/>
                        <a:pt x="200025" y="47625"/>
                      </a:cubicBezTo>
                      <a:lnTo>
                        <a:pt x="200025" y="666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4" name="review/icon-scan-eye-71//scan-eye-74">
                  <a:extLst xmlns:a="http://schemas.openxmlformats.org/drawingml/2006/main">
                    <a:ext uri="{FF2B5EF4-FFF2-40B4-BE49-F238E27FC236}">
                      <a16:creationId xmlns:a16="http://schemas.microsoft.com/office/drawing/2014/main" id="{5B58046C-60E0-4B5E-A5CE-58FFB63106C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61925"/>
                      </a:moveTo>
                      <a:lnTo>
                        <a:pt x="200025" y="180975"/>
                      </a:lnTo>
                      <a:cubicBezTo>
                        <a:pt x="200025" y="186025"/>
                        <a:pt x="198017" y="190874"/>
                        <a:pt x="194445" y="194445"/>
                      </a:cubicBezTo>
                      <a:cubicBezTo>
                        <a:pt x="190874" y="198017"/>
                        <a:pt x="186025" y="200025"/>
                        <a:pt x="180975" y="200025"/>
                      </a:cubicBezTo>
                      <a:lnTo>
                        <a:pt x="16192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5" name="review/icon-scan-eye-71//scan-eye-75">
                  <a:extLst xmlns:a="http://schemas.openxmlformats.org/drawingml/2006/main">
                    <a:ext uri="{FF2B5EF4-FFF2-40B4-BE49-F238E27FC236}">
                      <a16:creationId xmlns:a16="http://schemas.microsoft.com/office/drawing/2014/main" id="{6B055915-F0E3-492C-8203-0944832C5AA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47625" y="200025"/>
                      </a:lnTo>
                      <a:cubicBezTo>
                        <a:pt x="42575" y="200025"/>
                        <a:pt x="37726" y="198017"/>
                        <a:pt x="34155" y="194445"/>
                      </a:cubicBezTo>
                      <a:cubicBezTo>
                        <a:pt x="30583" y="190874"/>
                        <a:pt x="28575" y="186025"/>
                        <a:pt x="28575" y="180975"/>
                      </a:cubicBezTo>
                      <a:lnTo>
                        <a:pt x="28575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6" name="review/icon-scan-eye-71//scan-eye-76">
                  <a:extLst xmlns:a="http://schemas.openxmlformats.org/drawingml/2006/main">
                    <a:ext uri="{FF2B5EF4-FFF2-40B4-BE49-F238E27FC236}">
                      <a16:creationId xmlns:a16="http://schemas.microsoft.com/office/drawing/2014/main" id="{823F93CF-8B76-48EF-94F8-8D052859FD7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04775" y="114300"/>
                      </a:moveTo>
                      <a:cubicBezTo>
                        <a:pt x="104775" y="117699"/>
                        <a:pt x="106594" y="120850"/>
                        <a:pt x="109538" y="122549"/>
                      </a:cubicBezTo>
                      <a:cubicBezTo>
                        <a:pt x="112481" y="124248"/>
                        <a:pt x="116119" y="124248"/>
                        <a:pt x="119063" y="122549"/>
                      </a:cubicBezTo>
                      <a:cubicBezTo>
                        <a:pt x="122006" y="120850"/>
                        <a:pt x="123825" y="117699"/>
                        <a:pt x="123825" y="114300"/>
                      </a:cubicBezTo>
                      <a:cubicBezTo>
                        <a:pt x="123825" y="110901"/>
                        <a:pt x="122006" y="107750"/>
                        <a:pt x="119063" y="106051"/>
                      </a:cubicBezTo>
                      <a:cubicBezTo>
                        <a:pt x="116119" y="104352"/>
                        <a:pt x="112481" y="104352"/>
                        <a:pt x="109538" y="106051"/>
                      </a:cubicBezTo>
                      <a:cubicBezTo>
                        <a:pt x="106594" y="107750"/>
                        <a:pt x="104775" y="110901"/>
                        <a:pt x="104775" y="1143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77" name="review/icon-scan-eye-71//scan-eye-77">
                  <a:extLst xmlns:a="http://schemas.openxmlformats.org/drawingml/2006/main">
                    <a:ext uri="{FF2B5EF4-FFF2-40B4-BE49-F238E27FC236}">
                      <a16:creationId xmlns:a16="http://schemas.microsoft.com/office/drawing/2014/main" id="{6DC9AB34-9915-4CFC-9CFC-04C4C4EFD60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220200" y="7620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80442" y="117443"/>
                      </a:moveTo>
                      <a:cubicBezTo>
                        <a:pt x="181153" y="115409"/>
                        <a:pt x="181153" y="113191"/>
                        <a:pt x="180442" y="111157"/>
                      </a:cubicBezTo>
                      <a:cubicBezTo>
                        <a:pt x="173253" y="93542"/>
                        <a:pt x="159317" y="79509"/>
                        <a:pt x="141753" y="72197"/>
                      </a:cubicBezTo>
                      <a:cubicBezTo>
                        <a:pt x="124189" y="64886"/>
                        <a:pt x="104411" y="64886"/>
                        <a:pt x="86847" y="72197"/>
                      </a:cubicBezTo>
                      <a:cubicBezTo>
                        <a:pt x="69283" y="79509"/>
                        <a:pt x="55347" y="93542"/>
                        <a:pt x="48158" y="111157"/>
                      </a:cubicBezTo>
                      <a:cubicBezTo>
                        <a:pt x="47447" y="113191"/>
                        <a:pt x="47447" y="115409"/>
                        <a:pt x="48158" y="117443"/>
                      </a:cubicBezTo>
                      <a:cubicBezTo>
                        <a:pt x="55347" y="135058"/>
                        <a:pt x="69283" y="149091"/>
                        <a:pt x="86847" y="156403"/>
                      </a:cubicBezTo>
                      <a:cubicBezTo>
                        <a:pt x="104411" y="163714"/>
                        <a:pt x="124189" y="163714"/>
                        <a:pt x="141753" y="156403"/>
                      </a:cubicBezTo>
                      <a:cubicBezTo>
                        <a:pt x="159317" y="149091"/>
                        <a:pt x="173253" y="135058"/>
                        <a:pt x="180442" y="117443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78" name="review//box-78">
                <a:extLst xmlns:a="http://schemas.openxmlformats.org/drawingml/2006/main">
                  <a:ext uri="{FF2B5EF4-FFF2-40B4-BE49-F238E27FC236}">
                    <a16:creationId xmlns:a16="http://schemas.microsoft.com/office/drawing/2014/main" id="{AE7F269B-D909-4D54-9A5F-9482580D421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648825" y="752475"/>
                <a:ext cx="302895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Compare with x</a:t>
                </a:r>
              </a:p>
            </p:txBody>
          </p:sp>
          <p:sp>
            <p:nvSpPr>
              <p:cNvPr id="79" name="review//box-79">
                <a:extLst xmlns:a="http://schemas.openxmlformats.org/drawingml/2006/main">
                  <a:ext uri="{FF2B5EF4-FFF2-40B4-BE49-F238E27FC236}">
                    <a16:creationId xmlns:a16="http://schemas.microsoft.com/office/drawing/2014/main" id="{52BF013A-AC73-4008-99A2-6A83018E27E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20200" y="1200150"/>
                <a:ext cx="35242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LLM judgment + rationale</a:t>
                </a:r>
              </a:p>
            </p:txBody>
          </p:sp>
          <p:sp>
            <p:nvSpPr>
              <p:cNvPr id="80" name="review//check-80">
                <a:extLst xmlns:a="http://schemas.openxmlformats.org/drawingml/2006/main">
                  <a:ext uri="{FF2B5EF4-FFF2-40B4-BE49-F238E27FC236}">
                    <a16:creationId xmlns:a16="http://schemas.microsoft.com/office/drawing/2014/main" id="{84882E24-4FDB-47F6-BEC9-D2673D9E7E6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58300" y="2362200"/>
                <a:ext cx="142875" cy="95250"/>
              </a:xfrm>
              <a:custGeom xmlns:a="http://schemas.openxmlformats.org/drawingml/2006/main"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765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1" name="review//box-81">
                <a:extLst xmlns:a="http://schemas.openxmlformats.org/drawingml/2006/main">
                  <a:ext uri="{FF2B5EF4-FFF2-40B4-BE49-F238E27FC236}">
                    <a16:creationId xmlns:a16="http://schemas.microsoft.com/office/drawing/2014/main" id="{FCCCCB62-6E52-479D-A59E-FFAD195E6C3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2247900"/>
                <a:ext cx="2095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328372"/>
                    </a:solidFill>
                    <a:latin typeface="Times New Roman"/>
                    <a:ea typeface="Arial"/>
                    <a:cs typeface="Arial"/>
                  </a:rPr>
                  <a:t>“Correct”</a:t>
                </a:r>
              </a:p>
            </p:txBody>
          </p:sp>
          <p:sp>
            <p:nvSpPr>
              <p:cNvPr id="82" name="review//box-82">
                <a:extLst xmlns:a="http://schemas.openxmlformats.org/drawingml/2006/main">
                  <a:ext uri="{FF2B5EF4-FFF2-40B4-BE49-F238E27FC236}">
                    <a16:creationId xmlns:a16="http://schemas.microsoft.com/office/drawing/2014/main" id="{0F758254-B647-4C50-AC76-FE258EB76A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2600325"/>
                <a:ext cx="30480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Retain in memory M</a:t>
                </a:r>
              </a:p>
            </p:txBody>
          </p:sp>
          <p:sp>
            <p:nvSpPr>
              <p:cNvPr id="83" name="review//path-83">
                <a:extLst xmlns:a="http://schemas.openxmlformats.org/drawingml/2006/main">
                  <a:ext uri="{FF2B5EF4-FFF2-40B4-BE49-F238E27FC236}">
                    <a16:creationId xmlns:a16="http://schemas.microsoft.com/office/drawing/2014/main" id="{BAA83B75-7179-47E5-ABA2-5569741C59C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86875" y="3667125"/>
                <a:ext cx="95250" cy="95250"/>
              </a:xfrm>
              <a:custGeom xmlns:a="http://schemas.openxmlformats.org/drawingml/2006/main"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B76C4D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4" name="review//path-84">
                <a:extLst xmlns:a="http://schemas.openxmlformats.org/drawingml/2006/main">
                  <a:ext uri="{FF2B5EF4-FFF2-40B4-BE49-F238E27FC236}">
                    <a16:creationId xmlns:a16="http://schemas.microsoft.com/office/drawing/2014/main" id="{8C8558C9-55A8-4611-8F5F-38BC8C84EDE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86875" y="3667125"/>
                <a:ext cx="95250" cy="95250"/>
              </a:xfrm>
              <a:custGeom xmlns:a="http://schemas.openxmlformats.org/drawingml/2006/main">
                <a:pathLst>
                  <a:path w="95250" h="95250">
                    <a:moveTo>
                      <a:pt x="0" y="95250"/>
                    </a:moveTo>
                    <a:lnTo>
                      <a:pt x="952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B76C4D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5" name="review//box-85">
                <a:extLst xmlns:a="http://schemas.openxmlformats.org/drawingml/2006/main">
                  <a:ext uri="{FF2B5EF4-FFF2-40B4-BE49-F238E27FC236}">
                    <a16:creationId xmlns:a16="http://schemas.microsoft.com/office/drawing/2014/main" id="{ED5F4F7A-BBFB-4BAC-BA7B-CAC62B49998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3543300"/>
                <a:ext cx="2095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B76C4D"/>
                    </a:solidFill>
                    <a:latin typeface="Times New Roman"/>
                    <a:ea typeface="Arial"/>
                    <a:cs typeface="Arial"/>
                  </a:rPr>
                  <a:t>“Error”</a:t>
                </a:r>
              </a:p>
            </p:txBody>
          </p:sp>
          <p:sp>
            <p:nvSpPr>
              <p:cNvPr id="86" name="review//box-86">
                <a:extLst xmlns:a="http://schemas.openxmlformats.org/drawingml/2006/main">
                  <a:ext uri="{FF2B5EF4-FFF2-40B4-BE49-F238E27FC236}">
                    <a16:creationId xmlns:a16="http://schemas.microsoft.com/office/drawing/2014/main" id="{B4077998-A03E-4B10-BE01-0AC9EF15A38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25000" y="3895725"/>
                <a:ext cx="28575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Refine retrieval</a:t>
                </a:r>
              </a:p>
            </p:txBody>
          </p:sp>
        </p:grpSp>
        <p:grpSp>
          <p:nvGrpSpPr>
            <p:cNvPr id="136" name="routes"/>
            <p:cNvGrpSpPr/>
            <p:nvPr/>
          </p:nvGrpSpPr>
          <p:grpSpPr>
            <ns1:xfrm xmlns:ns1="http://schemas.openxmlformats.org/drawingml/2006/main">
              <ns1:off x="161925" y="2206943"/>
              <ns1:ext cx="12763500" cy="2755582"/>
              <ns1:chOff x="161925" y="2206943"/>
              <ns1:chExt cx="12763500" cy="2755582"/>
            </ns1:xfrm>
          </p:grpSpPr>
          <p:sp>
            <p:nvSpPr>
              <p:cNvPr id="87" name="routes//references-inform-choice-87">
                <a:extLst xmlns:a="http://schemas.openxmlformats.org/drawingml/2006/main">
                  <a:ext uri="{FF2B5EF4-FFF2-40B4-BE49-F238E27FC236}">
                    <a16:creationId xmlns:a16="http://schemas.microsoft.com/office/drawing/2014/main" id="{64570BAF-B83A-4C44-95B1-4099B7D1DCE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09925" y="2247900"/>
                <a:ext cx="590550" cy="1571625"/>
              </a:xfrm>
              <a:custGeom xmlns:a="http://schemas.openxmlformats.org/drawingml/2006/main">
                <a:pathLst>
                  <a:path w="590550" h="1571625">
                    <a:moveTo>
                      <a:pt x="0" y="1571625"/>
                    </a:moveTo>
                    <a:lnTo>
                      <a:pt x="428625" y="1571625"/>
                    </a:lnTo>
                    <a:lnTo>
                      <a:pt x="428625" y="0"/>
                    </a:lnTo>
                    <a:lnTo>
                      <a:pt x="5905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88" name="routes//references-inform-choice-tip-88">
                <a:extLst xmlns:a="http://schemas.openxmlformats.org/drawingml/2006/main">
                  <a:ext uri="{FF2B5EF4-FFF2-40B4-BE49-F238E27FC236}">
                    <a16:creationId xmlns:a16="http://schemas.microsoft.com/office/drawing/2014/main" id="{C52D6A70-AB8C-48B3-884D-9645A8FCF92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724275" y="22069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89" name="routes//candidate-A-to-review-89">
                <a:extLst xmlns:a="http://schemas.openxmlformats.org/drawingml/2006/main">
                  <a:ext uri="{FF2B5EF4-FFF2-40B4-BE49-F238E27FC236}">
                    <a16:creationId xmlns:a16="http://schemas.microsoft.com/office/drawing/2014/main" id="{EB9F6987-BCDF-415F-934E-BB4AFEE44A5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05825" y="2447925"/>
                <a:ext cx="514350" cy="95"/>
              </a:xfrm>
              <a:custGeom xmlns:a="http://schemas.openxmlformats.org/drawingml/2006/main">
                <a:pathLst>
                  <a:path w="514350" h="95">
                    <a:moveTo>
                      <a:pt x="0" y="0"/>
                    </a:moveTo>
                    <a:lnTo>
                      <a:pt x="514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90" name="routes//candidate-A-to-review-tip-90">
                <a:extLst xmlns:a="http://schemas.openxmlformats.org/drawingml/2006/main">
                  <a:ext uri="{FF2B5EF4-FFF2-40B4-BE49-F238E27FC236}">
                    <a16:creationId xmlns:a16="http://schemas.microsoft.com/office/drawing/2014/main" id="{78829B5A-4341-42DD-B660-9AAA519C3CB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943975" y="24069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91" name="routes//candidate-B-to-review-91">
                <a:extLst xmlns:a="http://schemas.openxmlformats.org/drawingml/2006/main">
                  <a:ext uri="{FF2B5EF4-FFF2-40B4-BE49-F238E27FC236}">
                    <a16:creationId xmlns:a16="http://schemas.microsoft.com/office/drawing/2014/main" id="{FB51E191-B5A8-412F-B3CF-44C2C018A3B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05825" y="3752850"/>
                <a:ext cx="514350" cy="95"/>
              </a:xfrm>
              <a:custGeom xmlns:a="http://schemas.openxmlformats.org/drawingml/2006/main">
                <a:pathLst>
                  <a:path w="514350" h="95">
                    <a:moveTo>
                      <a:pt x="0" y="0"/>
                    </a:moveTo>
                    <a:lnTo>
                      <a:pt x="5143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B76C4D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92" name="routes//candidate-B-to-review-tip-92">
                <a:extLst xmlns:a="http://schemas.openxmlformats.org/drawingml/2006/main">
                  <a:ext uri="{FF2B5EF4-FFF2-40B4-BE49-F238E27FC236}">
                    <a16:creationId xmlns:a16="http://schemas.microsoft.com/office/drawing/2014/main" id="{3F22735C-0248-4CB1-8BFF-E8209667AEE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943975" y="371189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B76C4D"/>
              </a:solidFill>
              <a:ln xmlns:a="http://schemas.openxmlformats.org/drawingml/2006/main" w="953" cap="rnd">
                <a:solidFill>
                  <a:srgbClr val="B76C4D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93" name="routes//rejection-retrieval-loop-93">
                <a:extLst xmlns:a="http://schemas.openxmlformats.org/drawingml/2006/main">
                  <a:ext uri="{FF2B5EF4-FFF2-40B4-BE49-F238E27FC236}">
                    <a16:creationId xmlns:a16="http://schemas.microsoft.com/office/drawing/2014/main" id="{C6FD1CBE-DBA8-4B20-8DD6-479C8571419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61925" y="2714625"/>
                <a:ext cx="12763500" cy="2114550"/>
              </a:xfrm>
              <a:custGeom xmlns:a="http://schemas.openxmlformats.org/drawingml/2006/main">
                <a:pathLst>
                  <a:path w="12763500" h="2114550">
                    <a:moveTo>
                      <a:pt x="11553825" y="1114425"/>
                    </a:moveTo>
                    <a:lnTo>
                      <a:pt x="12763500" y="1114425"/>
                    </a:lnTo>
                    <a:lnTo>
                      <a:pt x="12763500" y="2114550"/>
                    </a:lnTo>
                    <a:lnTo>
                      <a:pt x="0" y="2114550"/>
                    </a:lnTo>
                    <a:lnTo>
                      <a:pt x="0" y="0"/>
                    </a:lnTo>
                    <a:lnTo>
                      <a:pt x="1619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B76C4D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94" name="routes//rejection-retrieval-loop-tip-94">
                <a:extLst xmlns:a="http://schemas.openxmlformats.org/drawingml/2006/main">
                  <a:ext uri="{FF2B5EF4-FFF2-40B4-BE49-F238E27FC236}">
                    <a16:creationId xmlns:a16="http://schemas.microsoft.com/office/drawing/2014/main" id="{6B44631A-1BD7-44B1-BCAC-41A47DE75BA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47650" y="26736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B76C4D"/>
              </a:solidFill>
              <a:ln xmlns:a="http://schemas.openxmlformats.org/drawingml/2006/main" w="953" cap="rnd">
                <a:solidFill>
                  <a:srgbClr val="B76C4D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95" name="routes//box-95">
                <a:extLst xmlns:a="http://schemas.openxmlformats.org/drawingml/2006/main">
                  <a:ext uri="{FF2B5EF4-FFF2-40B4-BE49-F238E27FC236}">
                    <a16:creationId xmlns:a16="http://schemas.microsoft.com/office/drawing/2014/main" id="{A5B68AB0-FF58-43DD-A43A-05D0A50DC46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14900" y="4695825"/>
                <a:ext cx="4429125" cy="2667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96" name="routes//box-96">
                <a:extLst xmlns:a="http://schemas.openxmlformats.org/drawingml/2006/main">
                  <a:ext uri="{FF2B5EF4-FFF2-40B4-BE49-F238E27FC236}">
                    <a16:creationId xmlns:a16="http://schemas.microsoft.com/office/drawing/2014/main" id="{31CC5DA1-42E4-489C-9170-84FBE37A63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914900" y="4695825"/>
                <a:ext cx="442912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B76C4D"/>
                    </a:solidFill>
                    <a:latin typeface="Times New Roman"/>
                    <a:ea typeface="Arial"/>
                    <a:cs typeface="Arial"/>
                  </a:rPr>
                  <a:t>Rejected view: repeat reference selection</a:t>
                </a:r>
              </a:p>
            </p:txBody>
          </p:sp>
        </p:grpSp>
        <p:grpSp>
          <p:nvGrpSpPr>
            <p:cNvPr id="137" name="representation"/>
            <p:cNvGrpSpPr/>
            <p:nvPr/>
          </p:nvGrpSpPr>
          <p:grpSpPr>
            <ns1:xfrm xmlns:ns1="http://schemas.openxmlformats.org/drawingml/2006/main">
              <ns1:off x="228600" y="5181600"/>
              <ns1:ext cx="12792075" cy="828675"/>
              <ns1:chOff x="228600" y="5181600"/>
              <ns1:chExt cx="12792075" cy="828675"/>
            </ns1:xfrm>
          </p:grpSpPr>
          <p:sp>
            <p:nvSpPr>
              <p:cNvPr id="97" name="representation//representation-band-97">
                <a:extLst xmlns:a="http://schemas.openxmlformats.org/drawingml/2006/main">
                  <a:ext uri="{FF2B5EF4-FFF2-40B4-BE49-F238E27FC236}">
                    <a16:creationId xmlns:a16="http://schemas.microsoft.com/office/drawing/2014/main" id="{5FF10A70-E4E3-4E7D-8101-C2B5A842639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5181600"/>
                <a:ext cx="12792075" cy="8286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3F4F2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grpSp>
            <p:nvGrpSpPr>
              <p:cNvPr id="138" name="icon-combine-97"/>
              <p:cNvGrpSpPr/>
              <p:nvPr/>
            </p:nvGrpSpPr>
            <p:grpSpPr>
              <ns1:xfrm xmlns:ns1="http://schemas.openxmlformats.org/drawingml/2006/main">
                <ns1:off x="409575" y="5381625"/>
                <ns1:ext cx="333375" cy="333375"/>
                <ns1:chOff x="409575" y="5381625"/>
                <ns1:chExt cx="333375" cy="333375"/>
              </ns1:xfrm>
            </p:grpSpPr>
            <p:sp>
              <p:nvSpPr>
                <p:cNvPr id="98" name="representation/icon-combine-97//combine-98">
                  <a:extLst xmlns:a="http://schemas.openxmlformats.org/drawingml/2006/main">
                    <a:ext uri="{FF2B5EF4-FFF2-40B4-BE49-F238E27FC236}">
                      <a16:creationId xmlns:a16="http://schemas.microsoft.com/office/drawing/2014/main" id="{907DA1B2-B81C-4F3B-A7F9-B709E0EBDEC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28575"/>
                      </a:moveTo>
                      <a:cubicBezTo>
                        <a:pt x="135875" y="28575"/>
                        <a:pt x="138300" y="29579"/>
                        <a:pt x="140085" y="31365"/>
                      </a:cubicBezTo>
                      <a:cubicBezTo>
                        <a:pt x="141871" y="33150"/>
                        <a:pt x="142875" y="35575"/>
                        <a:pt x="142875" y="38100"/>
                      </a:cubicBezTo>
                      <a:lnTo>
                        <a:pt x="142875" y="85725"/>
                      </a:lnTo>
                      <a:cubicBezTo>
                        <a:pt x="142875" y="88250"/>
                        <a:pt x="141871" y="90675"/>
                        <a:pt x="140085" y="92460"/>
                      </a:cubicBezTo>
                      <a:cubicBezTo>
                        <a:pt x="138300" y="94246"/>
                        <a:pt x="135875" y="95250"/>
                        <a:pt x="133350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99" name="representation/icon-combine-97//combine-99">
                  <a:extLst xmlns:a="http://schemas.openxmlformats.org/drawingml/2006/main">
                    <a:ext uri="{FF2B5EF4-FFF2-40B4-BE49-F238E27FC236}">
                      <a16:creationId xmlns:a16="http://schemas.microsoft.com/office/drawing/2014/main" id="{626EBE35-1A55-4766-BF83-C911A09E3F4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28575"/>
                      </a:moveTo>
                      <a:cubicBezTo>
                        <a:pt x="183500" y="28575"/>
                        <a:pt x="185925" y="29579"/>
                        <a:pt x="187710" y="31365"/>
                      </a:cubicBezTo>
                      <a:cubicBezTo>
                        <a:pt x="189496" y="33150"/>
                        <a:pt x="190500" y="35575"/>
                        <a:pt x="190500" y="38100"/>
                      </a:cubicBezTo>
                      <a:lnTo>
                        <a:pt x="190500" y="85725"/>
                      </a:lnTo>
                      <a:cubicBezTo>
                        <a:pt x="190500" y="88250"/>
                        <a:pt x="189496" y="90675"/>
                        <a:pt x="187710" y="92460"/>
                      </a:cubicBezTo>
                      <a:cubicBezTo>
                        <a:pt x="185925" y="94246"/>
                        <a:pt x="183500" y="95250"/>
                        <a:pt x="180975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0" name="representation/icon-combine-97//combine-100">
                  <a:extLst xmlns:a="http://schemas.openxmlformats.org/drawingml/2006/main">
                    <a:ext uri="{FF2B5EF4-FFF2-40B4-BE49-F238E27FC236}">
                      <a16:creationId xmlns:a16="http://schemas.microsoft.com/office/drawing/2014/main" id="{5E6D1006-8312-4B67-8B4F-AABA109C043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142875"/>
                      </a:moveTo>
                      <a:lnTo>
                        <a:pt x="952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1" name="representation/icon-combine-97//combine-101">
                  <a:extLst xmlns:a="http://schemas.openxmlformats.org/drawingml/2006/main">
                    <a:ext uri="{FF2B5EF4-FFF2-40B4-BE49-F238E27FC236}">
                      <a16:creationId xmlns:a16="http://schemas.microsoft.com/office/drawing/2014/main" id="{97A1602E-74A0-4801-A710-074E09570CF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95250" y="171450"/>
                      </a:lnTo>
                      <a:lnTo>
                        <a:pt x="47625" y="171450"/>
                      </a:lnTo>
                      <a:cubicBezTo>
                        <a:pt x="42575" y="171450"/>
                        <a:pt x="37726" y="169442"/>
                        <a:pt x="34155" y="165870"/>
                      </a:cubicBezTo>
                      <a:cubicBezTo>
                        <a:pt x="30583" y="162299"/>
                        <a:pt x="28575" y="157450"/>
                        <a:pt x="28575" y="152400"/>
                      </a:cubicBezTo>
                      <a:lnTo>
                        <a:pt x="2857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2" name="representation/icon-combine-97//combine-102">
                  <a:extLst xmlns:a="http://schemas.openxmlformats.org/drawingml/2006/main">
                    <a:ext uri="{FF2B5EF4-FFF2-40B4-BE49-F238E27FC236}">
                      <a16:creationId xmlns:a16="http://schemas.microsoft.com/office/drawing/2014/main" id="{6E12E317-66ED-4225-8E66-D5FF280A66E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133350"/>
                      </a:moveTo>
                      <a:lnTo>
                        <a:pt x="190500" y="133350"/>
                      </a:lnTo>
                      <a:quadBezTo>
                        <a:pt x="200025" y="133350"/>
                        <a:pt x="200025" y="142875"/>
                      </a:quadBezTo>
                      <a:lnTo>
                        <a:pt x="200025" y="190500"/>
                      </a:lnTo>
                      <a:quadBezTo>
                        <a:pt x="200025" y="200025"/>
                        <a:pt x="190500" y="200025"/>
                      </a:quadBezTo>
                      <a:lnTo>
                        <a:pt x="142875" y="200025"/>
                      </a:lnTo>
                      <a:quadBezTo>
                        <a:pt x="133350" y="200025"/>
                        <a:pt x="133350" y="190500"/>
                      </a:quadBezTo>
                      <a:lnTo>
                        <a:pt x="133350" y="142875"/>
                      </a:lnTo>
                      <a:quadBezTo>
                        <a:pt x="133350" y="133350"/>
                        <a:pt x="142875" y="1333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03" name="representation/icon-combine-97//combine-103">
                  <a:extLst xmlns:a="http://schemas.openxmlformats.org/drawingml/2006/main">
                    <a:ext uri="{FF2B5EF4-FFF2-40B4-BE49-F238E27FC236}">
                      <a16:creationId xmlns:a16="http://schemas.microsoft.com/office/drawing/2014/main" id="{6D0BD521-071B-470E-887D-7DE831B8B66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409575" y="5381625"/>
                  <a:ext cx="333375" cy="333375"/>
                </a:xfrm>
                <a:custGeom xmlns:a="http://schemas.openxmlformats.org/drawingml/2006/main">
                  <a:pathLst>
                    <a:path w="228600" h="228600">
                      <a:moveTo>
                        <a:pt x="38100" y="28575"/>
                      </a:moveTo>
                      <a:lnTo>
                        <a:pt x="85725" y="28575"/>
                      </a:lnTo>
                      <a:quadBezTo>
                        <a:pt x="95250" y="28575"/>
                        <a:pt x="95250" y="38100"/>
                      </a:quadBezTo>
                      <a:lnTo>
                        <a:pt x="95250" y="85725"/>
                      </a:lnTo>
                      <a:quadBezTo>
                        <a:pt x="95250" y="95250"/>
                        <a:pt x="85725" y="95250"/>
                      </a:quadBezTo>
                      <a:lnTo>
                        <a:pt x="38100" y="95250"/>
                      </a:lnTo>
                      <a:quadBezTo>
                        <a:pt x="28575" y="95250"/>
                        <a:pt x="28575" y="85725"/>
                      </a:quadBezTo>
                      <a:lnTo>
                        <a:pt x="28575" y="38100"/>
                      </a:lnTo>
                      <a:quadBezTo>
                        <a:pt x="28575" y="28575"/>
                        <a:pt x="38100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04" name="representation//box-104">
                <a:extLst xmlns:a="http://schemas.openxmlformats.org/drawingml/2006/main">
                  <a:ext uri="{FF2B5EF4-FFF2-40B4-BE49-F238E27FC236}">
                    <a16:creationId xmlns:a16="http://schemas.microsoft.com/office/drawing/2014/main" id="{1B6AF643-C3FD-4F17-B3A2-87F9CBA913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76300" y="5343525"/>
                <a:ext cx="26955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00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Times New Roman"/>
                    <a:ea typeface="Comic Sans MS"/>
                    <a:cs typeface="Comic Sans MS"/>
                  </a:rPr>
                  <a:t>Contrastive learning</a:t>
                </a:r>
              </a:p>
            </p:txBody>
          </p:sp>
          <p:sp>
            <p:nvSpPr>
              <p:cNvPr id="105" name="representation//box-105">
                <a:extLst xmlns:a="http://schemas.openxmlformats.org/drawingml/2006/main">
                  <a:ext uri="{FF2B5EF4-FFF2-40B4-BE49-F238E27FC236}">
                    <a16:creationId xmlns:a16="http://schemas.microsoft.com/office/drawing/2014/main" id="{AC53883F-5357-4A2A-8751-955731C9B4C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810000" y="5410200"/>
                <a:ext cx="47625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x</a:t>
                </a:r>
              </a:p>
            </p:txBody>
          </p:sp>
          <p:sp>
            <p:nvSpPr>
              <p:cNvPr id="106" name="representation//box-106">
                <a:extLst xmlns:a="http://schemas.openxmlformats.org/drawingml/2006/main">
                  <a:ext uri="{FF2B5EF4-FFF2-40B4-BE49-F238E27FC236}">
                    <a16:creationId xmlns:a16="http://schemas.microsoft.com/office/drawing/2014/main" id="{44A8012F-EEE2-4065-B744-F665AA08922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305300" y="5410200"/>
                <a:ext cx="25717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8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75" b="0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+</a:t>
                </a:r>
              </a:p>
            </p:txBody>
          </p:sp>
          <p:sp>
            <p:nvSpPr>
              <p:cNvPr id="107" name="representation//box-107">
                <a:extLst xmlns:a="http://schemas.openxmlformats.org/drawingml/2006/main">
                  <a:ext uri="{FF2B5EF4-FFF2-40B4-BE49-F238E27FC236}">
                    <a16:creationId xmlns:a16="http://schemas.microsoft.com/office/drawing/2014/main" id="{8040987A-F7B9-4BE6-8481-2837EF46018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76775" y="5410200"/>
                <a:ext cx="1190625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8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M ∪ R</a:t>
                </a:r>
              </a:p>
            </p:txBody>
          </p:sp>
          <p:sp>
            <p:nvSpPr>
              <p:cNvPr id="108" name="representation//box-108">
                <a:extLst xmlns:a="http://schemas.openxmlformats.org/drawingml/2006/main">
                  <a:ext uri="{FF2B5EF4-FFF2-40B4-BE49-F238E27FC236}">
                    <a16:creationId xmlns:a16="http://schemas.microsoft.com/office/drawing/2014/main" id="{A7E3C15B-BA59-4A72-9641-6ABF9E293E2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57725" y="5743575"/>
                <a:ext cx="1571625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Positive samples</a:t>
                </a:r>
              </a:p>
            </p:txBody>
          </p:sp>
          <p:sp>
            <p:nvSpPr>
              <p:cNvPr id="109" name="representation//flow-109">
                <a:extLst xmlns:a="http://schemas.openxmlformats.org/drawingml/2006/main">
                  <a:ext uri="{FF2B5EF4-FFF2-40B4-BE49-F238E27FC236}">
                    <a16:creationId xmlns:a16="http://schemas.microsoft.com/office/drawing/2014/main" id="{DE07AA53-3499-4C65-9F64-B4F174F6372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096000" y="5591175"/>
                <a:ext cx="533400" cy="95"/>
              </a:xfrm>
              <a:custGeom xmlns:a="http://schemas.openxmlformats.org/drawingml/2006/main">
                <a:pathLst>
                  <a:path w="533400" h="95">
                    <a:moveTo>
                      <a:pt x="0" y="0"/>
                    </a:moveTo>
                    <a:lnTo>
                      <a:pt x="5334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10" name="representation//flow-tip-110">
                <a:extLst xmlns:a="http://schemas.openxmlformats.org/drawingml/2006/main">
                  <a:ext uri="{FF2B5EF4-FFF2-40B4-BE49-F238E27FC236}">
                    <a16:creationId xmlns:a16="http://schemas.microsoft.com/office/drawing/2014/main" id="{DAF58D32-E33B-4CAB-9AAA-C640CE3CF6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53200" y="555021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11" name="representation//encoder-111">
                <a:extLst xmlns:a="http://schemas.openxmlformats.org/drawingml/2006/main">
                  <a:ext uri="{FF2B5EF4-FFF2-40B4-BE49-F238E27FC236}">
                    <a16:creationId xmlns:a16="http://schemas.microsoft.com/office/drawing/2014/main" id="{F692AAAC-2D08-48EE-93E6-F2C9405472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772275" y="5372100"/>
                <a:ext cx="1790700" cy="4476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0E8EB"/>
              </a:solidFill>
              <a:ln xmlns:a="http://schemas.openxmlformats.org/drawingml/2006/main" w="9525" cap="rnd">
                <a:solidFill>
                  <a:srgbClr val="AABAC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12" name="representation//box-112">
                <a:extLst xmlns:a="http://schemas.openxmlformats.org/drawingml/2006/main">
                  <a:ext uri="{FF2B5EF4-FFF2-40B4-BE49-F238E27FC236}">
                    <a16:creationId xmlns:a16="http://schemas.microsoft.com/office/drawing/2014/main" id="{E77CE8CA-DF53-4BE0-9434-B043DB64143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96100" y="5438775"/>
                <a:ext cx="155257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Shared encoder</a:t>
                </a:r>
              </a:p>
            </p:txBody>
          </p:sp>
          <p:sp>
            <p:nvSpPr>
              <p:cNvPr id="113" name="representation//flow-113">
                <a:extLst xmlns:a="http://schemas.openxmlformats.org/drawingml/2006/main">
                  <a:ext uri="{FF2B5EF4-FFF2-40B4-BE49-F238E27FC236}">
                    <a16:creationId xmlns:a16="http://schemas.microsoft.com/office/drawing/2014/main" id="{F992E401-4E2C-4F71-83F8-AEAD4FCF8C8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724900" y="5591175"/>
                <a:ext cx="495300" cy="95"/>
              </a:xfrm>
              <a:custGeom xmlns:a="http://schemas.openxmlformats.org/drawingml/2006/main">
                <a:pathLst>
                  <a:path w="495300" h="95">
                    <a:moveTo>
                      <a:pt x="0" y="0"/>
                    </a:moveTo>
                    <a:lnTo>
                      <a:pt x="4953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  <p:txBody xmlns:a="http://schemas.openxmlformats.org/drawingml/2006/main">
              <a:bodyPr/>
              <a:p/>
            </p:txBody>
          </p:sp>
          <p:sp>
            <p:nvSpPr>
              <p:cNvPr id="114" name="representation//flow-tip-114">
                <a:extLst xmlns:a="http://schemas.openxmlformats.org/drawingml/2006/main">
                  <a:ext uri="{FF2B5EF4-FFF2-40B4-BE49-F238E27FC236}">
                    <a16:creationId xmlns:a16="http://schemas.microsoft.com/office/drawing/2014/main" id="{AD8EDBCA-DED9-4E00-83E9-542DF8DCEE9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44000" y="555021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  <p:txBody xmlns:a="http://schemas.openxmlformats.org/drawingml/2006/main">
              <a:bodyPr/>
              <a:p/>
            </p:txBody>
          </p:sp>
          <p:grpSp>
            <p:nvGrpSpPr>
              <p:cNvPr id="139" name="icon-combine-114"/>
              <p:cNvGrpSpPr/>
              <p:nvPr/>
            </p:nvGrpSpPr>
            <p:grpSpPr>
              <ns1:xfrm xmlns:ns1="http://schemas.openxmlformats.org/drawingml/2006/main">
                <ns1:off x="9372600" y="5381625"/>
                <ns1:ext cx="323850" cy="323850"/>
                <ns1:chOff x="9372600" y="5381625"/>
                <ns1:chExt cx="323850" cy="323850"/>
              </ns1:xfrm>
            </p:grpSpPr>
            <p:sp>
              <p:nvSpPr>
                <p:cNvPr id="115" name="representation/icon-combine-114//combine-115">
                  <a:extLst xmlns:a="http://schemas.openxmlformats.org/drawingml/2006/main">
                    <a:ext uri="{FF2B5EF4-FFF2-40B4-BE49-F238E27FC236}">
                      <a16:creationId xmlns:a16="http://schemas.microsoft.com/office/drawing/2014/main" id="{7AED7B25-09FF-4798-9AEF-1A056AD8844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28575"/>
                      </a:moveTo>
                      <a:cubicBezTo>
                        <a:pt x="135875" y="28575"/>
                        <a:pt x="138300" y="29579"/>
                        <a:pt x="140085" y="31365"/>
                      </a:cubicBezTo>
                      <a:cubicBezTo>
                        <a:pt x="141871" y="33150"/>
                        <a:pt x="142875" y="35575"/>
                        <a:pt x="142875" y="38100"/>
                      </a:cubicBezTo>
                      <a:lnTo>
                        <a:pt x="142875" y="85725"/>
                      </a:lnTo>
                      <a:cubicBezTo>
                        <a:pt x="142875" y="88250"/>
                        <a:pt x="141871" y="90675"/>
                        <a:pt x="140085" y="92460"/>
                      </a:cubicBezTo>
                      <a:cubicBezTo>
                        <a:pt x="138300" y="94246"/>
                        <a:pt x="135875" y="95250"/>
                        <a:pt x="133350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6" name="representation/icon-combine-114//combine-116">
                  <a:extLst xmlns:a="http://schemas.openxmlformats.org/drawingml/2006/main">
                    <a:ext uri="{FF2B5EF4-FFF2-40B4-BE49-F238E27FC236}">
                      <a16:creationId xmlns:a16="http://schemas.microsoft.com/office/drawing/2014/main" id="{651B8758-52E1-4077-AF1D-0222A321948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80975" y="28575"/>
                      </a:moveTo>
                      <a:cubicBezTo>
                        <a:pt x="183500" y="28575"/>
                        <a:pt x="185925" y="29579"/>
                        <a:pt x="187710" y="31365"/>
                      </a:cubicBezTo>
                      <a:cubicBezTo>
                        <a:pt x="189496" y="33150"/>
                        <a:pt x="190500" y="35575"/>
                        <a:pt x="190500" y="38100"/>
                      </a:cubicBezTo>
                      <a:lnTo>
                        <a:pt x="190500" y="85725"/>
                      </a:lnTo>
                      <a:cubicBezTo>
                        <a:pt x="190500" y="88250"/>
                        <a:pt x="189496" y="90675"/>
                        <a:pt x="187710" y="92460"/>
                      </a:cubicBezTo>
                      <a:cubicBezTo>
                        <a:pt x="185925" y="94246"/>
                        <a:pt x="183500" y="95250"/>
                        <a:pt x="180975" y="9525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7" name="representation/icon-combine-114//combine-117">
                  <a:extLst xmlns:a="http://schemas.openxmlformats.org/drawingml/2006/main">
                    <a:ext uri="{FF2B5EF4-FFF2-40B4-BE49-F238E27FC236}">
                      <a16:creationId xmlns:a16="http://schemas.microsoft.com/office/drawing/2014/main" id="{56D43058-A2AC-4135-BF20-F29EA1D3F5B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142875"/>
                      </a:moveTo>
                      <a:lnTo>
                        <a:pt x="95250" y="1714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8" name="representation/icon-combine-114//combine-118">
                  <a:extLst xmlns:a="http://schemas.openxmlformats.org/drawingml/2006/main">
                    <a:ext uri="{FF2B5EF4-FFF2-40B4-BE49-F238E27FC236}">
                      <a16:creationId xmlns:a16="http://schemas.microsoft.com/office/drawing/2014/main" id="{8FEF76F9-C858-4F78-9996-19CA247EEE9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95250" y="171450"/>
                      </a:lnTo>
                      <a:lnTo>
                        <a:pt x="47625" y="171450"/>
                      </a:lnTo>
                      <a:cubicBezTo>
                        <a:pt x="42575" y="171450"/>
                        <a:pt x="37726" y="169442"/>
                        <a:pt x="34155" y="165870"/>
                      </a:cubicBezTo>
                      <a:cubicBezTo>
                        <a:pt x="30583" y="162299"/>
                        <a:pt x="28575" y="157450"/>
                        <a:pt x="28575" y="152400"/>
                      </a:cubicBezTo>
                      <a:lnTo>
                        <a:pt x="28575" y="1333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19" name="representation/icon-combine-114//combine-119">
                  <a:extLst xmlns:a="http://schemas.openxmlformats.org/drawingml/2006/main">
                    <a:ext uri="{FF2B5EF4-FFF2-40B4-BE49-F238E27FC236}">
                      <a16:creationId xmlns:a16="http://schemas.microsoft.com/office/drawing/2014/main" id="{D60D1346-FD8F-4DE3-A8BD-CC24AB895FC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133350"/>
                      </a:moveTo>
                      <a:lnTo>
                        <a:pt x="190500" y="133350"/>
                      </a:lnTo>
                      <a:quadBezTo>
                        <a:pt x="200025" y="133350"/>
                        <a:pt x="200025" y="142875"/>
                      </a:quadBezTo>
                      <a:lnTo>
                        <a:pt x="200025" y="190500"/>
                      </a:lnTo>
                      <a:quadBezTo>
                        <a:pt x="200025" y="200025"/>
                        <a:pt x="190500" y="200025"/>
                      </a:quadBezTo>
                      <a:lnTo>
                        <a:pt x="142875" y="200025"/>
                      </a:lnTo>
                      <a:quadBezTo>
                        <a:pt x="133350" y="200025"/>
                        <a:pt x="133350" y="190500"/>
                      </a:quadBezTo>
                      <a:lnTo>
                        <a:pt x="133350" y="142875"/>
                      </a:lnTo>
                      <a:quadBezTo>
                        <a:pt x="133350" y="133350"/>
                        <a:pt x="142875" y="1333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  <p:sp>
              <p:nvSpPr>
                <p:cNvPr id="120" name="representation/icon-combine-114//combine-120">
                  <a:extLst xmlns:a="http://schemas.openxmlformats.org/drawingml/2006/main">
                    <a:ext uri="{FF2B5EF4-FFF2-40B4-BE49-F238E27FC236}">
                      <a16:creationId xmlns:a16="http://schemas.microsoft.com/office/drawing/2014/main" id="{426FD9C2-B06A-430F-8B6F-E078DCAB146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72600" y="5381625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38100" y="28575"/>
                      </a:moveTo>
                      <a:lnTo>
                        <a:pt x="85725" y="28575"/>
                      </a:lnTo>
                      <a:quadBezTo>
                        <a:pt x="95250" y="28575"/>
                        <a:pt x="95250" y="38100"/>
                      </a:quadBezTo>
                      <a:lnTo>
                        <a:pt x="95250" y="85725"/>
                      </a:lnTo>
                      <a:quadBezTo>
                        <a:pt x="95250" y="95250"/>
                        <a:pt x="85725" y="95250"/>
                      </a:quadBezTo>
                      <a:lnTo>
                        <a:pt x="38100" y="95250"/>
                      </a:lnTo>
                      <a:quadBezTo>
                        <a:pt x="28575" y="95250"/>
                        <a:pt x="28575" y="85725"/>
                      </a:quadBezTo>
                      <a:lnTo>
                        <a:pt x="28575" y="38100"/>
                      </a:lnTo>
                      <a:quadBezTo>
                        <a:pt x="28575" y="28575"/>
                        <a:pt x="38100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  <p:txBody xmlns:a="http://schemas.openxmlformats.org/drawingml/2006/main">
                <a:bodyPr/>
                <a:p/>
              </p:txBody>
            </p:sp>
          </p:grpSp>
          <p:sp>
            <p:nvSpPr>
              <p:cNvPr id="121" name="representation//box-121">
                <a:extLst xmlns:a="http://schemas.openxmlformats.org/drawingml/2006/main">
                  <a:ext uri="{FF2B5EF4-FFF2-40B4-BE49-F238E27FC236}">
                    <a16:creationId xmlns:a16="http://schemas.microsoft.com/office/drawing/2014/main" id="{D5980DE6-35FE-48C8-84A7-75995AD5C6A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9800" y="5305425"/>
                <a:ext cx="295275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Times New Roman"/>
                    <a:ea typeface="Arial"/>
                    <a:cs typeface="Arial"/>
                  </a:rPr>
                  <a:t>Learn representations</a:t>
                </a:r>
              </a:p>
            </p:txBody>
          </p:sp>
          <p:sp>
            <p:nvSpPr>
              <p:cNvPr id="122" name="representation//box-122">
                <a:extLst xmlns:a="http://schemas.openxmlformats.org/drawingml/2006/main">
                  <a:ext uri="{FF2B5EF4-FFF2-40B4-BE49-F238E27FC236}">
                    <a16:creationId xmlns:a16="http://schemas.microsoft.com/office/drawing/2014/main" id="{CD0B3586-AE4E-4169-B866-E82DEDC761F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829800" y="5629275"/>
                <a:ext cx="29527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Times New Roman"/>
                    <a:ea typeface="Arial"/>
                    <a:cs typeface="Arial"/>
                  </a:rPr>
                  <a:t>Bring positive pairs together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0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2026-10-22T16:13:44.4550000Z</dcterms:created>
  <dcterms:modified xsi:type="dcterms:W3CDTF">2026-10-22T16:13:44.4550000Z</dcterms:modified>
</coreProperties>
</file>