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0d59d32acf249e9" Type="http://schemas.openxmlformats.org/officeDocument/2006/relationships/officeDocument" Target="ppt/presentation.xml"/><Relationship Id="Rae54e0d4e487466a" Type="http://schemas.openxmlformats.org/package/2006/relationships/metadata/core-properties" Target="docProps/core.xml"/><Relationship Id="Re01668fe6ab24b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ab06169ea4e00"/>
  </p:sldMasterIdLst>
  <p:notesMasterIdLst>
    <p:notesMasterId xmlns:r="http://schemas.openxmlformats.org/officeDocument/2006/relationships" r:id="R61905dd60a5d48be"/>
  </p:notesMasterIdLst>
  <p:sldIdLst>
    <p:sldId xmlns:r="http://schemas.openxmlformats.org/officeDocument/2006/relationships" id="256" r:id="Rc0261a68dc014598"/>
  </p:sldIdLst>
  <p:sldSz cx="13335000" cy="6381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dab06169ea4e00" Type="http://schemas.openxmlformats.org/officeDocument/2006/relationships/slideMaster" Target="slideMasters/slideMaster1.xml"/><Relationship Id="R37d39c6a99264110" Type="http://schemas.openxmlformats.org/officeDocument/2006/relationships/theme" Target="theme/theme1.xml"/><Relationship Id="R61905dd60a5d48be" Type="http://schemas.openxmlformats.org/officeDocument/2006/relationships/notesMaster" Target="notesMasters/notesMaster1.xml"/><Relationship Id="R72632f0d2fa54639" Type="http://schemas.openxmlformats.org/officeDocument/2006/relationships/presProps" Target="presProps.xml"/><Relationship Id="Rc0261a68dc014598" Type="http://schemas.openxmlformats.org/officeDocument/2006/relationships/slide" Target="slides/slide1.xml"/><Relationship Id="Rf2e7107ac1ad47db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f64923c134a748f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8bf6f87b90a4fd3" Type="http://schemas.openxmlformats.org/officeDocument/2006/relationships/notesMaster" Target="../notesMasters/notesMaster1.xml"/><Relationship Id="R98617e9b8d93412b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TIMECLAW: Harnessing Generalist Agents for Contextualized Time Series. https://arxiv.org/abs/2606.05404 Sections 3.1-3.4, pp.4-5, Table 10. Policy specifies operation+parameters; tools operate on full-precision W and return compact observations. Signal and context keys retrieve successful trajectories with rationale. Candidate tools distilled from clustered traces are tested on held-out similar tasks and registered when success exceeds a threshold. Do not conflate with a separate TimeClaw exploratory-learning paper.</a:t>
            </a:r>
          </a:p>
          <a:p xmlns:a="http://schemas.openxmlformats.org/drawingml/2006/main">
            <a:r>
              <a:t>Icons: Lucide, ISC license, original source SVGs and license in assets/. All curves are schematic didactic examples, not experimental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43aec97451c4ce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fcaf93a7d73462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ffb761eed0c4b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7f01e3c2bcdb4cf9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04f8a449b7341d7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dc69098e4a8407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D43577-B648-4B48-83B8-FDC1C2C0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410883"/>
            <a:ext cx="10668000" cy="921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BA2508-BA7E-4DAB-AF23-C96E23485B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0250" y="3509963"/>
            <a:ext cx="9334500" cy="70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30D578-1EDC-4E6E-BE13-C57AA7918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659063"/>
            <a:ext cx="10668000" cy="106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649EB-7A94-4F7B-87CB-F65E63762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96358"/>
            <a:ext cx="11834813" cy="77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EB7DD1-6AC1-44CD-9EC2-2BC550F719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72708"/>
            <a:ext cx="11834813" cy="397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63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99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636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472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308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145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981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817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C9929E-11F7-4806-8A30-1BDB4C85A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96358"/>
            <a:ext cx="11834813" cy="77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CCE219-A8A4-4D4A-ACFF-B5171B9FA6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72708"/>
            <a:ext cx="5500688" cy="397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63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99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636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472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308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145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981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817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8C0352-26D1-46DD-BBA2-4465E86EB1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4219" y="1772708"/>
            <a:ext cx="5500688" cy="397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63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99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636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472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308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145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981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817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E34A90-55AC-4688-BB8A-B3521C7D3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96358"/>
            <a:ext cx="11834813" cy="77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205235-87E6-4799-8903-96006FEDF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72708"/>
            <a:ext cx="5500688" cy="397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63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99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636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472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308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14525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98158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81792" indent="-212725" algn="l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358b8ef832a4625" Type="http://schemas.openxmlformats.org/officeDocument/2006/relationships/slideLayout" Target="../slideLayouts/slideLayout5.xml"/><Relationship Id="R4c4485d110fb4999" Type="http://schemas.openxmlformats.org/officeDocument/2006/relationships/slideLayout" Target="../slideLayouts/slideLayout1.xml"/><Relationship Id="R7927a9e49c63467c" Type="http://schemas.openxmlformats.org/officeDocument/2006/relationships/slideLayout" Target="../slideLayouts/slideLayout2.xml"/><Relationship Id="R850ef9fd2bfc4d68" Type="http://schemas.openxmlformats.org/officeDocument/2006/relationships/slideLayout" Target="../slideLayouts/slideLayout6.xml"/><Relationship Id="R86ae191f363c4c86" Type="http://schemas.openxmlformats.org/officeDocument/2006/relationships/slideLayout" Target="../slideLayouts/slideLayout3.xml"/><Relationship Id="R8a5be37288b04c2a" Type="http://schemas.openxmlformats.org/officeDocument/2006/relationships/slideLayout" Target="../slideLayouts/slideLayout4.xml"/><Relationship Id="Rbc38386bf010403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485d110fb4999"/>
    <p:sldLayoutId xmlns:r="http://schemas.openxmlformats.org/officeDocument/2006/relationships" id="2147483650" r:id="R7927a9e49c63467c"/>
    <p:sldLayoutId xmlns:r="http://schemas.openxmlformats.org/officeDocument/2006/relationships" id="2147483651" r:id="R86ae191f363c4c86"/>
    <p:sldLayoutId xmlns:r="http://schemas.openxmlformats.org/officeDocument/2006/relationships" id="2147483652" r:id="R8a5be37288b04c2a"/>
    <p:sldLayoutId xmlns:r="http://schemas.openxmlformats.org/officeDocument/2006/relationships" id="2147483653" r:id="R2358b8ef832a4625"/>
    <p:sldLayoutId xmlns:r="http://schemas.openxmlformats.org/officeDocument/2006/relationships" id="2147483654" r:id="R850ef9fd2bfc4d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423ad9626cf4f3d" Type="http://schemas.openxmlformats.org/officeDocument/2006/relationships/notesSlide" Target="../notesSlides/notesSlide1.xml"/><Relationship Id="Rd78333d4faa94974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51" name="Figure 14 - ungroup to edit modules"/>
          <p:cNvGrpSpPr/>
          <p:nvPr/>
        </p:nvGrpSpPr>
        <p:grpSpPr>
          <ns1:xfrm xmlns:ns1="http://schemas.openxmlformats.org/drawingml/2006/main">
            <ns1:off x="228600" y="161925"/>
            <ns1:ext cx="12868275" cy="5934075"/>
            <ns1:chOff x="228600" y="161925"/>
            <ns1:chExt cx="12868275" cy="5934075"/>
          </ns1:xfrm>
        </p:grpSpPr>
        <p:grpSp>
          <p:nvGrpSpPr>
            <p:cNvPr id="152" name="policy"/>
            <p:cNvGrpSpPr/>
            <p:nvPr/>
          </p:nvGrpSpPr>
          <p:grpSpPr>
            <ns1:xfrm xmlns:ns1="http://schemas.openxmlformats.org/drawingml/2006/main">
              <ns1:off x="228600" y="171450"/>
              <ns1:ext cx="8343900" cy="1085850"/>
              <ns1:chOff x="228600" y="171450"/>
              <ns1:chExt cx="8343900" cy="1085850"/>
            </ns1:xfrm>
          </p:grpSpPr>
          <p:grpSp>
            <p:nvGrpSpPr>
              <p:cNvPr id="153" name="icon-route-0"/>
              <p:cNvGrpSpPr/>
              <p:nvPr/>
            </p:nvGrpSpPr>
            <p:grpSpPr>
              <ns1:xfrm xmlns:ns1="http://schemas.openxmlformats.org/drawingml/2006/main">
                <ns1:off x="276225" y="228600"/>
                <ns1:ext cx="323850" cy="323850"/>
                <ns1:chOff x="276225" y="228600"/>
                <ns1:chExt cx="323850" cy="323850"/>
              </ns1:xfrm>
            </p:grpSpPr>
            <p:sp>
              <p:nvSpPr>
                <p:cNvPr id="150" name="policy/icon-route-0//route-1">
                  <a:extLst xmlns:a="http://schemas.openxmlformats.org/drawingml/2006/main">
                    <a:ext uri="{FF2B5EF4-FFF2-40B4-BE49-F238E27FC236}">
                      <a16:creationId xmlns:a16="http://schemas.microsoft.com/office/drawing/2014/main" id="{B216B5ED-69E9-4BBB-B47C-95AD4F3D55C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2286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180975"/>
                      </a:moveTo>
                      <a:cubicBezTo>
                        <a:pt x="28575" y="191171"/>
                        <a:pt x="34032" y="200624"/>
                        <a:pt x="42863" y="205722"/>
                      </a:cubicBezTo>
                      <a:cubicBezTo>
                        <a:pt x="51693" y="210820"/>
                        <a:pt x="62607" y="210820"/>
                        <a:pt x="71438" y="205722"/>
                      </a:cubicBezTo>
                      <a:cubicBezTo>
                        <a:pt x="80268" y="200624"/>
                        <a:pt x="85725" y="191171"/>
                        <a:pt x="85725" y="180975"/>
                      </a:cubicBezTo>
                      <a:cubicBezTo>
                        <a:pt x="85725" y="170779"/>
                        <a:pt x="80268" y="161326"/>
                        <a:pt x="71438" y="156228"/>
                      </a:cubicBezTo>
                      <a:cubicBezTo>
                        <a:pt x="62607" y="151130"/>
                        <a:pt x="51693" y="151130"/>
                        <a:pt x="42863" y="156228"/>
                      </a:cubicBezTo>
                      <a:cubicBezTo>
                        <a:pt x="34032" y="161326"/>
                        <a:pt x="28575" y="170779"/>
                        <a:pt x="28575" y="1809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" name="policy/icon-route-0//route-2">
                  <a:extLst xmlns:a="http://schemas.openxmlformats.org/drawingml/2006/main">
                    <a:ext uri="{FF2B5EF4-FFF2-40B4-BE49-F238E27FC236}">
                      <a16:creationId xmlns:a16="http://schemas.microsoft.com/office/drawing/2014/main" id="{96F79346-F315-4D6F-9C6B-90AB7B65E06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2286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80975"/>
                      </a:moveTo>
                      <a:lnTo>
                        <a:pt x="166688" y="180975"/>
                      </a:lnTo>
                      <a:cubicBezTo>
                        <a:pt x="178583" y="180975"/>
                        <a:pt x="189611" y="174608"/>
                        <a:pt x="195559" y="164306"/>
                      </a:cubicBezTo>
                      <a:cubicBezTo>
                        <a:pt x="201506" y="154004"/>
                        <a:pt x="201506" y="141271"/>
                        <a:pt x="195559" y="130969"/>
                      </a:cubicBezTo>
                      <a:cubicBezTo>
                        <a:pt x="189611" y="120667"/>
                        <a:pt x="178583" y="114300"/>
                        <a:pt x="166688" y="114300"/>
                      </a:cubicBezTo>
                      <a:lnTo>
                        <a:pt x="61913" y="114300"/>
                      </a:lnTo>
                      <a:cubicBezTo>
                        <a:pt x="50017" y="114300"/>
                        <a:pt x="38989" y="107933"/>
                        <a:pt x="33041" y="97631"/>
                      </a:cubicBezTo>
                      <a:cubicBezTo>
                        <a:pt x="27094" y="87329"/>
                        <a:pt x="27094" y="74596"/>
                        <a:pt x="33041" y="64294"/>
                      </a:cubicBezTo>
                      <a:cubicBezTo>
                        <a:pt x="38989" y="53992"/>
                        <a:pt x="50017" y="47625"/>
                        <a:pt x="61913" y="47625"/>
                      </a:cubicBezTo>
                      <a:lnTo>
                        <a:pt x="1428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" name="policy/icon-route-0//route-3">
                  <a:extLst xmlns:a="http://schemas.openxmlformats.org/drawingml/2006/main">
                    <a:ext uri="{FF2B5EF4-FFF2-40B4-BE49-F238E27FC236}">
                      <a16:creationId xmlns:a16="http://schemas.microsoft.com/office/drawing/2014/main" id="{1932443D-FD01-4218-A0DB-FF0C1B42395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2286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47625"/>
                      </a:moveTo>
                      <a:cubicBezTo>
                        <a:pt x="142875" y="57821"/>
                        <a:pt x="148332" y="67274"/>
                        <a:pt x="157163" y="72372"/>
                      </a:cubicBezTo>
                      <a:cubicBezTo>
                        <a:pt x="165993" y="77470"/>
                        <a:pt x="176907" y="77470"/>
                        <a:pt x="185738" y="72372"/>
                      </a:cubicBezTo>
                      <a:cubicBezTo>
                        <a:pt x="194568" y="67274"/>
                        <a:pt x="200025" y="57821"/>
                        <a:pt x="200025" y="47625"/>
                      </a:cubicBezTo>
                      <a:cubicBezTo>
                        <a:pt x="200025" y="37429"/>
                        <a:pt x="194568" y="27976"/>
                        <a:pt x="185738" y="22878"/>
                      </a:cubicBezTo>
                      <a:cubicBezTo>
                        <a:pt x="176907" y="17780"/>
                        <a:pt x="165993" y="17780"/>
                        <a:pt x="157163" y="22878"/>
                      </a:cubicBezTo>
                      <a:cubicBezTo>
                        <a:pt x="148332" y="27976"/>
                        <a:pt x="142875" y="37429"/>
                        <a:pt x="142875" y="476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" name="policy//box-4">
                <a:extLst xmlns:a="http://schemas.openxmlformats.org/drawingml/2006/main">
                  <a:ext uri="{FF2B5EF4-FFF2-40B4-BE49-F238E27FC236}">
                    <a16:creationId xmlns:a16="http://schemas.microsoft.com/office/drawing/2014/main" id="{3EA8D6E9-DD82-4368-A299-748A7FCC8C0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42950" y="171450"/>
                <a:ext cx="28575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95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950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Generalist LLM</a:t>
                </a:r>
              </a:p>
            </p:txBody>
          </p:sp>
          <p:sp>
            <p:nvSpPr>
              <p:cNvPr id="5" name="policy//box-5">
                <a:extLst xmlns:a="http://schemas.openxmlformats.org/drawingml/2006/main">
                  <a:ext uri="{FF2B5EF4-FFF2-40B4-BE49-F238E27FC236}">
                    <a16:creationId xmlns:a16="http://schemas.microsoft.com/office/drawing/2014/main" id="{CE082D28-02C8-4073-A694-C3452C15553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876675" y="219075"/>
                <a:ext cx="4505325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Task + context + observations</a:t>
                </a:r>
              </a:p>
            </p:txBody>
          </p:sp>
          <p:sp>
            <p:nvSpPr>
              <p:cNvPr id="6" name="policy//policy-lane-6">
                <a:extLst xmlns:a="http://schemas.openxmlformats.org/drawingml/2006/main">
                  <a:ext uri="{FF2B5EF4-FFF2-40B4-BE49-F238E27FC236}">
                    <a16:creationId xmlns:a16="http://schemas.microsoft.com/office/drawing/2014/main" id="{5B590E82-737E-4E31-9070-2EFF7F96C88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647700"/>
                <a:ext cx="8343900" cy="6096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1ECF2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7" name="policy//box-7">
                <a:extLst xmlns:a="http://schemas.openxmlformats.org/drawingml/2006/main">
                  <a:ext uri="{FF2B5EF4-FFF2-40B4-BE49-F238E27FC236}">
                    <a16:creationId xmlns:a16="http://schemas.microsoft.com/office/drawing/2014/main" id="{70D6CD9B-2758-4BF9-B2BB-D2415CAA45E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819150"/>
                <a:ext cx="384810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Select operation and parameters</a:t>
                </a:r>
              </a:p>
            </p:txBody>
          </p:sp>
          <p:sp>
            <p:nvSpPr>
              <p:cNvPr id="8" name="policy//flow-8">
                <a:extLst xmlns:a="http://schemas.openxmlformats.org/drawingml/2006/main">
                  <a:ext uri="{FF2B5EF4-FFF2-40B4-BE49-F238E27FC236}">
                    <a16:creationId xmlns:a16="http://schemas.microsoft.com/office/drawing/2014/main" id="{F546841F-0E2E-49EA-B17A-5B0E95FC5E5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248150" y="952500"/>
                <a:ext cx="514350" cy="95"/>
              </a:xfrm>
              <a:custGeom xmlns:a="http://schemas.openxmlformats.org/drawingml/2006/main">
                <a:pathLst>
                  <a:path w="514350" h="95">
                    <a:moveTo>
                      <a:pt x="0" y="0"/>
                    </a:moveTo>
                    <a:lnTo>
                      <a:pt x="514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836780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9" name="policy//flow-tip-9">
                <a:extLst xmlns:a="http://schemas.openxmlformats.org/drawingml/2006/main">
                  <a:ext uri="{FF2B5EF4-FFF2-40B4-BE49-F238E27FC236}">
                    <a16:creationId xmlns:a16="http://schemas.microsoft.com/office/drawing/2014/main" id="{2719FF7C-C350-47D2-AEDC-56C52ECC413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86300" y="9115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836780"/>
              </a:solidFill>
              <a:ln xmlns:a="http://schemas.openxmlformats.org/drawingml/2006/main" w="953" cap="rnd">
                <a:solidFill>
                  <a:srgbClr val="836780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" name="policy//box-10">
                <a:extLst xmlns:a="http://schemas.openxmlformats.org/drawingml/2006/main">
                  <a:ext uri="{FF2B5EF4-FFF2-40B4-BE49-F238E27FC236}">
                    <a16:creationId xmlns:a16="http://schemas.microsoft.com/office/drawing/2014/main" id="{C1FD3E3B-578C-4E33-853A-85613218AD9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00625" y="819150"/>
                <a:ext cx="328612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Use the returned evidence</a:t>
                </a:r>
              </a:p>
            </p:txBody>
          </p:sp>
        </p:grpSp>
        <p:grpSp>
          <p:nvGrpSpPr>
            <p:cNvPr id="154" name="workspace"/>
            <p:cNvGrpSpPr/>
            <p:nvPr/>
          </p:nvGrpSpPr>
          <p:grpSpPr>
            <ns1:xfrm xmlns:ns1="http://schemas.openxmlformats.org/drawingml/2006/main">
              <ns1:off x="295275" y="1838325"/>
              <ns1:ext cx="3343275" cy="2609850"/>
              <ns1:chOff x="295275" y="1838325"/>
              <ns1:chExt cx="3343275" cy="2609850"/>
            </ns1:xfrm>
          </p:grpSpPr>
          <p:sp>
            <p:nvSpPr>
              <p:cNvPr id="11" name="workspace//box-11">
                <a:extLst xmlns:a="http://schemas.openxmlformats.org/drawingml/2006/main">
                  <a:ext uri="{FF2B5EF4-FFF2-40B4-BE49-F238E27FC236}">
                    <a16:creationId xmlns:a16="http://schemas.microsoft.com/office/drawing/2014/main" id="{4B351AF5-63AD-4831-8C03-65E4EC8D08A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95275" y="1838325"/>
                <a:ext cx="33432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Numerical workspace</a:t>
                </a:r>
              </a:p>
            </p:txBody>
          </p:sp>
          <p:grpSp>
            <p:nvGrpSpPr>
              <p:cNvPr id="155" name="icon-binary-11"/>
              <p:cNvGrpSpPr/>
              <p:nvPr/>
            </p:nvGrpSpPr>
            <p:grpSpPr>
              <ns1:xfrm xmlns:ns1="http://schemas.openxmlformats.org/drawingml/2006/main">
                <ns1:off x="342900" y="2295525"/>
                <ns1:ext cx="304800" cy="304800"/>
                <ns1:chOff x="342900" y="2295525"/>
                <ns1:chExt cx="304800" cy="304800"/>
              </ns1:xfrm>
            </p:grpSpPr>
            <p:sp>
              <p:nvSpPr>
                <p:cNvPr id="12" name="workspace/icon-binary-11//binary-12">
                  <a:extLst xmlns:a="http://schemas.openxmlformats.org/drawingml/2006/main">
                    <a:ext uri="{FF2B5EF4-FFF2-40B4-BE49-F238E27FC236}">
                      <a16:creationId xmlns:a16="http://schemas.microsoft.com/office/drawing/2014/main" id="{093FF977-31B9-4F3E-BCD0-674488CA663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33350"/>
                      </a:moveTo>
                      <a:lnTo>
                        <a:pt x="152400" y="133350"/>
                      </a:lnTo>
                      <a:quadBezTo>
                        <a:pt x="171450" y="133350"/>
                        <a:pt x="171450" y="152400"/>
                      </a:quadBezTo>
                      <a:lnTo>
                        <a:pt x="171450" y="171450"/>
                      </a:lnTo>
                      <a:quadBezTo>
                        <a:pt x="171450" y="190500"/>
                        <a:pt x="152400" y="190500"/>
                      </a:quadBezTo>
                      <a:lnTo>
                        <a:pt x="152400" y="190500"/>
                      </a:lnTo>
                      <a:quadBezTo>
                        <a:pt x="133350" y="190500"/>
                        <a:pt x="133350" y="171450"/>
                      </a:quadBezTo>
                      <a:lnTo>
                        <a:pt x="133350" y="152400"/>
                      </a:lnTo>
                      <a:quadBezTo>
                        <a:pt x="133350" y="133350"/>
                        <a:pt x="152400" y="1333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" name="workspace/icon-binary-11//binary-13">
                  <a:extLst xmlns:a="http://schemas.openxmlformats.org/drawingml/2006/main">
                    <a:ext uri="{FF2B5EF4-FFF2-40B4-BE49-F238E27FC236}">
                      <a16:creationId xmlns:a16="http://schemas.microsoft.com/office/drawing/2014/main" id="{44208632-9AA5-4EA8-A716-3838240E9DC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38100"/>
                      </a:moveTo>
                      <a:lnTo>
                        <a:pt x="76200" y="38100"/>
                      </a:lnTo>
                      <a:quadBezTo>
                        <a:pt x="95250" y="38100"/>
                        <a:pt x="95250" y="57150"/>
                      </a:quadBezTo>
                      <a:lnTo>
                        <a:pt x="95250" y="76200"/>
                      </a:lnTo>
                      <a:quadBezTo>
                        <a:pt x="95250" y="95250"/>
                        <a:pt x="76200" y="95250"/>
                      </a:quadBezTo>
                      <a:lnTo>
                        <a:pt x="76200" y="95250"/>
                      </a:lnTo>
                      <a:quadBezTo>
                        <a:pt x="57150" y="95250"/>
                        <a:pt x="57150" y="76200"/>
                      </a:quadBezTo>
                      <a:lnTo>
                        <a:pt x="57150" y="57150"/>
                      </a:lnTo>
                      <a:quadBezTo>
                        <a:pt x="57150" y="38100"/>
                        <a:pt x="76200" y="3810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" name="workspace/icon-binary-11//binary-14">
                  <a:extLst xmlns:a="http://schemas.openxmlformats.org/drawingml/2006/main">
                    <a:ext uri="{FF2B5EF4-FFF2-40B4-BE49-F238E27FC236}">
                      <a16:creationId xmlns:a16="http://schemas.microsoft.com/office/drawing/2014/main" id="{4F9741CE-C4AE-4BC0-B050-087635B66A6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90500"/>
                      </a:moveTo>
                      <a:lnTo>
                        <a:pt x="95250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5" name="workspace/icon-binary-11//binary-15">
                  <a:extLst xmlns:a="http://schemas.openxmlformats.org/drawingml/2006/main">
                    <a:ext uri="{FF2B5EF4-FFF2-40B4-BE49-F238E27FC236}">
                      <a16:creationId xmlns:a16="http://schemas.microsoft.com/office/drawing/2014/main" id="{DE475ACD-8D3D-4895-B584-8B6CDE59796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95250"/>
                      </a:moveTo>
                      <a:lnTo>
                        <a:pt x="171450" y="952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" name="workspace/icon-binary-11//binary-16">
                  <a:extLst xmlns:a="http://schemas.openxmlformats.org/drawingml/2006/main">
                    <a:ext uri="{FF2B5EF4-FFF2-40B4-BE49-F238E27FC236}">
                      <a16:creationId xmlns:a16="http://schemas.microsoft.com/office/drawing/2014/main" id="{518DC9FA-7E4A-4EAB-A125-B0EC0204B4D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33350"/>
                      </a:moveTo>
                      <a:lnTo>
                        <a:pt x="76200" y="133350"/>
                      </a:lnTo>
                      <a:lnTo>
                        <a:pt x="76200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" name="workspace/icon-binary-11//binary-17">
                  <a:extLst xmlns:a="http://schemas.openxmlformats.org/drawingml/2006/main">
                    <a:ext uri="{FF2B5EF4-FFF2-40B4-BE49-F238E27FC236}">
                      <a16:creationId xmlns:a16="http://schemas.microsoft.com/office/drawing/2014/main" id="{3960EC5B-3618-48D2-9D59-11A358E1D3F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42900" y="229552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38100"/>
                      </a:moveTo>
                      <a:lnTo>
                        <a:pt x="152400" y="38100"/>
                      </a:lnTo>
                      <a:lnTo>
                        <a:pt x="152400" y="952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8" name="workspace//box-18">
                <a:extLst xmlns:a="http://schemas.openxmlformats.org/drawingml/2006/main">
                  <a:ext uri="{FF2B5EF4-FFF2-40B4-BE49-F238E27FC236}">
                    <a16:creationId xmlns:a16="http://schemas.microsoft.com/office/drawing/2014/main" id="{CE96BFBD-E3D3-480B-9B1D-28490575B9C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1050" y="2295525"/>
                <a:ext cx="2619375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Full-precision series</a:t>
                </a:r>
              </a:p>
            </p:txBody>
          </p:sp>
          <p:sp>
            <p:nvSpPr>
              <p:cNvPr id="19" name="workspace//numerical-array-19">
                <a:extLst xmlns:a="http://schemas.openxmlformats.org/drawingml/2006/main">
                  <a:ext uri="{FF2B5EF4-FFF2-40B4-BE49-F238E27FC236}">
                    <a16:creationId xmlns:a16="http://schemas.microsoft.com/office/drawing/2014/main" id="{7DF337A0-9803-4241-BD78-977994D04A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1950" y="275272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FE7EB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0" name="workspace//numerical-array-20">
                <a:extLst xmlns:a="http://schemas.openxmlformats.org/drawingml/2006/main">
                  <a:ext uri="{FF2B5EF4-FFF2-40B4-BE49-F238E27FC236}">
                    <a16:creationId xmlns:a16="http://schemas.microsoft.com/office/drawing/2014/main" id="{0CF55DC1-A05F-47CF-A715-BD003751BBA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23975" y="275272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FE7EB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1" name="workspace//numerical-array-21">
                <a:extLst xmlns:a="http://schemas.openxmlformats.org/drawingml/2006/main">
                  <a:ext uri="{FF2B5EF4-FFF2-40B4-BE49-F238E27FC236}">
                    <a16:creationId xmlns:a16="http://schemas.microsoft.com/office/drawing/2014/main" id="{80A62717-293D-4828-A6C2-6B78609EEC8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0" y="275272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FE7EB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2" name="workspace//numerical-array-22">
                <a:extLst xmlns:a="http://schemas.openxmlformats.org/drawingml/2006/main">
                  <a:ext uri="{FF2B5EF4-FFF2-40B4-BE49-F238E27FC236}">
                    <a16:creationId xmlns:a16="http://schemas.microsoft.com/office/drawing/2014/main" id="{B8914842-BF13-4DCE-84C6-32C06A4E106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1950" y="3105150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3" name="workspace//numerical-array-23">
                <a:extLst xmlns:a="http://schemas.openxmlformats.org/drawingml/2006/main">
                  <a:ext uri="{FF2B5EF4-FFF2-40B4-BE49-F238E27FC236}">
                    <a16:creationId xmlns:a16="http://schemas.microsoft.com/office/drawing/2014/main" id="{25C4B7C7-FC39-4F0D-983E-A4ED91D2376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23975" y="3105150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4" name="workspace//numerical-array-24">
                <a:extLst xmlns:a="http://schemas.openxmlformats.org/drawingml/2006/main">
                  <a:ext uri="{FF2B5EF4-FFF2-40B4-BE49-F238E27FC236}">
                    <a16:creationId xmlns:a16="http://schemas.microsoft.com/office/drawing/2014/main" id="{A8438206-A052-496A-B2D8-E0FAF0F6FA8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0" y="3105150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5" name="workspace//numerical-array-25">
                <a:extLst xmlns:a="http://schemas.openxmlformats.org/drawingml/2006/main">
                  <a:ext uri="{FF2B5EF4-FFF2-40B4-BE49-F238E27FC236}">
                    <a16:creationId xmlns:a16="http://schemas.microsoft.com/office/drawing/2014/main" id="{38030BA5-6838-431C-9175-0DB5CA59825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1950" y="345757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6" name="workspace//numerical-array-26">
                <a:extLst xmlns:a="http://schemas.openxmlformats.org/drawingml/2006/main">
                  <a:ext uri="{FF2B5EF4-FFF2-40B4-BE49-F238E27FC236}">
                    <a16:creationId xmlns:a16="http://schemas.microsoft.com/office/drawing/2014/main" id="{FA7E9EBE-C97E-42DE-BD33-C7EDC640B8F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23975" y="345757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7" name="workspace//numerical-array-27">
                <a:extLst xmlns:a="http://schemas.openxmlformats.org/drawingml/2006/main">
                  <a:ext uri="{FF2B5EF4-FFF2-40B4-BE49-F238E27FC236}">
                    <a16:creationId xmlns:a16="http://schemas.microsoft.com/office/drawing/2014/main" id="{B099084B-9BE7-4DC1-B271-523B4619E54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0" y="3457575"/>
                <a:ext cx="962025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4F6F5"/>
              </a:solidFill>
              <a:ln xmlns:a="http://schemas.openxmlformats.org/drawingml/2006/main" w="7620" cap="rnd">
                <a:solidFill>
                  <a:srgbClr val="CED6D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8" name="workspace//box-28">
                <a:extLst xmlns:a="http://schemas.openxmlformats.org/drawingml/2006/main">
                  <a:ext uri="{FF2B5EF4-FFF2-40B4-BE49-F238E27FC236}">
                    <a16:creationId xmlns:a16="http://schemas.microsoft.com/office/drawing/2014/main" id="{C947D866-BE0F-45C6-A789-DCA43BEC32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280035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Time</a:t>
                </a:r>
              </a:p>
            </p:txBody>
          </p:sp>
          <p:sp>
            <p:nvSpPr>
              <p:cNvPr id="29" name="workspace//box-29">
                <a:extLst xmlns:a="http://schemas.openxmlformats.org/drawingml/2006/main">
                  <a:ext uri="{FF2B5EF4-FFF2-40B4-BE49-F238E27FC236}">
                    <a16:creationId xmlns:a16="http://schemas.microsoft.com/office/drawing/2014/main" id="{0FA002CD-F1A7-4473-8032-5274F213C1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71600" y="280035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Channel 1</a:t>
                </a:r>
              </a:p>
            </p:txBody>
          </p:sp>
          <p:sp>
            <p:nvSpPr>
              <p:cNvPr id="30" name="workspace//box-30">
                <a:extLst xmlns:a="http://schemas.openxmlformats.org/drawingml/2006/main">
                  <a:ext uri="{FF2B5EF4-FFF2-40B4-BE49-F238E27FC236}">
                    <a16:creationId xmlns:a16="http://schemas.microsoft.com/office/drawing/2014/main" id="{3CD96D3D-3524-4FE4-99A5-49F5610B9B3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333625" y="280035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Channel 2</a:t>
                </a:r>
              </a:p>
            </p:txBody>
          </p:sp>
          <p:sp>
            <p:nvSpPr>
              <p:cNvPr id="31" name="workspace//box-31">
                <a:extLst xmlns:a="http://schemas.openxmlformats.org/drawingml/2006/main">
                  <a:ext uri="{FF2B5EF4-FFF2-40B4-BE49-F238E27FC236}">
                    <a16:creationId xmlns:a16="http://schemas.microsoft.com/office/drawing/2014/main" id="{20AE91EB-C6B9-431D-85B8-B919DBB7ADA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3152775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t₁</a:t>
                </a:r>
              </a:p>
            </p:txBody>
          </p:sp>
          <p:sp>
            <p:nvSpPr>
              <p:cNvPr id="32" name="workspace//box-32">
                <a:extLst xmlns:a="http://schemas.openxmlformats.org/drawingml/2006/main">
                  <a:ext uri="{FF2B5EF4-FFF2-40B4-BE49-F238E27FC236}">
                    <a16:creationId xmlns:a16="http://schemas.microsoft.com/office/drawing/2014/main" id="{5360F9A4-235F-4198-95F3-5D097237BF3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71600" y="3152775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x₁,₁</a:t>
                </a:r>
              </a:p>
            </p:txBody>
          </p:sp>
          <p:sp>
            <p:nvSpPr>
              <p:cNvPr id="33" name="workspace//box-33">
                <a:extLst xmlns:a="http://schemas.openxmlformats.org/drawingml/2006/main">
                  <a:ext uri="{FF2B5EF4-FFF2-40B4-BE49-F238E27FC236}">
                    <a16:creationId xmlns:a16="http://schemas.microsoft.com/office/drawing/2014/main" id="{DEA31AF4-B238-413A-8246-558B60A5B0E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333625" y="3152775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x₁,₂</a:t>
                </a:r>
              </a:p>
            </p:txBody>
          </p:sp>
          <p:sp>
            <p:nvSpPr>
              <p:cNvPr id="34" name="workspace//box-34">
                <a:extLst xmlns:a="http://schemas.openxmlformats.org/drawingml/2006/main">
                  <a:ext uri="{FF2B5EF4-FFF2-40B4-BE49-F238E27FC236}">
                    <a16:creationId xmlns:a16="http://schemas.microsoft.com/office/drawing/2014/main" id="{A12A5CF4-451A-47D1-87CB-07325F03A93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350520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t₂</a:t>
                </a:r>
              </a:p>
            </p:txBody>
          </p:sp>
          <p:sp>
            <p:nvSpPr>
              <p:cNvPr id="35" name="workspace//box-35">
                <a:extLst xmlns:a="http://schemas.openxmlformats.org/drawingml/2006/main">
                  <a:ext uri="{FF2B5EF4-FFF2-40B4-BE49-F238E27FC236}">
                    <a16:creationId xmlns:a16="http://schemas.microsoft.com/office/drawing/2014/main" id="{1DE484A6-085F-4D1E-AE55-02A5271A749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71600" y="350520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x₂,₁</a:t>
                </a:r>
              </a:p>
            </p:txBody>
          </p:sp>
          <p:sp>
            <p:nvSpPr>
              <p:cNvPr id="36" name="workspace//box-36">
                <a:extLst xmlns:a="http://schemas.openxmlformats.org/drawingml/2006/main">
                  <a:ext uri="{FF2B5EF4-FFF2-40B4-BE49-F238E27FC236}">
                    <a16:creationId xmlns:a16="http://schemas.microsoft.com/office/drawing/2014/main" id="{E5579B28-1C64-46BA-8968-2F90F87AF0C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333625" y="3505200"/>
                <a:ext cx="866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x₂,₂</a:t>
                </a:r>
              </a:p>
            </p:txBody>
          </p:sp>
          <p:sp>
            <p:nvSpPr>
              <p:cNvPr id="37" name="workspace//box-37">
                <a:extLst xmlns:a="http://schemas.openxmlformats.org/drawingml/2006/main">
                  <a:ext uri="{FF2B5EF4-FFF2-40B4-BE49-F238E27FC236}">
                    <a16:creationId xmlns:a16="http://schemas.microsoft.com/office/drawing/2014/main" id="{771E5732-18E3-4839-8EB1-286FDB9964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2425" y="3990975"/>
                <a:ext cx="31813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Windows and metadata remain addressable</a:t>
                </a:r>
              </a:p>
            </p:txBody>
          </p:sp>
        </p:grpSp>
        <p:grpSp>
          <p:nvGrpSpPr>
            <p:cNvPr id="156" name="tools"/>
            <p:cNvGrpSpPr/>
            <p:nvPr/>
          </p:nvGrpSpPr>
          <p:grpSpPr>
            <ns1:xfrm xmlns:ns1="http://schemas.openxmlformats.org/drawingml/2006/main">
              <ns1:off x="4029075" y="1838325"/>
              <ns1:ext cx="4162425" cy="2409825"/>
              <ns1:chOff x="4029075" y="1838325"/>
              <ns1:chExt cx="4162425" cy="2409825"/>
            </ns1:xfrm>
          </p:grpSpPr>
          <p:sp>
            <p:nvSpPr>
              <p:cNvPr id="38" name="tools//box-38">
                <a:extLst xmlns:a="http://schemas.openxmlformats.org/drawingml/2006/main">
                  <a:ext uri="{FF2B5EF4-FFF2-40B4-BE49-F238E27FC236}">
                    <a16:creationId xmlns:a16="http://schemas.microsoft.com/office/drawing/2014/main" id="{41728A67-06FF-4BFB-A906-11C3F87D302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0" y="1838325"/>
                <a:ext cx="38290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Runtime-native tools</a:t>
                </a:r>
              </a:p>
            </p:txBody>
          </p:sp>
          <p:grpSp>
            <p:nvGrpSpPr>
              <p:cNvPr id="157" name="icon-square-function-38"/>
              <p:cNvGrpSpPr/>
              <p:nvPr/>
            </p:nvGrpSpPr>
            <p:grpSpPr>
              <ns1:xfrm xmlns:ns1="http://schemas.openxmlformats.org/drawingml/2006/main">
                <ns1:off x="4152900" y="2295525"/>
                <ns1:ext cx="314325" cy="314325"/>
                <ns1:chOff x="4152900" y="2295525"/>
                <ns1:chExt cx="314325" cy="314325"/>
              </ns1:xfrm>
            </p:grpSpPr>
            <p:sp>
              <p:nvSpPr>
                <p:cNvPr id="39" name="tools/icon-square-function-38//square-function-39">
                  <a:extLst xmlns:a="http://schemas.openxmlformats.org/drawingml/2006/main">
                    <a:ext uri="{FF2B5EF4-FFF2-40B4-BE49-F238E27FC236}">
                      <a16:creationId xmlns:a16="http://schemas.microsoft.com/office/drawing/2014/main" id="{18AE8F65-95A9-4085-8AD6-88DDB84AA8C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152900" y="229552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8575"/>
                      </a:moveTo>
                      <a:lnTo>
                        <a:pt x="180975" y="28575"/>
                      </a:lnTo>
                      <a:quadBezTo>
                        <a:pt x="200025" y="28575"/>
                        <a:pt x="200025" y="47625"/>
                      </a:quadBezTo>
                      <a:lnTo>
                        <a:pt x="200025" y="180975"/>
                      </a:lnTo>
                      <a:quadBezTo>
                        <a:pt x="200025" y="200025"/>
                        <a:pt x="180975" y="200025"/>
                      </a:quadBezTo>
                      <a:lnTo>
                        <a:pt x="47625" y="200025"/>
                      </a:lnTo>
                      <a:quadBezTo>
                        <a:pt x="28575" y="200025"/>
                        <a:pt x="28575" y="180975"/>
                      </a:quadBezTo>
                      <a:lnTo>
                        <a:pt x="28575" y="47625"/>
                      </a:lnTo>
                      <a:quadBezTo>
                        <a:pt x="28575" y="28575"/>
                        <a:pt x="47625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0" name="tools/icon-square-function-38//square-function-40">
                  <a:extLst xmlns:a="http://schemas.openxmlformats.org/drawingml/2006/main">
                    <a:ext uri="{FF2B5EF4-FFF2-40B4-BE49-F238E27FC236}">
                      <a16:creationId xmlns:a16="http://schemas.microsoft.com/office/drawing/2014/main" id="{4D37F004-7058-4743-A597-DFC8BC8E719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152900" y="229552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61925"/>
                      </a:moveTo>
                      <a:cubicBezTo>
                        <a:pt x="104775" y="161925"/>
                        <a:pt x="112395" y="152400"/>
                        <a:pt x="112395" y="135255"/>
                      </a:cubicBezTo>
                      <a:lnTo>
                        <a:pt x="112395" y="95250"/>
                      </a:lnTo>
                      <a:cubicBezTo>
                        <a:pt x="112395" y="76200"/>
                        <a:pt x="121920" y="63818"/>
                        <a:pt x="142875" y="666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1" name="tools/icon-square-function-38//square-function-41">
                  <a:extLst xmlns:a="http://schemas.openxmlformats.org/drawingml/2006/main">
                    <a:ext uri="{FF2B5EF4-FFF2-40B4-BE49-F238E27FC236}">
                      <a16:creationId xmlns:a16="http://schemas.microsoft.com/office/drawing/2014/main" id="{09A9CB6D-27D7-4BAD-81C5-12E37081DA6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152900" y="229552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06680"/>
                      </a:moveTo>
                      <a:lnTo>
                        <a:pt x="140018" y="10668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2" name="tools//box-42">
                <a:extLst xmlns:a="http://schemas.openxmlformats.org/drawingml/2006/main">
                  <a:ext uri="{FF2B5EF4-FFF2-40B4-BE49-F238E27FC236}">
                    <a16:creationId xmlns:a16="http://schemas.microsoft.com/office/drawing/2014/main" id="{D69828F7-C6CE-4878-B928-A58F3C3AB03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10100" y="2286000"/>
                <a:ext cx="358140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Execute directly on the workspace</a:t>
                </a:r>
              </a:p>
            </p:txBody>
          </p:sp>
          <p:grpSp>
            <p:nvGrpSpPr>
              <p:cNvPr id="158" name="icon-crop-42"/>
              <p:cNvGrpSpPr/>
              <p:nvPr/>
            </p:nvGrpSpPr>
            <p:grpSpPr>
              <ns1:xfrm xmlns:ns1="http://schemas.openxmlformats.org/drawingml/2006/main">
                <ns1:off x="4324350" y="2924175"/>
                <ns1:ext cx="352425" cy="352425"/>
                <ns1:chOff x="4324350" y="2924175"/>
                <ns1:chExt cx="352425" cy="352425"/>
              </ns1:xfrm>
            </p:grpSpPr>
            <p:sp>
              <p:nvSpPr>
                <p:cNvPr id="43" name="tools/icon-crop-42//crop-43">
                  <a:extLst xmlns:a="http://schemas.openxmlformats.org/drawingml/2006/main">
                    <a:ext uri="{FF2B5EF4-FFF2-40B4-BE49-F238E27FC236}">
                      <a16:creationId xmlns:a16="http://schemas.microsoft.com/office/drawing/2014/main" id="{678EAFC4-6DDA-42C5-924A-1B1D5535692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32435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9050"/>
                      </a:moveTo>
                      <a:lnTo>
                        <a:pt x="57150" y="152400"/>
                      </a:lnTo>
                      <a:cubicBezTo>
                        <a:pt x="57150" y="157450"/>
                        <a:pt x="59158" y="162299"/>
                        <a:pt x="62730" y="165870"/>
                      </a:cubicBezTo>
                      <a:cubicBezTo>
                        <a:pt x="66301" y="169442"/>
                        <a:pt x="71150" y="171450"/>
                        <a:pt x="76200" y="171450"/>
                      </a:cubicBezTo>
                      <a:lnTo>
                        <a:pt x="2095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4" name="tools/icon-crop-42//crop-44">
                  <a:extLst xmlns:a="http://schemas.openxmlformats.org/drawingml/2006/main">
                    <a:ext uri="{FF2B5EF4-FFF2-40B4-BE49-F238E27FC236}">
                      <a16:creationId xmlns:a16="http://schemas.microsoft.com/office/drawing/2014/main" id="{46C0AA08-61AB-42DB-8AF5-1EE9FFEF86C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32435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209550"/>
                      </a:moveTo>
                      <a:lnTo>
                        <a:pt x="171450" y="76200"/>
                      </a:lnTo>
                      <a:cubicBezTo>
                        <a:pt x="171450" y="71150"/>
                        <a:pt x="169442" y="66301"/>
                        <a:pt x="165870" y="62730"/>
                      </a:cubicBezTo>
                      <a:cubicBezTo>
                        <a:pt x="162299" y="59158"/>
                        <a:pt x="157450" y="57150"/>
                        <a:pt x="152400" y="57150"/>
                      </a:cubicBezTo>
                      <a:lnTo>
                        <a:pt x="19050" y="571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5" name="tools//box-45">
                <a:extLst xmlns:a="http://schemas.openxmlformats.org/drawingml/2006/main">
                  <a:ext uri="{FF2B5EF4-FFF2-40B4-BE49-F238E27FC236}">
                    <a16:creationId xmlns:a16="http://schemas.microsoft.com/office/drawing/2014/main" id="{12C3DD95-BFF6-4CD9-B96A-9863D8EF134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29075" y="3409950"/>
                <a:ext cx="99060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Slice</a:t>
                </a:r>
              </a:p>
            </p:txBody>
          </p:sp>
          <p:grpSp>
            <p:nvGrpSpPr>
              <p:cNvPr id="159" name="icon-sliders-vertical-45"/>
              <p:cNvGrpSpPr/>
              <p:nvPr/>
            </p:nvGrpSpPr>
            <p:grpSpPr>
              <ns1:xfrm xmlns:ns1="http://schemas.openxmlformats.org/drawingml/2006/main">
                <ns1:off x="5562600" y="2924175"/>
                <ns1:ext cx="352425" cy="352425"/>
                <ns1:chOff x="5562600" y="2924175"/>
                <ns1:chExt cx="352425" cy="352425"/>
              </ns1:xfrm>
            </p:grpSpPr>
            <p:sp>
              <p:nvSpPr>
                <p:cNvPr id="46" name="tools/icon-sliders-vertical-45//sliders-vertical-46">
                  <a:extLst xmlns:a="http://schemas.openxmlformats.org/drawingml/2006/main">
                    <a:ext uri="{FF2B5EF4-FFF2-40B4-BE49-F238E27FC236}">
                      <a16:creationId xmlns:a16="http://schemas.microsoft.com/office/drawing/2014/main" id="{B7A5C165-5C13-44D0-90A4-310767884D8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76200"/>
                      </a:moveTo>
                      <a:lnTo>
                        <a:pt x="133350" y="762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7" name="tools/icon-sliders-vertical-45//sliders-vertical-47">
                  <a:extLst xmlns:a="http://schemas.openxmlformats.org/drawingml/2006/main">
                    <a:ext uri="{FF2B5EF4-FFF2-40B4-BE49-F238E27FC236}">
                      <a16:creationId xmlns:a16="http://schemas.microsoft.com/office/drawing/2014/main" id="{D1793FDA-3AD7-4581-A92B-1BDE6D72D3B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200025"/>
                      </a:moveTo>
                      <a:lnTo>
                        <a:pt x="11430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8" name="tools/icon-sliders-vertical-45//sliders-vertical-48">
                  <a:extLst xmlns:a="http://schemas.openxmlformats.org/drawingml/2006/main">
                    <a:ext uri="{FF2B5EF4-FFF2-40B4-BE49-F238E27FC236}">
                      <a16:creationId xmlns:a16="http://schemas.microsoft.com/office/drawing/2014/main" id="{501A5340-08B8-4F7B-8A26-995645CD2B5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76200"/>
                      </a:moveTo>
                      <a:lnTo>
                        <a:pt x="114300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9" name="tools/icon-sliders-vertical-45//sliders-vertical-49">
                  <a:extLst xmlns:a="http://schemas.openxmlformats.org/drawingml/2006/main">
                    <a:ext uri="{FF2B5EF4-FFF2-40B4-BE49-F238E27FC236}">
                      <a16:creationId xmlns:a16="http://schemas.microsoft.com/office/drawing/2014/main" id="{B04F54CE-A52D-474B-8F72-5F065E3B748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152400"/>
                      </a:moveTo>
                      <a:lnTo>
                        <a:pt x="20002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0" name="tools/icon-sliders-vertical-45//sliders-vertical-50">
                  <a:extLst xmlns:a="http://schemas.openxmlformats.org/drawingml/2006/main">
                    <a:ext uri="{FF2B5EF4-FFF2-40B4-BE49-F238E27FC236}">
                      <a16:creationId xmlns:a16="http://schemas.microsoft.com/office/drawing/2014/main" id="{C47B6496-EF96-4E82-A484-4835CBC37D3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114300"/>
                      </a:moveTo>
                      <a:lnTo>
                        <a:pt x="18097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1" name="tools/icon-sliders-vertical-45//sliders-vertical-51">
                  <a:extLst xmlns:a="http://schemas.openxmlformats.org/drawingml/2006/main">
                    <a:ext uri="{FF2B5EF4-FFF2-40B4-BE49-F238E27FC236}">
                      <a16:creationId xmlns:a16="http://schemas.microsoft.com/office/drawing/2014/main" id="{CD7097FE-7FA1-4C92-B455-A2D94371517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200025"/>
                      </a:moveTo>
                      <a:lnTo>
                        <a:pt x="18097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2" name="tools/icon-sliders-vertical-45//sliders-vertical-52">
                  <a:extLst xmlns:a="http://schemas.openxmlformats.org/drawingml/2006/main">
                    <a:ext uri="{FF2B5EF4-FFF2-40B4-BE49-F238E27FC236}">
                      <a16:creationId xmlns:a16="http://schemas.microsoft.com/office/drawing/2014/main" id="{28B095AA-D8A7-409F-97CE-8DE9D175E6F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133350"/>
                      </a:moveTo>
                      <a:lnTo>
                        <a:pt x="6667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3" name="tools/icon-sliders-vertical-45//sliders-vertical-53">
                  <a:extLst xmlns:a="http://schemas.openxmlformats.org/drawingml/2006/main">
                    <a:ext uri="{FF2B5EF4-FFF2-40B4-BE49-F238E27FC236}">
                      <a16:creationId xmlns:a16="http://schemas.microsoft.com/office/drawing/2014/main" id="{AE4D3BBA-A2C2-41A0-8CA2-9BD7A1EE190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95250"/>
                      </a:moveTo>
                      <a:lnTo>
                        <a:pt x="4762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4" name="tools/icon-sliders-vertical-45//sliders-vertical-54">
                  <a:extLst xmlns:a="http://schemas.openxmlformats.org/drawingml/2006/main">
                    <a:ext uri="{FF2B5EF4-FFF2-40B4-BE49-F238E27FC236}">
                      <a16:creationId xmlns:a16="http://schemas.microsoft.com/office/drawing/2014/main" id="{B69B5E8A-F526-4462-B724-4FEE95F4052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6260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00025"/>
                      </a:moveTo>
                      <a:lnTo>
                        <a:pt x="4762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55" name="tools//box-55">
                <a:extLst xmlns:a="http://schemas.openxmlformats.org/drawingml/2006/main">
                  <a:ext uri="{FF2B5EF4-FFF2-40B4-BE49-F238E27FC236}">
                    <a16:creationId xmlns:a16="http://schemas.microsoft.com/office/drawing/2014/main" id="{3BBC1056-709C-4EB5-A2FB-407A9444F36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67325" y="3409950"/>
                <a:ext cx="99060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Transform</a:t>
                </a:r>
              </a:p>
            </p:txBody>
          </p:sp>
          <p:grpSp>
            <p:nvGrpSpPr>
              <p:cNvPr id="160" name="icon-chart-spline-55"/>
              <p:cNvGrpSpPr/>
              <p:nvPr/>
            </p:nvGrpSpPr>
            <p:grpSpPr>
              <ns1:xfrm xmlns:ns1="http://schemas.openxmlformats.org/drawingml/2006/main">
                <ns1:off x="6800850" y="2924175"/>
                <ns1:ext cx="352425" cy="352425"/>
                <ns1:chOff x="6800850" y="2924175"/>
                <ns1:chExt cx="352425" cy="352425"/>
              </ns1:xfrm>
            </p:grpSpPr>
            <p:sp>
              <p:nvSpPr>
                <p:cNvPr id="56" name="tools/icon-chart-spline-55//chart-spline-56">
                  <a:extLst xmlns:a="http://schemas.openxmlformats.org/drawingml/2006/main">
                    <a:ext uri="{FF2B5EF4-FFF2-40B4-BE49-F238E27FC236}">
                      <a16:creationId xmlns:a16="http://schemas.microsoft.com/office/drawing/2014/main" id="{E038F567-BB5D-4611-BB18-1B2E137171E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80085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28575"/>
                      </a:moveTo>
                      <a:lnTo>
                        <a:pt x="28575" y="180975"/>
                      </a:lnTo>
                      <a:cubicBezTo>
                        <a:pt x="28575" y="186025"/>
                        <a:pt x="30583" y="190874"/>
                        <a:pt x="34155" y="194445"/>
                      </a:cubicBezTo>
                      <a:cubicBezTo>
                        <a:pt x="37726" y="198017"/>
                        <a:pt x="42575" y="200025"/>
                        <a:pt x="47625" y="200025"/>
                      </a:cubicBezTo>
                      <a:lnTo>
                        <a:pt x="20002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7" name="tools/icon-chart-spline-55//chart-spline-57">
                  <a:extLst xmlns:a="http://schemas.openxmlformats.org/drawingml/2006/main">
                    <a:ext uri="{FF2B5EF4-FFF2-40B4-BE49-F238E27FC236}">
                      <a16:creationId xmlns:a16="http://schemas.microsoft.com/office/drawing/2014/main" id="{5E8DCEB7-409D-4FEE-95C8-8C401C57F83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800850" y="2924175"/>
                  <a:ext cx="352425" cy="35242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152400"/>
                      </a:moveTo>
                      <a:cubicBezTo>
                        <a:pt x="71438" y="133350"/>
                        <a:pt x="80963" y="85725"/>
                        <a:pt x="104775" y="85725"/>
                      </a:cubicBezTo>
                      <a:cubicBezTo>
                        <a:pt x="123825" y="85725"/>
                        <a:pt x="123825" y="114300"/>
                        <a:pt x="142875" y="114300"/>
                      </a:cubicBezTo>
                      <a:cubicBezTo>
                        <a:pt x="166688" y="114300"/>
                        <a:pt x="185738" y="66675"/>
                        <a:pt x="190500" y="476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58" name="tools//box-58">
                <a:extLst xmlns:a="http://schemas.openxmlformats.org/drawingml/2006/main">
                  <a:ext uri="{FF2B5EF4-FFF2-40B4-BE49-F238E27FC236}">
                    <a16:creationId xmlns:a16="http://schemas.microsoft.com/office/drawing/2014/main" id="{F60B60E8-D2C5-47EF-8F6D-4198515D23C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05575" y="3409950"/>
                <a:ext cx="99060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4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Analyze</a:t>
                </a:r>
              </a:p>
            </p:txBody>
          </p:sp>
          <p:sp>
            <p:nvSpPr>
              <p:cNvPr id="59" name="tools//box-59">
                <a:extLst xmlns:a="http://schemas.openxmlformats.org/drawingml/2006/main">
                  <a:ext uri="{FF2B5EF4-FFF2-40B4-BE49-F238E27FC236}">
                    <a16:creationId xmlns:a16="http://schemas.microsoft.com/office/drawing/2014/main" id="{3471C391-C11A-474A-8DA3-31ABDA80EF8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43375" y="3971925"/>
                <a:ext cx="40195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3F6C85"/>
                    </a:solidFill>
                    <a:latin typeface="Times New Roman"/>
                    <a:ea typeface="Arial"/>
                    <a:cs typeface="Arial"/>
                  </a:rPr>
                  <a:t>Compact structured observations</a:t>
                </a:r>
              </a:p>
            </p:txBody>
          </p:sp>
        </p:grpSp>
        <p:grpSp>
          <p:nvGrpSpPr>
            <p:cNvPr id="161" name="memory"/>
            <p:cNvGrpSpPr/>
            <p:nvPr/>
          </p:nvGrpSpPr>
          <p:grpSpPr>
            <ns1:xfrm xmlns:ns1="http://schemas.openxmlformats.org/drawingml/2006/main">
              <ns1:off x="8858250" y="161925"/>
              <ns1:ext cx="4238625" cy="4314825"/>
              <ns1:chOff x="8858250" y="161925"/>
              <ns1:chExt cx="4238625" cy="4314825"/>
            </ns1:xfrm>
          </p:grpSpPr>
          <p:sp>
            <p:nvSpPr>
              <p:cNvPr id="60" name="memory//episodic-memory-60">
                <a:extLst xmlns:a="http://schemas.openxmlformats.org/drawingml/2006/main">
                  <a:ext uri="{FF2B5EF4-FFF2-40B4-BE49-F238E27FC236}">
                    <a16:creationId xmlns:a16="http://schemas.microsoft.com/office/drawing/2014/main" id="{A5F891C2-F22E-4E80-8881-C11F42A9287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858250" y="161925"/>
                <a:ext cx="4238625" cy="43148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3F4F2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61" name="memory//box-61">
                <a:extLst xmlns:a="http://schemas.openxmlformats.org/drawingml/2006/main">
                  <a:ext uri="{FF2B5EF4-FFF2-40B4-BE49-F238E27FC236}">
                    <a16:creationId xmlns:a16="http://schemas.microsoft.com/office/drawing/2014/main" id="{8AE3A64C-D319-4FC7-BCB3-58B75D7C469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58275" y="257175"/>
                <a:ext cx="366712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Episodic memory</a:t>
                </a:r>
              </a:p>
            </p:txBody>
          </p:sp>
          <p:grpSp>
            <p:nvGrpSpPr>
              <p:cNvPr id="162" name="icon-fingerprint-61"/>
              <p:cNvGrpSpPr/>
              <p:nvPr/>
            </p:nvGrpSpPr>
            <p:grpSpPr>
              <ns1:xfrm xmlns:ns1="http://schemas.openxmlformats.org/drawingml/2006/main">
                <ns1:off x="9058275" y="866775"/>
                <ns1:ext cx="333375" cy="333375"/>
                <ns1:chOff x="9058275" y="866775"/>
                <ns1:chExt cx="333375" cy="333375"/>
              </ns1:xfrm>
            </p:grpSpPr>
            <p:sp>
              <p:nvSpPr>
                <p:cNvPr id="62" name="memory/icon-fingerprint-61//fingerprint-62">
                  <a:extLst xmlns:a="http://schemas.openxmlformats.org/drawingml/2006/main">
                    <a:ext uri="{FF2B5EF4-FFF2-40B4-BE49-F238E27FC236}">
                      <a16:creationId xmlns:a16="http://schemas.microsoft.com/office/drawing/2014/main" id="{4060C949-1780-4C60-A030-185030AC1F0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95250"/>
                      </a:moveTo>
                      <a:cubicBezTo>
                        <a:pt x="109250" y="95250"/>
                        <a:pt x="104401" y="97258"/>
                        <a:pt x="100830" y="100830"/>
                      </a:cubicBezTo>
                      <a:cubicBezTo>
                        <a:pt x="97258" y="104401"/>
                        <a:pt x="95250" y="109250"/>
                        <a:pt x="95250" y="114300"/>
                      </a:cubicBezTo>
                      <a:cubicBezTo>
                        <a:pt x="95250" y="124016"/>
                        <a:pt x="94298" y="138208"/>
                        <a:pt x="92774" y="1524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3" name="memory/icon-fingerprint-61//fingerprint-63">
                  <a:extLst xmlns:a="http://schemas.openxmlformats.org/drawingml/2006/main">
                    <a:ext uri="{FF2B5EF4-FFF2-40B4-BE49-F238E27FC236}">
                      <a16:creationId xmlns:a16="http://schemas.microsoft.com/office/drawing/2014/main" id="{E7245CBA-317C-4309-8DA1-654C4420A75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24968"/>
                      </a:moveTo>
                      <a:cubicBezTo>
                        <a:pt x="133350" y="147638"/>
                        <a:pt x="133350" y="185738"/>
                        <a:pt x="123825" y="2095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4" name="memory/icon-fingerprint-61//fingerprint-64">
                  <a:extLst xmlns:a="http://schemas.openxmlformats.org/drawingml/2006/main">
                    <a:ext uri="{FF2B5EF4-FFF2-40B4-BE49-F238E27FC236}">
                      <a16:creationId xmlns:a16="http://schemas.microsoft.com/office/drawing/2014/main" id="{24A8E041-A295-497C-A8EF-91BA91B287B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64687" y="200216"/>
                      </a:moveTo>
                      <a:cubicBezTo>
                        <a:pt x="165830" y="194500"/>
                        <a:pt x="168783" y="178308"/>
                        <a:pt x="169450" y="1714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5" name="memory/icon-fingerprint-61//fingerprint-65">
                  <a:extLst xmlns:a="http://schemas.openxmlformats.org/drawingml/2006/main">
                    <a:ext uri="{FF2B5EF4-FFF2-40B4-BE49-F238E27FC236}">
                      <a16:creationId xmlns:a16="http://schemas.microsoft.com/office/drawing/2014/main" id="{2F89FAA5-099F-4C83-A93B-BF83C3AED6E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114300"/>
                      </a:moveTo>
                      <a:cubicBezTo>
                        <a:pt x="19050" y="87486"/>
                        <a:pt x="30372" y="61881"/>
                        <a:pt x="50208" y="43839"/>
                      </a:cubicBezTo>
                      <a:cubicBezTo>
                        <a:pt x="70043" y="25796"/>
                        <a:pt x="96603" y="16943"/>
                        <a:pt x="123297" y="19476"/>
                      </a:cubicBezTo>
                      <a:cubicBezTo>
                        <a:pt x="149991" y="22009"/>
                        <a:pt x="174412" y="35699"/>
                        <a:pt x="190500" y="571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6" name="memory/icon-fingerprint-61//fingerprint-66">
                  <a:extLst xmlns:a="http://schemas.openxmlformats.org/drawingml/2006/main">
                    <a:ext uri="{FF2B5EF4-FFF2-40B4-BE49-F238E27FC236}">
                      <a16:creationId xmlns:a16="http://schemas.microsoft.com/office/drawing/2014/main" id="{931F5422-C064-4B70-81C7-7C12E1BC5D9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152400"/>
                      </a:moveTo>
                      <a:lnTo>
                        <a:pt x="1914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7" name="memory/icon-fingerprint-61//fingerprint-67">
                  <a:extLst xmlns:a="http://schemas.openxmlformats.org/drawingml/2006/main">
                    <a:ext uri="{FF2B5EF4-FFF2-40B4-BE49-F238E27FC236}">
                      <a16:creationId xmlns:a16="http://schemas.microsoft.com/office/drawing/2014/main" id="{55F1AC83-B44C-48EF-AF91-D1366913C92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207645" y="152400"/>
                      </a:moveTo>
                      <a:cubicBezTo>
                        <a:pt x="209550" y="133350"/>
                        <a:pt x="208893" y="101403"/>
                        <a:pt x="207645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8" name="memory/icon-fingerprint-61//fingerprint-68">
                  <a:extLst xmlns:a="http://schemas.openxmlformats.org/drawingml/2006/main">
                    <a:ext uri="{FF2B5EF4-FFF2-40B4-BE49-F238E27FC236}">
                      <a16:creationId xmlns:a16="http://schemas.microsoft.com/office/drawing/2014/main" id="{A9D15AC8-4523-41A6-BE3A-32F5180A6DA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185738"/>
                      </a:moveTo>
                      <a:cubicBezTo>
                        <a:pt x="52388" y="171450"/>
                        <a:pt x="57150" y="142875"/>
                        <a:pt x="57150" y="114300"/>
                      </a:cubicBezTo>
                      <a:cubicBezTo>
                        <a:pt x="57140" y="107812"/>
                        <a:pt x="58236" y="101370"/>
                        <a:pt x="60389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9" name="memory/icon-fingerprint-61//fingerprint-69">
                  <a:extLst xmlns:a="http://schemas.openxmlformats.org/drawingml/2006/main">
                    <a:ext uri="{FF2B5EF4-FFF2-40B4-BE49-F238E27FC236}">
                      <a16:creationId xmlns:a16="http://schemas.microsoft.com/office/drawing/2014/main" id="{B06AB3A7-DB52-464A-8838-53E834753ED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82391" y="209550"/>
                      </a:moveTo>
                      <a:cubicBezTo>
                        <a:pt x="84392" y="203264"/>
                        <a:pt x="86678" y="196977"/>
                        <a:pt x="87821" y="1905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0" name="memory/icon-fingerprint-61//fingerprint-70">
                  <a:extLst xmlns:a="http://schemas.openxmlformats.org/drawingml/2006/main">
                    <a:ext uri="{FF2B5EF4-FFF2-40B4-BE49-F238E27FC236}">
                      <a16:creationId xmlns:a16="http://schemas.microsoft.com/office/drawing/2014/main" id="{419DDC64-7A04-45DA-9297-9664CE34E37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8667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64770"/>
                      </a:moveTo>
                      <a:cubicBezTo>
                        <a:pt x="97362" y="58051"/>
                        <a:pt x="111004" y="55648"/>
                        <a:pt x="124236" y="57984"/>
                      </a:cubicBezTo>
                      <a:cubicBezTo>
                        <a:pt x="137469" y="60320"/>
                        <a:pt x="149462" y="67250"/>
                        <a:pt x="158095" y="77547"/>
                      </a:cubicBezTo>
                      <a:cubicBezTo>
                        <a:pt x="166728" y="87844"/>
                        <a:pt x="171459" y="100863"/>
                        <a:pt x="171450" y="114300"/>
                      </a:cubicBezTo>
                      <a:lnTo>
                        <a:pt x="171450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71" name="memory//box-71">
                <a:extLst xmlns:a="http://schemas.openxmlformats.org/drawingml/2006/main">
                  <a:ext uri="{FF2B5EF4-FFF2-40B4-BE49-F238E27FC236}">
                    <a16:creationId xmlns:a16="http://schemas.microsoft.com/office/drawing/2014/main" id="{F33FA375-38FB-412F-8E7A-8DC8359F1A5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847725"/>
                <a:ext cx="29527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Signal key</a:t>
                </a:r>
              </a:p>
            </p:txBody>
          </p:sp>
          <p:sp>
            <p:nvSpPr>
              <p:cNvPr id="72" name="memory//box-72">
                <a:extLst xmlns:a="http://schemas.openxmlformats.org/drawingml/2006/main">
                  <a:ext uri="{FF2B5EF4-FFF2-40B4-BE49-F238E27FC236}">
                    <a16:creationId xmlns:a16="http://schemas.microsoft.com/office/drawing/2014/main" id="{4314DED3-5F21-4879-9E46-4C5071F86C4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1171575"/>
                <a:ext cx="3286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Shape and statistical structure</a:t>
                </a:r>
              </a:p>
            </p:txBody>
          </p:sp>
          <p:grpSp>
            <p:nvGrpSpPr>
              <p:cNvPr id="163" name="icon-text-search-72"/>
              <p:cNvGrpSpPr/>
              <p:nvPr/>
            </p:nvGrpSpPr>
            <p:grpSpPr>
              <ns1:xfrm xmlns:ns1="http://schemas.openxmlformats.org/drawingml/2006/main">
                <ns1:off x="9058275" y="1666875"/>
                <ns1:ext cx="333375" cy="333375"/>
                <ns1:chOff x="9058275" y="1666875"/>
                <ns1:chExt cx="333375" cy="333375"/>
              </ns1:xfrm>
            </p:grpSpPr>
            <p:sp>
              <p:nvSpPr>
                <p:cNvPr id="73" name="memory/icon-text-search-72//text-search-73">
                  <a:extLst xmlns:a="http://schemas.openxmlformats.org/drawingml/2006/main">
                    <a:ext uri="{FF2B5EF4-FFF2-40B4-BE49-F238E27FC236}">
                      <a16:creationId xmlns:a16="http://schemas.microsoft.com/office/drawing/2014/main" id="{D00B5890-B62A-4985-B9E5-328946EA5FD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16668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47625"/>
                      </a:moveTo>
                      <a:lnTo>
                        <a:pt x="285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4" name="memory/icon-text-search-72//text-search-74">
                  <a:extLst xmlns:a="http://schemas.openxmlformats.org/drawingml/2006/main">
                    <a:ext uri="{FF2B5EF4-FFF2-40B4-BE49-F238E27FC236}">
                      <a16:creationId xmlns:a16="http://schemas.microsoft.com/office/drawing/2014/main" id="{D1EF23E6-B5DE-434D-ACBB-547B6B57C69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16668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114300"/>
                      </a:moveTo>
                      <a:lnTo>
                        <a:pt x="28575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5" name="memory/icon-text-search-72//text-search-75">
                  <a:extLst xmlns:a="http://schemas.openxmlformats.org/drawingml/2006/main">
                    <a:ext uri="{FF2B5EF4-FFF2-40B4-BE49-F238E27FC236}">
                      <a16:creationId xmlns:a16="http://schemas.microsoft.com/office/drawing/2014/main" id="{87CD8C07-66C5-4797-AEA8-79BCA9746F1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16668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180975"/>
                      </a:moveTo>
                      <a:lnTo>
                        <a:pt x="28575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6" name="memory/icon-text-search-72//text-search-76">
                  <a:extLst xmlns:a="http://schemas.openxmlformats.org/drawingml/2006/main">
                    <a:ext uri="{FF2B5EF4-FFF2-40B4-BE49-F238E27FC236}">
                      <a16:creationId xmlns:a16="http://schemas.microsoft.com/office/drawing/2014/main" id="{A3373F2D-C920-4174-B13E-09BD13F9AD5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16668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42875"/>
                      </a:moveTo>
                      <a:cubicBezTo>
                        <a:pt x="133350" y="153071"/>
                        <a:pt x="138807" y="162524"/>
                        <a:pt x="147638" y="167622"/>
                      </a:cubicBezTo>
                      <a:cubicBezTo>
                        <a:pt x="156468" y="172720"/>
                        <a:pt x="167382" y="172720"/>
                        <a:pt x="176213" y="167622"/>
                      </a:cubicBezTo>
                      <a:cubicBezTo>
                        <a:pt x="185043" y="162524"/>
                        <a:pt x="190500" y="153071"/>
                        <a:pt x="190500" y="142875"/>
                      </a:cubicBezTo>
                      <a:cubicBezTo>
                        <a:pt x="190500" y="132679"/>
                        <a:pt x="185043" y="123226"/>
                        <a:pt x="176213" y="118128"/>
                      </a:cubicBezTo>
                      <a:cubicBezTo>
                        <a:pt x="167382" y="113030"/>
                        <a:pt x="156468" y="113030"/>
                        <a:pt x="147638" y="118128"/>
                      </a:cubicBezTo>
                      <a:cubicBezTo>
                        <a:pt x="138807" y="123226"/>
                        <a:pt x="133350" y="132679"/>
                        <a:pt x="133350" y="1428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7" name="memory/icon-text-search-72//text-search-77">
                  <a:extLst xmlns:a="http://schemas.openxmlformats.org/drawingml/2006/main">
                    <a:ext uri="{FF2B5EF4-FFF2-40B4-BE49-F238E27FC236}">
                      <a16:creationId xmlns:a16="http://schemas.microsoft.com/office/drawing/2014/main" id="{CC7739FA-C579-4F0A-AE5A-1A95BF79A8C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058275" y="166687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80975"/>
                      </a:moveTo>
                      <a:lnTo>
                        <a:pt x="181928" y="162878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78" name="memory//box-78">
                <a:extLst xmlns:a="http://schemas.openxmlformats.org/drawingml/2006/main">
                  <a:ext uri="{FF2B5EF4-FFF2-40B4-BE49-F238E27FC236}">
                    <a16:creationId xmlns:a16="http://schemas.microsoft.com/office/drawing/2014/main" id="{E4D3FACE-755D-438F-840C-334BE061C4D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1657350"/>
                <a:ext cx="29527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Context key</a:t>
                </a:r>
              </a:p>
            </p:txBody>
          </p:sp>
          <p:sp>
            <p:nvSpPr>
              <p:cNvPr id="79" name="memory//box-79">
                <a:extLst xmlns:a="http://schemas.openxmlformats.org/drawingml/2006/main">
                  <a:ext uri="{FF2B5EF4-FFF2-40B4-BE49-F238E27FC236}">
                    <a16:creationId xmlns:a16="http://schemas.microsoft.com/office/drawing/2014/main" id="{5F2FC51B-78D7-437E-8F72-28AE05FB48D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1990725"/>
                <a:ext cx="3286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Task and textual context</a:t>
                </a:r>
              </a:p>
            </p:txBody>
          </p:sp>
          <p:sp>
            <p:nvSpPr>
              <p:cNvPr id="80" name="memory//match-both-keys-80">
                <a:extLst xmlns:a="http://schemas.openxmlformats.org/drawingml/2006/main">
                  <a:ext uri="{FF2B5EF4-FFF2-40B4-BE49-F238E27FC236}">
                    <a16:creationId xmlns:a16="http://schemas.microsoft.com/office/drawing/2014/main" id="{F783380D-4ADD-4CD5-BDC2-BBD173E8D82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87100" y="990600"/>
                <a:ext cx="1828800" cy="1447800"/>
              </a:xfrm>
              <a:custGeom xmlns:a="http://schemas.openxmlformats.org/drawingml/2006/main">
                <a:pathLst>
                  <a:path w="1828800" h="1447800">
                    <a:moveTo>
                      <a:pt x="1685925" y="0"/>
                    </a:moveTo>
                    <a:lnTo>
                      <a:pt x="1828800" y="0"/>
                    </a:lnTo>
                    <a:lnTo>
                      <a:pt x="1828800" y="1447800"/>
                    </a:lnTo>
                    <a:lnTo>
                      <a:pt x="0" y="14478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1" name="memory//context-key-join-81">
                <a:extLst xmlns:a="http://schemas.openxmlformats.org/drawingml/2006/main">
                  <a:ext uri="{FF2B5EF4-FFF2-40B4-BE49-F238E27FC236}">
                    <a16:creationId xmlns:a16="http://schemas.microsoft.com/office/drawing/2014/main" id="{88053EA7-0A83-45A5-BD1B-61309EE7171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73025" y="1800225"/>
                <a:ext cx="142875" cy="95"/>
              </a:xfrm>
              <a:custGeom xmlns:a="http://schemas.openxmlformats.org/drawingml/2006/main">
                <a:pathLst>
                  <a:path w="142875" h="9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2" name="memory//flow-82">
                <a:extLst xmlns:a="http://schemas.openxmlformats.org/drawingml/2006/main">
                  <a:ext uri="{FF2B5EF4-FFF2-40B4-BE49-F238E27FC236}">
                    <a16:creationId xmlns:a16="http://schemas.microsoft.com/office/drawing/2014/main" id="{C1619A23-C992-42AA-820E-6A5E14A6BE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87100" y="2438400"/>
                <a:ext cx="95" cy="152400"/>
              </a:xfrm>
              <a:custGeom xmlns:a="http://schemas.openxmlformats.org/drawingml/2006/main">
                <a:pathLst>
                  <a:path w="9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83" name="memory//flow-tip-83">
                <a:extLst xmlns:a="http://schemas.openxmlformats.org/drawingml/2006/main">
                  <a:ext uri="{FF2B5EF4-FFF2-40B4-BE49-F238E27FC236}">
                    <a16:creationId xmlns:a16="http://schemas.microsoft.com/office/drawing/2014/main" id="{DAE21237-0BF2-4D92-9CAA-601F49962E2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46143" y="2514600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7" y="76200"/>
                    </a:moveTo>
                    <a:lnTo>
                      <a:pt x="819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4" name="memory//box-84">
                <a:extLst xmlns:a="http://schemas.openxmlformats.org/drawingml/2006/main">
                  <a:ext uri="{FF2B5EF4-FFF2-40B4-BE49-F238E27FC236}">
                    <a16:creationId xmlns:a16="http://schemas.microsoft.com/office/drawing/2014/main" id="{036156B1-95EA-40C8-8B7D-B68905DEA2C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77325" y="2695575"/>
                <a:ext cx="37528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328372"/>
                    </a:solidFill>
                    <a:latin typeface="Times New Roman"/>
                    <a:ea typeface="Arial"/>
                    <a:cs typeface="Arial"/>
                  </a:rPr>
                  <a:t>Retrieve a successful episode</a:t>
                </a:r>
              </a:p>
            </p:txBody>
          </p:sp>
          <p:sp>
            <p:nvSpPr>
              <p:cNvPr id="85" name="memory//path-85">
                <a:extLst xmlns:a="http://schemas.openxmlformats.org/drawingml/2006/main">
                  <a:ext uri="{FF2B5EF4-FFF2-40B4-BE49-F238E27FC236}">
                    <a16:creationId xmlns:a16="http://schemas.microsoft.com/office/drawing/2014/main" id="{0BD5E747-BD0D-4AB6-A4F0-74463EF0A07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58275" y="3143250"/>
                <a:ext cx="3771900" cy="95"/>
              </a:xfrm>
              <a:custGeom xmlns:a="http://schemas.openxmlformats.org/drawingml/2006/main">
                <a:pathLst>
                  <a:path w="3771900" h="95">
                    <a:moveTo>
                      <a:pt x="0" y="0"/>
                    </a:moveTo>
                    <a:lnTo>
                      <a:pt x="37719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64" name="icon-snowflake-85"/>
              <p:cNvGrpSpPr/>
              <p:nvPr/>
            </p:nvGrpSpPr>
            <p:grpSpPr>
              <ns1:xfrm xmlns:ns1="http://schemas.openxmlformats.org/drawingml/2006/main">
                <ns1:off x="9105900" y="3333750"/>
                <ns1:ext cx="323850" cy="323850"/>
                <ns1:chOff x="9105900" y="3333750"/>
                <ns1:chExt cx="323850" cy="323850"/>
              </ns1:xfrm>
            </p:grpSpPr>
            <p:sp>
              <p:nvSpPr>
                <p:cNvPr id="86" name="memory/icon-snowflake-85//snowflake-86">
                  <a:extLst xmlns:a="http://schemas.openxmlformats.org/drawingml/2006/main">
                    <a:ext uri="{FF2B5EF4-FFF2-40B4-BE49-F238E27FC236}">
                      <a16:creationId xmlns:a16="http://schemas.microsoft.com/office/drawing/2014/main" id="{74823C50-89A2-4FA8-AB74-8EB9E6478DC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190500"/>
                      </a:moveTo>
                      <a:lnTo>
                        <a:pt x="83344" y="166688"/>
                      </a:lnTo>
                      <a:lnTo>
                        <a:pt x="571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87" name="memory/icon-snowflake-85//snowflake-87">
                  <a:extLst xmlns:a="http://schemas.openxmlformats.org/drawingml/2006/main">
                    <a:ext uri="{FF2B5EF4-FFF2-40B4-BE49-F238E27FC236}">
                      <a16:creationId xmlns:a16="http://schemas.microsoft.com/office/drawing/2014/main" id="{9478B084-F629-4358-9834-95288877AD3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38100"/>
                      </a:moveTo>
                      <a:lnTo>
                        <a:pt x="83344" y="61913"/>
                      </a:lnTo>
                      <a:lnTo>
                        <a:pt x="57150" y="571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88" name="memory/icon-snowflake-85//snowflake-88">
                  <a:extLst xmlns:a="http://schemas.openxmlformats.org/drawingml/2006/main">
                    <a:ext uri="{FF2B5EF4-FFF2-40B4-BE49-F238E27FC236}">
                      <a16:creationId xmlns:a16="http://schemas.microsoft.com/office/drawing/2014/main" id="{B036F273-78CC-4D70-910A-4DEEA838FCB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90500"/>
                      </a:moveTo>
                      <a:lnTo>
                        <a:pt x="145256" y="166688"/>
                      </a:lnTo>
                      <a:lnTo>
                        <a:pt x="1714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89" name="memory/icon-snowflake-85//snowflake-89">
                  <a:extLst xmlns:a="http://schemas.openxmlformats.org/drawingml/2006/main">
                    <a:ext uri="{FF2B5EF4-FFF2-40B4-BE49-F238E27FC236}">
                      <a16:creationId xmlns:a16="http://schemas.microsoft.com/office/drawing/2014/main" id="{5C5CA52D-6799-4867-802D-DA58FA4D05E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38100"/>
                      </a:moveTo>
                      <a:lnTo>
                        <a:pt x="145256" y="61913"/>
                      </a:lnTo>
                      <a:lnTo>
                        <a:pt x="171450" y="571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0" name="memory/icon-snowflake-85//snowflake-90">
                  <a:extLst xmlns:a="http://schemas.openxmlformats.org/drawingml/2006/main">
                    <a:ext uri="{FF2B5EF4-FFF2-40B4-BE49-F238E27FC236}">
                      <a16:creationId xmlns:a16="http://schemas.microsoft.com/office/drawing/2014/main" id="{BA152747-E481-44EA-BA18-AB4D4394532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200025"/>
                      </a:moveTo>
                      <a:lnTo>
                        <a:pt x="133350" y="142875"/>
                      </a:lnTo>
                      <a:lnTo>
                        <a:pt x="95250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1" name="memory/icon-snowflake-85//snowflake-91">
                  <a:extLst xmlns:a="http://schemas.openxmlformats.org/drawingml/2006/main">
                    <a:ext uri="{FF2B5EF4-FFF2-40B4-BE49-F238E27FC236}">
                      <a16:creationId xmlns:a16="http://schemas.microsoft.com/office/drawing/2014/main" id="{DA4F4CE3-7AEB-413C-ADED-FBD1854F46B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28575"/>
                      </a:moveTo>
                      <a:lnTo>
                        <a:pt x="133350" y="85725"/>
                      </a:lnTo>
                      <a:lnTo>
                        <a:pt x="147638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2" name="memory/icon-snowflake-85//snowflake-92">
                  <a:extLst xmlns:a="http://schemas.openxmlformats.org/drawingml/2006/main">
                    <a:ext uri="{FF2B5EF4-FFF2-40B4-BE49-F238E27FC236}">
                      <a16:creationId xmlns:a16="http://schemas.microsoft.com/office/drawing/2014/main" id="{9FE284CE-CCF4-433C-92C5-78ADA7C53ED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114300"/>
                      </a:moveTo>
                      <a:lnTo>
                        <a:pt x="80963" y="114300"/>
                      </a:lnTo>
                      <a:lnTo>
                        <a:pt x="95250" y="857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3" name="memory/icon-snowflake-85//snowflake-93">
                  <a:extLst xmlns:a="http://schemas.openxmlformats.org/drawingml/2006/main">
                    <a:ext uri="{FF2B5EF4-FFF2-40B4-BE49-F238E27FC236}">
                      <a16:creationId xmlns:a16="http://schemas.microsoft.com/office/drawing/2014/main" id="{3928D298-E1F1-42F3-8C8C-10CCFADE698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90500" y="95250"/>
                      </a:moveTo>
                      <a:lnTo>
                        <a:pt x="176213" y="114300"/>
                      </a:lnTo>
                      <a:lnTo>
                        <a:pt x="190500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4" name="memory/icon-snowflake-85//snowflake-94">
                  <a:extLst xmlns:a="http://schemas.openxmlformats.org/drawingml/2006/main">
                    <a:ext uri="{FF2B5EF4-FFF2-40B4-BE49-F238E27FC236}">
                      <a16:creationId xmlns:a16="http://schemas.microsoft.com/office/drawing/2014/main" id="{B3A9066F-9B3F-4999-BB58-19B2B2371A4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09550" y="114300"/>
                      </a:moveTo>
                      <a:lnTo>
                        <a:pt x="147638" y="114300"/>
                      </a:lnTo>
                      <a:lnTo>
                        <a:pt x="133350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5" name="memory/icon-snowflake-85//snowflake-95">
                  <a:extLst xmlns:a="http://schemas.openxmlformats.org/drawingml/2006/main">
                    <a:ext uri="{FF2B5EF4-FFF2-40B4-BE49-F238E27FC236}">
                      <a16:creationId xmlns:a16="http://schemas.microsoft.com/office/drawing/2014/main" id="{9785B859-02B0-4BF6-9D4F-26C710FED5D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38100" y="95250"/>
                      </a:moveTo>
                      <a:lnTo>
                        <a:pt x="52388" y="114300"/>
                      </a:lnTo>
                      <a:lnTo>
                        <a:pt x="38100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6" name="memory/icon-snowflake-85//snowflake-96">
                  <a:extLst xmlns:a="http://schemas.openxmlformats.org/drawingml/2006/main">
                    <a:ext uri="{FF2B5EF4-FFF2-40B4-BE49-F238E27FC236}">
                      <a16:creationId xmlns:a16="http://schemas.microsoft.com/office/drawing/2014/main" id="{E2FAD1C1-A2B5-4568-9E32-731DB72F247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95250" y="142875"/>
                      </a:lnTo>
                      <a:lnTo>
                        <a:pt x="80963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7" name="memory/icon-snowflake-85//snowflake-97">
                  <a:extLst xmlns:a="http://schemas.openxmlformats.org/drawingml/2006/main">
                    <a:ext uri="{FF2B5EF4-FFF2-40B4-BE49-F238E27FC236}">
                      <a16:creationId xmlns:a16="http://schemas.microsoft.com/office/drawing/2014/main" id="{FF65B747-5978-4BE6-8640-2F124EABBFA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05900" y="333375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8575"/>
                      </a:moveTo>
                      <a:lnTo>
                        <a:pt x="95250" y="85725"/>
                      </a:lnTo>
                      <a:lnTo>
                        <a:pt x="133350" y="857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98" name="memory//box-98">
                <a:extLst xmlns:a="http://schemas.openxmlformats.org/drawingml/2006/main">
                  <a:ext uri="{FF2B5EF4-FFF2-40B4-BE49-F238E27FC236}">
                    <a16:creationId xmlns:a16="http://schemas.microsoft.com/office/drawing/2014/main" id="{0034207D-F29B-4B7A-9CB8-78397D1688D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44050" y="3343275"/>
                <a:ext cx="129540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Snowstorm</a:t>
                </a:r>
              </a:p>
            </p:txBody>
          </p:sp>
          <p:sp>
            <p:nvSpPr>
              <p:cNvPr id="99" name="memory//flow-99">
                <a:extLst xmlns:a="http://schemas.openxmlformats.org/drawingml/2006/main">
                  <a:ext uri="{FF2B5EF4-FFF2-40B4-BE49-F238E27FC236}">
                    <a16:creationId xmlns:a16="http://schemas.microsoft.com/office/drawing/2014/main" id="{78449563-C90F-4017-BAB5-58BDE46D2CA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29925" y="3495675"/>
                <a:ext cx="266700" cy="95"/>
              </a:xfrm>
              <a:custGeom xmlns:a="http://schemas.openxmlformats.org/drawingml/2006/main">
                <a:pathLst>
                  <a:path w="266700" h="9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00" name="memory//flow-tip-100">
                <a:extLst xmlns:a="http://schemas.openxmlformats.org/drawingml/2006/main">
                  <a:ext uri="{FF2B5EF4-FFF2-40B4-BE49-F238E27FC236}">
                    <a16:creationId xmlns:a16="http://schemas.microsoft.com/office/drawing/2014/main" id="{1273B09C-9CBC-4912-AF11-463754B1027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20425" y="345471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65" name="icon-zap-100"/>
              <p:cNvGrpSpPr/>
              <p:nvPr/>
            </p:nvGrpSpPr>
            <p:grpSpPr>
              <ns1:xfrm xmlns:ns1="http://schemas.openxmlformats.org/drawingml/2006/main">
                <ns1:off x="11220450" y="3343275"/>
                <ns1:ext cx="295275" cy="295275"/>
                <ns1:chOff x="11220450" y="3343275"/>
                <ns1:chExt cx="295275" cy="295275"/>
              </ns1:xfrm>
            </p:grpSpPr>
            <p:sp>
              <p:nvSpPr>
                <p:cNvPr id="101" name="memory/icon-zap-100//zap-101">
                  <a:extLst xmlns:a="http://schemas.openxmlformats.org/drawingml/2006/main">
                    <a:ext uri="{FF2B5EF4-FFF2-40B4-BE49-F238E27FC236}">
                      <a16:creationId xmlns:a16="http://schemas.microsoft.com/office/drawing/2014/main" id="{4F7A3997-5FCB-49E2-90C8-C84A6BD73F0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220450" y="33432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51581" y="38100"/>
                      </a:moveTo>
                      <a:cubicBezTo>
                        <a:pt x="153028" y="34000"/>
                        <a:pt x="152527" y="29456"/>
                        <a:pt x="150221" y="25770"/>
                      </a:cubicBezTo>
                      <a:cubicBezTo>
                        <a:pt x="147916" y="22084"/>
                        <a:pt x="144050" y="19644"/>
                        <a:pt x="139730" y="19150"/>
                      </a:cubicBezTo>
                      <a:cubicBezTo>
                        <a:pt x="135411" y="18657"/>
                        <a:pt x="131094" y="20161"/>
                        <a:pt x="128016" y="23231"/>
                      </a:cubicBezTo>
                      <a:lnTo>
                        <a:pt x="42291" y="108956"/>
                      </a:lnTo>
                      <a:cubicBezTo>
                        <a:pt x="39612" y="111634"/>
                        <a:pt x="38104" y="115270"/>
                        <a:pt x="38103" y="119058"/>
                      </a:cubicBezTo>
                      <a:cubicBezTo>
                        <a:pt x="38102" y="122846"/>
                        <a:pt x="39607" y="126484"/>
                        <a:pt x="42285" y="129163"/>
                      </a:cubicBezTo>
                      <a:cubicBezTo>
                        <a:pt x="44963" y="131842"/>
                        <a:pt x="48599" y="133349"/>
                        <a:pt x="52388" y="133350"/>
                      </a:cubicBezTo>
                      <a:lnTo>
                        <a:pt x="90507" y="133350"/>
                      </a:lnTo>
                      <a:cubicBezTo>
                        <a:pt x="92049" y="133352"/>
                        <a:pt x="93498" y="134103"/>
                        <a:pt x="94389" y="135363"/>
                      </a:cubicBezTo>
                      <a:cubicBezTo>
                        <a:pt x="95279" y="136622"/>
                        <a:pt x="95505" y="138239"/>
                        <a:pt x="94993" y="139694"/>
                      </a:cubicBezTo>
                      <a:lnTo>
                        <a:pt x="77019" y="190500"/>
                      </a:lnTo>
                      <a:cubicBezTo>
                        <a:pt x="75572" y="194601"/>
                        <a:pt x="76074" y="199147"/>
                        <a:pt x="78381" y="202834"/>
                      </a:cubicBezTo>
                      <a:cubicBezTo>
                        <a:pt x="80688" y="206521"/>
                        <a:pt x="84557" y="208959"/>
                        <a:pt x="88879" y="209451"/>
                      </a:cubicBezTo>
                      <a:cubicBezTo>
                        <a:pt x="93200" y="209942"/>
                        <a:pt x="97518" y="208434"/>
                        <a:pt x="100594" y="205359"/>
                      </a:cubicBezTo>
                      <a:lnTo>
                        <a:pt x="186319" y="119634"/>
                      </a:lnTo>
                      <a:cubicBezTo>
                        <a:pt x="188994" y="116955"/>
                        <a:pt x="190498" y="113319"/>
                        <a:pt x="190497" y="109533"/>
                      </a:cubicBezTo>
                      <a:cubicBezTo>
                        <a:pt x="190496" y="105746"/>
                        <a:pt x="188989" y="102111"/>
                        <a:pt x="186312" y="99434"/>
                      </a:cubicBezTo>
                      <a:cubicBezTo>
                        <a:pt x="183634" y="96757"/>
                        <a:pt x="179999" y="95251"/>
                        <a:pt x="176213" y="95250"/>
                      </a:cubicBezTo>
                      <a:lnTo>
                        <a:pt x="138141" y="95250"/>
                      </a:lnTo>
                      <a:cubicBezTo>
                        <a:pt x="136595" y="95252"/>
                        <a:pt x="135140" y="94501"/>
                        <a:pt x="134247" y="93239"/>
                      </a:cubicBezTo>
                      <a:cubicBezTo>
                        <a:pt x="133353" y="91976"/>
                        <a:pt x="133129" y="90355"/>
                        <a:pt x="133645" y="88897"/>
                      </a:cubicBezTo>
                      <a:lnTo>
                        <a:pt x="151581" y="381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2" name="memory//box-102">
                <a:extLst xmlns:a="http://schemas.openxmlformats.org/drawingml/2006/main">
                  <a:ext uri="{FF2B5EF4-FFF2-40B4-BE49-F238E27FC236}">
                    <a16:creationId xmlns:a16="http://schemas.microsoft.com/office/drawing/2014/main" id="{9B2520E4-37B6-460D-8943-C65D2100820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620500" y="3343275"/>
                <a:ext cx="12001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Demand ↑</a:t>
                </a:r>
              </a:p>
            </p:txBody>
          </p:sp>
          <p:sp>
            <p:nvSpPr>
              <p:cNvPr id="103" name="memory//box-103">
                <a:extLst xmlns:a="http://schemas.openxmlformats.org/drawingml/2006/main">
                  <a:ext uri="{FF2B5EF4-FFF2-40B4-BE49-F238E27FC236}">
                    <a16:creationId xmlns:a16="http://schemas.microsoft.com/office/drawing/2014/main" id="{9393D910-949E-4810-8307-EB4FE01A38D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96375" y="3905250"/>
                <a:ext cx="374332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Stored rationale and analytical trace</a:t>
                </a:r>
              </a:p>
            </p:txBody>
          </p:sp>
        </p:grpSp>
        <p:grpSp>
          <p:nvGrpSpPr>
            <p:cNvPr id="166" name="interaction"/>
            <p:cNvGrpSpPr/>
            <p:nvPr/>
          </p:nvGrpSpPr>
          <p:grpSpPr>
            <ns1:xfrm xmlns:ns1="http://schemas.openxmlformats.org/drawingml/2006/main">
              <ns1:off x="2409825" y="911543"/>
              <ns1:ext cx="6410325" cy="3041332"/>
              <ns1:chOff x="2409825" y="911543"/>
              <ns1:chExt cx="6410325" cy="3041332"/>
            </ns1:xfrm>
          </p:grpSpPr>
          <p:sp>
            <p:nvSpPr>
              <p:cNvPr id="104" name="interaction//operation-request-104">
                <a:extLst xmlns:a="http://schemas.openxmlformats.org/drawingml/2006/main">
                  <a:ext uri="{FF2B5EF4-FFF2-40B4-BE49-F238E27FC236}">
                    <a16:creationId xmlns:a16="http://schemas.microsoft.com/office/drawing/2014/main" id="{EA012FF9-FA76-48AD-8B07-1EBE513DB34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10125" y="1304925"/>
                <a:ext cx="95" cy="409575"/>
              </a:xfrm>
              <a:custGeom xmlns:a="http://schemas.openxmlformats.org/drawingml/2006/main">
                <a:pathLst>
                  <a:path w="95" h="409575">
                    <a:moveTo>
                      <a:pt x="0" y="0"/>
                    </a:moveTo>
                    <a:lnTo>
                      <a:pt x="0" y="40957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836780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05" name="interaction//operation-request-tip-105">
                <a:extLst xmlns:a="http://schemas.openxmlformats.org/drawingml/2006/main">
                  <a:ext uri="{FF2B5EF4-FFF2-40B4-BE49-F238E27FC236}">
                    <a16:creationId xmlns:a16="http://schemas.microsoft.com/office/drawing/2014/main" id="{8279FA01-C515-4E63-A16F-CA33A28C895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769168" y="1638300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8" y="76200"/>
                    </a:moveTo>
                    <a:lnTo>
                      <a:pt x="819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836780"/>
              </a:solidFill>
              <a:ln xmlns:a="http://schemas.openxmlformats.org/drawingml/2006/main" w="953" cap="rnd">
                <a:solidFill>
                  <a:srgbClr val="836780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6" name="interaction//box-106">
                <a:extLst xmlns:a="http://schemas.openxmlformats.org/drawingml/2006/main">
                  <a:ext uri="{FF2B5EF4-FFF2-40B4-BE49-F238E27FC236}">
                    <a16:creationId xmlns:a16="http://schemas.microsoft.com/office/drawing/2014/main" id="{C64F266A-4D00-4D2C-9CEC-AC2F1C62B71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409825" y="1381125"/>
                <a:ext cx="22669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defPPr>
                <a:lvl1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1pPr>
                <a:lvl2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2pPr>
                <a:lvl3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3pPr>
                <a:lvl4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4pPr>
                <a:lvl5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5pPr>
                <a:lvl6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6pPr>
                <a:lvl7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7pPr>
                <a:lvl8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8pPr>
                <a:lvl9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r">
                  <a:defRPr sz="1275" b="0" i="0">
                    <a:solidFill>
                      <a:srgbClr val="83678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836780"/>
                    </a:solidFill>
                    <a:latin typeface="Times New Roman"/>
                    <a:ea typeface="Arial"/>
                    <a:cs typeface="Arial"/>
                  </a:rPr>
                  <a:t>Operation + parameters</a:t>
                </a:r>
              </a:p>
            </p:txBody>
          </p:sp>
          <p:sp>
            <p:nvSpPr>
              <p:cNvPr id="107" name="interaction//observation-return-107">
                <a:extLst xmlns:a="http://schemas.openxmlformats.org/drawingml/2006/main">
                  <a:ext uri="{FF2B5EF4-FFF2-40B4-BE49-F238E27FC236}">
                    <a16:creationId xmlns:a16="http://schemas.microsoft.com/office/drawing/2014/main" id="{B7A4EF95-673F-4FB7-8383-98C6C8FB384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67550" y="1304925"/>
                <a:ext cx="1428750" cy="2647950"/>
              </a:xfrm>
              <a:custGeom xmlns:a="http://schemas.openxmlformats.org/drawingml/2006/main">
                <a:pathLst>
                  <a:path w="1428750" h="2647950">
                    <a:moveTo>
                      <a:pt x="1219200" y="2647950"/>
                    </a:moveTo>
                    <a:lnTo>
                      <a:pt x="1428750" y="2647950"/>
                    </a:lnTo>
                    <a:lnTo>
                      <a:pt x="142875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08" name="interaction//observation-return-tip-108">
                <a:extLst xmlns:a="http://schemas.openxmlformats.org/drawingml/2006/main">
                  <a:ext uri="{FF2B5EF4-FFF2-40B4-BE49-F238E27FC236}">
                    <a16:creationId xmlns:a16="http://schemas.microsoft.com/office/drawing/2014/main" id="{C5A94A7F-058C-48BC-BCF7-1711A0A08F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26593" y="1304925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7" y="0"/>
                    </a:moveTo>
                    <a:lnTo>
                      <a:pt x="0" y="76200"/>
                    </a:lnTo>
                    <a:lnTo>
                      <a:pt x="81915" y="76200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9" name="interaction//tools-read-workspace-109">
                <a:extLst xmlns:a="http://schemas.openxmlformats.org/drawingml/2006/main">
                  <a:ext uri="{FF2B5EF4-FFF2-40B4-BE49-F238E27FC236}">
                    <a16:creationId xmlns:a16="http://schemas.microsoft.com/office/drawing/2014/main" id="{1A702A66-5899-4B6A-B9AB-40A611A79EE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476625" y="3124200"/>
                <a:ext cx="476250" cy="95"/>
              </a:xfrm>
              <a:custGeom xmlns:a="http://schemas.openxmlformats.org/drawingml/2006/main">
                <a:pathLst>
                  <a:path w="476250" h="95">
                    <a:moveTo>
                      <a:pt x="476250" y="0"/>
                    </a:move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10" name="interaction//tools-read-workspace-tip-110">
                <a:extLst xmlns:a="http://schemas.openxmlformats.org/drawingml/2006/main">
                  <a:ext uri="{FF2B5EF4-FFF2-40B4-BE49-F238E27FC236}">
                    <a16:creationId xmlns:a16="http://schemas.microsoft.com/office/drawing/2014/main" id="{A313A742-8E45-473E-974B-8BD2651B02A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476625" y="30832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0" y="40958"/>
                    </a:moveTo>
                    <a:lnTo>
                      <a:pt x="76200" y="81915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11" name="interaction//memory-retrieval-111">
                <a:extLst xmlns:a="http://schemas.openxmlformats.org/drawingml/2006/main">
                  <a:ext uri="{FF2B5EF4-FFF2-40B4-BE49-F238E27FC236}">
                    <a16:creationId xmlns:a16="http://schemas.microsoft.com/office/drawing/2014/main" id="{DEF7EBE2-FDAC-45CE-ACE1-8B1F33E85B9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91550" y="952500"/>
                <a:ext cx="228600" cy="1962150"/>
              </a:xfrm>
              <a:custGeom xmlns:a="http://schemas.openxmlformats.org/drawingml/2006/main">
                <a:pathLst>
                  <a:path w="228600" h="1962150">
                    <a:moveTo>
                      <a:pt x="228600" y="1962150"/>
                    </a:moveTo>
                    <a:lnTo>
                      <a:pt x="123825" y="1962150"/>
                    </a:lnTo>
                    <a:lnTo>
                      <a:pt x="123825" y="0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12" name="interaction//memory-retrieval-tip-112">
                <a:extLst xmlns:a="http://schemas.openxmlformats.org/drawingml/2006/main">
                  <a:ext uri="{FF2B5EF4-FFF2-40B4-BE49-F238E27FC236}">
                    <a16:creationId xmlns:a16="http://schemas.microsoft.com/office/drawing/2014/main" id="{3B7FD16A-43F2-4133-944E-7B46C24261D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91550" y="9115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0" y="40957"/>
                    </a:moveTo>
                    <a:lnTo>
                      <a:pt x="76200" y="81915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</p:grpSp>
        <p:grpSp>
          <p:nvGrpSpPr>
            <p:cNvPr id="167" name="evolution"/>
            <p:cNvGrpSpPr/>
            <p:nvPr/>
          </p:nvGrpSpPr>
          <p:grpSpPr>
            <ns1:xfrm xmlns:ns1="http://schemas.openxmlformats.org/drawingml/2006/main">
              <ns1:off x="238125" y="3626168"/>
              <ns1:ext cx="12849225" cy="2469832"/>
              <ns1:chOff x="238125" y="3626168"/>
              <ns1:chExt cx="12849225" cy="2469832"/>
            </ns1:xfrm>
          </p:grpSpPr>
          <p:sp>
            <p:nvSpPr>
              <p:cNvPr id="113" name="evolution//path-113">
                <a:extLst xmlns:a="http://schemas.openxmlformats.org/drawingml/2006/main">
                  <a:ext uri="{FF2B5EF4-FFF2-40B4-BE49-F238E27FC236}">
                    <a16:creationId xmlns:a16="http://schemas.microsoft.com/office/drawing/2014/main" id="{E0F92F5E-46C4-46CF-BB76-FDE9BC3292D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38125" y="4686300"/>
                <a:ext cx="12849225" cy="95"/>
              </a:xfrm>
              <a:custGeom xmlns:a="http://schemas.openxmlformats.org/drawingml/2006/main">
                <a:pathLst>
                  <a:path w="12849225" h="95">
                    <a:moveTo>
                      <a:pt x="0" y="0"/>
                    </a:moveTo>
                    <a:lnTo>
                      <a:pt x="128492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14" name="evolution//box-114">
                <a:extLst xmlns:a="http://schemas.openxmlformats.org/drawingml/2006/main">
                  <a:ext uri="{FF2B5EF4-FFF2-40B4-BE49-F238E27FC236}">
                    <a16:creationId xmlns:a16="http://schemas.microsoft.com/office/drawing/2014/main" id="{2F17DBBF-CAB2-4611-ABA3-BAE7CB507D0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47650" y="4781550"/>
                <a:ext cx="564832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Experience-driven tool evolution</a:t>
                </a:r>
              </a:p>
            </p:txBody>
          </p:sp>
          <p:grpSp>
            <p:nvGrpSpPr>
              <p:cNvPr id="168" name="icon-clipboard-list-114"/>
              <p:cNvGrpSpPr/>
              <p:nvPr/>
            </p:nvGrpSpPr>
            <p:grpSpPr>
              <ns1:xfrm xmlns:ns1="http://schemas.openxmlformats.org/drawingml/2006/main">
                <ns1:off x="304800" y="5343525"/>
                <ns1:ext cx="323850" cy="323850"/>
                <ns1:chOff x="304800" y="5343525"/>
                <ns1:chExt cx="323850" cy="323850"/>
              </ns1:xfrm>
            </p:grpSpPr>
            <p:sp>
              <p:nvSpPr>
                <p:cNvPr id="115" name="evolution/icon-clipboard-list-114//clipboard-list-115">
                  <a:extLst xmlns:a="http://schemas.openxmlformats.org/drawingml/2006/main">
                    <a:ext uri="{FF2B5EF4-FFF2-40B4-BE49-F238E27FC236}">
                      <a16:creationId xmlns:a16="http://schemas.microsoft.com/office/drawing/2014/main" id="{6B9DF905-C0F4-46BE-9F6F-63829906308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9050"/>
                      </a:moveTo>
                      <a:lnTo>
                        <a:pt x="142875" y="19050"/>
                      </a:lnTo>
                      <a:quadBezTo>
                        <a:pt x="152400" y="19050"/>
                        <a:pt x="152400" y="28575"/>
                      </a:quadBezTo>
                      <a:lnTo>
                        <a:pt x="152400" y="47625"/>
                      </a:lnTo>
                      <a:quadBezTo>
                        <a:pt x="152400" y="57150"/>
                        <a:pt x="142875" y="57150"/>
                      </a:quadBezTo>
                      <a:lnTo>
                        <a:pt x="85725" y="57150"/>
                      </a:lnTo>
                      <a:quadBezTo>
                        <a:pt x="76200" y="57150"/>
                        <a:pt x="76200" y="47625"/>
                      </a:quadBezTo>
                      <a:lnTo>
                        <a:pt x="76200" y="28575"/>
                      </a:lnTo>
                      <a:quadBezTo>
                        <a:pt x="76200" y="19050"/>
                        <a:pt x="85725" y="190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6" name="evolution/icon-clipboard-list-114//clipboard-list-116">
                  <a:extLst xmlns:a="http://schemas.openxmlformats.org/drawingml/2006/main">
                    <a:ext uri="{FF2B5EF4-FFF2-40B4-BE49-F238E27FC236}">
                      <a16:creationId xmlns:a16="http://schemas.microsoft.com/office/drawing/2014/main" id="{BC2C4740-E0BE-4781-8DB6-2D7CD8F3D85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38100"/>
                      </a:moveTo>
                      <a:lnTo>
                        <a:pt x="171450" y="38100"/>
                      </a:lnTo>
                      <a:cubicBezTo>
                        <a:pt x="176500" y="38100"/>
                        <a:pt x="181349" y="40108"/>
                        <a:pt x="184920" y="43680"/>
                      </a:cubicBezTo>
                      <a:cubicBezTo>
                        <a:pt x="188492" y="47251"/>
                        <a:pt x="190500" y="52100"/>
                        <a:pt x="190500" y="57150"/>
                      </a:cubicBezTo>
                      <a:lnTo>
                        <a:pt x="190500" y="190500"/>
                      </a:lnTo>
                      <a:cubicBezTo>
                        <a:pt x="190500" y="195550"/>
                        <a:pt x="188492" y="200399"/>
                        <a:pt x="184920" y="203970"/>
                      </a:cubicBezTo>
                      <a:cubicBezTo>
                        <a:pt x="181349" y="207542"/>
                        <a:pt x="176500" y="209550"/>
                        <a:pt x="171450" y="209550"/>
                      </a:cubicBezTo>
                      <a:lnTo>
                        <a:pt x="57150" y="209550"/>
                      </a:lnTo>
                      <a:cubicBezTo>
                        <a:pt x="52100" y="209550"/>
                        <a:pt x="47251" y="207542"/>
                        <a:pt x="43680" y="203970"/>
                      </a:cubicBezTo>
                      <a:cubicBezTo>
                        <a:pt x="40108" y="200399"/>
                        <a:pt x="38100" y="195550"/>
                        <a:pt x="38100" y="190500"/>
                      </a:cubicBezTo>
                      <a:lnTo>
                        <a:pt x="38100" y="57150"/>
                      </a:lnTo>
                      <a:cubicBezTo>
                        <a:pt x="38100" y="52100"/>
                        <a:pt x="40108" y="47251"/>
                        <a:pt x="43680" y="43680"/>
                      </a:cubicBezTo>
                      <a:cubicBezTo>
                        <a:pt x="47251" y="40108"/>
                        <a:pt x="52100" y="38100"/>
                        <a:pt x="57150" y="38100"/>
                      </a:cubicBezTo>
                      <a:lnTo>
                        <a:pt x="76200" y="381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7" name="evolution/icon-clipboard-list-114//clipboard-list-117">
                  <a:extLst xmlns:a="http://schemas.openxmlformats.org/drawingml/2006/main">
                    <a:ext uri="{FF2B5EF4-FFF2-40B4-BE49-F238E27FC236}">
                      <a16:creationId xmlns:a16="http://schemas.microsoft.com/office/drawing/2014/main" id="{9054A397-8043-46A2-ACFB-660C79B6133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104775"/>
                      </a:moveTo>
                      <a:lnTo>
                        <a:pt x="152400" y="1047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8" name="evolution/icon-clipboard-list-114//clipboard-list-118">
                  <a:extLst xmlns:a="http://schemas.openxmlformats.org/drawingml/2006/main">
                    <a:ext uri="{FF2B5EF4-FFF2-40B4-BE49-F238E27FC236}">
                      <a16:creationId xmlns:a16="http://schemas.microsoft.com/office/drawing/2014/main" id="{B8795521-4678-42EB-9502-9BC8982870C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152400"/>
                      </a:moveTo>
                      <a:lnTo>
                        <a:pt x="152400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9" name="evolution/icon-clipboard-list-114//clipboard-list-119">
                  <a:extLst xmlns:a="http://schemas.openxmlformats.org/drawingml/2006/main">
                    <a:ext uri="{FF2B5EF4-FFF2-40B4-BE49-F238E27FC236}">
                      <a16:creationId xmlns:a16="http://schemas.microsoft.com/office/drawing/2014/main" id="{6725DF37-62B1-4AE3-AE81-A8B47949773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104775"/>
                      </a:moveTo>
                      <a:lnTo>
                        <a:pt x="76295" y="1047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20" name="evolution/icon-clipboard-list-114//clipboard-list-120">
                  <a:extLst xmlns:a="http://schemas.openxmlformats.org/drawingml/2006/main">
                    <a:ext uri="{FF2B5EF4-FFF2-40B4-BE49-F238E27FC236}">
                      <a16:creationId xmlns:a16="http://schemas.microsoft.com/office/drawing/2014/main" id="{C6F2578E-1B7E-4AC0-8C59-770AEB95D2A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048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152400"/>
                      </a:moveTo>
                      <a:lnTo>
                        <a:pt x="7629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21" name="evolution//box-121">
                <a:extLst xmlns:a="http://schemas.openxmlformats.org/drawingml/2006/main">
                  <a:ext uri="{FF2B5EF4-FFF2-40B4-BE49-F238E27FC236}">
                    <a16:creationId xmlns:a16="http://schemas.microsoft.com/office/drawing/2014/main" id="{F440F4A2-02EC-4E04-88C1-08CCC4A7EDB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276850"/>
                <a:ext cx="25336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Executed traces</a:t>
                </a:r>
              </a:p>
            </p:txBody>
          </p:sp>
          <p:sp>
            <p:nvSpPr>
              <p:cNvPr id="122" name="evolution//box-122">
                <a:extLst xmlns:a="http://schemas.openxmlformats.org/drawingml/2006/main">
                  <a:ext uri="{FF2B5EF4-FFF2-40B4-BE49-F238E27FC236}">
                    <a16:creationId xmlns:a16="http://schemas.microsoft.com/office/drawing/2014/main" id="{9655D71C-6A88-4426-8B79-5B71DF3B472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657850"/>
                <a:ext cx="2562225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Cluster recurring procedures</a:t>
                </a:r>
              </a:p>
            </p:txBody>
          </p:sp>
          <p:sp>
            <p:nvSpPr>
              <p:cNvPr id="123" name="evolution//promotion-step-0-123">
                <a:extLst xmlns:a="http://schemas.openxmlformats.org/drawingml/2006/main">
                  <a:ext uri="{FF2B5EF4-FFF2-40B4-BE49-F238E27FC236}">
                    <a16:creationId xmlns:a16="http://schemas.microsoft.com/office/drawing/2014/main" id="{0086A5E6-E454-40B1-9D80-D4A7E89327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009900" y="5505450"/>
                <a:ext cx="400050" cy="95"/>
              </a:xfrm>
              <a:custGeom xmlns:a="http://schemas.openxmlformats.org/drawingml/2006/main">
                <a:pathLst>
                  <a:path w="400050" h="9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24" name="evolution//promotion-step-0-tip-124">
                <a:extLst xmlns:a="http://schemas.openxmlformats.org/drawingml/2006/main">
                  <a:ext uri="{FF2B5EF4-FFF2-40B4-BE49-F238E27FC236}">
                    <a16:creationId xmlns:a16="http://schemas.microsoft.com/office/drawing/2014/main" id="{19B2225B-9080-4038-8A5D-A31516E086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33750" y="546449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69" name="icon-code-xml-124"/>
              <p:cNvGrpSpPr/>
              <p:nvPr/>
            </p:nvGrpSpPr>
            <p:grpSpPr>
              <ns1:xfrm xmlns:ns1="http://schemas.openxmlformats.org/drawingml/2006/main">
                <ns1:off x="3543300" y="5343525"/>
                <ns1:ext cx="323850" cy="323850"/>
                <ns1:chOff x="3543300" y="5343525"/>
                <ns1:chExt cx="323850" cy="323850"/>
              </ns1:xfrm>
            </p:grpSpPr>
            <p:sp>
              <p:nvSpPr>
                <p:cNvPr id="125" name="evolution/icon-code-xml-124//code-xml-125">
                  <a:extLst xmlns:a="http://schemas.openxmlformats.org/drawingml/2006/main">
                    <a:ext uri="{FF2B5EF4-FFF2-40B4-BE49-F238E27FC236}">
                      <a16:creationId xmlns:a16="http://schemas.microsoft.com/office/drawing/2014/main" id="{080E6E05-9154-4F61-82AB-EF59A5E05A4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5433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152400"/>
                      </a:moveTo>
                      <a:lnTo>
                        <a:pt x="209550" y="114300"/>
                      </a:lnTo>
                      <a:lnTo>
                        <a:pt x="171450" y="762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26" name="evolution/icon-code-xml-124//code-xml-126">
                  <a:extLst xmlns:a="http://schemas.openxmlformats.org/drawingml/2006/main">
                    <a:ext uri="{FF2B5EF4-FFF2-40B4-BE49-F238E27FC236}">
                      <a16:creationId xmlns:a16="http://schemas.microsoft.com/office/drawing/2014/main" id="{A9AB518E-8EF5-4C6C-9928-56061C721E9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5433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76200"/>
                      </a:moveTo>
                      <a:lnTo>
                        <a:pt x="19050" y="114300"/>
                      </a:lnTo>
                      <a:lnTo>
                        <a:pt x="57150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27" name="evolution/icon-code-xml-124//code-xml-127">
                  <a:extLst xmlns:a="http://schemas.openxmlformats.org/drawingml/2006/main">
                    <a:ext uri="{FF2B5EF4-FFF2-40B4-BE49-F238E27FC236}">
                      <a16:creationId xmlns:a16="http://schemas.microsoft.com/office/drawing/2014/main" id="{65AFFA98-3A02-4033-B7CE-8040C618138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5433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38113" y="38100"/>
                      </a:moveTo>
                      <a:lnTo>
                        <a:pt x="90488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28" name="evolution//box-128">
                <a:extLst xmlns:a="http://schemas.openxmlformats.org/drawingml/2006/main">
                  <a:ext uri="{FF2B5EF4-FFF2-40B4-BE49-F238E27FC236}">
                    <a16:creationId xmlns:a16="http://schemas.microsoft.com/office/drawing/2014/main" id="{9DF322C4-4127-4706-BE9C-4384BB2EB35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10025" y="5276850"/>
                <a:ext cx="25336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Candidate tool</a:t>
                </a:r>
              </a:p>
            </p:txBody>
          </p:sp>
          <p:sp>
            <p:nvSpPr>
              <p:cNvPr id="129" name="evolution//box-129">
                <a:extLst xmlns:a="http://schemas.openxmlformats.org/drawingml/2006/main">
                  <a:ext uri="{FF2B5EF4-FFF2-40B4-BE49-F238E27FC236}">
                    <a16:creationId xmlns:a16="http://schemas.microsoft.com/office/drawing/2014/main" id="{D32BEC5E-15DC-4C08-B262-A58FAEB17B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10025" y="5657850"/>
                <a:ext cx="2562225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Program + invocation description</a:t>
                </a:r>
              </a:p>
            </p:txBody>
          </p:sp>
          <p:sp>
            <p:nvSpPr>
              <p:cNvPr id="130" name="evolution//promotion-step-1-130">
                <a:extLst xmlns:a="http://schemas.openxmlformats.org/drawingml/2006/main">
                  <a:ext uri="{FF2B5EF4-FFF2-40B4-BE49-F238E27FC236}">
                    <a16:creationId xmlns:a16="http://schemas.microsoft.com/office/drawing/2014/main" id="{AC74CD41-F3B4-4F8A-AEC7-2F12AEBDACB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248400" y="5505450"/>
                <a:ext cx="323850" cy="95"/>
              </a:xfrm>
              <a:custGeom xmlns:a="http://schemas.openxmlformats.org/drawingml/2006/main">
                <a:pathLst>
                  <a:path w="323850" h="9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31" name="evolution//promotion-step-1-tip-131">
                <a:extLst xmlns:a="http://schemas.openxmlformats.org/drawingml/2006/main">
                  <a:ext uri="{FF2B5EF4-FFF2-40B4-BE49-F238E27FC236}">
                    <a16:creationId xmlns:a16="http://schemas.microsoft.com/office/drawing/2014/main" id="{D23B0958-2F8C-4A32-B9C6-5E9678BA49D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496050" y="546449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70" name="icon-flask-conical-131"/>
              <p:cNvGrpSpPr/>
              <p:nvPr/>
            </p:nvGrpSpPr>
            <p:grpSpPr>
              <ns1:xfrm xmlns:ns1="http://schemas.openxmlformats.org/drawingml/2006/main">
                <ns1:off x="6705600" y="5343525"/>
                <ns1:ext cx="323850" cy="323850"/>
                <ns1:chOff x="6705600" y="5343525"/>
                <ns1:chExt cx="323850" cy="323850"/>
              </ns1:xfrm>
            </p:grpSpPr>
            <p:sp>
              <p:nvSpPr>
                <p:cNvPr id="132" name="evolution/icon-flask-conical-131//flask-conical-132">
                  <a:extLst xmlns:a="http://schemas.openxmlformats.org/drawingml/2006/main">
                    <a:ext uri="{FF2B5EF4-FFF2-40B4-BE49-F238E27FC236}">
                      <a16:creationId xmlns:a16="http://schemas.microsoft.com/office/drawing/2014/main" id="{CBA19C98-F7E9-4248-8748-99EC2E7D4A4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7056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9050"/>
                      </a:moveTo>
                      <a:lnTo>
                        <a:pt x="133350" y="76200"/>
                      </a:lnTo>
                      <a:cubicBezTo>
                        <a:pt x="133349" y="79395"/>
                        <a:pt x="134151" y="82540"/>
                        <a:pt x="135684" y="85344"/>
                      </a:cubicBezTo>
                      <a:lnTo>
                        <a:pt x="188166" y="181356"/>
                      </a:lnTo>
                      <a:cubicBezTo>
                        <a:pt x="191392" y="187252"/>
                        <a:pt x="191268" y="194435"/>
                        <a:pt x="187841" y="200216"/>
                      </a:cubicBezTo>
                      <a:cubicBezTo>
                        <a:pt x="184413" y="205996"/>
                        <a:pt x="178171" y="209552"/>
                        <a:pt x="171450" y="209550"/>
                      </a:cubicBezTo>
                      <a:lnTo>
                        <a:pt x="57150" y="209550"/>
                      </a:lnTo>
                      <a:cubicBezTo>
                        <a:pt x="50429" y="209552"/>
                        <a:pt x="44187" y="205996"/>
                        <a:pt x="40759" y="200216"/>
                      </a:cubicBezTo>
                      <a:cubicBezTo>
                        <a:pt x="37332" y="194435"/>
                        <a:pt x="37208" y="187252"/>
                        <a:pt x="40434" y="181356"/>
                      </a:cubicBezTo>
                      <a:lnTo>
                        <a:pt x="92916" y="85344"/>
                      </a:lnTo>
                      <a:cubicBezTo>
                        <a:pt x="94449" y="82540"/>
                        <a:pt x="95251" y="79395"/>
                        <a:pt x="95250" y="76200"/>
                      </a:cubicBezTo>
                      <a:lnTo>
                        <a:pt x="95250" y="190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3" name="evolution/icon-flask-conical-131//flask-conical-133">
                  <a:extLst xmlns:a="http://schemas.openxmlformats.org/drawingml/2006/main">
                    <a:ext uri="{FF2B5EF4-FFF2-40B4-BE49-F238E27FC236}">
                      <a16:creationId xmlns:a16="http://schemas.microsoft.com/office/drawing/2014/main" id="{F00D1025-0542-4F0F-9104-775FFE01B4D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7056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1465" y="142875"/>
                      </a:moveTo>
                      <a:lnTo>
                        <a:pt x="167135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4" name="evolution/icon-flask-conical-131//flask-conical-134">
                  <a:extLst xmlns:a="http://schemas.openxmlformats.org/drawingml/2006/main">
                    <a:ext uri="{FF2B5EF4-FFF2-40B4-BE49-F238E27FC236}">
                      <a16:creationId xmlns:a16="http://schemas.microsoft.com/office/drawing/2014/main" id="{74EF5F05-7CAC-41A2-BECA-AFC8F8AEAF2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705600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80963" y="19050"/>
                      </a:moveTo>
                      <a:lnTo>
                        <a:pt x="147638" y="190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35" name="evolution//box-135">
                <a:extLst xmlns:a="http://schemas.openxmlformats.org/drawingml/2006/main">
                  <a:ext uri="{FF2B5EF4-FFF2-40B4-BE49-F238E27FC236}">
                    <a16:creationId xmlns:a16="http://schemas.microsoft.com/office/drawing/2014/main" id="{DEFAFEE7-79AB-4A23-947D-BE8133BEC29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72325" y="5276850"/>
                <a:ext cx="25336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Held-out tasks</a:t>
                </a:r>
              </a:p>
            </p:txBody>
          </p:sp>
          <p:sp>
            <p:nvSpPr>
              <p:cNvPr id="136" name="evolution//box-136">
                <a:extLst xmlns:a="http://schemas.openxmlformats.org/drawingml/2006/main">
                  <a:ext uri="{FF2B5EF4-FFF2-40B4-BE49-F238E27FC236}">
                    <a16:creationId xmlns:a16="http://schemas.microsoft.com/office/drawing/2014/main" id="{CA122355-4E86-411D-B32D-983A7E7C1CD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72325" y="5657850"/>
                <a:ext cx="2562225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Success rate exceeds threshold</a:t>
                </a:r>
              </a:p>
            </p:txBody>
          </p:sp>
          <p:sp>
            <p:nvSpPr>
              <p:cNvPr id="137" name="evolution//promotion-step-2-137">
                <a:extLst xmlns:a="http://schemas.openxmlformats.org/drawingml/2006/main">
                  <a:ext uri="{FF2B5EF4-FFF2-40B4-BE49-F238E27FC236}">
                    <a16:creationId xmlns:a16="http://schemas.microsoft.com/office/drawing/2014/main" id="{A887CBA4-9FA4-4ADC-9E95-348C3F12A4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10700" y="5505450"/>
                <a:ext cx="371475" cy="95"/>
              </a:xfrm>
              <a:custGeom xmlns:a="http://schemas.openxmlformats.org/drawingml/2006/main">
                <a:pathLst>
                  <a:path w="371475" h="95">
                    <a:moveTo>
                      <a:pt x="0" y="0"/>
                    </a:moveTo>
                    <a:lnTo>
                      <a:pt x="3714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38" name="evolution//promotion-step-2-tip-138">
                <a:extLst xmlns:a="http://schemas.openxmlformats.org/drawingml/2006/main">
                  <a:ext uri="{FF2B5EF4-FFF2-40B4-BE49-F238E27FC236}">
                    <a16:creationId xmlns:a16="http://schemas.microsoft.com/office/drawing/2014/main" id="{EBC979B0-ECF0-4104-AD77-9E75553BD3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705975" y="546449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71" name="icon-package-check-138"/>
              <p:cNvGrpSpPr/>
              <p:nvPr/>
            </p:nvGrpSpPr>
            <p:grpSpPr>
              <ns1:xfrm xmlns:ns1="http://schemas.openxmlformats.org/drawingml/2006/main">
                <ns1:off x="9915525" y="5343525"/>
                <ns1:ext cx="323850" cy="323850"/>
                <ns1:chOff x="9915525" y="5343525"/>
                <ns1:chExt cx="323850" cy="323850"/>
              </ns1:xfrm>
            </p:grpSpPr>
            <p:sp>
              <p:nvSpPr>
                <p:cNvPr id="139" name="evolution/icon-package-check-138//package-check-139">
                  <a:extLst xmlns:a="http://schemas.openxmlformats.org/drawingml/2006/main">
                    <a:ext uri="{FF2B5EF4-FFF2-40B4-BE49-F238E27FC236}">
                      <a16:creationId xmlns:a16="http://schemas.microsoft.com/office/drawing/2014/main" id="{EE5341BD-821E-4246-AE38-E9BA9D97AAA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915525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209550"/>
                      </a:moveTo>
                      <a:lnTo>
                        <a:pt x="11430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0" name="evolution/icon-package-check-138//package-check-140">
                  <a:extLst xmlns:a="http://schemas.openxmlformats.org/drawingml/2006/main">
                    <a:ext uri="{FF2B5EF4-FFF2-40B4-BE49-F238E27FC236}">
                      <a16:creationId xmlns:a16="http://schemas.microsoft.com/office/drawing/2014/main" id="{DAB78002-8D7B-4EF3-90F9-4639326A13C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915525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61925"/>
                      </a:moveTo>
                      <a:lnTo>
                        <a:pt x="171450" y="180975"/>
                      </a:lnTo>
                      <a:lnTo>
                        <a:pt x="209550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1" name="evolution/icon-package-check-138//package-check-141">
                  <a:extLst xmlns:a="http://schemas.openxmlformats.org/drawingml/2006/main">
                    <a:ext uri="{FF2B5EF4-FFF2-40B4-BE49-F238E27FC236}">
                      <a16:creationId xmlns:a16="http://schemas.microsoft.com/office/drawing/2014/main" id="{02446A46-462B-4BA9-83A8-2F265E1A72C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915525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05985"/>
                      </a:moveTo>
                      <a:lnTo>
                        <a:pt x="200025" y="76200"/>
                      </a:lnTo>
                      <a:cubicBezTo>
                        <a:pt x="200018" y="69409"/>
                        <a:pt x="196381" y="63117"/>
                        <a:pt x="190500" y="59722"/>
                      </a:cubicBezTo>
                      <a:lnTo>
                        <a:pt x="123825" y="21622"/>
                      </a:lnTo>
                      <a:cubicBezTo>
                        <a:pt x="120929" y="19950"/>
                        <a:pt x="117644" y="19070"/>
                        <a:pt x="114300" y="19070"/>
                      </a:cubicBezTo>
                      <a:cubicBezTo>
                        <a:pt x="110956" y="19070"/>
                        <a:pt x="107671" y="19950"/>
                        <a:pt x="104775" y="21622"/>
                      </a:cubicBezTo>
                      <a:lnTo>
                        <a:pt x="38100" y="59722"/>
                      </a:lnTo>
                      <a:cubicBezTo>
                        <a:pt x="32219" y="63117"/>
                        <a:pt x="28582" y="69409"/>
                        <a:pt x="28575" y="76200"/>
                      </a:cubicBezTo>
                      <a:lnTo>
                        <a:pt x="28575" y="152400"/>
                      </a:lnTo>
                      <a:cubicBezTo>
                        <a:pt x="28585" y="159187"/>
                        <a:pt x="32222" y="165475"/>
                        <a:pt x="38100" y="168869"/>
                      </a:cubicBezTo>
                      <a:lnTo>
                        <a:pt x="104775" y="206969"/>
                      </a:lnTo>
                      <a:cubicBezTo>
                        <a:pt x="107670" y="208642"/>
                        <a:pt x="110955" y="209524"/>
                        <a:pt x="114299" y="209526"/>
                      </a:cubicBezTo>
                      <a:cubicBezTo>
                        <a:pt x="117642" y="209527"/>
                        <a:pt x="120928" y="208649"/>
                        <a:pt x="123825" y="206978"/>
                      </a:cubicBezTo>
                      <a:lnTo>
                        <a:pt x="136398" y="199806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2" name="evolution/icon-package-check-138//package-check-142">
                  <a:extLst xmlns:a="http://schemas.openxmlformats.org/drawingml/2006/main">
                    <a:ext uri="{FF2B5EF4-FFF2-40B4-BE49-F238E27FC236}">
                      <a16:creationId xmlns:a16="http://schemas.microsoft.com/office/drawing/2014/main" id="{D5C38B85-1063-4511-92B6-413154AE7A7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915525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31337" y="66675"/>
                      </a:moveTo>
                      <a:lnTo>
                        <a:pt x="114300" y="114300"/>
                      </a:lnTo>
                      <a:lnTo>
                        <a:pt x="197263" y="666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3" name="evolution/icon-package-check-138//package-check-143">
                  <a:extLst xmlns:a="http://schemas.openxmlformats.org/drawingml/2006/main">
                    <a:ext uri="{FF2B5EF4-FFF2-40B4-BE49-F238E27FC236}">
                      <a16:creationId xmlns:a16="http://schemas.microsoft.com/office/drawing/2014/main" id="{DF9AE373-198B-4E72-A2D8-A5ECDE8320A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915525" y="53435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71438" y="40672"/>
                      </a:moveTo>
                      <a:lnTo>
                        <a:pt x="157134" y="89706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44" name="evolution//box-144">
                <a:extLst xmlns:a="http://schemas.openxmlformats.org/drawingml/2006/main">
                  <a:ext uri="{FF2B5EF4-FFF2-40B4-BE49-F238E27FC236}">
                    <a16:creationId xmlns:a16="http://schemas.microsoft.com/office/drawing/2014/main" id="{F808162B-DE27-47F1-89A9-4B062885A4F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82250" y="5276850"/>
                <a:ext cx="25336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Registered tool</a:t>
                </a:r>
              </a:p>
            </p:txBody>
          </p:sp>
          <p:sp>
            <p:nvSpPr>
              <p:cNvPr id="145" name="evolution//box-145">
                <a:extLst xmlns:a="http://schemas.openxmlformats.org/drawingml/2006/main">
                  <a:ext uri="{FF2B5EF4-FFF2-40B4-BE49-F238E27FC236}">
                    <a16:creationId xmlns:a16="http://schemas.microsoft.com/office/drawing/2014/main" id="{61CE4A0E-B46C-471F-A8CA-F0AD37B0BD5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82250" y="5657850"/>
                <a:ext cx="2562225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Available to later episodes</a:t>
                </a:r>
              </a:p>
            </p:txBody>
          </p:sp>
          <p:sp>
            <p:nvSpPr>
              <p:cNvPr id="146" name="evolution//registered-tools-return-146">
                <a:extLst xmlns:a="http://schemas.openxmlformats.org/drawingml/2006/main">
                  <a:ext uri="{FF2B5EF4-FFF2-40B4-BE49-F238E27FC236}">
                    <a16:creationId xmlns:a16="http://schemas.microsoft.com/office/drawing/2014/main" id="{9F10BE84-9F98-43DD-86D8-F952135DB18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48600" y="3667125"/>
                <a:ext cx="4953000" cy="1590675"/>
              </a:xfrm>
              <a:custGeom xmlns:a="http://schemas.openxmlformats.org/drawingml/2006/main">
                <a:pathLst>
                  <a:path w="4953000" h="1590675">
                    <a:moveTo>
                      <a:pt x="4953000" y="1590675"/>
                    </a:moveTo>
                    <a:lnTo>
                      <a:pt x="4953000" y="1238250"/>
                    </a:lnTo>
                    <a:lnTo>
                      <a:pt x="390525" y="1238250"/>
                    </a:lnTo>
                    <a:lnTo>
                      <a:pt x="390525" y="0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47" name="evolution//registered-tools-return-tip-147">
                <a:extLst xmlns:a="http://schemas.openxmlformats.org/drawingml/2006/main">
                  <a:ext uri="{FF2B5EF4-FFF2-40B4-BE49-F238E27FC236}">
                    <a16:creationId xmlns:a16="http://schemas.microsoft.com/office/drawing/2014/main" id="{151D96E3-0877-4698-A28F-E7CD4123426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48600" y="36261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0" y="40958"/>
                    </a:moveTo>
                    <a:lnTo>
                      <a:pt x="76200" y="81915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48" name="evolution//box-148">
                <a:extLst xmlns:a="http://schemas.openxmlformats.org/drawingml/2006/main">
                  <a:ext uri="{FF2B5EF4-FFF2-40B4-BE49-F238E27FC236}">
                    <a16:creationId xmlns:a16="http://schemas.microsoft.com/office/drawing/2014/main" id="{9A63F53C-E4F5-49F5-B467-2865C9ED390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29750" y="4762500"/>
                <a:ext cx="2781300" cy="2476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49" name="evolution//box-149">
                <a:extLst xmlns:a="http://schemas.openxmlformats.org/drawingml/2006/main">
                  <a:ext uri="{FF2B5EF4-FFF2-40B4-BE49-F238E27FC236}">
                    <a16:creationId xmlns:a16="http://schemas.microsoft.com/office/drawing/2014/main" id="{F8794A49-C532-44F0-8869-140A69C3A85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29750" y="4762500"/>
                <a:ext cx="27813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0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328372"/>
                    </a:solidFill>
                    <a:latin typeface="Times New Roman"/>
                    <a:ea typeface="Arial"/>
                    <a:cs typeface="Arial"/>
                  </a:rPr>
                  <a:t>Add to the runtime tool set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3727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2026-10-22T16:15:26.9390000Z</dcterms:created>
  <dcterms:modified xsi:type="dcterms:W3CDTF">2026-10-22T16:15:26.9390000Z</dcterms:modified>
</coreProperties>
</file>