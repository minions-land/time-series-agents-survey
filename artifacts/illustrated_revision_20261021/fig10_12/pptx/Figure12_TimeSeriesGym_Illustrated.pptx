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431250" cy="9829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omplete figure — ungroup to edit modules"/>
          <p:cNvGrpSpPr/>
          <p:nvPr/>
        </p:nvGrpSpPr>
        <p:grpSpPr>
          <a:xfrm>
            <a:off x="267843" y="267843"/>
            <a:ext cx="21038439" cy="9340405"/>
            <a:chOff x="267843" y="267843"/>
            <a:chExt cx="21038439" cy="9340405"/>
          </a:xfrm>
        </p:grpSpPr>
        <p:sp>
          <p:nvSpPr>
            <p:cNvPr id="6" name="Line 6"/>
            <p:cNvSpPr/>
            <p:nvPr/>
          </p:nvSpPr>
          <p:spPr>
            <a:xfrm>
              <a:off x="6018657" y="4375594"/>
              <a:ext cx="1125093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7" name="Line 7"/>
            <p:cNvSpPr/>
            <p:nvPr/>
          </p:nvSpPr>
          <p:spPr>
            <a:xfrm>
              <a:off x="14466094" y="4375594"/>
              <a:ext cx="1250156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8" name="Path 8"/>
            <p:cNvSpPr/>
            <p:nvPr/>
          </p:nvSpPr>
          <p:spPr>
            <a:xfrm>
              <a:off x="3125343" y="8322469"/>
              <a:ext cx="15448407" cy="428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</a:path>
              </a:pathLst>
            </a:custGeom>
            <a:noFill/>
            <a:ln w="28575">
              <a:solidFill>
                <a:srgbClr val="285F86"/>
              </a:solidFill>
              <a:tailEnd type="none"/>
            </a:ln>
          </p:spPr>
          <p:txBody>
            <a:bodyPr/>
            <a:lstStyle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4196906" y="8983218"/>
              <a:ext cx="13037344" cy="625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937" b="1">
                  <a:solidFill>
                    <a:srgbClr val="285F86"/>
                  </a:solidFill>
                  <a:latin typeface="Times New Roman"/>
                  <a:ea typeface="Times New Roman"/>
                  <a:cs typeface="Times New Roman"/>
                </a:rPr>
                <a:t>Shared challenge contract across Agents</a:t>
              </a:r>
              <a:endParaRPr lang="zh-CN" sz="3937"/>
            </a:p>
          </p:txBody>
        </p:sp>
        <p:grpSp>
          <p:nvGrpSpPr>
            <p:cNvPr id="18" name="Executable environment — separate original image and editable labels"/>
            <p:cNvGrpSpPr/>
            <p:nvPr/>
          </p:nvGrpSpPr>
          <p:grpSpPr>
            <a:xfrm>
              <a:off x="7304532" y="267843"/>
              <a:ext cx="6965156" cy="7858125"/>
              <a:chOff x="7304532" y="267843"/>
              <a:chExt cx="6965156" cy="7858125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7304532" y="267843"/>
                <a:ext cx="6965156" cy="7858125"/>
              </a:xfrm>
              <a:prstGeom prst="roundRect">
                <a:avLst>
                  <a:gd name="adj" fmla="val 2051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" name="Exact cropped scientific illustration 1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90282" y="1482280"/>
                <a:ext cx="6429375" cy="6429375"/>
              </a:xfrm>
              <a:prstGeom prst="rect">
                <a:avLst/>
              </a:prstGeom>
            </p:spPr>
          </p:pic>
          <p:sp>
            <p:nvSpPr>
              <p:cNvPr id="12" name="TextBox 12"/>
              <p:cNvSpPr txBox="1"/>
              <p:nvPr/>
            </p:nvSpPr>
            <p:spPr>
              <a:xfrm>
                <a:off x="7465219" y="428625"/>
                <a:ext cx="6607969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359" b="1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Executable environment</a:t>
                </a:r>
                <a:endParaRPr lang="zh-CN" sz="4359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47407" y="7393781"/>
                <a:ext cx="6643688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93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Agent uses resources to produce artifacts</a:t>
                </a:r>
                <a:endParaRPr lang="zh-CN" sz="3093"/>
              </a:p>
            </p:txBody>
          </p:sp>
        </p:grpSp>
        <p:grpSp>
          <p:nvGrpSpPr>
            <p:cNvPr id="19" name="Challenge resources — separate original image and editable labels"/>
            <p:cNvGrpSpPr/>
            <p:nvPr/>
          </p:nvGrpSpPr>
          <p:grpSpPr>
            <a:xfrm>
              <a:off x="267843" y="357188"/>
              <a:ext cx="5715000" cy="7697342"/>
              <a:chOff x="267843" y="357188"/>
              <a:chExt cx="5715000" cy="7697342"/>
            </a:xfrm>
          </p:grpSpPr>
          <p:pic>
            <p:nvPicPr>
              <p:cNvPr id="3" name="Exact cropped scientific illustration 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0718" y="1518094"/>
                <a:ext cx="5357812" cy="5357812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267843" y="357188"/>
                <a:ext cx="571500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359" b="1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Challenge resources</a:t>
                </a:r>
                <a:endParaRPr lang="zh-CN" sz="4359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57188" y="6840093"/>
                <a:ext cx="5536406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515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Data · code · papers</a:t>
                </a:r>
                <a:endParaRPr lang="zh-CN" sz="3515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57188" y="7483030"/>
                <a:ext cx="5536406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515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Task description</a:t>
                </a:r>
                <a:endParaRPr lang="zh-CN" sz="3515"/>
              </a:p>
            </p:txBody>
          </p:sp>
        </p:grpSp>
        <p:grpSp>
          <p:nvGrpSpPr>
            <p:cNvPr id="20" name="Challenge grader — separate original image and editable labels"/>
            <p:cNvGrpSpPr/>
            <p:nvPr/>
          </p:nvGrpSpPr>
          <p:grpSpPr>
            <a:xfrm>
              <a:off x="15716250" y="357188"/>
              <a:ext cx="5590032" cy="7697342"/>
              <a:chOff x="15716250" y="357188"/>
              <a:chExt cx="5590032" cy="7697342"/>
            </a:xfrm>
          </p:grpSpPr>
          <p:pic>
            <p:nvPicPr>
              <p:cNvPr id="5" name="Exact cropped scientific illustration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84093" y="1553718"/>
                <a:ext cx="5179219" cy="5179219"/>
              </a:xfrm>
              <a:prstGeom prst="rect">
                <a:avLst/>
              </a:prstGeom>
            </p:spPr>
          </p:pic>
          <p:sp>
            <p:nvSpPr>
              <p:cNvPr id="14" name="TextBox 14"/>
              <p:cNvSpPr txBox="1"/>
              <p:nvPr/>
            </p:nvSpPr>
            <p:spPr>
              <a:xfrm>
                <a:off x="15769780" y="357188"/>
                <a:ext cx="5536406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359" b="1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Challenge grader</a:t>
                </a:r>
                <a:endParaRPr lang="zh-CN" sz="4359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948470" y="6822281"/>
                <a:ext cx="5357812" cy="607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656" b="1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Artifact checks</a:t>
                </a:r>
                <a:endParaRPr lang="zh-CN" sz="3656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716250" y="7483030"/>
                <a:ext cx="5536406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515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Task-specific metrics</a:t>
                </a:r>
                <a:endParaRPr lang="zh-CN" sz="3515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