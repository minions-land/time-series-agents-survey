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21431250" cy="100965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Complete figure — ungroup to edit modules"/>
          <p:cNvGrpSpPr/>
          <p:nvPr/>
        </p:nvGrpSpPr>
        <p:grpSpPr>
          <a:xfrm>
            <a:off x="321469" y="357187"/>
            <a:ext cx="20859750" cy="9394031"/>
            <a:chOff x="321469" y="357187"/>
            <a:chExt cx="20859750" cy="9394031"/>
          </a:xfrm>
        </p:grpSpPr>
        <p:sp>
          <p:nvSpPr>
            <p:cNvPr id="12" name="Line 12"/>
            <p:cNvSpPr/>
            <p:nvPr/>
          </p:nvSpPr>
          <p:spPr>
            <a:xfrm>
              <a:off x="5268468" y="3589782"/>
              <a:ext cx="321564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>
              <a:off x="10590657" y="3589782"/>
              <a:ext cx="321373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4" name="Line 14"/>
            <p:cNvSpPr/>
            <p:nvPr/>
          </p:nvSpPr>
          <p:spPr>
            <a:xfrm>
              <a:off x="15912655" y="3589782"/>
              <a:ext cx="321564" cy="0"/>
            </a:xfrm>
            <a:prstGeom prst="line">
              <a:avLst/>
            </a:prstGeom>
            <a:noFill/>
            <a:ln w="28575">
              <a:solidFill>
                <a:srgbClr val="52667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15" name="Path 15"/>
            <p:cNvSpPr/>
            <p:nvPr/>
          </p:nvSpPr>
          <p:spPr>
            <a:xfrm>
              <a:off x="8036719" y="6822281"/>
              <a:ext cx="10537031" cy="642938"/>
            </a:xfrm>
            <a:custGeom>
              <a:avLst/>
              <a:gdLst/>
              <a:ahLst/>
              <a:cxnLst/>
              <a:rect l="l" t="t" r="r" b="b"/>
              <a:pathLst>
                <a:path w="21600" h="21600" fill="none">
                  <a:moveTo>
                    <a:pt x="21600" y="0"/>
                  </a:move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2C7565"/>
              </a:solidFill>
              <a:tailEnd type="triangle"/>
            </a:ln>
          </p:spPr>
          <p:txBody>
            <a:bodyPr/>
            <a:lstStyle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9286875" y="7572375"/>
              <a:ext cx="8393906" cy="5357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3375">
                  <a:solidFill>
                    <a:srgbClr val="2C7565"/>
                  </a:solidFill>
                  <a:latin typeface="Times New Roman"/>
                  <a:ea typeface="Times New Roman"/>
                  <a:cs typeface="Times New Roman"/>
                </a:rPr>
                <a:t>Update the evidence state</a:t>
              </a:r>
              <a:endParaRPr lang="zh-CN" sz="3375"/>
            </a:p>
          </p:txBody>
        </p:sp>
        <p:grpSp>
          <p:nvGrpSpPr>
            <p:cNvPr id="29" name="Acquire evidence — separate original image and editable labels"/>
            <p:cNvGrpSpPr/>
            <p:nvPr/>
          </p:nvGrpSpPr>
          <p:grpSpPr>
            <a:xfrm>
              <a:off x="321469" y="357187"/>
              <a:ext cx="4893469" cy="6340030"/>
              <a:chOff x="321469" y="357187"/>
              <a:chExt cx="4893469" cy="6340030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321469" y="357187"/>
                <a:ext cx="4893469" cy="634003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" name="Exact cropped scientific illustration 1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9407" y="1518094"/>
                <a:ext cx="4357688" cy="4357688"/>
              </a:xfrm>
              <a:prstGeom prst="rect">
                <a:avLst/>
              </a:prstGeom>
            </p:spPr>
          </p:pic>
          <p:sp>
            <p:nvSpPr>
              <p:cNvPr id="16" name="TextBox 16"/>
              <p:cNvSpPr txBox="1"/>
              <p:nvPr/>
            </p:nvSpPr>
            <p:spPr>
              <a:xfrm>
                <a:off x="410718" y="571500"/>
                <a:ext cx="4714875" cy="678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Acquire evidence</a:t>
                </a:r>
                <a:endParaRPr lang="zh-CN" sz="4078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00062" y="5768530"/>
                <a:ext cx="453628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812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Retrieve knowledge</a:t>
                </a:r>
                <a:endParaRPr lang="zh-CN" sz="2812"/>
              </a:p>
              <a:p>
                <a:pPr algn="ctr"/>
                <a:r>
                  <a:rPr lang="zh-CN" sz="2812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and diagnostics</a:t>
                </a:r>
                <a:endParaRPr lang="zh-CN" sz="2812"/>
              </a:p>
            </p:txBody>
          </p:sp>
        </p:grpSp>
        <p:grpSp>
          <p:nvGrpSpPr>
            <p:cNvPr id="30" name="Construct evidence — separate original image and editable labels"/>
            <p:cNvGrpSpPr/>
            <p:nvPr/>
          </p:nvGrpSpPr>
          <p:grpSpPr>
            <a:xfrm>
              <a:off x="5643562" y="357187"/>
              <a:ext cx="4893469" cy="6340030"/>
              <a:chOff x="5643562" y="357187"/>
              <a:chExt cx="4893469" cy="6340030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5643562" y="357187"/>
                <a:ext cx="4893469" cy="634003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" name="Exact cropped scientific illustration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1406" y="1518094"/>
                <a:ext cx="4357688" cy="4357688"/>
              </a:xfrm>
              <a:prstGeom prst="rect">
                <a:avLst/>
              </a:prstGeom>
            </p:spPr>
          </p:pic>
          <p:sp>
            <p:nvSpPr>
              <p:cNvPr id="18" name="TextBox 18"/>
              <p:cNvSpPr txBox="1"/>
              <p:nvPr/>
            </p:nvSpPr>
            <p:spPr>
              <a:xfrm>
                <a:off x="5732907" y="571500"/>
                <a:ext cx="4714875" cy="678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Construct evidence</a:t>
                </a:r>
                <a:endParaRPr lang="zh-CN" sz="4078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5822156" y="5768530"/>
                <a:ext cx="453628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812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Numerical and</a:t>
                </a:r>
                <a:endParaRPr lang="zh-CN" sz="2812"/>
              </a:p>
              <a:p>
                <a:pPr algn="ctr"/>
                <a:r>
                  <a:rPr lang="zh-CN" sz="2812">
                    <a:solidFill>
                      <a:srgbClr val="68528D"/>
                    </a:solidFill>
                    <a:latin typeface="Times New Roman"/>
                    <a:ea typeface="Times New Roman"/>
                    <a:cs typeface="Times New Roman"/>
                  </a:rPr>
                  <a:t>contextual cues</a:t>
                </a:r>
                <a:endParaRPr lang="zh-CN" sz="2812"/>
              </a:p>
            </p:txBody>
          </p:sp>
        </p:grpSp>
        <p:grpSp>
          <p:nvGrpSpPr>
            <p:cNvPr id="31" name="Detect intervals — separate original image and editable labels"/>
            <p:cNvGrpSpPr/>
            <p:nvPr/>
          </p:nvGrpSpPr>
          <p:grpSpPr>
            <a:xfrm>
              <a:off x="10965656" y="357187"/>
              <a:ext cx="4893469" cy="6340030"/>
              <a:chOff x="10965656" y="357187"/>
              <a:chExt cx="4893469" cy="6340030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10965656" y="357187"/>
                <a:ext cx="4893469" cy="634003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8" name="Exact cropped scientific illustration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33594" y="1518094"/>
                <a:ext cx="4357688" cy="4357688"/>
              </a:xfrm>
              <a:prstGeom prst="rect">
                <a:avLst/>
              </a:prstGeom>
            </p:spPr>
          </p:pic>
          <p:sp>
            <p:nvSpPr>
              <p:cNvPr id="20" name="TextBox 20"/>
              <p:cNvSpPr txBox="1"/>
              <p:nvPr/>
            </p:nvSpPr>
            <p:spPr>
              <a:xfrm>
                <a:off x="11054905" y="571500"/>
                <a:ext cx="4714875" cy="678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B14F4A"/>
                    </a:solidFill>
                    <a:latin typeface="Times New Roman"/>
                    <a:ea typeface="Times New Roman"/>
                    <a:cs typeface="Times New Roman"/>
                  </a:rPr>
                  <a:t>Detect intervals</a:t>
                </a:r>
                <a:endParaRPr lang="zh-CN" sz="4078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144250" y="5768530"/>
                <a:ext cx="453628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812">
                    <a:solidFill>
                      <a:srgbClr val="B14F4A"/>
                    </a:solidFill>
                    <a:latin typeface="Times New Roman"/>
                    <a:ea typeface="Times New Roman"/>
                    <a:cs typeface="Times New Roman"/>
                  </a:rPr>
                  <a:t>Classify candidate</a:t>
                </a:r>
                <a:endParaRPr lang="zh-CN" sz="2812"/>
              </a:p>
              <a:p>
                <a:pPr algn="ctr"/>
                <a:r>
                  <a:rPr lang="zh-CN" sz="2812">
                    <a:solidFill>
                      <a:srgbClr val="B14F4A"/>
                    </a:solidFill>
                    <a:latin typeface="Times New Roman"/>
                    <a:ea typeface="Times New Roman"/>
                    <a:cs typeface="Times New Roman"/>
                  </a:rPr>
                  <a:t>intervals</a:t>
                </a:r>
                <a:endParaRPr lang="zh-CN" sz="2812"/>
              </a:p>
            </p:txBody>
          </p:sp>
        </p:grpSp>
        <p:grpSp>
          <p:nvGrpSpPr>
            <p:cNvPr id="32" name="Refine intervals — separate original image and editable labels"/>
            <p:cNvGrpSpPr/>
            <p:nvPr/>
          </p:nvGrpSpPr>
          <p:grpSpPr>
            <a:xfrm>
              <a:off x="16287750" y="357187"/>
              <a:ext cx="4893469" cy="6340030"/>
              <a:chOff x="16287750" y="357187"/>
              <a:chExt cx="4893469" cy="6340030"/>
            </a:xfrm>
          </p:grpSpPr>
          <p:sp>
            <p:nvSpPr>
              <p:cNvPr id="5" name="Roundrect 5"/>
              <p:cNvSpPr/>
              <p:nvPr/>
            </p:nvSpPr>
            <p:spPr>
              <a:xfrm>
                <a:off x="16287750" y="357187"/>
                <a:ext cx="4893469" cy="6340030"/>
              </a:xfrm>
              <a:prstGeom prst="roundRect">
                <a:avLst>
                  <a:gd name="adj" fmla="val 2920"/>
                </a:avLst>
              </a:prstGeom>
              <a:solidFill>
                <a:srgbClr val="FFFFFF"/>
              </a:solidFill>
              <a:ln w="7620">
                <a:solidFill>
                  <a:srgbClr val="DDE6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9" name="Exact cropped scientific illustration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55593" y="1518094"/>
                <a:ext cx="4357688" cy="4357688"/>
              </a:xfrm>
              <a:prstGeom prst="rect">
                <a:avLst/>
              </a:prstGeom>
            </p:spPr>
          </p:pic>
          <p:sp>
            <p:nvSpPr>
              <p:cNvPr id="22" name="TextBox 22"/>
              <p:cNvSpPr txBox="1"/>
              <p:nvPr/>
            </p:nvSpPr>
            <p:spPr>
              <a:xfrm>
                <a:off x="16377094" y="571500"/>
                <a:ext cx="4714875" cy="6786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4078" b="1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Refine intervals</a:t>
                </a:r>
                <a:endParaRPr lang="zh-CN" sz="4078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6466344" y="5768530"/>
                <a:ext cx="4536281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812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Revise candidates</a:t>
                </a:r>
                <a:endParaRPr lang="zh-CN" sz="2812"/>
              </a:p>
              <a:p>
                <a:pPr algn="ctr"/>
                <a:r>
                  <a:rPr lang="zh-CN" sz="2812">
                    <a:solidFill>
                      <a:srgbClr val="2C7565"/>
                    </a:solidFill>
                    <a:latin typeface="Times New Roman"/>
                    <a:ea typeface="Times New Roman"/>
                    <a:cs typeface="Times New Roman"/>
                  </a:rPr>
                  <a:t>with new evidence</a:t>
                </a:r>
                <a:endParaRPr lang="zh-CN" sz="2812"/>
              </a:p>
            </p:txBody>
          </p:sp>
        </p:grpSp>
        <p:grpSp>
          <p:nvGrpSpPr>
            <p:cNvPr id="33" name="Knowledge toolkit — separate original image and editable labels"/>
            <p:cNvGrpSpPr/>
            <p:nvPr/>
          </p:nvGrpSpPr>
          <p:grpSpPr>
            <a:xfrm>
              <a:off x="535781" y="8036719"/>
              <a:ext cx="11965781" cy="1607344"/>
              <a:chOff x="535781" y="8036719"/>
              <a:chExt cx="11965781" cy="1607344"/>
            </a:xfrm>
          </p:grpSpPr>
          <p:pic>
            <p:nvPicPr>
              <p:cNvPr id="10" name="Exact cropped scientific illustration 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781" y="8036719"/>
                <a:ext cx="1607344" cy="1607344"/>
              </a:xfrm>
              <a:prstGeom prst="rect">
                <a:avLst/>
              </a:prstGeom>
            </p:spPr>
          </p:pic>
          <p:sp>
            <p:nvSpPr>
              <p:cNvPr id="25" name="TextBox 25"/>
              <p:cNvSpPr txBox="1"/>
              <p:nvPr/>
            </p:nvSpPr>
            <p:spPr>
              <a:xfrm>
                <a:off x="2375344" y="8304657"/>
                <a:ext cx="10126218" cy="5357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515" b="1">
                    <a:solidFill>
                      <a:srgbClr val="285F86"/>
                    </a:solidFill>
                    <a:latin typeface="Times New Roman"/>
                    <a:ea typeface="Times New Roman"/>
                    <a:cs typeface="Times New Roman"/>
                  </a:rPr>
                  <a:t>Knowledge memory + numerical diagnostics</a:t>
                </a:r>
                <a:endParaRPr lang="zh-CN" sz="3515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375344" y="8929688"/>
                <a:ext cx="10126218" cy="5000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93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Support evidence acquisition and construction</a:t>
                </a:r>
                <a:endParaRPr lang="zh-CN" sz="3093"/>
              </a:p>
            </p:txBody>
          </p:sp>
        </p:grpSp>
        <p:grpSp>
          <p:nvGrpSpPr>
            <p:cNvPr id="34" name="Detector training — separate original image and editable labels"/>
            <p:cNvGrpSpPr/>
            <p:nvPr/>
          </p:nvGrpSpPr>
          <p:grpSpPr>
            <a:xfrm>
              <a:off x="13465969" y="8072438"/>
              <a:ext cx="7679531" cy="1678780"/>
              <a:chOff x="13465969" y="8072438"/>
              <a:chExt cx="7679531" cy="1678780"/>
            </a:xfrm>
          </p:grpSpPr>
          <p:pic>
            <p:nvPicPr>
              <p:cNvPr id="11" name="Exact cropped scientific illustration 9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465969" y="8072438"/>
                <a:ext cx="1607344" cy="1607344"/>
              </a:xfrm>
              <a:prstGeom prst="rect">
                <a:avLst/>
              </a:prstGeom>
            </p:spPr>
          </p:pic>
          <p:sp>
            <p:nvSpPr>
              <p:cNvPr id="27" name="TextBox 27"/>
              <p:cNvSpPr txBox="1"/>
              <p:nvPr/>
            </p:nvSpPr>
            <p:spPr>
              <a:xfrm>
                <a:off x="15180469" y="8179594"/>
                <a:ext cx="5804344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656" b="1">
                    <a:solidFill>
                      <a:srgbClr val="B14F4A"/>
                    </a:solidFill>
                    <a:latin typeface="Times New Roman"/>
                    <a:ea typeface="Times New Roman"/>
                    <a:cs typeface="Times New Roman"/>
                  </a:rPr>
                  <a:t>Detector training</a:t>
                </a:r>
                <a:endParaRPr lang="zh-CN" sz="3656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5073312" y="8822531"/>
                <a:ext cx="6072188" cy="9286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3093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Parse validity · interval agreement</a:t>
                </a:r>
                <a:endParaRPr lang="zh-CN" sz="3093"/>
              </a:p>
              <a:p>
                <a:pPr algn="ctr"/>
                <a:r>
                  <a:rPr lang="zh-CN" sz="3093">
                    <a:solidFill>
                      <a:srgbClr val="526675"/>
                    </a:solidFill>
                    <a:latin typeface="Times New Roman"/>
                    <a:ea typeface="Times New Roman"/>
                    <a:cs typeface="Times New Roman"/>
                  </a:rPr>
                  <a:t>false-positive penalty</a:t>
                </a:r>
                <a:endParaRPr lang="zh-CN" sz="3093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