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Complete figure — ungroup to edit modules"/>
          <p:cNvGrpSpPr/>
          <p:nvPr/>
        </p:nvGrpSpPr>
        <p:grpSpPr>
          <a:xfrm>
            <a:off x="203195" y="125051"/>
            <a:ext cx="11927542" cy="6674980"/>
            <a:chOff x="203195" y="125051"/>
            <a:chExt cx="11927542" cy="6674980"/>
          </a:xfrm>
        </p:grpSpPr>
        <p:sp>
          <p:nvSpPr>
            <p:cNvPr id="2" name="Roundrect 2"/>
            <p:cNvSpPr/>
            <p:nvPr/>
          </p:nvSpPr>
          <p:spPr>
            <a:xfrm>
              <a:off x="203195" y="125051"/>
              <a:ext cx="11785305" cy="3454314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7620">
              <a:solidFill>
                <a:srgbClr val="DDE6EB"/>
              </a:solidFill>
            </a:ln>
            <a:effectLst>
              <a:outerShdw blurRad="76200" dist="38100" dir="5400000" algn="ctr" rotWithShape="0">
                <a:srgbClr val="183148">
                  <a:alpha val="12000"/>
                </a:srgbClr>
              </a:outerShdw>
            </a:effectLst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>
              <a:off x="2966646" y="1923299"/>
              <a:ext cx="243834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4" name="Line 14"/>
            <p:cNvSpPr/>
            <p:nvPr/>
          </p:nvSpPr>
          <p:spPr>
            <a:xfrm>
              <a:off x="5953611" y="1923299"/>
              <a:ext cx="243834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>
              <a:off x="8940576" y="1923299"/>
              <a:ext cx="243834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>
              <a:off x="6095848" y="3670775"/>
              <a:ext cx="0" cy="29466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539936" y="206329"/>
              <a:ext cx="7111822" cy="386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79" b="1">
                  <a:solidFill>
                    <a:srgbClr val="285F86"/>
                  </a:solidFill>
                  <a:latin typeface="Times New Roman"/>
                  <a:ea typeface="Times New Roman"/>
                  <a:cs typeface="Times New Roman"/>
                </a:rPr>
                <a:t>One reproducible Agent episode</a:t>
              </a:r>
              <a:endParaRPr lang="zh-CN" sz="2479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25559" y="6505371"/>
              <a:ext cx="8940576" cy="2946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39">
                  <a:solidFill>
                    <a:srgbClr val="526675"/>
                  </a:solidFill>
                  <a:latin typeface="Times New Roman"/>
                  <a:ea typeface="Times New Roman"/>
                  <a:cs typeface="Times New Roman"/>
                </a:rPr>
                <a:t>Complementary records locate different failure causes</a:t>
              </a:r>
              <a:endParaRPr lang="zh-CN" sz="1839"/>
            </a:p>
          </p:txBody>
        </p:sp>
        <p:grpSp>
          <p:nvGrpSpPr>
            <p:cNvPr id="33" name="Task performance — separate original image and editable labels"/>
            <p:cNvGrpSpPr/>
            <p:nvPr/>
          </p:nvGrpSpPr>
          <p:grpSpPr>
            <a:xfrm>
              <a:off x="355564" y="4046713"/>
              <a:ext cx="3555911" cy="2438339"/>
              <a:chOff x="355564" y="4046713"/>
              <a:chExt cx="3555911" cy="2438339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355564" y="4046713"/>
                <a:ext cx="3555911" cy="2438339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0" name="Exact cropped scientific illustration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668" y="4473422"/>
                <a:ext cx="1584920" cy="1584920"/>
              </a:xfrm>
              <a:prstGeom prst="rect">
                <a:avLst/>
              </a:prstGeom>
            </p:spPr>
          </p:pic>
          <p:sp>
            <p:nvSpPr>
              <p:cNvPr id="26" name="TextBox 26"/>
              <p:cNvSpPr txBox="1"/>
              <p:nvPr/>
            </p:nvSpPr>
            <p:spPr>
              <a:xfrm>
                <a:off x="406390" y="4097538"/>
                <a:ext cx="3454314" cy="386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Task performance</a:t>
                </a:r>
                <a:endParaRPr lang="zh-CN" sz="2159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123414" y="4798534"/>
                <a:ext cx="1706837" cy="7619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Error, utility</a:t>
                </a:r>
                <a:endParaRPr lang="zh-CN" sz="1679"/>
              </a:p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or task score</a:t>
                </a:r>
                <a:endParaRPr lang="zh-CN" sz="1679"/>
              </a:p>
            </p:txBody>
          </p:sp>
        </p:grpSp>
        <p:grpSp>
          <p:nvGrpSpPr>
            <p:cNvPr id="34" name="Artifact validity — separate original image and editable labels"/>
            <p:cNvGrpSpPr/>
            <p:nvPr/>
          </p:nvGrpSpPr>
          <p:grpSpPr>
            <a:xfrm>
              <a:off x="4317919" y="4046713"/>
              <a:ext cx="3555911" cy="2438339"/>
              <a:chOff x="4317919" y="4046713"/>
              <a:chExt cx="3555911" cy="2438339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4317919" y="4046713"/>
                <a:ext cx="3555911" cy="2438339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1" name="Exact cropped scientific illustration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49969" y="4473422"/>
                <a:ext cx="1584920" cy="1584920"/>
              </a:xfrm>
              <a:prstGeom prst="rect">
                <a:avLst/>
              </a:prstGeom>
            </p:spPr>
          </p:pic>
          <p:sp>
            <p:nvSpPr>
              <p:cNvPr id="28" name="TextBox 28"/>
              <p:cNvSpPr txBox="1"/>
              <p:nvPr/>
            </p:nvSpPr>
            <p:spPr>
              <a:xfrm>
                <a:off x="4368691" y="4097538"/>
                <a:ext cx="3454314" cy="386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Artifact validity</a:t>
                </a:r>
                <a:endParaRPr lang="zh-CN" sz="2159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85661" y="4798534"/>
                <a:ext cx="1706837" cy="7619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Executable and</a:t>
                </a:r>
                <a:endParaRPr lang="zh-CN" sz="1679"/>
              </a:p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contract-compliant</a:t>
                </a:r>
                <a:endParaRPr lang="zh-CN" sz="1679"/>
              </a:p>
            </p:txBody>
          </p:sp>
        </p:grpSp>
        <p:grpSp>
          <p:nvGrpSpPr>
            <p:cNvPr id="35" name="Execution record — separate original image and editable labels"/>
            <p:cNvGrpSpPr/>
            <p:nvPr/>
          </p:nvGrpSpPr>
          <p:grpSpPr>
            <a:xfrm>
              <a:off x="8280166" y="4046713"/>
              <a:ext cx="3555911" cy="2438339"/>
              <a:chOff x="8280166" y="4046713"/>
              <a:chExt cx="3555911" cy="2438339"/>
            </a:xfrm>
          </p:grpSpPr>
          <p:sp>
            <p:nvSpPr>
              <p:cNvPr id="5" name="Roundrect 5"/>
              <p:cNvSpPr/>
              <p:nvPr/>
            </p:nvSpPr>
            <p:spPr>
              <a:xfrm>
                <a:off x="8280166" y="4046713"/>
                <a:ext cx="3555911" cy="2438339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2" name="Exact cropped scientific illustration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2270" y="4473422"/>
                <a:ext cx="1584920" cy="1584920"/>
              </a:xfrm>
              <a:prstGeom prst="rect">
                <a:avLst/>
              </a:prstGeom>
            </p:spPr>
          </p:pic>
          <p:sp>
            <p:nvSpPr>
              <p:cNvPr id="30" name="TextBox 30"/>
              <p:cNvSpPr txBox="1"/>
              <p:nvPr/>
            </p:nvSpPr>
            <p:spPr>
              <a:xfrm>
                <a:off x="8330992" y="4097538"/>
                <a:ext cx="3454314" cy="386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Execution record</a:t>
                </a:r>
                <a:endParaRPr lang="zh-CN" sz="2159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048016" y="4798534"/>
                <a:ext cx="1706837" cy="7619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Trace, failures</a:t>
                </a:r>
                <a:endParaRPr lang="zh-CN" sz="1679"/>
              </a:p>
              <a:p>
                <a:pPr algn="ctr"/>
                <a:r>
                  <a:rPr lang="zh-CN" sz="167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and resource cost</a:t>
                </a:r>
                <a:endParaRPr lang="zh-CN" sz="1679"/>
              </a:p>
            </p:txBody>
          </p:sp>
        </p:grpSp>
        <p:grpSp>
          <p:nvGrpSpPr>
            <p:cNvPr id="36" name="Task contract — separate original image and editable labels"/>
            <p:cNvGrpSpPr/>
            <p:nvPr/>
          </p:nvGrpSpPr>
          <p:grpSpPr>
            <a:xfrm>
              <a:off x="243834" y="734635"/>
              <a:ext cx="2926007" cy="2824410"/>
              <a:chOff x="243834" y="734635"/>
              <a:chExt cx="2926007" cy="2824410"/>
            </a:xfrm>
          </p:grpSpPr>
          <p:pic>
            <p:nvPicPr>
              <p:cNvPr id="6" name="Exact cropped scientific illustration 5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7668" y="734635"/>
                <a:ext cx="2336742" cy="2336742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335299" y="2939273"/>
                <a:ext cx="2743131" cy="345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Task contract</a:t>
                </a:r>
                <a:endParaRPr lang="zh-CN" sz="2159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3834" y="3284759"/>
                <a:ext cx="2926007" cy="274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9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Output and information boundary</a:t>
                </a:r>
                <a:endParaRPr lang="zh-CN" sz="1599"/>
              </a:p>
            </p:txBody>
          </p:sp>
        </p:grpSp>
        <p:grpSp>
          <p:nvGrpSpPr>
            <p:cNvPr id="37" name="Resources — separate original image and editable labels"/>
            <p:cNvGrpSpPr/>
            <p:nvPr/>
          </p:nvGrpSpPr>
          <p:grpSpPr>
            <a:xfrm>
              <a:off x="3230799" y="734635"/>
              <a:ext cx="2926007" cy="2824410"/>
              <a:chOff x="3230799" y="734635"/>
              <a:chExt cx="2926007" cy="2824410"/>
            </a:xfrm>
          </p:grpSpPr>
          <p:pic>
            <p:nvPicPr>
              <p:cNvPr id="7" name="Exact cropped scientific illustration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4633" y="734635"/>
                <a:ext cx="2336742" cy="2336742"/>
              </a:xfrm>
              <a:prstGeom prst="rect">
                <a:avLst/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3322210" y="2939273"/>
                <a:ext cx="2743131" cy="345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Resources</a:t>
                </a:r>
                <a:endParaRPr lang="zh-CN" sz="2159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30799" y="3284759"/>
                <a:ext cx="2926007" cy="274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9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Data, tools and versions</a:t>
                </a:r>
                <a:endParaRPr lang="zh-CN" sz="1599"/>
              </a:p>
            </p:txBody>
          </p:sp>
        </p:grpSp>
        <p:grpSp>
          <p:nvGrpSpPr>
            <p:cNvPr id="38" name="Execution — separate original image and editable labels"/>
            <p:cNvGrpSpPr/>
            <p:nvPr/>
          </p:nvGrpSpPr>
          <p:grpSpPr>
            <a:xfrm>
              <a:off x="6217765" y="734635"/>
              <a:ext cx="2926007" cy="2824410"/>
              <a:chOff x="6217765" y="734635"/>
              <a:chExt cx="2926007" cy="2824410"/>
            </a:xfrm>
          </p:grpSpPr>
          <p:pic>
            <p:nvPicPr>
              <p:cNvPr id="8" name="Exact cropped scientific illustration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1598" y="734635"/>
                <a:ext cx="2336742" cy="2336742"/>
              </a:xfrm>
              <a:prstGeom prst="rect">
                <a:avLst/>
              </a:prstGeom>
            </p:spPr>
          </p:pic>
          <p:sp>
            <p:nvSpPr>
              <p:cNvPr id="22" name="TextBox 22"/>
              <p:cNvSpPr txBox="1"/>
              <p:nvPr/>
            </p:nvSpPr>
            <p:spPr>
              <a:xfrm>
                <a:off x="6309229" y="2939273"/>
                <a:ext cx="2743131" cy="345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Execution</a:t>
                </a:r>
                <a:endParaRPr lang="zh-CN" sz="2159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17765" y="3284759"/>
                <a:ext cx="2926007" cy="274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9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Calls, checks and revisions</a:t>
                </a:r>
                <a:endParaRPr lang="zh-CN" sz="1599"/>
              </a:p>
            </p:txBody>
          </p:sp>
        </p:grpSp>
        <p:grpSp>
          <p:nvGrpSpPr>
            <p:cNvPr id="39" name="Artifact — separate original image and editable labels"/>
            <p:cNvGrpSpPr/>
            <p:nvPr/>
          </p:nvGrpSpPr>
          <p:grpSpPr>
            <a:xfrm>
              <a:off x="9204730" y="734635"/>
              <a:ext cx="2926007" cy="2824410"/>
              <a:chOff x="9204730" y="734635"/>
              <a:chExt cx="2926007" cy="2824410"/>
            </a:xfrm>
          </p:grpSpPr>
          <p:pic>
            <p:nvPicPr>
              <p:cNvPr id="9" name="Exact cropped scientific illustration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8564" y="734635"/>
                <a:ext cx="2336742" cy="2336742"/>
              </a:xfrm>
              <a:prstGeom prst="rect">
                <a:avLst/>
              </a:prstGeom>
            </p:spPr>
          </p:pic>
          <p:sp>
            <p:nvSpPr>
              <p:cNvPr id="24" name="TextBox 24"/>
              <p:cNvSpPr txBox="1"/>
              <p:nvPr/>
            </p:nvSpPr>
            <p:spPr>
              <a:xfrm>
                <a:off x="9296140" y="2939273"/>
                <a:ext cx="2743131" cy="345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59" b="1">
                    <a:solidFill>
                      <a:srgbClr val="9B662D"/>
                    </a:solidFill>
                    <a:latin typeface="Times New Roman"/>
                    <a:ea typeface="Times New Roman"/>
                    <a:cs typeface="Times New Roman"/>
                  </a:rPr>
                  <a:t>Artifact</a:t>
                </a:r>
                <a:endParaRPr lang="zh-CN" sz="2159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204730" y="3284759"/>
                <a:ext cx="2926007" cy="274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99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Files, models or code</a:t>
                </a:r>
                <a:endParaRPr lang="zh-CN" sz="1599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