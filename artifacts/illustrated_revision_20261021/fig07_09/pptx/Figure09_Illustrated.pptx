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31250" cy="101822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omplete figure — ungroup to edit modules"/>
          <p:cNvGrpSpPr/>
          <p:nvPr/>
        </p:nvGrpSpPr>
        <p:grpSpPr>
          <a:xfrm>
            <a:off x="446484" y="69032"/>
            <a:ext cx="20538281" cy="9699001"/>
            <a:chOff x="446484" y="69032"/>
            <a:chExt cx="20538281" cy="9699001"/>
          </a:xfrm>
        </p:grpSpPr>
        <p:pic>
          <p:nvPicPr>
            <p:cNvPr id="8" name="embedding illustrative scene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080094" y="7351912"/>
              <a:ext cx="3233343" cy="2347089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732984" y="3831278"/>
              <a:ext cx="732234" cy="0"/>
            </a:xfrm>
            <a:prstGeom prst="line">
              <a:avLst/>
            </a:prstGeom>
            <a:noFill/>
            <a:ln w="17780">
              <a:solidFill>
                <a:srgbClr val="526575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0" name="Line 10"/>
            <p:cNvSpPr/>
            <p:nvPr/>
          </p:nvSpPr>
          <p:spPr>
            <a:xfrm>
              <a:off x="13876734" y="3831278"/>
              <a:ext cx="732234" cy="0"/>
            </a:xfrm>
            <a:prstGeom prst="line">
              <a:avLst/>
            </a:prstGeom>
            <a:noFill/>
            <a:ln w="17780">
              <a:solidFill>
                <a:srgbClr val="526575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>
              <a:off x="18037969" y="7093041"/>
              <a:ext cx="0" cy="690320"/>
            </a:xfrm>
            <a:prstGeom prst="line">
              <a:avLst/>
            </a:prstGeom>
            <a:noFill/>
            <a:ln w="17780">
              <a:solidFill>
                <a:srgbClr val="317A68"/>
              </a:solidFill>
              <a:prstDash val="solid"/>
              <a:tailEnd type="none"/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 flipH="1">
              <a:off x="10697766" y="7783362"/>
              <a:ext cx="7340203" cy="0"/>
            </a:xfrm>
            <a:prstGeom prst="line">
              <a:avLst/>
            </a:prstGeom>
            <a:noFill/>
            <a:ln w="17780">
              <a:solidFill>
                <a:srgbClr val="317A68"/>
              </a:solidFill>
              <a:prstDash val="solid"/>
              <a:tailEnd type="none"/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 flipV="1">
              <a:off x="10697766" y="7058525"/>
              <a:ext cx="0" cy="724836"/>
            </a:xfrm>
            <a:prstGeom prst="line">
              <a:avLst/>
            </a:prstGeom>
            <a:noFill/>
            <a:ln w="17780">
              <a:solidFill>
                <a:srgbClr val="317A68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4" name="Line 14"/>
            <p:cNvSpPr/>
            <p:nvPr/>
          </p:nvSpPr>
          <p:spPr>
            <a:xfrm>
              <a:off x="20538281" y="7127557"/>
              <a:ext cx="0" cy="1846607"/>
            </a:xfrm>
            <a:prstGeom prst="line">
              <a:avLst/>
            </a:prstGeom>
            <a:noFill/>
            <a:ln w="17780">
              <a:solidFill>
                <a:srgbClr val="526575"/>
              </a:solidFill>
              <a:prstDash val="solid"/>
              <a:tailEnd type="none"/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 flipH="1">
              <a:off x="16912828" y="8974164"/>
              <a:ext cx="3625453" cy="0"/>
            </a:xfrm>
            <a:prstGeom prst="line">
              <a:avLst/>
            </a:prstGeom>
            <a:noFill/>
            <a:ln w="17780">
              <a:solidFill>
                <a:srgbClr val="526575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785938" y="69032"/>
              <a:ext cx="17859375" cy="74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4499" b="1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Retrieval-guided augmentation and review</a:t>
              </a:r>
              <a:endParaRPr lang="zh-CN" sz="449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0703" y="7921426"/>
              <a:ext cx="6161484" cy="586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515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Revise generation</a:t>
              </a:r>
              <a:endParaRPr lang="zh-CN" sz="3515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0625" y="8508198"/>
              <a:ext cx="4911328" cy="586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796" b="1">
                  <a:solidFill>
                    <a:srgbClr val="66518A"/>
                  </a:solidFill>
                  <a:latin typeface="Times New Roman"/>
                  <a:ea typeface="Times New Roman"/>
                  <a:cs typeface="Times New Roman"/>
                </a:rPr>
                <a:t>Accepted views</a:t>
              </a:r>
              <a:endParaRPr lang="zh-CN" sz="3796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0625" y="9181261"/>
              <a:ext cx="11430000" cy="586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515">
                  <a:solidFill>
                    <a:srgbClr val="526575"/>
                  </a:solidFill>
                  <a:latin typeface="Times New Roman"/>
                  <a:ea typeface="Times New Roman"/>
                  <a:cs typeface="Times New Roman"/>
                </a:rPr>
                <a:t>Contrastive representation learning</a:t>
              </a:r>
              <a:endParaRPr lang="zh-CN" sz="3515"/>
            </a:p>
          </p:txBody>
        </p:sp>
        <p:grpSp>
          <p:nvGrpSpPr>
            <p:cNvPr id="26" name="Module 1 — image, native labels and background"/>
            <p:cNvGrpSpPr/>
            <p:nvPr/>
          </p:nvGrpSpPr>
          <p:grpSpPr>
            <a:xfrm>
              <a:off x="446484" y="1121771"/>
              <a:ext cx="6250781" cy="5867723"/>
              <a:chOff x="446484" y="1121771"/>
              <a:chExt cx="6250781" cy="5867723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446484" y="1121771"/>
                <a:ext cx="6250781" cy="5867723"/>
              </a:xfrm>
              <a:prstGeom prst="roundRect">
                <a:avLst>
                  <a:gd name="adj" fmla="val 2435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5" name="retrieve illustrative scene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94417" y="2036445"/>
                <a:ext cx="4754916" cy="3451602"/>
              </a:xfrm>
              <a:prstGeom prst="rect">
                <a:avLst/>
              </a:prstGeom>
            </p:spPr>
          </p:pic>
          <p:sp>
            <p:nvSpPr>
              <p:cNvPr id="17" name="TextBox 17"/>
              <p:cNvSpPr txBox="1"/>
              <p:nvPr/>
            </p:nvSpPr>
            <p:spPr>
              <a:xfrm>
                <a:off x="535781" y="1311609"/>
                <a:ext cx="6072187" cy="65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276888"/>
                    </a:solidFill>
                    <a:latin typeface="Times New Roman"/>
                    <a:ea typeface="Times New Roman"/>
                    <a:cs typeface="Times New Roman"/>
                  </a:rPr>
                  <a:t>Retrieve examples</a:t>
                </a:r>
                <a:endParaRPr lang="zh-CN" sz="4078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14375" y="5643369"/>
                <a:ext cx="5715000" cy="1121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Relevant series inform</a:t>
                </a:r>
                <a:endParaRPr lang="zh-CN" sz="3374"/>
              </a:p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transformation choices</a:t>
                </a:r>
                <a:endParaRPr lang="zh-CN" sz="3374"/>
              </a:p>
            </p:txBody>
          </p:sp>
        </p:grpSp>
        <p:grpSp>
          <p:nvGrpSpPr>
            <p:cNvPr id="27" name="Module 2 — image, native labels and background"/>
            <p:cNvGrpSpPr/>
            <p:nvPr/>
          </p:nvGrpSpPr>
          <p:grpSpPr>
            <a:xfrm>
              <a:off x="7590234" y="1121771"/>
              <a:ext cx="6250781" cy="5867723"/>
              <a:chOff x="7590234" y="1121771"/>
              <a:chExt cx="6250781" cy="5867723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7590234" y="1121771"/>
                <a:ext cx="6250781" cy="5867723"/>
              </a:xfrm>
              <a:prstGeom prst="roundRect">
                <a:avLst>
                  <a:gd name="adj" fmla="val 2435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" name="positive illustrative scen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8167" y="2036445"/>
                <a:ext cx="4754916" cy="3451602"/>
              </a:xfrm>
              <a:prstGeom prst="rect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7679531" y="1311609"/>
                <a:ext cx="6072187" cy="65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66518A"/>
                    </a:solidFill>
                    <a:latin typeface="Times New Roman"/>
                    <a:ea typeface="Times New Roman"/>
                    <a:cs typeface="Times New Roman"/>
                  </a:rPr>
                  <a:t>Construct positive views</a:t>
                </a:r>
                <a:endParaRPr lang="zh-CN" sz="4078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858125" y="5643369"/>
                <a:ext cx="5715000" cy="1121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Generate related but varied</a:t>
                </a:r>
                <a:endParaRPr lang="zh-CN" sz="3374"/>
              </a:p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training examples</a:t>
                </a:r>
                <a:endParaRPr lang="zh-CN" sz="3374"/>
              </a:p>
            </p:txBody>
          </p:sp>
        </p:grpSp>
        <p:grpSp>
          <p:nvGrpSpPr>
            <p:cNvPr id="28" name="Module 3 — image, native labels and background"/>
            <p:cNvGrpSpPr/>
            <p:nvPr/>
          </p:nvGrpSpPr>
          <p:grpSpPr>
            <a:xfrm>
              <a:off x="14733984" y="1121771"/>
              <a:ext cx="6250781" cy="5867723"/>
              <a:chOff x="14733984" y="1121771"/>
              <a:chExt cx="6250781" cy="5867723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14733984" y="1121771"/>
                <a:ext cx="6250781" cy="5867723"/>
              </a:xfrm>
              <a:prstGeom prst="roundRect">
                <a:avLst>
                  <a:gd name="adj" fmla="val 2435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" name="review illustrative scene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1917" y="2036445"/>
                <a:ext cx="4754916" cy="3451602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14823281" y="1311609"/>
                <a:ext cx="6072187" cy="65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A56C2D"/>
                    </a:solidFill>
                    <a:latin typeface="Times New Roman"/>
                    <a:ea typeface="Times New Roman"/>
                    <a:cs typeface="Times New Roman"/>
                  </a:rPr>
                  <a:t>Review and select</a:t>
                </a:r>
                <a:endParaRPr lang="zh-CN" sz="4078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001875" y="5643369"/>
                <a:ext cx="5715000" cy="1121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Assess semantic quality</a:t>
                </a:r>
                <a:endParaRPr lang="zh-CN" sz="3374"/>
              </a:p>
              <a:p>
                <a:pPr algn="ctr"/>
                <a:r>
                  <a:rPr lang="zh-CN" sz="3374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of candidate views</a:t>
                </a:r>
                <a:endParaRPr lang="zh-CN" sz="3374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