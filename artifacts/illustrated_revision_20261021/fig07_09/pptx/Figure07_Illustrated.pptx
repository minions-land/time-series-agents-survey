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Complete figure — ungroup to edit modules"/>
          <p:cNvGrpSpPr/>
          <p:nvPr/>
        </p:nvGrpSpPr>
        <p:grpSpPr>
          <a:xfrm>
            <a:off x="402122" y="39189"/>
            <a:ext cx="11528534" cy="6720840"/>
            <a:chOff x="402122" y="39189"/>
            <a:chExt cx="11528534" cy="6720840"/>
          </a:xfrm>
        </p:grpSpPr>
        <p:sp>
          <p:nvSpPr>
            <p:cNvPr id="10" name="Line 10"/>
            <p:cNvSpPr/>
            <p:nvPr/>
          </p:nvSpPr>
          <p:spPr>
            <a:xfrm>
              <a:off x="956379" y="960120"/>
              <a:ext cx="10077390" cy="0"/>
            </a:xfrm>
            <a:prstGeom prst="line">
              <a:avLst/>
            </a:prstGeom>
            <a:noFill/>
            <a:ln w="17780">
              <a:solidFill>
                <a:srgbClr val="526575"/>
              </a:solidFill>
              <a:prstDash val="solid"/>
              <a:tailEnd type="triangle"/>
            </a:ln>
          </p:spPr>
          <p:txBody>
            <a:bodyPr/>
            <a:lstStyle/>
            <a:p/>
          </p:txBody>
        </p:sp>
        <p:sp>
          <p:nvSpPr>
            <p:cNvPr id="11" name="Line 11"/>
            <p:cNvSpPr/>
            <p:nvPr/>
          </p:nvSpPr>
          <p:spPr>
            <a:xfrm>
              <a:off x="8917517" y="754380"/>
              <a:ext cx="0" cy="460466"/>
            </a:xfrm>
            <a:prstGeom prst="line">
              <a:avLst/>
            </a:prstGeom>
            <a:noFill/>
            <a:ln w="17780">
              <a:solidFill>
                <a:srgbClr val="B14D47"/>
              </a:solidFill>
              <a:prstDash val="solid"/>
              <a:tailEnd type="none"/>
            </a:ln>
          </p:spPr>
          <p:txBody>
            <a:bodyPr/>
            <a:lstStyle/>
            <a:p/>
          </p:txBody>
        </p:sp>
        <p:sp>
          <p:nvSpPr>
            <p:cNvPr id="12" name="Line 12"/>
            <p:cNvSpPr/>
            <p:nvPr/>
          </p:nvSpPr>
          <p:spPr>
            <a:xfrm flipH="1">
              <a:off x="9784172" y="3223260"/>
              <a:ext cx="644953" cy="0"/>
            </a:xfrm>
            <a:prstGeom prst="line">
              <a:avLst/>
            </a:prstGeom>
            <a:noFill/>
            <a:ln w="17780">
              <a:solidFill>
                <a:srgbClr val="66518A"/>
              </a:solidFill>
              <a:prstDash val="solid"/>
              <a:tailEnd type="triangle"/>
            </a:ln>
          </p:spPr>
          <p:txBody>
            <a:bodyPr/>
            <a:lstStyle/>
            <a:p/>
          </p:txBody>
        </p:sp>
        <p:sp>
          <p:nvSpPr>
            <p:cNvPr id="13" name="Line 13"/>
            <p:cNvSpPr/>
            <p:nvPr/>
          </p:nvSpPr>
          <p:spPr>
            <a:xfrm>
              <a:off x="9784172" y="4251960"/>
              <a:ext cx="644953" cy="0"/>
            </a:xfrm>
            <a:prstGeom prst="line">
              <a:avLst/>
            </a:prstGeom>
            <a:noFill/>
            <a:ln w="17780">
              <a:solidFill>
                <a:srgbClr val="317A68"/>
              </a:solidFill>
              <a:prstDash val="solid"/>
              <a:tailEnd type="triangle"/>
            </a:ln>
          </p:spPr>
          <p:txBody>
            <a:bodyPr/>
            <a:lstStyle/>
            <a:p/>
          </p:txBody>
        </p:sp>
        <p:sp>
          <p:nvSpPr>
            <p:cNvPr id="14" name="TextBox 14"/>
            <p:cNvSpPr txBox="1"/>
            <p:nvPr/>
          </p:nvSpPr>
          <p:spPr>
            <a:xfrm>
              <a:off x="3425339" y="39189"/>
              <a:ext cx="5341017" cy="411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2539" b="1">
                  <a:solidFill>
                    <a:srgbClr val="317A68"/>
                  </a:solidFill>
                  <a:latin typeface="Times New Roman"/>
                  <a:ea typeface="Times New Roman"/>
                  <a:cs typeface="Times New Roman"/>
                </a:rPr>
                <a:t>Temporal workspace</a:t>
              </a:r>
              <a:endParaRPr lang="zh-CN" sz="2539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56379" y="509451"/>
              <a:ext cx="7154947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983">
                  <a:solidFill>
                    <a:srgbClr val="526575"/>
                  </a:solidFill>
                  <a:latin typeface="Times New Roman"/>
                  <a:ea typeface="Times New Roman"/>
                  <a:cs typeface="Times New Roman"/>
                </a:rPr>
                <a:t>Observations • event records • data versions</a:t>
              </a:r>
              <a:endParaRPr lang="zh-CN" sz="1983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10635" y="1048294"/>
              <a:ext cx="5844886" cy="3135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825">
                  <a:solidFill>
                    <a:srgbClr val="317A68"/>
                  </a:solidFill>
                  <a:latin typeface="Times New Roman"/>
                  <a:ea typeface="Times New Roman"/>
                  <a:cs typeface="Times New Roman"/>
                </a:rPr>
                <a:t>Available by decision time</a:t>
              </a:r>
              <a:endParaRPr lang="zh-CN" sz="1825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675660" y="401683"/>
              <a:ext cx="503870" cy="342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2459" b="1">
                  <a:solidFill>
                    <a:srgbClr val="B14D47"/>
                  </a:solidFill>
                  <a:latin typeface="Times New Roman"/>
                  <a:ea typeface="Times New Roman"/>
                  <a:cs typeface="Times New Roman"/>
                </a:rPr>
                <a:t>τ</a:t>
              </a:r>
              <a:endParaRPr lang="zh-CN" sz="2459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31464" y="1048294"/>
              <a:ext cx="2317800" cy="3135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825">
                  <a:solidFill>
                    <a:srgbClr val="B14D47"/>
                  </a:solidFill>
                  <a:latin typeface="Times New Roman"/>
                  <a:ea typeface="Times New Roman"/>
                  <a:cs typeface="Times New Roman"/>
                </a:rPr>
                <a:t>Late release</a:t>
              </a:r>
              <a:endParaRPr lang="zh-CN" sz="1825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126804" y="2704011"/>
              <a:ext cx="1763543" cy="4212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2459" b="1">
                  <a:solidFill>
                    <a:srgbClr val="66518A"/>
                  </a:solidFill>
                  <a:latin typeface="Times New Roman"/>
                  <a:ea typeface="Times New Roman"/>
                  <a:cs typeface="Times New Roman"/>
                </a:rPr>
                <a:t>LLM</a:t>
              </a:r>
              <a:endParaRPr lang="zh-CN" sz="2459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066339" y="3370217"/>
              <a:ext cx="1864317" cy="636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825">
                  <a:solidFill>
                    <a:srgbClr val="66518A"/>
                  </a:solidFill>
                  <a:latin typeface="Times New Roman"/>
                  <a:ea typeface="Times New Roman"/>
                  <a:cs typeface="Times New Roman"/>
                </a:rPr>
                <a:t>Request</a:t>
              </a:r>
              <a:endParaRPr lang="zh-CN" sz="1825"/>
            </a:p>
            <a:p>
              <a:pPr algn="ctr"/>
              <a:r>
                <a:rPr lang="zh-CN" sz="1825">
                  <a:solidFill>
                    <a:srgbClr val="66518A"/>
                  </a:solidFill>
                  <a:latin typeface="Times New Roman"/>
                  <a:ea typeface="Times New Roman"/>
                  <a:cs typeface="Times New Roman"/>
                </a:rPr>
                <a:t>operations</a:t>
              </a:r>
              <a:endParaRPr lang="zh-CN" sz="1825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066339" y="4428309"/>
              <a:ext cx="1864317" cy="6368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825">
                  <a:solidFill>
                    <a:srgbClr val="317A68"/>
                  </a:solidFill>
                  <a:latin typeface="Times New Roman"/>
                  <a:ea typeface="Times New Roman"/>
                  <a:cs typeface="Times New Roman"/>
                </a:rPr>
                <a:t>Receive</a:t>
              </a:r>
              <a:endParaRPr lang="zh-CN" sz="1825"/>
            </a:p>
            <a:p>
              <a:pPr algn="ctr"/>
              <a:r>
                <a:rPr lang="zh-CN" sz="1825">
                  <a:solidFill>
                    <a:srgbClr val="317A68"/>
                  </a:solidFill>
                  <a:latin typeface="Times New Roman"/>
                  <a:ea typeface="Times New Roman"/>
                  <a:cs typeface="Times New Roman"/>
                </a:rPr>
                <a:t>observations</a:t>
              </a:r>
              <a:endParaRPr lang="zh-CN" sz="1825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63344" y="6426926"/>
              <a:ext cx="8465008" cy="3331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anchor="ctr" lIns="0" tIns="0" rIns="0" bIns="0">
              <a:noAutofit/>
            </a:bodyPr>
            <a:lstStyle/>
            <a:p>
              <a:pPr algn="ctr"/>
              <a:r>
                <a:rPr lang="zh-CN" sz="1983">
                  <a:solidFill>
                    <a:srgbClr val="526575"/>
                  </a:solidFill>
                  <a:latin typeface="Times New Roman"/>
                  <a:ea typeface="Times New Roman"/>
                  <a:cs typeface="Times New Roman"/>
                </a:rPr>
                <a:t>Temporal state remains explicit across every operation</a:t>
              </a:r>
              <a:endParaRPr lang="zh-CN" sz="1983"/>
            </a:p>
          </p:txBody>
        </p:sp>
        <p:grpSp>
          <p:nvGrpSpPr>
            <p:cNvPr id="31" name="Module 1 — image, native labels and background"/>
            <p:cNvGrpSpPr/>
            <p:nvPr/>
          </p:nvGrpSpPr>
          <p:grpSpPr>
            <a:xfrm>
              <a:off x="402122" y="1616529"/>
              <a:ext cx="4534826" cy="2253343"/>
              <a:chOff x="402122" y="1616529"/>
              <a:chExt cx="4534826" cy="2253343"/>
            </a:xfrm>
          </p:grpSpPr>
          <p:sp>
            <p:nvSpPr>
              <p:cNvPr id="2" name="Roundrect 2"/>
              <p:cNvSpPr/>
              <p:nvPr/>
            </p:nvSpPr>
            <p:spPr>
              <a:xfrm>
                <a:off x="402122" y="1616529"/>
                <a:ext cx="4534826" cy="2253343"/>
              </a:xfrm>
              <a:prstGeom prst="roundRect">
                <a:avLst>
                  <a:gd name="adj" fmla="val 3578"/>
                </a:avLst>
              </a:prstGeom>
              <a:solidFill>
                <a:srgbClr val="FFFFFF"/>
              </a:solidFill>
              <a:ln w="7620">
                <a:solidFill>
                  <a:srgbClr val="DCE5EB"/>
                </a:solidFill>
              </a:ln>
              <a:effectLst>
                <a:outerShdw blurRad="76200" dist="38100" dir="5400000" algn="ctr" rotWithShape="0">
                  <a:srgbClr val="183148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pic>
            <p:nvPicPr>
              <p:cNvPr id="6" name="data illustrative scene"/>
              <p:cNvPicPr/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1643278" y="2028009"/>
                <a:ext cx="2052514" cy="1498963"/>
              </a:xfrm>
              <a:prstGeom prst="rect">
                <a:avLst/>
              </a:prstGeom>
            </p:spPr>
          </p:pic>
          <p:sp>
            <p:nvSpPr>
              <p:cNvPr id="19" name="TextBox 19"/>
              <p:cNvSpPr txBox="1"/>
              <p:nvPr/>
            </p:nvSpPr>
            <p:spPr>
              <a:xfrm>
                <a:off x="502896" y="1675311"/>
                <a:ext cx="4333278" cy="3331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42" b="1">
                    <a:solidFill>
                      <a:srgbClr val="276888"/>
                    </a:solidFill>
                    <a:latin typeface="Times New Roman"/>
                    <a:ea typeface="Times New Roman"/>
                    <a:cs typeface="Times New Roman"/>
                  </a:rPr>
                  <a:t>Data management</a:t>
                </a:r>
                <a:endParaRPr lang="zh-CN" sz="2142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502896" y="3487783"/>
                <a:ext cx="4333278" cy="3037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666">
                    <a:solidFill>
                      <a:srgbClr val="526575"/>
                    </a:solidFill>
                    <a:latin typeface="Times New Roman"/>
                    <a:ea typeface="Times New Roman"/>
                    <a:cs typeface="Times New Roman"/>
                  </a:rPr>
                  <a:t>Preserve timestamps, units and missingness</a:t>
                </a:r>
                <a:endParaRPr lang="zh-CN" sz="1666"/>
              </a:p>
            </p:txBody>
          </p:sp>
        </p:grpSp>
        <p:grpSp>
          <p:nvGrpSpPr>
            <p:cNvPr id="32" name="Module 2 — image, native labels and background"/>
            <p:cNvGrpSpPr/>
            <p:nvPr/>
          </p:nvGrpSpPr>
          <p:grpSpPr>
            <a:xfrm>
              <a:off x="5138496" y="1616529"/>
              <a:ext cx="4534826" cy="2253343"/>
              <a:chOff x="5138496" y="1616529"/>
              <a:chExt cx="4534826" cy="2253343"/>
            </a:xfrm>
          </p:grpSpPr>
          <p:sp>
            <p:nvSpPr>
              <p:cNvPr id="3" name="Roundrect 3"/>
              <p:cNvSpPr/>
              <p:nvPr/>
            </p:nvSpPr>
            <p:spPr>
              <a:xfrm>
                <a:off x="5138496" y="1616529"/>
                <a:ext cx="4534826" cy="2253343"/>
              </a:xfrm>
              <a:prstGeom prst="roundRect">
                <a:avLst>
                  <a:gd name="adj" fmla="val 3578"/>
                </a:avLst>
              </a:prstGeom>
              <a:solidFill>
                <a:srgbClr val="FFFFFF"/>
              </a:solidFill>
              <a:ln w="7620">
                <a:solidFill>
                  <a:srgbClr val="DCE5EB"/>
                </a:solidFill>
              </a:ln>
              <a:effectLst>
                <a:outerShdw blurRad="76200" dist="38100" dir="5400000" algn="ctr" rotWithShape="0">
                  <a:srgbClr val="183148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pic>
            <p:nvPicPr>
              <p:cNvPr id="7" name="window illustrative scene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79651" y="2028009"/>
                <a:ext cx="2052514" cy="1498963"/>
              </a:xfrm>
              <a:prstGeom prst="rect">
                <a:avLst/>
              </a:prstGeom>
            </p:spPr>
          </p:pic>
          <p:sp>
            <p:nvSpPr>
              <p:cNvPr id="21" name="TextBox 21"/>
              <p:cNvSpPr txBox="1"/>
              <p:nvPr/>
            </p:nvSpPr>
            <p:spPr>
              <a:xfrm>
                <a:off x="5239269" y="1675311"/>
                <a:ext cx="4333278" cy="3331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42" b="1">
                    <a:solidFill>
                      <a:srgbClr val="66518A"/>
                    </a:solidFill>
                    <a:latin typeface="Times New Roman"/>
                    <a:ea typeface="Times New Roman"/>
                    <a:cs typeface="Times New Roman"/>
                  </a:rPr>
                  <a:t>Temporal processing</a:t>
                </a:r>
                <a:endParaRPr lang="zh-CN" sz="2142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5239269" y="3487783"/>
                <a:ext cx="4333278" cy="3037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666">
                    <a:solidFill>
                      <a:srgbClr val="526575"/>
                    </a:solidFill>
                    <a:latin typeface="Times New Roman"/>
                    <a:ea typeface="Times New Roman"/>
                    <a:cs typeface="Times New Roman"/>
                  </a:rPr>
                  <a:t>Select windows and apply numerical operations</a:t>
                </a:r>
                <a:endParaRPr lang="zh-CN" sz="1666"/>
              </a:p>
            </p:txBody>
          </p:sp>
        </p:grpSp>
        <p:grpSp>
          <p:nvGrpSpPr>
            <p:cNvPr id="33" name="Module 3 — image, native labels and background"/>
            <p:cNvGrpSpPr/>
            <p:nvPr/>
          </p:nvGrpSpPr>
          <p:grpSpPr>
            <a:xfrm>
              <a:off x="402122" y="4016829"/>
              <a:ext cx="4534826" cy="2253343"/>
              <a:chOff x="402122" y="4016829"/>
              <a:chExt cx="4534826" cy="2253343"/>
            </a:xfrm>
          </p:grpSpPr>
          <p:sp>
            <p:nvSpPr>
              <p:cNvPr id="4" name="Roundrect 4"/>
              <p:cNvSpPr/>
              <p:nvPr/>
            </p:nvSpPr>
            <p:spPr>
              <a:xfrm>
                <a:off x="402122" y="4016829"/>
                <a:ext cx="4534826" cy="2253343"/>
              </a:xfrm>
              <a:prstGeom prst="roundRect">
                <a:avLst>
                  <a:gd name="adj" fmla="val 3578"/>
                </a:avLst>
              </a:prstGeom>
              <a:solidFill>
                <a:srgbClr val="FFFFFF"/>
              </a:solidFill>
              <a:ln w="7620">
                <a:solidFill>
                  <a:srgbClr val="DCE5EB"/>
                </a:solidFill>
              </a:ln>
              <a:effectLst>
                <a:outerShdw blurRad="76200" dist="38100" dir="5400000" algn="ctr" rotWithShape="0">
                  <a:srgbClr val="183148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pic>
            <p:nvPicPr>
              <p:cNvPr id="8" name="alignment illustrative scene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643278" y="4428309"/>
                <a:ext cx="2052514" cy="1498963"/>
              </a:xfrm>
              <a:prstGeom prst="rect">
                <a:avLst/>
              </a:prstGeom>
            </p:spPr>
          </p:pic>
          <p:sp>
            <p:nvSpPr>
              <p:cNvPr id="23" name="TextBox 23"/>
              <p:cNvSpPr txBox="1"/>
              <p:nvPr/>
            </p:nvSpPr>
            <p:spPr>
              <a:xfrm>
                <a:off x="502896" y="4075611"/>
                <a:ext cx="4333278" cy="3331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42" b="1">
                    <a:solidFill>
                      <a:srgbClr val="317A68"/>
                    </a:solidFill>
                    <a:latin typeface="Times New Roman"/>
                    <a:ea typeface="Times New Roman"/>
                    <a:cs typeface="Times New Roman"/>
                  </a:rPr>
                  <a:t>Context and memory</a:t>
                </a:r>
                <a:endParaRPr lang="zh-CN" sz="2142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502896" y="5888083"/>
                <a:ext cx="4333278" cy="3037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666">
                    <a:solidFill>
                      <a:srgbClr val="526575"/>
                    </a:solidFill>
                    <a:latin typeface="Times New Roman"/>
                    <a:ea typeface="Times New Roman"/>
                    <a:cs typeface="Times New Roman"/>
                  </a:rPr>
                  <a:t>Align events with the observation window</a:t>
                </a:r>
                <a:endParaRPr lang="zh-CN" sz="1666"/>
              </a:p>
            </p:txBody>
          </p:sp>
        </p:grpSp>
        <p:grpSp>
          <p:nvGrpSpPr>
            <p:cNvPr id="34" name="Module 4 — image, native labels and background"/>
            <p:cNvGrpSpPr/>
            <p:nvPr/>
          </p:nvGrpSpPr>
          <p:grpSpPr>
            <a:xfrm>
              <a:off x="5138496" y="4016829"/>
              <a:ext cx="4534826" cy="2253343"/>
              <a:chOff x="5138496" y="4016829"/>
              <a:chExt cx="4534826" cy="2253343"/>
            </a:xfrm>
          </p:grpSpPr>
          <p:sp>
            <p:nvSpPr>
              <p:cNvPr id="5" name="Roundrect 5"/>
              <p:cNvSpPr/>
              <p:nvPr/>
            </p:nvSpPr>
            <p:spPr>
              <a:xfrm>
                <a:off x="5138496" y="4016829"/>
                <a:ext cx="4534826" cy="2253343"/>
              </a:xfrm>
              <a:prstGeom prst="roundRect">
                <a:avLst>
                  <a:gd name="adj" fmla="val 3578"/>
                </a:avLst>
              </a:prstGeom>
              <a:solidFill>
                <a:srgbClr val="FFFFFF"/>
              </a:solidFill>
              <a:ln w="7620">
                <a:solidFill>
                  <a:srgbClr val="DCE5EB"/>
                </a:solidFill>
              </a:ln>
              <a:effectLst>
                <a:outerShdw blurRad="76200" dist="38100" dir="5400000" algn="ctr" rotWithShape="0">
                  <a:srgbClr val="183148">
                    <a:alpha val="12000"/>
                  </a:srgbClr>
                </a:outerShdw>
              </a:effectLst>
            </p:spPr>
            <p:txBody>
              <a:bodyPr/>
              <a:lstStyle/>
              <a:p/>
            </p:txBody>
          </p:sp>
          <p:pic>
            <p:nvPicPr>
              <p:cNvPr id="9" name="availability illustrative scene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79651" y="4428309"/>
                <a:ext cx="2052514" cy="1498963"/>
              </a:xfrm>
              <a:prstGeom prst="rect">
                <a:avLst/>
              </a:prstGeom>
            </p:spPr>
          </p:pic>
          <p:sp>
            <p:nvSpPr>
              <p:cNvPr id="25" name="TextBox 25"/>
              <p:cNvSpPr txBox="1"/>
              <p:nvPr/>
            </p:nvSpPr>
            <p:spPr>
              <a:xfrm>
                <a:off x="5239269" y="4075611"/>
                <a:ext cx="4333278" cy="33310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2142" b="1">
                    <a:solidFill>
                      <a:srgbClr val="A56C2D"/>
                    </a:solidFill>
                    <a:latin typeface="Times New Roman"/>
                    <a:ea typeface="Times New Roman"/>
                    <a:cs typeface="Times New Roman"/>
                  </a:rPr>
                  <a:t>Temporal validation</a:t>
                </a:r>
                <a:endParaRPr lang="zh-CN" sz="2142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239269" y="5888083"/>
                <a:ext cx="4333278" cy="3037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anchor="ctr" lIns="0" tIns="0" rIns="0" bIns="0">
                <a:noAutofit/>
              </a:bodyPr>
              <a:lstStyle/>
              <a:p>
                <a:pPr algn="ctr"/>
                <a:r>
                  <a:rPr lang="zh-CN" sz="1666">
                    <a:solidFill>
                      <a:srgbClr val="526575"/>
                    </a:solidFill>
                    <a:latin typeface="Times New Roman"/>
                    <a:ea typeface="Times New Roman"/>
                    <a:cs typeface="Times New Roman"/>
                  </a:rPr>
                  <a:t>Admit only information available by τ</a:t>
                </a:r>
                <a:endParaRPr lang="zh-CN" sz="1666"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