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861000" cy="208216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plete figure — ungroup to edit modules"/>
          <p:cNvGrpSpPr/>
          <p:nvPr/>
        </p:nvGrpSpPr>
        <p:grpSpPr>
          <a:xfrm>
            <a:off x="642938" y="99151"/>
            <a:ext cx="29575125" cy="20548985"/>
            <a:chOff x="642938" y="99151"/>
            <a:chExt cx="29575125" cy="20548985"/>
          </a:xfrm>
        </p:grpSpPr>
        <p:sp>
          <p:nvSpPr>
            <p:cNvPr id="10" name="TextBox 10"/>
            <p:cNvSpPr txBox="1"/>
            <p:nvPr/>
          </p:nvSpPr>
          <p:spPr>
            <a:xfrm>
              <a:off x="3600450" y="99151"/>
              <a:ext cx="23660100" cy="1065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6480" b="1">
                  <a:solidFill>
                    <a:srgbClr val="276888"/>
                  </a:solidFill>
                  <a:latin typeface="Times New Roman"/>
                  <a:ea typeface="Times New Roman"/>
                  <a:cs typeface="Times New Roman"/>
                </a:rPr>
                <a:t>Task-specific procedures and feedback</a:t>
              </a:r>
              <a:endParaRPr lang="zh-CN" sz="648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3275" y="19805355"/>
              <a:ext cx="24174450" cy="842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5062">
                  <a:solidFill>
                    <a:srgbClr val="526575"/>
                  </a:solidFill>
                  <a:latin typeface="Times New Roman"/>
                  <a:ea typeface="Times New Roman"/>
                  <a:cs typeface="Times New Roman"/>
                </a:rPr>
                <a:t>The target artifact determines the feedback and acceptance criterion</a:t>
              </a:r>
              <a:endParaRPr lang="zh-CN" sz="5062"/>
            </a:p>
          </p:txBody>
        </p:sp>
        <p:grpSp>
          <p:nvGrpSpPr>
            <p:cNvPr id="28" name="Module 1 — image, native labels and background"/>
            <p:cNvGrpSpPr/>
            <p:nvPr/>
          </p:nvGrpSpPr>
          <p:grpSpPr>
            <a:xfrm>
              <a:off x="642938" y="1611199"/>
              <a:ext cx="14144625" cy="8675688"/>
              <a:chOff x="642938" y="1611199"/>
              <a:chExt cx="14144625" cy="8675688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642938" y="1611199"/>
                <a:ext cx="14144625" cy="8675688"/>
              </a:xfrm>
              <a:prstGeom prst="roundRect">
                <a:avLst>
                  <a:gd name="adj" fmla="val 2371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" name="forecast illustrative scene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80772" y="2677069"/>
                <a:ext cx="6868955" cy="4957536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900112" y="1735138"/>
                <a:ext cx="13630275" cy="892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70" b="1">
                    <a:solidFill>
                      <a:srgbClr val="276888"/>
                    </a:solidFill>
                    <a:latin typeface="Times New Roman"/>
                    <a:ea typeface="Times New Roman"/>
                    <a:cs typeface="Times New Roman"/>
                  </a:rPr>
                  <a:t>Forecasting and prediction</a:t>
                </a:r>
                <a:endParaRPr lang="zh-CN" sz="567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00112" y="7535454"/>
                <a:ext cx="13630275" cy="74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657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History + context</a:t>
                </a:r>
                <a:endParaRPr lang="zh-CN" sz="4657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0112" y="8303872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062">
                    <a:solidFill>
                      <a:srgbClr val="276888"/>
                    </a:solidFill>
                    <a:latin typeface="Times New Roman"/>
                    <a:ea typeface="Times New Roman"/>
                    <a:cs typeface="Times New Roman"/>
                  </a:rPr>
                  <a:t>Select model → predict → revise</a:t>
                </a:r>
                <a:endParaRPr lang="zh-CN" sz="5062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0112" y="9221016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5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Evaluate: Forecast error / calibration</a:t>
                </a:r>
                <a:endParaRPr lang="zh-CN" sz="4455"/>
              </a:p>
            </p:txBody>
          </p:sp>
        </p:grpSp>
        <p:grpSp>
          <p:nvGrpSpPr>
            <p:cNvPr id="29" name="Module 2 — image, native labels and background"/>
            <p:cNvGrpSpPr/>
            <p:nvPr/>
          </p:nvGrpSpPr>
          <p:grpSpPr>
            <a:xfrm>
              <a:off x="16073438" y="1611199"/>
              <a:ext cx="14144625" cy="8675688"/>
              <a:chOff x="16073438" y="1611199"/>
              <a:chExt cx="14144625" cy="8675688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16073438" y="1611199"/>
                <a:ext cx="14144625" cy="8675688"/>
              </a:xfrm>
              <a:prstGeom prst="roundRect">
                <a:avLst>
                  <a:gd name="adj" fmla="val 2371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" name="augmentation illustrative scen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11272" y="2677069"/>
                <a:ext cx="6868955" cy="4957536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16330612" y="1735138"/>
                <a:ext cx="13630275" cy="892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70" b="1">
                    <a:solidFill>
                      <a:srgbClr val="317A68"/>
                    </a:solidFill>
                    <a:latin typeface="Times New Roman"/>
                    <a:ea typeface="Times New Roman"/>
                    <a:cs typeface="Times New Roman"/>
                  </a:rPr>
                  <a:t>Data augmentation and synthesis</a:t>
                </a:r>
                <a:endParaRPr lang="zh-CN" sz="567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330612" y="7535454"/>
                <a:ext cx="13630275" cy="74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657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Samples + task requirements</a:t>
                </a:r>
                <a:endParaRPr lang="zh-CN" sz="4657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330612" y="8303872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062">
                    <a:solidFill>
                      <a:srgbClr val="317A68"/>
                    </a:solidFill>
                    <a:latin typeface="Times New Roman"/>
                    <a:ea typeface="Times New Roman"/>
                    <a:cs typeface="Times New Roman"/>
                  </a:rPr>
                  <a:t>Generate → review → train learner</a:t>
                </a:r>
                <a:endParaRPr lang="zh-CN" sz="5062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330612" y="9221016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5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Evaluate: Fidelity / downstream learning</a:t>
                </a:r>
                <a:endParaRPr lang="zh-CN" sz="4455"/>
              </a:p>
            </p:txBody>
          </p:sp>
        </p:grpSp>
        <p:grpSp>
          <p:nvGrpSpPr>
            <p:cNvPr id="30" name="Module 3 — image, native labels and background"/>
            <p:cNvGrpSpPr/>
            <p:nvPr/>
          </p:nvGrpSpPr>
          <p:grpSpPr>
            <a:xfrm>
              <a:off x="642938" y="10782640"/>
              <a:ext cx="14144625" cy="8675688"/>
              <a:chOff x="642938" y="10782640"/>
              <a:chExt cx="14144625" cy="8675688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642938" y="10782640"/>
                <a:ext cx="14144625" cy="8675688"/>
              </a:xfrm>
              <a:prstGeom prst="roundRect">
                <a:avLst>
                  <a:gd name="adj" fmla="val 2371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8" name="diagnosis illustrative scene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0772" y="11848510"/>
                <a:ext cx="6868955" cy="4957536"/>
              </a:xfrm>
              <a:prstGeom prst="rect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900112" y="10906579"/>
                <a:ext cx="13630275" cy="892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70" b="1">
                    <a:solidFill>
                      <a:srgbClr val="B14D47"/>
                    </a:solidFill>
                    <a:latin typeface="Times New Roman"/>
                    <a:ea typeface="Times New Roman"/>
                    <a:cs typeface="Times New Roman"/>
                  </a:rPr>
                  <a:t>Anomaly detection and diagnosis</a:t>
                </a:r>
                <a:endParaRPr lang="zh-CN" sz="567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0112" y="16706895"/>
                <a:ext cx="13630275" cy="74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657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Series + supporting evidence</a:t>
                </a:r>
                <a:endParaRPr lang="zh-CN" sz="4657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0112" y="17475313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062">
                    <a:solidFill>
                      <a:srgbClr val="B14D47"/>
                    </a:solidFill>
                    <a:latin typeface="Times New Roman"/>
                    <a:ea typeface="Times New Roman"/>
                    <a:cs typeface="Times New Roman"/>
                  </a:rPr>
                  <a:t>Detect → diagnose → refine intervals</a:t>
                </a:r>
                <a:endParaRPr lang="zh-CN" sz="5062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0112" y="18392457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5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Evaluate: Detection / diagnosis quality</a:t>
                </a:r>
                <a:endParaRPr lang="zh-CN" sz="4455"/>
              </a:p>
            </p:txBody>
          </p:sp>
        </p:grpSp>
        <p:grpSp>
          <p:nvGrpSpPr>
            <p:cNvPr id="31" name="Module 4 — image, native labels and background"/>
            <p:cNvGrpSpPr/>
            <p:nvPr/>
          </p:nvGrpSpPr>
          <p:grpSpPr>
            <a:xfrm>
              <a:off x="16073438" y="10782640"/>
              <a:ext cx="14144625" cy="8675688"/>
              <a:chOff x="16073438" y="10782640"/>
              <a:chExt cx="14144625" cy="8675688"/>
            </a:xfrm>
          </p:grpSpPr>
          <p:sp>
            <p:nvSpPr>
              <p:cNvPr id="5" name="Roundrect 5"/>
              <p:cNvSpPr/>
              <p:nvPr/>
            </p:nvSpPr>
            <p:spPr>
              <a:xfrm>
                <a:off x="16073438" y="10782640"/>
                <a:ext cx="14144625" cy="8675688"/>
              </a:xfrm>
              <a:prstGeom prst="roundRect">
                <a:avLst>
                  <a:gd name="adj" fmla="val 2371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9" name="decision illustrative scen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11272" y="11848510"/>
                <a:ext cx="6868955" cy="4957536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16330612" y="10906579"/>
                <a:ext cx="13630275" cy="8923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670" b="1">
                    <a:solidFill>
                      <a:srgbClr val="66518A"/>
                    </a:solidFill>
                    <a:latin typeface="Times New Roman"/>
                    <a:ea typeface="Times New Roman"/>
                    <a:cs typeface="Times New Roman"/>
                  </a:rPr>
                  <a:t>Decision support</a:t>
                </a:r>
                <a:endParaRPr lang="zh-CN" sz="567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330612" y="16706895"/>
                <a:ext cx="13630275" cy="74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657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State + forecast + constraints</a:t>
                </a:r>
                <a:endParaRPr lang="zh-CN" sz="4657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330612" y="17475313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5062">
                    <a:solidFill>
                      <a:srgbClr val="66518A"/>
                    </a:solidFill>
                    <a:latin typeface="Times New Roman"/>
                    <a:ea typeface="Times New Roman"/>
                    <a:cs typeface="Times New Roman"/>
                  </a:rPr>
                  <a:t>Compare actions → act → update</a:t>
                </a:r>
                <a:endParaRPr lang="zh-CN" sz="5062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330612" y="18392457"/>
                <a:ext cx="13630275" cy="793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455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Evaluate: Action utility / risk / latency</a:t>
                </a:r>
                <a:endParaRPr lang="zh-CN" sz="4455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