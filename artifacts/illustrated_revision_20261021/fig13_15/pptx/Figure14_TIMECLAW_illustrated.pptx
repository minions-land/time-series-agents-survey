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0" name="Figure14_TIMECLAW_illustrated — grouped scientific modules"/>
          <p:cNvGrpSpPr/>
          <p:nvPr/>
        </p:nvGrpSpPr>
        <p:grpSpPr>
          <a:xfrm>
            <a:off x="252768" y="119268"/>
            <a:ext cx="11686159" cy="6490254"/>
            <a:chOff x="252768" y="119268"/>
            <a:chExt cx="11686159" cy="6490254"/>
          </a:xfrm>
        </p:grpSpPr>
        <p:grpSp>
          <p:nvGrpSpPr>
            <p:cNvPr id="10001" name="runtime — ungroup to edit"/>
            <p:cNvGrpSpPr/>
            <p:nvPr/>
          </p:nvGrpSpPr>
          <p:grpSpPr>
            <a:xfrm>
              <a:off x="252768" y="119268"/>
              <a:ext cx="7751024" cy="3677478"/>
              <a:chOff x="252768" y="119268"/>
              <a:chExt cx="7751024" cy="3677478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252768" y="119268"/>
                <a:ext cx="7751024" cy="3677478"/>
              </a:xfrm>
              <a:prstGeom prst="roundRect">
                <a:avLst>
                  <a:gd name="adj" fmla="val 2162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021591" y="218661"/>
                <a:ext cx="4223314" cy="39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47" b="1">
                    <a:solidFill>
                      <a:srgbClr val="27638B"/>
                    </a:solidFill>
                    <a:latin typeface="Times New Roman"/>
                    <a:ea typeface="Times New Roman"/>
                    <a:cs typeface="Times New Roman"/>
                  </a:rPr>
                  <a:t>Time-series runtime</a:t>
                </a:r>
                <a:endParaRPr lang="zh-CN" sz="2347"/>
              </a:p>
            </p:txBody>
          </p:sp>
        </p:grpSp>
        <p:grpSp>
          <p:nvGrpSpPr>
            <p:cNvPr id="10002" name="runtime_connections — ungroup to edit"/>
            <p:cNvGrpSpPr/>
            <p:nvPr/>
          </p:nvGrpSpPr>
          <p:grpSpPr>
            <a:xfrm>
              <a:off x="3810289" y="2037522"/>
              <a:ext cx="4521431" cy="447261"/>
              <a:chOff x="3810289" y="2037522"/>
              <a:chExt cx="4521431" cy="447261"/>
            </a:xfrm>
          </p:grpSpPr>
          <p:sp>
            <p:nvSpPr>
              <p:cNvPr id="3" name="Line 3"/>
              <p:cNvSpPr/>
              <p:nvPr/>
            </p:nvSpPr>
            <p:spPr>
              <a:xfrm>
                <a:off x="3810289" y="2186609"/>
                <a:ext cx="397488" cy="0"/>
              </a:xfrm>
              <a:prstGeom prst="line">
                <a:avLst/>
              </a:prstGeom>
              <a:noFill/>
              <a:ln w="38100">
                <a:solidFill>
                  <a:srgbClr val="287F7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" name="Line 4"/>
              <p:cNvSpPr/>
              <p:nvPr/>
            </p:nvSpPr>
            <p:spPr>
              <a:xfrm>
                <a:off x="8033604" y="2037522"/>
                <a:ext cx="298116" cy="0"/>
              </a:xfrm>
              <a:prstGeom prst="line">
                <a:avLst/>
              </a:prstGeom>
              <a:noFill/>
              <a:ln w="38100">
                <a:solidFill>
                  <a:srgbClr val="69558D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" name="Line 5"/>
              <p:cNvSpPr/>
              <p:nvPr/>
            </p:nvSpPr>
            <p:spPr>
              <a:xfrm flipH="1">
                <a:off x="8033604" y="2484783"/>
                <a:ext cx="298116" cy="0"/>
              </a:xfrm>
              <a:prstGeom prst="line">
                <a:avLst/>
              </a:prstGeom>
              <a:noFill/>
              <a:ln w="38100">
                <a:solidFill>
                  <a:srgbClr val="69558D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10003" name="capability_evolution — ungroup to edit"/>
            <p:cNvGrpSpPr/>
            <p:nvPr/>
          </p:nvGrpSpPr>
          <p:grpSpPr>
            <a:xfrm>
              <a:off x="252768" y="4174434"/>
              <a:ext cx="11686159" cy="2435088"/>
              <a:chOff x="252768" y="4174434"/>
              <a:chExt cx="11686159" cy="2435088"/>
            </a:xfrm>
          </p:grpSpPr>
          <p:sp>
            <p:nvSpPr>
              <p:cNvPr id="6" name="Roundrect 6"/>
              <p:cNvSpPr/>
              <p:nvPr/>
            </p:nvSpPr>
            <p:spPr>
              <a:xfrm>
                <a:off x="252768" y="4174434"/>
                <a:ext cx="11686159" cy="2435088"/>
              </a:xfrm>
              <a:prstGeom prst="roundRect">
                <a:avLst>
                  <a:gd name="adj" fmla="val 3265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" name="Line 7"/>
              <p:cNvSpPr/>
              <p:nvPr/>
            </p:nvSpPr>
            <p:spPr>
              <a:xfrm>
                <a:off x="5996475" y="5178287"/>
                <a:ext cx="248430" cy="0"/>
              </a:xfrm>
              <a:prstGeom prst="line">
                <a:avLst/>
              </a:prstGeom>
              <a:noFill/>
              <a:ln w="38100">
                <a:solidFill>
                  <a:srgbClr val="A9702C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8" name="Line 8"/>
              <p:cNvSpPr/>
              <p:nvPr/>
            </p:nvSpPr>
            <p:spPr>
              <a:xfrm>
                <a:off x="8828580" y="5178287"/>
                <a:ext cx="248430" cy="0"/>
              </a:xfrm>
              <a:prstGeom prst="line">
                <a:avLst/>
              </a:prstGeom>
              <a:noFill/>
              <a:ln w="38100">
                <a:solidFill>
                  <a:srgbClr val="A9702C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" name="evolution: original generated illustration crop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185" y="4721086"/>
                <a:ext cx="1952574" cy="1739346"/>
              </a:xfrm>
              <a:prstGeom prst="rect">
                <a:avLst/>
              </a:prstGeom>
            </p:spPr>
          </p:pic>
          <p:sp>
            <p:nvSpPr>
              <p:cNvPr id="24" name="TextBox 24"/>
              <p:cNvSpPr txBox="1"/>
              <p:nvPr/>
            </p:nvSpPr>
            <p:spPr>
              <a:xfrm>
                <a:off x="481324" y="4273827"/>
                <a:ext cx="2981163" cy="39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0" b="1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Capability evolution</a:t>
                </a:r>
                <a:endParaRPr lang="zh-CN" sz="219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512173" y="4770783"/>
                <a:ext cx="2484303" cy="39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34" b="1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Extract a procedure</a:t>
                </a:r>
                <a:endParaRPr lang="zh-CN" sz="2034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2173" y="5317436"/>
                <a:ext cx="2484303" cy="546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7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Cluster execution traces</a:t>
                </a:r>
                <a:endParaRPr lang="zh-CN" sz="1877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94592" y="4770783"/>
                <a:ext cx="2484303" cy="39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34" b="1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Test the candidate</a:t>
                </a:r>
                <a:endParaRPr lang="zh-CN" sz="2034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94592" y="5317436"/>
                <a:ext cx="2484303" cy="546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7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Held-out similar tasks</a:t>
                </a:r>
                <a:endParaRPr lang="zh-CN" sz="1877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126697" y="4770783"/>
                <a:ext cx="2484303" cy="39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34" b="1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Register the tool</a:t>
                </a:r>
                <a:endParaRPr lang="zh-CN" sz="2034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126697" y="5317436"/>
                <a:ext cx="2484303" cy="546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7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Invocation description</a:t>
                </a:r>
                <a:endParaRPr lang="zh-CN" sz="1877"/>
              </a:p>
            </p:txBody>
          </p:sp>
        </p:grpSp>
        <p:grpSp>
          <p:nvGrpSpPr>
            <p:cNvPr id="10004" name="update_loop — ungroup to edit"/>
            <p:cNvGrpSpPr/>
            <p:nvPr/>
          </p:nvGrpSpPr>
          <p:grpSpPr>
            <a:xfrm>
              <a:off x="3363115" y="3737113"/>
              <a:ext cx="8327382" cy="437322"/>
              <a:chOff x="3363115" y="3737113"/>
              <a:chExt cx="8327382" cy="437322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6115722" y="3826565"/>
                <a:ext cx="0" cy="288235"/>
              </a:xfrm>
              <a:prstGeom prst="line">
                <a:avLst/>
              </a:prstGeom>
              <a:noFill/>
              <a:ln w="38100">
                <a:solidFill>
                  <a:srgbClr val="A9702C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" name="Line 10"/>
              <p:cNvSpPr/>
              <p:nvPr/>
            </p:nvSpPr>
            <p:spPr>
              <a:xfrm flipV="1">
                <a:off x="11690497" y="4114800"/>
                <a:ext cx="0" cy="59635"/>
              </a:xfrm>
              <a:prstGeom prst="line">
                <a:avLst/>
              </a:prstGeom>
              <a:noFill/>
              <a:ln w="38100">
                <a:solidFill>
                  <a:srgbClr val="A9702C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" name="Line 11"/>
              <p:cNvSpPr/>
              <p:nvPr/>
            </p:nvSpPr>
            <p:spPr>
              <a:xfrm flipH="1">
                <a:off x="7685801" y="4114800"/>
                <a:ext cx="4004696" cy="0"/>
              </a:xfrm>
              <a:prstGeom prst="line">
                <a:avLst/>
              </a:prstGeom>
              <a:noFill/>
              <a:ln w="38100">
                <a:solidFill>
                  <a:srgbClr val="A9702C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" name="Line 12"/>
              <p:cNvSpPr/>
              <p:nvPr/>
            </p:nvSpPr>
            <p:spPr>
              <a:xfrm flipV="1">
                <a:off x="7685801" y="3737113"/>
                <a:ext cx="0" cy="377687"/>
              </a:xfrm>
              <a:prstGeom prst="line">
                <a:avLst/>
              </a:prstGeom>
              <a:noFill/>
              <a:ln w="38100">
                <a:solidFill>
                  <a:srgbClr val="A9702C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63115" y="3796746"/>
                <a:ext cx="2683047" cy="3478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99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Recorded executions</a:t>
                </a:r>
                <a:endParaRPr lang="zh-CN" sz="1799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983918" y="3776871"/>
                <a:ext cx="3328965" cy="248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43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Reuse accepted capabilities</a:t>
                </a:r>
                <a:endParaRPr lang="zh-CN" sz="1643"/>
              </a:p>
            </p:txBody>
          </p:sp>
        </p:grpSp>
        <p:grpSp>
          <p:nvGrpSpPr>
            <p:cNvPr id="10005" name="workspace — ungroup to edit"/>
            <p:cNvGrpSpPr/>
            <p:nvPr/>
          </p:nvGrpSpPr>
          <p:grpSpPr>
            <a:xfrm>
              <a:off x="381952" y="695737"/>
              <a:ext cx="3378651" cy="3021495"/>
              <a:chOff x="381952" y="695737"/>
              <a:chExt cx="3378651" cy="3021495"/>
            </a:xfrm>
          </p:grpSpPr>
          <p:pic>
            <p:nvPicPr>
              <p:cNvPr id="13" name="workspace: original generated illustration crop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0892" y="1143002"/>
                <a:ext cx="2320776" cy="2067337"/>
              </a:xfrm>
              <a:prstGeom prst="rect">
                <a:avLst/>
              </a:prstGeom>
            </p:spPr>
          </p:pic>
          <p:sp>
            <p:nvSpPr>
              <p:cNvPr id="18" name="TextBox 18"/>
              <p:cNvSpPr txBox="1"/>
              <p:nvPr/>
            </p:nvSpPr>
            <p:spPr>
              <a:xfrm>
                <a:off x="381952" y="695737"/>
                <a:ext cx="3378651" cy="417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7638B"/>
                    </a:solidFill>
                    <a:latin typeface="Times New Roman"/>
                    <a:ea typeface="Times New Roman"/>
                    <a:cs typeface="Times New Roman"/>
                  </a:rPr>
                  <a:t>Numerical state</a:t>
                </a:r>
                <a:endParaRPr lang="zh-CN" sz="2112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81952" y="3299790"/>
                <a:ext cx="3378651" cy="417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7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Series, windows and metadata</a:t>
                </a:r>
                <a:endParaRPr lang="zh-CN" sz="1877"/>
              </a:p>
            </p:txBody>
          </p:sp>
        </p:grpSp>
        <p:grpSp>
          <p:nvGrpSpPr>
            <p:cNvPr id="10006" name="tools — ungroup to edit"/>
            <p:cNvGrpSpPr/>
            <p:nvPr/>
          </p:nvGrpSpPr>
          <p:grpSpPr>
            <a:xfrm>
              <a:off x="4356836" y="695737"/>
              <a:ext cx="3378651" cy="3021495"/>
              <a:chOff x="4356836" y="695737"/>
              <a:chExt cx="3378651" cy="3021495"/>
            </a:xfrm>
          </p:grpSpPr>
          <p:pic>
            <p:nvPicPr>
              <p:cNvPr id="14" name="tools: original generated illustration cro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5776" y="1143002"/>
                <a:ext cx="2320776" cy="2067337"/>
              </a:xfrm>
              <a:prstGeom prst="rect">
                <a:avLst/>
              </a:prstGeom>
            </p:spPr>
          </p:pic>
          <p:sp>
            <p:nvSpPr>
              <p:cNvPr id="20" name="TextBox 20"/>
              <p:cNvSpPr txBox="1"/>
              <p:nvPr/>
            </p:nvSpPr>
            <p:spPr>
              <a:xfrm>
                <a:off x="4356836" y="695737"/>
                <a:ext cx="3378651" cy="417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87F75"/>
                    </a:solidFill>
                    <a:latin typeface="Times New Roman"/>
                    <a:ea typeface="Times New Roman"/>
                    <a:cs typeface="Times New Roman"/>
                  </a:rPr>
                  <a:t>Temporal tools</a:t>
                </a:r>
                <a:endParaRPr lang="zh-CN" sz="2112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356836" y="3299790"/>
                <a:ext cx="3378651" cy="417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7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Operate on addressable series</a:t>
                </a:r>
                <a:endParaRPr lang="zh-CN" sz="1877"/>
              </a:p>
            </p:txBody>
          </p:sp>
        </p:grpSp>
        <p:grpSp>
          <p:nvGrpSpPr>
            <p:cNvPr id="10007" name="memory — ungroup to edit"/>
            <p:cNvGrpSpPr/>
            <p:nvPr/>
          </p:nvGrpSpPr>
          <p:grpSpPr>
            <a:xfrm>
              <a:off x="8431092" y="695737"/>
              <a:ext cx="3378651" cy="3021495"/>
              <a:chOff x="8431092" y="695737"/>
              <a:chExt cx="3378651" cy="3021495"/>
            </a:xfrm>
          </p:grpSpPr>
          <p:pic>
            <p:nvPicPr>
              <p:cNvPr id="15" name="memory: original generated illustration crop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60032" y="1143002"/>
                <a:ext cx="2320776" cy="2067337"/>
              </a:xfrm>
              <a:prstGeom prst="rect">
                <a:avLst/>
              </a:prstGeom>
            </p:spPr>
          </p:pic>
          <p:sp>
            <p:nvSpPr>
              <p:cNvPr id="22" name="TextBox 22"/>
              <p:cNvSpPr txBox="1"/>
              <p:nvPr/>
            </p:nvSpPr>
            <p:spPr>
              <a:xfrm>
                <a:off x="8431092" y="695737"/>
                <a:ext cx="3378651" cy="417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69558D"/>
                    </a:solidFill>
                    <a:latin typeface="Times New Roman"/>
                    <a:ea typeface="Times New Roman"/>
                    <a:cs typeface="Times New Roman"/>
                  </a:rPr>
                  <a:t>Multimodal memory</a:t>
                </a:r>
                <a:endParaRPr lang="zh-CN" sz="2112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31092" y="3299790"/>
                <a:ext cx="3378651" cy="417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7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Retrieve analytical context</a:t>
                </a:r>
                <a:endParaRPr lang="zh-CN" sz="1877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