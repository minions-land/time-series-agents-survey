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431250" cy="98298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0" name="Figure13_TSAgent_illustrated — grouped scientific modules"/>
          <p:cNvGrpSpPr/>
          <p:nvPr/>
        </p:nvGrpSpPr>
        <p:grpSpPr>
          <a:xfrm>
            <a:off x="53578" y="178727"/>
            <a:ext cx="21413391" cy="9382992"/>
            <a:chOff x="53578" y="178727"/>
            <a:chExt cx="21413391" cy="9382992"/>
          </a:xfrm>
        </p:grpSpPr>
        <p:grpSp>
          <p:nvGrpSpPr>
            <p:cNvPr id="10001" name="analytical_loop — ungroup to edit"/>
            <p:cNvGrpSpPr/>
            <p:nvPr/>
          </p:nvGrpSpPr>
          <p:grpSpPr>
            <a:xfrm>
              <a:off x="5000625" y="178727"/>
              <a:ext cx="11072813" cy="7238305"/>
              <a:chOff x="5000625" y="178727"/>
              <a:chExt cx="11072813" cy="7238305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5000625" y="178727"/>
                <a:ext cx="11072813" cy="7238305"/>
              </a:xfrm>
              <a:prstGeom prst="roundRect">
                <a:avLst>
                  <a:gd name="adj" fmla="val 1974"/>
                </a:avLst>
              </a:prstGeom>
              <a:solidFill>
                <a:srgbClr val="FFFFFF"/>
              </a:solidFill>
              <a:ln w="16668">
                <a:solidFill>
                  <a:srgbClr val="DAE3E9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82891" y="357445"/>
                <a:ext cx="8929688" cy="6791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69558D"/>
                    </a:solidFill>
                    <a:latin typeface="Times New Roman"/>
                    <a:ea typeface="Times New Roman"/>
                    <a:cs typeface="Times New Roman"/>
                  </a:rPr>
                  <a:t>Executable analytical loop</a:t>
                </a:r>
                <a:endParaRPr lang="zh-CN" sz="4078"/>
              </a:p>
            </p:txBody>
          </p:sp>
        </p:grpSp>
        <p:grpSp>
          <p:nvGrpSpPr>
            <p:cNvPr id="10002" name="connections — ungroup to edit"/>
            <p:cNvGrpSpPr/>
            <p:nvPr/>
          </p:nvGrpSpPr>
          <p:grpSpPr>
            <a:xfrm>
              <a:off x="4732734" y="4021282"/>
              <a:ext cx="11697891" cy="4789800"/>
              <a:chOff x="4732734" y="4021282"/>
              <a:chExt cx="11697891" cy="4789800"/>
            </a:xfrm>
          </p:grpSpPr>
          <p:sp>
            <p:nvSpPr>
              <p:cNvPr id="3" name="Line 3"/>
              <p:cNvSpPr/>
              <p:nvPr/>
            </p:nvSpPr>
            <p:spPr>
              <a:xfrm>
                <a:off x="4732734" y="4021282"/>
                <a:ext cx="446484" cy="0"/>
              </a:xfrm>
              <a:prstGeom prst="line">
                <a:avLst/>
              </a:prstGeom>
              <a:noFill/>
              <a:ln w="38100">
                <a:solidFill>
                  <a:srgbClr val="53677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" name="Line 4"/>
              <p:cNvSpPr/>
              <p:nvPr/>
            </p:nvSpPr>
            <p:spPr>
              <a:xfrm>
                <a:off x="10090547" y="4021282"/>
                <a:ext cx="714375" cy="0"/>
              </a:xfrm>
              <a:prstGeom prst="line">
                <a:avLst/>
              </a:prstGeom>
              <a:noFill/>
              <a:ln w="38100">
                <a:solidFill>
                  <a:srgbClr val="53677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5" name="Line 5"/>
              <p:cNvSpPr/>
              <p:nvPr/>
            </p:nvSpPr>
            <p:spPr>
              <a:xfrm>
                <a:off x="15894844" y="4021282"/>
                <a:ext cx="535781" cy="0"/>
              </a:xfrm>
              <a:prstGeom prst="line">
                <a:avLst/>
              </a:prstGeom>
              <a:noFill/>
              <a:ln w="38100">
                <a:solidFill>
                  <a:srgbClr val="53677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6" name="Line 6"/>
              <p:cNvSpPr/>
              <p:nvPr/>
            </p:nvSpPr>
            <p:spPr>
              <a:xfrm>
                <a:off x="13394531" y="7345541"/>
                <a:ext cx="0" cy="697022"/>
              </a:xfrm>
              <a:prstGeom prst="line">
                <a:avLst/>
              </a:prstGeom>
              <a:noFill/>
              <a:ln w="38100">
                <a:solidFill>
                  <a:srgbClr val="287F7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7" name="Line 7"/>
              <p:cNvSpPr/>
              <p:nvPr/>
            </p:nvSpPr>
            <p:spPr>
              <a:xfrm flipH="1">
                <a:off x="7858125" y="8042564"/>
                <a:ext cx="5536406" cy="0"/>
              </a:xfrm>
              <a:prstGeom prst="line">
                <a:avLst/>
              </a:prstGeom>
              <a:noFill/>
              <a:ln w="38100">
                <a:solidFill>
                  <a:srgbClr val="287F7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" name="Line 8"/>
              <p:cNvSpPr/>
              <p:nvPr/>
            </p:nvSpPr>
            <p:spPr>
              <a:xfrm flipV="1">
                <a:off x="7858125" y="7363414"/>
                <a:ext cx="0" cy="679150"/>
              </a:xfrm>
              <a:prstGeom prst="line">
                <a:avLst/>
              </a:prstGeom>
              <a:noFill/>
              <a:ln w="38100">
                <a:solidFill>
                  <a:srgbClr val="287F7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72188" y="8185547"/>
                <a:ext cx="9108281" cy="625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5">
                    <a:solidFill>
                      <a:srgbClr val="287F75"/>
                    </a:solidFill>
                    <a:latin typeface="Times New Roman"/>
                    <a:ea typeface="Times New Roman"/>
                    <a:cs typeface="Times New Roman"/>
                  </a:rPr>
                  <a:t>Request another operation or revise the analysis</a:t>
                </a:r>
                <a:endParaRPr lang="zh-CN" sz="3375"/>
              </a:p>
            </p:txBody>
          </p:sp>
        </p:grpSp>
        <p:grpSp>
          <p:nvGrpSpPr>
            <p:cNvPr id="10003" name="evidence_record — ungroup to edit"/>
            <p:cNvGrpSpPr/>
            <p:nvPr/>
          </p:nvGrpSpPr>
          <p:grpSpPr>
            <a:xfrm>
              <a:off x="357188" y="8989800"/>
              <a:ext cx="20538281" cy="571919"/>
              <a:chOff x="357188" y="8989800"/>
              <a:chExt cx="20538281" cy="571919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4375547" y="9275757"/>
                <a:ext cx="357188" cy="0"/>
              </a:xfrm>
              <a:prstGeom prst="line">
                <a:avLst/>
              </a:prstGeom>
              <a:noFill/>
              <a:ln w="38100">
                <a:solidFill>
                  <a:srgbClr val="27638B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0" name="Line 10"/>
              <p:cNvSpPr/>
              <p:nvPr/>
            </p:nvSpPr>
            <p:spPr>
              <a:xfrm>
                <a:off x="10358438" y="9275757"/>
                <a:ext cx="446484" cy="0"/>
              </a:xfrm>
              <a:prstGeom prst="line">
                <a:avLst/>
              </a:prstGeom>
              <a:noFill/>
              <a:ln w="38100">
                <a:solidFill>
                  <a:srgbClr val="27638B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" name="Line 11"/>
              <p:cNvSpPr/>
              <p:nvPr/>
            </p:nvSpPr>
            <p:spPr>
              <a:xfrm>
                <a:off x="15805547" y="9275757"/>
                <a:ext cx="535781" cy="0"/>
              </a:xfrm>
              <a:prstGeom prst="line">
                <a:avLst/>
              </a:prstGeom>
              <a:noFill/>
              <a:ln w="38100">
                <a:solidFill>
                  <a:srgbClr val="27638B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7188" y="8989800"/>
                <a:ext cx="4107656" cy="571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515" b="1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Evidence record</a:t>
                </a:r>
                <a:endParaRPr lang="zh-CN" sz="3515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22031" y="8989800"/>
                <a:ext cx="5357812" cy="571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5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Tool inputs and outputs</a:t>
                </a:r>
                <a:endParaRPr lang="zh-CN" sz="3375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894219" y="8989800"/>
                <a:ext cx="4822031" cy="571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5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Source provenance</a:t>
                </a:r>
                <a:endParaRPr lang="zh-CN" sz="3375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6430625" y="8989800"/>
                <a:ext cx="4464844" cy="571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375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Final response</a:t>
                </a:r>
                <a:endParaRPr lang="zh-CN" sz="3375"/>
              </a:p>
            </p:txBody>
          </p:sp>
        </p:grpSp>
        <p:grpSp>
          <p:nvGrpSpPr>
            <p:cNvPr id="10004" name="question — ungroup to edit"/>
            <p:cNvGrpSpPr/>
            <p:nvPr/>
          </p:nvGrpSpPr>
          <p:grpSpPr>
            <a:xfrm>
              <a:off x="53578" y="1197445"/>
              <a:ext cx="4893469" cy="6040860"/>
              <a:chOff x="53578" y="1197445"/>
              <a:chExt cx="4893469" cy="6040860"/>
            </a:xfrm>
          </p:grpSpPr>
          <p:pic>
            <p:nvPicPr>
              <p:cNvPr id="12" name="question: original generated illustration crop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3295" y="2055324"/>
                <a:ext cx="4464739" cy="3967667"/>
              </a:xfrm>
              <a:prstGeom prst="rect">
                <a:avLst/>
              </a:prstGeom>
            </p:spPr>
          </p:pic>
          <p:sp>
            <p:nvSpPr>
              <p:cNvPr id="17" name="TextBox 17"/>
              <p:cNvSpPr txBox="1"/>
              <p:nvPr/>
            </p:nvSpPr>
            <p:spPr>
              <a:xfrm>
                <a:off x="89297" y="1197445"/>
                <a:ext cx="4822031" cy="714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27638B"/>
                    </a:solidFill>
                    <a:latin typeface="Times New Roman"/>
                    <a:ea typeface="Times New Roman"/>
                    <a:cs typeface="Times New Roman"/>
                  </a:rPr>
                  <a:t>Question and series</a:t>
                </a:r>
                <a:endParaRPr lang="zh-CN" sz="3796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3578" y="6112345"/>
                <a:ext cx="4893469" cy="1125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Inspect temporal</a:t>
                </a:r>
                <a:endParaRPr lang="zh-CN" sz="3234"/>
              </a:p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  <a:endParaRPr lang="zh-CN" sz="3234"/>
              </a:p>
            </p:txBody>
          </p:sp>
        </p:grpSp>
        <p:grpSp>
          <p:nvGrpSpPr>
            <p:cNvPr id="10005" name="analysis — ungroup to edit"/>
            <p:cNvGrpSpPr/>
            <p:nvPr/>
          </p:nvGrpSpPr>
          <p:grpSpPr>
            <a:xfrm>
              <a:off x="5322094" y="1197445"/>
              <a:ext cx="4893469" cy="6040860"/>
              <a:chOff x="5322094" y="1197445"/>
              <a:chExt cx="4893469" cy="6040860"/>
            </a:xfrm>
          </p:grpSpPr>
          <p:pic>
            <p:nvPicPr>
              <p:cNvPr id="13" name="analysis: original generated illustration crop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1810" y="2055324"/>
                <a:ext cx="4464739" cy="3967667"/>
              </a:xfrm>
              <a:prstGeom prst="rect">
                <a:avLst/>
              </a:prstGeom>
            </p:spPr>
          </p:pic>
          <p:sp>
            <p:nvSpPr>
              <p:cNvPr id="19" name="TextBox 19"/>
              <p:cNvSpPr txBox="1"/>
              <p:nvPr/>
            </p:nvSpPr>
            <p:spPr>
              <a:xfrm>
                <a:off x="5357812" y="1197445"/>
                <a:ext cx="4822031" cy="714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69558D"/>
                    </a:solidFill>
                    <a:latin typeface="Times New Roman"/>
                    <a:ea typeface="Times New Roman"/>
                    <a:cs typeface="Times New Roman"/>
                  </a:rPr>
                  <a:t>Numerical tools</a:t>
                </a:r>
                <a:endParaRPr lang="zh-CN" sz="3796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22094" y="6112345"/>
                <a:ext cx="4893469" cy="1125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Compute numerical</a:t>
                </a:r>
                <a:endParaRPr lang="zh-CN" sz="3234"/>
              </a:p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evidence</a:t>
                </a:r>
                <a:endParaRPr lang="zh-CN" sz="3234"/>
              </a:p>
            </p:txBody>
          </p:sp>
        </p:grpSp>
        <p:grpSp>
          <p:nvGrpSpPr>
            <p:cNvPr id="10006" name="review — ungroup to edit"/>
            <p:cNvGrpSpPr/>
            <p:nvPr/>
          </p:nvGrpSpPr>
          <p:grpSpPr>
            <a:xfrm>
              <a:off x="10947797" y="1197445"/>
              <a:ext cx="4893469" cy="6040860"/>
              <a:chOff x="10947797" y="1197445"/>
              <a:chExt cx="4893469" cy="6040860"/>
            </a:xfrm>
          </p:grpSpPr>
          <p:pic>
            <p:nvPicPr>
              <p:cNvPr id="14" name="review: original generated illustration crop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17513" y="2055324"/>
                <a:ext cx="4464739" cy="3967667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/>
            </p:nvSpPr>
            <p:spPr>
              <a:xfrm>
                <a:off x="10983516" y="1197445"/>
                <a:ext cx="4822031" cy="714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287F75"/>
                    </a:solidFill>
                    <a:latin typeface="Times New Roman"/>
                    <a:ea typeface="Times New Roman"/>
                    <a:cs typeface="Times New Roman"/>
                  </a:rPr>
                  <a:t>LLM critic</a:t>
                </a:r>
                <a:endParaRPr lang="zh-CN" sz="3796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947797" y="6112345"/>
                <a:ext cx="4893469" cy="1125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Check evidence</a:t>
                </a:r>
                <a:endParaRPr lang="zh-CN" sz="3234"/>
              </a:p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sufficiency</a:t>
                </a:r>
                <a:endParaRPr lang="zh-CN" sz="3234"/>
              </a:p>
            </p:txBody>
          </p:sp>
        </p:grpSp>
        <p:grpSp>
          <p:nvGrpSpPr>
            <p:cNvPr id="10007" name="report — ungroup to edit"/>
            <p:cNvGrpSpPr/>
            <p:nvPr/>
          </p:nvGrpSpPr>
          <p:grpSpPr>
            <a:xfrm>
              <a:off x="16573500" y="1197445"/>
              <a:ext cx="4893469" cy="6040860"/>
              <a:chOff x="16573500" y="1197445"/>
              <a:chExt cx="4893469" cy="6040860"/>
            </a:xfrm>
          </p:grpSpPr>
          <p:pic>
            <p:nvPicPr>
              <p:cNvPr id="15" name="report: original generated illustration crop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98516" y="2520001"/>
                <a:ext cx="4554141" cy="3038304"/>
              </a:xfrm>
              <a:prstGeom prst="rect">
                <a:avLst/>
              </a:prstGeom>
            </p:spPr>
          </p:pic>
          <p:sp>
            <p:nvSpPr>
              <p:cNvPr id="23" name="TextBox 23"/>
              <p:cNvSpPr txBox="1"/>
              <p:nvPr/>
            </p:nvSpPr>
            <p:spPr>
              <a:xfrm>
                <a:off x="16609219" y="1197445"/>
                <a:ext cx="4822031" cy="7148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796" b="1">
                    <a:solidFill>
                      <a:srgbClr val="A9702C"/>
                    </a:solidFill>
                    <a:latin typeface="Times New Roman"/>
                    <a:ea typeface="Times New Roman"/>
                    <a:cs typeface="Times New Roman"/>
                  </a:rPr>
                  <a:t>Grounded response</a:t>
                </a:r>
                <a:endParaRPr lang="zh-CN" sz="3796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573500" y="6112345"/>
                <a:ext cx="4893469" cy="11259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Link claims to</a:t>
                </a:r>
                <a:endParaRPr lang="zh-CN" sz="3234"/>
              </a:p>
              <a:p>
                <a:pPr algn="ctr"/>
                <a:r>
                  <a:rPr lang="zh-CN" sz="3234">
                    <a:solidFill>
                      <a:srgbClr val="536779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  <a:endParaRPr lang="zh-CN" sz="3234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