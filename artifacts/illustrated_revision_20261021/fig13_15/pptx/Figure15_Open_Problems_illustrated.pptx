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21431250" cy="12592050" type="custom"/>
  <p:notesSz cx="6858000" cy="9144000"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000" name="Figure15_Open_Problems_illustrated — grouped scientific modules"/>
          <p:cNvGrpSpPr/>
          <p:nvPr/>
        </p:nvGrpSpPr>
        <p:grpSpPr>
          <a:xfrm>
            <a:off x="357188" y="89306"/>
            <a:ext cx="20716875" cy="12341991"/>
            <a:chOff x="357188" y="89306"/>
            <a:chExt cx="20716875" cy="12341991"/>
          </a:xfrm>
        </p:grpSpPr>
        <p:grpSp>
          <p:nvGrpSpPr>
            <p:cNvPr id="10001" name="perception — ungroup to edit"/>
            <p:cNvGrpSpPr/>
            <p:nvPr/>
          </p:nvGrpSpPr>
          <p:grpSpPr>
            <a:xfrm>
              <a:off x="357188" y="1160974"/>
              <a:ext cx="6607969" cy="4876067"/>
              <a:chOff x="357188" y="1160974"/>
              <a:chExt cx="6607969" cy="4876067"/>
            </a:xfrm>
          </p:grpSpPr>
          <p:sp>
            <p:nvSpPr>
              <p:cNvPr id="2" name="Roundrect 2"/>
              <p:cNvSpPr/>
              <p:nvPr/>
            </p:nvSpPr>
            <p:spPr>
              <a:xfrm>
                <a:off x="357188" y="1160974"/>
                <a:ext cx="6607969" cy="4876067"/>
              </a:xfrm>
              <a:prstGeom prst="roundRect">
                <a:avLst>
                  <a:gd name="adj" fmla="val 2930"/>
                </a:avLst>
              </a:prstGeom>
              <a:solidFill>
                <a:srgbClr val="FFFFFF"/>
              </a:solidFill>
              <a:ln w="16668">
                <a:solidFill>
                  <a:srgbClr val="DAE3E9"/>
                </a:solidFill>
              </a:ln>
              <a:effectLst>
                <a:outerShdw blurRad="76200" dist="38100" dir="5400000" algn="ctr" rotWithShape="0">
                  <a:srgbClr val="183148">
                    <a:alpha val="12000"/>
                  </a:srgbClr>
                </a:outerShdw>
              </a:effectLst>
            </p:spPr>
            <p:txBody>
              <a:bodyPr/>
              <a:lstStyle/>
              <a:p/>
            </p:txBody>
          </p:sp>
          <p:pic>
            <p:nvPicPr>
              <p:cNvPr id="7" name="perception: original generated illustration crop"/>
              <p:cNvPicPr/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2102539" y="1928993"/>
                <a:ext cx="3117275" cy="2768460"/>
              </a:xfrm>
              <a:prstGeom prst="rect">
                <a:avLst/>
              </a:prstGeom>
            </p:spPr>
          </p:pic>
          <p:sp>
            <p:nvSpPr>
              <p:cNvPr id="13" name="TextBox 13"/>
              <p:cNvSpPr txBox="1"/>
              <p:nvPr/>
            </p:nvSpPr>
            <p:spPr>
              <a:xfrm>
                <a:off x="500062" y="1250271"/>
                <a:ext cx="6322219" cy="62513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ctr"/>
                <a:r>
                  <a:rPr lang="zh-CN" sz="3796" b="1">
                    <a:solidFill>
                      <a:srgbClr val="27638B"/>
                    </a:solidFill>
                    <a:latin typeface="Times New Roman"/>
                    <a:ea typeface="Times New Roman"/>
                    <a:cs typeface="Times New Roman"/>
                  </a:rPr>
                  <a:t>Perception and execution</a:t>
                </a:r>
                <a:endParaRPr lang="zh-CN" sz="3796"/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482203" y="4822488"/>
                <a:ext cx="6357938" cy="5179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ctr"/>
                <a:r>
                  <a:rPr lang="zh-CN" sz="3234">
                    <a:solidFill>
                      <a:srgbClr val="536779"/>
                    </a:solidFill>
                    <a:latin typeface="Times New Roman"/>
                    <a:ea typeface="Times New Roman"/>
                    <a:cs typeface="Times New Roman"/>
                  </a:rPr>
                  <a:t>Model judgment vs. tool use</a:t>
                </a:r>
                <a:endParaRPr lang="zh-CN" sz="3234"/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482203" y="5394046"/>
                <a:ext cx="6357938" cy="5179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ctr"/>
                <a:r>
                  <a:rPr lang="zh-CN" sz="3234">
                    <a:solidFill>
                      <a:srgbClr val="27638B"/>
                    </a:solidFill>
                    <a:latin typeface="Times New Roman"/>
                    <a:ea typeface="Times New Roman"/>
                    <a:cs typeface="Times New Roman"/>
                  </a:rPr>
                  <a:t>Accuracy, grounding and cost</a:t>
                </a:r>
                <a:endParaRPr lang="zh-CN" sz="3234"/>
              </a:p>
            </p:txBody>
          </p:sp>
        </p:grpSp>
        <p:grpSp>
          <p:nvGrpSpPr>
            <p:cNvPr id="10002" name="revision — ungroup to edit"/>
            <p:cNvGrpSpPr/>
            <p:nvPr/>
          </p:nvGrpSpPr>
          <p:grpSpPr>
            <a:xfrm>
              <a:off x="7411641" y="1160974"/>
              <a:ext cx="6607969" cy="4876067"/>
              <a:chOff x="7411641" y="1160974"/>
              <a:chExt cx="6607969" cy="4876067"/>
            </a:xfrm>
          </p:grpSpPr>
          <p:sp>
            <p:nvSpPr>
              <p:cNvPr id="3" name="Roundrect 3"/>
              <p:cNvSpPr/>
              <p:nvPr/>
            </p:nvSpPr>
            <p:spPr>
              <a:xfrm>
                <a:off x="7411641" y="1160974"/>
                <a:ext cx="6607969" cy="4876067"/>
              </a:xfrm>
              <a:prstGeom prst="roundRect">
                <a:avLst>
                  <a:gd name="adj" fmla="val 2930"/>
                </a:avLst>
              </a:prstGeom>
              <a:solidFill>
                <a:srgbClr val="FFFFFF"/>
              </a:solidFill>
              <a:ln w="16668">
                <a:solidFill>
                  <a:srgbClr val="DAE3E9"/>
                </a:solidFill>
              </a:ln>
              <a:effectLst>
                <a:outerShdw blurRad="76200" dist="38100" dir="5400000" algn="ctr" rotWithShape="0">
                  <a:srgbClr val="183148">
                    <a:alpha val="12000"/>
                  </a:srgbClr>
                </a:outerShdw>
              </a:effectLst>
            </p:spPr>
            <p:txBody>
              <a:bodyPr/>
              <a:lstStyle/>
              <a:p/>
            </p:txBody>
          </p:sp>
          <p:pic>
            <p:nvPicPr>
              <p:cNvPr id="8" name="revision: original generated illustration crop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9156992" y="1928993"/>
                <a:ext cx="3117275" cy="2768460"/>
              </a:xfrm>
              <a:prstGeom prst="rect">
                <a:avLst/>
              </a:prstGeom>
            </p:spPr>
          </p:pic>
          <p:sp>
            <p:nvSpPr>
              <p:cNvPr id="16" name="TextBox 16"/>
              <p:cNvSpPr txBox="1"/>
              <p:nvPr/>
            </p:nvSpPr>
            <p:spPr>
              <a:xfrm>
                <a:off x="7554516" y="1250271"/>
                <a:ext cx="6322219" cy="62513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ctr"/>
                <a:r>
                  <a:rPr lang="zh-CN" sz="3796" b="1">
                    <a:solidFill>
                      <a:srgbClr val="287F75"/>
                    </a:solidFill>
                    <a:latin typeface="Times New Roman"/>
                    <a:ea typeface="Times New Roman"/>
                    <a:cs typeface="Times New Roman"/>
                  </a:rPr>
                  <a:t>Memory under change</a:t>
                </a:r>
                <a:endParaRPr lang="zh-CN" sz="3796"/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7536656" y="4822488"/>
                <a:ext cx="6357938" cy="5179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ctr"/>
                <a:r>
                  <a:rPr lang="zh-CN" sz="3234">
                    <a:solidFill>
                      <a:srgbClr val="536779"/>
                    </a:solidFill>
                    <a:latin typeface="Times New Roman"/>
                    <a:ea typeface="Times New Roman"/>
                    <a:cs typeface="Times New Roman"/>
                  </a:rPr>
                  <a:t>Old vs. revised evidence</a:t>
                </a:r>
                <a:endParaRPr lang="zh-CN" sz="3234"/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7536656" y="5394046"/>
                <a:ext cx="6357938" cy="5179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ctr"/>
                <a:r>
                  <a:rPr lang="zh-CN" sz="3234">
                    <a:solidFill>
                      <a:srgbClr val="287F75"/>
                    </a:solidFill>
                    <a:latin typeface="Times New Roman"/>
                    <a:ea typeface="Times New Roman"/>
                    <a:cs typeface="Times New Roman"/>
                  </a:rPr>
                  <a:t>Revalidate, revise or retire</a:t>
                </a:r>
                <a:endParaRPr lang="zh-CN" sz="3234"/>
              </a:p>
            </p:txBody>
          </p:sp>
        </p:grpSp>
        <p:grpSp>
          <p:nvGrpSpPr>
            <p:cNvPr id="10003" name="transfer — ungroup to edit"/>
            <p:cNvGrpSpPr/>
            <p:nvPr/>
          </p:nvGrpSpPr>
          <p:grpSpPr>
            <a:xfrm>
              <a:off x="14466094" y="1160974"/>
              <a:ext cx="6607969" cy="4876067"/>
              <a:chOff x="14466094" y="1160974"/>
              <a:chExt cx="6607969" cy="4876067"/>
            </a:xfrm>
          </p:grpSpPr>
          <p:sp>
            <p:nvSpPr>
              <p:cNvPr id="4" name="Roundrect 4"/>
              <p:cNvSpPr/>
              <p:nvPr/>
            </p:nvSpPr>
            <p:spPr>
              <a:xfrm>
                <a:off x="14466094" y="1160974"/>
                <a:ext cx="6607969" cy="4876067"/>
              </a:xfrm>
              <a:prstGeom prst="roundRect">
                <a:avLst>
                  <a:gd name="adj" fmla="val 2930"/>
                </a:avLst>
              </a:prstGeom>
              <a:solidFill>
                <a:srgbClr val="FFFFFF"/>
              </a:solidFill>
              <a:ln w="16668">
                <a:solidFill>
                  <a:srgbClr val="DAE3E9"/>
                </a:solidFill>
              </a:ln>
              <a:effectLst>
                <a:outerShdw blurRad="76200" dist="38100" dir="5400000" algn="ctr" rotWithShape="0">
                  <a:srgbClr val="183148">
                    <a:alpha val="12000"/>
                  </a:srgbClr>
                </a:outerShdw>
              </a:effectLst>
            </p:spPr>
            <p:txBody>
              <a:bodyPr/>
              <a:lstStyle/>
              <a:p/>
            </p:txBody>
          </p:sp>
          <p:pic>
            <p:nvPicPr>
              <p:cNvPr id="9" name="transfer: original generated illustration crop"/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6211445" y="1928993"/>
                <a:ext cx="3117275" cy="2768460"/>
              </a:xfrm>
              <a:prstGeom prst="rect">
                <a:avLst/>
              </a:prstGeom>
            </p:spPr>
          </p:pic>
          <p:sp>
            <p:nvSpPr>
              <p:cNvPr id="19" name="TextBox 19"/>
              <p:cNvSpPr txBox="1"/>
              <p:nvPr/>
            </p:nvSpPr>
            <p:spPr>
              <a:xfrm>
                <a:off x="14608969" y="1250271"/>
                <a:ext cx="6322219" cy="62513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ctr"/>
                <a:r>
                  <a:rPr lang="zh-CN" sz="3796" b="1">
                    <a:solidFill>
                      <a:srgbClr val="69558D"/>
                    </a:solidFill>
                    <a:latin typeface="Times New Roman"/>
                    <a:ea typeface="Times New Roman"/>
                    <a:cs typeface="Times New Roman"/>
                  </a:rPr>
                  <a:t>Procedure transfer</a:t>
                </a:r>
                <a:endParaRPr lang="zh-CN" sz="3796"/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14591109" y="4822488"/>
                <a:ext cx="6357938" cy="5179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ctr"/>
                <a:r>
                  <a:rPr lang="zh-CN" sz="3234">
                    <a:solidFill>
                      <a:srgbClr val="536779"/>
                    </a:solidFill>
                    <a:latin typeface="Times New Roman"/>
                    <a:ea typeface="Times New Roman"/>
                    <a:cs typeface="Times New Roman"/>
                  </a:rPr>
                  <a:t>Seen vs. held-out setting</a:t>
                </a:r>
                <a:endParaRPr lang="zh-CN" sz="3234"/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14591109" y="5394046"/>
                <a:ext cx="6357938" cy="5179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ctr"/>
                <a:r>
                  <a:rPr lang="zh-CN" sz="3234">
                    <a:solidFill>
                      <a:srgbClr val="69558D"/>
                    </a:solidFill>
                    <a:latin typeface="Times New Roman"/>
                    <a:ea typeface="Times New Roman"/>
                    <a:cs typeface="Times New Roman"/>
                  </a:rPr>
                  <a:t>Transfer across tasks and regimes</a:t>
                </a:r>
                <a:endParaRPr lang="zh-CN" sz="3234"/>
              </a:p>
            </p:txBody>
          </p:sp>
        </p:grpSp>
        <p:grpSp>
          <p:nvGrpSpPr>
            <p:cNvPr id="10004" name="sensitivity — ungroup to edit"/>
            <p:cNvGrpSpPr/>
            <p:nvPr/>
          </p:nvGrpSpPr>
          <p:grpSpPr>
            <a:xfrm>
              <a:off x="357188" y="6519291"/>
              <a:ext cx="10090547" cy="4876067"/>
              <a:chOff x="357188" y="6519291"/>
              <a:chExt cx="10090547" cy="4876067"/>
            </a:xfrm>
          </p:grpSpPr>
          <p:sp>
            <p:nvSpPr>
              <p:cNvPr id="5" name="Roundrect 5"/>
              <p:cNvSpPr/>
              <p:nvPr/>
            </p:nvSpPr>
            <p:spPr>
              <a:xfrm>
                <a:off x="357188" y="6519291"/>
                <a:ext cx="10090547" cy="4876067"/>
              </a:xfrm>
              <a:prstGeom prst="roundRect">
                <a:avLst>
                  <a:gd name="adj" fmla="val 2930"/>
                </a:avLst>
              </a:prstGeom>
              <a:solidFill>
                <a:srgbClr val="FFFFFF"/>
              </a:solidFill>
              <a:ln w="16668">
                <a:solidFill>
                  <a:srgbClr val="DAE3E9"/>
                </a:solidFill>
              </a:ln>
              <a:effectLst>
                <a:outerShdw blurRad="76200" dist="38100" dir="5400000" algn="ctr" rotWithShape="0">
                  <a:srgbClr val="183148">
                    <a:alpha val="12000"/>
                  </a:srgbClr>
                </a:outerShdw>
              </a:effectLst>
            </p:spPr>
            <p:txBody>
              <a:bodyPr/>
              <a:lstStyle/>
              <a:p/>
            </p:txBody>
          </p:sp>
          <p:pic>
            <p:nvPicPr>
              <p:cNvPr id="10" name="sensitivity: original generated illustration crop"/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326311" y="7287311"/>
                <a:ext cx="4152309" cy="2768460"/>
              </a:xfrm>
              <a:prstGeom prst="rect">
                <a:avLst/>
              </a:prstGeom>
            </p:spPr>
          </p:pic>
          <p:sp>
            <p:nvSpPr>
              <p:cNvPr id="22" name="TextBox 22"/>
              <p:cNvSpPr txBox="1"/>
              <p:nvPr/>
            </p:nvSpPr>
            <p:spPr>
              <a:xfrm>
                <a:off x="500062" y="6608597"/>
                <a:ext cx="9804797" cy="62513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ctr"/>
                <a:r>
                  <a:rPr lang="zh-CN" sz="3796" b="1">
                    <a:solidFill>
                      <a:srgbClr val="A9702C"/>
                    </a:solidFill>
                    <a:latin typeface="Times New Roman"/>
                    <a:ea typeface="Times New Roman"/>
                    <a:cs typeface="Times New Roman"/>
                  </a:rPr>
                  <a:t>Evidence sensitivity</a:t>
                </a:r>
                <a:endParaRPr lang="zh-CN" sz="3796"/>
              </a:p>
            </p:txBody>
          </p:sp>
          <p:sp>
            <p:nvSpPr>
              <p:cNvPr id="23" name="TextBox 23"/>
              <p:cNvSpPr txBox="1"/>
              <p:nvPr/>
            </p:nvSpPr>
            <p:spPr>
              <a:xfrm>
                <a:off x="482203" y="10180806"/>
                <a:ext cx="9840516" cy="5179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ctr"/>
                <a:r>
                  <a:rPr lang="zh-CN" sz="3234">
                    <a:solidFill>
                      <a:srgbClr val="536779"/>
                    </a:solidFill>
                    <a:latin typeface="Times New Roman"/>
                    <a:ea typeface="Times New Roman"/>
                    <a:cs typeface="Times New Roman"/>
                  </a:rPr>
                  <a:t>Supporting evidence vs. removal</a:t>
                </a:r>
                <a:endParaRPr lang="zh-CN" sz="3234"/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482203" y="10752363"/>
                <a:ext cx="9840516" cy="5179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ctr"/>
                <a:r>
                  <a:rPr lang="zh-CN" sz="3234">
                    <a:solidFill>
                      <a:srgbClr val="A9702C"/>
                    </a:solidFill>
                    <a:latin typeface="Times New Roman"/>
                    <a:ea typeface="Times New Roman"/>
                    <a:cs typeface="Times New Roman"/>
                  </a:rPr>
                  <a:t>Does the conclusion change?</a:t>
                </a:r>
                <a:endParaRPr lang="zh-CN" sz="3234"/>
              </a:p>
            </p:txBody>
          </p:sp>
        </p:grpSp>
        <p:grpSp>
          <p:nvGrpSpPr>
            <p:cNvPr id="10005" name="decision — ungroup to edit"/>
            <p:cNvGrpSpPr/>
            <p:nvPr/>
          </p:nvGrpSpPr>
          <p:grpSpPr>
            <a:xfrm>
              <a:off x="10983516" y="6519291"/>
              <a:ext cx="10090547" cy="4876067"/>
              <a:chOff x="10983516" y="6519291"/>
              <a:chExt cx="10090547" cy="4876067"/>
            </a:xfrm>
          </p:grpSpPr>
          <p:sp>
            <p:nvSpPr>
              <p:cNvPr id="6" name="Roundrect 6"/>
              <p:cNvSpPr/>
              <p:nvPr/>
            </p:nvSpPr>
            <p:spPr>
              <a:xfrm>
                <a:off x="10983516" y="6519291"/>
                <a:ext cx="10090547" cy="4876067"/>
              </a:xfrm>
              <a:prstGeom prst="roundRect">
                <a:avLst>
                  <a:gd name="adj" fmla="val 2930"/>
                </a:avLst>
              </a:prstGeom>
              <a:solidFill>
                <a:srgbClr val="FFFFFF"/>
              </a:solidFill>
              <a:ln w="16668">
                <a:solidFill>
                  <a:srgbClr val="DAE3E9"/>
                </a:solidFill>
              </a:ln>
              <a:effectLst>
                <a:outerShdw blurRad="76200" dist="38100" dir="5400000" algn="ctr" rotWithShape="0">
                  <a:srgbClr val="183148">
                    <a:alpha val="12000"/>
                  </a:srgbClr>
                </a:outerShdw>
              </a:effectLst>
            </p:spPr>
            <p:txBody>
              <a:bodyPr/>
              <a:lstStyle/>
              <a:p/>
            </p:txBody>
          </p:sp>
          <p:pic>
            <p:nvPicPr>
              <p:cNvPr id="11" name="decision: original generated illustration crop"/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4470151" y="7287311"/>
                <a:ext cx="3117275" cy="2768460"/>
              </a:xfrm>
              <a:prstGeom prst="rect">
                <a:avLst/>
              </a:prstGeom>
            </p:spPr>
          </p:pic>
          <p:sp>
            <p:nvSpPr>
              <p:cNvPr id="25" name="TextBox 25"/>
              <p:cNvSpPr txBox="1"/>
              <p:nvPr/>
            </p:nvSpPr>
            <p:spPr>
              <a:xfrm>
                <a:off x="11126391" y="6608597"/>
                <a:ext cx="9804797" cy="62513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ctr"/>
                <a:r>
                  <a:rPr lang="zh-CN" sz="3796" b="1">
                    <a:solidFill>
                      <a:srgbClr val="A34C40"/>
                    </a:solidFill>
                    <a:latin typeface="Times New Roman"/>
                    <a:ea typeface="Times New Roman"/>
                    <a:cs typeface="Times New Roman"/>
                  </a:rPr>
                  <a:t>Prediction to decision</a:t>
                </a:r>
                <a:endParaRPr lang="zh-CN" sz="3796"/>
              </a:p>
            </p:txBody>
          </p:sp>
          <p:sp>
            <p:nvSpPr>
              <p:cNvPr id="26" name="TextBox 26"/>
              <p:cNvSpPr txBox="1"/>
              <p:nvPr/>
            </p:nvSpPr>
            <p:spPr>
              <a:xfrm>
                <a:off x="11108531" y="10180806"/>
                <a:ext cx="9840516" cy="5179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ctr"/>
                <a:r>
                  <a:rPr lang="zh-CN" sz="3234">
                    <a:solidFill>
                      <a:srgbClr val="536779"/>
                    </a:solidFill>
                    <a:latin typeface="Times New Roman"/>
                    <a:ea typeface="Times New Roman"/>
                    <a:cs typeface="Times New Roman"/>
                  </a:rPr>
                  <a:t>Forecast quality vs. action utility</a:t>
                </a:r>
                <a:endParaRPr lang="zh-CN" sz="3234"/>
              </a:p>
            </p:txBody>
          </p:sp>
          <p:sp>
            <p:nvSpPr>
              <p:cNvPr id="27" name="TextBox 27"/>
              <p:cNvSpPr txBox="1"/>
              <p:nvPr/>
            </p:nvSpPr>
            <p:spPr>
              <a:xfrm>
                <a:off x="11108531" y="10752363"/>
                <a:ext cx="9840516" cy="5179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ctr"/>
                <a:r>
                  <a:rPr lang="zh-CN" sz="3234">
                    <a:solidFill>
                      <a:srgbClr val="A34C40"/>
                    </a:solidFill>
                    <a:latin typeface="Times New Roman"/>
                    <a:ea typeface="Times New Roman"/>
                    <a:cs typeface="Times New Roman"/>
                  </a:rPr>
                  <a:t>Costs, constraints and repeated actions</a:t>
                </a:r>
                <a:endParaRPr lang="zh-CN" sz="3234"/>
              </a:p>
            </p:txBody>
          </p:sp>
        </p:grpSp>
        <p:grpSp>
          <p:nvGrpSpPr>
            <p:cNvPr id="10006" name="heading — ungroup to edit"/>
            <p:cNvGrpSpPr/>
            <p:nvPr/>
          </p:nvGrpSpPr>
          <p:grpSpPr>
            <a:xfrm>
              <a:off x="1607344" y="89306"/>
              <a:ext cx="18216562" cy="803748"/>
              <a:chOff x="1607344" y="89306"/>
              <a:chExt cx="18216562" cy="803748"/>
            </a:xfrm>
          </p:grpSpPr>
          <p:sp>
            <p:nvSpPr>
              <p:cNvPr id="12" name="TextBox 12"/>
              <p:cNvSpPr txBox="1"/>
              <p:nvPr/>
            </p:nvSpPr>
            <p:spPr>
              <a:xfrm>
                <a:off x="1607344" y="89306"/>
                <a:ext cx="18216562" cy="80374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ctr"/>
                <a:r>
                  <a:rPr lang="zh-CN" sz="4218" b="1">
                    <a:solidFill>
                      <a:srgbClr val="27638B"/>
                    </a:solidFill>
                    <a:latin typeface="Times New Roman"/>
                    <a:ea typeface="Times New Roman"/>
                    <a:cs typeface="Times New Roman"/>
                  </a:rPr>
                  <a:t>Controlled comparisons for reusable Time-Series Agents</a:t>
                </a:r>
                <a:endParaRPr lang="zh-CN" sz="4218"/>
              </a:p>
            </p:txBody>
          </p:sp>
        </p:grpSp>
        <p:grpSp>
          <p:nvGrpSpPr>
            <p:cNvPr id="10007" name="controls — ungroup to edit"/>
            <p:cNvGrpSpPr/>
            <p:nvPr/>
          </p:nvGrpSpPr>
          <p:grpSpPr>
            <a:xfrm>
              <a:off x="535781" y="11788302"/>
              <a:ext cx="20359688" cy="642995"/>
              <a:chOff x="535781" y="11788302"/>
              <a:chExt cx="20359688" cy="642995"/>
            </a:xfrm>
          </p:grpSpPr>
          <p:sp>
            <p:nvSpPr>
              <p:cNvPr id="28" name="TextBox 28"/>
              <p:cNvSpPr txBox="1"/>
              <p:nvPr/>
            </p:nvSpPr>
            <p:spPr>
              <a:xfrm>
                <a:off x="535781" y="11788302"/>
                <a:ext cx="20359688" cy="64299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ctr"/>
                <a:r>
                  <a:rPr lang="zh-CN" sz="3515">
                    <a:solidFill>
                      <a:srgbClr val="536779"/>
                    </a:solidFill>
                    <a:latin typeface="Times New Roman"/>
                    <a:ea typeface="Times New Roman"/>
                    <a:cs typeface="Times New Roman"/>
                  </a:rPr>
                  <a:t>Match the backbone and resource budget while varying the factor under study</a:t>
                </a:r>
                <a:endParaRPr lang="zh-CN" sz="3515"/>
              </a:p>
            </p:txBody>
          </p:sp>
        </p:grpSp>
      </p:grpSp>
    </p:spTree>
  </p:cSld>
  <p:clrMapOvr>
    <a:masterClrMapping/>
  </p:clrMapOvr>
</p:sld>
</file>

<file path=ppt/theme/theme1.xml><?xml version="1.0" encoding="utf-8"?>
<a:theme xmlns:a="http://schemas.openxmlformats.org/drawingml/2006/main" name="ImageToEditablePPT">
  <a:themeElements>
    <a:clrScheme name="Office">
      <a:dk1>
        <a:sysClr val="windowText" lastClr="000000"/>
      </a:dk1>
      <a:lt1>
        <a:sysClr val="window" lastClr="FFFFFF"/>
      </a:lt1>
      <a:dk2>
        <a:srgbClr val="1F1F1F"/>
      </a:dk2>
      <a:lt2>
        <a:srgbClr val="F8F8F8"/>
      </a:lt2>
      <a:accent1>
        <a:srgbClr val="0F766E"/>
      </a:accent1>
      <a:accent2>
        <a:srgbClr val="E66B00"/>
      </a:accent2>
      <a:accent3>
        <a:srgbClr val="F6D365"/>
      </a:accent3>
      <a:accent4>
        <a:srgbClr val="57C4B8"/>
      </a:accent4>
      <a:accent5>
        <a:srgbClr val="666666"/>
      </a:accent5>
      <a:accent6>
        <a:srgbClr val="111111"/>
      </a:accent6>
      <a:hlink>
        <a:srgbClr val="0563C1"/>
      </a:hlink>
      <a:folHlink>
        <a:srgbClr val="954F72"/>
      </a:folHlink>
    </a:clrScheme>
    <a:fontScheme name="PingFang">
      <a:majorFont>
        <a:latin typeface="PingFang SC"/>
        <a:ea typeface="PingFang SC"/>
        <a:cs typeface="PingFang SC"/>
      </a:majorFont>
      <a:minorFont>
        <a:latin typeface="PingFang SC"/>
        <a:ea typeface="PingFang SC"/>
        <a:cs typeface="PingFang SC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>
          <a:solidFill>
            <a:schemeClr val="phClr"/>
          </a:solidFill>
        </a:ln>
        <a:ln w="9525">
          <a:solidFill>
            <a:schemeClr val="phClr"/>
          </a:solidFill>
        </a:ln>
        <a:ln w="9525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>
  <Application>Codex</Application>
  <PresentationFormat>Custom</PresentationFormat>
  <Slides>1</Slides>
</Properties>
</file>

<file path=docProps/core.xml><?xml version="1.0" encoding="utf-8"?>
<cp:coreProperties xmlns:cp="http://schemas.openxmlformats.org/package/2006/metadata/core-properties" xmlns:dc="http://purl.org/dc/elements/1.1/">
  <dc:title>Image to editable PPT</dc:title>
</cp:coreProperties>
</file>