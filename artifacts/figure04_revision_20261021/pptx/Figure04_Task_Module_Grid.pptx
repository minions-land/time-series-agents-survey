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4724caa3ae140dd" /><Relationship Type="http://schemas.openxmlformats.org/officeDocument/2006/relationships/extended-properties" Target="/docProps/app.xml" Id="R8c568ae416f245e7" /><Relationship Type="http://schemas.openxmlformats.org/officeDocument/2006/relationships/officeDocument" Target="/ppt/presentation.xml" Id="Rb99c1c579e58402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dd1fc9bdcdb45a8"/>
  </p:sldMasterIdLst>
  <p:notesMasterIdLst>
    <p:notesMasterId xmlns:r="http://schemas.openxmlformats.org/officeDocument/2006/relationships" r:id="R7660b6dc001845e5"/>
  </p:notesMasterIdLst>
  <p:sldIdLst>
    <p:sldId xmlns:r="http://schemas.openxmlformats.org/officeDocument/2006/relationships" id="256" r:id="R1969509d0d1642c3"/>
  </p:sldIdLst>
  <p:sldSz cx="11430000" cy="7372350" type="custom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0d4d3034de146d4" /><Relationship Type="http://schemas.openxmlformats.org/officeDocument/2006/relationships/slideMaster" Target="/ppt/slideMasters/slideMaster1.xml" Id="R8dd1fc9bdcdb45a8" /><Relationship Type="http://schemas.openxmlformats.org/officeDocument/2006/relationships/notesMaster" Target="/ppt/notesMasters/notesMaster1.xml" Id="R7660b6dc001845e5" /><Relationship Type="http://schemas.openxmlformats.org/officeDocument/2006/relationships/presProps" Target="/ppt/presProps.xml" Id="R1f93ad6bbaac4245" /><Relationship Type="http://schemas.openxmlformats.org/officeDocument/2006/relationships/tableStyles" Target="/ppt/tableStyles.xml" Id="R8493f72e5a7c4200" /><Relationship Type="http://schemas.openxmlformats.org/officeDocument/2006/relationships/slide" Target="/ppt/slides/slide1.xml" Id="R1969509d0d1642c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85180efc28d45d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e05c2819c8942fb" /><Relationship Type="http://schemas.openxmlformats.org/officeDocument/2006/relationships/notesMaster" Target="/ppt/notesMasters/notesMaster1.xml" Id="Re90684b5bd96460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Figure 4. Task requirements and temporal functions. Content follows main.tex, Section 2. Original grid and demand/inventory example retained, verbose labels shortened; method-specific evidence remains in surrounding prose. Style reference: Figures 5 and 6. Icons reuse the Lucide assets used by those figures (https://lucide.dev, ISC license); labels, connectors and icon paths are native editable PowerPoint objects. Four stages illustrate composition rather than measured experimental results. ModernTSF supplies forecasting models; Dr-CiK tests contextual forecasts; TimeSeriesGym evaluates executable artifacts; inventory evaluation requires a scenario-specific simulator.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ed5e0664ea4c6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d36e8dc5684db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a3582fdae74f5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88b1abf4a745c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f4b083cdff4d2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a7ac314ff8492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D9B8C54-7EE8-4075-8BFE-EC00144091D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143000" y="3022600"/>
            <a:ext cx="9144000" cy="115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5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5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5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5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5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5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5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5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5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5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5FB0001-4F9C-40B9-B14D-499DC24CD80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714500" y="4400550"/>
            <a:ext cx="8001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7C5D9A3-EE92-4DA1-B213-942A6501DE3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143000" y="3333750"/>
            <a:ext cx="9144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93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93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93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93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93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93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93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93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93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93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06EDA82-D0D0-433E-8ABA-44D631C2D5A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42938" y="622300"/>
            <a:ext cx="10144125" cy="97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0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0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0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0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0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0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0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0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0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0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C4B1CE2-8535-4D3A-8305-88695A3AA3D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42938" y="2222500"/>
            <a:ext cx="10144125" cy="497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14313" indent="-214312" algn="l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  <a:defRPr sz="210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00063" indent="-214312" algn="l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  <a:defRPr sz="210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85813" indent="-214312" algn="l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  <a:defRPr sz="210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71563" indent="-214312" algn="l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  <a:defRPr sz="210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357313" indent="-214312" algn="l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  <a:defRPr sz="210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643063" indent="-214312" algn="l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  <a:defRPr sz="210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928813" indent="-214312" algn="l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  <a:defRPr sz="210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214563" indent="-214312" algn="l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  <a:defRPr sz="210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500313" indent="-214312" algn="l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  <a:defRPr sz="210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9C69CAC-FB43-436F-8046-4282C7013A6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42938" y="622300"/>
            <a:ext cx="10144125" cy="97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0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0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0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0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0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0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0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0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0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0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B55654D-6E4D-4ACF-8161-5175F5A188A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42938" y="2222500"/>
            <a:ext cx="4714875" cy="497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14313" indent="-214312" algn="l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00063" indent="-214312" algn="l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85813" indent="-214312" algn="l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71563" indent="-214312" algn="l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357313" indent="-214312" algn="l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643063" indent="-214312" algn="l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928813" indent="-214312" algn="l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214563" indent="-214312" algn="l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500313" indent="-214312" algn="l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AFE88FE-53EF-4A2C-AA44-388B27AFE7E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072188" y="2222500"/>
            <a:ext cx="4714875" cy="497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14313" indent="-214312" algn="l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00063" indent="-214312" algn="l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85813" indent="-214312" algn="l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71563" indent="-214312" algn="l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357313" indent="-214312" algn="l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643063" indent="-214312" algn="l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928813" indent="-214312" algn="l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214563" indent="-214312" algn="l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500313" indent="-214312" algn="l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53338E0-DD95-4C56-AFEB-53A5CF1C5DF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42938" y="622300"/>
            <a:ext cx="10144125" cy="97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0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0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0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0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0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0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0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0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0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09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CA22FCF-9518-4BF2-A878-F2A9D1A3B9F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42938" y="2222500"/>
            <a:ext cx="4714875" cy="497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14313" indent="-214312" algn="l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  <a:defRPr sz="210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00063" indent="-214312" algn="l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  <a:defRPr sz="210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85813" indent="-214312" algn="l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  <a:defRPr sz="210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71563" indent="-214312" algn="l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  <a:defRPr sz="210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357313" indent="-214312" algn="l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  <a:defRPr sz="210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643063" indent="-214312" algn="l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  <a:defRPr sz="210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928813" indent="-214312" algn="l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  <a:defRPr sz="210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214563" indent="-214312" algn="l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  <a:defRPr sz="210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500313" indent="-214312" algn="l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har char="•"/>
              <a:defRPr sz="210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2f70003993949aa" /><Relationship Type="http://schemas.openxmlformats.org/officeDocument/2006/relationships/slideLayout" Target="/ppt/slideLayouts/slideLayout1.xml" Id="Rd17e0ed5b1184a26" /><Relationship Type="http://schemas.openxmlformats.org/officeDocument/2006/relationships/slideLayout" Target="/ppt/slideLayouts/slideLayout2.xml" Id="Rb5dd50d35a9747b4" /><Relationship Type="http://schemas.openxmlformats.org/officeDocument/2006/relationships/slideLayout" Target="/ppt/slideLayouts/slideLayout3.xml" Id="Rd7b914df84654a13" /><Relationship Type="http://schemas.openxmlformats.org/officeDocument/2006/relationships/slideLayout" Target="/ppt/slideLayouts/slideLayout4.xml" Id="R5b0fca1914ac4590" /><Relationship Type="http://schemas.openxmlformats.org/officeDocument/2006/relationships/slideLayout" Target="/ppt/slideLayouts/slideLayout5.xml" Id="Re3f87a2da01d40e9" /><Relationship Type="http://schemas.openxmlformats.org/officeDocument/2006/relationships/slideLayout" Target="/ppt/slideLayouts/slideLayout6.xml" Id="Raeb8804e950a4c7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17e0ed5b1184a26"/>
    <p:sldLayoutId xmlns:r="http://schemas.openxmlformats.org/officeDocument/2006/relationships" id="2147483650" r:id="Rb5dd50d35a9747b4"/>
    <p:sldLayoutId xmlns:r="http://schemas.openxmlformats.org/officeDocument/2006/relationships" id="2147483651" r:id="Rd7b914df84654a13"/>
    <p:sldLayoutId xmlns:r="http://schemas.openxmlformats.org/officeDocument/2006/relationships" id="2147483652" r:id="R5b0fca1914ac4590"/>
    <p:sldLayoutId xmlns:r="http://schemas.openxmlformats.org/officeDocument/2006/relationships" id="2147483653" r:id="Re3f87a2da01d40e9"/>
    <p:sldLayoutId xmlns:r="http://schemas.openxmlformats.org/officeDocument/2006/relationships" id="2147483654" r:id="Raeb8804e950a4c7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515a3e98b84f23" /><Relationship Type="http://schemas.openxmlformats.org/officeDocument/2006/relationships/notesSlide" Target="/ppt/notesSlides/notesSlide1.xml" Id="Rf0a6e58d8bc6481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pSp>
        <p:nvGrpSpPr>
          <p:cNvPr id="10247" name="Figure 4 — ungroup to edit tasks, functions and workflow"/>
          <p:cNvGrpSpPr/>
          <p:nvPr/>
        </p:nvGrpSpPr>
        <p:grpSpPr>
          <ns1:xfrm xmlns:ns1="http://schemas.openxmlformats.org/drawingml/2006/main">
            <ns1:off x="190500" y="76200"/>
            <ns1:ext cx="11049000" cy="7153275"/>
            <ns1:chOff x="190500" y="76200"/>
            <ns1:chExt cx="11049000" cy="7153275"/>
          </ns1:xfrm>
        </p:grpSpPr>
        <p:sp>
          <p:nvSpPr>
            <p:cNvPr id="10001" name="(a) Tasks and temporal functions"/>
            <p:cNvSpPr/>
            <p:nvPr/>
          </p:nvSpPr>
          <p:spPr>
            <ns1:xfrm xmlns:ns1="http://schemas.openxmlformats.org/drawingml/2006/main">
              <ns1:off x="190500" y="76200"/>
              <ns1:ext cx="8572500" cy="34290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l"/>
              <ns7:r>
                <ns7:rPr sz="2025" b="1">
                  <ns7:solidFill>
                    <ns7:srgbClr val="25465E"/>
                  </ns7:solidFill>
                  <ns7:latin typeface="Times New Roman"/>
                  <ns7:ea typeface="Times New Roman"/>
                </ns7:rPr>
                <ns7:t>(a) Tasks and temporal functions</ns7:t>
              </ns7:r>
            </ns7:p>
          </p:txBody>
        </p:sp>
        <p:grpSp>
          <p:nvGrpSpPr>
            <p:cNvPr id="10010" name="Task Forecasting and prediction"/>
            <p:cNvGrpSpPr/>
            <p:nvPr/>
          </p:nvGrpSpPr>
          <p:grpSpPr>
            <ns1:xfrm xmlns:ns1="http://schemas.openxmlformats.org/drawingml/2006/main">
              <ns1:off x="1905000" y="542925"/>
              <ns1:ext cx="2286000" cy="990600"/>
              <ns1:chOff x="1905000" y="542925"/>
              <ns1:chExt cx="2286000" cy="990600"/>
            </ns1:xfrm>
          </p:grpSpPr>
          <p:grpSp>
            <p:nvGrpSpPr>
              <p:cNvPr id="10008" name="chart-no-axes-combined editable icon"/>
              <p:cNvGrpSpPr/>
              <p:nvPr/>
            </p:nvGrpSpPr>
            <p:grpSpPr>
              <ns1:xfrm xmlns:ns1="http://schemas.openxmlformats.org/drawingml/2006/main">
                <ns1:off x="2828925" y="542925"/>
                <ns1:ext cx="409575" cy="409575"/>
                <ns1:chOff x="2828925" y="542925"/>
                <ns1:chExt cx="409575" cy="409575"/>
              </ns1:xfrm>
            </p:grpSpPr>
            <p:sp>
              <p:nvSpPr>
                <p:cNvPr id="10002" name="chart-no-axes-combined-0"/>
                <p:cNvSpPr/>
                <p:nvPr/>
              </p:nvSpPr>
              <p:spPr>
                <ns1:xfrm xmlns:ns1="http://schemas.openxmlformats.org/drawingml/2006/main">
                  <ns1:off x="2828925" y="542925"/>
                  <ns1:ext cx="409575" cy="409575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2000" y="16000"/>
                      </ns2:moveTo>
                      <ns2:lnTo>
                        <ns2:pt x="12000" y="21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5598" cap="rnd">
                  <ns4:solidFill>
                    <ns4:srgbClr val="327EA6"/>
                  </ns4:solidFill>
                </ns4:ln>
              </p:spPr>
            </p:sp>
            <p:sp>
              <p:nvSpPr>
                <p:cNvPr id="10003" name="chart-no-axes-combined-1"/>
                <p:cNvSpPr/>
                <p:nvPr/>
              </p:nvSpPr>
              <p:spPr>
                <ns1:xfrm xmlns:ns1="http://schemas.openxmlformats.org/drawingml/2006/main">
                  <ns1:off x="2828925" y="542925"/>
                  <ns1:ext cx="409575" cy="409575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6000" y="14639"/>
                      </ns2:moveTo>
                      <ns2:lnTo>
                        <ns2:pt x="16000" y="21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5598" cap="rnd">
                  <ns4:solidFill>
                    <ns4:srgbClr val="327EA6"/>
                  </ns4:solidFill>
                </ns4:ln>
              </p:spPr>
            </p:sp>
            <p:sp>
              <p:nvSpPr>
                <p:cNvPr id="10004" name="chart-no-axes-combined-2"/>
                <p:cNvSpPr/>
                <p:nvPr/>
              </p:nvSpPr>
              <p:spPr>
                <ns1:xfrm xmlns:ns1="http://schemas.openxmlformats.org/drawingml/2006/main">
                  <ns1:off x="2828925" y="542925"/>
                  <ns1:ext cx="409575" cy="409575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20000" y="10656"/>
                      </ns2:moveTo>
                      <ns2:lnTo>
                        <ns2:pt x="20000" y="21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5598" cap="rnd">
                  <ns4:solidFill>
                    <ns4:srgbClr val="327EA6"/>
                  </ns4:solidFill>
                </ns4:ln>
              </p:spPr>
            </p:sp>
            <p:sp>
              <p:nvSpPr>
                <p:cNvPr id="10005" name="chart-no-axes-combined-3"/>
                <p:cNvSpPr/>
                <p:nvPr/>
              </p:nvSpPr>
              <p:spPr>
                <ns1:xfrm xmlns:ns1="http://schemas.openxmlformats.org/drawingml/2006/main">
                  <ns1:off x="2828925" y="542925"/>
                  <ns1:ext cx="409575" cy="409575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22000" y="3000"/>
                      </ns2:moveTo>
                      <ns2:lnTo>
                        <ns2:pt x="13354" y="11646"/>
                      </ns2:lnTo>
                      <ns2:cubicBezTo>
                        <ns2:pt x="13260" y="11740"/>
                        <ns2:pt x="13133" y="11793"/>
                        <ns2:pt x="13000" y="11793"/>
                      </ns2:cubicBezTo>
                      <ns2:cubicBezTo>
                        <ns2:pt x="12867" y="11793"/>
                        <ns2:pt x="12740" y="11740"/>
                        <ns2:pt x="12646" y="11646"/>
                      </ns2:cubicBezTo>
                      <ns2:lnTo>
                        <ns2:pt x="9354" y="8354"/>
                      </ns2:lnTo>
                      <ns2:cubicBezTo>
                        <ns2:pt x="9159" y="8159"/>
                        <ns2:pt x="8842" y="8159"/>
                        <ns2:pt x="8647" y="8354"/>
                      </ns2:cubicBezTo>
                      <ns2:lnTo>
                        <ns2:pt x="2000" y="15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5598" cap="rnd">
                  <ns4:solidFill>
                    <ns4:srgbClr val="327EA6"/>
                  </ns4:solidFill>
                </ns4:ln>
              </p:spPr>
            </p:sp>
            <p:sp>
              <p:nvSpPr>
                <p:cNvPr id="10006" name="chart-no-axes-combined-4"/>
                <p:cNvSpPr/>
                <p:nvPr/>
              </p:nvSpPr>
              <p:spPr>
                <ns1:xfrm xmlns:ns1="http://schemas.openxmlformats.org/drawingml/2006/main">
                  <ns1:off x="2828925" y="542925"/>
                  <ns1:ext cx="409575" cy="409575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4000" y="18463"/>
                      </ns2:moveTo>
                      <ns2:lnTo>
                        <ns2:pt x="4000" y="21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5598" cap="rnd">
                  <ns4:solidFill>
                    <ns4:srgbClr val="327EA6"/>
                  </ns4:solidFill>
                </ns4:ln>
              </p:spPr>
            </p:sp>
            <p:sp>
              <p:nvSpPr>
                <p:cNvPr id="10007" name="chart-no-axes-combined-5"/>
                <p:cNvSpPr/>
                <p:nvPr/>
              </p:nvSpPr>
              <p:spPr>
                <ns1:xfrm xmlns:ns1="http://schemas.openxmlformats.org/drawingml/2006/main">
                  <ns1:off x="2828925" y="542925"/>
                  <ns1:ext cx="409575" cy="409575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8000" y="14656"/>
                      </ns2:moveTo>
                      <ns2:lnTo>
                        <ns2:pt x="8000" y="21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5598" cap="rnd">
                  <ns4:solidFill>
                    <ns4:srgbClr val="327EA6"/>
                  </ns4:solidFill>
                </ns4:ln>
              </p:spPr>
            </p:sp>
          </p:grpSp>
          <p:sp>
            <p:nvSpPr>
              <p:cNvPr id="10009" name="Forecasting&#10;and prediction"/>
              <p:cNvSpPr/>
              <p:nvPr/>
            </p:nvSpPr>
            <p:spPr>
              <ns1:xfrm xmlns:ns1="http://schemas.openxmlformats.org/drawingml/2006/main">
                <ns1:off x="1905000" y="1000125"/>
                <ns1:ext cx="2286000" cy="53340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725" b="1">
                    <ns7:solidFill>
                      <ns7:srgbClr val="327EA6"/>
                    </ns7:solidFill>
                    <ns7:latin typeface="Times New Roman"/>
                    <ns7:ea typeface="Times New Roman"/>
                  </ns7:rPr>
                  <ns7:t>Forecasting</ns7:t>
                </ns7:r>
              </ns7:p>
              <ns8:p xmlns:ns8="http://schemas.openxmlformats.org/drawingml/2006/main">
                <ns8:pPr algn="ctr"/>
                <ns8:r>
                  <ns8:rPr sz="1725" b="1">
                    <ns8:solidFill>
                      <ns8:srgbClr val="327EA6"/>
                    </ns8:solidFill>
                    <ns8:latin typeface="Times New Roman"/>
                    <ns8:ea typeface="Times New Roman"/>
                  </ns8:rPr>
                  <ns8:t>and prediction</ns8:t>
                </ns8:r>
              </ns8:p>
            </p:txBody>
          </p:sp>
        </p:grpSp>
        <p:grpSp>
          <p:nvGrpSpPr>
            <p:cNvPr id="10016" name="Task Augmentation and synthesis"/>
            <p:cNvGrpSpPr/>
            <p:nvPr/>
          </p:nvGrpSpPr>
          <p:grpSpPr>
            <ns1:xfrm xmlns:ns1="http://schemas.openxmlformats.org/drawingml/2006/main">
              <ns1:off x="4238625" y="542925"/>
              <ns1:ext cx="2286000" cy="990600"/>
              <ns1:chOff x="4238625" y="542925"/>
              <ns1:chExt cx="2286000" cy="990600"/>
            </ns1:xfrm>
          </p:grpSpPr>
          <p:grpSp>
            <p:nvGrpSpPr>
              <p:cNvPr id="10014" name="layers editable icon"/>
              <p:cNvGrpSpPr/>
              <p:nvPr/>
            </p:nvGrpSpPr>
            <p:grpSpPr>
              <ns1:xfrm xmlns:ns1="http://schemas.openxmlformats.org/drawingml/2006/main">
                <ns1:off x="5162550" y="542925"/>
                <ns1:ext cx="409575" cy="409575"/>
                <ns1:chOff x="5162550" y="542925"/>
                <ns1:chExt cx="409575" cy="409575"/>
              </ns1:xfrm>
            </p:grpSpPr>
            <p:sp>
              <p:nvSpPr>
                <p:cNvPr id="10011" name="layers-0"/>
                <p:cNvSpPr/>
                <p:nvPr/>
              </p:nvSpPr>
              <p:spPr>
                <ns1:xfrm xmlns:ns1="http://schemas.openxmlformats.org/drawingml/2006/main">
                  <ns1:off x="5162550" y="542925"/>
                  <ns1:ext cx="409575" cy="409575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2830" y="2180"/>
                      </ns2:moveTo>
                      <ns2:cubicBezTo>
                        <ns2:pt x="12303" y="1940"/>
                        <ns2:pt x="11697" y="1940"/>
                        <ns2:pt x="11170" y="2180"/>
                      </ns2:cubicBezTo>
                      <ns2:lnTo>
                        <ns2:pt x="2600" y="6080"/>
                      </ns2:lnTo>
                      <ns2:cubicBezTo>
                        <ns2:pt x="2237" y="6240"/>
                        <ns2:pt x="2003" y="6599"/>
                        <ns2:pt x="2003" y="6995"/>
                      </ns2:cubicBezTo>
                      <ns2:cubicBezTo>
                        <ns2:pt x="2003" y="7391"/>
                        <ns2:pt x="2237" y="7750"/>
                        <ns2:pt x="2600" y="7910"/>
                      </ns2:cubicBezTo>
                      <ns2:lnTo>
                        <ns2:pt x="11180" y="11820"/>
                      </ns2:lnTo>
                      <ns2:cubicBezTo>
                        <ns2:pt x="11707" y="12060"/>
                        <ns2:pt x="12313" y="12060"/>
                        <ns2:pt x="12840" y="11820"/>
                      </ns2:cubicBezTo>
                      <ns2:lnTo>
                        <ns2:pt x="21420" y="7920"/>
                      </ns2:lnTo>
                      <ns2:cubicBezTo>
                        <ns2:pt x="21783" y="7760"/>
                        <ns2:pt x="22017" y="7401"/>
                        <ns2:pt x="22017" y="7005"/>
                      </ns2:cubicBezTo>
                      <ns2:cubicBezTo>
                        <ns2:pt x="22017" y="6609"/>
                        <ns2:pt x="21783" y="6250"/>
                        <ns2:pt x="21420" y="6090"/>
                      </ns2:cubicBezTo>
                      <ns2:lnTo>
                        <ns2:pt x="12830" y="2180"/>
                      </ns2:lnTo>
                      <ns2:close/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5598" cap="rnd">
                  <ns4:solidFill>
                    <ns4:srgbClr val="705A99"/>
                  </ns4:solidFill>
                </ns4:ln>
              </p:spPr>
            </p:sp>
            <p:sp>
              <p:nvSpPr>
                <p:cNvPr id="10012" name="layers-1"/>
                <p:cNvSpPr/>
                <p:nvPr/>
              </p:nvSpPr>
              <p:spPr>
                <ns1:xfrm xmlns:ns1="http://schemas.openxmlformats.org/drawingml/2006/main">
                  <ns1:off x="5162550" y="542925"/>
                  <ns1:ext cx="409575" cy="409575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2000" y="12000"/>
                      </ns2:moveTo>
                      <ns2:cubicBezTo>
                        <ns2:pt x="1999" y="12391"/>
                        <ns2:pt x="2226" y="12746"/>
                        <ns2:pt x="2580" y="12910"/>
                      </ns2:cubicBezTo>
                      <ns2:lnTo>
                        <ns2:pt x="11180" y="16820"/>
                      </ns2:lnTo>
                      <ns2:cubicBezTo>
                        <ns2:pt x="11704" y="17057"/>
                        <ns2:pt x="12306" y="17057"/>
                        <ns2:pt x="12830" y="16820"/>
                      </ns2:cubicBezTo>
                      <ns2:lnTo>
                        <ns2:pt x="21410" y="12920"/>
                      </ns2:lnTo>
                      <ns2:cubicBezTo>
                        <ns2:pt x="21772" y="12757"/>
                        <ns2:pt x="22003" y="12397"/>
                        <ns2:pt x="22000" y="12000"/>
                      </ns2:cubicBez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5598" cap="rnd">
                  <ns4:solidFill>
                    <ns4:srgbClr val="705A99"/>
                  </ns4:solidFill>
                </ns4:ln>
              </p:spPr>
            </p:sp>
            <p:sp>
              <p:nvSpPr>
                <p:cNvPr id="10013" name="layers-2"/>
                <p:cNvSpPr/>
                <p:nvPr/>
              </p:nvSpPr>
              <p:spPr>
                <ns1:xfrm xmlns:ns1="http://schemas.openxmlformats.org/drawingml/2006/main">
                  <ns1:off x="5162550" y="542925"/>
                  <ns1:ext cx="409575" cy="409575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2000" y="17000"/>
                      </ns2:moveTo>
                      <ns2:cubicBezTo>
                        <ns2:pt x="1999" y="17391"/>
                        <ns2:pt x="2226" y="17746"/>
                        <ns2:pt x="2580" y="17910"/>
                      </ns2:cubicBezTo>
                      <ns2:lnTo>
                        <ns2:pt x="11180" y="21820"/>
                      </ns2:lnTo>
                      <ns2:cubicBezTo>
                        <ns2:pt x="11704" y="22057"/>
                        <ns2:pt x="12306" y="22057"/>
                        <ns2:pt x="12830" y="21820"/>
                      </ns2:cubicBezTo>
                      <ns2:lnTo>
                        <ns2:pt x="21410" y="17920"/>
                      </ns2:lnTo>
                      <ns2:cubicBezTo>
                        <ns2:pt x="21772" y="17757"/>
                        <ns2:pt x="22003" y="17397"/>
                        <ns2:pt x="22000" y="17000"/>
                      </ns2:cubicBez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5598" cap="rnd">
                  <ns4:solidFill>
                    <ns4:srgbClr val="705A99"/>
                  </ns4:solidFill>
                </ns4:ln>
              </p:spPr>
            </p:sp>
          </p:grpSp>
          <p:sp>
            <p:nvSpPr>
              <p:cNvPr id="10015" name="Augmentation&#10;and synthesis"/>
              <p:cNvSpPr/>
              <p:nvPr/>
            </p:nvSpPr>
            <p:spPr>
              <ns1:xfrm xmlns:ns1="http://schemas.openxmlformats.org/drawingml/2006/main">
                <ns1:off x="4238625" y="1000125"/>
                <ns1:ext cx="2286000" cy="53340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725" b="1">
                    <ns7:solidFill>
                      <ns7:srgbClr val="705A99"/>
                    </ns7:solidFill>
                    <ns7:latin typeface="Times New Roman"/>
                    <ns7:ea typeface="Times New Roman"/>
                  </ns7:rPr>
                  <ns7:t>Augmentation</ns7:t>
                </ns7:r>
              </ns7:p>
              <ns8:p xmlns:ns8="http://schemas.openxmlformats.org/drawingml/2006/main">
                <ns8:pPr algn="ctr"/>
                <ns8:r>
                  <ns8:rPr sz="1725" b="1">
                    <ns8:solidFill>
                      <ns8:srgbClr val="705A99"/>
                    </ns8:solidFill>
                    <ns8:latin typeface="Times New Roman"/>
                    <ns8:ea typeface="Times New Roman"/>
                  </ns8:rPr>
                  <ns8:t>and synthesis</ns8:t>
                </ns8:r>
              </ns8:p>
            </p:txBody>
          </p:sp>
        </p:grpSp>
        <p:grpSp>
          <p:nvGrpSpPr>
            <p:cNvPr id="10025" name="Task Anomaly detection and diagnosis"/>
            <p:cNvGrpSpPr/>
            <p:nvPr/>
          </p:nvGrpSpPr>
          <p:grpSpPr>
            <ns1:xfrm xmlns:ns1="http://schemas.openxmlformats.org/drawingml/2006/main">
              <ns1:off x="6572250" y="542925"/>
              <ns1:ext cx="2286000" cy="990600"/>
              <ns1:chOff x="6572250" y="542925"/>
              <ns1:chExt cx="2286000" cy="990600"/>
            </ns1:xfrm>
          </p:grpSpPr>
          <p:grpSp>
            <p:nvGrpSpPr>
              <p:cNvPr id="10023" name="scan-search editable icon"/>
              <p:cNvGrpSpPr/>
              <p:nvPr/>
            </p:nvGrpSpPr>
            <p:grpSpPr>
              <ns1:xfrm xmlns:ns1="http://schemas.openxmlformats.org/drawingml/2006/main">
                <ns1:off x="7496175" y="542925"/>
                <ns1:ext cx="409575" cy="409575"/>
                <ns1:chOff x="7496175" y="542925"/>
                <ns1:chExt cx="409575" cy="409575"/>
              </ns1:xfrm>
            </p:grpSpPr>
            <p:sp>
              <p:nvSpPr>
                <p:cNvPr id="10017" name="scan-search-0"/>
                <p:cNvSpPr/>
                <p:nvPr/>
              </p:nvSpPr>
              <p:spPr>
                <ns1:xfrm xmlns:ns1="http://schemas.openxmlformats.org/drawingml/2006/main">
                  <ns1:off x="7496175" y="542925"/>
                  <ns1:ext cx="409575" cy="409575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3000" y="7000"/>
                      </ns2:moveTo>
                      <ns2:lnTo>
                        <ns2:pt x="3000" y="5000"/>
                      </ns2:lnTo>
                      <ns2:cubicBezTo>
                        <ns2:pt x="3000" y="3895"/>
                        <ns2:pt x="3895" y="3000"/>
                        <ns2:pt x="5000" y="3000"/>
                      </ns2:cubicBezTo>
                      <ns2:lnTo>
                        <ns2:pt x="7000" y="3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5598" cap="rnd">
                  <ns4:solidFill>
                    <ns4:srgbClr val="358972"/>
                  </ns4:solidFill>
                </ns4:ln>
              </p:spPr>
            </p:sp>
            <p:sp>
              <p:nvSpPr>
                <p:cNvPr id="10018" name="scan-search-1"/>
                <p:cNvSpPr/>
                <p:nvPr/>
              </p:nvSpPr>
              <p:spPr>
                <ns1:xfrm xmlns:ns1="http://schemas.openxmlformats.org/drawingml/2006/main">
                  <ns1:off x="7496175" y="542925"/>
                  <ns1:ext cx="409575" cy="409575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7000" y="3000"/>
                      </ns2:moveTo>
                      <ns2:lnTo>
                        <ns2:pt x="19000" y="3000"/>
                      </ns2:lnTo>
                      <ns2:cubicBezTo>
                        <ns2:pt x="20105" y="3000"/>
                        <ns2:pt x="21000" y="3895"/>
                        <ns2:pt x="21000" y="5000"/>
                      </ns2:cubicBezTo>
                      <ns2:lnTo>
                        <ns2:pt x="21000" y="7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5598" cap="rnd">
                  <ns4:solidFill>
                    <ns4:srgbClr val="358972"/>
                  </ns4:solidFill>
                </ns4:ln>
              </p:spPr>
            </p:sp>
            <p:sp>
              <p:nvSpPr>
                <p:cNvPr id="10019" name="scan-search-2"/>
                <p:cNvSpPr/>
                <p:nvPr/>
              </p:nvSpPr>
              <p:spPr>
                <ns1:xfrm xmlns:ns1="http://schemas.openxmlformats.org/drawingml/2006/main">
                  <ns1:off x="7496175" y="542925"/>
                  <ns1:ext cx="409575" cy="409575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21000" y="17000"/>
                      </ns2:moveTo>
                      <ns2:lnTo>
                        <ns2:pt x="21000" y="19000"/>
                      </ns2:lnTo>
                      <ns2:cubicBezTo>
                        <ns2:pt x="21000" y="20105"/>
                        <ns2:pt x="20105" y="21000"/>
                        <ns2:pt x="19000" y="21000"/>
                      </ns2:cubicBezTo>
                      <ns2:lnTo>
                        <ns2:pt x="17000" y="21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5598" cap="rnd">
                  <ns4:solidFill>
                    <ns4:srgbClr val="358972"/>
                  </ns4:solidFill>
                </ns4:ln>
              </p:spPr>
            </p:sp>
            <p:sp>
              <p:nvSpPr>
                <p:cNvPr id="10020" name="scan-search-3"/>
                <p:cNvSpPr/>
                <p:nvPr/>
              </p:nvSpPr>
              <p:spPr>
                <ns1:xfrm xmlns:ns1="http://schemas.openxmlformats.org/drawingml/2006/main">
                  <ns1:off x="7496175" y="542925"/>
                  <ns1:ext cx="409575" cy="409575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7000" y="21000"/>
                      </ns2:moveTo>
                      <ns2:lnTo>
                        <ns2:pt x="5000" y="21000"/>
                      </ns2:lnTo>
                      <ns2:cubicBezTo>
                        <ns2:pt x="3895" y="21000"/>
                        <ns2:pt x="3000" y="20105"/>
                        <ns2:pt x="3000" y="19000"/>
                      </ns2:cubicBezTo>
                      <ns2:lnTo>
                        <ns2:pt x="3000" y="17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5598" cap="rnd">
                  <ns4:solidFill>
                    <ns4:srgbClr val="358972"/>
                  </ns4:solidFill>
                </ns4:ln>
              </p:spPr>
            </p:sp>
            <p:sp>
              <p:nvSpPr>
                <p:cNvPr id="10021" name="scan-search-4"/>
                <p:cNvSpPr/>
                <p:nvPr/>
              </p:nvSpPr>
              <p:spPr>
                <ns1:xfrm xmlns:ns1="http://schemas.openxmlformats.org/drawingml/2006/main">
                  <ns1:off x="7649766" y="696516"/>
                  <ns1:ext cx="102394" cy="102394"/>
                </ns1:xfrm>
                <ns2:prstGeom xmlns:ns2="http://schemas.openxmlformats.org/drawingml/2006/main" prst="ellipse">
                  <ns2:avLst/>
                </ns2:prstGeom>
                <ns3:noFill xmlns:ns3="http://schemas.openxmlformats.org/drawingml/2006/main"/>
                <ns5:ln xmlns:ns5="http://schemas.openxmlformats.org/drawingml/2006/main" w="25598" cap="rnd">
                  <ns5:solidFill>
                    <ns5:srgbClr val="358972"/>
                  </ns5:solidFill>
                </ns5:ln>
              </p:spPr>
            </p:sp>
            <p:sp>
              <p:nvSpPr>
                <p:cNvPr id="10022" name="scan-search-5"/>
                <p:cNvSpPr/>
                <p:nvPr/>
              </p:nvSpPr>
              <p:spPr>
                <ns1:xfrm xmlns:ns1="http://schemas.openxmlformats.org/drawingml/2006/main">
                  <ns1:off x="7496175" y="542925"/>
                  <ns1:ext cx="409575" cy="409575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6000" y="16000"/>
                      </ns2:moveTo>
                      <ns2:lnTo>
                        <ns2:pt x="14100" y="141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5598" cap="rnd">
                  <ns4:solidFill>
                    <ns4:srgbClr val="358972"/>
                  </ns4:solidFill>
                </ns4:ln>
              </p:spPr>
            </p:sp>
          </p:grpSp>
          <p:sp>
            <p:nvSpPr>
              <p:cNvPr id="10024" name="Anomaly detection&#10;and diagnosis"/>
              <p:cNvSpPr/>
              <p:nvPr/>
            </p:nvSpPr>
            <p:spPr>
              <ns1:xfrm xmlns:ns1="http://schemas.openxmlformats.org/drawingml/2006/main">
                <ns1:off x="6572250" y="1000125"/>
                <ns1:ext cx="2286000" cy="53340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725" b="1">
                    <ns7:solidFill>
                      <ns7:srgbClr val="358972"/>
                    </ns7:solidFill>
                    <ns7:latin typeface="Times New Roman"/>
                    <ns7:ea typeface="Times New Roman"/>
                  </ns7:rPr>
                  <ns7:t>Anomaly detection</ns7:t>
                </ns7:r>
              </ns7:p>
              <ns8:p xmlns:ns8="http://schemas.openxmlformats.org/drawingml/2006/main">
                <ns8:pPr algn="ctr"/>
                <ns8:r>
                  <ns8:rPr sz="1725" b="1">
                    <ns8:solidFill>
                      <ns8:srgbClr val="358972"/>
                    </ns8:solidFill>
                    <ns8:latin typeface="Times New Roman"/>
                    <ns8:ea typeface="Times New Roman"/>
                  </ns8:rPr>
                  <ns8:t>and diagnosis</ns8:t>
                </ns8:r>
              </ns8:p>
            </p:txBody>
          </p:sp>
        </p:grpSp>
        <p:grpSp>
          <p:nvGrpSpPr>
            <p:cNvPr id="10031" name="Task Decision support"/>
            <p:cNvGrpSpPr/>
            <p:nvPr/>
          </p:nvGrpSpPr>
          <p:grpSpPr>
            <ns1:xfrm xmlns:ns1="http://schemas.openxmlformats.org/drawingml/2006/main">
              <ns1:off x="8905875" y="542925"/>
              <ns1:ext cx="2286000" cy="990600"/>
              <ns1:chOff x="8905875" y="542925"/>
              <ns1:chExt cx="2286000" cy="990600"/>
            </ns1:xfrm>
          </p:grpSpPr>
          <p:grpSp>
            <p:nvGrpSpPr>
              <p:cNvPr id="10029" name="git-branch editable icon"/>
              <p:cNvGrpSpPr/>
              <p:nvPr/>
            </p:nvGrpSpPr>
            <p:grpSpPr>
              <ns1:xfrm xmlns:ns1="http://schemas.openxmlformats.org/drawingml/2006/main">
                <ns1:off x="9829800" y="542925"/>
                <ns1:ext cx="409575" cy="409575"/>
                <ns1:chOff x="9829800" y="542925"/>
                <ns1:chExt cx="409575" cy="409575"/>
              </ns1:xfrm>
            </p:grpSpPr>
            <p:sp>
              <p:nvSpPr>
                <p:cNvPr id="10026" name="git-branch-0"/>
                <p:cNvSpPr/>
                <p:nvPr/>
              </p:nvSpPr>
              <p:spPr>
                <ns1:xfrm xmlns:ns1="http://schemas.openxmlformats.org/drawingml/2006/main">
                  <ns1:off x="9829800" y="542925"/>
                  <ns1:ext cx="409575" cy="409575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5000" y="6000"/>
                      </ns2:moveTo>
                      <ns2:cubicBezTo>
                        <ns2:pt x="10029" y="6000"/>
                        <ns2:pt x="6000" y="10029"/>
                        <ns2:pt x="6000" y="15000"/>
                      </ns2:cubicBezTo>
                      <ns2:lnTo>
                        <ns2:pt x="6000" y="3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25598" cap="rnd">
                  <ns4:solidFill>
                    <ns4:srgbClr val="A77838"/>
                  </ns4:solidFill>
                </ns4:ln>
              </p:spPr>
            </p:sp>
            <p:sp>
              <p:nvSpPr>
                <p:cNvPr id="10027" name="git-branch-1"/>
                <p:cNvSpPr/>
                <p:nvPr/>
              </p:nvSpPr>
              <p:spPr>
                <ns1:xfrm xmlns:ns1="http://schemas.openxmlformats.org/drawingml/2006/main">
                  <ns1:off x="10085784" y="594122"/>
                  <ns1:ext cx="102394" cy="102394"/>
                </ns1:xfrm>
                <ns2:prstGeom xmlns:ns2="http://schemas.openxmlformats.org/drawingml/2006/main" prst="ellipse">
                  <ns2:avLst/>
                </ns2:prstGeom>
                <ns3:noFill xmlns:ns3="http://schemas.openxmlformats.org/drawingml/2006/main"/>
                <ns5:ln xmlns:ns5="http://schemas.openxmlformats.org/drawingml/2006/main" w="25598" cap="rnd">
                  <ns5:solidFill>
                    <ns5:srgbClr val="A77838"/>
                  </ns5:solidFill>
                </ns5:ln>
              </p:spPr>
            </p:sp>
            <p:sp>
              <p:nvSpPr>
                <p:cNvPr id="10028" name="git-branch-2"/>
                <p:cNvSpPr/>
                <p:nvPr/>
              </p:nvSpPr>
              <p:spPr>
                <ns1:xfrm xmlns:ns1="http://schemas.openxmlformats.org/drawingml/2006/main">
                  <ns1:off x="9880997" y="798909"/>
                  <ns1:ext cx="102394" cy="102394"/>
                </ns1:xfrm>
                <ns2:prstGeom xmlns:ns2="http://schemas.openxmlformats.org/drawingml/2006/main" prst="ellipse">
                  <ns2:avLst/>
                </ns2:prstGeom>
                <ns3:noFill xmlns:ns3="http://schemas.openxmlformats.org/drawingml/2006/main"/>
                <ns5:ln xmlns:ns5="http://schemas.openxmlformats.org/drawingml/2006/main" w="25598" cap="rnd">
                  <ns5:solidFill>
                    <ns5:srgbClr val="A77838"/>
                  </ns5:solidFill>
                </ns5:ln>
              </p:spPr>
            </p:sp>
          </p:grpSp>
          <p:sp>
            <p:nvSpPr>
              <p:cNvPr id="10030" name="Decision&#10;support"/>
              <p:cNvSpPr/>
              <p:nvPr/>
            </p:nvSpPr>
            <p:spPr>
              <ns1:xfrm xmlns:ns1="http://schemas.openxmlformats.org/drawingml/2006/main">
                <ns1:off x="8905875" y="1000125"/>
                <ns1:ext cx="2286000" cy="53340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725" b="1">
                    <ns7:solidFill>
                      <ns7:srgbClr val="A77838"/>
                    </ns7:solidFill>
                    <ns7:latin typeface="Times New Roman"/>
                    <ns7:ea typeface="Times New Roman"/>
                  </ns7:rPr>
                  <ns7:t>Decision</ns7:t>
                </ns7:r>
              </ns7:p>
              <ns8:p xmlns:ns8="http://schemas.openxmlformats.org/drawingml/2006/main">
                <ns8:pPr algn="ctr"/>
                <ns8:r>
                  <ns8:rPr sz="1725" b="1">
                    <ns8:solidFill>
                      <ns8:srgbClr val="A77838"/>
                    </ns8:solidFill>
                    <ns8:latin typeface="Times New Roman"/>
                    <ns8:ea typeface="Times New Roman"/>
                  </ns8:rPr>
                  <ns8:t>support</ns8:t>
                </ns8:r>
              </ns8:p>
            </p:txBody>
          </p:sp>
        </p:grpSp>
        <p:grpSp>
          <p:nvGrpSpPr>
            <p:cNvPr id="10062" name="Temporal function Data management"/>
            <p:cNvGrpSpPr/>
            <p:nvPr/>
          </p:nvGrpSpPr>
          <p:grpSpPr>
            <ns1:xfrm xmlns:ns1="http://schemas.openxmlformats.org/drawingml/2006/main">
              <ns1:off x="190500" y="1676400"/>
              <ns1:ext cx="11049000" cy="685800"/>
              <ns1:chOff x="190500" y="1676400"/>
              <ns1:chExt cx="11049000" cy="685800"/>
            </ns1:xfrm>
          </p:grpSpPr>
          <p:sp>
            <p:nvSpPr>
              <p:cNvPr id="10032" name="Row background"/>
              <p:cNvSpPr/>
              <p:nvPr/>
            </p:nvSpPr>
            <p:spPr>
              <ns1:xfrm xmlns:ns1="http://schemas.openxmlformats.org/drawingml/2006/main">
                <ns1:off x="190500" y="1676400"/>
                <ns1:ext cx="11049000" cy="685800"/>
              </ns1:xfrm>
              <ns2:prstGeom xmlns:ns2="http://schemas.openxmlformats.org/drawingml/2006/main" prst="rect">
                <ns2:avLst/>
              </ns2:prstGeom>
              <ns3:solidFill xmlns:ns3="http://schemas.openxmlformats.org/drawingml/2006/main">
                <ns3:srgbClr val="F5F8FA"/>
              </ns3:solidFill>
              <ns4:ln xmlns:ns4="http://schemas.openxmlformats.org/drawingml/2006/main" w="9525" cap="rnd">
                <ns4:noFill/>
              </ns4:ln>
            </p:spPr>
          </p:sp>
          <p:grpSp>
            <p:nvGrpSpPr>
              <p:cNvPr id="10036" name="database editable icon"/>
              <p:cNvGrpSpPr/>
              <p:nvPr/>
            </p:nvGrpSpPr>
            <p:grpSpPr>
              <ns1:xfrm xmlns:ns1="http://schemas.openxmlformats.org/drawingml/2006/main">
                <ns1:off x="285750" y="1847850"/>
                <ns1:ext cx="304800" cy="304800"/>
                <ns1:chOff x="285750" y="1847850"/>
                <ns1:chExt cx="304800" cy="304800"/>
              </ns1:xfrm>
            </p:grpSpPr>
            <p:sp>
              <p:nvSpPr>
                <p:cNvPr id="10033" name="database-0"/>
                <p:cNvSpPr/>
                <p:nvPr/>
              </p:nvSpPr>
              <p:spPr>
                <ns1:xfrm xmlns:ns1="http://schemas.openxmlformats.org/drawingml/2006/main">
                  <ns1:off x="323850" y="1873250"/>
                  <ns1:ext cx="228600" cy="76200"/>
                </ns1:xfrm>
                <ns2:prstGeom xmlns:ns2="http://schemas.openxmlformats.org/drawingml/2006/main" prst="ellipse">
                  <ns2:avLst/>
                </ns2:prstGeom>
                <ns3:noFill xmlns:ns3="http://schemas.openxmlformats.org/drawingml/2006/main"/>
                <ns5:ln xmlns:ns5="http://schemas.openxmlformats.org/drawingml/2006/main" w="19050" cap="rnd">
                  <ns5:solidFill>
                    <ns5:srgbClr val="327EA6"/>
                  </ns5:solidFill>
                </ns5:ln>
              </p:spPr>
            </p:sp>
            <p:sp>
              <p:nvSpPr>
                <p:cNvPr id="10034" name="database-1"/>
                <p:cNvSpPr/>
                <p:nvPr/>
              </p:nvSpPr>
              <p:spPr>
                <ns1:xfrm xmlns:ns1="http://schemas.openxmlformats.org/drawingml/2006/main">
                  <ns1:off x="285750" y="1847850"/>
                  <ns1:ext cx="304800" cy="3048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3000" y="5000"/>
                      </ns2:moveTo>
                      <ns2:lnTo>
                        <ns2:pt x="3000" y="19000"/>
                      </ns2:lnTo>
                      <ns2:cubicBezTo>
                        <ns2:pt x="3000" y="20657"/>
                        <ns2:pt x="7029" y="22000"/>
                        <ns2:pt x="12000" y="22000"/>
                      </ns2:cubicBezTo>
                      <ns2:cubicBezTo>
                        <ns2:pt x="16971" y="22000"/>
                        <ns2:pt x="21000" y="20657"/>
                        <ns2:pt x="21000" y="19000"/>
                      </ns2:cubicBezTo>
                      <ns2:lnTo>
                        <ns2:pt x="21000" y="5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9050" cap="rnd">
                  <ns4:solidFill>
                    <ns4:srgbClr val="327EA6"/>
                  </ns4:solidFill>
                </ns4:ln>
              </p:spPr>
            </p:sp>
            <p:sp>
              <p:nvSpPr>
                <p:cNvPr id="10035" name="database-2"/>
                <p:cNvSpPr/>
                <p:nvPr/>
              </p:nvSpPr>
              <p:spPr>
                <ns1:xfrm xmlns:ns1="http://schemas.openxmlformats.org/drawingml/2006/main">
                  <ns1:off x="285750" y="1847850"/>
                  <ns1:ext cx="304800" cy="3048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3000" y="12000"/>
                      </ns2:moveTo>
                      <ns2:cubicBezTo>
                        <ns2:pt x="3000" y="13657"/>
                        <ns2:pt x="7029" y="15000"/>
                        <ns2:pt x="12000" y="15000"/>
                      </ns2:cubicBezTo>
                      <ns2:cubicBezTo>
                        <ns2:pt x="16971" y="15000"/>
                        <ns2:pt x="21000" y="13657"/>
                        <ns2:pt x="21000" y="12000"/>
                      </ns2:cubicBez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9050" cap="rnd">
                  <ns4:solidFill>
                    <ns4:srgbClr val="327EA6"/>
                  </ns4:solidFill>
                </ns4:ln>
              </p:spPr>
            </p:sp>
          </p:grpSp>
          <p:sp>
            <p:nvSpPr>
              <p:cNvPr id="10037" name="Data&#10;management"/>
              <p:cNvSpPr/>
              <p:nvPr/>
            </p:nvSpPr>
            <p:spPr>
              <ns1:xfrm xmlns:ns1="http://schemas.openxmlformats.org/drawingml/2006/main">
                <ns1:off x="695325" y="1752600"/>
                <ns1:ext cx="1133475" cy="542925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l"/>
                <ns7:r>
                  <ns7:rPr sz="1575" b="1">
                    <ns7:solidFill>
                      <ns7:srgbClr val="327EA6"/>
                    </ns7:solidFill>
                    <ns7:latin typeface="Times New Roman"/>
                    <ns7:ea typeface="Times New Roman"/>
                  </ns7:rPr>
                  <ns7:t>Data</ns7:t>
                </ns7:r>
              </ns7:p>
              <ns8:p xmlns:ns8="http://schemas.openxmlformats.org/drawingml/2006/main">
                <ns8:pPr algn="l"/>
                <ns8:r>
                  <ns8:rPr sz="1575" b="1">
                    <ns8:solidFill>
                      <ns8:srgbClr val="327EA6"/>
                    </ns8:solidFill>
                    <ns8:latin typeface="Times New Roman"/>
                    <ns8:ea typeface="Times New Roman"/>
                  </ns8:rPr>
                  <ns8:t>management</ns8:t>
                </ns8:r>
              </ns8:p>
            </p:txBody>
          </p:sp>
          <p:grpSp>
            <p:nvGrpSpPr>
              <p:cNvPr id="10041" name="database editable icon"/>
              <p:cNvGrpSpPr/>
              <p:nvPr/>
            </p:nvGrpSpPr>
            <p:grpSpPr>
              <ns1:xfrm xmlns:ns1="http://schemas.openxmlformats.org/drawingml/2006/main">
                <ns1:off x="1981200" y="1876425"/>
                <ns1:ext cx="285750" cy="285750"/>
                <ns1:chOff x="1981200" y="1876425"/>
                <ns1:chExt cx="285750" cy="285750"/>
              </ns1:xfrm>
            </p:grpSpPr>
            <p:sp>
              <p:nvSpPr>
                <p:cNvPr id="10038" name="database-0"/>
                <p:cNvSpPr/>
                <p:nvPr/>
              </p:nvSpPr>
              <p:spPr>
                <ns1:xfrm xmlns:ns1="http://schemas.openxmlformats.org/drawingml/2006/main">
                  <ns1:off x="2016919" y="1900238"/>
                  <ns1:ext cx="214312" cy="71438"/>
                </ns1:xfrm>
                <ns2:prstGeom xmlns:ns2="http://schemas.openxmlformats.org/drawingml/2006/main" prst="ellipse">
                  <ns2:avLst/>
                </ns2:prstGeom>
                <ns3:noFill xmlns:ns3="http://schemas.openxmlformats.org/drawingml/2006/main"/>
                <ns5:ln xmlns:ns5="http://schemas.openxmlformats.org/drawingml/2006/main" w="17859" cap="rnd">
                  <ns5:solidFill>
                    <ns5:srgbClr val="327EA6"/>
                  </ns5:solidFill>
                </ns5:ln>
              </p:spPr>
            </p:sp>
            <p:sp>
              <p:nvSpPr>
                <p:cNvPr id="10039" name="database-1"/>
                <p:cNvSpPr/>
                <p:nvPr/>
              </p:nvSpPr>
              <p:spPr>
                <ns1:xfrm xmlns:ns1="http://schemas.openxmlformats.org/drawingml/2006/main">
                  <ns1:off x="1981200" y="1876425"/>
                  <ns1:ext cx="285750" cy="28575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3000" y="5000"/>
                      </ns2:moveTo>
                      <ns2:lnTo>
                        <ns2:pt x="3000" y="19000"/>
                      </ns2:lnTo>
                      <ns2:cubicBezTo>
                        <ns2:pt x="3000" y="20657"/>
                        <ns2:pt x="7029" y="22000"/>
                        <ns2:pt x="12000" y="22000"/>
                      </ns2:cubicBezTo>
                      <ns2:cubicBezTo>
                        <ns2:pt x="16971" y="22000"/>
                        <ns2:pt x="21000" y="20657"/>
                        <ns2:pt x="21000" y="19000"/>
                      </ns2:cubicBezTo>
                      <ns2:lnTo>
                        <ns2:pt x="21000" y="5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7859" cap="rnd">
                  <ns4:solidFill>
                    <ns4:srgbClr val="327EA6"/>
                  </ns4:solidFill>
                </ns4:ln>
              </p:spPr>
            </p:sp>
            <p:sp>
              <p:nvSpPr>
                <p:cNvPr id="10040" name="database-2"/>
                <p:cNvSpPr/>
                <p:nvPr/>
              </p:nvSpPr>
              <p:spPr>
                <ns1:xfrm xmlns:ns1="http://schemas.openxmlformats.org/drawingml/2006/main">
                  <ns1:off x="1981200" y="1876425"/>
                  <ns1:ext cx="285750" cy="28575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3000" y="12000"/>
                      </ns2:moveTo>
                      <ns2:cubicBezTo>
                        <ns2:pt x="3000" y="13657"/>
                        <ns2:pt x="7029" y="15000"/>
                        <ns2:pt x="12000" y="15000"/>
                      </ns2:cubicBezTo>
                      <ns2:cubicBezTo>
                        <ns2:pt x="16971" y="15000"/>
                        <ns2:pt x="21000" y="13657"/>
                        <ns2:pt x="21000" y="12000"/>
                      </ns2:cubicBez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7859" cap="rnd">
                  <ns4:solidFill>
                    <ns4:srgbClr val="327EA6"/>
                  </ns4:solidFill>
                </ns4:ln>
              </p:spPr>
            </p:sp>
          </p:grpSp>
          <p:sp>
            <p:nvSpPr>
              <p:cNvPr id="10042" name="History &amp; covariates"/>
              <p:cNvSpPr/>
              <p:nvPr/>
            </p:nvSpPr>
            <p:spPr>
              <ns1:xfrm xmlns:ns1="http://schemas.openxmlformats.org/drawingml/2006/main">
                <ns1:off x="2352675" y="1771650"/>
                <ns1:ext cx="1781175" cy="51435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l"/>
                <ns7:r>
                  <ns7:rPr sz="1575" b="0">
                    <ns7:solidFill>
                      <ns7:srgbClr val="25465E"/>
                    </ns7:solidFill>
                    <ns7:latin typeface="Times New Roman"/>
                    <ns7:ea typeface="Times New Roman"/>
                  </ns7:rPr>
                  <ns7:t>History &amp; covariates</ns7:t>
                </ns7:r>
              </ns7:p>
            </p:txBody>
          </p:sp>
          <p:grpSp>
            <p:nvGrpSpPr>
              <p:cNvPr id="10046" name="layers editable icon"/>
              <p:cNvGrpSpPr/>
              <p:nvPr/>
            </p:nvGrpSpPr>
            <p:grpSpPr>
              <ns1:xfrm xmlns:ns1="http://schemas.openxmlformats.org/drawingml/2006/main">
                <ns1:off x="4314825" y="1876425"/>
                <ns1:ext cx="285750" cy="285750"/>
                <ns1:chOff x="4314825" y="1876425"/>
                <ns1:chExt cx="285750" cy="285750"/>
              </ns1:xfrm>
            </p:grpSpPr>
            <p:sp>
              <p:nvSpPr>
                <p:cNvPr id="10043" name="layers-0"/>
                <p:cNvSpPr/>
                <p:nvPr/>
              </p:nvSpPr>
              <p:spPr>
                <ns1:xfrm xmlns:ns1="http://schemas.openxmlformats.org/drawingml/2006/main">
                  <ns1:off x="4314825" y="1876425"/>
                  <ns1:ext cx="285750" cy="28575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2830" y="2180"/>
                      </ns2:moveTo>
                      <ns2:cubicBezTo>
                        <ns2:pt x="12303" y="1940"/>
                        <ns2:pt x="11697" y="1940"/>
                        <ns2:pt x="11170" y="2180"/>
                      </ns2:cubicBezTo>
                      <ns2:lnTo>
                        <ns2:pt x="2600" y="6080"/>
                      </ns2:lnTo>
                      <ns2:cubicBezTo>
                        <ns2:pt x="2237" y="6240"/>
                        <ns2:pt x="2003" y="6599"/>
                        <ns2:pt x="2003" y="6995"/>
                      </ns2:cubicBezTo>
                      <ns2:cubicBezTo>
                        <ns2:pt x="2003" y="7391"/>
                        <ns2:pt x="2237" y="7750"/>
                        <ns2:pt x="2600" y="7910"/>
                      </ns2:cubicBezTo>
                      <ns2:lnTo>
                        <ns2:pt x="11180" y="11820"/>
                      </ns2:lnTo>
                      <ns2:cubicBezTo>
                        <ns2:pt x="11707" y="12060"/>
                        <ns2:pt x="12313" y="12060"/>
                        <ns2:pt x="12840" y="11820"/>
                      </ns2:cubicBezTo>
                      <ns2:lnTo>
                        <ns2:pt x="21420" y="7920"/>
                      </ns2:lnTo>
                      <ns2:cubicBezTo>
                        <ns2:pt x="21783" y="7760"/>
                        <ns2:pt x="22017" y="7401"/>
                        <ns2:pt x="22017" y="7005"/>
                      </ns2:cubicBezTo>
                      <ns2:cubicBezTo>
                        <ns2:pt x="22017" y="6609"/>
                        <ns2:pt x="21783" y="6250"/>
                        <ns2:pt x="21420" y="6090"/>
                      </ns2:cubicBezTo>
                      <ns2:lnTo>
                        <ns2:pt x="12830" y="2180"/>
                      </ns2:lnTo>
                      <ns2:close/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7859" cap="rnd">
                  <ns4:solidFill>
                    <ns4:srgbClr val="705A99"/>
                  </ns4:solidFill>
                </ns4:ln>
              </p:spPr>
            </p:sp>
            <p:sp>
              <p:nvSpPr>
                <p:cNvPr id="10044" name="layers-1"/>
                <p:cNvSpPr/>
                <p:nvPr/>
              </p:nvSpPr>
              <p:spPr>
                <ns1:xfrm xmlns:ns1="http://schemas.openxmlformats.org/drawingml/2006/main">
                  <ns1:off x="4314825" y="1876425"/>
                  <ns1:ext cx="285750" cy="28575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2000" y="12000"/>
                      </ns2:moveTo>
                      <ns2:cubicBezTo>
                        <ns2:pt x="1999" y="12391"/>
                        <ns2:pt x="2226" y="12746"/>
                        <ns2:pt x="2580" y="12910"/>
                      </ns2:cubicBezTo>
                      <ns2:lnTo>
                        <ns2:pt x="11180" y="16820"/>
                      </ns2:lnTo>
                      <ns2:cubicBezTo>
                        <ns2:pt x="11704" y="17057"/>
                        <ns2:pt x="12306" y="17057"/>
                        <ns2:pt x="12830" y="16820"/>
                      </ns2:cubicBezTo>
                      <ns2:lnTo>
                        <ns2:pt x="21410" y="12920"/>
                      </ns2:lnTo>
                      <ns2:cubicBezTo>
                        <ns2:pt x="21772" y="12757"/>
                        <ns2:pt x="22003" y="12397"/>
                        <ns2:pt x="22000" y="12000"/>
                      </ns2:cubicBez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7859" cap="rnd">
                  <ns4:solidFill>
                    <ns4:srgbClr val="705A99"/>
                  </ns4:solidFill>
                </ns4:ln>
              </p:spPr>
            </p:sp>
            <p:sp>
              <p:nvSpPr>
                <p:cNvPr id="10045" name="layers-2"/>
                <p:cNvSpPr/>
                <p:nvPr/>
              </p:nvSpPr>
              <p:spPr>
                <ns1:xfrm xmlns:ns1="http://schemas.openxmlformats.org/drawingml/2006/main">
                  <ns1:off x="4314825" y="1876425"/>
                  <ns1:ext cx="285750" cy="28575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2000" y="17000"/>
                      </ns2:moveTo>
                      <ns2:cubicBezTo>
                        <ns2:pt x="1999" y="17391"/>
                        <ns2:pt x="2226" y="17746"/>
                        <ns2:pt x="2580" y="17910"/>
                      </ns2:cubicBezTo>
                      <ns2:lnTo>
                        <ns2:pt x="11180" y="21820"/>
                      </ns2:lnTo>
                      <ns2:cubicBezTo>
                        <ns2:pt x="11704" y="22057"/>
                        <ns2:pt x="12306" y="22057"/>
                        <ns2:pt x="12830" y="21820"/>
                      </ns2:cubicBezTo>
                      <ns2:lnTo>
                        <ns2:pt x="21410" y="17920"/>
                      </ns2:lnTo>
                      <ns2:cubicBezTo>
                        <ns2:pt x="21772" y="17757"/>
                        <ns2:pt x="22003" y="17397"/>
                        <ns2:pt x="22000" y="17000"/>
                      </ns2:cubicBez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7859" cap="rnd">
                  <ns4:solidFill>
                    <ns4:srgbClr val="705A99"/>
                  </ns4:solidFill>
                </ns4:ln>
              </p:spPr>
            </p:sp>
          </p:grpSp>
          <p:sp>
            <p:nvSpPr>
              <p:cNvPr id="10047" name="Series &amp; conditions"/>
              <p:cNvSpPr/>
              <p:nvPr/>
            </p:nvSpPr>
            <p:spPr>
              <ns1:xfrm xmlns:ns1="http://schemas.openxmlformats.org/drawingml/2006/main">
                <ns1:off x="4686300" y="1771650"/>
                <ns1:ext cx="1781175" cy="51435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l"/>
                <ns7:r>
                  <ns7:rPr sz="1575" b="0">
                    <ns7:solidFill>
                      <ns7:srgbClr val="25465E"/>
                    </ns7:solidFill>
                    <ns7:latin typeface="Times New Roman"/>
                    <ns7:ea typeface="Times New Roman"/>
                  </ns7:rPr>
                  <ns7:t>Series &amp; conditions</ns7:t>
                </ns7:r>
              </ns7:p>
            </p:txBody>
          </p:sp>
          <p:grpSp>
            <p:nvGrpSpPr>
              <p:cNvPr id="10053" name="file-text editable icon"/>
              <p:cNvGrpSpPr/>
              <p:nvPr/>
            </p:nvGrpSpPr>
            <p:grpSpPr>
              <ns1:xfrm xmlns:ns1="http://schemas.openxmlformats.org/drawingml/2006/main">
                <ns1:off x="6648450" y="1876425"/>
                <ns1:ext cx="285750" cy="285750"/>
                <ns1:chOff x="6648450" y="1876425"/>
                <ns1:chExt cx="285750" cy="285750"/>
              </ns1:xfrm>
            </p:grpSpPr>
            <p:sp>
              <p:nvSpPr>
                <p:cNvPr id="10048" name="file-text-0"/>
                <p:cNvSpPr/>
                <p:nvPr/>
              </p:nvSpPr>
              <p:spPr>
                <ns1:xfrm xmlns:ns1="http://schemas.openxmlformats.org/drawingml/2006/main">
                  <ns1:off x="6648450" y="1876425"/>
                  <ns1:ext cx="285750" cy="28575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6000" y="22000"/>
                      </ns2:moveTo>
                      <ns2:cubicBezTo>
                        <ns2:pt x="4895" y="22000"/>
                        <ns2:pt x="4000" y="21105"/>
                        <ns2:pt x="4000" y="20000"/>
                      </ns2:cubicBezTo>
                      <ns2:lnTo>
                        <ns2:pt x="4000" y="4000"/>
                      </ns2:lnTo>
                      <ns2:cubicBezTo>
                        <ns2:pt x="4000" y="2895"/>
                        <ns2:pt x="4895" y="2000"/>
                        <ns2:pt x="6000" y="2000"/>
                      </ns2:cubicBezTo>
                      <ns2:lnTo>
                        <ns2:pt x="14000" y="2000"/>
                      </ns2:lnTo>
                      <ns2:cubicBezTo>
                        <ns2:pt x="14639" y="1999"/>
                        <ns2:pt x="15253" y="2253"/>
                        <ns2:pt x="15704" y="2706"/>
                      </ns2:cubicBezTo>
                      <ns2:lnTo>
                        <ns2:pt x="19292" y="6294"/>
                      </ns2:lnTo>
                      <ns2:cubicBezTo>
                        <ns2:pt x="19746" y="6745"/>
                        <ns2:pt x="20001" y="7360"/>
                        <ns2:pt x="20000" y="8000"/>
                      </ns2:cubicBezTo>
                      <ns2:lnTo>
                        <ns2:pt x="20000" y="20000"/>
                      </ns2:lnTo>
                      <ns2:cubicBezTo>
                        <ns2:pt x="20000" y="21105"/>
                        <ns2:pt x="19105" y="22000"/>
                        <ns2:pt x="18000" y="22000"/>
                      </ns2:cubicBezTo>
                      <ns2:lnTo>
                        <ns2:pt x="6000" y="22000"/>
                      </ns2:lnTo>
                      <ns2:close/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7859" cap="rnd">
                  <ns4:solidFill>
                    <ns4:srgbClr val="358972"/>
                  </ns4:solidFill>
                </ns4:ln>
              </p:spPr>
            </p:sp>
            <p:sp>
              <p:nvSpPr>
                <p:cNvPr id="10049" name="file-text-1"/>
                <p:cNvSpPr/>
                <p:nvPr/>
              </p:nvSpPr>
              <p:spPr>
                <ns1:xfrm xmlns:ns1="http://schemas.openxmlformats.org/drawingml/2006/main">
                  <ns1:off x="6648450" y="1876425"/>
                  <ns1:ext cx="285750" cy="28575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4000" y="2000"/>
                      </ns2:moveTo>
                      <ns2:lnTo>
                        <ns2:pt x="14000" y="7000"/>
                      </ns2:lnTo>
                      <ns2:cubicBezTo>
                        <ns2:pt x="14000" y="7552"/>
                        <ns2:pt x="14448" y="8000"/>
                        <ns2:pt x="15000" y="8000"/>
                      </ns2:cubicBezTo>
                      <ns2:lnTo>
                        <ns2:pt x="20000" y="8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7859" cap="rnd">
                  <ns4:solidFill>
                    <ns4:srgbClr val="358972"/>
                  </ns4:solidFill>
                </ns4:ln>
              </p:spPr>
            </p:sp>
            <p:sp>
              <p:nvSpPr>
                <p:cNvPr id="10050" name="file-text-2"/>
                <p:cNvSpPr/>
                <p:nvPr/>
              </p:nvSpPr>
              <p:spPr>
                <ns1:xfrm xmlns:ns1="http://schemas.openxmlformats.org/drawingml/2006/main">
                  <ns1:off x="6648450" y="1876425"/>
                  <ns1:ext cx="285750" cy="28575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0000" y="9000"/>
                      </ns2:moveTo>
                      <ns2:lnTo>
                        <ns2:pt x="8000" y="9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7859" cap="rnd">
                  <ns4:solidFill>
                    <ns4:srgbClr val="358972"/>
                  </ns4:solidFill>
                </ns4:ln>
              </p:spPr>
            </p:sp>
            <p:sp>
              <p:nvSpPr>
                <p:cNvPr id="10051" name="file-text-3"/>
                <p:cNvSpPr/>
                <p:nvPr/>
              </p:nvSpPr>
              <p:spPr>
                <ns1:xfrm xmlns:ns1="http://schemas.openxmlformats.org/drawingml/2006/main">
                  <ns1:off x="6648450" y="1876425"/>
                  <ns1:ext cx="285750" cy="28575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6000" y="13000"/>
                      </ns2:moveTo>
                      <ns2:lnTo>
                        <ns2:pt x="8000" y="13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7859" cap="rnd">
                  <ns4:solidFill>
                    <ns4:srgbClr val="358972"/>
                  </ns4:solidFill>
                </ns4:ln>
              </p:spPr>
            </p:sp>
            <p:sp>
              <p:nvSpPr>
                <p:cNvPr id="10052" name="file-text-4"/>
                <p:cNvSpPr/>
                <p:nvPr/>
              </p:nvSpPr>
              <p:spPr>
                <ns1:xfrm xmlns:ns1="http://schemas.openxmlformats.org/drawingml/2006/main">
                  <ns1:off x="6648450" y="1876425"/>
                  <ns1:ext cx="285750" cy="28575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6000" y="17000"/>
                      </ns2:moveTo>
                      <ns2:lnTo>
                        <ns2:pt x="8000" y="17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7859" cap="rnd">
                  <ns4:solidFill>
                    <ns4:srgbClr val="358972"/>
                  </ns4:solidFill>
                </ns4:ln>
              </p:spPr>
            </p:sp>
          </p:grpSp>
          <p:sp>
            <p:nvSpPr>
              <p:cNvPr id="10054" name="Streams &amp; logs"/>
              <p:cNvSpPr/>
              <p:nvPr/>
            </p:nvSpPr>
            <p:spPr>
              <ns1:xfrm xmlns:ns1="http://schemas.openxmlformats.org/drawingml/2006/main">
                <ns1:off x="7019925" y="1771650"/>
                <ns1:ext cx="1781175" cy="51435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l"/>
                <ns7:r>
                  <ns7:rPr sz="1575" b="0">
                    <ns7:solidFill>
                      <ns7:srgbClr val="25465E"/>
                    </ns7:solidFill>
                    <ns7:latin typeface="Times New Roman"/>
                    <ns7:ea typeface="Times New Roman"/>
                  </ns7:rPr>
                  <ns7:t>Streams &amp; logs</ns7:t>
                </ns7:r>
              </ns7:p>
            </p:txBody>
          </p:sp>
          <p:grpSp>
            <p:nvGrpSpPr>
              <p:cNvPr id="10060" name="list-checks editable icon"/>
              <p:cNvGrpSpPr/>
              <p:nvPr/>
            </p:nvGrpSpPr>
            <p:grpSpPr>
              <ns1:xfrm xmlns:ns1="http://schemas.openxmlformats.org/drawingml/2006/main">
                <ns1:off x="8982075" y="1876425"/>
                <ns1:ext cx="285750" cy="285750"/>
                <ns1:chOff x="8982075" y="1876425"/>
                <ns1:chExt cx="285750" cy="285750"/>
              </ns1:xfrm>
            </p:grpSpPr>
            <p:sp>
              <p:nvSpPr>
                <p:cNvPr id="10055" name="list-checks-0"/>
                <p:cNvSpPr/>
                <p:nvPr/>
              </p:nvSpPr>
              <p:spPr>
                <ns1:xfrm xmlns:ns1="http://schemas.openxmlformats.org/drawingml/2006/main">
                  <ns1:off x="8982075" y="1876425"/>
                  <ns1:ext cx="285750" cy="28575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3000" y="5000"/>
                      </ns2:moveTo>
                      <ns2:lnTo>
                        <ns2:pt x="21000" y="5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7859" cap="rnd">
                  <ns4:solidFill>
                    <ns4:srgbClr val="A77838"/>
                  </ns4:solidFill>
                </ns4:ln>
              </p:spPr>
            </p:sp>
            <p:sp>
              <p:nvSpPr>
                <p:cNvPr id="10056" name="list-checks-1"/>
                <p:cNvSpPr/>
                <p:nvPr/>
              </p:nvSpPr>
              <p:spPr>
                <ns1:xfrm xmlns:ns1="http://schemas.openxmlformats.org/drawingml/2006/main">
                  <ns1:off x="8982075" y="1876425"/>
                  <ns1:ext cx="285750" cy="28575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3000" y="12000"/>
                      </ns2:moveTo>
                      <ns2:lnTo>
                        <ns2:pt x="21000" y="12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7859" cap="rnd">
                  <ns4:solidFill>
                    <ns4:srgbClr val="A77838"/>
                  </ns4:solidFill>
                </ns4:ln>
              </p:spPr>
            </p:sp>
            <p:sp>
              <p:nvSpPr>
                <p:cNvPr id="10057" name="list-checks-2"/>
                <p:cNvSpPr/>
                <p:nvPr/>
              </p:nvSpPr>
              <p:spPr>
                <ns1:xfrm xmlns:ns1="http://schemas.openxmlformats.org/drawingml/2006/main">
                  <ns1:off x="8982075" y="1876425"/>
                  <ns1:ext cx="285750" cy="28575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3000" y="19000"/>
                      </ns2:moveTo>
                      <ns2:lnTo>
                        <ns2:pt x="21000" y="19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7859" cap="rnd">
                  <ns4:solidFill>
                    <ns4:srgbClr val="A77838"/>
                  </ns4:solidFill>
                </ns4:ln>
              </p:spPr>
            </p:sp>
            <p:sp>
              <p:nvSpPr>
                <p:cNvPr id="10058" name="list-checks-3"/>
                <p:cNvSpPr/>
                <p:nvPr/>
              </p:nvSpPr>
              <p:spPr>
                <ns1:xfrm xmlns:ns1="http://schemas.openxmlformats.org/drawingml/2006/main">
                  <ns1:off x="8982075" y="1876425"/>
                  <ns1:ext cx="285750" cy="28575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3000" y="17000"/>
                      </ns2:moveTo>
                      <ns2:lnTo>
                        <ns2:pt x="5000" y="19000"/>
                      </ns2:lnTo>
                      <ns2:lnTo>
                        <ns2:pt x="9000" y="15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7859" cap="rnd">
                  <ns4:solidFill>
                    <ns4:srgbClr val="A77838"/>
                  </ns4:solidFill>
                </ns4:ln>
              </p:spPr>
            </p:sp>
            <p:sp>
              <p:nvSpPr>
                <p:cNvPr id="10059" name="list-checks-4"/>
                <p:cNvSpPr/>
                <p:nvPr/>
              </p:nvSpPr>
              <p:spPr>
                <ns1:xfrm xmlns:ns1="http://schemas.openxmlformats.org/drawingml/2006/main">
                  <ns1:off x="8982075" y="1876425"/>
                  <ns1:ext cx="285750" cy="28575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3000" y="7000"/>
                      </ns2:moveTo>
                      <ns2:lnTo>
                        <ns2:pt x="5000" y="9000"/>
                      </ns2:lnTo>
                      <ns2:lnTo>
                        <ns2:pt x="9000" y="5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7859" cap="rnd">
                  <ns4:solidFill>
                    <ns4:srgbClr val="A77838"/>
                  </ns4:solidFill>
                </ns4:ln>
              </p:spPr>
            </p:sp>
          </p:grpSp>
          <p:sp>
            <p:nvSpPr>
              <p:cNvPr id="10061" name="Observations &amp; actions"/>
              <p:cNvSpPr/>
              <p:nvPr/>
            </p:nvSpPr>
            <p:spPr>
              <ns1:xfrm xmlns:ns1="http://schemas.openxmlformats.org/drawingml/2006/main">
                <ns1:off x="9353550" y="1771650"/>
                <ns1:ext cx="1781175" cy="51435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l"/>
                <ns7:r>
                  <ns7:rPr sz="1575" b="0">
                    <ns7:solidFill>
                      <ns7:srgbClr val="25465E"/>
                    </ns7:solidFill>
                    <ns7:latin typeface="Times New Roman"/>
                    <ns7:ea typeface="Times New Roman"/>
                  </ns7:rPr>
                  <ns7:t>Observations &amp; actions</ns7:t>
                </ns7:r>
              </ns7:p>
            </p:txBody>
          </p:sp>
        </p:grpSp>
        <p:grpSp>
          <p:nvGrpSpPr>
            <p:cNvPr id="10118" name="Temporal function Temporal processing"/>
            <p:cNvGrpSpPr/>
            <p:nvPr/>
          </p:nvGrpSpPr>
          <p:grpSpPr>
            <ns1:xfrm xmlns:ns1="http://schemas.openxmlformats.org/drawingml/2006/main">
              <ns1:off x="190500" y="2400300"/>
              <ns1:ext cx="11049000" cy="685800"/>
              <ns1:chOff x="190500" y="2400300"/>
              <ns1:chExt cx="11049000" cy="685800"/>
            </ns1:xfrm>
          </p:grpSpPr>
          <p:sp>
            <p:nvSpPr>
              <p:cNvPr id="10063" name="Row background"/>
              <p:cNvSpPr/>
              <p:nvPr/>
            </p:nvSpPr>
            <p:spPr>
              <ns1:xfrm xmlns:ns1="http://schemas.openxmlformats.org/drawingml/2006/main">
                <ns1:off x="190500" y="2400300"/>
                <ns1:ext cx="11049000" cy="685800"/>
              </ns1:xfrm>
              <ns2:prstGeom xmlns:ns2="http://schemas.openxmlformats.org/drawingml/2006/main" prst="rect">
                <ns2:avLst/>
              </ns2:prstGeom>
              <ns3:solidFill xmlns:ns3="http://schemas.openxmlformats.org/drawingml/2006/main">
                <ns3:srgbClr val="FFFFFF"/>
              </ns3:solidFill>
              <ns4:ln xmlns:ns4="http://schemas.openxmlformats.org/drawingml/2006/main" w="9525" cap="rnd">
                <ns4:noFill/>
              </ns4:ln>
            </p:spPr>
          </p:sp>
          <p:grpSp>
            <p:nvGrpSpPr>
              <p:cNvPr id="10073" name="sliders-horizontal editable icon"/>
              <p:cNvGrpSpPr/>
              <p:nvPr/>
            </p:nvGrpSpPr>
            <p:grpSpPr>
              <ns1:xfrm xmlns:ns1="http://schemas.openxmlformats.org/drawingml/2006/main">
                <ns1:off x="285750" y="2571750"/>
                <ns1:ext cx="304800" cy="304800"/>
                <ns1:chOff x="285750" y="2571750"/>
                <ns1:chExt cx="304800" cy="304800"/>
              </ns1:xfrm>
            </p:grpSpPr>
            <p:sp>
              <p:nvSpPr>
                <p:cNvPr id="10064" name="sliders-horizontal-0"/>
                <p:cNvSpPr/>
                <p:nvPr/>
              </p:nvSpPr>
              <p:spPr>
                <ns1:xfrm xmlns:ns1="http://schemas.openxmlformats.org/drawingml/2006/main">
                  <ns1:off x="285750" y="2571750"/>
                  <ns1:ext cx="304800" cy="3048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0000" y="5000"/>
                      </ns2:moveTo>
                      <ns2:lnTo>
                        <ns2:pt x="3000" y="5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9050" cap="rnd">
                  <ns4:solidFill>
                    <ns4:srgbClr val="327EA6"/>
                  </ns4:solidFill>
                </ns4:ln>
              </p:spPr>
            </p:sp>
            <p:sp>
              <p:nvSpPr>
                <p:cNvPr id="10065" name="sliders-horizontal-1"/>
                <p:cNvSpPr/>
                <p:nvPr/>
              </p:nvSpPr>
              <p:spPr>
                <ns1:xfrm xmlns:ns1="http://schemas.openxmlformats.org/drawingml/2006/main">
                  <ns1:off x="285750" y="2571750"/>
                  <ns1:ext cx="304800" cy="3048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2000" y="19000"/>
                      </ns2:moveTo>
                      <ns2:lnTo>
                        <ns2:pt x="3000" y="19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9050" cap="rnd">
                  <ns4:solidFill>
                    <ns4:srgbClr val="327EA6"/>
                  </ns4:solidFill>
                </ns4:ln>
              </p:spPr>
            </p:sp>
            <p:sp>
              <p:nvSpPr>
                <p:cNvPr id="10066" name="sliders-horizontal-2"/>
                <p:cNvSpPr/>
                <p:nvPr/>
              </p:nvSpPr>
              <p:spPr>
                <ns1:xfrm xmlns:ns1="http://schemas.openxmlformats.org/drawingml/2006/main">
                  <ns1:off x="285750" y="2571750"/>
                  <ns1:ext cx="304800" cy="3048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4000" y="3000"/>
                      </ns2:moveTo>
                      <ns2:lnTo>
                        <ns2:pt x="14000" y="7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9050" cap="rnd">
                  <ns4:solidFill>
                    <ns4:srgbClr val="327EA6"/>
                  </ns4:solidFill>
                </ns4:ln>
              </p:spPr>
            </p:sp>
            <p:sp>
              <p:nvSpPr>
                <p:cNvPr id="10067" name="sliders-horizontal-3"/>
                <p:cNvSpPr/>
                <p:nvPr/>
              </p:nvSpPr>
              <p:spPr>
                <ns1:xfrm xmlns:ns1="http://schemas.openxmlformats.org/drawingml/2006/main">
                  <ns1:off x="285750" y="2571750"/>
                  <ns1:ext cx="304800" cy="3048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6000" y="17000"/>
                      </ns2:moveTo>
                      <ns2:lnTo>
                        <ns2:pt x="16000" y="21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9050" cap="rnd">
                  <ns4:solidFill>
                    <ns4:srgbClr val="327EA6"/>
                  </ns4:solidFill>
                </ns4:ln>
              </p:spPr>
            </p:sp>
            <p:sp>
              <p:nvSpPr>
                <p:cNvPr id="10068" name="sliders-horizontal-4"/>
                <p:cNvSpPr/>
                <p:nvPr/>
              </p:nvSpPr>
              <p:spPr>
                <ns1:xfrm xmlns:ns1="http://schemas.openxmlformats.org/drawingml/2006/main">
                  <ns1:off x="285750" y="2571750"/>
                  <ns1:ext cx="304800" cy="3048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21000" y="12000"/>
                      </ns2:moveTo>
                      <ns2:lnTo>
                        <ns2:pt x="12000" y="12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9050" cap="rnd">
                  <ns4:solidFill>
                    <ns4:srgbClr val="327EA6"/>
                  </ns4:solidFill>
                </ns4:ln>
              </p:spPr>
            </p:sp>
            <p:sp>
              <p:nvSpPr>
                <p:cNvPr id="10069" name="sliders-horizontal-5"/>
                <p:cNvSpPr/>
                <p:nvPr/>
              </p:nvSpPr>
              <p:spPr>
                <ns1:xfrm xmlns:ns1="http://schemas.openxmlformats.org/drawingml/2006/main">
                  <ns1:off x="285750" y="2571750"/>
                  <ns1:ext cx="304800" cy="3048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21000" y="19000"/>
                      </ns2:moveTo>
                      <ns2:lnTo>
                        <ns2:pt x="16000" y="19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9050" cap="rnd">
                  <ns4:solidFill>
                    <ns4:srgbClr val="327EA6"/>
                  </ns4:solidFill>
                </ns4:ln>
              </p:spPr>
            </p:sp>
            <p:sp>
              <p:nvSpPr>
                <p:cNvPr id="10070" name="sliders-horizontal-6"/>
                <p:cNvSpPr/>
                <p:nvPr/>
              </p:nvSpPr>
              <p:spPr>
                <ns1:xfrm xmlns:ns1="http://schemas.openxmlformats.org/drawingml/2006/main">
                  <ns1:off x="285750" y="2571750"/>
                  <ns1:ext cx="304800" cy="3048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21000" y="5000"/>
                      </ns2:moveTo>
                      <ns2:lnTo>
                        <ns2:pt x="14000" y="5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9050" cap="rnd">
                  <ns4:solidFill>
                    <ns4:srgbClr val="327EA6"/>
                  </ns4:solidFill>
                </ns4:ln>
              </p:spPr>
            </p:sp>
            <p:sp>
              <p:nvSpPr>
                <p:cNvPr id="10071" name="sliders-horizontal-7"/>
                <p:cNvSpPr/>
                <p:nvPr/>
              </p:nvSpPr>
              <p:spPr>
                <ns1:xfrm xmlns:ns1="http://schemas.openxmlformats.org/drawingml/2006/main">
                  <ns1:off x="285750" y="2571750"/>
                  <ns1:ext cx="304800" cy="3048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8000" y="10000"/>
                      </ns2:moveTo>
                      <ns2:lnTo>
                        <ns2:pt x="8000" y="14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9050" cap="rnd">
                  <ns4:solidFill>
                    <ns4:srgbClr val="327EA6"/>
                  </ns4:solidFill>
                </ns4:ln>
              </p:spPr>
            </p:sp>
            <p:sp>
              <p:nvSpPr>
                <p:cNvPr id="10072" name="sliders-horizontal-8"/>
                <p:cNvSpPr/>
                <p:nvPr/>
              </p:nvSpPr>
              <p:spPr>
                <ns1:xfrm xmlns:ns1="http://schemas.openxmlformats.org/drawingml/2006/main">
                  <ns1:off x="285750" y="2571750"/>
                  <ns1:ext cx="304800" cy="3048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8000" y="12000"/>
                      </ns2:moveTo>
                      <ns2:lnTo>
                        <ns2:pt x="3000" y="12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9050" cap="rnd">
                  <ns4:solidFill>
                    <ns4:srgbClr val="327EA6"/>
                  </ns4:solidFill>
                </ns4:ln>
              </p:spPr>
            </p:sp>
          </p:grpSp>
          <p:sp>
            <p:nvSpPr>
              <p:cNvPr id="10074" name="Temporal&#10;processing"/>
              <p:cNvSpPr/>
              <p:nvPr/>
            </p:nvSpPr>
            <p:spPr>
              <ns1:xfrm xmlns:ns1="http://schemas.openxmlformats.org/drawingml/2006/main">
                <ns1:off x="695325" y="2476500"/>
                <ns1:ext cx="1133475" cy="542925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l"/>
                <ns7:r>
                  <ns7:rPr sz="1575" b="1">
                    <ns7:solidFill>
                      <ns7:srgbClr val="327EA6"/>
                    </ns7:solidFill>
                    <ns7:latin typeface="Times New Roman"/>
                    <ns7:ea typeface="Times New Roman"/>
                  </ns7:rPr>
                  <ns7:t>Temporal</ns7:t>
                </ns7:r>
              </ns7:p>
              <ns8:p xmlns:ns8="http://schemas.openxmlformats.org/drawingml/2006/main">
                <ns8:pPr algn="l"/>
                <ns8:r>
                  <ns8:rPr sz="1575" b="1">
                    <ns8:solidFill>
                      <ns8:srgbClr val="327EA6"/>
                    </ns8:solidFill>
                    <ns8:latin typeface="Times New Roman"/>
                    <ns8:ea typeface="Times New Roman"/>
                  </ns8:rPr>
                  <ns8:t>processing</ns8:t>
                </ns8:r>
              </ns8:p>
            </p:txBody>
          </p:sp>
          <p:grpSp>
            <p:nvGrpSpPr>
              <p:cNvPr id="10085" name="calendar-days editable icon"/>
              <p:cNvGrpSpPr/>
              <p:nvPr/>
            </p:nvGrpSpPr>
            <p:grpSpPr>
              <ns1:xfrm xmlns:ns1="http://schemas.openxmlformats.org/drawingml/2006/main">
                <ns1:off x="1981200" y="2600325"/>
                <ns1:ext cx="285750" cy="285750"/>
                <ns1:chOff x="1981200" y="2600325"/>
                <ns1:chExt cx="285750" cy="285750"/>
              </ns1:xfrm>
            </p:grpSpPr>
            <p:sp>
              <p:nvSpPr>
                <p:cNvPr id="10075" name="calendar-days-0"/>
                <p:cNvSpPr/>
                <p:nvPr/>
              </p:nvSpPr>
              <p:spPr>
                <ns1:xfrm xmlns:ns1="http://schemas.openxmlformats.org/drawingml/2006/main">
                  <ns1:off x="1981200" y="2600325"/>
                  <ns1:ext cx="285750" cy="28575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8000" y="2000"/>
                      </ns2:moveTo>
                      <ns2:lnTo>
                        <ns2:pt x="8000" y="5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7859" cap="rnd">
                  <ns4:solidFill>
                    <ns4:srgbClr val="327EA6"/>
                  </ns4:solidFill>
                </ns4:ln>
              </p:spPr>
            </p:sp>
            <p:sp>
              <p:nvSpPr>
                <p:cNvPr id="10076" name="calendar-days-1"/>
                <p:cNvSpPr/>
                <p:nvPr/>
              </p:nvSpPr>
              <p:spPr>
                <ns1:xfrm xmlns:ns1="http://schemas.openxmlformats.org/drawingml/2006/main">
                  <ns1:off x="1981200" y="2600325"/>
                  <ns1:ext cx="285750" cy="28575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6000" y="2000"/>
                      </ns2:moveTo>
                      <ns2:lnTo>
                        <ns2:pt x="16000" y="5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7859" cap="rnd">
                  <ns4:solidFill>
                    <ns4:srgbClr val="327EA6"/>
                  </ns4:solidFill>
                </ns4:ln>
              </p:spPr>
            </p:sp>
            <p:sp>
              <p:nvSpPr>
                <p:cNvPr id="10077" name="calendar-days-2"/>
                <p:cNvSpPr/>
                <p:nvPr/>
              </p:nvSpPr>
              <p:spPr>
                <ns1:xfrm xmlns:ns1="http://schemas.openxmlformats.org/drawingml/2006/main">
                  <ns1:off x="2016919" y="2636044"/>
                  <ns1:ext cx="214312" cy="214312"/>
                </ns1:xfrm>
                <ns2:prstGeom xmlns:ns2="http://schemas.openxmlformats.org/drawingml/2006/main" prst="roundRect">
                  <ns2:avLst/>
                </ns2:prstGeom>
                <ns3:noFill xmlns:ns3="http://schemas.openxmlformats.org/drawingml/2006/main"/>
                <ns5:ln xmlns:ns5="http://schemas.openxmlformats.org/drawingml/2006/main" w="17859" cap="rnd">
                  <ns5:solidFill>
                    <ns5:srgbClr val="327EA6"/>
                  </ns5:solidFill>
                </ns5:ln>
              </p:spPr>
            </p:sp>
            <p:sp>
              <p:nvSpPr>
                <p:cNvPr id="10078" name="calendar-days-3"/>
                <p:cNvSpPr/>
                <p:nvPr/>
              </p:nvSpPr>
              <p:spPr>
                <ns1:xfrm xmlns:ns1="http://schemas.openxmlformats.org/drawingml/2006/main">
                  <ns1:off x="1981200" y="2600325"/>
                  <ns1:ext cx="285750" cy="28575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3000" y="9000"/>
                      </ns2:moveTo>
                      <ns2:lnTo>
                        <ns2:pt x="21000" y="9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7859" cap="rnd">
                  <ns4:solidFill>
                    <ns4:srgbClr val="327EA6"/>
                  </ns4:solidFill>
                </ns4:ln>
              </p:spPr>
            </p:sp>
            <p:sp>
              <p:nvSpPr>
                <p:cNvPr id="10079" name="calendar-days-4"/>
                <p:cNvSpPr/>
                <p:nvPr/>
              </p:nvSpPr>
              <p:spPr>
                <ns1:xfrm xmlns:ns1="http://schemas.openxmlformats.org/drawingml/2006/main">
                  <ns1:off x="1981200" y="2600325"/>
                  <ns1:ext cx="285750" cy="28575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8000" y="13000"/>
                      </ns2:moveTo>
                      <ns2:lnTo>
                        <ns2:pt x="8010" y="13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7859" cap="rnd">
                  <ns4:solidFill>
                    <ns4:srgbClr val="327EA6"/>
                  </ns4:solidFill>
                </ns4:ln>
              </p:spPr>
            </p:sp>
            <p:sp>
              <p:nvSpPr>
                <p:cNvPr id="10080" name="calendar-days-5"/>
                <p:cNvSpPr/>
                <p:nvPr/>
              </p:nvSpPr>
              <p:spPr>
                <ns1:xfrm xmlns:ns1="http://schemas.openxmlformats.org/drawingml/2006/main">
                  <ns1:off x="1981200" y="2600325"/>
                  <ns1:ext cx="285750" cy="28575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2000" y="13000"/>
                      </ns2:moveTo>
                      <ns2:lnTo>
                        <ns2:pt x="12010" y="13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7859" cap="rnd">
                  <ns4:solidFill>
                    <ns4:srgbClr val="327EA6"/>
                  </ns4:solidFill>
                </ns4:ln>
              </p:spPr>
            </p:sp>
            <p:sp>
              <p:nvSpPr>
                <p:cNvPr id="10081" name="calendar-days-6"/>
                <p:cNvSpPr/>
                <p:nvPr/>
              </p:nvSpPr>
              <p:spPr>
                <ns1:xfrm xmlns:ns1="http://schemas.openxmlformats.org/drawingml/2006/main">
                  <ns1:off x="1981200" y="2600325"/>
                  <ns1:ext cx="285750" cy="28575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6000" y="13000"/>
                      </ns2:moveTo>
                      <ns2:lnTo>
                        <ns2:pt x="16010" y="13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7859" cap="rnd">
                  <ns4:solidFill>
                    <ns4:srgbClr val="327EA6"/>
                  </ns4:solidFill>
                </ns4:ln>
              </p:spPr>
            </p:sp>
            <p:sp>
              <p:nvSpPr>
                <p:cNvPr id="10082" name="calendar-days-7"/>
                <p:cNvSpPr/>
                <p:nvPr/>
              </p:nvSpPr>
              <p:spPr>
                <ns1:xfrm xmlns:ns1="http://schemas.openxmlformats.org/drawingml/2006/main">
                  <ns1:off x="1981200" y="2600325"/>
                  <ns1:ext cx="285750" cy="28575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8000" y="17000"/>
                      </ns2:moveTo>
                      <ns2:lnTo>
                        <ns2:pt x="8010" y="17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7859" cap="rnd">
                  <ns4:solidFill>
                    <ns4:srgbClr val="327EA6"/>
                  </ns4:solidFill>
                </ns4:ln>
              </p:spPr>
            </p:sp>
            <p:sp>
              <p:nvSpPr>
                <p:cNvPr id="10083" name="calendar-days-8"/>
                <p:cNvSpPr/>
                <p:nvPr/>
              </p:nvSpPr>
              <p:spPr>
                <ns1:xfrm xmlns:ns1="http://schemas.openxmlformats.org/drawingml/2006/main">
                  <ns1:off x="1981200" y="2600325"/>
                  <ns1:ext cx="285750" cy="28575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2000" y="17000"/>
                      </ns2:moveTo>
                      <ns2:lnTo>
                        <ns2:pt x="12010" y="17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7859" cap="rnd">
                  <ns4:solidFill>
                    <ns4:srgbClr val="327EA6"/>
                  </ns4:solidFill>
                </ns4:ln>
              </p:spPr>
            </p:sp>
            <p:sp>
              <p:nvSpPr>
                <p:cNvPr id="10084" name="calendar-days-9"/>
                <p:cNvSpPr/>
                <p:nvPr/>
              </p:nvSpPr>
              <p:spPr>
                <ns1:xfrm xmlns:ns1="http://schemas.openxmlformats.org/drawingml/2006/main">
                  <ns1:off x="1981200" y="2600325"/>
                  <ns1:ext cx="285750" cy="28575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6000" y="17000"/>
                      </ns2:moveTo>
                      <ns2:lnTo>
                        <ns2:pt x="16010" y="17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7859" cap="rnd">
                  <ns4:solidFill>
                    <ns4:srgbClr val="327EA6"/>
                  </ns4:solidFill>
                </ns4:ln>
              </p:spPr>
            </p:sp>
          </p:grpSp>
          <p:sp>
            <p:nvSpPr>
              <p:cNvPr id="10086" name="Forecast windows"/>
              <p:cNvSpPr/>
              <p:nvPr/>
            </p:nvSpPr>
            <p:spPr>
              <ns1:xfrm xmlns:ns1="http://schemas.openxmlformats.org/drawingml/2006/main">
                <ns1:off x="2352675" y="2495550"/>
                <ns1:ext cx="1781175" cy="51435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l"/>
                <ns7:r>
                  <ns7:rPr sz="1575" b="0">
                    <ns7:solidFill>
                      <ns7:srgbClr val="25465E"/>
                    </ns7:solidFill>
                    <ns7:latin typeface="Times New Roman"/>
                    <ns7:ea typeface="Times New Roman"/>
                  </ns7:rPr>
                  <ns7:t>Forecast windows</ns7:t>
                </ns7:r>
              </ns7:p>
            </p:txBody>
          </p:sp>
          <p:grpSp>
            <p:nvGrpSpPr>
              <p:cNvPr id="10096" name="sliders-horizontal editable icon"/>
              <p:cNvGrpSpPr/>
              <p:nvPr/>
            </p:nvGrpSpPr>
            <p:grpSpPr>
              <ns1:xfrm xmlns:ns1="http://schemas.openxmlformats.org/drawingml/2006/main">
                <ns1:off x="4314825" y="2600325"/>
                <ns1:ext cx="285750" cy="285750"/>
                <ns1:chOff x="4314825" y="2600325"/>
                <ns1:chExt cx="285750" cy="285750"/>
              </ns1:xfrm>
            </p:grpSpPr>
            <p:sp>
              <p:nvSpPr>
                <p:cNvPr id="10087" name="sliders-horizontal-0"/>
                <p:cNvSpPr/>
                <p:nvPr/>
              </p:nvSpPr>
              <p:spPr>
                <ns1:xfrm xmlns:ns1="http://schemas.openxmlformats.org/drawingml/2006/main">
                  <ns1:off x="4314825" y="2600325"/>
                  <ns1:ext cx="285750" cy="28575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0000" y="5000"/>
                      </ns2:moveTo>
                      <ns2:lnTo>
                        <ns2:pt x="3000" y="5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7859" cap="rnd">
                  <ns4:solidFill>
                    <ns4:srgbClr val="705A99"/>
                  </ns4:solidFill>
                </ns4:ln>
              </p:spPr>
            </p:sp>
            <p:sp>
              <p:nvSpPr>
                <p:cNvPr id="10088" name="sliders-horizontal-1"/>
                <p:cNvSpPr/>
                <p:nvPr/>
              </p:nvSpPr>
              <p:spPr>
                <ns1:xfrm xmlns:ns1="http://schemas.openxmlformats.org/drawingml/2006/main">
                  <ns1:off x="4314825" y="2600325"/>
                  <ns1:ext cx="285750" cy="28575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2000" y="19000"/>
                      </ns2:moveTo>
                      <ns2:lnTo>
                        <ns2:pt x="3000" y="19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7859" cap="rnd">
                  <ns4:solidFill>
                    <ns4:srgbClr val="705A99"/>
                  </ns4:solidFill>
                </ns4:ln>
              </p:spPr>
            </p:sp>
            <p:sp>
              <p:nvSpPr>
                <p:cNvPr id="10089" name="sliders-horizontal-2"/>
                <p:cNvSpPr/>
                <p:nvPr/>
              </p:nvSpPr>
              <p:spPr>
                <ns1:xfrm xmlns:ns1="http://schemas.openxmlformats.org/drawingml/2006/main">
                  <ns1:off x="4314825" y="2600325"/>
                  <ns1:ext cx="285750" cy="28575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4000" y="3000"/>
                      </ns2:moveTo>
                      <ns2:lnTo>
                        <ns2:pt x="14000" y="7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7859" cap="rnd">
                  <ns4:solidFill>
                    <ns4:srgbClr val="705A99"/>
                  </ns4:solidFill>
                </ns4:ln>
              </p:spPr>
            </p:sp>
            <p:sp>
              <p:nvSpPr>
                <p:cNvPr id="10090" name="sliders-horizontal-3"/>
                <p:cNvSpPr/>
                <p:nvPr/>
              </p:nvSpPr>
              <p:spPr>
                <ns1:xfrm xmlns:ns1="http://schemas.openxmlformats.org/drawingml/2006/main">
                  <ns1:off x="4314825" y="2600325"/>
                  <ns1:ext cx="285750" cy="28575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6000" y="17000"/>
                      </ns2:moveTo>
                      <ns2:lnTo>
                        <ns2:pt x="16000" y="21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7859" cap="rnd">
                  <ns4:solidFill>
                    <ns4:srgbClr val="705A99"/>
                  </ns4:solidFill>
                </ns4:ln>
              </p:spPr>
            </p:sp>
            <p:sp>
              <p:nvSpPr>
                <p:cNvPr id="10091" name="sliders-horizontal-4"/>
                <p:cNvSpPr/>
                <p:nvPr/>
              </p:nvSpPr>
              <p:spPr>
                <ns1:xfrm xmlns:ns1="http://schemas.openxmlformats.org/drawingml/2006/main">
                  <ns1:off x="4314825" y="2600325"/>
                  <ns1:ext cx="285750" cy="28575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21000" y="12000"/>
                      </ns2:moveTo>
                      <ns2:lnTo>
                        <ns2:pt x="12000" y="12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7859" cap="rnd">
                  <ns4:solidFill>
                    <ns4:srgbClr val="705A99"/>
                  </ns4:solidFill>
                </ns4:ln>
              </p:spPr>
            </p:sp>
            <p:sp>
              <p:nvSpPr>
                <p:cNvPr id="10092" name="sliders-horizontal-5"/>
                <p:cNvSpPr/>
                <p:nvPr/>
              </p:nvSpPr>
              <p:spPr>
                <ns1:xfrm xmlns:ns1="http://schemas.openxmlformats.org/drawingml/2006/main">
                  <ns1:off x="4314825" y="2600325"/>
                  <ns1:ext cx="285750" cy="28575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21000" y="19000"/>
                      </ns2:moveTo>
                      <ns2:lnTo>
                        <ns2:pt x="16000" y="19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7859" cap="rnd">
                  <ns4:solidFill>
                    <ns4:srgbClr val="705A99"/>
                  </ns4:solidFill>
                </ns4:ln>
              </p:spPr>
            </p:sp>
            <p:sp>
              <p:nvSpPr>
                <p:cNvPr id="10093" name="sliders-horizontal-6"/>
                <p:cNvSpPr/>
                <p:nvPr/>
              </p:nvSpPr>
              <p:spPr>
                <ns1:xfrm xmlns:ns1="http://schemas.openxmlformats.org/drawingml/2006/main">
                  <ns1:off x="4314825" y="2600325"/>
                  <ns1:ext cx="285750" cy="28575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21000" y="5000"/>
                      </ns2:moveTo>
                      <ns2:lnTo>
                        <ns2:pt x="14000" y="5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7859" cap="rnd">
                  <ns4:solidFill>
                    <ns4:srgbClr val="705A99"/>
                  </ns4:solidFill>
                </ns4:ln>
              </p:spPr>
            </p:sp>
            <p:sp>
              <p:nvSpPr>
                <p:cNvPr id="10094" name="sliders-horizontal-7"/>
                <p:cNvSpPr/>
                <p:nvPr/>
              </p:nvSpPr>
              <p:spPr>
                <ns1:xfrm xmlns:ns1="http://schemas.openxmlformats.org/drawingml/2006/main">
                  <ns1:off x="4314825" y="2600325"/>
                  <ns1:ext cx="285750" cy="28575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8000" y="10000"/>
                      </ns2:moveTo>
                      <ns2:lnTo>
                        <ns2:pt x="8000" y="14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7859" cap="rnd">
                  <ns4:solidFill>
                    <ns4:srgbClr val="705A99"/>
                  </ns4:solidFill>
                </ns4:ln>
              </p:spPr>
            </p:sp>
            <p:sp>
              <p:nvSpPr>
                <p:cNvPr id="10095" name="sliders-horizontal-8"/>
                <p:cNvSpPr/>
                <p:nvPr/>
              </p:nvSpPr>
              <p:spPr>
                <ns1:xfrm xmlns:ns1="http://schemas.openxmlformats.org/drawingml/2006/main">
                  <ns1:off x="4314825" y="2600325"/>
                  <ns1:ext cx="285750" cy="28575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8000" y="12000"/>
                      </ns2:moveTo>
                      <ns2:lnTo>
                        <ns2:pt x="3000" y="12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7859" cap="rnd">
                  <ns4:solidFill>
                    <ns4:srgbClr val="705A99"/>
                  </ns4:solidFill>
                </ns4:ln>
              </p:spPr>
            </p:sp>
          </p:grpSp>
          <p:sp>
            <p:nvSpPr>
              <p:cNvPr id="10097" name="Segment transforms"/>
              <p:cNvSpPr/>
              <p:nvPr/>
            </p:nvSpPr>
            <p:spPr>
              <ns1:xfrm xmlns:ns1="http://schemas.openxmlformats.org/drawingml/2006/main">
                <ns1:off x="4686300" y="2495550"/>
                <ns1:ext cx="1781175" cy="51435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l"/>
                <ns7:r>
                  <ns7:rPr sz="1575" b="0">
                    <ns7:solidFill>
                      <ns7:srgbClr val="25465E"/>
                    </ns7:solidFill>
                    <ns7:latin typeface="Times New Roman"/>
                    <ns7:ea typeface="Times New Roman"/>
                  </ns7:rPr>
                  <ns7:t>Segment transforms</ns7:t>
                </ns7:r>
              </ns7:p>
            </p:txBody>
          </p:sp>
          <p:grpSp>
            <p:nvGrpSpPr>
              <p:cNvPr id="10104" name="chart-no-axes-combined editable icon"/>
              <p:cNvGrpSpPr/>
              <p:nvPr/>
            </p:nvGrpSpPr>
            <p:grpSpPr>
              <ns1:xfrm xmlns:ns1="http://schemas.openxmlformats.org/drawingml/2006/main">
                <ns1:off x="6648450" y="2600325"/>
                <ns1:ext cx="285750" cy="285750"/>
                <ns1:chOff x="6648450" y="2600325"/>
                <ns1:chExt cx="285750" cy="285750"/>
              </ns1:xfrm>
            </p:grpSpPr>
            <p:sp>
              <p:nvSpPr>
                <p:cNvPr id="10098" name="chart-no-axes-combined-0"/>
                <p:cNvSpPr/>
                <p:nvPr/>
              </p:nvSpPr>
              <p:spPr>
                <ns1:xfrm xmlns:ns1="http://schemas.openxmlformats.org/drawingml/2006/main">
                  <ns1:off x="6648450" y="2600325"/>
                  <ns1:ext cx="285750" cy="28575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2000" y="16000"/>
                      </ns2:moveTo>
                      <ns2:lnTo>
                        <ns2:pt x="12000" y="21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7859" cap="rnd">
                  <ns4:solidFill>
                    <ns4:srgbClr val="358972"/>
                  </ns4:solidFill>
                </ns4:ln>
              </p:spPr>
            </p:sp>
            <p:sp>
              <p:nvSpPr>
                <p:cNvPr id="10099" name="chart-no-axes-combined-1"/>
                <p:cNvSpPr/>
                <p:nvPr/>
              </p:nvSpPr>
              <p:spPr>
                <ns1:xfrm xmlns:ns1="http://schemas.openxmlformats.org/drawingml/2006/main">
                  <ns1:off x="6648450" y="2600325"/>
                  <ns1:ext cx="285750" cy="28575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6000" y="14639"/>
                      </ns2:moveTo>
                      <ns2:lnTo>
                        <ns2:pt x="16000" y="21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7859" cap="rnd">
                  <ns4:solidFill>
                    <ns4:srgbClr val="358972"/>
                  </ns4:solidFill>
                </ns4:ln>
              </p:spPr>
            </p:sp>
            <p:sp>
              <p:nvSpPr>
                <p:cNvPr id="10100" name="chart-no-axes-combined-2"/>
                <p:cNvSpPr/>
                <p:nvPr/>
              </p:nvSpPr>
              <p:spPr>
                <ns1:xfrm xmlns:ns1="http://schemas.openxmlformats.org/drawingml/2006/main">
                  <ns1:off x="6648450" y="2600325"/>
                  <ns1:ext cx="285750" cy="28575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20000" y="10656"/>
                      </ns2:moveTo>
                      <ns2:lnTo>
                        <ns2:pt x="20000" y="21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7859" cap="rnd">
                  <ns4:solidFill>
                    <ns4:srgbClr val="358972"/>
                  </ns4:solidFill>
                </ns4:ln>
              </p:spPr>
            </p:sp>
            <p:sp>
              <p:nvSpPr>
                <p:cNvPr id="10101" name="chart-no-axes-combined-3"/>
                <p:cNvSpPr/>
                <p:nvPr/>
              </p:nvSpPr>
              <p:spPr>
                <ns1:xfrm xmlns:ns1="http://schemas.openxmlformats.org/drawingml/2006/main">
                  <ns1:off x="6648450" y="2600325"/>
                  <ns1:ext cx="285750" cy="28575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22000" y="3000"/>
                      </ns2:moveTo>
                      <ns2:lnTo>
                        <ns2:pt x="13354" y="11646"/>
                      </ns2:lnTo>
                      <ns2:cubicBezTo>
                        <ns2:pt x="13260" y="11740"/>
                        <ns2:pt x="13133" y="11793"/>
                        <ns2:pt x="13000" y="11793"/>
                      </ns2:cubicBezTo>
                      <ns2:cubicBezTo>
                        <ns2:pt x="12867" y="11793"/>
                        <ns2:pt x="12740" y="11740"/>
                        <ns2:pt x="12646" y="11646"/>
                      </ns2:cubicBezTo>
                      <ns2:lnTo>
                        <ns2:pt x="9354" y="8354"/>
                      </ns2:lnTo>
                      <ns2:cubicBezTo>
                        <ns2:pt x="9159" y="8159"/>
                        <ns2:pt x="8842" y="8159"/>
                        <ns2:pt x="8647" y="8354"/>
                      </ns2:cubicBezTo>
                      <ns2:lnTo>
                        <ns2:pt x="2000" y="15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7859" cap="rnd">
                  <ns4:solidFill>
                    <ns4:srgbClr val="358972"/>
                  </ns4:solidFill>
                </ns4:ln>
              </p:spPr>
            </p:sp>
            <p:sp>
              <p:nvSpPr>
                <p:cNvPr id="10102" name="chart-no-axes-combined-4"/>
                <p:cNvSpPr/>
                <p:nvPr/>
              </p:nvSpPr>
              <p:spPr>
                <ns1:xfrm xmlns:ns1="http://schemas.openxmlformats.org/drawingml/2006/main">
                  <ns1:off x="6648450" y="2600325"/>
                  <ns1:ext cx="285750" cy="28575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4000" y="18463"/>
                      </ns2:moveTo>
                      <ns2:lnTo>
                        <ns2:pt x="4000" y="21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7859" cap="rnd">
                  <ns4:solidFill>
                    <ns4:srgbClr val="358972"/>
                  </ns4:solidFill>
                </ns4:ln>
              </p:spPr>
            </p:sp>
            <p:sp>
              <p:nvSpPr>
                <p:cNvPr id="10103" name="chart-no-axes-combined-5"/>
                <p:cNvSpPr/>
                <p:nvPr/>
              </p:nvSpPr>
              <p:spPr>
                <ns1:xfrm xmlns:ns1="http://schemas.openxmlformats.org/drawingml/2006/main">
                  <ns1:off x="6648450" y="2600325"/>
                  <ns1:ext cx="285750" cy="28575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8000" y="14656"/>
                      </ns2:moveTo>
                      <ns2:lnTo>
                        <ns2:pt x="8000" y="21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7859" cap="rnd">
                  <ns4:solidFill>
                    <ns4:srgbClr val="358972"/>
                  </ns4:solidFill>
                </ns4:ln>
              </p:spPr>
            </p:sp>
          </p:grpSp>
          <p:sp>
            <p:nvSpPr>
              <p:cNvPr id="10105" name="Changes &amp; relations"/>
              <p:cNvSpPr/>
              <p:nvPr/>
            </p:nvSpPr>
            <p:spPr>
              <ns1:xfrm xmlns:ns1="http://schemas.openxmlformats.org/drawingml/2006/main">
                <ns1:off x="7019925" y="2495550"/>
                <ns1:ext cx="1781175" cy="51435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l"/>
                <ns7:r>
                  <ns7:rPr sz="1575" b="0">
                    <ns7:solidFill>
                      <ns7:srgbClr val="25465E"/>
                    </ns7:solidFill>
                    <ns7:latin typeface="Times New Roman"/>
                    <ns7:ea typeface="Times New Roman"/>
                  </ns7:rPr>
                  <ns7:t>Changes &amp; relations</ns7:t>
                </ns7:r>
              </ns7:p>
            </p:txBody>
          </p:sp>
          <p:grpSp>
            <p:nvGrpSpPr>
              <p:cNvPr id="10116" name="calendar-days editable icon"/>
              <p:cNvGrpSpPr/>
              <p:nvPr/>
            </p:nvGrpSpPr>
            <p:grpSpPr>
              <ns1:xfrm xmlns:ns1="http://schemas.openxmlformats.org/drawingml/2006/main">
                <ns1:off x="8982075" y="2600325"/>
                <ns1:ext cx="285750" cy="285750"/>
                <ns1:chOff x="8982075" y="2600325"/>
                <ns1:chExt cx="285750" cy="285750"/>
              </ns1:xfrm>
            </p:grpSpPr>
            <p:sp>
              <p:nvSpPr>
                <p:cNvPr id="10106" name="calendar-days-0"/>
                <p:cNvSpPr/>
                <p:nvPr/>
              </p:nvSpPr>
              <p:spPr>
                <ns1:xfrm xmlns:ns1="http://schemas.openxmlformats.org/drawingml/2006/main">
                  <ns1:off x="8982075" y="2600325"/>
                  <ns1:ext cx="285750" cy="28575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8000" y="2000"/>
                      </ns2:moveTo>
                      <ns2:lnTo>
                        <ns2:pt x="8000" y="5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7859" cap="rnd">
                  <ns4:solidFill>
                    <ns4:srgbClr val="A77838"/>
                  </ns4:solidFill>
                </ns4:ln>
              </p:spPr>
            </p:sp>
            <p:sp>
              <p:nvSpPr>
                <p:cNvPr id="10107" name="calendar-days-1"/>
                <p:cNvSpPr/>
                <p:nvPr/>
              </p:nvSpPr>
              <p:spPr>
                <ns1:xfrm xmlns:ns1="http://schemas.openxmlformats.org/drawingml/2006/main">
                  <ns1:off x="8982075" y="2600325"/>
                  <ns1:ext cx="285750" cy="28575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6000" y="2000"/>
                      </ns2:moveTo>
                      <ns2:lnTo>
                        <ns2:pt x="16000" y="5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7859" cap="rnd">
                  <ns4:solidFill>
                    <ns4:srgbClr val="A77838"/>
                  </ns4:solidFill>
                </ns4:ln>
              </p:spPr>
            </p:sp>
            <p:sp>
              <p:nvSpPr>
                <p:cNvPr id="10108" name="calendar-days-2"/>
                <p:cNvSpPr/>
                <p:nvPr/>
              </p:nvSpPr>
              <p:spPr>
                <ns1:xfrm xmlns:ns1="http://schemas.openxmlformats.org/drawingml/2006/main">
                  <ns1:off x="9017794" y="2636044"/>
                  <ns1:ext cx="214312" cy="214312"/>
                </ns1:xfrm>
                <ns2:prstGeom xmlns:ns2="http://schemas.openxmlformats.org/drawingml/2006/main" prst="roundRect">
                  <ns2:avLst/>
                </ns2:prstGeom>
                <ns3:noFill xmlns:ns3="http://schemas.openxmlformats.org/drawingml/2006/main"/>
                <ns5:ln xmlns:ns5="http://schemas.openxmlformats.org/drawingml/2006/main" w="17859" cap="rnd">
                  <ns5:solidFill>
                    <ns5:srgbClr val="A77838"/>
                  </ns5:solidFill>
                </ns5:ln>
              </p:spPr>
            </p:sp>
            <p:sp>
              <p:nvSpPr>
                <p:cNvPr id="10109" name="calendar-days-3"/>
                <p:cNvSpPr/>
                <p:nvPr/>
              </p:nvSpPr>
              <p:spPr>
                <ns1:xfrm xmlns:ns1="http://schemas.openxmlformats.org/drawingml/2006/main">
                  <ns1:off x="8982075" y="2600325"/>
                  <ns1:ext cx="285750" cy="28575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3000" y="9000"/>
                      </ns2:moveTo>
                      <ns2:lnTo>
                        <ns2:pt x="21000" y="9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7859" cap="rnd">
                  <ns4:solidFill>
                    <ns4:srgbClr val="A77838"/>
                  </ns4:solidFill>
                </ns4:ln>
              </p:spPr>
            </p:sp>
            <p:sp>
              <p:nvSpPr>
                <p:cNvPr id="10110" name="calendar-days-4"/>
                <p:cNvSpPr/>
                <p:nvPr/>
              </p:nvSpPr>
              <p:spPr>
                <ns1:xfrm xmlns:ns1="http://schemas.openxmlformats.org/drawingml/2006/main">
                  <ns1:off x="8982075" y="2600325"/>
                  <ns1:ext cx="285750" cy="28575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8000" y="13000"/>
                      </ns2:moveTo>
                      <ns2:lnTo>
                        <ns2:pt x="8010" y="13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7859" cap="rnd">
                  <ns4:solidFill>
                    <ns4:srgbClr val="A77838"/>
                  </ns4:solidFill>
                </ns4:ln>
              </p:spPr>
            </p:sp>
            <p:sp>
              <p:nvSpPr>
                <p:cNvPr id="10111" name="calendar-days-5"/>
                <p:cNvSpPr/>
                <p:nvPr/>
              </p:nvSpPr>
              <p:spPr>
                <ns1:xfrm xmlns:ns1="http://schemas.openxmlformats.org/drawingml/2006/main">
                  <ns1:off x="8982075" y="2600325"/>
                  <ns1:ext cx="285750" cy="28575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2000" y="13000"/>
                      </ns2:moveTo>
                      <ns2:lnTo>
                        <ns2:pt x="12010" y="13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7859" cap="rnd">
                  <ns4:solidFill>
                    <ns4:srgbClr val="A77838"/>
                  </ns4:solidFill>
                </ns4:ln>
              </p:spPr>
            </p:sp>
            <p:sp>
              <p:nvSpPr>
                <p:cNvPr id="10112" name="calendar-days-6"/>
                <p:cNvSpPr/>
                <p:nvPr/>
              </p:nvSpPr>
              <p:spPr>
                <ns1:xfrm xmlns:ns1="http://schemas.openxmlformats.org/drawingml/2006/main">
                  <ns1:off x="8982075" y="2600325"/>
                  <ns1:ext cx="285750" cy="28575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6000" y="13000"/>
                      </ns2:moveTo>
                      <ns2:lnTo>
                        <ns2:pt x="16010" y="13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7859" cap="rnd">
                  <ns4:solidFill>
                    <ns4:srgbClr val="A77838"/>
                  </ns4:solidFill>
                </ns4:ln>
              </p:spPr>
            </p:sp>
            <p:sp>
              <p:nvSpPr>
                <p:cNvPr id="10113" name="calendar-days-7"/>
                <p:cNvSpPr/>
                <p:nvPr/>
              </p:nvSpPr>
              <p:spPr>
                <ns1:xfrm xmlns:ns1="http://schemas.openxmlformats.org/drawingml/2006/main">
                  <ns1:off x="8982075" y="2600325"/>
                  <ns1:ext cx="285750" cy="28575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8000" y="17000"/>
                      </ns2:moveTo>
                      <ns2:lnTo>
                        <ns2:pt x="8010" y="17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7859" cap="rnd">
                  <ns4:solidFill>
                    <ns4:srgbClr val="A77838"/>
                  </ns4:solidFill>
                </ns4:ln>
              </p:spPr>
            </p:sp>
            <p:sp>
              <p:nvSpPr>
                <p:cNvPr id="10114" name="calendar-days-8"/>
                <p:cNvSpPr/>
                <p:nvPr/>
              </p:nvSpPr>
              <p:spPr>
                <ns1:xfrm xmlns:ns1="http://schemas.openxmlformats.org/drawingml/2006/main">
                  <ns1:off x="8982075" y="2600325"/>
                  <ns1:ext cx="285750" cy="28575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2000" y="17000"/>
                      </ns2:moveTo>
                      <ns2:lnTo>
                        <ns2:pt x="12010" y="17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7859" cap="rnd">
                  <ns4:solidFill>
                    <ns4:srgbClr val="A77838"/>
                  </ns4:solidFill>
                </ns4:ln>
              </p:spPr>
            </p:sp>
            <p:sp>
              <p:nvSpPr>
                <p:cNvPr id="10115" name="calendar-days-9"/>
                <p:cNvSpPr/>
                <p:nvPr/>
              </p:nvSpPr>
              <p:spPr>
                <ns1:xfrm xmlns:ns1="http://schemas.openxmlformats.org/drawingml/2006/main">
                  <ns1:off x="8982075" y="2600325"/>
                  <ns1:ext cx="285750" cy="28575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6000" y="17000"/>
                      </ns2:moveTo>
                      <ns2:lnTo>
                        <ns2:pt x="16010" y="17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7859" cap="rnd">
                  <ns4:solidFill>
                    <ns4:srgbClr val="A77838"/>
                  </ns4:solidFill>
                </ns4:ln>
              </p:spPr>
            </p:sp>
          </p:grpSp>
          <p:sp>
            <p:nvSpPr>
              <p:cNvPr id="10117" name="Decision windows"/>
              <p:cNvSpPr/>
              <p:nvPr/>
            </p:nvSpPr>
            <p:spPr>
              <ns1:xfrm xmlns:ns1="http://schemas.openxmlformats.org/drawingml/2006/main">
                <ns1:off x="9353550" y="2495550"/>
                <ns1:ext cx="1781175" cy="51435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l"/>
                <ns7:r>
                  <ns7:rPr sz="1575" b="0">
                    <ns7:solidFill>
                      <ns7:srgbClr val="25465E"/>
                    </ns7:solidFill>
                    <ns7:latin typeface="Times New Roman"/>
                    <ns7:ea typeface="Times New Roman"/>
                  </ns7:rPr>
                  <ns7:t>Decision windows</ns7:t>
                </ns7:r>
              </ns7:p>
            </p:txBody>
          </p:sp>
        </p:grpSp>
        <p:grpSp>
          <p:nvGrpSpPr>
            <p:cNvPr id="10152" name="Temporal function Context and memory"/>
            <p:cNvGrpSpPr/>
            <p:nvPr/>
          </p:nvGrpSpPr>
          <p:grpSpPr>
            <ns1:xfrm xmlns:ns1="http://schemas.openxmlformats.org/drawingml/2006/main">
              <ns1:off x="190500" y="3124200"/>
              <ns1:ext cx="11049000" cy="685800"/>
              <ns1:chOff x="190500" y="3124200"/>
              <ns1:chExt cx="11049000" cy="685800"/>
            </ns1:xfrm>
          </p:grpSpPr>
          <p:sp>
            <p:nvSpPr>
              <p:cNvPr id="10119" name="Row background"/>
              <p:cNvSpPr/>
              <p:nvPr/>
            </p:nvSpPr>
            <p:spPr>
              <ns1:xfrm xmlns:ns1="http://schemas.openxmlformats.org/drawingml/2006/main">
                <ns1:off x="190500" y="3124200"/>
                <ns1:ext cx="11049000" cy="685800"/>
              </ns1:xfrm>
              <ns2:prstGeom xmlns:ns2="http://schemas.openxmlformats.org/drawingml/2006/main" prst="rect">
                <ns2:avLst/>
              </ns2:prstGeom>
              <ns3:solidFill xmlns:ns3="http://schemas.openxmlformats.org/drawingml/2006/main">
                <ns3:srgbClr val="F5F8FA"/>
              </ns3:solidFill>
              <ns4:ln xmlns:ns4="http://schemas.openxmlformats.org/drawingml/2006/main" w="9525" cap="rnd">
                <ns4:noFill/>
              </ns4:ln>
            </p:spPr>
          </p:sp>
          <p:grpSp>
            <p:nvGrpSpPr>
              <p:cNvPr id="10122" name="book-open editable icon"/>
              <p:cNvGrpSpPr/>
              <p:nvPr/>
            </p:nvGrpSpPr>
            <p:grpSpPr>
              <ns1:xfrm xmlns:ns1="http://schemas.openxmlformats.org/drawingml/2006/main">
                <ns1:off x="285750" y="3295650"/>
                <ns1:ext cx="304800" cy="304800"/>
                <ns1:chOff x="285750" y="3295650"/>
                <ns1:chExt cx="304800" cy="304800"/>
              </ns1:xfrm>
            </p:grpSpPr>
            <p:sp>
              <p:nvSpPr>
                <p:cNvPr id="10120" name="book-open-0"/>
                <p:cNvSpPr/>
                <p:nvPr/>
              </p:nvSpPr>
              <p:spPr>
                <ns1:xfrm xmlns:ns1="http://schemas.openxmlformats.org/drawingml/2006/main">
                  <ns1:off x="285750" y="3295650"/>
                  <ns1:ext cx="304800" cy="3048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2000" y="5000"/>
                      </ns2:moveTo>
                      <ns2:lnTo>
                        <ns2:pt x="12000" y="21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9050" cap="rnd">
                  <ns4:solidFill>
                    <ns4:srgbClr val="327EA6"/>
                  </ns4:solidFill>
                </ns4:ln>
              </p:spPr>
            </p:sp>
            <p:sp>
              <p:nvSpPr>
                <p:cNvPr id="10121" name="book-open-1"/>
                <p:cNvSpPr/>
                <p:nvPr/>
              </p:nvSpPr>
              <p:spPr>
                <ns1:xfrm xmlns:ns1="http://schemas.openxmlformats.org/drawingml/2006/main">
                  <ns1:off x="285750" y="3295650"/>
                  <ns1:ext cx="304800" cy="3048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20001" y="19000"/>
                      </ns2:moveTo>
                      <ns2:cubicBezTo>
                        <ns2:pt x="21105" y="18999"/>
                        <ns2:pt x="22000" y="18104"/>
                        <ns2:pt x="22000" y="17000"/>
                      </ns2:cubicBezTo>
                      <ns2:lnTo>
                        <ns2:pt x="22000" y="5000"/>
                      </ns2:lnTo>
                      <ns2:cubicBezTo>
                        <ns2:pt x="22000" y="3896"/>
                        <ns2:pt x="21105" y="3001"/>
                        <ns2:pt x="20001" y="3000"/>
                      </ns2:cubicBezTo>
                      <ns2:lnTo>
                        <ns2:pt x="16000" y="3002"/>
                      </ns2:lnTo>
                      <ns2:cubicBezTo>
                        <ns2:pt x="14427" y="3002"/>
                        <ns2:pt x="12945" y="3742"/>
                        <ns2:pt x="12000" y="5000"/>
                      </ns2:cubicBezTo>
                      <ns2:cubicBezTo>
                        <ns2:pt x="11056" y="3741"/>
                        <ns2:pt x="9574" y="3000"/>
                        <ns2:pt x="8000" y="3000"/>
                      </ns2:cubicBezTo>
                      <ns2:lnTo>
                        <ns2:pt x="4000" y="3000"/>
                      </ns2:lnTo>
                      <ns2:cubicBezTo>
                        <ns2:pt x="2895" y="3000"/>
                        <ns2:pt x="2000" y="3895"/>
                        <ns2:pt x="2000" y="5000"/>
                      </ns2:cubicBezTo>
                      <ns2:lnTo>
                        <ns2:pt x="2000" y="17000"/>
                      </ns2:lnTo>
                      <ns2:cubicBezTo>
                        <ns2:pt x="2000" y="18104"/>
                        <ns2:pt x="2895" y="18999"/>
                        <ns2:pt x="3999" y="19000"/>
                      </ns2:cubicBezTo>
                      <ns2:lnTo>
                        <ns2:pt x="8000" y="19000"/>
                      </ns2:lnTo>
                      <ns2:cubicBezTo>
                        <ns2:pt x="9574" y="19000"/>
                        <ns2:pt x="11056" y="19741"/>
                        <ns2:pt x="12000" y="21000"/>
                      </ns2:cubicBezTo>
                      <ns2:cubicBezTo>
                        <ns2:pt x="12944" y="19741"/>
                        <ns2:pt x="14426" y="19000"/>
                        <ns2:pt x="16000" y="19000"/>
                      </ns2:cubicBezTo>
                      <ns2:lnTo>
                        <ns2:pt x="20001" y="19000"/>
                      </ns2:lnTo>
                      <ns2:close/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9050" cap="rnd">
                  <ns4:solidFill>
                    <ns4:srgbClr val="327EA6"/>
                  </ns4:solidFill>
                </ns4:ln>
              </p:spPr>
            </p:sp>
          </p:grpSp>
          <p:sp>
            <p:nvSpPr>
              <p:cNvPr id="10123" name="Context&#10;and memory"/>
              <p:cNvSpPr/>
              <p:nvPr/>
            </p:nvSpPr>
            <p:spPr>
              <ns1:xfrm xmlns:ns1="http://schemas.openxmlformats.org/drawingml/2006/main">
                <ns1:off x="695325" y="3200400"/>
                <ns1:ext cx="1133475" cy="542925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l"/>
                <ns7:r>
                  <ns7:rPr sz="1575" b="1">
                    <ns7:solidFill>
                      <ns7:srgbClr val="327EA6"/>
                    </ns7:solidFill>
                    <ns7:latin typeface="Times New Roman"/>
                    <ns7:ea typeface="Times New Roman"/>
                  </ns7:rPr>
                  <ns7:t>Context</ns7:t>
                </ns7:r>
              </ns7:p>
              <ns8:p xmlns:ns8="http://schemas.openxmlformats.org/drawingml/2006/main">
                <ns8:pPr algn="l"/>
                <ns8:r>
                  <ns8:rPr sz="1575" b="1">
                    <ns8:solidFill>
                      <ns8:srgbClr val="327EA6"/>
                    </ns8:solidFill>
                    <ns8:latin typeface="Times New Roman"/>
                    <ns8:ea typeface="Times New Roman"/>
                  </ns8:rPr>
                  <ns8:t>and memory</ns8:t>
                </ns8:r>
              </ns8:p>
            </p:txBody>
          </p:sp>
          <p:grpSp>
            <p:nvGrpSpPr>
              <p:cNvPr id="10134" name="calendar-days editable icon"/>
              <p:cNvGrpSpPr/>
              <p:nvPr/>
            </p:nvGrpSpPr>
            <p:grpSpPr>
              <ns1:xfrm xmlns:ns1="http://schemas.openxmlformats.org/drawingml/2006/main">
                <ns1:off x="1981200" y="3324225"/>
                <ns1:ext cx="285750" cy="285750"/>
                <ns1:chOff x="1981200" y="3324225"/>
                <ns1:chExt cx="285750" cy="285750"/>
              </ns1:xfrm>
            </p:grpSpPr>
            <p:sp>
              <p:nvSpPr>
                <p:cNvPr id="10124" name="calendar-days-0"/>
                <p:cNvSpPr/>
                <p:nvPr/>
              </p:nvSpPr>
              <p:spPr>
                <ns1:xfrm xmlns:ns1="http://schemas.openxmlformats.org/drawingml/2006/main">
                  <ns1:off x="1981200" y="3324225"/>
                  <ns1:ext cx="285750" cy="28575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8000" y="2000"/>
                      </ns2:moveTo>
                      <ns2:lnTo>
                        <ns2:pt x="8000" y="5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7859" cap="rnd">
                  <ns4:solidFill>
                    <ns4:srgbClr val="327EA6"/>
                  </ns4:solidFill>
                </ns4:ln>
              </p:spPr>
            </p:sp>
            <p:sp>
              <p:nvSpPr>
                <p:cNvPr id="10125" name="calendar-days-1"/>
                <p:cNvSpPr/>
                <p:nvPr/>
              </p:nvSpPr>
              <p:spPr>
                <ns1:xfrm xmlns:ns1="http://schemas.openxmlformats.org/drawingml/2006/main">
                  <ns1:off x="1981200" y="3324225"/>
                  <ns1:ext cx="285750" cy="28575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6000" y="2000"/>
                      </ns2:moveTo>
                      <ns2:lnTo>
                        <ns2:pt x="16000" y="5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7859" cap="rnd">
                  <ns4:solidFill>
                    <ns4:srgbClr val="327EA6"/>
                  </ns4:solidFill>
                </ns4:ln>
              </p:spPr>
            </p:sp>
            <p:sp>
              <p:nvSpPr>
                <p:cNvPr id="10126" name="calendar-days-2"/>
                <p:cNvSpPr/>
                <p:nvPr/>
              </p:nvSpPr>
              <p:spPr>
                <ns1:xfrm xmlns:ns1="http://schemas.openxmlformats.org/drawingml/2006/main">
                  <ns1:off x="2016919" y="3359944"/>
                  <ns1:ext cx="214312" cy="214312"/>
                </ns1:xfrm>
                <ns2:prstGeom xmlns:ns2="http://schemas.openxmlformats.org/drawingml/2006/main" prst="roundRect">
                  <ns2:avLst/>
                </ns2:prstGeom>
                <ns3:noFill xmlns:ns3="http://schemas.openxmlformats.org/drawingml/2006/main"/>
                <ns5:ln xmlns:ns5="http://schemas.openxmlformats.org/drawingml/2006/main" w="17859" cap="rnd">
                  <ns5:solidFill>
                    <ns5:srgbClr val="327EA6"/>
                  </ns5:solidFill>
                </ns5:ln>
              </p:spPr>
            </p:sp>
            <p:sp>
              <p:nvSpPr>
                <p:cNvPr id="10127" name="calendar-days-3"/>
                <p:cNvSpPr/>
                <p:nvPr/>
              </p:nvSpPr>
              <p:spPr>
                <ns1:xfrm xmlns:ns1="http://schemas.openxmlformats.org/drawingml/2006/main">
                  <ns1:off x="1981200" y="3324225"/>
                  <ns1:ext cx="285750" cy="28575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3000" y="9000"/>
                      </ns2:moveTo>
                      <ns2:lnTo>
                        <ns2:pt x="21000" y="9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7859" cap="rnd">
                  <ns4:solidFill>
                    <ns4:srgbClr val="327EA6"/>
                  </ns4:solidFill>
                </ns4:ln>
              </p:spPr>
            </p:sp>
            <p:sp>
              <p:nvSpPr>
                <p:cNvPr id="10128" name="calendar-days-4"/>
                <p:cNvSpPr/>
                <p:nvPr/>
              </p:nvSpPr>
              <p:spPr>
                <ns1:xfrm xmlns:ns1="http://schemas.openxmlformats.org/drawingml/2006/main">
                  <ns1:off x="1981200" y="3324225"/>
                  <ns1:ext cx="285750" cy="28575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8000" y="13000"/>
                      </ns2:moveTo>
                      <ns2:lnTo>
                        <ns2:pt x="8010" y="13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7859" cap="rnd">
                  <ns4:solidFill>
                    <ns4:srgbClr val="327EA6"/>
                  </ns4:solidFill>
                </ns4:ln>
              </p:spPr>
            </p:sp>
            <p:sp>
              <p:nvSpPr>
                <p:cNvPr id="10129" name="calendar-days-5"/>
                <p:cNvSpPr/>
                <p:nvPr/>
              </p:nvSpPr>
              <p:spPr>
                <ns1:xfrm xmlns:ns1="http://schemas.openxmlformats.org/drawingml/2006/main">
                  <ns1:off x="1981200" y="3324225"/>
                  <ns1:ext cx="285750" cy="28575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2000" y="13000"/>
                      </ns2:moveTo>
                      <ns2:lnTo>
                        <ns2:pt x="12010" y="13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7859" cap="rnd">
                  <ns4:solidFill>
                    <ns4:srgbClr val="327EA6"/>
                  </ns4:solidFill>
                </ns4:ln>
              </p:spPr>
            </p:sp>
            <p:sp>
              <p:nvSpPr>
                <p:cNvPr id="10130" name="calendar-days-6"/>
                <p:cNvSpPr/>
                <p:nvPr/>
              </p:nvSpPr>
              <p:spPr>
                <ns1:xfrm xmlns:ns1="http://schemas.openxmlformats.org/drawingml/2006/main">
                  <ns1:off x="1981200" y="3324225"/>
                  <ns1:ext cx="285750" cy="28575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6000" y="13000"/>
                      </ns2:moveTo>
                      <ns2:lnTo>
                        <ns2:pt x="16010" y="13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7859" cap="rnd">
                  <ns4:solidFill>
                    <ns4:srgbClr val="327EA6"/>
                  </ns4:solidFill>
                </ns4:ln>
              </p:spPr>
            </p:sp>
            <p:sp>
              <p:nvSpPr>
                <p:cNvPr id="10131" name="calendar-days-7"/>
                <p:cNvSpPr/>
                <p:nvPr/>
              </p:nvSpPr>
              <p:spPr>
                <ns1:xfrm xmlns:ns1="http://schemas.openxmlformats.org/drawingml/2006/main">
                  <ns1:off x="1981200" y="3324225"/>
                  <ns1:ext cx="285750" cy="28575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8000" y="17000"/>
                      </ns2:moveTo>
                      <ns2:lnTo>
                        <ns2:pt x="8010" y="17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7859" cap="rnd">
                  <ns4:solidFill>
                    <ns4:srgbClr val="327EA6"/>
                  </ns4:solidFill>
                </ns4:ln>
              </p:spPr>
            </p:sp>
            <p:sp>
              <p:nvSpPr>
                <p:cNvPr id="10132" name="calendar-days-8"/>
                <p:cNvSpPr/>
                <p:nvPr/>
              </p:nvSpPr>
              <p:spPr>
                <ns1:xfrm xmlns:ns1="http://schemas.openxmlformats.org/drawingml/2006/main">
                  <ns1:off x="1981200" y="3324225"/>
                  <ns1:ext cx="285750" cy="28575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2000" y="17000"/>
                      </ns2:moveTo>
                      <ns2:lnTo>
                        <ns2:pt x="12010" y="17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7859" cap="rnd">
                  <ns4:solidFill>
                    <ns4:srgbClr val="327EA6"/>
                  </ns4:solidFill>
                </ns4:ln>
              </p:spPr>
            </p:sp>
            <p:sp>
              <p:nvSpPr>
                <p:cNvPr id="10133" name="calendar-days-9"/>
                <p:cNvSpPr/>
                <p:nvPr/>
              </p:nvSpPr>
              <p:spPr>
                <ns1:xfrm xmlns:ns1="http://schemas.openxmlformats.org/drawingml/2006/main">
                  <ns1:off x="1981200" y="3324225"/>
                  <ns1:ext cx="285750" cy="28575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6000" y="17000"/>
                      </ns2:moveTo>
                      <ns2:lnTo>
                        <ns2:pt x="16010" y="17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7859" cap="rnd">
                  <ns4:solidFill>
                    <ns4:srgbClr val="327EA6"/>
                  </ns4:solidFill>
                </ns4:ln>
              </p:spPr>
            </p:sp>
          </p:grpSp>
          <p:sp>
            <p:nvSpPr>
              <p:cNvPr id="10135" name="Events &amp; cases"/>
              <p:cNvSpPr/>
              <p:nvPr/>
            </p:nvSpPr>
            <p:spPr>
              <ns1:xfrm xmlns:ns1="http://schemas.openxmlformats.org/drawingml/2006/main">
                <ns1:off x="2352675" y="3219450"/>
                <ns1:ext cx="1781175" cy="51435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l"/>
                <ns7:r>
                  <ns7:rPr sz="1575" b="0">
                    <ns7:solidFill>
                      <ns7:srgbClr val="25465E"/>
                    </ns7:solidFill>
                    <ns7:latin typeface="Times New Roman"/>
                    <ns7:ea typeface="Times New Roman"/>
                  </ns7:rPr>
                  <ns7:t>Events &amp; cases</ns7:t>
                </ns7:r>
              </ns7:p>
            </p:txBody>
          </p:sp>
          <p:grpSp>
            <p:nvGrpSpPr>
              <p:cNvPr id="10138" name="book-open editable icon"/>
              <p:cNvGrpSpPr/>
              <p:nvPr/>
            </p:nvGrpSpPr>
            <p:grpSpPr>
              <ns1:xfrm xmlns:ns1="http://schemas.openxmlformats.org/drawingml/2006/main">
                <ns1:off x="4314825" y="3324225"/>
                <ns1:ext cx="285750" cy="285750"/>
                <ns1:chOff x="4314825" y="3324225"/>
                <ns1:chExt cx="285750" cy="285750"/>
              </ns1:xfrm>
            </p:grpSpPr>
            <p:sp>
              <p:nvSpPr>
                <p:cNvPr id="10136" name="book-open-0"/>
                <p:cNvSpPr/>
                <p:nvPr/>
              </p:nvSpPr>
              <p:spPr>
                <ns1:xfrm xmlns:ns1="http://schemas.openxmlformats.org/drawingml/2006/main">
                  <ns1:off x="4314825" y="3324225"/>
                  <ns1:ext cx="285750" cy="28575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2000" y="5000"/>
                      </ns2:moveTo>
                      <ns2:lnTo>
                        <ns2:pt x="12000" y="21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7859" cap="rnd">
                  <ns4:solidFill>
                    <ns4:srgbClr val="705A99"/>
                  </ns4:solidFill>
                </ns4:ln>
              </p:spPr>
            </p:sp>
            <p:sp>
              <p:nvSpPr>
                <p:cNvPr id="10137" name="book-open-1"/>
                <p:cNvSpPr/>
                <p:nvPr/>
              </p:nvSpPr>
              <p:spPr>
                <ns1:xfrm xmlns:ns1="http://schemas.openxmlformats.org/drawingml/2006/main">
                  <ns1:off x="4314825" y="3324225"/>
                  <ns1:ext cx="285750" cy="28575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20001" y="19000"/>
                      </ns2:moveTo>
                      <ns2:cubicBezTo>
                        <ns2:pt x="21105" y="18999"/>
                        <ns2:pt x="22000" y="18104"/>
                        <ns2:pt x="22000" y="17000"/>
                      </ns2:cubicBezTo>
                      <ns2:lnTo>
                        <ns2:pt x="22000" y="5000"/>
                      </ns2:lnTo>
                      <ns2:cubicBezTo>
                        <ns2:pt x="22000" y="3896"/>
                        <ns2:pt x="21105" y="3001"/>
                        <ns2:pt x="20001" y="3000"/>
                      </ns2:cubicBezTo>
                      <ns2:lnTo>
                        <ns2:pt x="16000" y="3002"/>
                      </ns2:lnTo>
                      <ns2:cubicBezTo>
                        <ns2:pt x="14427" y="3002"/>
                        <ns2:pt x="12945" y="3742"/>
                        <ns2:pt x="12000" y="5000"/>
                      </ns2:cubicBezTo>
                      <ns2:cubicBezTo>
                        <ns2:pt x="11056" y="3741"/>
                        <ns2:pt x="9574" y="3000"/>
                        <ns2:pt x="8000" y="3000"/>
                      </ns2:cubicBezTo>
                      <ns2:lnTo>
                        <ns2:pt x="4000" y="3000"/>
                      </ns2:lnTo>
                      <ns2:cubicBezTo>
                        <ns2:pt x="2895" y="3000"/>
                        <ns2:pt x="2000" y="3895"/>
                        <ns2:pt x="2000" y="5000"/>
                      </ns2:cubicBezTo>
                      <ns2:lnTo>
                        <ns2:pt x="2000" y="17000"/>
                      </ns2:lnTo>
                      <ns2:cubicBezTo>
                        <ns2:pt x="2000" y="18104"/>
                        <ns2:pt x="2895" y="18999"/>
                        <ns2:pt x="3999" y="19000"/>
                      </ns2:cubicBezTo>
                      <ns2:lnTo>
                        <ns2:pt x="8000" y="19000"/>
                      </ns2:lnTo>
                      <ns2:cubicBezTo>
                        <ns2:pt x="9574" y="19000"/>
                        <ns2:pt x="11056" y="19741"/>
                        <ns2:pt x="12000" y="21000"/>
                      </ns2:cubicBezTo>
                      <ns2:cubicBezTo>
                        <ns2:pt x="12944" y="19741"/>
                        <ns2:pt x="14426" y="19000"/>
                        <ns2:pt x="16000" y="19000"/>
                      </ns2:cubicBezTo>
                      <ns2:lnTo>
                        <ns2:pt x="20001" y="19000"/>
                      </ns2:lnTo>
                      <ns2:close/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7859" cap="rnd">
                  <ns4:solidFill>
                    <ns4:srgbClr val="705A99"/>
                  </ns4:solidFill>
                </ns4:ln>
              </p:spPr>
            </p:sp>
          </p:grpSp>
          <p:sp>
            <p:nvSpPr>
              <p:cNvPr id="10139" name="Reference examples"/>
              <p:cNvSpPr/>
              <p:nvPr/>
            </p:nvSpPr>
            <p:spPr>
              <ns1:xfrm xmlns:ns1="http://schemas.openxmlformats.org/drawingml/2006/main">
                <ns1:off x="4686300" y="3219450"/>
                <ns1:ext cx="1781175" cy="51435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l"/>
                <ns7:r>
                  <ns7:rPr sz="1575" b="0">
                    <ns7:solidFill>
                      <ns7:srgbClr val="25465E"/>
                    </ns7:solidFill>
                    <ns7:latin typeface="Times New Roman"/>
                    <ns7:ea typeface="Times New Roman"/>
                  </ns7:rPr>
                  <ns7:t>Reference examples</ns7:t>
                </ns7:r>
              </ns7:p>
            </p:txBody>
          </p:sp>
          <p:grpSp>
            <p:nvGrpSpPr>
              <p:cNvPr id="10144" name="refresh-cw editable icon"/>
              <p:cNvGrpSpPr/>
              <p:nvPr/>
            </p:nvGrpSpPr>
            <p:grpSpPr>
              <ns1:xfrm xmlns:ns1="http://schemas.openxmlformats.org/drawingml/2006/main">
                <ns1:off x="6648450" y="3324225"/>
                <ns1:ext cx="285750" cy="285750"/>
                <ns1:chOff x="6648450" y="3324225"/>
                <ns1:chExt cx="285750" cy="285750"/>
              </ns1:xfrm>
            </p:grpSpPr>
            <p:sp>
              <p:nvSpPr>
                <p:cNvPr id="10140" name="refresh-cw-0"/>
                <p:cNvSpPr/>
                <p:nvPr/>
              </p:nvSpPr>
              <p:spPr>
                <ns1:xfrm xmlns:ns1="http://schemas.openxmlformats.org/drawingml/2006/main">
                  <ns1:off x="6648450" y="3324225"/>
                  <ns1:ext cx="285750" cy="28575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3000" y="12000"/>
                      </ns2:moveTo>
                      <ns2:cubicBezTo>
                        <ns2:pt x="3000" y="7029"/>
                        <ns2:pt x="7029" y="3000"/>
                        <ns2:pt x="12000" y="3000"/>
                      </ns2:cubicBezTo>
                      <ns2:cubicBezTo>
                        <ns2:pt x="14516" y="3009"/>
                        <ns2:pt x="16931" y="3991"/>
                        <ns2:pt x="18740" y="5740"/>
                      </ns2:cubicBezTo>
                      <ns2:lnTo>
                        <ns2:pt x="21000" y="8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7859" cap="rnd">
                  <ns4:solidFill>
                    <ns4:srgbClr val="358972"/>
                  </ns4:solidFill>
                </ns4:ln>
              </p:spPr>
            </p:sp>
            <p:sp>
              <p:nvSpPr>
                <p:cNvPr id="10141" name="refresh-cw-1"/>
                <p:cNvSpPr/>
                <p:nvPr/>
              </p:nvSpPr>
              <p:spPr>
                <ns1:xfrm xmlns:ns1="http://schemas.openxmlformats.org/drawingml/2006/main">
                  <ns1:off x="6648450" y="3324225"/>
                  <ns1:ext cx="285750" cy="28575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21000" y="3000"/>
                      </ns2:moveTo>
                      <ns2:lnTo>
                        <ns2:pt x="21000" y="8000"/>
                      </ns2:lnTo>
                      <ns2:lnTo>
                        <ns2:pt x="16000" y="8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7859" cap="rnd">
                  <ns4:solidFill>
                    <ns4:srgbClr val="358972"/>
                  </ns4:solidFill>
                </ns4:ln>
              </p:spPr>
            </p:sp>
            <p:sp>
              <p:nvSpPr>
                <p:cNvPr id="10142" name="refresh-cw-2"/>
                <p:cNvSpPr/>
                <p:nvPr/>
              </p:nvSpPr>
              <p:spPr>
                <ns1:xfrm xmlns:ns1="http://schemas.openxmlformats.org/drawingml/2006/main">
                  <ns1:off x="6648450" y="3324225"/>
                  <ns1:ext cx="285750" cy="28575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21000" y="12000"/>
                      </ns2:moveTo>
                      <ns2:cubicBezTo>
                        <ns2:pt x="21000" y="16971"/>
                        <ns2:pt x="16971" y="21000"/>
                        <ns2:pt x="12000" y="21000"/>
                      </ns2:cubicBezTo>
                      <ns2:cubicBezTo>
                        <ns2:pt x="9484" y="20991"/>
                        <ns2:pt x="7069" y="20009"/>
                        <ns2:pt x="5260" y="18260"/>
                      </ns2:cubicBezTo>
                      <ns2:lnTo>
                        <ns2:pt x="3000" y="16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7859" cap="rnd">
                  <ns4:solidFill>
                    <ns4:srgbClr val="358972"/>
                  </ns4:solidFill>
                </ns4:ln>
              </p:spPr>
            </p:sp>
            <p:sp>
              <p:nvSpPr>
                <p:cNvPr id="10143" name="refresh-cw-3"/>
                <p:cNvSpPr/>
                <p:nvPr/>
              </p:nvSpPr>
              <p:spPr>
                <ns1:xfrm xmlns:ns1="http://schemas.openxmlformats.org/drawingml/2006/main">
                  <ns1:off x="6648450" y="3324225"/>
                  <ns1:ext cx="285750" cy="28575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8000" y="16000"/>
                      </ns2:moveTo>
                      <ns2:lnTo>
                        <ns2:pt x="3000" y="16000"/>
                      </ns2:lnTo>
                      <ns2:lnTo>
                        <ns2:pt x="3000" y="21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7859" cap="rnd">
                  <ns4:solidFill>
                    <ns4:srgbClr val="358972"/>
                  </ns4:solidFill>
                </ns4:ln>
              </p:spPr>
            </p:sp>
          </p:grpSp>
          <p:sp>
            <p:nvSpPr>
              <p:cNvPr id="10145" name="Incident history"/>
              <p:cNvSpPr/>
              <p:nvPr/>
            </p:nvSpPr>
            <p:spPr>
              <ns1:xfrm xmlns:ns1="http://schemas.openxmlformats.org/drawingml/2006/main">
                <ns1:off x="7019925" y="3219450"/>
                <ns1:ext cx="1781175" cy="51435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l"/>
                <ns7:r>
                  <ns7:rPr sz="1575" b="0">
                    <ns7:solidFill>
                      <ns7:srgbClr val="25465E"/>
                    </ns7:solidFill>
                    <ns7:latin typeface="Times New Roman"/>
                    <ns7:ea typeface="Times New Roman"/>
                  </ns7:rPr>
                  <ns7:t>Incident history</ns7:t>
                </ns7:r>
              </ns7:p>
            </p:txBody>
          </p:sp>
          <p:grpSp>
            <p:nvGrpSpPr>
              <p:cNvPr id="10150" name="refresh-cw editable icon"/>
              <p:cNvGrpSpPr/>
              <p:nvPr/>
            </p:nvGrpSpPr>
            <p:grpSpPr>
              <ns1:xfrm xmlns:ns1="http://schemas.openxmlformats.org/drawingml/2006/main">
                <ns1:off x="8982075" y="3324225"/>
                <ns1:ext cx="285750" cy="285750"/>
                <ns1:chOff x="8982075" y="3324225"/>
                <ns1:chExt cx="285750" cy="285750"/>
              </ns1:xfrm>
            </p:grpSpPr>
            <p:sp>
              <p:nvSpPr>
                <p:cNvPr id="10146" name="refresh-cw-0"/>
                <p:cNvSpPr/>
                <p:nvPr/>
              </p:nvSpPr>
              <p:spPr>
                <ns1:xfrm xmlns:ns1="http://schemas.openxmlformats.org/drawingml/2006/main">
                  <ns1:off x="8982075" y="3324225"/>
                  <ns1:ext cx="285750" cy="28575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3000" y="12000"/>
                      </ns2:moveTo>
                      <ns2:cubicBezTo>
                        <ns2:pt x="3000" y="7029"/>
                        <ns2:pt x="7029" y="3000"/>
                        <ns2:pt x="12000" y="3000"/>
                      </ns2:cubicBezTo>
                      <ns2:cubicBezTo>
                        <ns2:pt x="14516" y="3009"/>
                        <ns2:pt x="16931" y="3991"/>
                        <ns2:pt x="18740" y="5740"/>
                      </ns2:cubicBezTo>
                      <ns2:lnTo>
                        <ns2:pt x="21000" y="8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7859" cap="rnd">
                  <ns4:solidFill>
                    <ns4:srgbClr val="A77838"/>
                  </ns4:solidFill>
                </ns4:ln>
              </p:spPr>
            </p:sp>
            <p:sp>
              <p:nvSpPr>
                <p:cNvPr id="10147" name="refresh-cw-1"/>
                <p:cNvSpPr/>
                <p:nvPr/>
              </p:nvSpPr>
              <p:spPr>
                <ns1:xfrm xmlns:ns1="http://schemas.openxmlformats.org/drawingml/2006/main">
                  <ns1:off x="8982075" y="3324225"/>
                  <ns1:ext cx="285750" cy="28575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21000" y="3000"/>
                      </ns2:moveTo>
                      <ns2:lnTo>
                        <ns2:pt x="21000" y="8000"/>
                      </ns2:lnTo>
                      <ns2:lnTo>
                        <ns2:pt x="16000" y="8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7859" cap="rnd">
                  <ns4:solidFill>
                    <ns4:srgbClr val="A77838"/>
                  </ns4:solidFill>
                </ns4:ln>
              </p:spPr>
            </p:sp>
            <p:sp>
              <p:nvSpPr>
                <p:cNvPr id="10148" name="refresh-cw-2"/>
                <p:cNvSpPr/>
                <p:nvPr/>
              </p:nvSpPr>
              <p:spPr>
                <ns1:xfrm xmlns:ns1="http://schemas.openxmlformats.org/drawingml/2006/main">
                  <ns1:off x="8982075" y="3324225"/>
                  <ns1:ext cx="285750" cy="28575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21000" y="12000"/>
                      </ns2:moveTo>
                      <ns2:cubicBezTo>
                        <ns2:pt x="21000" y="16971"/>
                        <ns2:pt x="16971" y="21000"/>
                        <ns2:pt x="12000" y="21000"/>
                      </ns2:cubicBezTo>
                      <ns2:cubicBezTo>
                        <ns2:pt x="9484" y="20991"/>
                        <ns2:pt x="7069" y="20009"/>
                        <ns2:pt x="5260" y="18260"/>
                      </ns2:cubicBezTo>
                      <ns2:lnTo>
                        <ns2:pt x="3000" y="16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7859" cap="rnd">
                  <ns4:solidFill>
                    <ns4:srgbClr val="A77838"/>
                  </ns4:solidFill>
                </ns4:ln>
              </p:spPr>
            </p:sp>
            <p:sp>
              <p:nvSpPr>
                <p:cNvPr id="10149" name="refresh-cw-3"/>
                <p:cNvSpPr/>
                <p:nvPr/>
              </p:nvSpPr>
              <p:spPr>
                <ns1:xfrm xmlns:ns1="http://schemas.openxmlformats.org/drawingml/2006/main">
                  <ns1:off x="8982075" y="3324225"/>
                  <ns1:ext cx="285750" cy="28575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8000" y="16000"/>
                      </ns2:moveTo>
                      <ns2:lnTo>
                        <ns2:pt x="3000" y="16000"/>
                      </ns2:lnTo>
                      <ns2:lnTo>
                        <ns2:pt x="3000" y="21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7859" cap="rnd">
                  <ns4:solidFill>
                    <ns4:srgbClr val="A77838"/>
                  </ns4:solidFill>
                </ns4:ln>
              </p:spPr>
            </p:sp>
          </p:grpSp>
          <p:sp>
            <p:nvSpPr>
              <p:cNvPr id="10151" name="Action history"/>
              <p:cNvSpPr/>
              <p:nvPr/>
            </p:nvSpPr>
            <p:spPr>
              <ns1:xfrm xmlns:ns1="http://schemas.openxmlformats.org/drawingml/2006/main">
                <ns1:off x="9353550" y="3219450"/>
                <ns1:ext cx="1781175" cy="51435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l"/>
                <ns7:r>
                  <ns7:rPr sz="1575" b="0">
                    <ns7:solidFill>
                      <ns7:srgbClr val="25465E"/>
                    </ns7:solidFill>
                    <ns7:latin typeface="Times New Roman"/>
                    <ns7:ea typeface="Times New Roman"/>
                  </ns7:rPr>
                  <ns7:t>Action history</ns7:t>
                </ns7:r>
              </ns7:p>
            </p:txBody>
          </p:sp>
        </p:grpSp>
        <p:grpSp>
          <p:nvGrpSpPr>
            <p:cNvPr id="10189" name="Temporal function Temporal validation"/>
            <p:cNvGrpSpPr/>
            <p:nvPr/>
          </p:nvGrpSpPr>
          <p:grpSpPr>
            <ns1:xfrm xmlns:ns1="http://schemas.openxmlformats.org/drawingml/2006/main">
              <ns1:off x="190500" y="3848100"/>
              <ns1:ext cx="11049000" cy="685800"/>
              <ns1:chOff x="190500" y="3848100"/>
              <ns1:chExt cx="11049000" cy="685800"/>
            </ns1:xfrm>
          </p:grpSpPr>
          <p:sp>
            <p:nvSpPr>
              <p:cNvPr id="10153" name="Row background"/>
              <p:cNvSpPr/>
              <p:nvPr/>
            </p:nvSpPr>
            <p:spPr>
              <ns1:xfrm xmlns:ns1="http://schemas.openxmlformats.org/drawingml/2006/main">
                <ns1:off x="190500" y="3848100"/>
                <ns1:ext cx="11049000" cy="685800"/>
              </ns1:xfrm>
              <ns2:prstGeom xmlns:ns2="http://schemas.openxmlformats.org/drawingml/2006/main" prst="rect">
                <ns2:avLst/>
              </ns2:prstGeom>
              <ns3:solidFill xmlns:ns3="http://schemas.openxmlformats.org/drawingml/2006/main">
                <ns3:srgbClr val="FFFFFF"/>
              </ns3:solidFill>
              <ns4:ln xmlns:ns4="http://schemas.openxmlformats.org/drawingml/2006/main" w="9525" cap="rnd">
                <ns4:noFill/>
              </ns4:ln>
            </p:spPr>
          </p:sp>
          <p:grpSp>
            <p:nvGrpSpPr>
              <p:cNvPr id="10156" name="shield-check editable icon"/>
              <p:cNvGrpSpPr/>
              <p:nvPr/>
            </p:nvGrpSpPr>
            <p:grpSpPr>
              <ns1:xfrm xmlns:ns1="http://schemas.openxmlformats.org/drawingml/2006/main">
                <ns1:off x="285750" y="4019550"/>
                <ns1:ext cx="304800" cy="304800"/>
                <ns1:chOff x="285750" y="4019550"/>
                <ns1:chExt cx="304800" cy="304800"/>
              </ns1:xfrm>
            </p:grpSpPr>
            <p:sp>
              <p:nvSpPr>
                <p:cNvPr id="10154" name="shield-check-0"/>
                <p:cNvSpPr/>
                <p:nvPr/>
              </p:nvSpPr>
              <p:spPr>
                <ns1:xfrm xmlns:ns1="http://schemas.openxmlformats.org/drawingml/2006/main">
                  <ns1:off x="285750" y="4019550"/>
                  <ns1:ext cx="304800" cy="3048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20000" y="13000"/>
                      </ns2:moveTo>
                      <ns2:cubicBezTo>
                        <ns2:pt x="20000" y="18000"/>
                        <ns2:pt x="16500" y="20500"/>
                        <ns2:pt x="12340" y="21950"/>
                      </ns2:cubicBezTo>
                      <ns2:cubicBezTo>
                        <ns2:pt x="12122" y="22024"/>
                        <ns2:pt x="11886" y="22020"/>
                        <ns2:pt x="11670" y="21940"/>
                      </ns2:cubicBezTo>
                      <ns2:cubicBezTo>
                        <ns2:pt x="7500" y="20500"/>
                        <ns2:pt x="4000" y="18000"/>
                        <ns2:pt x="4000" y="13000"/>
                      </ns2:cubicBezTo>
                      <ns2:lnTo>
                        <ns2:pt x="4000" y="6000"/>
                      </ns2:lnTo>
                      <ns2:cubicBezTo>
                        <ns2:pt x="4000" y="5448"/>
                        <ns2:pt x="4448" y="5000"/>
                        <ns2:pt x="5000" y="5000"/>
                      </ns2:cubicBezTo>
                      <ns2:cubicBezTo>
                        <ns2:pt x="7000" y="5000"/>
                        <ns2:pt x="9500" y="3800"/>
                        <ns2:pt x="11240" y="2280"/>
                      </ns2:cubicBezTo>
                      <ns2:cubicBezTo>
                        <ns2:pt x="11678" y="1906"/>
                        <ns2:pt x="12322" y="1906"/>
                        <ns2:pt x="12760" y="2280"/>
                      </ns2:cubicBezTo>
                      <ns2:cubicBezTo>
                        <ns2:pt x="14510" y="3810"/>
                        <ns2:pt x="17000" y="5000"/>
                        <ns2:pt x="19000" y="5000"/>
                      </ns2:cubicBezTo>
                      <ns2:cubicBezTo>
                        <ns2:pt x="19552" y="5000"/>
                        <ns2:pt x="20000" y="5448"/>
                        <ns2:pt x="20000" y="6000"/>
                      </ns2:cubicBezTo>
                      <ns2:lnTo>
                        <ns2:pt x="20000" y="13000"/>
                      </ns2:lnTo>
                      <ns2:close/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9050" cap="rnd">
                  <ns4:solidFill>
                    <ns4:srgbClr val="327EA6"/>
                  </ns4:solidFill>
                </ns4:ln>
              </p:spPr>
            </p:sp>
            <p:sp>
              <p:nvSpPr>
                <p:cNvPr id="10155" name="shield-check-1"/>
                <p:cNvSpPr/>
                <p:nvPr/>
              </p:nvSpPr>
              <p:spPr>
                <ns1:xfrm xmlns:ns1="http://schemas.openxmlformats.org/drawingml/2006/main">
                  <ns1:off x="285750" y="4019550"/>
                  <ns1:ext cx="304800" cy="3048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9000" y="12000"/>
                      </ns2:moveTo>
                      <ns2:lnTo>
                        <ns2:pt x="11000" y="14000"/>
                      </ns2:lnTo>
                      <ns2:lnTo>
                        <ns2:pt x="15000" y="10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9050" cap="rnd">
                  <ns4:solidFill>
                    <ns4:srgbClr val="327EA6"/>
                  </ns4:solidFill>
                </ns4:ln>
              </p:spPr>
            </p:sp>
          </p:grpSp>
          <p:sp>
            <p:nvSpPr>
              <p:cNvPr id="10157" name="Temporal&#10;validation"/>
              <p:cNvSpPr/>
              <p:nvPr/>
            </p:nvSpPr>
            <p:spPr>
              <ns1:xfrm xmlns:ns1="http://schemas.openxmlformats.org/drawingml/2006/main">
                <ns1:off x="695325" y="3924300"/>
                <ns1:ext cx="1133475" cy="542925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l"/>
                <ns7:r>
                  <ns7:rPr sz="1575" b="1">
                    <ns7:solidFill>
                      <ns7:srgbClr val="327EA6"/>
                    </ns7:solidFill>
                    <ns7:latin typeface="Times New Roman"/>
                    <ns7:ea typeface="Times New Roman"/>
                  </ns7:rPr>
                  <ns7:t>Temporal</ns7:t>
                </ns7:r>
              </ns7:p>
              <ns8:p xmlns:ns8="http://schemas.openxmlformats.org/drawingml/2006/main">
                <ns8:pPr algn="l"/>
                <ns8:r>
                  <ns8:rPr sz="1575" b="1">
                    <ns8:solidFill>
                      <ns8:srgbClr val="327EA6"/>
                    </ns8:solidFill>
                    <ns8:latin typeface="Times New Roman"/>
                    <ns8:ea typeface="Times New Roman"/>
                  </ns8:rPr>
                  <ns8:t>validation</ns8:t>
                </ns8:r>
              </ns8:p>
            </p:txBody>
          </p:sp>
          <p:grpSp>
            <p:nvGrpSpPr>
              <p:cNvPr id="10168" name="calendar-days editable icon"/>
              <p:cNvGrpSpPr/>
              <p:nvPr/>
            </p:nvGrpSpPr>
            <p:grpSpPr>
              <ns1:xfrm xmlns:ns1="http://schemas.openxmlformats.org/drawingml/2006/main">
                <ns1:off x="1981200" y="4048125"/>
                <ns1:ext cx="285750" cy="285750"/>
                <ns1:chOff x="1981200" y="4048125"/>
                <ns1:chExt cx="285750" cy="285750"/>
              </ns1:xfrm>
            </p:grpSpPr>
            <p:sp>
              <p:nvSpPr>
                <p:cNvPr id="10158" name="calendar-days-0"/>
                <p:cNvSpPr/>
                <p:nvPr/>
              </p:nvSpPr>
              <p:spPr>
                <ns1:xfrm xmlns:ns1="http://schemas.openxmlformats.org/drawingml/2006/main">
                  <ns1:off x="1981200" y="4048125"/>
                  <ns1:ext cx="285750" cy="28575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8000" y="2000"/>
                      </ns2:moveTo>
                      <ns2:lnTo>
                        <ns2:pt x="8000" y="5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7859" cap="rnd">
                  <ns4:solidFill>
                    <ns4:srgbClr val="327EA6"/>
                  </ns4:solidFill>
                </ns4:ln>
              </p:spPr>
            </p:sp>
            <p:sp>
              <p:nvSpPr>
                <p:cNvPr id="10159" name="calendar-days-1"/>
                <p:cNvSpPr/>
                <p:nvPr/>
              </p:nvSpPr>
              <p:spPr>
                <ns1:xfrm xmlns:ns1="http://schemas.openxmlformats.org/drawingml/2006/main">
                  <ns1:off x="1981200" y="4048125"/>
                  <ns1:ext cx="285750" cy="28575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6000" y="2000"/>
                      </ns2:moveTo>
                      <ns2:lnTo>
                        <ns2:pt x="16000" y="5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7859" cap="rnd">
                  <ns4:solidFill>
                    <ns4:srgbClr val="327EA6"/>
                  </ns4:solidFill>
                </ns4:ln>
              </p:spPr>
            </p:sp>
            <p:sp>
              <p:nvSpPr>
                <p:cNvPr id="10160" name="calendar-days-2"/>
                <p:cNvSpPr/>
                <p:nvPr/>
              </p:nvSpPr>
              <p:spPr>
                <ns1:xfrm xmlns:ns1="http://schemas.openxmlformats.org/drawingml/2006/main">
                  <ns1:off x="2016919" y="4083844"/>
                  <ns1:ext cx="214312" cy="214312"/>
                </ns1:xfrm>
                <ns2:prstGeom xmlns:ns2="http://schemas.openxmlformats.org/drawingml/2006/main" prst="roundRect">
                  <ns2:avLst/>
                </ns2:prstGeom>
                <ns3:noFill xmlns:ns3="http://schemas.openxmlformats.org/drawingml/2006/main"/>
                <ns5:ln xmlns:ns5="http://schemas.openxmlformats.org/drawingml/2006/main" w="17859" cap="rnd">
                  <ns5:solidFill>
                    <ns5:srgbClr val="327EA6"/>
                  </ns5:solidFill>
                </ns5:ln>
              </p:spPr>
            </p:sp>
            <p:sp>
              <p:nvSpPr>
                <p:cNvPr id="10161" name="calendar-days-3"/>
                <p:cNvSpPr/>
                <p:nvPr/>
              </p:nvSpPr>
              <p:spPr>
                <ns1:xfrm xmlns:ns1="http://schemas.openxmlformats.org/drawingml/2006/main">
                  <ns1:off x="1981200" y="4048125"/>
                  <ns1:ext cx="285750" cy="28575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3000" y="9000"/>
                      </ns2:moveTo>
                      <ns2:lnTo>
                        <ns2:pt x="21000" y="9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7859" cap="rnd">
                  <ns4:solidFill>
                    <ns4:srgbClr val="327EA6"/>
                  </ns4:solidFill>
                </ns4:ln>
              </p:spPr>
            </p:sp>
            <p:sp>
              <p:nvSpPr>
                <p:cNvPr id="10162" name="calendar-days-4"/>
                <p:cNvSpPr/>
                <p:nvPr/>
              </p:nvSpPr>
              <p:spPr>
                <ns1:xfrm xmlns:ns1="http://schemas.openxmlformats.org/drawingml/2006/main">
                  <ns1:off x="1981200" y="4048125"/>
                  <ns1:ext cx="285750" cy="28575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8000" y="13000"/>
                      </ns2:moveTo>
                      <ns2:lnTo>
                        <ns2:pt x="8010" y="13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7859" cap="rnd">
                  <ns4:solidFill>
                    <ns4:srgbClr val="327EA6"/>
                  </ns4:solidFill>
                </ns4:ln>
              </p:spPr>
            </p:sp>
            <p:sp>
              <p:nvSpPr>
                <p:cNvPr id="10163" name="calendar-days-5"/>
                <p:cNvSpPr/>
                <p:nvPr/>
              </p:nvSpPr>
              <p:spPr>
                <ns1:xfrm xmlns:ns1="http://schemas.openxmlformats.org/drawingml/2006/main">
                  <ns1:off x="1981200" y="4048125"/>
                  <ns1:ext cx="285750" cy="28575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2000" y="13000"/>
                      </ns2:moveTo>
                      <ns2:lnTo>
                        <ns2:pt x="12010" y="13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7859" cap="rnd">
                  <ns4:solidFill>
                    <ns4:srgbClr val="327EA6"/>
                  </ns4:solidFill>
                </ns4:ln>
              </p:spPr>
            </p:sp>
            <p:sp>
              <p:nvSpPr>
                <p:cNvPr id="10164" name="calendar-days-6"/>
                <p:cNvSpPr/>
                <p:nvPr/>
              </p:nvSpPr>
              <p:spPr>
                <ns1:xfrm xmlns:ns1="http://schemas.openxmlformats.org/drawingml/2006/main">
                  <ns1:off x="1981200" y="4048125"/>
                  <ns1:ext cx="285750" cy="28575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6000" y="13000"/>
                      </ns2:moveTo>
                      <ns2:lnTo>
                        <ns2:pt x="16010" y="13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7859" cap="rnd">
                  <ns4:solidFill>
                    <ns4:srgbClr val="327EA6"/>
                  </ns4:solidFill>
                </ns4:ln>
              </p:spPr>
            </p:sp>
            <p:sp>
              <p:nvSpPr>
                <p:cNvPr id="10165" name="calendar-days-7"/>
                <p:cNvSpPr/>
                <p:nvPr/>
              </p:nvSpPr>
              <p:spPr>
                <ns1:xfrm xmlns:ns1="http://schemas.openxmlformats.org/drawingml/2006/main">
                  <ns1:off x="1981200" y="4048125"/>
                  <ns1:ext cx="285750" cy="28575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8000" y="17000"/>
                      </ns2:moveTo>
                      <ns2:lnTo>
                        <ns2:pt x="8010" y="17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7859" cap="rnd">
                  <ns4:solidFill>
                    <ns4:srgbClr val="327EA6"/>
                  </ns4:solidFill>
                </ns4:ln>
              </p:spPr>
            </p:sp>
            <p:sp>
              <p:nvSpPr>
                <p:cNvPr id="10166" name="calendar-days-8"/>
                <p:cNvSpPr/>
                <p:nvPr/>
              </p:nvSpPr>
              <p:spPr>
                <ns1:xfrm xmlns:ns1="http://schemas.openxmlformats.org/drawingml/2006/main">
                  <ns1:off x="1981200" y="4048125"/>
                  <ns1:ext cx="285750" cy="28575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2000" y="17000"/>
                      </ns2:moveTo>
                      <ns2:lnTo>
                        <ns2:pt x="12010" y="17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7859" cap="rnd">
                  <ns4:solidFill>
                    <ns4:srgbClr val="327EA6"/>
                  </ns4:solidFill>
                </ns4:ln>
              </p:spPr>
            </p:sp>
            <p:sp>
              <p:nvSpPr>
                <p:cNvPr id="10167" name="calendar-days-9"/>
                <p:cNvSpPr/>
                <p:nvPr/>
              </p:nvSpPr>
              <p:spPr>
                <ns1:xfrm xmlns:ns1="http://schemas.openxmlformats.org/drawingml/2006/main">
                  <ns1:off x="1981200" y="4048125"/>
                  <ns1:ext cx="285750" cy="28575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6000" y="17000"/>
                      </ns2:moveTo>
                      <ns2:lnTo>
                        <ns2:pt x="16010" y="17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7859" cap="rnd">
                  <ns4:solidFill>
                    <ns4:srgbClr val="327EA6"/>
                  </ns4:solidFill>
                </ns4:ln>
              </p:spPr>
            </p:sp>
          </p:grpSp>
          <p:sp>
            <p:nvSpPr>
              <p:cNvPr id="10169" name="Information cutoff"/>
              <p:cNvSpPr/>
              <p:nvPr/>
            </p:nvSpPr>
            <p:spPr>
              <ns1:xfrm xmlns:ns1="http://schemas.openxmlformats.org/drawingml/2006/main">
                <ns1:off x="2352675" y="3943350"/>
                <ns1:ext cx="1781175" cy="51435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l"/>
                <ns7:r>
                  <ns7:rPr sz="1575" b="0">
                    <ns7:solidFill>
                      <ns7:srgbClr val="25465E"/>
                    </ns7:solidFill>
                    <ns7:latin typeface="Times New Roman"/>
                    <ns7:ea typeface="Times New Roman"/>
                  </ns7:rPr>
                  <ns7:t>Information cutoff</ns7:t>
                </ns7:r>
              </ns7:p>
            </p:txBody>
          </p:sp>
          <p:grpSp>
            <p:nvGrpSpPr>
              <p:cNvPr id="10172" name="shield-check editable icon"/>
              <p:cNvGrpSpPr/>
              <p:nvPr/>
            </p:nvGrpSpPr>
            <p:grpSpPr>
              <ns1:xfrm xmlns:ns1="http://schemas.openxmlformats.org/drawingml/2006/main">
                <ns1:off x="4314825" y="4048125"/>
                <ns1:ext cx="285750" cy="285750"/>
                <ns1:chOff x="4314825" y="4048125"/>
                <ns1:chExt cx="285750" cy="285750"/>
              </ns1:xfrm>
            </p:grpSpPr>
            <p:sp>
              <p:nvSpPr>
                <p:cNvPr id="10170" name="shield-check-0"/>
                <p:cNvSpPr/>
                <p:nvPr/>
              </p:nvSpPr>
              <p:spPr>
                <ns1:xfrm xmlns:ns1="http://schemas.openxmlformats.org/drawingml/2006/main">
                  <ns1:off x="4314825" y="4048125"/>
                  <ns1:ext cx="285750" cy="28575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20000" y="13000"/>
                      </ns2:moveTo>
                      <ns2:cubicBezTo>
                        <ns2:pt x="20000" y="18000"/>
                        <ns2:pt x="16500" y="20500"/>
                        <ns2:pt x="12340" y="21950"/>
                      </ns2:cubicBezTo>
                      <ns2:cubicBezTo>
                        <ns2:pt x="12122" y="22024"/>
                        <ns2:pt x="11886" y="22020"/>
                        <ns2:pt x="11670" y="21940"/>
                      </ns2:cubicBezTo>
                      <ns2:cubicBezTo>
                        <ns2:pt x="7500" y="20500"/>
                        <ns2:pt x="4000" y="18000"/>
                        <ns2:pt x="4000" y="13000"/>
                      </ns2:cubicBezTo>
                      <ns2:lnTo>
                        <ns2:pt x="4000" y="6000"/>
                      </ns2:lnTo>
                      <ns2:cubicBezTo>
                        <ns2:pt x="4000" y="5448"/>
                        <ns2:pt x="4448" y="5000"/>
                        <ns2:pt x="5000" y="5000"/>
                      </ns2:cubicBezTo>
                      <ns2:cubicBezTo>
                        <ns2:pt x="7000" y="5000"/>
                        <ns2:pt x="9500" y="3800"/>
                        <ns2:pt x="11240" y="2280"/>
                      </ns2:cubicBezTo>
                      <ns2:cubicBezTo>
                        <ns2:pt x="11678" y="1906"/>
                        <ns2:pt x="12322" y="1906"/>
                        <ns2:pt x="12760" y="2280"/>
                      </ns2:cubicBezTo>
                      <ns2:cubicBezTo>
                        <ns2:pt x="14510" y="3810"/>
                        <ns2:pt x="17000" y="5000"/>
                        <ns2:pt x="19000" y="5000"/>
                      </ns2:cubicBezTo>
                      <ns2:cubicBezTo>
                        <ns2:pt x="19552" y="5000"/>
                        <ns2:pt x="20000" y="5448"/>
                        <ns2:pt x="20000" y="6000"/>
                      </ns2:cubicBezTo>
                      <ns2:lnTo>
                        <ns2:pt x="20000" y="13000"/>
                      </ns2:lnTo>
                      <ns2:close/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7859" cap="rnd">
                  <ns4:solidFill>
                    <ns4:srgbClr val="705A99"/>
                  </ns4:solidFill>
                </ns4:ln>
              </p:spPr>
            </p:sp>
            <p:sp>
              <p:nvSpPr>
                <p:cNvPr id="10171" name="shield-check-1"/>
                <p:cNvSpPr/>
                <p:nvPr/>
              </p:nvSpPr>
              <p:spPr>
                <ns1:xfrm xmlns:ns1="http://schemas.openxmlformats.org/drawingml/2006/main">
                  <ns1:off x="4314825" y="4048125"/>
                  <ns1:ext cx="285750" cy="28575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9000" y="12000"/>
                      </ns2:moveTo>
                      <ns2:lnTo>
                        <ns2:pt x="11000" y="14000"/>
                      </ns2:lnTo>
                      <ns2:lnTo>
                        <ns2:pt x="15000" y="10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7859" cap="rnd">
                  <ns4:solidFill>
                    <ns4:srgbClr val="705A99"/>
                  </ns4:solidFill>
                </ns4:ln>
              </p:spPr>
            </p:sp>
          </p:grpSp>
          <p:sp>
            <p:nvSpPr>
              <p:cNvPr id="10173" name="Structure &amp; fidelity"/>
              <p:cNvSpPr/>
              <p:nvPr/>
            </p:nvSpPr>
            <p:spPr>
              <ns1:xfrm xmlns:ns1="http://schemas.openxmlformats.org/drawingml/2006/main">
                <ns1:off x="4686300" y="3943350"/>
                <ns1:ext cx="1781175" cy="51435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l"/>
                <ns7:r>
                  <ns7:rPr sz="1575" b="0">
                    <ns7:solidFill>
                      <ns7:srgbClr val="25465E"/>
                    </ns7:solidFill>
                    <ns7:latin typeface="Times New Roman"/>
                    <ns7:ea typeface="Times New Roman"/>
                  </ns7:rPr>
                  <ns7:t>Structure &amp; fidelity</ns7:t>
                </ns7:r>
              </ns7:p>
            </p:txBody>
          </p:sp>
          <p:grpSp>
            <p:nvGrpSpPr>
              <p:cNvPr id="10180" name="scan-search editable icon"/>
              <p:cNvGrpSpPr/>
              <p:nvPr/>
            </p:nvGrpSpPr>
            <p:grpSpPr>
              <ns1:xfrm xmlns:ns1="http://schemas.openxmlformats.org/drawingml/2006/main">
                <ns1:off x="6648450" y="4048125"/>
                <ns1:ext cx="285750" cy="285750"/>
                <ns1:chOff x="6648450" y="4048125"/>
                <ns1:chExt cx="285750" cy="285750"/>
              </ns1:xfrm>
            </p:grpSpPr>
            <p:sp>
              <p:nvSpPr>
                <p:cNvPr id="10174" name="scan-search-0"/>
                <p:cNvSpPr/>
                <p:nvPr/>
              </p:nvSpPr>
              <p:spPr>
                <ns1:xfrm xmlns:ns1="http://schemas.openxmlformats.org/drawingml/2006/main">
                  <ns1:off x="6648450" y="4048125"/>
                  <ns1:ext cx="285750" cy="28575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3000" y="7000"/>
                      </ns2:moveTo>
                      <ns2:lnTo>
                        <ns2:pt x="3000" y="5000"/>
                      </ns2:lnTo>
                      <ns2:cubicBezTo>
                        <ns2:pt x="3000" y="3895"/>
                        <ns2:pt x="3895" y="3000"/>
                        <ns2:pt x="5000" y="3000"/>
                      </ns2:cubicBezTo>
                      <ns2:lnTo>
                        <ns2:pt x="7000" y="3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7859" cap="rnd">
                  <ns4:solidFill>
                    <ns4:srgbClr val="358972"/>
                  </ns4:solidFill>
                </ns4:ln>
              </p:spPr>
            </p:sp>
            <p:sp>
              <p:nvSpPr>
                <p:cNvPr id="10175" name="scan-search-1"/>
                <p:cNvSpPr/>
                <p:nvPr/>
              </p:nvSpPr>
              <p:spPr>
                <ns1:xfrm xmlns:ns1="http://schemas.openxmlformats.org/drawingml/2006/main">
                  <ns1:off x="6648450" y="4048125"/>
                  <ns1:ext cx="285750" cy="28575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7000" y="3000"/>
                      </ns2:moveTo>
                      <ns2:lnTo>
                        <ns2:pt x="19000" y="3000"/>
                      </ns2:lnTo>
                      <ns2:cubicBezTo>
                        <ns2:pt x="20105" y="3000"/>
                        <ns2:pt x="21000" y="3895"/>
                        <ns2:pt x="21000" y="5000"/>
                      </ns2:cubicBezTo>
                      <ns2:lnTo>
                        <ns2:pt x="21000" y="7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7859" cap="rnd">
                  <ns4:solidFill>
                    <ns4:srgbClr val="358972"/>
                  </ns4:solidFill>
                </ns4:ln>
              </p:spPr>
            </p:sp>
            <p:sp>
              <p:nvSpPr>
                <p:cNvPr id="10176" name="scan-search-2"/>
                <p:cNvSpPr/>
                <p:nvPr/>
              </p:nvSpPr>
              <p:spPr>
                <ns1:xfrm xmlns:ns1="http://schemas.openxmlformats.org/drawingml/2006/main">
                  <ns1:off x="6648450" y="4048125"/>
                  <ns1:ext cx="285750" cy="28575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21000" y="17000"/>
                      </ns2:moveTo>
                      <ns2:lnTo>
                        <ns2:pt x="21000" y="19000"/>
                      </ns2:lnTo>
                      <ns2:cubicBezTo>
                        <ns2:pt x="21000" y="20105"/>
                        <ns2:pt x="20105" y="21000"/>
                        <ns2:pt x="19000" y="21000"/>
                      </ns2:cubicBezTo>
                      <ns2:lnTo>
                        <ns2:pt x="17000" y="21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7859" cap="rnd">
                  <ns4:solidFill>
                    <ns4:srgbClr val="358972"/>
                  </ns4:solidFill>
                </ns4:ln>
              </p:spPr>
            </p:sp>
            <p:sp>
              <p:nvSpPr>
                <p:cNvPr id="10177" name="scan-search-3"/>
                <p:cNvSpPr/>
                <p:nvPr/>
              </p:nvSpPr>
              <p:spPr>
                <ns1:xfrm xmlns:ns1="http://schemas.openxmlformats.org/drawingml/2006/main">
                  <ns1:off x="6648450" y="4048125"/>
                  <ns1:ext cx="285750" cy="28575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7000" y="21000"/>
                      </ns2:moveTo>
                      <ns2:lnTo>
                        <ns2:pt x="5000" y="21000"/>
                      </ns2:lnTo>
                      <ns2:cubicBezTo>
                        <ns2:pt x="3895" y="21000"/>
                        <ns2:pt x="3000" y="20105"/>
                        <ns2:pt x="3000" y="19000"/>
                      </ns2:cubicBezTo>
                      <ns2:lnTo>
                        <ns2:pt x="3000" y="17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7859" cap="rnd">
                  <ns4:solidFill>
                    <ns4:srgbClr val="358972"/>
                  </ns4:solidFill>
                </ns4:ln>
              </p:spPr>
            </p:sp>
            <p:sp>
              <p:nvSpPr>
                <p:cNvPr id="10178" name="scan-search-4"/>
                <p:cNvSpPr/>
                <p:nvPr/>
              </p:nvSpPr>
              <p:spPr>
                <ns1:xfrm xmlns:ns1="http://schemas.openxmlformats.org/drawingml/2006/main">
                  <ns1:off x="6755606" y="4155281"/>
                  <ns1:ext cx="71438" cy="71438"/>
                </ns1:xfrm>
                <ns2:prstGeom xmlns:ns2="http://schemas.openxmlformats.org/drawingml/2006/main" prst="ellipse">
                  <ns2:avLst/>
                </ns2:prstGeom>
                <ns3:noFill xmlns:ns3="http://schemas.openxmlformats.org/drawingml/2006/main"/>
                <ns5:ln xmlns:ns5="http://schemas.openxmlformats.org/drawingml/2006/main" w="17859" cap="rnd">
                  <ns5:solidFill>
                    <ns5:srgbClr val="358972"/>
                  </ns5:solidFill>
                </ns5:ln>
              </p:spPr>
            </p:sp>
            <p:sp>
              <p:nvSpPr>
                <p:cNvPr id="10179" name="scan-search-5"/>
                <p:cNvSpPr/>
                <p:nvPr/>
              </p:nvSpPr>
              <p:spPr>
                <ns1:xfrm xmlns:ns1="http://schemas.openxmlformats.org/drawingml/2006/main">
                  <ns1:off x="6648450" y="4048125"/>
                  <ns1:ext cx="285750" cy="28575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6000" y="16000"/>
                      </ns2:moveTo>
                      <ns2:lnTo>
                        <ns2:pt x="14100" y="141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7859" cap="rnd">
                  <ns4:solidFill>
                    <ns4:srgbClr val="358972"/>
                  </ns4:solidFill>
                </ns4:ln>
              </p:spPr>
            </p:sp>
          </p:grpSp>
          <p:sp>
            <p:nvSpPr>
              <p:cNvPr id="10181" name="Location &amp; evidence"/>
              <p:cNvSpPr/>
              <p:nvPr/>
            </p:nvSpPr>
            <p:spPr>
              <ns1:xfrm xmlns:ns1="http://schemas.openxmlformats.org/drawingml/2006/main">
                <ns1:off x="7019925" y="3943350"/>
                <ns1:ext cx="1781175" cy="51435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l"/>
                <ns7:r>
                  <ns7:rPr sz="1575" b="0">
                    <ns7:solidFill>
                      <ns7:srgbClr val="25465E"/>
                    </ns7:solidFill>
                    <ns7:latin typeface="Times New Roman"/>
                    <ns7:ea typeface="Times New Roman"/>
                  </ns7:rPr>
                  <ns7:t>Location &amp; evidence</ns7:t>
                </ns7:r>
              </ns7:p>
            </p:txBody>
          </p:sp>
          <p:grpSp>
            <p:nvGrpSpPr>
              <p:cNvPr id="10187" name="list-checks editable icon"/>
              <p:cNvGrpSpPr/>
              <p:nvPr/>
            </p:nvGrpSpPr>
            <p:grpSpPr>
              <ns1:xfrm xmlns:ns1="http://schemas.openxmlformats.org/drawingml/2006/main">
                <ns1:off x="8982075" y="4048125"/>
                <ns1:ext cx="285750" cy="285750"/>
                <ns1:chOff x="8982075" y="4048125"/>
                <ns1:chExt cx="285750" cy="285750"/>
              </ns1:xfrm>
            </p:grpSpPr>
            <p:sp>
              <p:nvSpPr>
                <p:cNvPr id="10182" name="list-checks-0"/>
                <p:cNvSpPr/>
                <p:nvPr/>
              </p:nvSpPr>
              <p:spPr>
                <ns1:xfrm xmlns:ns1="http://schemas.openxmlformats.org/drawingml/2006/main">
                  <ns1:off x="8982075" y="4048125"/>
                  <ns1:ext cx="285750" cy="28575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3000" y="5000"/>
                      </ns2:moveTo>
                      <ns2:lnTo>
                        <ns2:pt x="21000" y="5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7859" cap="rnd">
                  <ns4:solidFill>
                    <ns4:srgbClr val="A77838"/>
                  </ns4:solidFill>
                </ns4:ln>
              </p:spPr>
            </p:sp>
            <p:sp>
              <p:nvSpPr>
                <p:cNvPr id="10183" name="list-checks-1"/>
                <p:cNvSpPr/>
                <p:nvPr/>
              </p:nvSpPr>
              <p:spPr>
                <ns1:xfrm xmlns:ns1="http://schemas.openxmlformats.org/drawingml/2006/main">
                  <ns1:off x="8982075" y="4048125"/>
                  <ns1:ext cx="285750" cy="28575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3000" y="12000"/>
                      </ns2:moveTo>
                      <ns2:lnTo>
                        <ns2:pt x="21000" y="12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7859" cap="rnd">
                  <ns4:solidFill>
                    <ns4:srgbClr val="A77838"/>
                  </ns4:solidFill>
                </ns4:ln>
              </p:spPr>
            </p:sp>
            <p:sp>
              <p:nvSpPr>
                <p:cNvPr id="10184" name="list-checks-2"/>
                <p:cNvSpPr/>
                <p:nvPr/>
              </p:nvSpPr>
              <p:spPr>
                <ns1:xfrm xmlns:ns1="http://schemas.openxmlformats.org/drawingml/2006/main">
                  <ns1:off x="8982075" y="4048125"/>
                  <ns1:ext cx="285750" cy="28575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3000" y="19000"/>
                      </ns2:moveTo>
                      <ns2:lnTo>
                        <ns2:pt x="21000" y="19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7859" cap="rnd">
                  <ns4:solidFill>
                    <ns4:srgbClr val="A77838"/>
                  </ns4:solidFill>
                </ns4:ln>
              </p:spPr>
            </p:sp>
            <p:sp>
              <p:nvSpPr>
                <p:cNvPr id="10185" name="list-checks-3"/>
                <p:cNvSpPr/>
                <p:nvPr/>
              </p:nvSpPr>
              <p:spPr>
                <ns1:xfrm xmlns:ns1="http://schemas.openxmlformats.org/drawingml/2006/main">
                  <ns1:off x="8982075" y="4048125"/>
                  <ns1:ext cx="285750" cy="28575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3000" y="17000"/>
                      </ns2:moveTo>
                      <ns2:lnTo>
                        <ns2:pt x="5000" y="19000"/>
                      </ns2:lnTo>
                      <ns2:lnTo>
                        <ns2:pt x="9000" y="15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7859" cap="rnd">
                  <ns4:solidFill>
                    <ns4:srgbClr val="A77838"/>
                  </ns4:solidFill>
                </ns4:ln>
              </p:spPr>
            </p:sp>
            <p:sp>
              <p:nvSpPr>
                <p:cNvPr id="10186" name="list-checks-4"/>
                <p:cNvSpPr/>
                <p:nvPr/>
              </p:nvSpPr>
              <p:spPr>
                <ns1:xfrm xmlns:ns1="http://schemas.openxmlformats.org/drawingml/2006/main">
                  <ns1:off x="8982075" y="4048125"/>
                  <ns1:ext cx="285750" cy="28575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3000" y="7000"/>
                      </ns2:moveTo>
                      <ns2:lnTo>
                        <ns2:pt x="5000" y="9000"/>
                      </ns2:lnTo>
                      <ns2:lnTo>
                        <ns2:pt x="9000" y="5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17859" cap="rnd">
                  <ns4:solidFill>
                    <ns4:srgbClr val="A77838"/>
                  </ns4:solidFill>
                </ns4:ln>
              </p:spPr>
            </p:sp>
          </p:grpSp>
          <p:sp>
            <p:nvSpPr>
              <p:cNvPr id="10188" name="Evidence at action time"/>
              <p:cNvSpPr/>
              <p:nvPr/>
            </p:nvSpPr>
            <p:spPr>
              <ns1:xfrm xmlns:ns1="http://schemas.openxmlformats.org/drawingml/2006/main">
                <ns1:off x="9353550" y="3943350"/>
                <ns1:ext cx="1781175" cy="51435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l"/>
                <ns7:r>
                  <ns7:rPr sz="1575" b="0">
                    <ns7:solidFill>
                      <ns7:srgbClr val="25465E"/>
                    </ns7:solidFill>
                    <ns7:latin typeface="Times New Roman"/>
                    <ns7:ea typeface="Times New Roman"/>
                  </ns7:rPr>
                  <ns7:t>Evidence at action time</ns7:t>
                </ns7:r>
              </ns7:p>
            </p:txBody>
          </p:sp>
        </p:grpSp>
        <p:sp>
          <p:nvSpPr>
            <p:cNvPr id="10190" name="Panel divider"/>
            <p:cNvSpPr/>
            <p:nvPr/>
          </p:nvSpPr>
          <p:spPr>
            <ns1:xfrm xmlns:ns1="http://schemas.openxmlformats.org/drawingml/2006/main">
              <ns1:off x="190500" y="4724400"/>
              <ns1:ext cx="11049000" cy="9525"/>
            </ns1:xfrm>
            <ns2:custGeom xmlns:ns2="http://schemas.openxmlformats.org/drawingml/2006/main">
              <ns2:avLst/>
              <ns2:gdLst/>
              <ns2:ahLst/>
              <ns2:cxnLst/>
              <ns2:rect l="l" t="t" r="r" b="b"/>
              <ns2:pathLst>
                <ns2:path w="1160000" h="1000" fill="none">
                  <ns2:moveTo>
                    <ns2:pt x="0" y="0"/>
                  </ns2:moveTo>
                  <ns2:lnTo>
                    <ns2:pt x="1160000" y="0"/>
                  </ns2:lnTo>
                </ns2:path>
              </ns2:pathLst>
            </ns2:custGeom>
            <ns3:noFill xmlns:ns3="http://schemas.openxmlformats.org/drawingml/2006/main"/>
            <ns4:ln xmlns:ns4="http://schemas.openxmlformats.org/drawingml/2006/main" w="9525" cap="rnd">
              <ns4:solidFill>
                <ns4:srgbClr val="D8E1E5"/>
              </ns4:solidFill>
            </ns4:ln>
          </p:spPr>
        </p:sp>
        <p:sp>
          <p:nvSpPr>
            <p:cNvPr id="10191" name="(b) Demand forecasting and inventory decisions"/>
            <p:cNvSpPr/>
            <p:nvPr/>
          </p:nvSpPr>
          <p:spPr>
            <ns1:xfrm xmlns:ns1="http://schemas.openxmlformats.org/drawingml/2006/main">
              <ns1:off x="190500" y="4810125"/>
              <ns1:ext cx="11049000" cy="34290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l"/>
              <ns7:r>
                <ns7:rPr sz="2025" b="1">
                  <ns7:solidFill>
                    <ns7:srgbClr val="25465E"/>
                  </ns7:solidFill>
                  <ns7:latin typeface="Times New Roman"/>
                  <ns7:ea typeface="Times New Roman"/>
                </ns7:rPr>
                <ns7:t>(b) Demand forecasting and inventory decisions</ns7:t>
              </ns7:r>
            </ns7:p>
          </p:txBody>
        </p:sp>
        <p:grpSp>
          <p:nvGrpSpPr>
            <p:cNvPr id="10200" name="General execution"/>
            <p:cNvGrpSpPr/>
            <p:nvPr/>
          </p:nvGrpSpPr>
          <p:grpSpPr>
            <ns1:xfrm xmlns:ns1="http://schemas.openxmlformats.org/drawingml/2006/main">
              <ns1:off x="190500" y="5219700"/>
              <ns1:ext cx="2619375" cy="2009775"/>
              <ns1:chOff x="190500" y="5219700"/>
              <ns1:chExt cx="2619375" cy="2009775"/>
            </ns1:xfrm>
          </p:grpSpPr>
          <p:sp>
            <p:nvSpPr>
              <p:cNvPr id="10192" name="General execution"/>
              <p:cNvSpPr/>
              <p:nvPr/>
            </p:nvSpPr>
            <p:spPr>
              <ns1:xfrm xmlns:ns1="http://schemas.openxmlformats.org/drawingml/2006/main">
                <ns1:off x="190500" y="5219700"/>
                <ns1:ext cx="2619375" cy="28575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800" b="1">
                    <ns7:solidFill>
                      <ns7:srgbClr val="327EA6"/>
                    </ns7:solidFill>
                    <ns7:latin typeface="Times New Roman"/>
                    <ns7:ea typeface="Times New Roman"/>
                  </ns7:rPr>
                  <ns7:t>General execution</ns7:t>
                </ns7:r>
              </ns7:p>
            </p:txBody>
          </p:sp>
          <p:grpSp>
            <p:nvGrpSpPr>
              <p:cNvPr id="10194" name="wrench editable icon"/>
              <p:cNvGrpSpPr/>
              <p:nvPr/>
            </p:nvGrpSpPr>
            <p:grpSpPr>
              <ns1:xfrm xmlns:ns1="http://schemas.openxmlformats.org/drawingml/2006/main">
                <ns1:off x="333375" y="5667375"/>
                <ns1:ext cx="495300" cy="495300"/>
                <ns1:chOff x="333375" y="5667375"/>
                <ns1:chExt cx="495300" cy="495300"/>
              </ns1:xfrm>
            </p:grpSpPr>
            <p:sp>
              <p:nvSpPr>
                <p:cNvPr id="10193" name="wrench-0"/>
                <p:cNvSpPr/>
                <p:nvPr/>
              </p:nvSpPr>
              <p:spPr>
                <ns1:xfrm xmlns:ns1="http://schemas.openxmlformats.org/drawingml/2006/main">
                  <ns1:off x="333375" y="5667375"/>
                  <ns1:ext cx="495300" cy="4953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4700" y="6300"/>
                      </ns2:moveTo>
                      <ns2:cubicBezTo>
                        <ns2:pt x="14319" y="6689"/>
                        <ns2:pt x="14319" y="7311"/>
                        <ns2:pt x="14700" y="7700"/>
                      </ns2:cubicBezTo>
                      <ns2:lnTo>
                        <ns2:pt x="16300" y="9300"/>
                      </ns2:lnTo>
                      <ns2:cubicBezTo>
                        <ns2:pt x="16689" y="9681"/>
                        <ns2:pt x="17311" y="9681"/>
                        <ns2:pt x="17700" y="9300"/>
                      </ns2:cubicBezTo>
                      <ns2:lnTo>
                        <ns2:pt x="20806" y="6195"/>
                      </ns2:lnTo>
                      <ns2:cubicBezTo>
                        <ns2:pt x="21126" y="5873"/>
                        <ns2:pt x="21669" y="5975"/>
                        <ns2:pt x="21789" y="6413"/>
                      </ns2:cubicBezTo>
                      <ns2:cubicBezTo>
                        <ns2:pt x="22406" y="8656"/>
                        <ns2:pt x="21670" y="11054"/>
                        <ns2:pt x="19901" y="12565"/>
                      </ns2:cubicBezTo>
                      <ns2:cubicBezTo>
                        <ns2:pt x="18133" y="14077"/>
                        <ns2:pt x="15650" y="14429"/>
                        <ns2:pt x="13530" y="13470"/>
                      </ns2:cubicBezTo>
                      <ns2:lnTo>
                        <ns2:pt x="5620" y="21380"/>
                      </ns2:lnTo>
                      <ns2:cubicBezTo>
                        <ns2:pt x="4792" y="22208"/>
                        <ns2:pt x="3449" y="22208"/>
                        <ns2:pt x="2620" y="21380"/>
                      </ns2:cubicBezTo>
                      <ns2:cubicBezTo>
                        <ns2:pt x="1792" y="20551"/>
                        <ns2:pt x="1793" y="19208"/>
                        <ns2:pt x="2621" y="18380"/>
                      </ns2:cubicBezTo>
                      <ns2:lnTo>
                        <ns2:pt x="10531" y="10470"/>
                      </ns2:lnTo>
                      <ns2:cubicBezTo>
                        <ns2:pt x="9572" y="8350"/>
                        <ns2:pt x="9924" y="5867"/>
                        <ns2:pt x="11436" y="4099"/>
                      </ns2:cubicBezTo>
                      <ns2:cubicBezTo>
                        <ns2:pt x="12947" y="2330"/>
                        <ns2:pt x="15345" y="1594"/>
                        <ns2:pt x="17588" y="2211"/>
                      </ns2:cubicBezTo>
                      <ns2:cubicBezTo>
                        <ns2:pt x="18026" y="2331"/>
                        <ns2:pt x="18128" y="2873"/>
                        <ns2:pt x="17807" y="3195"/>
                      </ns2:cubicBezTo>
                      <ns2:lnTo>
                        <ns2:pt x="14700" y="6300"/>
                      </ns2:lnTo>
                      <ns2:close/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30956" cap="rnd">
                  <ns4:solidFill>
                    <ns4:srgbClr val="327EA6"/>
                  </ns4:solidFill>
                </ns4:ln>
              </p:spPr>
            </p:sp>
          </p:grpSp>
          <p:sp>
            <p:nvSpPr>
              <p:cNvPr id="10195" name="Run tools&#10;Retain artifacts"/>
              <p:cNvSpPr/>
              <p:nvPr/>
            </p:nvSpPr>
            <p:spPr>
              <ns1:xfrm xmlns:ns1="http://schemas.openxmlformats.org/drawingml/2006/main">
                <ns1:off x="1009650" y="5619750"/>
                <ns1:ext cx="1762125" cy="581025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l"/>
                <ns7:r>
                  <ns7:rPr sz="1650" b="0">
                    <ns7:solidFill>
                      <ns7:srgbClr val="25465E"/>
                    </ns7:solidFill>
                    <ns7:latin typeface="Times New Roman"/>
                    <ns7:ea typeface="Times New Roman"/>
                  </ns7:rPr>
                  <ns7:t>Run tools</ns7:t>
                </ns7:r>
              </ns7:p>
              <ns8:p xmlns:ns8="http://schemas.openxmlformats.org/drawingml/2006/main">
                <ns8:pPr algn="l"/>
                <ns8:r>
                  <ns8:rPr sz="1650" b="0">
                    <ns8:solidFill>
                      <ns8:srgbClr val="25465E"/>
                    </ns8:solidFill>
                    <ns8:latin typeface="Times New Roman"/>
                    <ns8:ea typeface="Times New Roman"/>
                  </ns8:rPr>
                  <ns8:t>Retain artifacts</ns8:t>
                </ns8:r>
              </ns8:p>
            </p:txBody>
          </p:sp>
          <p:sp>
            <p:nvSpPr>
              <p:cNvPr id="10196" name="General Harness"/>
              <p:cNvSpPr/>
              <p:nvPr/>
            </p:nvSpPr>
            <p:spPr>
              <ns1:xfrm xmlns:ns1="http://schemas.openxmlformats.org/drawingml/2006/main">
                <ns1:off x="190500" y="6267450"/>
                <ns1:ext cx="2619375" cy="24765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350" b="0">
                    <ns7:solidFill>
                      <ns7:srgbClr val="327EA6"/>
                    </ns7:solidFill>
                    <ns7:latin typeface="Times New Roman"/>
                    <ns7:ea typeface="Times New Roman"/>
                  </ns7:rPr>
                  <ns7:t>General Harness</ns7:t>
                </ns7:r>
              </ns7:p>
            </p:txBody>
          </p:sp>
          <p:sp>
            <p:nvSpPr>
              <p:cNvPr id="10197" name="Resource separator"/>
              <p:cNvSpPr/>
              <p:nvPr/>
            </p:nvSpPr>
            <p:spPr>
              <ns1:xfrm xmlns:ns1="http://schemas.openxmlformats.org/drawingml/2006/main">
                <ns1:off x="285750" y="6619875"/>
                <ns1:ext cx="2428875" cy="9525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55000" h="1000" fill="none">
                    <ns2:moveTo>
                      <ns2:pt x="0" y="0"/>
                    </ns2:moveTo>
                    <ns2:lnTo>
                      <ns2:pt x="255000" y="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9525" cap="rnd">
                <ns4:solidFill>
                  <ns4:srgbClr val="D8E1E5"/>
                </ns4:solidFill>
              </ns4:ln>
            </p:spPr>
          </p:sp>
          <p:sp>
            <p:nvSpPr>
              <p:cNvPr id="10198" name="TimeSeriesGym"/>
              <p:cNvSpPr/>
              <p:nvPr/>
            </p:nvSpPr>
            <p:spPr>
              <ns1:xfrm xmlns:ns1="http://schemas.openxmlformats.org/drawingml/2006/main">
                <ns1:off x="190500" y="6696075"/>
                <ns1:ext cx="2619375" cy="26670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575" b="1">
                    <ns7:solidFill>
                      <ns7:srgbClr val="25465E"/>
                    </ns7:solidFill>
                    <ns7:latin typeface="Times New Roman"/>
                    <ns7:ea typeface="Times New Roman"/>
                  </ns7:rPr>
                  <ns7:t>TimeSeriesGym</ns7:t>
                </ns7:r>
              </ns7:p>
            </p:txBody>
          </p:sp>
          <p:sp>
            <p:nvSpPr>
              <p:cNvPr id="10199" name="Artifact tests"/>
              <p:cNvSpPr/>
              <p:nvPr/>
            </p:nvSpPr>
            <p:spPr>
              <ns1:xfrm xmlns:ns1="http://schemas.openxmlformats.org/drawingml/2006/main">
                <ns1:off x="190500" y="7000875"/>
                <ns1:ext cx="2619375" cy="22860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425" b="0">
                    <ns7:solidFill>
                      <ns7:srgbClr val="25465E"/>
                    </ns7:solidFill>
                    <ns7:latin typeface="Times New Roman"/>
                    <ns7:ea typeface="Times New Roman"/>
                  </ns7:rPr>
                  <ns7:t>Artifact tests</ns7:t>
                </ns7:r>
              </ns7:p>
            </p:txBody>
          </p:sp>
        </p:grpSp>
        <p:sp>
          <p:nvSpPr>
            <p:cNvPr id="10201" name="Composition arrow"/>
            <p:cNvSpPr/>
            <p:nvPr/>
          </p:nvSpPr>
          <p:spPr>
            <ns1:xfrm xmlns:ns1="http://schemas.openxmlformats.org/drawingml/2006/main">
              <ns1:off x="2781300" y="5915025"/>
              <ns1:ext cx="209550" cy="9525"/>
            </ns1:xfrm>
            <ns2:custGeom xmlns:ns2="http://schemas.openxmlformats.org/drawingml/2006/main">
              <ns2:avLst/>
              <ns2:gdLst/>
              <ns2:ahLst/>
              <ns2:cxnLst/>
              <ns2:rect l="l" t="t" r="r" b="b"/>
              <ns2:pathLst>
                <ns2:path w="22000" h="1000" fill="none">
                  <ns2:moveTo>
                    <ns2:pt x="0" y="0"/>
                  </ns2:moveTo>
                  <ns2:lnTo>
                    <ns2:pt x="22000" y="0"/>
                  </ns2:lnTo>
                </ns2:path>
              </ns2:pathLst>
            </ns2:custGeom>
            <ns3:noFill xmlns:ns3="http://schemas.openxmlformats.org/drawingml/2006/main"/>
            <ns4:ln xmlns:ns4="http://schemas.openxmlformats.org/drawingml/2006/main" w="19050" cap="rnd">
              <ns4:solidFill>
                <ns4:srgbClr val="91A4AF"/>
              </ns4:solidFill>
              <ns4:tailEnd type="triangle"/>
            </ns4:ln>
          </p:spPr>
        </p:sp>
        <p:grpSp>
          <p:nvGrpSpPr>
            <p:cNvPr id="10218" name="Temporal preparation"/>
            <p:cNvGrpSpPr/>
            <p:nvPr/>
          </p:nvGrpSpPr>
          <p:grpSpPr>
            <ns1:xfrm xmlns:ns1="http://schemas.openxmlformats.org/drawingml/2006/main">
              <ns1:off x="3000375" y="5219700"/>
              <ns1:ext cx="2619375" cy="2009775"/>
              <ns1:chOff x="3000375" y="5219700"/>
              <ns1:chExt cx="2619375" cy="2009775"/>
            </ns1:xfrm>
          </p:grpSpPr>
          <p:sp>
            <p:nvSpPr>
              <p:cNvPr id="10202" name="Temporal preparation"/>
              <p:cNvSpPr/>
              <p:nvPr/>
            </p:nvSpPr>
            <p:spPr>
              <ns1:xfrm xmlns:ns1="http://schemas.openxmlformats.org/drawingml/2006/main">
                <ns1:off x="3000375" y="5219700"/>
                <ns1:ext cx="2619375" cy="28575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800" b="1">
                    <ns7:solidFill>
                      <ns7:srgbClr val="358972"/>
                    </ns7:solidFill>
                    <ns7:latin typeface="Times New Roman"/>
                    <ns7:ea typeface="Times New Roman"/>
                  </ns7:rPr>
                  <ns7:t>Temporal preparation</ns7:t>
                </ns7:r>
              </ns7:p>
            </p:txBody>
          </p:sp>
          <p:grpSp>
            <p:nvGrpSpPr>
              <p:cNvPr id="10212" name="sliders-horizontal editable icon"/>
              <p:cNvGrpSpPr/>
              <p:nvPr/>
            </p:nvGrpSpPr>
            <p:grpSpPr>
              <ns1:xfrm xmlns:ns1="http://schemas.openxmlformats.org/drawingml/2006/main">
                <ns1:off x="3143250" y="5667375"/>
                <ns1:ext cx="495300" cy="495300"/>
                <ns1:chOff x="3143250" y="5667375"/>
                <ns1:chExt cx="495300" cy="495300"/>
              </ns1:xfrm>
            </p:grpSpPr>
            <p:sp>
              <p:nvSpPr>
                <p:cNvPr id="10203" name="sliders-horizontal-0"/>
                <p:cNvSpPr/>
                <p:nvPr/>
              </p:nvSpPr>
              <p:spPr>
                <ns1:xfrm xmlns:ns1="http://schemas.openxmlformats.org/drawingml/2006/main">
                  <ns1:off x="3143250" y="5667375"/>
                  <ns1:ext cx="495300" cy="4953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0000" y="5000"/>
                      </ns2:moveTo>
                      <ns2:lnTo>
                        <ns2:pt x="3000" y="5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30956" cap="rnd">
                  <ns4:solidFill>
                    <ns4:srgbClr val="358972"/>
                  </ns4:solidFill>
                </ns4:ln>
              </p:spPr>
            </p:sp>
            <p:sp>
              <p:nvSpPr>
                <p:cNvPr id="10204" name="sliders-horizontal-1"/>
                <p:cNvSpPr/>
                <p:nvPr/>
              </p:nvSpPr>
              <p:spPr>
                <ns1:xfrm xmlns:ns1="http://schemas.openxmlformats.org/drawingml/2006/main">
                  <ns1:off x="3143250" y="5667375"/>
                  <ns1:ext cx="495300" cy="4953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2000" y="19000"/>
                      </ns2:moveTo>
                      <ns2:lnTo>
                        <ns2:pt x="3000" y="19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30956" cap="rnd">
                  <ns4:solidFill>
                    <ns4:srgbClr val="358972"/>
                  </ns4:solidFill>
                </ns4:ln>
              </p:spPr>
            </p:sp>
            <p:sp>
              <p:nvSpPr>
                <p:cNvPr id="10205" name="sliders-horizontal-2"/>
                <p:cNvSpPr/>
                <p:nvPr/>
              </p:nvSpPr>
              <p:spPr>
                <ns1:xfrm xmlns:ns1="http://schemas.openxmlformats.org/drawingml/2006/main">
                  <ns1:off x="3143250" y="5667375"/>
                  <ns1:ext cx="495300" cy="4953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4000" y="3000"/>
                      </ns2:moveTo>
                      <ns2:lnTo>
                        <ns2:pt x="14000" y="7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30956" cap="rnd">
                  <ns4:solidFill>
                    <ns4:srgbClr val="358972"/>
                  </ns4:solidFill>
                </ns4:ln>
              </p:spPr>
            </p:sp>
            <p:sp>
              <p:nvSpPr>
                <p:cNvPr id="10206" name="sliders-horizontal-3"/>
                <p:cNvSpPr/>
                <p:nvPr/>
              </p:nvSpPr>
              <p:spPr>
                <ns1:xfrm xmlns:ns1="http://schemas.openxmlformats.org/drawingml/2006/main">
                  <ns1:off x="3143250" y="5667375"/>
                  <ns1:ext cx="495300" cy="4953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6000" y="17000"/>
                      </ns2:moveTo>
                      <ns2:lnTo>
                        <ns2:pt x="16000" y="21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30956" cap="rnd">
                  <ns4:solidFill>
                    <ns4:srgbClr val="358972"/>
                  </ns4:solidFill>
                </ns4:ln>
              </p:spPr>
            </p:sp>
            <p:sp>
              <p:nvSpPr>
                <p:cNvPr id="10207" name="sliders-horizontal-4"/>
                <p:cNvSpPr/>
                <p:nvPr/>
              </p:nvSpPr>
              <p:spPr>
                <ns1:xfrm xmlns:ns1="http://schemas.openxmlformats.org/drawingml/2006/main">
                  <ns1:off x="3143250" y="5667375"/>
                  <ns1:ext cx="495300" cy="4953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21000" y="12000"/>
                      </ns2:moveTo>
                      <ns2:lnTo>
                        <ns2:pt x="12000" y="12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30956" cap="rnd">
                  <ns4:solidFill>
                    <ns4:srgbClr val="358972"/>
                  </ns4:solidFill>
                </ns4:ln>
              </p:spPr>
            </p:sp>
            <p:sp>
              <p:nvSpPr>
                <p:cNvPr id="10208" name="sliders-horizontal-5"/>
                <p:cNvSpPr/>
                <p:nvPr/>
              </p:nvSpPr>
              <p:spPr>
                <ns1:xfrm xmlns:ns1="http://schemas.openxmlformats.org/drawingml/2006/main">
                  <ns1:off x="3143250" y="5667375"/>
                  <ns1:ext cx="495300" cy="4953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21000" y="19000"/>
                      </ns2:moveTo>
                      <ns2:lnTo>
                        <ns2:pt x="16000" y="19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30956" cap="rnd">
                  <ns4:solidFill>
                    <ns4:srgbClr val="358972"/>
                  </ns4:solidFill>
                </ns4:ln>
              </p:spPr>
            </p:sp>
            <p:sp>
              <p:nvSpPr>
                <p:cNvPr id="10209" name="sliders-horizontal-6"/>
                <p:cNvSpPr/>
                <p:nvPr/>
              </p:nvSpPr>
              <p:spPr>
                <ns1:xfrm xmlns:ns1="http://schemas.openxmlformats.org/drawingml/2006/main">
                  <ns1:off x="3143250" y="5667375"/>
                  <ns1:ext cx="495300" cy="4953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21000" y="5000"/>
                      </ns2:moveTo>
                      <ns2:lnTo>
                        <ns2:pt x="14000" y="5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30956" cap="rnd">
                  <ns4:solidFill>
                    <ns4:srgbClr val="358972"/>
                  </ns4:solidFill>
                </ns4:ln>
              </p:spPr>
            </p:sp>
            <p:sp>
              <p:nvSpPr>
                <p:cNvPr id="10210" name="sliders-horizontal-7"/>
                <p:cNvSpPr/>
                <p:nvPr/>
              </p:nvSpPr>
              <p:spPr>
                <ns1:xfrm xmlns:ns1="http://schemas.openxmlformats.org/drawingml/2006/main">
                  <ns1:off x="3143250" y="5667375"/>
                  <ns1:ext cx="495300" cy="4953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8000" y="10000"/>
                      </ns2:moveTo>
                      <ns2:lnTo>
                        <ns2:pt x="8000" y="14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30956" cap="rnd">
                  <ns4:solidFill>
                    <ns4:srgbClr val="358972"/>
                  </ns4:solidFill>
                </ns4:ln>
              </p:spPr>
            </p:sp>
            <p:sp>
              <p:nvSpPr>
                <p:cNvPr id="10211" name="sliders-horizontal-8"/>
                <p:cNvSpPr/>
                <p:nvPr/>
              </p:nvSpPr>
              <p:spPr>
                <ns1:xfrm xmlns:ns1="http://schemas.openxmlformats.org/drawingml/2006/main">
                  <ns1:off x="3143250" y="5667375"/>
                  <ns1:ext cx="495300" cy="4953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8000" y="12000"/>
                      </ns2:moveTo>
                      <ns2:lnTo>
                        <ns2:pt x="3000" y="12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30956" cap="rnd">
                  <ns4:solidFill>
                    <ns4:srgbClr val="358972"/>
                  </ns4:solidFill>
                </ns4:ln>
              </p:spPr>
            </p:sp>
          </p:grpSp>
          <p:sp>
            <p:nvSpPr>
              <p:cNvPr id="10213" name="Align history&#10;Retrieve context"/>
              <p:cNvSpPr/>
              <p:nvPr/>
            </p:nvSpPr>
            <p:spPr>
              <ns1:xfrm xmlns:ns1="http://schemas.openxmlformats.org/drawingml/2006/main">
                <ns1:off x="3819525" y="5619750"/>
                <ns1:ext cx="1762125" cy="581025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l"/>
                <ns7:r>
                  <ns7:rPr sz="1650" b="0">
                    <ns7:solidFill>
                      <ns7:srgbClr val="25465E"/>
                    </ns7:solidFill>
                    <ns7:latin typeface="Times New Roman"/>
                    <ns7:ea typeface="Times New Roman"/>
                  </ns7:rPr>
                  <ns7:t>Align history</ns7:t>
                </ns7:r>
              </ns7:p>
              <ns8:p xmlns:ns8="http://schemas.openxmlformats.org/drawingml/2006/main">
                <ns8:pPr algn="l"/>
                <ns8:r>
                  <ns8:rPr sz="1650" b="0">
                    <ns8:solidFill>
                      <ns8:srgbClr val="25465E"/>
                    </ns8:solidFill>
                    <ns8:latin typeface="Times New Roman"/>
                    <ns8:ea typeface="Times New Roman"/>
                  </ns8:rPr>
                  <ns8:t>Retrieve context</ns8:t>
                </ns8:r>
              </ns8:p>
            </p:txBody>
          </p:sp>
          <p:sp>
            <p:nvSpPr>
              <p:cNvPr id="10214" name="General Time-Series Harness"/>
              <p:cNvSpPr/>
              <p:nvPr/>
            </p:nvSpPr>
            <p:spPr>
              <ns1:xfrm xmlns:ns1="http://schemas.openxmlformats.org/drawingml/2006/main">
                <ns1:off x="3000375" y="6267450"/>
                <ns1:ext cx="2619375" cy="24765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350" b="0">
                    <ns7:solidFill>
                      <ns7:srgbClr val="358972"/>
                    </ns7:solidFill>
                    <ns7:latin typeface="Times New Roman"/>
                    <ns7:ea typeface="Times New Roman"/>
                  </ns7:rPr>
                  <ns7:t>General Time-Series Harness</ns7:t>
                </ns7:r>
              </ns7:p>
            </p:txBody>
          </p:sp>
          <p:sp>
            <p:nvSpPr>
              <p:cNvPr id="10215" name="Resource separator"/>
              <p:cNvSpPr/>
              <p:nvPr/>
            </p:nvSpPr>
            <p:spPr>
              <ns1:xfrm xmlns:ns1="http://schemas.openxmlformats.org/drawingml/2006/main">
                <ns1:off x="3095625" y="6619875"/>
                <ns1:ext cx="2428875" cy="9525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55000" h="1000" fill="none">
                    <ns2:moveTo>
                      <ns2:pt x="0" y="0"/>
                    </ns2:moveTo>
                    <ns2:lnTo>
                      <ns2:pt x="255000" y="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9525" cap="rnd">
                <ns4:solidFill>
                  <ns4:srgbClr val="D8E1E5"/>
                </ns4:solidFill>
              </ns4:ln>
            </p:spPr>
          </p:sp>
          <p:sp>
            <p:nvSpPr>
              <p:cNvPr id="10216" name="Dr-CiK"/>
              <p:cNvSpPr/>
              <p:nvPr/>
            </p:nvSpPr>
            <p:spPr>
              <ns1:xfrm xmlns:ns1="http://schemas.openxmlformats.org/drawingml/2006/main">
                <ns1:off x="3000375" y="6696075"/>
                <ns1:ext cx="2619375" cy="26670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575" b="1">
                    <ns7:solidFill>
                      <ns7:srgbClr val="25465E"/>
                    </ns7:solidFill>
                    <ns7:latin typeface="Times New Roman"/>
                    <ns7:ea typeface="Times New Roman"/>
                  </ns7:rPr>
                  <ns7:t>Dr-CiK</ns7:t>
                </ns7:r>
              </ns7:p>
            </p:txBody>
          </p:sp>
          <p:sp>
            <p:nvSpPr>
              <p:cNvPr id="10217" name="Context tests"/>
              <p:cNvSpPr/>
              <p:nvPr/>
            </p:nvSpPr>
            <p:spPr>
              <ns1:xfrm xmlns:ns1="http://schemas.openxmlformats.org/drawingml/2006/main">
                <ns1:off x="3000375" y="7000875"/>
                <ns1:ext cx="2619375" cy="22860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425" b="0">
                    <ns7:solidFill>
                      <ns7:srgbClr val="25465E"/>
                    </ns7:solidFill>
                    <ns7:latin typeface="Times New Roman"/>
                    <ns7:ea typeface="Times New Roman"/>
                  </ns7:rPr>
                  <ns7:t>Context tests</ns7:t>
                </ns7:r>
              </ns7:p>
            </p:txBody>
          </p:sp>
        </p:grpSp>
        <p:sp>
          <p:nvSpPr>
            <p:cNvPr id="10219" name="Composition arrow"/>
            <p:cNvSpPr/>
            <p:nvPr/>
          </p:nvSpPr>
          <p:spPr>
            <ns1:xfrm xmlns:ns1="http://schemas.openxmlformats.org/drawingml/2006/main">
              <ns1:off x="5591175" y="5915025"/>
              <ns1:ext cx="209550" cy="9525"/>
            </ns1:xfrm>
            <ns2:custGeom xmlns:ns2="http://schemas.openxmlformats.org/drawingml/2006/main">
              <ns2:avLst/>
              <ns2:gdLst/>
              <ns2:ahLst/>
              <ns2:cxnLst/>
              <ns2:rect l="l" t="t" r="r" b="b"/>
              <ns2:pathLst>
                <ns2:path w="22000" h="1000" fill="none">
                  <ns2:moveTo>
                    <ns2:pt x="0" y="0"/>
                  </ns2:moveTo>
                  <ns2:lnTo>
                    <ns2:pt x="22000" y="0"/>
                  </ns2:lnTo>
                </ns2:path>
              </ns2:pathLst>
            </ns2:custGeom>
            <ns3:noFill xmlns:ns3="http://schemas.openxmlformats.org/drawingml/2006/main"/>
            <ns4:ln xmlns:ns4="http://schemas.openxmlformats.org/drawingml/2006/main" w="19050" cap="rnd">
              <ns4:solidFill>
                <ns4:srgbClr val="91A4AF"/>
              </ns4:solidFill>
              <ns4:tailEnd type="triangle"/>
            </ns4:ln>
          </p:spPr>
        </p:sp>
        <p:grpSp>
          <p:nvGrpSpPr>
            <p:cNvPr id="10233" name="Forecast procedure"/>
            <p:cNvGrpSpPr/>
            <p:nvPr/>
          </p:nvGrpSpPr>
          <p:grpSpPr>
            <ns1:xfrm xmlns:ns1="http://schemas.openxmlformats.org/drawingml/2006/main">
              <ns1:off x="5810250" y="5219700"/>
              <ns1:ext cx="2619375" cy="2009775"/>
              <ns1:chOff x="5810250" y="5219700"/>
              <ns1:chExt cx="2619375" cy="2009775"/>
            </ns1:xfrm>
          </p:grpSpPr>
          <p:sp>
            <p:nvSpPr>
              <p:cNvPr id="10220" name="Forecast procedure"/>
              <p:cNvSpPr/>
              <p:nvPr/>
            </p:nvSpPr>
            <p:spPr>
              <ns1:xfrm xmlns:ns1="http://schemas.openxmlformats.org/drawingml/2006/main">
                <ns1:off x="5810250" y="5219700"/>
                <ns1:ext cx="2619375" cy="28575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800" b="1">
                    <ns7:solidFill>
                      <ns7:srgbClr val="705A99"/>
                    </ns7:solidFill>
                    <ns7:latin typeface="Times New Roman"/>
                    <ns7:ea typeface="Times New Roman"/>
                  </ns7:rPr>
                  <ns7:t>Forecast procedure</ns7:t>
                </ns7:r>
              </ns7:p>
            </p:txBody>
          </p:sp>
          <p:grpSp>
            <p:nvGrpSpPr>
              <p:cNvPr id="10227" name="chart-no-axes-combined editable icon"/>
              <p:cNvGrpSpPr/>
              <p:nvPr/>
            </p:nvGrpSpPr>
            <p:grpSpPr>
              <ns1:xfrm xmlns:ns1="http://schemas.openxmlformats.org/drawingml/2006/main">
                <ns1:off x="5953125" y="5667375"/>
                <ns1:ext cx="495300" cy="495300"/>
                <ns1:chOff x="5953125" y="5667375"/>
                <ns1:chExt cx="495300" cy="495300"/>
              </ns1:xfrm>
            </p:grpSpPr>
            <p:sp>
              <p:nvSpPr>
                <p:cNvPr id="10221" name="chart-no-axes-combined-0"/>
                <p:cNvSpPr/>
                <p:nvPr/>
              </p:nvSpPr>
              <p:spPr>
                <ns1:xfrm xmlns:ns1="http://schemas.openxmlformats.org/drawingml/2006/main">
                  <ns1:off x="5953125" y="5667375"/>
                  <ns1:ext cx="495300" cy="4953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2000" y="16000"/>
                      </ns2:moveTo>
                      <ns2:lnTo>
                        <ns2:pt x="12000" y="21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30956" cap="rnd">
                  <ns4:solidFill>
                    <ns4:srgbClr val="705A99"/>
                  </ns4:solidFill>
                </ns4:ln>
              </p:spPr>
            </p:sp>
            <p:sp>
              <p:nvSpPr>
                <p:cNvPr id="10222" name="chart-no-axes-combined-1"/>
                <p:cNvSpPr/>
                <p:nvPr/>
              </p:nvSpPr>
              <p:spPr>
                <ns1:xfrm xmlns:ns1="http://schemas.openxmlformats.org/drawingml/2006/main">
                  <ns1:off x="5953125" y="5667375"/>
                  <ns1:ext cx="495300" cy="4953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6000" y="14639"/>
                      </ns2:moveTo>
                      <ns2:lnTo>
                        <ns2:pt x="16000" y="21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30956" cap="rnd">
                  <ns4:solidFill>
                    <ns4:srgbClr val="705A99"/>
                  </ns4:solidFill>
                </ns4:ln>
              </p:spPr>
            </p:sp>
            <p:sp>
              <p:nvSpPr>
                <p:cNvPr id="10223" name="chart-no-axes-combined-2"/>
                <p:cNvSpPr/>
                <p:nvPr/>
              </p:nvSpPr>
              <p:spPr>
                <ns1:xfrm xmlns:ns1="http://schemas.openxmlformats.org/drawingml/2006/main">
                  <ns1:off x="5953125" y="5667375"/>
                  <ns1:ext cx="495300" cy="4953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20000" y="10656"/>
                      </ns2:moveTo>
                      <ns2:lnTo>
                        <ns2:pt x="20000" y="21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30956" cap="rnd">
                  <ns4:solidFill>
                    <ns4:srgbClr val="705A99"/>
                  </ns4:solidFill>
                </ns4:ln>
              </p:spPr>
            </p:sp>
            <p:sp>
              <p:nvSpPr>
                <p:cNvPr id="10224" name="chart-no-axes-combined-3"/>
                <p:cNvSpPr/>
                <p:nvPr/>
              </p:nvSpPr>
              <p:spPr>
                <ns1:xfrm xmlns:ns1="http://schemas.openxmlformats.org/drawingml/2006/main">
                  <ns1:off x="5953125" y="5667375"/>
                  <ns1:ext cx="495300" cy="4953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22000" y="3000"/>
                      </ns2:moveTo>
                      <ns2:lnTo>
                        <ns2:pt x="13354" y="11646"/>
                      </ns2:lnTo>
                      <ns2:cubicBezTo>
                        <ns2:pt x="13260" y="11740"/>
                        <ns2:pt x="13133" y="11793"/>
                        <ns2:pt x="13000" y="11793"/>
                      </ns2:cubicBezTo>
                      <ns2:cubicBezTo>
                        <ns2:pt x="12867" y="11793"/>
                        <ns2:pt x="12740" y="11740"/>
                        <ns2:pt x="12646" y="11646"/>
                      </ns2:cubicBezTo>
                      <ns2:lnTo>
                        <ns2:pt x="9354" y="8354"/>
                      </ns2:lnTo>
                      <ns2:cubicBezTo>
                        <ns2:pt x="9159" y="8159"/>
                        <ns2:pt x="8842" y="8159"/>
                        <ns2:pt x="8647" y="8354"/>
                      </ns2:cubicBezTo>
                      <ns2:lnTo>
                        <ns2:pt x="2000" y="15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30956" cap="rnd">
                  <ns4:solidFill>
                    <ns4:srgbClr val="705A99"/>
                  </ns4:solidFill>
                </ns4:ln>
              </p:spPr>
            </p:sp>
            <p:sp>
              <p:nvSpPr>
                <p:cNvPr id="10225" name="chart-no-axes-combined-4"/>
                <p:cNvSpPr/>
                <p:nvPr/>
              </p:nvSpPr>
              <p:spPr>
                <ns1:xfrm xmlns:ns1="http://schemas.openxmlformats.org/drawingml/2006/main">
                  <ns1:off x="5953125" y="5667375"/>
                  <ns1:ext cx="495300" cy="4953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4000" y="18463"/>
                      </ns2:moveTo>
                      <ns2:lnTo>
                        <ns2:pt x="4000" y="21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30956" cap="rnd">
                  <ns4:solidFill>
                    <ns4:srgbClr val="705A99"/>
                  </ns4:solidFill>
                </ns4:ln>
              </p:spPr>
            </p:sp>
            <p:sp>
              <p:nvSpPr>
                <p:cNvPr id="10226" name="chart-no-axes-combined-5"/>
                <p:cNvSpPr/>
                <p:nvPr/>
              </p:nvSpPr>
              <p:spPr>
                <ns1:xfrm xmlns:ns1="http://schemas.openxmlformats.org/drawingml/2006/main">
                  <ns1:off x="5953125" y="5667375"/>
                  <ns1:ext cx="495300" cy="4953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8000" y="14656"/>
                      </ns2:moveTo>
                      <ns2:lnTo>
                        <ns2:pt x="8000" y="21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30956" cap="rnd">
                  <ns4:solidFill>
                    <ns4:srgbClr val="705A99"/>
                  </ns4:solidFill>
                </ns4:ln>
              </p:spPr>
            </p:sp>
          </p:grpSp>
          <p:sp>
            <p:nvSpPr>
              <p:cNvPr id="10228" name="Select model&#10;Revise forecast"/>
              <p:cNvSpPr/>
              <p:nvPr/>
            </p:nvSpPr>
            <p:spPr>
              <ns1:xfrm xmlns:ns1="http://schemas.openxmlformats.org/drawingml/2006/main">
                <ns1:off x="6629400" y="5619750"/>
                <ns1:ext cx="1762125" cy="581025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l"/>
                <ns7:r>
                  <ns7:rPr sz="1650" b="0">
                    <ns7:solidFill>
                      <ns7:srgbClr val="25465E"/>
                    </ns7:solidFill>
                    <ns7:latin typeface="Times New Roman"/>
                    <ns7:ea typeface="Times New Roman"/>
                  </ns7:rPr>
                  <ns7:t>Select model</ns7:t>
                </ns7:r>
              </ns7:p>
              <ns8:p xmlns:ns8="http://schemas.openxmlformats.org/drawingml/2006/main">
                <ns8:pPr algn="l"/>
                <ns8:r>
                  <ns8:rPr sz="1650" b="0">
                    <ns8:solidFill>
                      <ns8:srgbClr val="25465E"/>
                    </ns8:solidFill>
                    <ns8:latin typeface="Times New Roman"/>
                    <ns8:ea typeface="Times New Roman"/>
                  </ns8:rPr>
                  <ns8:t>Revise forecast</ns8:t>
                </ns8:r>
              </ns8:p>
            </p:txBody>
          </p:sp>
          <p:sp>
            <p:nvSpPr>
              <p:cNvPr id="10229" name="Task-Specific Harness"/>
              <p:cNvSpPr/>
              <p:nvPr/>
            </p:nvSpPr>
            <p:spPr>
              <ns1:xfrm xmlns:ns1="http://schemas.openxmlformats.org/drawingml/2006/main">
                <ns1:off x="5810250" y="6267450"/>
                <ns1:ext cx="2619375" cy="24765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350" b="0">
                    <ns7:solidFill>
                      <ns7:srgbClr val="705A99"/>
                    </ns7:solidFill>
                    <ns7:latin typeface="Times New Roman"/>
                    <ns7:ea typeface="Times New Roman"/>
                  </ns7:rPr>
                  <ns7:t>Task-Specific Harness</ns7:t>
                </ns7:r>
              </ns7:p>
            </p:txBody>
          </p:sp>
          <p:sp>
            <p:nvSpPr>
              <p:cNvPr id="10230" name="Resource separator"/>
              <p:cNvSpPr/>
              <p:nvPr/>
            </p:nvSpPr>
            <p:spPr>
              <ns1:xfrm xmlns:ns1="http://schemas.openxmlformats.org/drawingml/2006/main">
                <ns1:off x="5905500" y="6619875"/>
                <ns1:ext cx="2428875" cy="9525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55000" h="1000" fill="none">
                    <ns2:moveTo>
                      <ns2:pt x="0" y="0"/>
                    </ns2:moveTo>
                    <ns2:lnTo>
                      <ns2:pt x="255000" y="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9525" cap="rnd">
                <ns4:solidFill>
                  <ns4:srgbClr val="D8E1E5"/>
                </ns4:solidFill>
              </ns4:ln>
            </p:spPr>
          </p:sp>
          <p:sp>
            <p:nvSpPr>
              <p:cNvPr id="10231" name="ModernTSF"/>
              <p:cNvSpPr/>
              <p:nvPr/>
            </p:nvSpPr>
            <p:spPr>
              <ns1:xfrm xmlns:ns1="http://schemas.openxmlformats.org/drawingml/2006/main">
                <ns1:off x="5810250" y="6696075"/>
                <ns1:ext cx="2619375" cy="26670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575" b="1">
                    <ns7:solidFill>
                      <ns7:srgbClr val="25465E"/>
                    </ns7:solidFill>
                    <ns7:latin typeface="Times New Roman"/>
                    <ns7:ea typeface="Times New Roman"/>
                  </ns7:rPr>
                  <ns7:t>ModernTSF</ns7:t>
                </ns7:r>
              </ns7:p>
            </p:txBody>
          </p:sp>
          <p:sp>
            <p:nvSpPr>
              <p:cNvPr id="10232" name="Model library"/>
              <p:cNvSpPr/>
              <p:nvPr/>
            </p:nvSpPr>
            <p:spPr>
              <ns1:xfrm xmlns:ns1="http://schemas.openxmlformats.org/drawingml/2006/main">
                <ns1:off x="5810250" y="7000875"/>
                <ns1:ext cx="2619375" cy="22860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425" b="0">
                    <ns7:solidFill>
                      <ns7:srgbClr val="25465E"/>
                    </ns7:solidFill>
                    <ns7:latin typeface="Times New Roman"/>
                    <ns7:ea typeface="Times New Roman"/>
                  </ns7:rPr>
                  <ns7:t>Model library</ns7:t>
                </ns7:r>
              </ns7:p>
            </p:txBody>
          </p:sp>
        </p:grpSp>
        <p:sp>
          <p:nvSpPr>
            <p:cNvPr id="10234" name="Composition arrow"/>
            <p:cNvSpPr/>
            <p:nvPr/>
          </p:nvSpPr>
          <p:spPr>
            <ns1:xfrm xmlns:ns1="http://schemas.openxmlformats.org/drawingml/2006/main">
              <ns1:off x="8401050" y="5915025"/>
              <ns1:ext cx="209550" cy="9525"/>
            </ns1:xfrm>
            <ns2:custGeom xmlns:ns2="http://schemas.openxmlformats.org/drawingml/2006/main">
              <ns2:avLst/>
              <ns2:gdLst/>
              <ns2:ahLst/>
              <ns2:cxnLst/>
              <ns2:rect l="l" t="t" r="r" b="b"/>
              <ns2:pathLst>
                <ns2:path w="22000" h="1000" fill="none">
                  <ns2:moveTo>
                    <ns2:pt x="0" y="0"/>
                  </ns2:moveTo>
                  <ns2:lnTo>
                    <ns2:pt x="22000" y="0"/>
                  </ns2:lnTo>
                </ns2:path>
              </ns2:pathLst>
            </ns2:custGeom>
            <ns3:noFill xmlns:ns3="http://schemas.openxmlformats.org/drawingml/2006/main"/>
            <ns4:ln xmlns:ns4="http://schemas.openxmlformats.org/drawingml/2006/main" w="19050" cap="rnd">
              <ns4:solidFill>
                <ns4:srgbClr val="91A4AF"/>
              </ns4:solidFill>
              <ns4:tailEnd type="triangle"/>
            </ns4:ln>
          </p:spPr>
        </p:sp>
        <p:grpSp>
          <p:nvGrpSpPr>
            <p:cNvPr id="10246" name="Inventory decision"/>
            <p:cNvGrpSpPr/>
            <p:nvPr/>
          </p:nvGrpSpPr>
          <p:grpSpPr>
            <ns1:xfrm xmlns:ns1="http://schemas.openxmlformats.org/drawingml/2006/main">
              <ns1:off x="8620125" y="5219700"/>
              <ns1:ext cx="2619375" cy="2009775"/>
              <ns1:chOff x="8620125" y="5219700"/>
              <ns1:chExt cx="2619375" cy="2009775"/>
            </ns1:xfrm>
          </p:grpSpPr>
          <p:sp>
            <p:nvSpPr>
              <p:cNvPr id="10235" name="Inventory decision"/>
              <p:cNvSpPr/>
              <p:nvPr/>
            </p:nvSpPr>
            <p:spPr>
              <ns1:xfrm xmlns:ns1="http://schemas.openxmlformats.org/drawingml/2006/main">
                <ns1:off x="8620125" y="5219700"/>
                <ns1:ext cx="2619375" cy="28575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800" b="1">
                    <ns7:solidFill>
                      <ns7:srgbClr val="A77838"/>
                    </ns7:solidFill>
                    <ns7:latin typeface="Times New Roman"/>
                    <ns7:ea typeface="Times New Roman"/>
                  </ns7:rPr>
                  <ns7:t>Inventory decision</ns7:t>
                </ns7:r>
              </ns7:p>
            </p:txBody>
          </p:sp>
          <p:grpSp>
            <p:nvGrpSpPr>
              <p:cNvPr id="10240" name="package editable icon"/>
              <p:cNvGrpSpPr/>
              <p:nvPr/>
            </p:nvGrpSpPr>
            <p:grpSpPr>
              <ns1:xfrm xmlns:ns1="http://schemas.openxmlformats.org/drawingml/2006/main">
                <ns1:off x="8763000" y="5667375"/>
                <ns1:ext cx="495300" cy="495300"/>
                <ns1:chOff x="8763000" y="5667375"/>
                <ns1:chExt cx="495300" cy="495300"/>
              </ns1:xfrm>
            </p:grpSpPr>
            <p:sp>
              <p:nvSpPr>
                <p:cNvPr id="10236" name="package-0"/>
                <p:cNvSpPr/>
                <p:nvPr/>
              </p:nvSpPr>
              <p:spPr>
                <ns1:xfrm xmlns:ns1="http://schemas.openxmlformats.org/drawingml/2006/main">
                  <ns1:off x="8763000" y="5667375"/>
                  <ns1:ext cx="495300" cy="4953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1000" y="21730"/>
                      </ns2:moveTo>
                      <ns2:cubicBezTo>
                        <ns2:pt x="11619" y="22087"/>
                        <ns2:pt x="12381" y="22087"/>
                        <ns2:pt x="13000" y="21730"/>
                      </ns2:cubicBezTo>
                      <ns2:lnTo>
                        <ns2:pt x="20000" y="17730"/>
                      </ns2:lnTo>
                      <ns2:cubicBezTo>
                        <ns2:pt x="20618" y="17373"/>
                        <ns2:pt x="20999" y="16714"/>
                        <ns2:pt x="21000" y="16000"/>
                      </ns2:cubicBezTo>
                      <ns2:lnTo>
                        <ns2:pt x="21000" y="8000"/>
                      </ns2:lnTo>
                      <ns2:cubicBezTo>
                        <ns2:pt x="20999" y="7286"/>
                        <ns2:pt x="20618" y="6627"/>
                        <ns2:pt x="20000" y="6270"/>
                      </ns2:cubicBezTo>
                      <ns2:lnTo>
                        <ns2:pt x="13000" y="2270"/>
                      </ns2:lnTo>
                      <ns2:cubicBezTo>
                        <ns2:pt x="12381" y="1913"/>
                        <ns2:pt x="11619" y="1913"/>
                        <ns2:pt x="11000" y="2270"/>
                      </ns2:cubicBezTo>
                      <ns2:lnTo>
                        <ns2:pt x="4000" y="6270"/>
                      </ns2:lnTo>
                      <ns2:cubicBezTo>
                        <ns2:pt x="3382" y="6627"/>
                        <ns2:pt x="3001" y="7286"/>
                        <ns2:pt x="3000" y="8000"/>
                      </ns2:cubicBezTo>
                      <ns2:lnTo>
                        <ns2:pt x="3000" y="16000"/>
                      </ns2:lnTo>
                      <ns2:cubicBezTo>
                        <ns2:pt x="3001" y="16714"/>
                        <ns2:pt x="3382" y="17373"/>
                        <ns2:pt x="4000" y="17730"/>
                      </ns2:cubicBezTo>
                      <ns2:lnTo>
                        <ns2:pt x="11000" y="21730"/>
                      </ns2:lnTo>
                      <ns2:close/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30956" cap="rnd">
                  <ns4:solidFill>
                    <ns4:srgbClr val="A77838"/>
                  </ns4:solidFill>
                </ns4:ln>
              </p:spPr>
            </p:sp>
            <p:sp>
              <p:nvSpPr>
                <p:cNvPr id="10237" name="package-1"/>
                <p:cNvSpPr/>
                <p:nvPr/>
              </p:nvSpPr>
              <p:spPr>
                <ns1:xfrm xmlns:ns1="http://schemas.openxmlformats.org/drawingml/2006/main">
                  <ns1:off x="8763000" y="5667375"/>
                  <ns1:ext cx="495300" cy="4953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12000" y="22000"/>
                      </ns2:moveTo>
                      <ns2:lnTo>
                        <ns2:pt x="12000" y="12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30956" cap="rnd">
                  <ns4:solidFill>
                    <ns4:srgbClr val="A77838"/>
                  </ns4:solidFill>
                </ns4:ln>
              </p:spPr>
            </p:sp>
            <p:sp>
              <p:nvSpPr>
                <p:cNvPr id="10238" name="package-2"/>
                <p:cNvSpPr/>
                <p:nvPr/>
              </p:nvSpPr>
              <p:spPr>
                <ns1:xfrm xmlns:ns1="http://schemas.openxmlformats.org/drawingml/2006/main">
                  <ns1:off x="8763000" y="5667375"/>
                  <ns1:ext cx="495300" cy="4953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3290" y="7000"/>
                      </ns2:moveTo>
                      <ns2:lnTo>
                        <ns2:pt x="12000" y="12000"/>
                      </ns2:lnTo>
                      <ns2:lnTo>
                        <ns2:pt x="20710" y="700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30956" cap="rnd">
                  <ns4:solidFill>
                    <ns4:srgbClr val="A77838"/>
                  </ns4:solidFill>
                </ns4:ln>
              </p:spPr>
            </p:sp>
            <p:sp>
              <p:nvSpPr>
                <p:cNvPr id="10239" name="package-3"/>
                <p:cNvSpPr/>
                <p:nvPr/>
              </p:nvSpPr>
              <p:spPr>
                <ns1:xfrm xmlns:ns1="http://schemas.openxmlformats.org/drawingml/2006/main">
                  <ns1:off x="8763000" y="5667375"/>
                  <ns1:ext cx="495300" cy="495300"/>
                </ns1:xfrm>
                <ns2:custGeom xmlns:ns2="http://schemas.openxmlformats.org/drawingml/2006/main">
                  <ns2:avLst/>
                  <ns2:gdLst/>
                  <ns2:ahLst/>
                  <ns2:cxnLst/>
                  <ns2:rect l="l" t="t" r="r" b="b"/>
                  <ns2:pathLst>
                    <ns2:path w="24000" h="24000" fill="none">
                      <ns2:moveTo>
                        <ns2:pt x="7500" y="4270"/>
                      </ns2:moveTo>
                      <ns2:lnTo>
                        <ns2:pt x="16500" y="9420"/>
                      </ns2:lnTo>
                    </ns2:path>
                  </ns2:pathLst>
                </ns2:custGeom>
                <ns3:noFill xmlns:ns3="http://schemas.openxmlformats.org/drawingml/2006/main"/>
                <ns4:ln xmlns:ns4="http://schemas.openxmlformats.org/drawingml/2006/main" w="30956" cap="rnd">
                  <ns4:solidFill>
                    <ns4:srgbClr val="A77838"/>
                  </ns4:solidFill>
                </ns4:ln>
              </p:spPr>
            </p:sp>
          </p:grpSp>
          <p:sp>
            <p:nvSpPr>
              <p:cNvPr id="10241" name="Set stock levels&#10;Check costs"/>
              <p:cNvSpPr/>
              <p:nvPr/>
            </p:nvSpPr>
            <p:spPr>
              <ns1:xfrm xmlns:ns1="http://schemas.openxmlformats.org/drawingml/2006/main">
                <ns1:off x="9439275" y="5619750"/>
                <ns1:ext cx="1762125" cy="581025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l"/>
                <ns7:r>
                  <ns7:rPr sz="1650" b="0">
                    <ns7:solidFill>
                      <ns7:srgbClr val="25465E"/>
                    </ns7:solidFill>
                    <ns7:latin typeface="Times New Roman"/>
                    <ns7:ea typeface="Times New Roman"/>
                  </ns7:rPr>
                  <ns7:t>Set stock levels</ns7:t>
                </ns7:r>
              </ns7:p>
              <ns8:p xmlns:ns8="http://schemas.openxmlformats.org/drawingml/2006/main">
                <ns8:pPr algn="l"/>
                <ns8:r>
                  <ns8:rPr sz="1650" b="0">
                    <ns8:solidFill>
                      <ns8:srgbClr val="25465E"/>
                    </ns8:solidFill>
                    <ns8:latin typeface="Times New Roman"/>
                    <ns8:ea typeface="Times New Roman"/>
                  </ns8:rPr>
                  <ns8:t>Check costs</ns8:t>
                </ns8:r>
              </ns8:p>
            </p:txBody>
          </p:sp>
          <p:sp>
            <p:nvSpPr>
              <p:cNvPr id="10242" name="Task-Specific Harness"/>
              <p:cNvSpPr/>
              <p:nvPr/>
            </p:nvSpPr>
            <p:spPr>
              <ns1:xfrm xmlns:ns1="http://schemas.openxmlformats.org/drawingml/2006/main">
                <ns1:off x="8620125" y="6267450"/>
                <ns1:ext cx="2619375" cy="24765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350" b="0">
                    <ns7:solidFill>
                      <ns7:srgbClr val="A77838"/>
                    </ns7:solidFill>
                    <ns7:latin typeface="Times New Roman"/>
                    <ns7:ea typeface="Times New Roman"/>
                  </ns7:rPr>
                  <ns7:t>Task-Specific Harness</ns7:t>
                </ns7:r>
              </ns7:p>
            </p:txBody>
          </p:sp>
          <p:sp>
            <p:nvSpPr>
              <p:cNvPr id="10243" name="Resource separator"/>
              <p:cNvSpPr/>
              <p:nvPr/>
            </p:nvSpPr>
            <p:spPr>
              <ns1:xfrm xmlns:ns1="http://schemas.openxmlformats.org/drawingml/2006/main">
                <ns1:off x="8715375" y="6619875"/>
                <ns1:ext cx="2428875" cy="9525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55000" h="1000" fill="none">
                    <ns2:moveTo>
                      <ns2:pt x="0" y="0"/>
                    </ns2:moveTo>
                    <ns2:lnTo>
                      <ns2:pt x="255000" y="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9525" cap="rnd">
                <ns4:solidFill>
                  <ns4:srgbClr val="D8E1E5"/>
                </ns4:solidFill>
              </ns4:ln>
            </p:spPr>
          </p:sp>
          <p:sp>
            <p:nvSpPr>
              <p:cNvPr id="10244" name="Inventory simulator"/>
              <p:cNvSpPr/>
              <p:nvPr/>
            </p:nvSpPr>
            <p:spPr>
              <ns1:xfrm xmlns:ns1="http://schemas.openxmlformats.org/drawingml/2006/main">
                <ns1:off x="8620125" y="6696075"/>
                <ns1:ext cx="2619375" cy="26670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575" b="1">
                    <ns7:solidFill>
                      <ns7:srgbClr val="25465E"/>
                    </ns7:solidFill>
                    <ns7:latin typeface="Times New Roman"/>
                    <ns7:ea typeface="Times New Roman"/>
                  </ns7:rPr>
                  <ns7:t>Inventory simulator</ns7:t>
                </ns7:r>
              </ns7:p>
            </p:txBody>
          </p:sp>
          <p:sp>
            <p:nvSpPr>
              <p:cNvPr id="10245" name="Scenario tests"/>
              <p:cNvSpPr/>
              <p:nvPr/>
            </p:nvSpPr>
            <p:spPr>
              <ns1:xfrm xmlns:ns1="http://schemas.openxmlformats.org/drawingml/2006/main">
                <ns1:off x="8620125" y="7000875"/>
                <ns1:ext cx="2619375" cy="228600"/>
              </ns1:xfrm>
              <ns2:prstGeom xmlns:ns2="http://schemas.openxmlformats.org/drawingml/2006/main" prst="rect">
                <ns2:avLst/>
              </ns2:prstGeom>
              <ns3:noFill xmlns:ns3="http://schemas.openxmlformats.org/drawingml/2006/main"/>
              <ns4:ln xmlns:ns4="http://schemas.openxmlformats.org/drawingml/2006/main" w="9525" cap="rnd">
                <ns4:noFill/>
              </ns4:ln>
            </p:spPr>
            <p:txBody>
              <ns5:bodyPr xmlns:ns5="http://schemas.openxmlformats.org/drawingml/2006/main" wrap="square" anchor="ctr" lIns="0" rIns="0" tIns="0" bIns="0"/>
              <ns6:lstStyle xmlns:ns6="http://schemas.openxmlformats.org/drawingml/2006/main"/>
              <ns7:p xmlns:ns7="http://schemas.openxmlformats.org/drawingml/2006/main">
                <ns7:pPr algn="ctr"/>
                <ns7:r>
                  <ns7:rPr sz="1425" b="0">
                    <ns7:solidFill>
                      <ns7:srgbClr val="25465E"/>
                    </ns7:solidFill>
                    <ns7:latin typeface="Times New Roman"/>
                    <ns7:ea typeface="Times New Roman"/>
                  </ns7:rPr>
                  <ns7:t>Scenario tests</ns7:t>
                </ns7:r>
              </ns7:p>
            </p:txBody>
          </p:sp>
        </p:grpSp>
      </p:grpSp>
    </p:spTree>
    <p:extLst>
      <p:ext uri="{BB962C8B-B14F-4D97-AF65-F5344CB8AC3E}">
        <p14:creationId xmlns:p14="http://schemas.microsoft.com/office/powerpoint/2010/main" val="15068543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2026-10-21T08:26:16.1990000Z</dcterms:created>
  <dcterms:modified xsi:type="dcterms:W3CDTF">2026-10-21T08:26:16.1990000Z</dcterms:modified>
</coreProperties>
</file>