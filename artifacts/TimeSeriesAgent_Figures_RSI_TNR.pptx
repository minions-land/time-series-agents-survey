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7b4699962b43e4" /><Relationship Type="http://schemas.openxmlformats.org/officeDocument/2006/relationships/extended-properties" Target="/docProps/app.xml" Id="Rde081594ae684d2f" /><Relationship Type="http://schemas.openxmlformats.org/officeDocument/2006/relationships/officeDocument" Target="/ppt/presentation.xml" Id="R188944c6bf4f43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f9113ac5a243b4"/>
  </p:sldMasterIdLst>
  <p:notesMasterIdLst>
    <p:notesMasterId xmlns:r="http://schemas.openxmlformats.org/officeDocument/2006/relationships" r:id="R76504d094ce94566"/>
  </p:notesMasterIdLst>
  <p:sldIdLst>
    <p:sldId xmlns:r="http://schemas.openxmlformats.org/officeDocument/2006/relationships" id="256" r:id="R707555683aea45de"/>
    <p:sldId xmlns:r="http://schemas.openxmlformats.org/officeDocument/2006/relationships" id="257" r:id="Rac93fee7ff564e07"/>
    <p:sldId xmlns:r="http://schemas.openxmlformats.org/officeDocument/2006/relationships" id="258" r:id="R6967d1bed1a04c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6c2ea6e8a74325" /><Relationship Type="http://schemas.openxmlformats.org/officeDocument/2006/relationships/slideMaster" Target="/ppt/slideMasters/slideMaster1.xml" Id="R36f9113ac5a243b4" /><Relationship Type="http://schemas.openxmlformats.org/officeDocument/2006/relationships/notesMaster" Target="/ppt/notesMasters/notesMaster1.xml" Id="R76504d094ce94566" /><Relationship Type="http://schemas.openxmlformats.org/officeDocument/2006/relationships/presProps" Target="/ppt/presProps.xml" Id="R92c06bb759a64ee7" /><Relationship Type="http://schemas.openxmlformats.org/officeDocument/2006/relationships/tableStyles" Target="/ppt/tableStyles.xml" Id="R3c04f260f9254c70" /><Relationship Type="http://schemas.openxmlformats.org/officeDocument/2006/relationships/slide" Target="/ppt/slides/slide1.xml" Id="R707555683aea45de" /><Relationship Type="http://schemas.openxmlformats.org/officeDocument/2006/relationships/slide" Target="/ppt/slides/slide2.xml" Id="Rac93fee7ff564e07" /><Relationship Type="http://schemas.openxmlformats.org/officeDocument/2006/relationships/slide" Target="/ppt/slides/slide3.xml" Id="R6967d1bed1a04c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cd30d2886f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f37ac52e3947ce" /><Relationship Type="http://schemas.openxmlformats.org/officeDocument/2006/relationships/notesMaster" Target="/ppt/notesMasters/notesMaster1.xml" Id="Red1ee324a24445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dbce6824da4091" /><Relationship Type="http://schemas.openxmlformats.org/officeDocument/2006/relationships/notesMaster" Target="/ppt/notesMasters/notesMaster1.xml" Id="R2d53e9fbccd441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f8da0ba39446fd" /><Relationship Type="http://schemas.openxmlformats.org/officeDocument/2006/relationships/notesMaster" Target="/ppt/notesMasters/notesMaster1.xml" Id="R147e281d996a4e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synthesized for this survey. The visual organization follows the survey sections and the paper-card schema. The layout style is adapted from the user-supplied Recursive Self-Improvement survey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synthesized from the seven-dimension General Harness vocabulary and the temporal obligations discussed in Section 5. The layout is adapted from the layered landscape figures in the user-supplied RSI survey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Representative works and dates are drawn from the maintained paper-classification ledger in this survey. Names are used as ledger labels; the chart is a synthesis rather than a citation-priority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638db028649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24b1dba3804ea6" /><Relationship Type="http://schemas.openxmlformats.org/officeDocument/2006/relationships/slideLayout" Target="/ppt/slideLayouts/slideLayout1.xml" Id="Rd0ffc1492d4440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ffc1492d4440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3511d599346a9" /><Relationship Type="http://schemas.openxmlformats.org/officeDocument/2006/relationships/notesSlide" Target="/ppt/notesSlides/notesSlide1.xml" Id="R1cda2e5d98b34a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079f96755445f" /><Relationship Type="http://schemas.openxmlformats.org/officeDocument/2006/relationships/notesSlide" Target="/ppt/notesSlides/notesSlide2.xml" Id="Re871329af71a4b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301290a1c4d15" /><Relationship Type="http://schemas.openxmlformats.org/officeDocument/2006/relationships/notesSlide" Target="/ppt/notesSlides/notesSlide3.xml" Id="R64a8f79eabd04f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D92F4FB-2F93-4B1E-B30A-8E82E1C9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Organization of the survey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4FAB1-8D3C-4E13-8C8B-AEF162C8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9532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Sections follow the construction of a Time-Series Agent and the evidence needed to evaluate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B4644-B676-4BFB-AB51-2D4E33A3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95400"/>
            <a:ext cx="38100" cy="485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4652"/>
          </a:solidFill>
          <a:ln xmlns:a="http://schemas.openxmlformats.org/drawingml/2006/main" w="13335">
            <a:solidFill>
              <a:srgbClr val="3D46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50E04-65AB-4DE0-A485-57AC54F9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276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F2B"/>
          </a:solidFill>
          <a:ln xmlns:a="http://schemas.openxmlformats.org/drawingml/2006/main" w="13335">
            <a:solidFill>
              <a:srgbClr val="B77F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486BB-3EE4-4D98-8BE9-A16E337A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066800"/>
            <a:ext cx="40005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3335">
            <a:solidFill>
              <a:srgbClr val="B77F2B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AF2F8-C479-4E44-BA55-AEFE924E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14425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§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0A990-6A53-4AB6-B589-D74A9201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0490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6D1CE-828C-416D-8D67-22E571F0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066800"/>
            <a:ext cx="5429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0478">
            <a:solidFill>
              <a:srgbClr val="B77F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8C8B3-1D84-48EC-9C13-3D52C88D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12395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Scope, motivation, and central questions</a:t>
            </a:r>
          </a:p>
        </p:txBody>
      </p:sp>
      <p:cxnSp>
        <p:nvCxnSpPr>
          <p:cNvPr id="8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410200" y="129063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F2B"/>
            </a:solidFill>
            <a:prstDash val="solid"/>
            <a:headEnd type="non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448C8-1977-4E41-A710-4C56933C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19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F2B"/>
          </a:solidFill>
          <a:ln xmlns:a="http://schemas.openxmlformats.org/drawingml/2006/main" w="13335">
            <a:solidFill>
              <a:srgbClr val="B77F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9EF8B-3E98-480D-A851-29C5CD2C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09725"/>
            <a:ext cx="40005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3335">
            <a:solidFill>
              <a:srgbClr val="B77F2B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6C852-905C-4FB5-BE77-EBA17C7C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5735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§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747C1-F6CC-466B-AAA1-FE777835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647825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What Is a Time-Series Agent?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A3553-F6CF-4079-800E-49CAE04E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09725"/>
            <a:ext cx="5429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0478">
            <a:solidFill>
              <a:srgbClr val="B77F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B65B4-B33D-4295-85E3-862A0672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6687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Construction layers and paper-card unit</a:t>
            </a:r>
          </a:p>
        </p:txBody>
      </p:sp>
      <p:cxnSp>
        <p:nvCxnSpPr>
          <p:cNvPr id="89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410200" y="1833563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F2B"/>
            </a:solidFill>
            <a:prstDash val="solid"/>
            <a:headEnd type="non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A4412-E41E-4CD9-8416-3E2DC398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362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639F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8C7499-3A10-43E5-9AEC-043EC5AD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52650"/>
            <a:ext cx="40005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3335">
            <a:solidFill>
              <a:srgbClr val="78639F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A9425D-BB21-4119-9164-149241C1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00275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§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9F33B-C5C6-43E6-BCD4-C73427AB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907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LLM-Side Contributions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4399CC-8A71-4CF9-9306-37DB834D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52650"/>
            <a:ext cx="5429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0478">
            <a:solidFill>
              <a:srgbClr val="78639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CD2FDC-B31C-497F-8EB1-7659E405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Temporal representation, alignment, reasoning</a:t>
            </a:r>
          </a:p>
        </p:txBody>
      </p:sp>
      <p:cxnSp>
        <p:nvCxnSpPr>
          <p:cNvPr id="96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410200" y="237648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solid"/>
            <a:headEnd type="non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489E8D-926D-4784-B1CB-6D7C48AB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05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315DAA-4093-4962-B9E0-DDCADB0B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95575"/>
            <a:ext cx="40005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3335">
            <a:solidFill>
              <a:srgbClr val="438B86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30DCBC-175F-4ACE-9208-1FB5F688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§ 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799223-B5FB-481B-8D4A-DF6BBDA6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33675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General Harness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BB7697-F044-4066-AB99-20B02D41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95575"/>
            <a:ext cx="5429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0478">
            <a:solidFill>
              <a:srgbClr val="438B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DDE2B0-B2C3-453F-805E-EC3B32E8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5272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Seven reusable runtime dimensions</a:t>
            </a:r>
          </a:p>
        </p:txBody>
      </p:sp>
      <p:cxnSp>
        <p:nvCxnSpPr>
          <p:cNvPr id="103" name=""/>
          <p:cNvCxnSpPr>
            <a:stCxn xmlns:a="http://schemas.openxmlformats.org/drawingml/2006/main" id="26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410200" y="2919413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non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C7DA9A-680F-4AB8-9C02-23B70F33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44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2467A5-F57E-4D6D-AB87-4F6B09EA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38500"/>
            <a:ext cx="40005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3335">
            <a:solidFill>
              <a:srgbClr val="438B86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C296DD-96C4-4364-A502-CA78678B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86125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§ 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AF2DC6-0786-4F68-96D5-43CC93DF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7660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General Time-Series Harness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E69F81-CD7C-4B16-A2E5-29E68188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5429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0478">
            <a:solidFill>
              <a:srgbClr val="438B8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335934-48D6-433A-AE35-B9ABD958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Temporal contracts that transfer across tasks</a:t>
            </a:r>
          </a:p>
        </p:txBody>
      </p:sp>
      <p:cxnSp>
        <p:nvCxnSpPr>
          <p:cNvPr id="110" name=""/>
          <p:cNvCxnSpPr>
            <a:stCxn xmlns:a="http://schemas.openxmlformats.org/drawingml/2006/main" id="33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5410200" y="346233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none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544E39-8D27-47D8-A59A-975565FE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990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B60C32-5141-4D11-B2B9-5C020125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81425"/>
            <a:ext cx="40005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3335">
            <a:solidFill>
              <a:srgbClr val="438B86"/>
            </a:solidFill>
            <a:prstDash val="dash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BCB9C3-84D1-40D4-9FD1-F319B4D4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§ 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5F0611-D2BF-46EA-AAC9-2C2ECAAF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Task-Specific Harness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67BEC3-20DF-422C-ACC9-8D0102EA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81425"/>
            <a:ext cx="5429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0478">
            <a:solidFill>
              <a:srgbClr val="438B8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C85C06-5BE6-48C7-9425-E848A79A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3857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Forecasting, augmentation, anomaly, decision support</a:t>
            </a:r>
          </a:p>
        </p:txBody>
      </p:sp>
      <p:cxnSp>
        <p:nvCxnSpPr>
          <p:cNvPr id="117" name=""/>
          <p:cNvCxnSpPr>
            <a:stCxn xmlns:a="http://schemas.openxmlformats.org/drawingml/2006/main" id="40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5410200" y="4005263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none" w="med" len="me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8DA042-136E-4061-AB4D-EDC15117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B67EE1-1832-4F08-9420-104C129A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24350"/>
            <a:ext cx="40005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3335">
            <a:solidFill>
              <a:srgbClr val="438B86"/>
            </a:solidFill>
            <a:prstDash val="dash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C3960E-A7D1-42A1-A41F-88B6B662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71975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§ 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220265-A533-4BEA-8051-E8C330D0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624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Infrastructure and Benchmarks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29230C-A300-4D10-9DD8-A9621152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24350"/>
            <a:ext cx="5429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0478">
            <a:solidFill>
              <a:srgbClr val="438B8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0D209E-A1BE-4064-BFFA-8402D729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8150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Episodes, traces, tools, and task outcomes</a:t>
            </a:r>
          </a:p>
        </p:txBody>
      </p:sp>
      <p:cxnSp>
        <p:nvCxnSpPr>
          <p:cNvPr id="124" name=""/>
          <p:cNvCxnSpPr>
            <a:stCxn xmlns:a="http://schemas.openxmlformats.org/drawingml/2006/main" id="47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5410200" y="454818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none" w="med" len="me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3B9361-F481-45F6-A250-89CA189C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076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639F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3D05CE-168A-456A-82DD-CF067D3C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67275"/>
            <a:ext cx="40005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3335">
            <a:solidFill>
              <a:srgbClr val="78639F"/>
            </a:solidFill>
            <a:prstDash val="dash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02844D-19C4-4779-8FE9-8CF75F4D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1490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§ 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ACE0A2-CB53-4DAF-85B1-E657E2C0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05375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Open Problems and Case Studies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1268264-A50C-40C1-A80B-4B278115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67275"/>
            <a:ext cx="5429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0478">
            <a:solidFill>
              <a:srgbClr val="78639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C2A0E97-8A76-4D82-B290-C6DAFB35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2442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Where modules and evaluation remain incomplete</a:t>
            </a:r>
          </a:p>
        </p:txBody>
      </p:sp>
      <p:cxnSp>
        <p:nvCxnSpPr>
          <p:cNvPr id="131" name=""/>
          <p:cNvCxnSpPr>
            <a:stCxn xmlns:a="http://schemas.openxmlformats.org/drawingml/2006/main" id="54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5410200" y="5091113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solid"/>
            <a:headEnd type="none" w="med" len="med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96B153-E925-4A1E-9117-088CBCAC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619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639F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44B61CD-1337-417D-9A5C-E4B64020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10200"/>
            <a:ext cx="40005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3335">
            <a:solidFill>
              <a:srgbClr val="78639F"/>
            </a:solidFill>
            <a:prstDash val="dash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9DA0172-E060-4C14-A805-26195404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57825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§ 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604D0B-37BD-4C9B-8F8B-EB4823E1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4830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Conclusion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CB359F0-A4B9-4395-B3B5-6E132CD7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10200"/>
            <a:ext cx="5429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0478">
            <a:solidFill>
              <a:srgbClr val="78639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0EF62F8-B77D-4B54-BDE3-0BE32933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6735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A reusable map for future systems</a:t>
            </a:r>
          </a:p>
        </p:txBody>
      </p:sp>
      <p:cxnSp>
        <p:nvCxnSpPr>
          <p:cNvPr id="138" name=""/>
          <p:cNvCxnSpPr>
            <a:stCxn xmlns:a="http://schemas.openxmlformats.org/drawingml/2006/main" id="61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5410200" y="563403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639F"/>
            </a:solidFill>
            <a:prstDash val="solid"/>
            <a:headEnd type="none" w="med" len="me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0E4F691-375E-44A6-BEB7-448C3ACD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0"/>
            <a:ext cx="1028700" cy="157162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2383">
            <a:solidFill>
              <a:srgbClr val="438B86"/>
            </a:solidFill>
            <a:prstDash val="dash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F4CFE7F-60CF-43D0-8557-6B6B5BBE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838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Time-Series</a:t>
            </a:r>
          </a:p>
          <a:p xmlns:a="http://schemas.openxmlformats.org/drawingml/2006/main">
            <a:pPr>
              <a:defRPr sz="157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Agent</a:t>
            </a:r>
          </a:p>
          <a:p xmlns:a="http://schemas.openxmlformats.org/drawingml/2006/main">
            <a:pPr>
              <a:defRPr sz="157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Survey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73C7C15-65E3-4B2E-B7E4-FD7A1C91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9567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reader's map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10D4BC7-E400-4AA7-B04C-636720F5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095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F60F16-8313-49B3-8CE7-3926C7D7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343650"/>
            <a:ext cx="98488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4324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B4E7441-599C-4095-879F-2AFDD062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400800"/>
            <a:ext cx="942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Paper card fields: claim  ·  evidence locator  ·  module layer  ·  task family  ·  BibTeX  ·  review status</a:t>
            </a:r>
          </a:p>
        </p:txBody>
      </p:sp>
    </p:spTree>
    <p:extLst>
      <p:ext uri="{BB962C8B-B14F-4D97-AF65-F5344CB8AC3E}">
        <p14:creationId xmlns:p14="http://schemas.microsoft.com/office/powerpoint/2010/main" val="1835466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03A5750-29C5-44B8-8160-69A5EFB2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The General Time-Series Harness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D1FE5-CFC9-42AB-96DD-ABA9359E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9532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Reusable temporal obligations sit between a general runtime and a task contract.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A6183-11B3-4660-99AC-C6E304B0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Read from the center outward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A7F04-2F76-427F-8983-DFFFA8F8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1430">
            <a:solidFill>
              <a:srgbClr val="B77F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DF8BD-5116-4F30-AB99-36DA07E0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rPr>
              <a:t>Temporal objects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D0DCB-9EC0-495C-90CB-608A6058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1504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time, window, horizon, 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9BB20-A319-4B01-AF7A-1E070B38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1430">
            <a:solidFill>
              <a:srgbClr val="438B8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DEEB9-A16E-41D4-B53F-77EF07EC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Temporal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13C71-F766-4A03-8E35-76BB4C63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1504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align, aggregate, resample,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F12EB-8DC8-4BDF-8286-BED60A6A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1430">
            <a:solidFill>
              <a:srgbClr val="438B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06D9C-A4C6-42EC-81D2-DA0C9189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Temporal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73B2D-CE02-453C-BC10-A9A91A97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504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provenance, availability, revision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C157D-FCC9-4592-9CC7-C8273210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04900"/>
            <a:ext cx="59055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432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45332-5F32-4783-910B-B4BC383B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573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Reusable across time-series tasks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B08F33-BAA7-4573-A51D-043DE757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33550"/>
            <a:ext cx="50482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1430">
            <a:solidFill>
              <a:srgbClr val="B77F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DC473-46D4-46A8-A919-BB31BC0C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81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rPr>
              <a:t>Interface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36B31-F786-4323-8076-4A3B0A7C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81175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as-of time · horizon · frequency · channels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E0439-04CE-479A-8BBF-7086487D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19350"/>
            <a:ext cx="50482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1430">
            <a:solidFill>
              <a:srgbClr val="438B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2F518-CE8B-409E-B4D3-4F75CACA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669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Memory &amp;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E1D38-18C9-4331-9EC8-15457369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66975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point-in-time state · provenance · event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320E7-EC36-4B3D-85DE-E924BDB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05150"/>
            <a:ext cx="50482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1430">
            <a:solidFill>
              <a:srgbClr val="438B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DBC4F4-BB06-4AF1-BB14-607D7DF3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527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Tools &amp; execution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D0A095-9E6F-4CCD-A419-8E661B30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52775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temporal query · forecasting model · simulator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C413D3-E708-4DEE-8F77-CBA090C7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90950"/>
            <a:ext cx="50482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1430">
            <a:solidFill>
              <a:srgbClr val="78639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2C441D-04AE-4845-B707-533A18B3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385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rPr>
              <a:t>Control &amp; verification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9645C9-F96F-495E-B344-F7A94A56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38575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chronology guard · numerical check · revision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6B95EC-6394-4C17-9524-AE56A701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76750"/>
            <a:ext cx="50482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1430">
            <a:solidFill>
              <a:srgbClr val="438B8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084D27-3C95-487F-B04D-5310FF0A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243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Planning &amp; coordination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D78152-7F90-46E9-A7F9-0535A334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24375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workflow · delegation · review · stopping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8FABA2-FD82-4603-AD12-16CE4C6D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104900"/>
            <a:ext cx="2381250" cy="4476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38B8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ADA0B8-24A7-4489-BA93-E1166D07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573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Task contracts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AC0AE2-94FA-4018-8B72-C1C77B7A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809750"/>
            <a:ext cx="19621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0478">
            <a:solidFill>
              <a:srgbClr val="438B8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4B47FB-BF45-484B-A707-52996D80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669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Forecasting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9CF095-4004-47E4-ADAA-D481D46C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0502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origin, horizon, calibration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6EA9D3-AA3A-454C-A29B-A50BA795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66925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cxnSp>
        <p:nvCxnSpPr>
          <p:cNvPr id="89" name="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H="1" flipV="1">
            <a:off x="8334375" y="2085975"/>
            <a:ext cx="3009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8D2359-67DA-4B7A-8CE1-7F7DB78E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47950"/>
            <a:ext cx="19621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0478">
            <a:solidFill>
              <a:srgbClr val="438B8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3B9173-FF6B-4D5C-B2CE-D30CA685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051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Augmentation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41D8FC-87B8-4D65-8890-017C56BC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4322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fidelity, diversity, utility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42D95A-0732-4119-9400-CE5E3BB5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05125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cxnSp>
        <p:nvCxnSpPr>
          <p:cNvPr id="94" name=""/>
          <p:cNvCxnSpPr>
            <a:stCxn xmlns:a="http://schemas.openxmlformats.org/drawingml/2006/main" id="37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H="1" flipV="1">
            <a:off x="8334375" y="2924175"/>
            <a:ext cx="3009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D1CBF3-A7BA-488B-B233-8CD6ABF2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86150"/>
            <a:ext cx="19621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0478">
            <a:solidFill>
              <a:srgbClr val="438B8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D3A820-339D-4296-AB95-95563509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433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Anomaly diagnosis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D43ED0-3111-450F-AFD3-89C603CC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8142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event, window, cause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077F02-BBFA-4D04-8AA9-59E649B6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43325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cxnSp>
        <p:nvCxnSpPr>
          <p:cNvPr id="99" name=""/>
          <p:cNvCxnSpPr>
            <a:stCxn xmlns:a="http://schemas.openxmlformats.org/drawingml/2006/main" id="42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H="1" flipV="1">
            <a:off x="8334375" y="3762375"/>
            <a:ext cx="3009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9D88FC-DE48-4952-8DD2-5FFACD1A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24350"/>
            <a:ext cx="19621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0478">
            <a:solidFill>
              <a:srgbClr val="438B8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207EBC-08C4-46D5-BCEB-6B8FC28A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815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Decision support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4A83DD-CFD0-46B8-9272-BA286946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1962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action, cost, uncertainty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776640-F798-4ADC-B13B-B2D22D87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81525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cxnSp>
        <p:nvCxnSpPr>
          <p:cNvPr id="104" name=""/>
          <p:cNvCxnSpPr>
            <a:stCxn xmlns:a="http://schemas.openxmlformats.org/drawingml/2006/main" id="47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H="1" flipV="1">
            <a:off x="8334375" y="4600575"/>
            <a:ext cx="3009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8B86"/>
            </a:solidFill>
            <a:prstDash val="solid"/>
            <a:headEnd type="arrow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741DAC-D386-4672-B8DE-4A850051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57875"/>
            <a:ext cx="86963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4324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8A5335-E96D-45A9-A193-682CA6C9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62650"/>
            <a:ext cx="8315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A temporal mechanism is GTS when its contract survives a change of downstream task.</a:t>
            </a:r>
          </a:p>
        </p:txBody>
      </p:sp>
    </p:spTree>
    <p:extLst>
      <p:ext uri="{BB962C8B-B14F-4D97-AF65-F5344CB8AC3E}">
        <p14:creationId xmlns:p14="http://schemas.microsoft.com/office/powerpoint/2010/main" val="2365120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EC50BD1-9592-48E8-9F9A-A1DD70C3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Research routes in Time-Series Agent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091B6-03ED-4CB9-A145-8903BA76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Representative module contributions by first public year; placement follows the paper-card ledger.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A1D5B-E088-4375-BA2C-5E7F7743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47750"/>
            <a:ext cx="16859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8384A-AE58-4D7B-A947-6603F7F2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715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rPr>
              <a:t>LLM side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D6EED-7BCA-4BAF-899C-9B46D9BB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38275"/>
            <a:ext cx="1533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module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AAE4A-E4FC-4705-BFE0-B1188B51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3" y="1762125"/>
            <a:ext cx="3810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639F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24361-0910-4A0C-9D27-7D58896A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9525">
            <a:solidFill>
              <a:srgbClr val="78639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06CE9-3D1A-422D-AFD6-17F8C581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383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Time-LLM 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B9CB0-DA5B-441E-B8BA-8DEC7E44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0037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9525">
            <a:solidFill>
              <a:srgbClr val="78639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3502E-8478-4E95-B300-B52E65D4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3847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LLM4TS 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821E2-D905-4A2D-8BC9-E42F7E06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9525">
            <a:solidFill>
              <a:srgbClr val="7863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C8801-1AA3-4304-A945-6B5CC073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ChatTS 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428A3-444D-4915-AD12-6DE88405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0062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9525">
            <a:solidFill>
              <a:srgbClr val="7863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0A2BD-57E7-460A-B369-DB8CC37C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3872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TimeMaster 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400B0-CD78-47AC-B727-E56EAD01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047750"/>
            <a:ext cx="16859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D1846-356A-47D3-8F2E-77038E24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1715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General Harness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163E0-7FFF-4897-89B8-EACEEA61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38275"/>
            <a:ext cx="1533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module 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0572EC-F1A0-4613-8726-ECACF012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513" y="1762125"/>
            <a:ext cx="3810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896F0-E2B5-47D3-9BAB-2E1A4ED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0025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97DC5-F4EC-4E00-A478-18C1161D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383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TradingAgents 2024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ACB34-4672-446D-A5B0-ECFE6EC2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037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1A25D8-9436-43F2-836E-1CE6143E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3847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TS-Agent 2025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EE26E8-F5E1-4D69-B69C-F7C52E22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0050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6649CE-059B-4A46-9C2F-05FD1B0B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3860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AION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B3908B-BF91-45E0-AA77-C9B20188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0062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1E6ADF-7569-44F2-B983-5CB5B694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3872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TimeClaw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C990DB-99A2-4361-AF4D-FAFF2FF7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047750"/>
            <a:ext cx="16859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13335">
            <a:solidFill>
              <a:srgbClr val="B77F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67CF87-4A9F-4835-A748-503121E6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1715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B77F2B"/>
                </a:solidFill>
                <a:latin typeface="Times New Roman"/>
                <a:ea typeface="Times New Roman"/>
                <a:cs typeface="Times New Roman"/>
              </a:rPr>
              <a:t>Temporal grounding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BF2FF3-7AA4-46EA-87DA-824FF8AA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38275"/>
            <a:ext cx="1533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module route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89F747-D561-4AE3-AD94-F6192A83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363" y="1762125"/>
            <a:ext cx="3810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F2B"/>
          </a:solidFill>
          <a:ln xmlns:a="http://schemas.openxmlformats.org/drawingml/2006/main" w="13335">
            <a:solidFill>
              <a:srgbClr val="B77F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6D06CA-7D86-409B-80C1-BA1AC238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9525">
            <a:solidFill>
              <a:srgbClr val="B77F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9CD955-1C4D-4343-9917-E654D4A7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383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TimeCAP 2025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19D0D9-CBB4-4F6F-B119-70B1BC2C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9525">
            <a:solidFill>
              <a:srgbClr val="B77F2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3BEA01-2349-478B-97BC-D1DD2459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3847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TimeART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D710F6-8488-48CB-A1D0-36D6597F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9525">
            <a:solidFill>
              <a:srgbClr val="B77F2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E27B94-4C67-4E26-A1B0-C3B646D3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3860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TFRBench 2026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F0A2C7-3F9D-4654-944C-7C19D626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0062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0C9"/>
          </a:solidFill>
          <a:ln xmlns:a="http://schemas.openxmlformats.org/drawingml/2006/main" w="9525">
            <a:solidFill>
              <a:srgbClr val="B77F2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5D89BA-D892-4EDA-9C77-4CAD193D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3872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TSQBench 2026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D30258-18A4-413E-A8EF-9361DC9F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47750"/>
            <a:ext cx="16859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3E2DE"/>
          </a:solidFill>
          <a:ln xmlns:a="http://schemas.openxmlformats.org/drawingml/2006/main" w="13335">
            <a:solidFill>
              <a:srgbClr val="B8665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FEA375-0DBD-42CC-9264-884AD990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715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866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B86659"/>
                </a:solidFill>
                <a:latin typeface="Times New Roman"/>
                <a:ea typeface="Times New Roman"/>
                <a:cs typeface="Times New Roman"/>
              </a:rPr>
              <a:t>Forecasting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1115E8-BA7A-4946-A0D1-6C6620E8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38275"/>
            <a:ext cx="1533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module route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BB7468-2E43-4806-A614-37E95DE6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213" y="1762125"/>
            <a:ext cx="3810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6659"/>
          </a:solidFill>
          <a:ln xmlns:a="http://schemas.openxmlformats.org/drawingml/2006/main" w="13335">
            <a:solidFill>
              <a:srgbClr val="B8665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BCD24B-A501-4253-A8A8-96E5F95E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2DE"/>
          </a:solidFill>
          <a:ln xmlns:a="http://schemas.openxmlformats.org/drawingml/2006/main" w="9525">
            <a:solidFill>
              <a:srgbClr val="B8665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F0FB68-C4C9-4095-AEA8-40811F6D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TimeSeriesScientist 2025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D69FD3-A2B2-4B21-90D7-34F3122E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037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2DE"/>
          </a:solidFill>
          <a:ln xmlns:a="http://schemas.openxmlformats.org/drawingml/2006/main" w="9525">
            <a:solidFill>
              <a:srgbClr val="B8665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BAC87A-1159-4F77-B2BA-075214DA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3847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ForecastCompass 2026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AB5608-8A19-426C-862B-4FE78E1F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2DE"/>
          </a:solidFill>
          <a:ln xmlns:a="http://schemas.openxmlformats.org/drawingml/2006/main" w="9525">
            <a:solidFill>
              <a:srgbClr val="B8665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CDAE7B-6B30-4F71-8DEF-EC65F201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3860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FinArena 2025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841CA5-249A-494F-908C-20DDDD44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0062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2DE"/>
          </a:solidFill>
          <a:ln xmlns:a="http://schemas.openxmlformats.org/drawingml/2006/main" w="9525">
            <a:solidFill>
              <a:srgbClr val="B8665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4D9065-53E9-448E-A695-2E1A4A5D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3872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CastFlow 2026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3832407-4B3A-4DCD-82E2-BBEF8749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047750"/>
            <a:ext cx="16859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F26EA2-841B-498D-AD76-74A4D507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1715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438B86"/>
                </a:solidFill>
                <a:latin typeface="Times New Roman"/>
                <a:ea typeface="Times New Roman"/>
                <a:cs typeface="Times New Roman"/>
              </a:rPr>
              <a:t>Anomaly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7D48F4-6423-4FDC-928D-3CB7EE6F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38275"/>
            <a:ext cx="1533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module route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D44E6A-6722-4064-B91C-5A466598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1762125"/>
            <a:ext cx="3810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B86"/>
          </a:solidFill>
          <a:ln xmlns:a="http://schemas.openxmlformats.org/drawingml/2006/main" w="13335">
            <a:solidFill>
              <a:srgbClr val="438B8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CF24B3-26D9-4CC9-8FD1-E8EF43AC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15C2F0E-CFCF-4F28-93B1-60BB4AEC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Argos 2025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AD7D6D-AD09-4CBA-94EE-361321DC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F630191-4F62-494B-9EA0-6C0BAFA6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3847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LEMAD 2025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ACA9A2-FEEA-493C-85F9-65E3F30B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0050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15EFF5A-D4E2-4EA5-B8E8-E9C557AE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3860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AnomaMind 2026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E6205B8-9B79-423F-AB92-4C226FBC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0062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9525">
            <a:solidFill>
              <a:srgbClr val="438B8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109AC5-2201-412C-AFDD-DD5449FB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3872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TraceBench 2026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22EAFB2-72DC-4714-BC96-D4AAA01B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47750"/>
            <a:ext cx="16859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890EE1-7460-43A6-A219-18DBAAC8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1715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78639F"/>
                </a:solidFill>
                <a:latin typeface="Times New Roman"/>
                <a:ea typeface="Times New Roman"/>
                <a:cs typeface="Times New Roman"/>
              </a:rPr>
              <a:t>Decision support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BDBF23-A790-4BC7-88D7-B6984819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38275"/>
            <a:ext cx="1533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module route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8BC912-0BF6-4046-A75D-D3E64B21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0913" y="1762125"/>
            <a:ext cx="3810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639F"/>
          </a:solidFill>
          <a:ln xmlns:a="http://schemas.openxmlformats.org/drawingml/2006/main" w="13335">
            <a:solidFill>
              <a:srgbClr val="78639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FDFE1E5-3AFC-4754-93B3-9E14105B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00025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9525">
            <a:solidFill>
              <a:srgbClr val="78639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E65E6C2-764B-42DE-80FB-D7573A4E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0383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FinCon 2024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59ACB21-27F2-44BA-AE79-EDDC76AD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0037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9525">
            <a:solidFill>
              <a:srgbClr val="78639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E2F02A4-1EB2-47C5-B260-5ABA7F77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3847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CoLLMLight 2026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62ED3AC-C03A-481A-95FC-C0A05D8D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000500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9525">
            <a:solidFill>
              <a:srgbClr val="78639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7CE7097-610C-46AD-8109-D6AC89C7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03860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ClimateAgent 2025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C7620ED-8087-4B3F-A712-130B3E85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00625"/>
            <a:ext cx="14573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F2"/>
          </a:solidFill>
          <a:ln xmlns:a="http://schemas.openxmlformats.org/drawingml/2006/main" w="9525">
            <a:solidFill>
              <a:srgbClr val="78639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67021AB-51D7-4838-9E42-9E381624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038725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303A4B"/>
                </a:solidFill>
                <a:latin typeface="Times New Roman"/>
                <a:ea typeface="Times New Roman"/>
                <a:cs typeface="Times New Roman"/>
              </a:rPr>
              <a:t>Smart Energy 2026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A441BEB-292E-4914-BA80-99289315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2024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2AFC33D-8BF2-4777-AB2E-5ED71EC7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0275"/>
            <a:ext cx="10668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E4"/>
          </a:solidFill>
          <a:ln xmlns:a="http://schemas.openxmlformats.org/drawingml/2006/main" w="13335">
            <a:solidFill>
              <a:srgbClr val="D7DCE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35AF12-C794-401D-838B-7C44779D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765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2025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48C7399-0469-4C92-B4D0-6835F9DE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0668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E4"/>
          </a:solidFill>
          <a:ln xmlns:a="http://schemas.openxmlformats.org/drawingml/2006/main" w="13335">
            <a:solidFill>
              <a:srgbClr val="D7DCE4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68A9673-C6C8-41DD-B899-F662671C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2026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BD9F8CD-F14E-459D-BF6D-D7558449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10668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E4"/>
          </a:solidFill>
          <a:ln xmlns:a="http://schemas.openxmlformats.org/drawingml/2006/main" w="13335">
            <a:solidFill>
              <a:srgbClr val="D7DCE4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2449287-934E-485A-97B5-ED4932A6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768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Current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2D3D2BE-8015-49C7-AE12-839B7527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10668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E4"/>
          </a:solidFill>
          <a:ln xmlns:a="http://schemas.openxmlformats.org/drawingml/2006/main" w="13335">
            <a:solidFill>
              <a:srgbClr val="D7DCE4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8EB762C-AEDF-4705-BEEF-833D2735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4324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35F4E75-3891-4B20-A585-17D418E4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055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4324A"/>
                </a:solidFill>
                <a:latin typeface="Times New Roman"/>
                <a:ea typeface="Times New Roman"/>
                <a:cs typeface="Times New Roman"/>
              </a:rPr>
              <a:t>The same work can occupy more than one route because the ledger records module-level contributions.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3C39E78-CE49-4035-8DC4-F6558ED5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124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1">
                <a:solidFill>
                  <a:srgbClr val="687386"/>
                </a:solidFill>
                <a:latin typeface="Times New Roman"/>
                <a:ea typeface="Times New Roman"/>
                <a:cs typeface="Times New Roman"/>
              </a:rPr>
              <a:t>Years are taken from the maintained bibliography and paper-card records.</a:t>
            </a:r>
          </a:p>
        </p:txBody>
      </p:sp>
    </p:spTree>
    <p:extLst>
      <p:ext uri="{BB962C8B-B14F-4D97-AF65-F5344CB8AC3E}">
        <p14:creationId xmlns:p14="http://schemas.microsoft.com/office/powerpoint/2010/main" val="17662164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2026-10-02T06:20:54.9980000Z</dcterms:created>
  <dcterms:modified xsi:type="dcterms:W3CDTF">2026-10-02T06:20:54.9980000Z</dcterms:modified>
</coreProperties>
</file>