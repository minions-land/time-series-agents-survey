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Figure 10 — AnomaMind workflow"/>
          <p:cNvGrpSpPr/>
          <p:nvPr/>
        </p:nvGrpSpPr>
        <p:grpSpPr>
          <a:xfrm>
            <a:off x="229552" y="1114425"/>
            <a:ext cx="14134148" cy="7762875"/>
            <a:chOff x="229552" y="1114425"/>
            <a:chExt cx="14134148" cy="7762875"/>
          </a:xfrm>
        </p:grpSpPr>
        <p:grpSp>
          <p:nvGrpSpPr>
            <p:cNvPr id="1009" name="Inference workflow"/>
            <p:cNvGrpSpPr/>
            <p:nvPr/>
          </p:nvGrpSpPr>
          <p:grpSpPr>
            <a:xfrm>
              <a:off x="229552" y="1114425"/>
              <a:ext cx="14134148" cy="4973002"/>
              <a:chOff x="229552" y="1114425"/>
              <a:chExt cx="14134148" cy="4973002"/>
            </a:xfrm>
          </p:grpSpPr>
          <p:grpSp>
            <p:nvGrpSpPr>
              <p:cNvPr id="1000" name="Evidence acquisition"/>
              <p:cNvGrpSpPr/>
              <p:nvPr/>
            </p:nvGrpSpPr>
            <p:grpSpPr>
              <a:xfrm>
                <a:off x="229552" y="1114425"/>
                <a:ext cx="4020503" cy="3709035"/>
                <a:chOff x="229552" y="1114425"/>
                <a:chExt cx="4020503" cy="3709035"/>
              </a:xfrm>
            </p:grpSpPr>
            <p:pic>
              <p:nvPicPr>
                <p:cNvPr id="2" name="knowledge book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18148" y="1917382"/>
                  <a:ext cx="1774508" cy="2588895"/>
                </a:xfrm>
                <a:prstGeom prst="rect">
                  <a:avLst/>
                </a:prstGeom>
              </p:spPr>
            </p:pic>
            <p:pic>
              <p:nvPicPr>
                <p:cNvPr id="3" name="diagnostic report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78380" y="1994535"/>
                  <a:ext cx="1851660" cy="2443162"/>
                </a:xfrm>
                <a:prstGeom prst="rect">
                  <a:avLst/>
                </a:prstGeom>
              </p:spPr>
            </p:pic>
            <p:pic>
              <p:nvPicPr>
                <p:cNvPr id="4" name="evidence plinth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9552" y="4274820"/>
                  <a:ext cx="4020503" cy="548640"/>
                </a:xfrm>
                <a:prstGeom prst="rect">
                  <a:avLst/>
                </a:prstGeom>
              </p:spPr>
            </p:pic>
            <p:sp>
              <p:nvSpPr>
                <p:cNvPr id="5" name="TextBox 5"/>
                <p:cNvSpPr txBox="1"/>
                <p:nvPr/>
              </p:nvSpPr>
              <p:spPr>
                <a:xfrm>
                  <a:off x="238125" y="1114425"/>
                  <a:ext cx="400050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Acquire evidence</a:t>
                  </a:r>
                  <a:endParaRPr lang="zh-CN" sz="2900"/>
                </a:p>
              </p:txBody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704850" y="2543175"/>
                  <a:ext cx="1381125" cy="333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00">
                      <a:solidFill>
                        <a:srgbClr val="FFFFFF"/>
                      </a:solidFill>
                      <a:latin typeface="Times New Roman"/>
                      <a:ea typeface="Times New Roman"/>
                      <a:cs typeface="Times New Roman"/>
                    </a:rPr>
                    <a:t>Knowledge</a:t>
                  </a:r>
                  <a:endParaRPr lang="zh-CN" sz="21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2533650" y="2152650"/>
                  <a:ext cx="148590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9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Diagnostics</a:t>
                  </a:r>
                  <a:endParaRPr lang="zh-CN" sz="1900"/>
                </a:p>
              </p:txBody>
            </p:sp>
          </p:grpSp>
          <p:grpSp>
            <p:nvGrpSpPr>
              <p:cNvPr id="1001" name="Evidence state"/>
              <p:cNvGrpSpPr/>
              <p:nvPr/>
            </p:nvGrpSpPr>
            <p:grpSpPr>
              <a:xfrm>
                <a:off x="4591050" y="1114425"/>
                <a:ext cx="2900934" cy="3651504"/>
                <a:chOff x="4591050" y="1114425"/>
                <a:chExt cx="2900934" cy="3651504"/>
              </a:xfrm>
            </p:grpSpPr>
            <p:pic>
              <p:nvPicPr>
                <p:cNvPr id="8" name="notebook frame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18126" y="1840611"/>
                  <a:ext cx="2497836" cy="2598420"/>
                </a:xfrm>
                <a:prstGeom prst="rect">
                  <a:avLst/>
                </a:prstGeom>
              </p:spPr>
            </p:pic>
            <p:pic>
              <p:nvPicPr>
                <p:cNvPr id="9" name="statistics slot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04282" y="2083689"/>
                  <a:ext cx="1776984" cy="712470"/>
                </a:xfrm>
                <a:prstGeom prst="rect">
                  <a:avLst/>
                </a:prstGeom>
              </p:spPr>
            </p:pic>
            <p:pic>
              <p:nvPicPr>
                <p:cNvPr id="10" name="context slot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04282" y="2871597"/>
                  <a:ext cx="1785366" cy="695706"/>
                </a:xfrm>
                <a:prstGeom prst="rect">
                  <a:avLst/>
                </a:prstGeom>
              </p:spPr>
            </p:pic>
            <p:pic>
              <p:nvPicPr>
                <p:cNvPr id="11" name="history slot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04282" y="3651123"/>
                  <a:ext cx="1785366" cy="620268"/>
                </a:xfrm>
                <a:prstGeom prst="rect">
                  <a:avLst/>
                </a:prstGeom>
              </p:spPr>
            </p:pic>
            <p:pic>
              <p:nvPicPr>
                <p:cNvPr id="12" name="notebook plinth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58868" y="4279773"/>
                  <a:ext cx="2833116" cy="486156"/>
                </a:xfrm>
                <a:prstGeom prst="rect">
                  <a:avLst/>
                </a:prstGeom>
              </p:spPr>
            </p:pic>
            <p:sp>
              <p:nvSpPr>
                <p:cNvPr id="13" name="TextBox 13"/>
                <p:cNvSpPr txBox="1"/>
                <p:nvPr/>
              </p:nvSpPr>
              <p:spPr>
                <a:xfrm>
                  <a:off x="4591050" y="1114425"/>
                  <a:ext cx="285750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Construct state</a:t>
                  </a:r>
                  <a:endParaRPr lang="zh-CN" sz="29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5391150" y="2108835"/>
                  <a:ext cx="15240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8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Statistics</a:t>
                  </a:r>
                  <a:endParaRPr lang="zh-CN" sz="18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391150" y="2871597"/>
                  <a:ext cx="15240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8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Context</a:t>
                  </a:r>
                  <a:endParaRPr lang="zh-CN" sz="18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5391150" y="3651123"/>
                  <a:ext cx="15240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8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History</a:t>
                  </a:r>
                  <a:endParaRPr lang="zh-CN" sz="1800"/>
                </a:p>
              </p:txBody>
            </p:sp>
          </p:grpSp>
          <p:grpSp>
            <p:nvGrpSpPr>
              <p:cNvPr id="1002" name="Detection"/>
              <p:cNvGrpSpPr/>
              <p:nvPr/>
            </p:nvGrpSpPr>
            <p:grpSpPr>
              <a:xfrm>
                <a:off x="7858125" y="1114425"/>
                <a:ext cx="2914650" cy="3543300"/>
                <a:chOff x="7858125" y="1114425"/>
                <a:chExt cx="2914650" cy="3543300"/>
              </a:xfrm>
            </p:grpSpPr>
            <p:pic>
              <p:nvPicPr>
                <p:cNvPr id="17" name="detection display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58125" y="1752600"/>
                  <a:ext cx="2914650" cy="2905125"/>
                </a:xfrm>
                <a:prstGeom prst="rect">
                  <a:avLst/>
                </a:prstGeom>
              </p:spPr>
            </p:pic>
            <p:sp>
              <p:nvSpPr>
                <p:cNvPr id="18" name="Rect 18"/>
                <p:cNvSpPr/>
                <p:nvPr/>
              </p:nvSpPr>
              <p:spPr>
                <a:xfrm>
                  <a:off x="8829675" y="2085975"/>
                  <a:ext cx="781050" cy="2028825"/>
                </a:xfrm>
                <a:prstGeom prst="rect">
                  <a:avLst/>
                </a:prstGeom>
                <a:solidFill>
                  <a:srgbClr val="F2E3E4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19" name="Path 19"/>
                <p:cNvSpPr/>
                <p:nvPr/>
              </p:nvSpPr>
              <p:spPr>
                <a:xfrm>
                  <a:off x="8105775" y="2085975"/>
                  <a:ext cx="2428875" cy="202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5240">
                  <a:solidFill>
                    <a:srgbClr val="33383B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0" name="Path 20"/>
                <p:cNvSpPr/>
                <p:nvPr/>
              </p:nvSpPr>
              <p:spPr>
                <a:xfrm>
                  <a:off x="8829675" y="2085975"/>
                  <a:ext cx="952" cy="202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3970">
                  <a:solidFill>
                    <a:srgbClr val="8B3F49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1" name="Path 21"/>
                <p:cNvSpPr/>
                <p:nvPr/>
              </p:nvSpPr>
              <p:spPr>
                <a:xfrm>
                  <a:off x="9610725" y="2085975"/>
                  <a:ext cx="952" cy="202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3970">
                  <a:solidFill>
                    <a:srgbClr val="8B3F49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2" name="Path 22"/>
                <p:cNvSpPr/>
                <p:nvPr/>
              </p:nvSpPr>
              <p:spPr>
                <a:xfrm>
                  <a:off x="8829675" y="1952625"/>
                  <a:ext cx="7810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1600"/>
                      </a:moveTo>
                      <a:lnTo>
                        <a:pt x="0" y="0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3970">
                  <a:solidFill>
                    <a:srgbClr val="33383B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3" name="Path 23"/>
                <p:cNvSpPr/>
                <p:nvPr/>
              </p:nvSpPr>
              <p:spPr>
                <a:xfrm>
                  <a:off x="8134350" y="2533650"/>
                  <a:ext cx="2381250" cy="121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68"/>
                      </a:moveTo>
                      <a:lnTo>
                        <a:pt x="259" y="21007"/>
                      </a:lnTo>
                      <a:lnTo>
                        <a:pt x="950" y="18974"/>
                      </a:lnTo>
                      <a:lnTo>
                        <a:pt x="1210" y="19906"/>
                      </a:lnTo>
                      <a:lnTo>
                        <a:pt x="1555" y="19736"/>
                      </a:lnTo>
                      <a:lnTo>
                        <a:pt x="1901" y="21007"/>
                      </a:lnTo>
                      <a:lnTo>
                        <a:pt x="2246" y="18974"/>
                      </a:lnTo>
                      <a:lnTo>
                        <a:pt x="2592" y="19567"/>
                      </a:lnTo>
                      <a:lnTo>
                        <a:pt x="2678" y="19313"/>
                      </a:lnTo>
                      <a:lnTo>
                        <a:pt x="3110" y="16687"/>
                      </a:lnTo>
                      <a:lnTo>
                        <a:pt x="3542" y="19398"/>
                      </a:lnTo>
                      <a:lnTo>
                        <a:pt x="3974" y="18466"/>
                      </a:lnTo>
                      <a:lnTo>
                        <a:pt x="4579" y="21600"/>
                      </a:lnTo>
                      <a:lnTo>
                        <a:pt x="5011" y="19398"/>
                      </a:lnTo>
                      <a:lnTo>
                        <a:pt x="5357" y="19059"/>
                      </a:lnTo>
                      <a:lnTo>
                        <a:pt x="5702" y="16687"/>
                      </a:lnTo>
                      <a:lnTo>
                        <a:pt x="6653" y="20584"/>
                      </a:lnTo>
                      <a:lnTo>
                        <a:pt x="7258" y="18720"/>
                      </a:lnTo>
                      <a:lnTo>
                        <a:pt x="7862" y="20075"/>
                      </a:lnTo>
                      <a:lnTo>
                        <a:pt x="8640" y="17788"/>
                      </a:lnTo>
                      <a:lnTo>
                        <a:pt x="9245" y="19991"/>
                      </a:lnTo>
                      <a:lnTo>
                        <a:pt x="9677" y="18635"/>
                      </a:lnTo>
                      <a:lnTo>
                        <a:pt x="9936" y="19144"/>
                      </a:lnTo>
                      <a:lnTo>
                        <a:pt x="11146" y="0"/>
                      </a:lnTo>
                      <a:lnTo>
                        <a:pt x="11923" y="15671"/>
                      </a:lnTo>
                      <a:lnTo>
                        <a:pt x="12355" y="17788"/>
                      </a:lnTo>
                      <a:lnTo>
                        <a:pt x="12787" y="16348"/>
                      </a:lnTo>
                      <a:lnTo>
                        <a:pt x="13651" y="20160"/>
                      </a:lnTo>
                      <a:lnTo>
                        <a:pt x="14083" y="18805"/>
                      </a:lnTo>
                      <a:lnTo>
                        <a:pt x="14515" y="19228"/>
                      </a:lnTo>
                      <a:lnTo>
                        <a:pt x="14861" y="18127"/>
                      </a:lnTo>
                      <a:lnTo>
                        <a:pt x="15552" y="19906"/>
                      </a:lnTo>
                      <a:lnTo>
                        <a:pt x="15811" y="18720"/>
                      </a:lnTo>
                      <a:lnTo>
                        <a:pt x="16070" y="18720"/>
                      </a:lnTo>
                      <a:lnTo>
                        <a:pt x="16416" y="16602"/>
                      </a:lnTo>
                      <a:lnTo>
                        <a:pt x="17366" y="20668"/>
                      </a:lnTo>
                      <a:lnTo>
                        <a:pt x="17712" y="18974"/>
                      </a:lnTo>
                      <a:lnTo>
                        <a:pt x="18144" y="19313"/>
                      </a:lnTo>
                      <a:lnTo>
                        <a:pt x="18576" y="17280"/>
                      </a:lnTo>
                      <a:lnTo>
                        <a:pt x="19008" y="19059"/>
                      </a:lnTo>
                      <a:lnTo>
                        <a:pt x="19440" y="18466"/>
                      </a:lnTo>
                      <a:lnTo>
                        <a:pt x="19699" y="19652"/>
                      </a:lnTo>
                      <a:lnTo>
                        <a:pt x="20045" y="19652"/>
                      </a:lnTo>
                      <a:lnTo>
                        <a:pt x="20390" y="21176"/>
                      </a:lnTo>
                      <a:lnTo>
                        <a:pt x="20909" y="19144"/>
                      </a:lnTo>
                      <a:lnTo>
                        <a:pt x="21254" y="20245"/>
                      </a:lnTo>
                      <a:lnTo>
                        <a:pt x="21600" y="19567"/>
                      </a:lnTo>
                    </a:path>
                  </a:pathLst>
                </a:custGeom>
                <a:noFill/>
                <a:ln w="22860">
                  <a:solidFill>
                    <a:srgbClr val="4B505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858125" y="1114425"/>
                  <a:ext cx="29146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Detect</a:t>
                  </a:r>
                  <a:endParaRPr lang="zh-CN" sz="2900"/>
                </a:p>
              </p:txBody>
            </p:sp>
          </p:grpSp>
          <p:grpSp>
            <p:nvGrpSpPr>
              <p:cNvPr id="1003" name="Refinement"/>
              <p:cNvGrpSpPr/>
              <p:nvPr/>
            </p:nvGrpSpPr>
            <p:grpSpPr>
              <a:xfrm>
                <a:off x="11430000" y="1114425"/>
                <a:ext cx="2914650" cy="3543300"/>
                <a:chOff x="11430000" y="1114425"/>
                <a:chExt cx="2914650" cy="3543300"/>
              </a:xfrm>
            </p:grpSpPr>
            <p:pic>
              <p:nvPicPr>
                <p:cNvPr id="25" name="refinement display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30000" y="1752600"/>
                  <a:ext cx="2914650" cy="2905125"/>
                </a:xfrm>
                <a:prstGeom prst="rect">
                  <a:avLst/>
                </a:prstGeom>
              </p:spPr>
            </p:pic>
            <p:sp>
              <p:nvSpPr>
                <p:cNvPr id="26" name="Rect 26"/>
                <p:cNvSpPr/>
                <p:nvPr/>
              </p:nvSpPr>
              <p:spPr>
                <a:xfrm>
                  <a:off x="12734925" y="2085975"/>
                  <a:ext cx="285750" cy="2028825"/>
                </a:xfrm>
                <a:prstGeom prst="rect">
                  <a:avLst/>
                </a:prstGeom>
                <a:solidFill>
                  <a:srgbClr val="F2E3E4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27" name="Path 27"/>
                <p:cNvSpPr/>
                <p:nvPr/>
              </p:nvSpPr>
              <p:spPr>
                <a:xfrm>
                  <a:off x="11677650" y="2085975"/>
                  <a:ext cx="2428875" cy="202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5240">
                  <a:solidFill>
                    <a:srgbClr val="33383B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8" name="Path 28"/>
                <p:cNvSpPr/>
                <p:nvPr/>
              </p:nvSpPr>
              <p:spPr>
                <a:xfrm>
                  <a:off x="12734925" y="2085975"/>
                  <a:ext cx="952" cy="202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3970">
                  <a:solidFill>
                    <a:srgbClr val="8B3F49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9" name="Path 29"/>
                <p:cNvSpPr/>
                <p:nvPr/>
              </p:nvSpPr>
              <p:spPr>
                <a:xfrm>
                  <a:off x="13020675" y="2085975"/>
                  <a:ext cx="952" cy="202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3970">
                  <a:solidFill>
                    <a:srgbClr val="8B3F49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0" name="Path 30"/>
                <p:cNvSpPr/>
                <p:nvPr/>
              </p:nvSpPr>
              <p:spPr>
                <a:xfrm>
                  <a:off x="12734925" y="1952625"/>
                  <a:ext cx="2857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1600"/>
                      </a:moveTo>
                      <a:lnTo>
                        <a:pt x="0" y="0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3970">
                  <a:solidFill>
                    <a:srgbClr val="33383B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1" name="Path 31"/>
                <p:cNvSpPr/>
                <p:nvPr/>
              </p:nvSpPr>
              <p:spPr>
                <a:xfrm>
                  <a:off x="11706225" y="2533650"/>
                  <a:ext cx="2381250" cy="121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68"/>
                      </a:moveTo>
                      <a:lnTo>
                        <a:pt x="259" y="21007"/>
                      </a:lnTo>
                      <a:lnTo>
                        <a:pt x="950" y="18974"/>
                      </a:lnTo>
                      <a:lnTo>
                        <a:pt x="1210" y="19906"/>
                      </a:lnTo>
                      <a:lnTo>
                        <a:pt x="1555" y="19736"/>
                      </a:lnTo>
                      <a:lnTo>
                        <a:pt x="1901" y="21007"/>
                      </a:lnTo>
                      <a:lnTo>
                        <a:pt x="2246" y="18974"/>
                      </a:lnTo>
                      <a:lnTo>
                        <a:pt x="2592" y="19567"/>
                      </a:lnTo>
                      <a:lnTo>
                        <a:pt x="2678" y="19313"/>
                      </a:lnTo>
                      <a:lnTo>
                        <a:pt x="3110" y="16687"/>
                      </a:lnTo>
                      <a:lnTo>
                        <a:pt x="3542" y="19398"/>
                      </a:lnTo>
                      <a:lnTo>
                        <a:pt x="3974" y="18466"/>
                      </a:lnTo>
                      <a:lnTo>
                        <a:pt x="4579" y="21600"/>
                      </a:lnTo>
                      <a:lnTo>
                        <a:pt x="5011" y="19398"/>
                      </a:lnTo>
                      <a:lnTo>
                        <a:pt x="5357" y="19059"/>
                      </a:lnTo>
                      <a:lnTo>
                        <a:pt x="5702" y="16687"/>
                      </a:lnTo>
                      <a:lnTo>
                        <a:pt x="6653" y="20584"/>
                      </a:lnTo>
                      <a:lnTo>
                        <a:pt x="7258" y="18720"/>
                      </a:lnTo>
                      <a:lnTo>
                        <a:pt x="7862" y="20075"/>
                      </a:lnTo>
                      <a:lnTo>
                        <a:pt x="8640" y="17788"/>
                      </a:lnTo>
                      <a:lnTo>
                        <a:pt x="9245" y="19991"/>
                      </a:lnTo>
                      <a:lnTo>
                        <a:pt x="9677" y="18635"/>
                      </a:lnTo>
                      <a:lnTo>
                        <a:pt x="9936" y="19144"/>
                      </a:lnTo>
                      <a:lnTo>
                        <a:pt x="11146" y="0"/>
                      </a:lnTo>
                      <a:lnTo>
                        <a:pt x="11923" y="15671"/>
                      </a:lnTo>
                      <a:lnTo>
                        <a:pt x="12355" y="17788"/>
                      </a:lnTo>
                      <a:lnTo>
                        <a:pt x="12787" y="16348"/>
                      </a:lnTo>
                      <a:lnTo>
                        <a:pt x="13651" y="20160"/>
                      </a:lnTo>
                      <a:lnTo>
                        <a:pt x="14083" y="18805"/>
                      </a:lnTo>
                      <a:lnTo>
                        <a:pt x="14515" y="19228"/>
                      </a:lnTo>
                      <a:lnTo>
                        <a:pt x="14861" y="18127"/>
                      </a:lnTo>
                      <a:lnTo>
                        <a:pt x="15552" y="19906"/>
                      </a:lnTo>
                      <a:lnTo>
                        <a:pt x="15811" y="18720"/>
                      </a:lnTo>
                      <a:lnTo>
                        <a:pt x="16070" y="18720"/>
                      </a:lnTo>
                      <a:lnTo>
                        <a:pt x="16416" y="16602"/>
                      </a:lnTo>
                      <a:lnTo>
                        <a:pt x="17366" y="20668"/>
                      </a:lnTo>
                      <a:lnTo>
                        <a:pt x="17712" y="18974"/>
                      </a:lnTo>
                      <a:lnTo>
                        <a:pt x="18144" y="19313"/>
                      </a:lnTo>
                      <a:lnTo>
                        <a:pt x="18576" y="17280"/>
                      </a:lnTo>
                      <a:lnTo>
                        <a:pt x="19008" y="19059"/>
                      </a:lnTo>
                      <a:lnTo>
                        <a:pt x="19440" y="18466"/>
                      </a:lnTo>
                      <a:lnTo>
                        <a:pt x="19699" y="19652"/>
                      </a:lnTo>
                      <a:lnTo>
                        <a:pt x="20045" y="19652"/>
                      </a:lnTo>
                      <a:lnTo>
                        <a:pt x="20390" y="21176"/>
                      </a:lnTo>
                      <a:lnTo>
                        <a:pt x="20909" y="19144"/>
                      </a:lnTo>
                      <a:lnTo>
                        <a:pt x="21254" y="20245"/>
                      </a:lnTo>
                      <a:lnTo>
                        <a:pt x="21600" y="19567"/>
                      </a:lnTo>
                    </a:path>
                  </a:pathLst>
                </a:custGeom>
                <a:noFill/>
                <a:ln w="22860">
                  <a:solidFill>
                    <a:srgbClr val="4B505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1430000" y="1114425"/>
                  <a:ext cx="29146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Refine</a:t>
                  </a:r>
                  <a:endParaRPr lang="zh-CN" sz="2900"/>
                </a:p>
              </p:txBody>
            </p:sp>
          </p:grpSp>
          <p:grpSp>
            <p:nvGrpSpPr>
              <p:cNvPr id="1004" name="Inference control flow"/>
              <p:cNvGrpSpPr/>
              <p:nvPr/>
            </p:nvGrpSpPr>
            <p:grpSpPr>
              <a:xfrm>
                <a:off x="266700" y="3286125"/>
                <a:ext cx="14097000" cy="2801302"/>
                <a:chOff x="266700" y="3286125"/>
                <a:chExt cx="14097000" cy="2801302"/>
              </a:xfrm>
            </p:grpSpPr>
            <p:sp>
              <p:nvSpPr>
                <p:cNvPr id="33" name="Path 33"/>
                <p:cNvSpPr/>
                <p:nvPr/>
              </p:nvSpPr>
              <p:spPr>
                <a:xfrm>
                  <a:off x="4286250" y="3286125"/>
                  <a:ext cx="3143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9209">
                  <a:solidFill>
                    <a:srgbClr val="596168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4" name="Path 34"/>
                <p:cNvSpPr/>
                <p:nvPr/>
              </p:nvSpPr>
              <p:spPr>
                <a:xfrm>
                  <a:off x="7496175" y="3286125"/>
                  <a:ext cx="3048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9209">
                  <a:solidFill>
                    <a:srgbClr val="596168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5" name="Path 35"/>
                <p:cNvSpPr/>
                <p:nvPr/>
              </p:nvSpPr>
              <p:spPr>
                <a:xfrm>
                  <a:off x="10829925" y="3286125"/>
                  <a:ext cx="542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9209">
                  <a:solidFill>
                    <a:srgbClr val="596168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6" name="Path 36"/>
                <p:cNvSpPr/>
                <p:nvPr/>
              </p:nvSpPr>
              <p:spPr>
                <a:xfrm>
                  <a:off x="6067425" y="4743450"/>
                  <a:ext cx="68199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0"/>
                      </a:move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5246"/>
                      </a:lnTo>
                    </a:path>
                  </a:pathLst>
                </a:custGeom>
                <a:noFill/>
                <a:ln w="25400">
                  <a:solidFill>
                    <a:srgbClr val="8B3F49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7" name="Path 37"/>
                <p:cNvSpPr/>
                <p:nvPr/>
              </p:nvSpPr>
              <p:spPr>
                <a:xfrm>
                  <a:off x="266700" y="6086475"/>
                  <a:ext cx="140970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0160">
                  <a:solidFill>
                    <a:srgbClr val="A9ACAE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201025" y="5505450"/>
                  <a:ext cx="3476625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Update evidence</a:t>
                  </a:r>
                  <a:endParaRPr lang="zh-CN" sz="2500"/>
                </a:p>
              </p:txBody>
            </p:sp>
          </p:grpSp>
        </p:grpSp>
        <p:grpSp>
          <p:nvGrpSpPr>
            <p:cNvPr id="1010" name="Detector training signals"/>
            <p:cNvGrpSpPr/>
            <p:nvPr/>
          </p:nvGrpSpPr>
          <p:grpSpPr>
            <a:xfrm>
              <a:off x="266700" y="6391275"/>
              <a:ext cx="13868400" cy="2486025"/>
              <a:chOff x="266700" y="6391275"/>
              <a:chExt cx="13868400" cy="2486025"/>
            </a:xfrm>
          </p:grpSpPr>
          <p:grpSp>
            <p:nvGrpSpPr>
              <p:cNvPr id="1005" name="Training heading"/>
              <p:cNvGrpSpPr/>
              <p:nvPr/>
            </p:nvGrpSpPr>
            <p:grpSpPr>
              <a:xfrm>
                <a:off x="266700" y="6391275"/>
                <a:ext cx="2867025" cy="504825"/>
                <a:chOff x="266700" y="6391275"/>
                <a:chExt cx="2867025" cy="504825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266700" y="6391275"/>
                  <a:ext cx="2867025" cy="5048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7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Detector training</a:t>
                  </a:r>
                  <a:endParaRPr lang="zh-CN" sz="2700"/>
                </a:p>
              </p:txBody>
            </p:sp>
          </p:grpSp>
          <p:grpSp>
            <p:nvGrpSpPr>
              <p:cNvPr id="1006" name="Parse validity"/>
              <p:cNvGrpSpPr/>
              <p:nvPr/>
            </p:nvGrpSpPr>
            <p:grpSpPr>
              <a:xfrm>
                <a:off x="3124200" y="6457950"/>
                <a:ext cx="2628900" cy="2419350"/>
                <a:chOff x="3124200" y="6457950"/>
                <a:chExt cx="2628900" cy="2419350"/>
              </a:xfrm>
            </p:grpSpPr>
            <p:pic>
              <p:nvPicPr>
                <p:cNvPr id="40" name="parse card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24250" y="6457950"/>
                  <a:ext cx="1924050" cy="1590675"/>
                </a:xfrm>
                <a:prstGeom prst="rect">
                  <a:avLst/>
                </a:prstGeom>
              </p:spPr>
            </p:pic>
            <p:pic>
              <p:nvPicPr>
                <p:cNvPr id="41" name="parse check"/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24425" y="7429500"/>
                  <a:ext cx="504825" cy="514350"/>
                </a:xfrm>
                <a:prstGeom prst="rect">
                  <a:avLst/>
                </a:prstGeom>
              </p:spPr>
            </p:pic>
            <p:pic>
              <p:nvPicPr>
                <p:cNvPr id="42" name="parse plinth"/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24200" y="7934325"/>
                  <a:ext cx="2628900" cy="485775"/>
                </a:xfrm>
                <a:prstGeom prst="rect">
                  <a:avLst/>
                </a:prstGeom>
              </p:spPr>
            </p:pic>
            <p:sp>
              <p:nvSpPr>
                <p:cNvPr id="43" name="TextBox 43"/>
                <p:cNvSpPr txBox="1"/>
                <p:nvPr/>
              </p:nvSpPr>
              <p:spPr>
                <a:xfrm>
                  <a:off x="3143250" y="8458200"/>
                  <a:ext cx="26098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Parse validity</a:t>
                  </a:r>
                  <a:endParaRPr lang="zh-CN" sz="2500"/>
                </a:p>
              </p:txBody>
            </p:sp>
          </p:grpSp>
          <p:grpSp>
            <p:nvGrpSpPr>
              <p:cNvPr id="1007" name="Interval agreement"/>
              <p:cNvGrpSpPr/>
              <p:nvPr/>
            </p:nvGrpSpPr>
            <p:grpSpPr>
              <a:xfrm>
                <a:off x="6667500" y="6581775"/>
                <a:ext cx="3381375" cy="2295525"/>
                <a:chOff x="6667500" y="6581775"/>
                <a:chExt cx="3381375" cy="2295525"/>
              </a:xfrm>
            </p:grpSpPr>
            <p:pic>
              <p:nvPicPr>
                <p:cNvPr id="44" name="interval agreement"/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86575" y="6581775"/>
                  <a:ext cx="2676525" cy="1295400"/>
                </a:xfrm>
                <a:prstGeom prst="rect">
                  <a:avLst/>
                </a:prstGeom>
              </p:spPr>
            </p:pic>
            <p:pic>
              <p:nvPicPr>
                <p:cNvPr id="45" name="interval plinth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15125" y="7905750"/>
                  <a:ext cx="3181350" cy="523875"/>
                </a:xfrm>
                <a:prstGeom prst="rect">
                  <a:avLst/>
                </a:prstGeom>
              </p:spPr>
            </p:pic>
            <p:sp>
              <p:nvSpPr>
                <p:cNvPr id="46" name="TextBox 46"/>
                <p:cNvSpPr txBox="1"/>
                <p:nvPr/>
              </p:nvSpPr>
              <p:spPr>
                <a:xfrm>
                  <a:off x="6667500" y="8458200"/>
                  <a:ext cx="338137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Interval agreement</a:t>
                  </a:r>
                  <a:endParaRPr lang="zh-CN" sz="2500"/>
                </a:p>
              </p:txBody>
            </p:sp>
          </p:grpSp>
          <p:grpSp>
            <p:nvGrpSpPr>
              <p:cNvPr id="1008" name="False-positive penalty"/>
              <p:cNvGrpSpPr/>
              <p:nvPr/>
            </p:nvGrpSpPr>
            <p:grpSpPr>
              <a:xfrm>
                <a:off x="10610850" y="6677025"/>
                <a:ext cx="3524250" cy="2200275"/>
                <a:chOff x="10610850" y="6677025"/>
                <a:chExt cx="3524250" cy="2200275"/>
              </a:xfrm>
            </p:grpSpPr>
            <p:pic>
              <p:nvPicPr>
                <p:cNvPr id="47" name="false positive trace"/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44200" y="6781800"/>
                  <a:ext cx="3295650" cy="1257300"/>
                </a:xfrm>
                <a:prstGeom prst="rect">
                  <a:avLst/>
                </a:prstGeom>
              </p:spPr>
            </p:pic>
            <p:pic>
              <p:nvPicPr>
                <p:cNvPr id="48" name="false positive mark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573000" y="6677025"/>
                  <a:ext cx="514350" cy="485775"/>
                </a:xfrm>
                <a:prstGeom prst="rect">
                  <a:avLst/>
                </a:prstGeom>
              </p:spPr>
            </p:pic>
            <p:pic>
              <p:nvPicPr>
                <p:cNvPr id="49" name="false positive plinth"/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610850" y="7934325"/>
                  <a:ext cx="3514725" cy="514350"/>
                </a:xfrm>
                <a:prstGeom prst="rect">
                  <a:avLst/>
                </a:prstGeom>
              </p:spPr>
            </p:pic>
            <p:sp>
              <p:nvSpPr>
                <p:cNvPr id="50" name="TextBox 50"/>
                <p:cNvSpPr txBox="1"/>
                <p:nvPr/>
              </p:nvSpPr>
              <p:spPr>
                <a:xfrm>
                  <a:off x="10610850" y="8458200"/>
                  <a:ext cx="35242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False positives</a:t>
                  </a:r>
                  <a:endParaRPr lang="zh-CN" sz="2500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