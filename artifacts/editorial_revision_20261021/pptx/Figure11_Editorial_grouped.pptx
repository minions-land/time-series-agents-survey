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630400" cy="97536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Figure 11 — ungroup into evaluation evidence"/>
          <p:cNvGrpSpPr/>
          <p:nvPr/>
        </p:nvGrpSpPr>
        <p:grpSpPr>
          <a:xfrm>
            <a:off x="238125" y="433388"/>
            <a:ext cx="14144625" cy="8758237"/>
            <a:chOff x="238125" y="433388"/>
            <a:chExt cx="14144625" cy="8758237"/>
          </a:xfrm>
        </p:grpSpPr>
        <p:grpSp>
          <p:nvGrpSpPr>
            <p:cNvPr id="52" name="Contract"/>
            <p:cNvGrpSpPr/>
            <p:nvPr/>
          </p:nvGrpSpPr>
          <p:grpSpPr>
            <a:xfrm>
              <a:off x="857250" y="433388"/>
              <a:ext cx="3000375" cy="3071812"/>
              <a:chOff x="857250" y="433388"/>
              <a:chExt cx="3000375" cy="3071812"/>
            </a:xfrm>
          </p:grpSpPr>
          <p:pic>
            <p:nvPicPr>
              <p:cNvPr id="7" name="Contract sheet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62025" y="433388"/>
                <a:ext cx="2524125" cy="2524125"/>
              </a:xfrm>
              <a:prstGeom prst="rect">
                <a:avLst/>
              </a:prstGeom>
            </p:spPr>
          </p:pic>
          <p:sp>
            <p:nvSpPr>
              <p:cNvPr id="29" name="TextBox 29"/>
              <p:cNvSpPr txBox="1"/>
              <p:nvPr/>
            </p:nvSpPr>
            <p:spPr>
              <a:xfrm>
                <a:off x="1619250" y="1304925"/>
                <a:ext cx="12382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Output</a:t>
                </a:r>
                <a:endParaRPr lang="zh-CN" sz="200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619250" y="1724025"/>
                <a:ext cx="12382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Time</a:t>
                </a:r>
                <a:endParaRPr lang="zh-CN" sz="2000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619250" y="2028825"/>
                <a:ext cx="12382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Budget</a:t>
                </a:r>
                <a:endParaRPr lang="zh-CN" sz="200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57250" y="3105150"/>
                <a:ext cx="300037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7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Contract</a:t>
                </a:r>
                <a:endParaRPr lang="zh-CN" sz="2700"/>
              </a:p>
            </p:txBody>
          </p:sp>
        </p:grpSp>
        <p:grpSp>
          <p:nvGrpSpPr>
            <p:cNvPr id="53" name="Resources"/>
            <p:cNvGrpSpPr/>
            <p:nvPr/>
          </p:nvGrpSpPr>
          <p:grpSpPr>
            <a:xfrm>
              <a:off x="3429000" y="749306"/>
              <a:ext cx="3838575" cy="2755894"/>
              <a:chOff x="3429000" y="749306"/>
              <a:chExt cx="3838575" cy="2755894"/>
            </a:xfrm>
          </p:grpSpPr>
          <p:pic>
            <p:nvPicPr>
              <p:cNvPr id="8" name="Resource data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2925" y="947660"/>
                <a:ext cx="1066800" cy="1162205"/>
              </a:xfrm>
              <a:prstGeom prst="rect">
                <a:avLst/>
              </a:prstGeom>
            </p:spPr>
          </p:pic>
          <p:pic>
            <p:nvPicPr>
              <p:cNvPr id="9" name="Resource tool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5875" y="749306"/>
                <a:ext cx="1181100" cy="1311262"/>
              </a:xfrm>
              <a:prstGeom prst="rect">
                <a:avLst/>
              </a:prstGeom>
            </p:spPr>
          </p:pic>
          <p:pic>
            <p:nvPicPr>
              <p:cNvPr id="10" name="Resource code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76925" y="1226712"/>
                <a:ext cx="1162050" cy="1251802"/>
              </a:xfrm>
              <a:prstGeom prst="rect">
                <a:avLst/>
              </a:prstGeom>
            </p:spPr>
          </p:pic>
          <p:pic>
            <p:nvPicPr>
              <p:cNvPr id="11" name="Resource documentation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50008" y="2095500"/>
                <a:ext cx="1187058" cy="781050"/>
              </a:xfrm>
              <a:prstGeom prst="rect">
                <a:avLst/>
              </a:prstGeom>
            </p:spPr>
          </p:pic>
          <p:sp>
            <p:nvSpPr>
              <p:cNvPr id="19" name="Line 19"/>
              <p:cNvSpPr/>
              <p:nvPr/>
            </p:nvSpPr>
            <p:spPr>
              <a:xfrm>
                <a:off x="3429000" y="1790700"/>
                <a:ext cx="762000" cy="0"/>
              </a:xfrm>
              <a:prstGeom prst="line">
                <a:avLst/>
              </a:prstGeom>
              <a:noFill/>
              <a:ln w="19050">
                <a:solidFill>
                  <a:srgbClr val="29323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267200" y="3105150"/>
                <a:ext cx="300037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7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Resources</a:t>
                </a:r>
                <a:endParaRPr lang="zh-CN" sz="2700"/>
              </a:p>
            </p:txBody>
          </p:sp>
        </p:grpSp>
        <p:grpSp>
          <p:nvGrpSpPr>
            <p:cNvPr id="54" name="Run"/>
            <p:cNvGrpSpPr/>
            <p:nvPr/>
          </p:nvGrpSpPr>
          <p:grpSpPr>
            <a:xfrm>
              <a:off x="7067550" y="853520"/>
              <a:ext cx="3933825" cy="2651680"/>
              <a:chOff x="7067550" y="853520"/>
              <a:chExt cx="3933825" cy="2651680"/>
            </a:xfrm>
          </p:grpSpPr>
          <p:pic>
            <p:nvPicPr>
              <p:cNvPr id="12" name="Run terminal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58100" y="853520"/>
                <a:ext cx="2657475" cy="1912460"/>
              </a:xfrm>
              <a:prstGeom prst="rect">
                <a:avLst/>
              </a:prstGeom>
            </p:spPr>
          </p:pic>
          <p:sp>
            <p:nvSpPr>
              <p:cNvPr id="20" name="Line 20"/>
              <p:cNvSpPr/>
              <p:nvPr/>
            </p:nvSpPr>
            <p:spPr>
              <a:xfrm>
                <a:off x="7067550" y="1790700"/>
                <a:ext cx="523875" cy="0"/>
              </a:xfrm>
              <a:prstGeom prst="line">
                <a:avLst/>
              </a:prstGeom>
              <a:noFill/>
              <a:ln w="19050">
                <a:solidFill>
                  <a:srgbClr val="29323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1" name="Line 21"/>
              <p:cNvSpPr/>
              <p:nvPr/>
            </p:nvSpPr>
            <p:spPr>
              <a:xfrm>
                <a:off x="10353675" y="1790700"/>
                <a:ext cx="647700" cy="0"/>
              </a:xfrm>
              <a:prstGeom prst="line">
                <a:avLst/>
              </a:prstGeom>
              <a:noFill/>
              <a:ln w="19050">
                <a:solidFill>
                  <a:srgbClr val="29323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020050" y="1581150"/>
                <a:ext cx="19050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Execute</a:t>
                </a:r>
                <a:endParaRPr lang="zh-CN" sz="2300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629525" y="3105150"/>
                <a:ext cx="300037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7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Run</a:t>
                </a:r>
                <a:endParaRPr lang="zh-CN" sz="2700"/>
              </a:p>
            </p:txBody>
          </p:sp>
        </p:grpSp>
        <p:grpSp>
          <p:nvGrpSpPr>
            <p:cNvPr id="55" name="Artifact"/>
            <p:cNvGrpSpPr/>
            <p:nvPr/>
          </p:nvGrpSpPr>
          <p:grpSpPr>
            <a:xfrm>
              <a:off x="10963275" y="598902"/>
              <a:ext cx="3019425" cy="2906298"/>
              <a:chOff x="10963275" y="598902"/>
              <a:chExt cx="3019425" cy="2906298"/>
            </a:xfrm>
          </p:grpSpPr>
          <p:pic>
            <p:nvPicPr>
              <p:cNvPr id="13" name="Submitted artifact folder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87100" y="598902"/>
                <a:ext cx="2895600" cy="2259771"/>
              </a:xfrm>
              <a:prstGeom prst="rect">
                <a:avLst/>
              </a:prstGeom>
            </p:spPr>
          </p:pic>
          <p:sp>
            <p:nvSpPr>
              <p:cNvPr id="36" name="TextBox 36"/>
              <p:cNvSpPr txBox="1"/>
              <p:nvPr/>
            </p:nvSpPr>
            <p:spPr>
              <a:xfrm>
                <a:off x="10963275" y="3105150"/>
                <a:ext cx="300037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7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Artifact</a:t>
                </a:r>
                <a:endParaRPr lang="zh-CN" sz="2700"/>
              </a:p>
            </p:txBody>
          </p:sp>
        </p:grpSp>
        <p:grpSp>
          <p:nvGrpSpPr>
            <p:cNvPr id="56" name="Evidence routes"/>
            <p:cNvGrpSpPr/>
            <p:nvPr/>
          </p:nvGrpSpPr>
          <p:grpSpPr>
            <a:xfrm>
              <a:off x="2428875" y="3552825"/>
              <a:ext cx="10048875" cy="1038225"/>
              <a:chOff x="2428875" y="3552825"/>
              <a:chExt cx="10048875" cy="1038225"/>
            </a:xfrm>
          </p:grpSpPr>
          <p:sp>
            <p:nvSpPr>
              <p:cNvPr id="22" name="Path 22"/>
              <p:cNvSpPr/>
              <p:nvPr/>
            </p:nvSpPr>
            <p:spPr>
              <a:xfrm>
                <a:off x="2428875" y="3552825"/>
                <a:ext cx="10048875" cy="10382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21600" y="7134"/>
                    </a:lnTo>
                    <a:lnTo>
                      <a:pt x="0" y="7134"/>
                    </a:ln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8B3F49"/>
                </a:solidFill>
                <a:prstDash val="dot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3" name="Line 23"/>
              <p:cNvSpPr/>
              <p:nvPr/>
            </p:nvSpPr>
            <p:spPr>
              <a:xfrm>
                <a:off x="7286625" y="3895725"/>
                <a:ext cx="0" cy="676275"/>
              </a:xfrm>
              <a:prstGeom prst="line">
                <a:avLst/>
              </a:prstGeom>
              <a:noFill/>
              <a:ln w="19050">
                <a:solidFill>
                  <a:srgbClr val="8B3F49"/>
                </a:solidFill>
                <a:prstDash val="dot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4" name="Path 24"/>
              <p:cNvSpPr/>
              <p:nvPr/>
            </p:nvSpPr>
            <p:spPr>
              <a:xfrm>
                <a:off x="8963025" y="3552825"/>
                <a:ext cx="3495675" cy="10382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558"/>
                    </a:lnTo>
                    <a:quadBezTo>
                      <a:pt x="1413" y="7134"/>
                      <a:pt x="0" y="9710"/>
                    </a:quadBezTo>
                    <a:lnTo>
                      <a:pt x="0" y="13673"/>
                    </a:lnTo>
                    <a:lnTo>
                      <a:pt x="21600" y="13673"/>
                    </a:lnTo>
                    <a:lnTo>
                      <a:pt x="21600" y="21600"/>
                    </a:lnTo>
                  </a:path>
                </a:pathLst>
              </a:custGeom>
              <a:noFill/>
              <a:ln w="19050">
                <a:solidFill>
                  <a:srgbClr val="607584"/>
                </a:solidFill>
                <a:prstDash val="dot"/>
                <a:tailEnd type="triangle"/>
              </a:ln>
            </p:spPr>
            <p:txBody>
              <a:bodyPr/>
              <a:lstStyle/>
              <a:p/>
            </p:txBody>
          </p:sp>
        </p:grpSp>
        <p:grpSp>
          <p:nvGrpSpPr>
            <p:cNvPr id="57" name="Task performance"/>
            <p:cNvGrpSpPr/>
            <p:nvPr/>
          </p:nvGrpSpPr>
          <p:grpSpPr>
            <a:xfrm>
              <a:off x="238125" y="4476750"/>
              <a:ext cx="4572000" cy="4714875"/>
              <a:chOff x="238125" y="4476750"/>
              <a:chExt cx="4572000" cy="4714875"/>
            </a:xfrm>
          </p:grpSpPr>
          <p:pic>
            <p:nvPicPr>
              <p:cNvPr id="2" name="Evidence base 0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9973" y="7000875"/>
                <a:ext cx="3709255" cy="1428750"/>
              </a:xfrm>
              <a:prstGeom prst="rect">
                <a:avLst/>
              </a:prstGeom>
            </p:spPr>
          </p:pic>
          <p:sp>
            <p:nvSpPr>
              <p:cNvPr id="17" name="Path 17"/>
              <p:cNvSpPr/>
              <p:nvPr/>
            </p:nvSpPr>
            <p:spPr>
              <a:xfrm>
                <a:off x="828675" y="4543425"/>
                <a:ext cx="3743325" cy="3305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3197"/>
                    </a:moveTo>
                    <a:cubicBezTo>
                      <a:pt x="2638" y="871"/>
                      <a:pt x="4067" y="3859"/>
                      <a:pt x="6485" y="14130"/>
                    </a:cubicBezTo>
                    <a:cubicBezTo>
                      <a:pt x="8739" y="21600"/>
                      <a:pt x="9398" y="0"/>
                      <a:pt x="11817" y="5665"/>
                    </a:cubicBezTo>
                    <a:cubicBezTo>
                      <a:pt x="14070" y="18923"/>
                      <a:pt x="15279" y="14379"/>
                      <a:pt x="17423" y="5478"/>
                    </a:cubicBezTo>
                    <a:cubicBezTo>
                      <a:pt x="18907" y="1494"/>
                      <a:pt x="19566" y="15749"/>
                      <a:pt x="21600" y="11952"/>
                    </a:cubicBezTo>
                  </a:path>
                </a:pathLst>
              </a:custGeom>
              <a:noFill/>
              <a:ln w="25400">
                <a:solidFill>
                  <a:srgbClr val="293238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18" name="Path 18"/>
              <p:cNvSpPr/>
              <p:nvPr/>
            </p:nvSpPr>
            <p:spPr>
              <a:xfrm>
                <a:off x="828675" y="4543425"/>
                <a:ext cx="3743325" cy="3305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4379"/>
                    </a:moveTo>
                    <a:cubicBezTo>
                      <a:pt x="2858" y="6536"/>
                      <a:pt x="3518" y="1369"/>
                      <a:pt x="6540" y="13446"/>
                    </a:cubicBezTo>
                    <a:cubicBezTo>
                      <a:pt x="9069" y="18861"/>
                      <a:pt x="9673" y="3361"/>
                      <a:pt x="11872" y="7283"/>
                    </a:cubicBezTo>
                    <a:cubicBezTo>
                      <a:pt x="14070" y="17492"/>
                      <a:pt x="15279" y="13197"/>
                      <a:pt x="17423" y="7221"/>
                    </a:cubicBezTo>
                    <a:cubicBezTo>
                      <a:pt x="19127" y="3610"/>
                      <a:pt x="19731" y="15002"/>
                      <a:pt x="21600" y="12636"/>
                    </a:cubicBezTo>
                  </a:path>
                </a:pathLst>
              </a:custGeom>
              <a:noFill/>
              <a:ln w="25400">
                <a:solidFill>
                  <a:srgbClr val="8B3F49"/>
                </a:solidFill>
                <a:prstDash val="dash"/>
              </a:ln>
            </p:spPr>
            <p:txBody>
              <a:bodyPr/>
              <a:lstStyle/>
              <a:p/>
            </p:txBody>
          </p:sp>
          <p:sp>
            <p:nvSpPr>
              <p:cNvPr id="25" name="Path 25"/>
              <p:cNvSpPr/>
              <p:nvPr/>
            </p:nvSpPr>
            <p:spPr>
              <a:xfrm>
                <a:off x="828675" y="4838700"/>
                <a:ext cx="3743325" cy="23241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6510">
                <a:solidFill>
                  <a:srgbClr val="29323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6" name="Line 26"/>
              <p:cNvSpPr/>
              <p:nvPr/>
            </p:nvSpPr>
            <p:spPr>
              <a:xfrm flipV="1">
                <a:off x="828675" y="4838700"/>
                <a:ext cx="0" cy="2324100"/>
              </a:xfrm>
              <a:prstGeom prst="line">
                <a:avLst/>
              </a:prstGeom>
              <a:noFill/>
              <a:ln w="16510">
                <a:solidFill>
                  <a:srgbClr val="29323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7" name="Line 27"/>
              <p:cNvSpPr/>
              <p:nvPr/>
            </p:nvSpPr>
            <p:spPr>
              <a:xfrm>
                <a:off x="2924175" y="4629150"/>
                <a:ext cx="447675" cy="0"/>
              </a:xfrm>
              <a:prstGeom prst="line">
                <a:avLst/>
              </a:prstGeom>
              <a:noFill/>
              <a:ln w="22860">
                <a:solidFill>
                  <a:srgbClr val="293238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8" name="Line 28"/>
              <p:cNvSpPr/>
              <p:nvPr/>
            </p:nvSpPr>
            <p:spPr>
              <a:xfrm>
                <a:off x="2924175" y="4972050"/>
                <a:ext cx="447675" cy="0"/>
              </a:xfrm>
              <a:prstGeom prst="line">
                <a:avLst/>
              </a:prstGeom>
              <a:noFill/>
              <a:ln w="22860">
                <a:solidFill>
                  <a:srgbClr val="8B3F49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476625" y="4476750"/>
                <a:ext cx="12763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Reference</a:t>
                </a:r>
                <a:endParaRPr lang="zh-CN" sz="1800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476625" y="4819650"/>
                <a:ext cx="12763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Output</a:t>
                </a:r>
                <a:endParaRPr lang="zh-CN" sz="1800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238125" y="8229600"/>
                <a:ext cx="4572000" cy="466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9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Task performance</a:t>
                </a:r>
                <a:endParaRPr lang="zh-CN" sz="2900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238125" y="8810625"/>
                <a:ext cx="457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Output against reference</a:t>
                </a:r>
                <a:endParaRPr lang="zh-CN" sz="2200"/>
              </a:p>
            </p:txBody>
          </p:sp>
        </p:grpSp>
        <p:grpSp>
          <p:nvGrpSpPr>
            <p:cNvPr id="58" name="Artifact validity"/>
            <p:cNvGrpSpPr/>
            <p:nvPr/>
          </p:nvGrpSpPr>
          <p:grpSpPr>
            <a:xfrm>
              <a:off x="5048250" y="4646894"/>
              <a:ext cx="4572000" cy="4544731"/>
              <a:chOff x="5048250" y="4646894"/>
              <a:chExt cx="4572000" cy="4544731"/>
            </a:xfrm>
          </p:grpSpPr>
          <p:pic>
            <p:nvPicPr>
              <p:cNvPr id="3" name="Evidence base 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41523" y="7000875"/>
                <a:ext cx="3709255" cy="1428750"/>
              </a:xfrm>
              <a:prstGeom prst="rect">
                <a:avLst/>
              </a:prstGeom>
            </p:spPr>
          </p:pic>
          <p:pic>
            <p:nvPicPr>
              <p:cNvPr id="5" name="Validity folder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38750" y="4646894"/>
                <a:ext cx="3457575" cy="2583887"/>
              </a:xfrm>
              <a:prstGeom prst="rect">
                <a:avLst/>
              </a:prstGeom>
            </p:spPr>
          </p:pic>
          <p:pic>
            <p:nvPicPr>
              <p:cNvPr id="14" name="Validity checklist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57850" y="5293609"/>
                <a:ext cx="2038350" cy="2052456"/>
              </a:xfrm>
              <a:prstGeom prst="rect">
                <a:avLst/>
              </a:prstGeom>
            </p:spPr>
          </p:pic>
          <p:pic>
            <p:nvPicPr>
              <p:cNvPr id="15" name="Execution check terminal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583801" y="6181725"/>
                <a:ext cx="1653548" cy="1209675"/>
              </a:xfrm>
              <a:prstGeom prst="rect">
                <a:avLst/>
              </a:prstGeom>
            </p:spPr>
          </p:pic>
          <p:sp>
            <p:nvSpPr>
              <p:cNvPr id="39" name="TextBox 39"/>
              <p:cNvSpPr txBox="1"/>
              <p:nvPr/>
            </p:nvSpPr>
            <p:spPr>
              <a:xfrm>
                <a:off x="6343650" y="5600700"/>
                <a:ext cx="1123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Files</a:t>
                </a:r>
                <a:endParaRPr lang="zh-CN" sz="1800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343650" y="6048375"/>
                <a:ext cx="1123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Format</a:t>
                </a:r>
                <a:endParaRPr lang="zh-CN" sz="1800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343650" y="6496050"/>
                <a:ext cx="1123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Runs</a:t>
                </a:r>
                <a:endParaRPr lang="zh-CN" sz="1800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781925" y="6610350"/>
                <a:ext cx="126682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Run check</a:t>
                </a:r>
                <a:endParaRPr lang="zh-CN" sz="1700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048250" y="8229600"/>
                <a:ext cx="4572000" cy="466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9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Artifact validity</a:t>
                </a:r>
                <a:endParaRPr lang="zh-CN" sz="2900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048250" y="8810625"/>
                <a:ext cx="457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Files and execution checks</a:t>
                </a:r>
                <a:endParaRPr lang="zh-CN" sz="2200"/>
              </a:p>
            </p:txBody>
          </p:sp>
        </p:grpSp>
        <p:grpSp>
          <p:nvGrpSpPr>
            <p:cNvPr id="59" name="Execution record"/>
            <p:cNvGrpSpPr/>
            <p:nvPr/>
          </p:nvGrpSpPr>
          <p:grpSpPr>
            <a:xfrm>
              <a:off x="9810750" y="4600575"/>
              <a:ext cx="4572000" cy="4591050"/>
              <a:chOff x="9810750" y="4600575"/>
              <a:chExt cx="4572000" cy="4591050"/>
            </a:xfrm>
          </p:grpSpPr>
          <p:pic>
            <p:nvPicPr>
              <p:cNvPr id="4" name="Evidence base 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51648" y="7000875"/>
                <a:ext cx="3709255" cy="1428750"/>
              </a:xfrm>
              <a:prstGeom prst="rect">
                <a:avLst/>
              </a:prstGeom>
            </p:spPr>
          </p:pic>
          <p:pic>
            <p:nvPicPr>
              <p:cNvPr id="6" name="Execution log stack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142695" y="4600575"/>
                <a:ext cx="3612836" cy="2676525"/>
              </a:xfrm>
              <a:prstGeom prst="rect">
                <a:avLst/>
              </a:prstGeom>
            </p:spPr>
          </p:pic>
          <p:pic>
            <p:nvPicPr>
              <p:cNvPr id="16" name="Execution clock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944100" y="6232710"/>
                <a:ext cx="1409700" cy="1431556"/>
              </a:xfrm>
              <a:prstGeom prst="rect">
                <a:avLst/>
              </a:prstGeom>
            </p:spPr>
          </p:pic>
          <p:sp>
            <p:nvSpPr>
              <p:cNvPr id="43" name="TextBox 43"/>
              <p:cNvSpPr txBox="1"/>
              <p:nvPr/>
            </p:nvSpPr>
            <p:spPr>
              <a:xfrm>
                <a:off x="10772775" y="5057775"/>
                <a:ext cx="247650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Tool calls</a:t>
                </a:r>
                <a:endParaRPr lang="zh-CN" sz="2200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772775" y="5514975"/>
                <a:ext cx="247650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Failures</a:t>
                </a:r>
                <a:endParaRPr lang="zh-CN" sz="2200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772775" y="5972175"/>
                <a:ext cx="266700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Time and cost</a:t>
                </a:r>
                <a:endParaRPr lang="zh-CN" sz="2200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810750" y="8229600"/>
                <a:ext cx="4572000" cy="466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9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Execution record</a:t>
                </a:r>
                <a:endParaRPr lang="zh-CN" sz="2900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810750" y="8810625"/>
                <a:ext cx="457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Calls, failures and cost</a:t>
                </a:r>
                <a:endParaRPr lang="zh-CN" sz="220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