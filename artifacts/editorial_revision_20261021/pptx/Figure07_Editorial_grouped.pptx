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Figure 7 — ungroup into temporal modules"/>
          <p:cNvGrpSpPr/>
          <p:nvPr/>
        </p:nvGrpSpPr>
        <p:grpSpPr>
          <a:xfrm>
            <a:off x="190500" y="142875"/>
            <a:ext cx="14287500" cy="9420225"/>
            <a:chOff x="190500" y="142875"/>
            <a:chExt cx="14287500" cy="9420225"/>
          </a:xfrm>
        </p:grpSpPr>
        <p:grpSp>
          <p:nvGrpSpPr>
            <p:cNvPr id="69" name="Availability timeline"/>
            <p:cNvGrpSpPr/>
            <p:nvPr/>
          </p:nvGrpSpPr>
          <p:grpSpPr>
            <a:xfrm>
              <a:off x="238125" y="142875"/>
              <a:ext cx="14001750" cy="1666875"/>
              <a:chOff x="238125" y="142875"/>
              <a:chExt cx="14001750" cy="166687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2838450" y="923925"/>
                <a:ext cx="171450" cy="171450"/>
              </a:xfrm>
              <a:prstGeom prst="ellipse">
                <a:avLst/>
              </a:prstGeom>
              <a:solidFill>
                <a:srgbClr val="607584"/>
              </a:solidFill>
              <a:ln w="8890">
                <a:solidFill>
                  <a:srgbClr val="60758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6743700" y="923925"/>
                <a:ext cx="171450" cy="171450"/>
              </a:xfrm>
              <a:prstGeom prst="ellipse">
                <a:avLst/>
              </a:prstGeom>
              <a:solidFill>
                <a:srgbClr val="607584"/>
              </a:solidFill>
              <a:ln w="8890">
                <a:solidFill>
                  <a:srgbClr val="60758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2773025" y="923925"/>
                <a:ext cx="171450" cy="171450"/>
              </a:xfrm>
              <a:prstGeom prst="ellipse">
                <a:avLst/>
              </a:prstGeom>
              <a:solidFill>
                <a:srgbClr val="8B3F49"/>
              </a:solidFill>
              <a:ln w="8890">
                <a:solidFill>
                  <a:srgbClr val="8B3F49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Line 19"/>
              <p:cNvSpPr/>
              <p:nvPr/>
            </p:nvSpPr>
            <p:spPr>
              <a:xfrm>
                <a:off x="1952625" y="1009650"/>
                <a:ext cx="12287250" cy="0"/>
              </a:xfrm>
              <a:prstGeom prst="line">
                <a:avLst/>
              </a:prstGeom>
              <a:noFill/>
              <a:ln w="1778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0" name="Line 20"/>
              <p:cNvSpPr/>
              <p:nvPr/>
            </p:nvSpPr>
            <p:spPr>
              <a:xfrm>
                <a:off x="10382250" y="590550"/>
                <a:ext cx="0" cy="800100"/>
              </a:xfrm>
              <a:prstGeom prst="line">
                <a:avLst/>
              </a:prstGeom>
              <a:noFill/>
              <a:ln w="17780">
                <a:solidFill>
                  <a:srgbClr val="8B3F49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38125" y="666750"/>
                <a:ext cx="166687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Information</a:t>
                </a:r>
                <a:endParaRPr lang="zh-CN" sz="2100"/>
              </a:p>
              <a:p>
                <a:pPr algn="l"/>
                <a:r>
                  <a:rPr lang="zh-CN" sz="21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release</a:t>
                </a:r>
                <a:endParaRPr lang="zh-CN" sz="210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781175" y="1228725"/>
                <a:ext cx="2286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>
                    <a:solidFill>
                      <a:srgbClr val="607584"/>
                    </a:solidFill>
                    <a:latin typeface="Times New Roman"/>
                    <a:ea typeface="Times New Roman"/>
                    <a:cs typeface="Times New Roman"/>
                  </a:rPr>
                  <a:t>Observed series</a:t>
                </a:r>
                <a:endParaRPr lang="zh-CN" sz="2000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686425" y="1228725"/>
                <a:ext cx="2286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>
                    <a:solidFill>
                      <a:srgbClr val="607584"/>
                    </a:solidFill>
                    <a:latin typeface="Times New Roman"/>
                    <a:ea typeface="Times New Roman"/>
                    <a:cs typeface="Times New Roman"/>
                  </a:rPr>
                  <a:t>Known calendar</a:t>
                </a:r>
                <a:endParaRPr lang="zh-CN" sz="2000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1715750" y="1228725"/>
                <a:ext cx="22860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Late report</a:t>
                </a:r>
                <a:endParaRPr lang="zh-CN" sz="2000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115550" y="142875"/>
                <a:ext cx="5334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1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τ</a:t>
                </a:r>
                <a:endParaRPr lang="zh-CN" sz="310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182100" y="1504950"/>
                <a:ext cx="2381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Decision cutoff</a:t>
                </a:r>
                <a:endParaRPr lang="zh-CN" sz="2000"/>
              </a:p>
            </p:txBody>
          </p:sp>
        </p:grpSp>
        <p:grpSp>
          <p:nvGrpSpPr>
            <p:cNvPr id="70" name="Data management"/>
            <p:cNvGrpSpPr/>
            <p:nvPr/>
          </p:nvGrpSpPr>
          <p:grpSpPr>
            <a:xfrm>
              <a:off x="190500" y="2124075"/>
              <a:ext cx="3409950" cy="5000625"/>
              <a:chOff x="190500" y="2124075"/>
              <a:chExt cx="3409950" cy="5000625"/>
            </a:xfrm>
          </p:grpSpPr>
          <p:pic>
            <p:nvPicPr>
              <p:cNvPr id="2" name="Data sheet stack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4325" y="3066455"/>
                <a:ext cx="3286125" cy="2553891"/>
              </a:xfrm>
              <a:prstGeom prst="rect">
                <a:avLst/>
              </a:prstGeom>
            </p:spPr>
          </p:pic>
          <p:graphicFrame>
            <p:nvGraphicFramePr>
              <p:cNvPr id="42" name="Table 42"/>
              <p:cNvGraphicFramePr/>
              <p:nvPr/>
            </p:nvGraphicFramePr>
            <p:xfrm>
              <a:off x="552450" y="3562350"/>
              <a:ext cx="2476500" cy="1752600"/>
            </p:xfrm>
            <a:graphic>
              <a:graphicData uri="http://schemas.openxmlformats.org/drawingml/2006/table">
                <a:tbl>
                  <a:tblPr/>
                  <a:tblGrid>
                    <a:gridCol w="825500"/>
                    <a:gridCol w="825500"/>
                    <a:gridCol w="825500"/>
                  </a:tblGrid>
                  <a:tr h="35052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Time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Value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Unit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35052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t1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x1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35052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t2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—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35052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t3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x3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35052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1500">
                              <a:solidFill>
                                <a:srgbClr val="253138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1500"/>
                        </a:p>
                      </a:txBody>
                      <a:tcPr marL="18288" marR="18288" marT="9144" marB="9144" anchor="ctr">
                        <a:lnL w="6350">
                          <a:solidFill>
                            <a:srgbClr val="CDD1D4"/>
                          </a:solidFill>
                        </a:lnL>
                        <a:lnR w="6350">
                          <a:solidFill>
                            <a:srgbClr val="CDD1D4"/>
                          </a:solidFill>
                        </a:lnR>
                        <a:lnT w="6350">
                          <a:solidFill>
                            <a:srgbClr val="CDD1D4"/>
                          </a:solidFill>
                        </a:lnT>
                        <a:lnB w="6350">
                          <a:solidFill>
                            <a:srgbClr val="CDD1D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49" name="TextBox 49"/>
              <p:cNvSpPr txBox="1"/>
              <p:nvPr/>
            </p:nvSpPr>
            <p:spPr>
              <a:xfrm>
                <a:off x="190500" y="2124075"/>
                <a:ext cx="32385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Data management</a:t>
                </a:r>
                <a:endParaRPr lang="zh-CN" sz="2300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90500" y="6800850"/>
                <a:ext cx="32004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Preserve temporal state</a:t>
                </a:r>
                <a:endParaRPr lang="zh-CN" sz="2100"/>
              </a:p>
            </p:txBody>
          </p:sp>
        </p:grpSp>
        <p:grpSp>
          <p:nvGrpSpPr>
            <p:cNvPr id="71" name="Temporal processing"/>
            <p:cNvGrpSpPr/>
            <p:nvPr/>
          </p:nvGrpSpPr>
          <p:grpSpPr>
            <a:xfrm>
              <a:off x="3810000" y="2124075"/>
              <a:ext cx="3467100" cy="5000625"/>
              <a:chOff x="3810000" y="2124075"/>
              <a:chExt cx="3467100" cy="5000625"/>
            </a:xfrm>
          </p:grpSpPr>
          <p:pic>
            <p:nvPicPr>
              <p:cNvPr id="3" name="Selected window plot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0000" y="2934990"/>
                <a:ext cx="3381375" cy="1854795"/>
              </a:xfrm>
              <a:prstGeom prst="rect">
                <a:avLst/>
              </a:prstGeom>
            </p:spPr>
          </p:pic>
          <p:pic>
            <p:nvPicPr>
              <p:cNvPr id="4" name="Extracted signal window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300" y="4886240"/>
                <a:ext cx="1905000" cy="1076494"/>
              </a:xfrm>
              <a:prstGeom prst="rect">
                <a:avLst/>
              </a:prstGeom>
            </p:spPr>
          </p:pic>
          <p:pic>
            <p:nvPicPr>
              <p:cNvPr id="5" name="Transformation curv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7900" y="4917733"/>
                <a:ext cx="1143000" cy="1070658"/>
              </a:xfrm>
              <a:prstGeom prst="rect">
                <a:avLst/>
              </a:prstGeom>
            </p:spPr>
          </p:pic>
          <p:sp>
            <p:nvSpPr>
              <p:cNvPr id="21" name="Path 21"/>
              <p:cNvSpPr/>
              <p:nvPr/>
            </p:nvSpPr>
            <p:spPr>
              <a:xfrm>
                <a:off x="4181475" y="4457700"/>
                <a:ext cx="60960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8B3F49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5715000" y="4457700"/>
                <a:ext cx="57150" cy="5048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8B3F49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Line 23"/>
              <p:cNvSpPr/>
              <p:nvPr/>
            </p:nvSpPr>
            <p:spPr>
              <a:xfrm>
                <a:off x="5810250" y="5476875"/>
                <a:ext cx="266700" cy="0"/>
              </a:xfrm>
              <a:prstGeom prst="line">
                <a:avLst/>
              </a:prstGeom>
              <a:noFill/>
              <a:ln w="1778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810000" y="2124075"/>
                <a:ext cx="32385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Temporal processing</a:t>
                </a:r>
                <a:endParaRPr lang="zh-CN" sz="2300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00750" y="6029325"/>
                <a:ext cx="127635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Transform</a:t>
                </a:r>
                <a:endParaRPr lang="zh-CN" sz="1600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838575" y="6800850"/>
                <a:ext cx="32004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Operate on windows</a:t>
                </a:r>
                <a:endParaRPr lang="zh-CN" sz="2100"/>
              </a:p>
            </p:txBody>
          </p:sp>
        </p:grpSp>
        <p:grpSp>
          <p:nvGrpSpPr>
            <p:cNvPr id="72" name="Context and memory"/>
            <p:cNvGrpSpPr/>
            <p:nvPr/>
          </p:nvGrpSpPr>
          <p:grpSpPr>
            <a:xfrm>
              <a:off x="7496175" y="2124075"/>
              <a:ext cx="3552825" cy="5000625"/>
              <a:chOff x="7496175" y="2124075"/>
              <a:chExt cx="3552825" cy="5000625"/>
            </a:xfrm>
          </p:grpSpPr>
          <p:pic>
            <p:nvPicPr>
              <p:cNvPr id="6" name="Context waveform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96175" y="2957855"/>
                <a:ext cx="3552825" cy="1494740"/>
              </a:xfrm>
              <a:prstGeom prst="rect">
                <a:avLst/>
              </a:prstGeom>
            </p:spPr>
          </p:pic>
          <p:pic>
            <p:nvPicPr>
              <p:cNvPr id="7" name="Event A document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62850" y="4853009"/>
                <a:ext cx="1019175" cy="1133432"/>
              </a:xfrm>
              <a:prstGeom prst="rect">
                <a:avLst/>
              </a:prstGeom>
            </p:spPr>
          </p:pic>
          <p:pic>
            <p:nvPicPr>
              <p:cNvPr id="8" name="Event B documen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01075" y="4870083"/>
                <a:ext cx="1019175" cy="1099285"/>
              </a:xfrm>
              <a:prstGeom prst="rect">
                <a:avLst/>
              </a:prstGeom>
            </p:spPr>
          </p:pic>
          <p:pic>
            <p:nvPicPr>
              <p:cNvPr id="9" name="Archived case stack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48825" y="4736066"/>
                <a:ext cx="1352550" cy="1357792"/>
              </a:xfrm>
              <a:prstGeom prst="rect">
                <a:avLst/>
              </a:prstGeom>
            </p:spPr>
          </p:pic>
          <p:sp>
            <p:nvSpPr>
              <p:cNvPr id="24" name="Path 24"/>
              <p:cNvSpPr/>
              <p:nvPr/>
            </p:nvSpPr>
            <p:spPr>
              <a:xfrm>
                <a:off x="8067675" y="3867150"/>
                <a:ext cx="247650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17673"/>
                    </a:lnTo>
                    <a:lnTo>
                      <a:pt x="0" y="17673"/>
                    </a:ln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8B3F49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9105900" y="3867150"/>
                <a:ext cx="542925" cy="6286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17673"/>
                    </a:lnTo>
                    <a:lnTo>
                      <a:pt x="0" y="17673"/>
                    </a:ln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8B3F49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524750" y="2124075"/>
                <a:ext cx="32385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Context and memory</a:t>
                </a:r>
                <a:endParaRPr lang="zh-CN" sz="2300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572375" y="4524375"/>
                <a:ext cx="1009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Event A</a:t>
                </a:r>
                <a:endParaRPr lang="zh-CN" sz="1400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610600" y="4524375"/>
                <a:ext cx="1009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Event B</a:t>
                </a:r>
                <a:endParaRPr lang="zh-CN" sz="1400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782175" y="4524375"/>
                <a:ext cx="9810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4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Past case</a:t>
                </a:r>
                <a:endParaRPr lang="zh-CN" sz="1400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505700" y="6800850"/>
                <a:ext cx="32004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Align and retrieve</a:t>
                </a:r>
                <a:endParaRPr lang="zh-CN" sz="2100"/>
              </a:p>
            </p:txBody>
          </p:sp>
        </p:grpSp>
        <p:grpSp>
          <p:nvGrpSpPr>
            <p:cNvPr id="73" name="Temporal validation"/>
            <p:cNvGrpSpPr/>
            <p:nvPr/>
          </p:nvGrpSpPr>
          <p:grpSpPr>
            <a:xfrm>
              <a:off x="11239500" y="2124075"/>
              <a:ext cx="3238500" cy="5000625"/>
              <a:chOff x="11239500" y="2124075"/>
              <a:chExt cx="3238500" cy="5000625"/>
            </a:xfrm>
          </p:grpSpPr>
          <p:pic>
            <p:nvPicPr>
              <p:cNvPr id="10" name="Available report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287125" y="2920823"/>
                <a:ext cx="1304925" cy="1349729"/>
              </a:xfrm>
              <a:prstGeom prst="rect">
                <a:avLst/>
              </a:prstGeom>
            </p:spPr>
          </p:pic>
          <p:pic>
            <p:nvPicPr>
              <p:cNvPr id="11" name="Late report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77825" y="2921014"/>
                <a:ext cx="1304925" cy="1349348"/>
              </a:xfrm>
              <a:prstGeom prst="rect">
                <a:avLst/>
              </a:prstGeom>
            </p:spPr>
          </p:pic>
          <p:pic>
            <p:nvPicPr>
              <p:cNvPr id="12" name="Availability gate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934825" y="4484724"/>
                <a:ext cx="2095500" cy="974651"/>
              </a:xfrm>
              <a:prstGeom prst="rect">
                <a:avLst/>
              </a:prstGeom>
            </p:spPr>
          </p:pic>
          <p:pic>
            <p:nvPicPr>
              <p:cNvPr id="13" name="Accepted result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34750" y="5496799"/>
                <a:ext cx="1047750" cy="1179351"/>
              </a:xfrm>
              <a:prstGeom prst="rect">
                <a:avLst/>
              </a:prstGeom>
            </p:spPr>
          </p:pic>
          <p:pic>
            <p:nvPicPr>
              <p:cNvPr id="14" name="Excluded result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335000" y="5519988"/>
                <a:ext cx="1047750" cy="1132974"/>
              </a:xfrm>
              <a:prstGeom prst="rect">
                <a:avLst/>
              </a:prstGeom>
            </p:spPr>
          </p:pic>
          <p:sp>
            <p:nvSpPr>
              <p:cNvPr id="26" name="Path 26"/>
              <p:cNvSpPr/>
              <p:nvPr/>
            </p:nvSpPr>
            <p:spPr>
              <a:xfrm>
                <a:off x="11944350" y="4305300"/>
                <a:ext cx="4381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12480"/>
                    </a:lnTo>
                    <a:lnTo>
                      <a:pt x="21600" y="12480"/>
                    </a:lnTo>
                    <a:lnTo>
                      <a:pt x="21600" y="21600"/>
                    </a:lnTo>
                  </a:path>
                </a:pathLst>
              </a:custGeom>
              <a:noFill/>
              <a:ln w="1778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13439775" y="4305300"/>
                <a:ext cx="295275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12480"/>
                    </a:lnTo>
                    <a:lnTo>
                      <a:pt x="0" y="12480"/>
                    </a:lnTo>
                    <a:lnTo>
                      <a:pt x="0" y="21600"/>
                    </a:lnTo>
                  </a:path>
                </a:pathLst>
              </a:custGeom>
              <a:noFill/>
              <a:ln w="1778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1877675" y="5257800"/>
                <a:ext cx="57150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0" y="0"/>
                    </a:lnTo>
                    <a:lnTo>
                      <a:pt x="0" y="21600"/>
                    </a:lnTo>
                  </a:path>
                </a:pathLst>
              </a:custGeom>
              <a:noFill/>
              <a:ln w="1778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13439775" y="5257800"/>
                <a:ext cx="40005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noFill/>
              <a:ln w="1778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1239500" y="2124075"/>
                <a:ext cx="32385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00" b="1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Temporal validation</a:t>
                </a:r>
                <a:endParaRPr lang="zh-CN" sz="2300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1334750" y="2628900"/>
                <a:ext cx="12382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Available</a:t>
                </a:r>
                <a:endParaRPr lang="zh-CN" sz="1600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3144500" y="2628900"/>
                <a:ext cx="1238250" cy="247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Late</a:t>
                </a:r>
                <a:endParaRPr lang="zh-CN" sz="1600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2382500" y="4762500"/>
                <a:ext cx="119062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v ≤ τ</a:t>
                </a:r>
                <a:endParaRPr lang="zh-CN" sz="2500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1410950" y="6486525"/>
                <a:ext cx="85725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Admit</a:t>
                </a:r>
                <a:endParaRPr lang="zh-CN" sz="1600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3401675" y="6486525"/>
                <a:ext cx="8763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00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Exclude</a:t>
                </a:r>
                <a:endParaRPr lang="zh-CN" sz="1600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1249025" y="6800850"/>
                <a:ext cx="32004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Check availability</a:t>
                </a:r>
                <a:endParaRPr lang="zh-CN" sz="2100"/>
              </a:p>
            </p:txBody>
          </p:sp>
        </p:grpSp>
        <p:grpSp>
          <p:nvGrpSpPr>
            <p:cNvPr id="74" name="Requests and observations"/>
            <p:cNvGrpSpPr/>
            <p:nvPr/>
          </p:nvGrpSpPr>
          <p:grpSpPr>
            <a:xfrm>
              <a:off x="238125" y="7181850"/>
              <a:ext cx="14011275" cy="2381250"/>
              <a:chOff x="238125" y="7181850"/>
              <a:chExt cx="14011275" cy="2381250"/>
            </a:xfrm>
          </p:grpSpPr>
          <p:pic>
            <p:nvPicPr>
              <p:cNvPr id="15" name="LLM processor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38517" y="8486775"/>
                <a:ext cx="1391465" cy="1076325"/>
              </a:xfrm>
              <a:prstGeom prst="rect">
                <a:avLst/>
              </a:prstGeom>
            </p:spPr>
          </p:pic>
          <p:sp>
            <p:nvSpPr>
              <p:cNvPr id="30" name="Line 30"/>
              <p:cNvSpPr/>
              <p:nvPr/>
            </p:nvSpPr>
            <p:spPr>
              <a:xfrm>
                <a:off x="1809750" y="7572375"/>
                <a:ext cx="11715750" cy="0"/>
              </a:xfrm>
              <a:prstGeom prst="line">
                <a:avLst/>
              </a:prstGeom>
              <a:noFill/>
              <a:ln w="17780">
                <a:solidFill>
                  <a:srgbClr val="8B3F49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1" name="Line 31"/>
              <p:cNvSpPr/>
              <p:nvPr/>
            </p:nvSpPr>
            <p:spPr>
              <a:xfrm flipV="1">
                <a:off x="1809750" y="7181850"/>
                <a:ext cx="0" cy="390525"/>
              </a:xfrm>
              <a:prstGeom prst="line">
                <a:avLst/>
              </a:prstGeom>
              <a:noFill/>
              <a:ln w="1778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2" name="Line 32"/>
              <p:cNvSpPr/>
              <p:nvPr/>
            </p:nvSpPr>
            <p:spPr>
              <a:xfrm flipV="1">
                <a:off x="5476875" y="7181850"/>
                <a:ext cx="0" cy="390525"/>
              </a:xfrm>
              <a:prstGeom prst="line">
                <a:avLst/>
              </a:prstGeom>
              <a:noFill/>
              <a:ln w="1778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3" name="Line 33"/>
              <p:cNvSpPr/>
              <p:nvPr/>
            </p:nvSpPr>
            <p:spPr>
              <a:xfrm flipV="1">
                <a:off x="9096375" y="7181850"/>
                <a:ext cx="0" cy="390525"/>
              </a:xfrm>
              <a:prstGeom prst="line">
                <a:avLst/>
              </a:prstGeom>
              <a:noFill/>
              <a:ln w="1778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4" name="Line 34"/>
              <p:cNvSpPr/>
              <p:nvPr/>
            </p:nvSpPr>
            <p:spPr>
              <a:xfrm flipV="1">
                <a:off x="12763500" y="7181850"/>
                <a:ext cx="0" cy="390525"/>
              </a:xfrm>
              <a:prstGeom prst="line">
                <a:avLst/>
              </a:prstGeom>
              <a:noFill/>
              <a:ln w="17780">
                <a:solidFill>
                  <a:srgbClr val="8B3F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5" name="Line 35"/>
              <p:cNvSpPr/>
              <p:nvPr/>
            </p:nvSpPr>
            <p:spPr>
              <a:xfrm>
                <a:off x="2257425" y="8096250"/>
                <a:ext cx="11868150" cy="0"/>
              </a:xfrm>
              <a:prstGeom prst="line">
                <a:avLst/>
              </a:prstGeom>
              <a:noFill/>
              <a:ln w="17780">
                <a:solidFill>
                  <a:srgbClr val="60758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6" name="Line 36"/>
              <p:cNvSpPr/>
              <p:nvPr/>
            </p:nvSpPr>
            <p:spPr>
              <a:xfrm>
                <a:off x="7639050" y="8096250"/>
                <a:ext cx="0" cy="523875"/>
              </a:xfrm>
              <a:prstGeom prst="line">
                <a:avLst/>
              </a:prstGeom>
              <a:noFill/>
              <a:ln w="17780">
                <a:solidFill>
                  <a:srgbClr val="60758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3190875" y="7181850"/>
                <a:ext cx="1238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6300"/>
                    </a:lnTo>
                    <a:quadBezTo>
                      <a:pt x="39877" y="9225"/>
                      <a:pt x="0" y="12150"/>
                    </a:quadBezTo>
                    <a:lnTo>
                      <a:pt x="0" y="21600"/>
                    </a:lnTo>
                  </a:path>
                </a:pathLst>
              </a:custGeom>
              <a:noFill/>
              <a:ln w="17780">
                <a:solidFill>
                  <a:srgbClr val="60758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6858000" y="7181850"/>
                <a:ext cx="1238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6300"/>
                    </a:lnTo>
                    <a:quadBezTo>
                      <a:pt x="39877" y="9225"/>
                      <a:pt x="0" y="12150"/>
                    </a:quadBezTo>
                    <a:lnTo>
                      <a:pt x="0" y="21600"/>
                    </a:lnTo>
                  </a:path>
                </a:pathLst>
              </a:custGeom>
              <a:noFill/>
              <a:ln w="17780">
                <a:solidFill>
                  <a:srgbClr val="60758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10525125" y="7181850"/>
                <a:ext cx="1238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6300"/>
                    </a:lnTo>
                    <a:quadBezTo>
                      <a:pt x="39877" y="9225"/>
                      <a:pt x="0" y="12150"/>
                    </a:quadBezTo>
                    <a:lnTo>
                      <a:pt x="0" y="21600"/>
                    </a:lnTo>
                  </a:path>
                </a:pathLst>
              </a:custGeom>
              <a:noFill/>
              <a:ln w="17780">
                <a:solidFill>
                  <a:srgbClr val="60758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Path 40"/>
              <p:cNvSpPr/>
              <p:nvPr/>
            </p:nvSpPr>
            <p:spPr>
              <a:xfrm>
                <a:off x="14125575" y="7181850"/>
                <a:ext cx="123825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6300"/>
                    </a:lnTo>
                    <a:quadBezTo>
                      <a:pt x="39877" y="9225"/>
                      <a:pt x="0" y="12150"/>
                    </a:quadBezTo>
                    <a:lnTo>
                      <a:pt x="0" y="21600"/>
                    </a:lnTo>
                  </a:path>
                </a:pathLst>
              </a:custGeom>
              <a:noFill/>
              <a:ln w="17780">
                <a:solidFill>
                  <a:srgbClr val="60758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Path 41"/>
              <p:cNvSpPr/>
              <p:nvPr/>
            </p:nvSpPr>
            <p:spPr>
              <a:xfrm>
                <a:off x="7000875" y="7572375"/>
                <a:ext cx="13335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13353"/>
                    </a:lnTo>
                    <a:quadBezTo>
                      <a:pt x="38571" y="10800"/>
                      <a:pt x="0" y="8247"/>
                    </a:quad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8B3F49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810375" y="8801100"/>
                <a:ext cx="10477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00" b="1">
                    <a:solidFill>
                      <a:srgbClr val="253138"/>
                    </a:solidFill>
                    <a:latin typeface="Times New Roman"/>
                    <a:ea typeface="Times New Roman"/>
                    <a:cs typeface="Times New Roman"/>
                  </a:rPr>
                  <a:t>LLM</a:t>
                </a:r>
                <a:endParaRPr lang="zh-CN" sz="2500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238125" y="7400925"/>
                <a:ext cx="1438275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 b="1">
                    <a:solidFill>
                      <a:srgbClr val="8B3F49"/>
                    </a:solidFill>
                    <a:latin typeface="Times New Roman"/>
                    <a:ea typeface="Times New Roman"/>
                    <a:cs typeface="Times New Roman"/>
                  </a:rPr>
                  <a:t>Requests</a:t>
                </a:r>
                <a:endParaRPr lang="zh-CN" sz="2300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238125" y="8029575"/>
                <a:ext cx="1438275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 b="1">
                    <a:solidFill>
                      <a:srgbClr val="607584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  <a:endParaRPr lang="zh-CN" sz="23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