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630400" cy="97536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Figure 4 — ungroup to edit matrix and modules"/>
          <p:cNvGrpSpPr/>
          <p:nvPr/>
        </p:nvGrpSpPr>
        <p:grpSpPr>
          <a:xfrm>
            <a:off x="95250" y="114300"/>
            <a:ext cx="14449425" cy="9467850"/>
            <a:chOff x="95250" y="114300"/>
            <a:chExt cx="14449425" cy="9467850"/>
          </a:xfrm>
        </p:grpSpPr>
        <p:grpSp>
          <p:nvGrpSpPr>
            <p:cNvPr id="1008" name="Task-function matrix and task illustrations"/>
            <p:cNvGrpSpPr/>
            <p:nvPr/>
          </p:nvGrpSpPr>
          <p:grpSpPr>
            <a:xfrm>
              <a:off x="238125" y="114300"/>
              <a:ext cx="14125575" cy="5467350"/>
              <a:chOff x="238125" y="114300"/>
              <a:chExt cx="14125575" cy="5467350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238125" y="114300"/>
                <a:ext cx="13335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400" b="1">
                    <a:solidFill>
                      <a:srgbClr val="242729"/>
                    </a:solidFill>
                    <a:latin typeface="Times New Roman"/>
                    <a:ea typeface="Times New Roman"/>
                    <a:cs typeface="Times New Roman"/>
                  </a:rPr>
                  <a:t>(a) Tasks × temporal functions</a:t>
                </a:r>
                <a:endParaRPr lang="zh-CN" sz="3400"/>
              </a:p>
            </p:txBody>
          </p:sp>
          <p:grpSp>
            <p:nvGrpSpPr>
              <p:cNvPr id="1000" name="Forecasting task"/>
              <p:cNvGrpSpPr/>
              <p:nvPr/>
            </p:nvGrpSpPr>
            <p:grpSpPr>
              <a:xfrm>
                <a:off x="2247900" y="838200"/>
                <a:ext cx="3028950" cy="2047875"/>
                <a:chOff x="2247900" y="838200"/>
                <a:chExt cx="3028950" cy="2047875"/>
              </a:xfrm>
            </p:grpSpPr>
            <p:pic>
              <p:nvPicPr>
                <p:cNvPr id="3" name="forecast icon"/>
                <p:cNvPicPr/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352675" y="838200"/>
                  <a:ext cx="2581275" cy="1438275"/>
                </a:xfrm>
                <a:prstGeom prst="rect">
                  <a:avLst/>
                </a:prstGeom>
              </p:spPr>
            </p:pic>
            <p:sp>
              <p:nvSpPr>
                <p:cNvPr id="4" name="TextBox 4"/>
                <p:cNvSpPr txBox="1"/>
                <p:nvPr/>
              </p:nvSpPr>
              <p:spPr>
                <a:xfrm>
                  <a:off x="2247900" y="2409825"/>
                  <a:ext cx="302895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8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Forecasting</a:t>
                  </a:r>
                  <a:endParaRPr lang="zh-CN" sz="2800"/>
                </a:p>
              </p:txBody>
            </p:sp>
          </p:grpSp>
          <p:grpSp>
            <p:nvGrpSpPr>
              <p:cNvPr id="1001" name="Synthesis task"/>
              <p:cNvGrpSpPr/>
              <p:nvPr/>
            </p:nvGrpSpPr>
            <p:grpSpPr>
              <a:xfrm>
                <a:off x="5238750" y="685800"/>
                <a:ext cx="3067050" cy="2200275"/>
                <a:chOff x="5238750" y="685800"/>
                <a:chExt cx="3067050" cy="2200275"/>
              </a:xfrm>
            </p:grpSpPr>
            <p:pic>
              <p:nvPicPr>
                <p:cNvPr id="5" name="synthesis icon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38750" y="685800"/>
                  <a:ext cx="2609850" cy="1647825"/>
                </a:xfrm>
                <a:prstGeom prst="rect">
                  <a:avLst/>
                </a:prstGeom>
              </p:spPr>
            </p:pic>
            <p:sp>
              <p:nvSpPr>
                <p:cNvPr id="6" name="TextBox 6"/>
                <p:cNvSpPr txBox="1"/>
                <p:nvPr/>
              </p:nvSpPr>
              <p:spPr>
                <a:xfrm>
                  <a:off x="5276850" y="2409825"/>
                  <a:ext cx="302895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8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Synthesis</a:t>
                  </a:r>
                  <a:endParaRPr lang="zh-CN" sz="2800"/>
                </a:p>
              </p:txBody>
            </p:sp>
          </p:grpSp>
          <p:grpSp>
            <p:nvGrpSpPr>
              <p:cNvPr id="1002" name="Diagnosis task"/>
              <p:cNvGrpSpPr/>
              <p:nvPr/>
            </p:nvGrpSpPr>
            <p:grpSpPr>
              <a:xfrm>
                <a:off x="8305800" y="809625"/>
                <a:ext cx="3028950" cy="2076450"/>
                <a:chOff x="8305800" y="809625"/>
                <a:chExt cx="3028950" cy="2076450"/>
              </a:xfrm>
            </p:grpSpPr>
            <p:pic>
              <p:nvPicPr>
                <p:cNvPr id="7" name="diagnosis icon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24850" y="809625"/>
                  <a:ext cx="2533650" cy="1495425"/>
                </a:xfrm>
                <a:prstGeom prst="rect">
                  <a:avLst/>
                </a:prstGeom>
              </p:spPr>
            </p:pic>
            <p:sp>
              <p:nvSpPr>
                <p:cNvPr id="8" name="TextBox 8"/>
                <p:cNvSpPr txBox="1"/>
                <p:nvPr/>
              </p:nvSpPr>
              <p:spPr>
                <a:xfrm>
                  <a:off x="8305800" y="2409825"/>
                  <a:ext cx="302895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8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Diagnosis</a:t>
                  </a:r>
                  <a:endParaRPr lang="zh-CN" sz="2800"/>
                </a:p>
              </p:txBody>
            </p:sp>
          </p:grpSp>
          <p:grpSp>
            <p:nvGrpSpPr>
              <p:cNvPr id="1003" name="Decision task"/>
              <p:cNvGrpSpPr/>
              <p:nvPr/>
            </p:nvGrpSpPr>
            <p:grpSpPr>
              <a:xfrm>
                <a:off x="11258550" y="942975"/>
                <a:ext cx="3105150" cy="1943100"/>
                <a:chOff x="11258550" y="942975"/>
                <a:chExt cx="3105150" cy="1943100"/>
              </a:xfrm>
            </p:grpSpPr>
            <p:sp>
              <p:nvSpPr>
                <p:cNvPr id="9" name="Path 9"/>
                <p:cNvSpPr/>
                <p:nvPr/>
              </p:nvSpPr>
              <p:spPr>
                <a:xfrm>
                  <a:off x="12763500" y="1123950"/>
                  <a:ext cx="809625" cy="600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cubicBezTo>
                        <a:pt x="10165" y="0"/>
                        <a:pt x="15755" y="8229"/>
                        <a:pt x="21600" y="21600"/>
                      </a:cubicBezTo>
                    </a:path>
                  </a:pathLst>
                </a:custGeom>
                <a:noFill/>
                <a:ln w="25400">
                  <a:solidFill>
                    <a:srgbClr val="8B3F49"/>
                  </a:solidFill>
                  <a:tailEnd type="triangle"/>
                </a:ln>
              </p:spPr>
              <p:txBody>
                <a:bodyPr/>
                <a:lstStyle/>
                <a:p/>
              </p:txBody>
            </p:sp>
            <p:pic>
              <p:nvPicPr>
                <p:cNvPr id="10" name="decision stock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258550" y="942975"/>
                  <a:ext cx="1790700" cy="1285875"/>
                </a:xfrm>
                <a:prstGeom prst="rect">
                  <a:avLst/>
                </a:prstGeom>
              </p:spPr>
            </p:pic>
            <p:pic>
              <p:nvPicPr>
                <p:cNvPr id="11" name="decision action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239750" y="1647825"/>
                  <a:ext cx="1104900" cy="590550"/>
                </a:xfrm>
                <a:prstGeom prst="rect">
                  <a:avLst/>
                </a:prstGeom>
              </p:spPr>
            </p:pic>
            <p:sp>
              <p:nvSpPr>
                <p:cNvPr id="12" name="TextBox 12"/>
                <p:cNvSpPr txBox="1"/>
                <p:nvPr/>
              </p:nvSpPr>
              <p:spPr>
                <a:xfrm>
                  <a:off x="11334750" y="2409825"/>
                  <a:ext cx="3028950" cy="476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8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Decision</a:t>
                  </a:r>
                  <a:endParaRPr lang="zh-CN" sz="2800"/>
                </a:p>
              </p:txBody>
            </p:sp>
          </p:grpSp>
          <p:graphicFrame>
            <p:nvGraphicFramePr>
              <p:cNvPr id="13" name="Table 13"/>
              <p:cNvGraphicFramePr/>
              <p:nvPr/>
            </p:nvGraphicFramePr>
            <p:xfrm>
              <a:off x="266700" y="2952750"/>
              <a:ext cx="14097000" cy="2628900"/>
            </p:xfrm>
            <a:graphic>
              <a:graphicData uri="http://schemas.openxmlformats.org/drawingml/2006/table">
                <a:tbl>
                  <a:tblPr/>
                  <a:tblGrid>
                    <a:gridCol w="1981200"/>
                    <a:gridCol w="2895600"/>
                    <a:gridCol w="3076575"/>
                    <a:gridCol w="3067050"/>
                    <a:gridCol w="3076575"/>
                  </a:tblGrid>
                  <a:tr h="6572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500" b="1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Data</a:t>
                          </a:r>
                          <a:endParaRPr lang="zh-CN" sz="2500"/>
                        </a:p>
                      </a:txBody>
                      <a:tcPr marL="201168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3F3F3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History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Samples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Streams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State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6572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500" b="1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Processing</a:t>
                          </a:r>
                          <a:endParaRPr lang="zh-CN" sz="2500"/>
                        </a:p>
                      </a:txBody>
                      <a:tcPr marL="201168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3F3F3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Horizon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Transforms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Intervals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Actions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6572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500" b="1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Context</a:t>
                          </a:r>
                          <a:endParaRPr lang="zh-CN" sz="2500"/>
                        </a:p>
                      </a:txBody>
                      <a:tcPr marL="201168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3F3F3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Events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References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Incidents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Experience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6572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500" b="1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Validation</a:t>
                          </a:r>
                          <a:endParaRPr lang="zh-CN" sz="2500"/>
                        </a:p>
                      </a:txBody>
                      <a:tcPr marL="201168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3F3F3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Cutoff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Fidelity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Evidence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500">
                              <a:solidFill>
                                <a:srgbClr val="242729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Constraints</a:t>
                          </a:r>
                          <a:endParaRPr lang="zh-CN" sz="2500"/>
                        </a:p>
                      </a:txBody>
                      <a:tcPr marL="45720" marR="45720" marT="18288" marB="18288" anchor="ctr">
                        <a:lnL w="7620">
                          <a:solidFill>
                            <a:srgbClr val="8B8E90"/>
                          </a:solidFill>
                        </a:lnL>
                        <a:lnR w="7620">
                          <a:solidFill>
                            <a:srgbClr val="8B8E90"/>
                          </a:solidFill>
                        </a:lnR>
                        <a:lnT w="7620">
                          <a:solidFill>
                            <a:srgbClr val="8B8E90"/>
                          </a:solidFill>
                        </a:lnT>
                        <a:lnB w="7620">
                          <a:solidFill>
                            <a:srgbClr val="8B8E90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p:grpSp>
        <p:grpSp>
          <p:nvGrpSpPr>
            <p:cNvPr id="1009" name="Demand-planning composition"/>
            <p:cNvGrpSpPr/>
            <p:nvPr/>
          </p:nvGrpSpPr>
          <p:grpSpPr>
            <a:xfrm>
              <a:off x="95250" y="5953125"/>
              <a:ext cx="14449425" cy="3629025"/>
              <a:chOff x="95250" y="5953125"/>
              <a:chExt cx="14449425" cy="3629025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238125" y="5953125"/>
                <a:ext cx="13811250" cy="552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3300" b="1">
                    <a:solidFill>
                      <a:srgbClr val="242729"/>
                    </a:solidFill>
                    <a:latin typeface="Times New Roman"/>
                    <a:ea typeface="Times New Roman"/>
                    <a:cs typeface="Times New Roman"/>
                  </a:rPr>
                  <a:t>(b) From shared modules to a task</a:t>
                </a:r>
                <a:endParaRPr lang="zh-CN" sz="3300"/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3343275" y="7677150"/>
                <a:ext cx="552450" cy="0"/>
              </a:xfrm>
              <a:prstGeom prst="line">
                <a:avLst/>
              </a:prstGeom>
              <a:noFill/>
              <a:ln w="30480">
                <a:solidFill>
                  <a:srgbClr val="636667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" name="Line 16"/>
              <p:cNvSpPr/>
              <p:nvPr/>
            </p:nvSpPr>
            <p:spPr>
              <a:xfrm>
                <a:off x="7134225" y="7677150"/>
                <a:ext cx="476250" cy="0"/>
              </a:xfrm>
              <a:prstGeom prst="line">
                <a:avLst/>
              </a:prstGeom>
              <a:noFill/>
              <a:ln w="30480">
                <a:solidFill>
                  <a:srgbClr val="636667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7" name="Line 17"/>
              <p:cNvSpPr/>
              <p:nvPr/>
            </p:nvSpPr>
            <p:spPr>
              <a:xfrm>
                <a:off x="10591800" y="7677150"/>
                <a:ext cx="466725" cy="0"/>
              </a:xfrm>
              <a:prstGeom prst="line">
                <a:avLst/>
              </a:prstGeom>
              <a:noFill/>
              <a:ln w="30480">
                <a:solidFill>
                  <a:srgbClr val="636667"/>
                </a:solidFill>
                <a:tailEnd type="triangle"/>
              </a:ln>
            </p:spPr>
            <p:txBody>
              <a:bodyPr/>
              <a:lstStyle/>
              <a:p/>
            </p:txBody>
          </p:sp>
          <p:grpSp>
            <p:nvGrpSpPr>
              <p:cNvPr id="1004" name="General execution"/>
              <p:cNvGrpSpPr/>
              <p:nvPr/>
            </p:nvGrpSpPr>
            <p:grpSpPr>
              <a:xfrm>
                <a:off x="95250" y="6800850"/>
                <a:ext cx="3543300" cy="2781300"/>
                <a:chOff x="95250" y="6800850"/>
                <a:chExt cx="3543300" cy="2781300"/>
              </a:xfrm>
            </p:grpSpPr>
            <p:pic>
              <p:nvPicPr>
                <p:cNvPr id="18" name="execution terminal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9575" y="6800850"/>
                  <a:ext cx="2505075" cy="1533525"/>
                </a:xfrm>
                <a:prstGeom prst="rect">
                  <a:avLst/>
                </a:prstGeom>
              </p:spPr>
            </p:pic>
            <p:pic>
              <p:nvPicPr>
                <p:cNvPr id="19" name="execution file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343150" y="7505700"/>
                  <a:ext cx="819150" cy="952500"/>
                </a:xfrm>
                <a:prstGeom prst="rect">
                  <a:avLst/>
                </a:prstGeom>
              </p:spPr>
            </p:pic>
            <p:pic>
              <p:nvPicPr>
                <p:cNvPr id="20" name="execution plinth"/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5750" y="8258175"/>
                  <a:ext cx="2962275" cy="352425"/>
                </a:xfrm>
                <a:prstGeom prst="rect">
                  <a:avLst/>
                </a:prstGeom>
              </p:spPr>
            </p:pic>
            <p:sp>
              <p:nvSpPr>
                <p:cNvPr id="21" name="TextBox 21"/>
                <p:cNvSpPr txBox="1"/>
                <p:nvPr/>
              </p:nvSpPr>
              <p:spPr>
                <a:xfrm>
                  <a:off x="190500" y="8705850"/>
                  <a:ext cx="33528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7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Execute</a:t>
                  </a:r>
                  <a:endParaRPr lang="zh-CN" sz="2700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95250" y="9182100"/>
                  <a:ext cx="35433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General Harness</a:t>
                  </a:r>
                  <a:endParaRPr lang="zh-CN" sz="2100"/>
                </a:p>
              </p:txBody>
            </p:sp>
          </p:grpSp>
          <p:grpSp>
            <p:nvGrpSpPr>
              <p:cNvPr id="1005" name="Temporal preparation"/>
              <p:cNvGrpSpPr/>
              <p:nvPr/>
            </p:nvGrpSpPr>
            <p:grpSpPr>
              <a:xfrm>
                <a:off x="3724275" y="6591300"/>
                <a:ext cx="3543300" cy="2990850"/>
                <a:chOff x="3724275" y="6591300"/>
                <a:chExt cx="3543300" cy="2990850"/>
              </a:xfrm>
            </p:grpSpPr>
            <p:pic>
              <p:nvPicPr>
                <p:cNvPr id="23" name="preparation data"/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181475" y="6896100"/>
                  <a:ext cx="2114550" cy="1419225"/>
                </a:xfrm>
                <a:prstGeom prst="rect">
                  <a:avLst/>
                </a:prstGeom>
              </p:spPr>
            </p:pic>
            <p:pic>
              <p:nvPicPr>
                <p:cNvPr id="24" name="preparation clock"/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67175" y="6591300"/>
                  <a:ext cx="733425" cy="733425"/>
                </a:xfrm>
                <a:prstGeom prst="rect">
                  <a:avLst/>
                </a:prstGeom>
              </p:spPr>
            </p:pic>
            <p:pic>
              <p:nvPicPr>
                <p:cNvPr id="25" name="preparation event"/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86450" y="7239000"/>
                  <a:ext cx="1095375" cy="1200150"/>
                </a:xfrm>
                <a:prstGeom prst="rect">
                  <a:avLst/>
                </a:prstGeom>
              </p:spPr>
            </p:pic>
            <p:pic>
              <p:nvPicPr>
                <p:cNvPr id="26" name="preparation plinth"/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19550" y="8267700"/>
                  <a:ext cx="3124200" cy="352425"/>
                </a:xfrm>
                <a:prstGeom prst="rect">
                  <a:avLst/>
                </a:prstGeom>
              </p:spPr>
            </p:pic>
            <p:sp>
              <p:nvSpPr>
                <p:cNvPr id="27" name="TextBox 27"/>
                <p:cNvSpPr txBox="1"/>
                <p:nvPr/>
              </p:nvSpPr>
              <p:spPr>
                <a:xfrm>
                  <a:off x="3819525" y="8705850"/>
                  <a:ext cx="33528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7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Prepare</a:t>
                  </a:r>
                  <a:endParaRPr lang="zh-CN" sz="2700"/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3724275" y="9182100"/>
                  <a:ext cx="35433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General Time-Series Harness</a:t>
                  </a:r>
                  <a:endParaRPr lang="zh-CN" sz="2100"/>
                </a:p>
              </p:txBody>
            </p:sp>
          </p:grpSp>
          <p:grpSp>
            <p:nvGrpSpPr>
              <p:cNvPr id="1006" name="Forecast procedure"/>
              <p:cNvGrpSpPr/>
              <p:nvPr/>
            </p:nvGrpSpPr>
            <p:grpSpPr>
              <a:xfrm>
                <a:off x="7391400" y="6829425"/>
                <a:ext cx="3543300" cy="2752725"/>
                <a:chOff x="7391400" y="6829425"/>
                <a:chExt cx="3543300" cy="2752725"/>
              </a:xfrm>
            </p:grpSpPr>
            <p:pic>
              <p:nvPicPr>
                <p:cNvPr id="29" name="forecast procedure"/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67625" y="6829425"/>
                  <a:ext cx="2905125" cy="1781175"/>
                </a:xfrm>
                <a:prstGeom prst="rect">
                  <a:avLst/>
                </a:prstGeom>
              </p:spPr>
            </p:pic>
            <p:sp>
              <p:nvSpPr>
                <p:cNvPr id="30" name="TextBox 30"/>
                <p:cNvSpPr txBox="1"/>
                <p:nvPr/>
              </p:nvSpPr>
              <p:spPr>
                <a:xfrm>
                  <a:off x="7486650" y="8705850"/>
                  <a:ext cx="33528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7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Forecast</a:t>
                  </a:r>
                  <a:endParaRPr lang="zh-CN" sz="2700"/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7391400" y="9182100"/>
                  <a:ext cx="35433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Task-Specific Harness</a:t>
                  </a:r>
                  <a:endParaRPr lang="zh-CN" sz="2100"/>
                </a:p>
              </p:txBody>
            </p:sp>
          </p:grpSp>
          <p:grpSp>
            <p:nvGrpSpPr>
              <p:cNvPr id="1007" name="Inventory decision"/>
              <p:cNvGrpSpPr/>
              <p:nvPr/>
            </p:nvGrpSpPr>
            <p:grpSpPr>
              <a:xfrm>
                <a:off x="11001375" y="6819900"/>
                <a:ext cx="3543300" cy="2762250"/>
                <a:chOff x="11001375" y="6819900"/>
                <a:chExt cx="3543300" cy="2762250"/>
              </a:xfrm>
            </p:grpSpPr>
            <p:pic>
              <p:nvPicPr>
                <p:cNvPr id="32" name="inventory shelf"/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258550" y="6819900"/>
                  <a:ext cx="1638300" cy="1609725"/>
                </a:xfrm>
                <a:prstGeom prst="rect">
                  <a:avLst/>
                </a:prstGeom>
              </p:spPr>
            </p:pic>
            <p:pic>
              <p:nvPicPr>
                <p:cNvPr id="33" name="inventory cost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896850" y="6915150"/>
                  <a:ext cx="1400175" cy="1438275"/>
                </a:xfrm>
                <a:prstGeom prst="rect">
                  <a:avLst/>
                </a:prstGeom>
              </p:spPr>
            </p:pic>
            <p:pic>
              <p:nvPicPr>
                <p:cNvPr id="34" name="inventory plinth"/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096625" y="8315325"/>
                  <a:ext cx="3324225" cy="304800"/>
                </a:xfrm>
                <a:prstGeom prst="rect">
                  <a:avLst/>
                </a:prstGeom>
              </p:spPr>
            </p:pic>
            <p:sp>
              <p:nvSpPr>
                <p:cNvPr id="35" name="TextBox 35"/>
                <p:cNvSpPr txBox="1"/>
                <p:nvPr/>
              </p:nvSpPr>
              <p:spPr>
                <a:xfrm>
                  <a:off x="11096625" y="8705850"/>
                  <a:ext cx="33528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700" b="1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Decide</a:t>
                  </a:r>
                  <a:endParaRPr lang="zh-CN" sz="2700"/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1001375" y="9182100"/>
                  <a:ext cx="35433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00">
                      <a:solidFill>
                        <a:srgbClr val="242729"/>
                      </a:solidFill>
                      <a:latin typeface="Times New Roman"/>
                      <a:ea typeface="Times New Roman"/>
                      <a:cs typeface="Times New Roman"/>
                    </a:rPr>
                    <a:t>Task-Specific Harness</a:t>
                  </a:r>
                  <a:endParaRPr lang="zh-CN" sz="2100"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