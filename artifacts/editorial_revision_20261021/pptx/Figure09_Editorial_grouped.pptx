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0" name="Figure 9 MERIT — ungroup into components"/>
          <p:cNvGrpSpPr/>
          <p:nvPr/>
        </p:nvGrpSpPr>
        <p:grpSpPr>
          <a:xfrm>
            <a:off x="190500" y="0"/>
            <a:ext cx="14239875" cy="9315450"/>
            <a:chOff x="190500" y="0"/>
            <a:chExt cx="14239875" cy="9315450"/>
          </a:xfrm>
        </p:grpSpPr>
        <p:grpSp>
          <p:nvGrpSpPr>
            <p:cNvPr id="10000" name="Connectors"/>
            <p:cNvGrpSpPr/>
            <p:nvPr/>
          </p:nvGrpSpPr>
          <p:grpSpPr>
            <a:xfrm>
              <a:off x="190500" y="0"/>
              <a:ext cx="14239875" cy="8001000"/>
              <a:chOff x="190500" y="0"/>
              <a:chExt cx="14239875" cy="8001000"/>
            </a:xfrm>
          </p:grpSpPr>
          <p:sp>
            <p:nvSpPr>
              <p:cNvPr id="4" name="source-to-transform"/>
              <p:cNvSpPr/>
              <p:nvPr/>
            </p:nvSpPr>
            <p:spPr>
              <a:xfrm>
                <a:off x="6400800" y="3048000"/>
                <a:ext cx="228600" cy="0"/>
              </a:xfrm>
              <a:prstGeom prst="line">
                <a:avLst/>
              </a:prstGeom>
              <a:noFill/>
              <a:ln w="25400">
                <a:solidFill>
                  <a:srgbClr val="62696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5" name="transform-to-view1"/>
              <p:cNvSpPr/>
              <p:nvPr/>
            </p:nvSpPr>
            <p:spPr>
              <a:xfrm flipV="1">
                <a:off x="7810500" y="2562225"/>
                <a:ext cx="285750" cy="171450"/>
              </a:xfrm>
              <a:prstGeom prst="line">
                <a:avLst/>
              </a:prstGeom>
              <a:noFill/>
              <a:ln w="25400">
                <a:solidFill>
                  <a:srgbClr val="62696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6" name="transform-to-view2"/>
              <p:cNvSpPr/>
              <p:nvPr/>
            </p:nvSpPr>
            <p:spPr>
              <a:xfrm>
                <a:off x="7810500" y="3352800"/>
                <a:ext cx="285750" cy="942975"/>
              </a:xfrm>
              <a:prstGeom prst="line">
                <a:avLst/>
              </a:prstGeom>
              <a:noFill/>
              <a:ln w="25400">
                <a:solidFill>
                  <a:srgbClr val="62696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7" name="views-to-review"/>
              <p:cNvSpPr/>
              <p:nvPr/>
            </p:nvSpPr>
            <p:spPr>
              <a:xfrm>
                <a:off x="10553700" y="3143250"/>
                <a:ext cx="400050" cy="0"/>
              </a:xfrm>
              <a:prstGeom prst="line">
                <a:avLst/>
              </a:prstGeom>
              <a:noFill/>
              <a:ln w="25400">
                <a:solidFill>
                  <a:srgbClr val="62696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0" name="reject-return-retrieval"/>
              <p:cNvSpPr/>
              <p:nvPr/>
            </p:nvSpPr>
            <p:spPr>
              <a:xfrm>
                <a:off x="190500" y="333375"/>
                <a:ext cx="14239875" cy="5667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0878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lnTo>
                      <a:pt x="0" y="10528"/>
                    </a:lnTo>
                    <a:lnTo>
                      <a:pt x="405" y="10528"/>
                    </a:lnTo>
                  </a:path>
                </a:pathLst>
              </a:custGeom>
              <a:noFill/>
              <a:ln w="31750">
                <a:solidFill>
                  <a:srgbClr val="8B3F4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1" name="accept-memory"/>
              <p:cNvSpPr/>
              <p:nvPr/>
            </p:nvSpPr>
            <p:spPr>
              <a:xfrm>
                <a:off x="10353675" y="6762750"/>
                <a:ext cx="1219200" cy="904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21600" y="5684"/>
                    </a:lnTo>
                    <a:lnTo>
                      <a:pt x="4725" y="5684"/>
                    </a:lnTo>
                    <a:lnTo>
                      <a:pt x="4725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25400">
                <a:solidFill>
                  <a:srgbClr val="62696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2" name="neighbors-memory"/>
              <p:cNvSpPr/>
              <p:nvPr/>
            </p:nvSpPr>
            <p:spPr>
              <a:xfrm>
                <a:off x="1714500" y="5238750"/>
                <a:ext cx="2714625" cy="27622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20320">
                <a:solidFill>
                  <a:srgbClr val="62696E"/>
                </a:solidFill>
                <a:prstDash val="dash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7" name="reject-return-label"/>
              <p:cNvSpPr txBox="1"/>
              <p:nvPr/>
            </p:nvSpPr>
            <p:spPr>
              <a:xfrm>
                <a:off x="5619750" y="0"/>
                <a:ext cx="3429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8B3F49"/>
                    </a:solidFill>
                    <a:latin typeface="Times New Roman"/>
                    <a:ea typeface="Times New Roman"/>
                    <a:cs typeface="Times New Roman"/>
                  </a:rPr>
                  <a:t>Refine retrieval</a:t>
                </a:r>
                <a:endParaRPr lang="zh-CN" sz="2200"/>
              </a:p>
            </p:txBody>
          </p:sp>
          <p:sp>
            <p:nvSpPr>
              <p:cNvPr id="41" name="neighbor-route-label"/>
              <p:cNvSpPr txBox="1"/>
              <p:nvPr/>
            </p:nvSpPr>
            <p:spPr>
              <a:xfrm>
                <a:off x="2076450" y="6429375"/>
                <a:ext cx="219075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Selected neighbors</a:t>
                </a:r>
                <a:endParaRPr lang="zh-CN" sz="2200"/>
              </a:p>
            </p:txBody>
          </p:sp>
        </p:grpSp>
        <p:grpSp>
          <p:nvGrpSpPr>
            <p:cNvPr id="10001" name="Retrieval"/>
            <p:cNvGrpSpPr/>
            <p:nvPr/>
          </p:nvGrpSpPr>
          <p:grpSpPr>
            <a:xfrm>
              <a:off x="333375" y="723900"/>
              <a:ext cx="3857625" cy="4486224"/>
              <a:chOff x="333375" y="723900"/>
              <a:chExt cx="3857625" cy="4486224"/>
            </a:xfrm>
          </p:grpSpPr>
          <p:sp>
            <p:nvSpPr>
              <p:cNvPr id="3" name="retrieve-to-construct"/>
              <p:cNvSpPr/>
              <p:nvPr/>
            </p:nvSpPr>
            <p:spPr>
              <a:xfrm>
                <a:off x="3533775" y="3076575"/>
                <a:ext cx="657225" cy="0"/>
              </a:xfrm>
              <a:prstGeom prst="line">
                <a:avLst/>
              </a:prstGeom>
              <a:noFill/>
              <a:ln w="25400">
                <a:solidFill>
                  <a:srgbClr val="62696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4" name="retrieve-series1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51387" y="1447800"/>
                <a:ext cx="2059602" cy="1238250"/>
              </a:xfrm>
              <a:prstGeom prst="rect">
                <a:avLst/>
              </a:prstGeom>
            </p:spPr>
          </p:pic>
          <p:pic>
            <p:nvPicPr>
              <p:cNvPr id="15" name="retrieve-series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3585" y="2533650"/>
                <a:ext cx="1820956" cy="1238250"/>
              </a:xfrm>
              <a:prstGeom prst="rect">
                <a:avLst/>
              </a:prstGeom>
            </p:spPr>
          </p:pic>
          <p:pic>
            <p:nvPicPr>
              <p:cNvPr id="16" name="retrieve-series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6704" y="3619500"/>
                <a:ext cx="1711866" cy="1238250"/>
              </a:xfrm>
              <a:prstGeom prst="rect">
                <a:avLst/>
              </a:prstGeom>
            </p:spPr>
          </p:pic>
          <p:pic>
            <p:nvPicPr>
              <p:cNvPr id="27" name="retrieve-lens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2625" y="3810050"/>
                <a:ext cx="1571625" cy="1400074"/>
              </a:xfrm>
              <a:prstGeom prst="rect">
                <a:avLst/>
              </a:prstGeom>
            </p:spPr>
          </p:pic>
          <p:sp>
            <p:nvSpPr>
              <p:cNvPr id="29" name="retrieve-title"/>
              <p:cNvSpPr txBox="1"/>
              <p:nvPr/>
            </p:nvSpPr>
            <p:spPr>
              <a:xfrm>
                <a:off x="333375" y="723900"/>
                <a:ext cx="3571875" cy="504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000" b="1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Retrieve examples</a:t>
                </a:r>
                <a:endParaRPr lang="zh-CN" sz="3000"/>
              </a:p>
            </p:txBody>
          </p:sp>
        </p:grpSp>
        <p:grpSp>
          <p:nvGrpSpPr>
            <p:cNvPr id="10002" name="View construction"/>
            <p:cNvGrpSpPr/>
            <p:nvPr/>
          </p:nvGrpSpPr>
          <p:grpSpPr>
            <a:xfrm>
              <a:off x="4191000" y="723900"/>
              <a:ext cx="6353175" cy="5019675"/>
              <a:chOff x="4191000" y="723900"/>
              <a:chExt cx="6353175" cy="5019675"/>
            </a:xfrm>
          </p:grpSpPr>
          <p:pic>
            <p:nvPicPr>
              <p:cNvPr id="17" name="construct-source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35262" y="2219325"/>
                <a:ext cx="2121300" cy="1724025"/>
              </a:xfrm>
              <a:prstGeom prst="rect">
                <a:avLst/>
              </a:prstGeom>
            </p:spPr>
          </p:pic>
          <p:pic>
            <p:nvPicPr>
              <p:cNvPr id="18" name="construct-selector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24650" y="2316282"/>
                <a:ext cx="1066800" cy="1358660"/>
              </a:xfrm>
              <a:prstGeom prst="rect">
                <a:avLst/>
              </a:prstGeom>
            </p:spPr>
          </p:pic>
          <p:pic>
            <p:nvPicPr>
              <p:cNvPr id="19" name="construct-view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74862" y="1619250"/>
                <a:ext cx="2328802" cy="1800225"/>
              </a:xfrm>
              <a:prstGeom prst="rect">
                <a:avLst/>
              </a:prstGeom>
            </p:spPr>
          </p:pic>
          <p:pic>
            <p:nvPicPr>
              <p:cNvPr id="20" name="construct-view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06362" y="3543300"/>
                <a:ext cx="2265800" cy="1800225"/>
              </a:xfrm>
              <a:prstGeom prst="rect">
                <a:avLst/>
              </a:prstGeom>
            </p:spPr>
          </p:pic>
          <p:sp>
            <p:nvSpPr>
              <p:cNvPr id="30" name="construct-title"/>
              <p:cNvSpPr txBox="1"/>
              <p:nvPr/>
            </p:nvSpPr>
            <p:spPr>
              <a:xfrm>
                <a:off x="4191000" y="723900"/>
                <a:ext cx="5953125" cy="504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000" b="1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Construct positive views</a:t>
                </a:r>
                <a:endParaRPr lang="zh-CN" sz="3000"/>
              </a:p>
            </p:txBody>
          </p:sp>
          <p:sp>
            <p:nvSpPr>
              <p:cNvPr id="32" name="construct-source-label"/>
              <p:cNvSpPr txBox="1"/>
              <p:nvPr/>
            </p:nvSpPr>
            <p:spPr>
              <a:xfrm>
                <a:off x="4286250" y="4095750"/>
                <a:ext cx="233362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Source signal</a:t>
                </a:r>
                <a:endParaRPr lang="zh-CN" sz="2300"/>
              </a:p>
            </p:txBody>
          </p:sp>
          <p:sp>
            <p:nvSpPr>
              <p:cNvPr id="33" name="construct-selector-label"/>
              <p:cNvSpPr txBox="1"/>
              <p:nvPr/>
            </p:nvSpPr>
            <p:spPr>
              <a:xfrm>
                <a:off x="6772275" y="2562225"/>
                <a:ext cx="876300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00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Select</a:t>
                </a:r>
                <a:endParaRPr lang="zh-CN" sz="1400"/>
              </a:p>
              <a:p>
                <a:pPr algn="ctr"/>
                <a:r>
                  <a:rPr lang="zh-CN" sz="1400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transform</a:t>
                </a:r>
                <a:endParaRPr lang="zh-CN" sz="1400"/>
              </a:p>
            </p:txBody>
          </p:sp>
          <p:sp>
            <p:nvSpPr>
              <p:cNvPr id="34" name="construct-views-label"/>
              <p:cNvSpPr txBox="1"/>
              <p:nvPr/>
            </p:nvSpPr>
            <p:spPr>
              <a:xfrm>
                <a:off x="8143875" y="5334000"/>
                <a:ext cx="240030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Augmented views</a:t>
                </a:r>
                <a:endParaRPr lang="zh-CN" sz="2300"/>
              </a:p>
            </p:txBody>
          </p:sp>
        </p:grpSp>
        <p:grpSp>
          <p:nvGrpSpPr>
            <p:cNvPr id="10003" name="Review"/>
            <p:cNvGrpSpPr/>
            <p:nvPr/>
          </p:nvGrpSpPr>
          <p:grpSpPr>
            <a:xfrm>
              <a:off x="10763250" y="723900"/>
              <a:ext cx="3619500" cy="5991225"/>
              <a:chOff x="10763250" y="723900"/>
              <a:chExt cx="3619500" cy="5991225"/>
            </a:xfrm>
          </p:grpSpPr>
          <p:sp>
            <p:nvSpPr>
              <p:cNvPr id="8" name="review-accept-route"/>
              <p:cNvSpPr/>
              <p:nvPr/>
            </p:nvSpPr>
            <p:spPr>
              <a:xfrm>
                <a:off x="11572875" y="5257800"/>
                <a:ext cx="0" cy="314325"/>
              </a:xfrm>
              <a:prstGeom prst="line">
                <a:avLst/>
              </a:prstGeom>
              <a:noFill/>
              <a:ln w="25400">
                <a:solidFill>
                  <a:srgbClr val="62696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9" name="review-reject-route"/>
              <p:cNvSpPr/>
              <p:nvPr/>
            </p:nvSpPr>
            <p:spPr>
              <a:xfrm>
                <a:off x="13411200" y="5257800"/>
                <a:ext cx="0" cy="314325"/>
              </a:xfrm>
              <a:prstGeom prst="line">
                <a:avLst/>
              </a:prstGeom>
              <a:noFill/>
              <a:ln w="25400">
                <a:solidFill>
                  <a:srgbClr val="62696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21" name="review-view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954571" y="1571625"/>
                <a:ext cx="2808233" cy="2171700"/>
              </a:xfrm>
              <a:prstGeom prst="rect">
                <a:avLst/>
              </a:prstGeom>
            </p:spPr>
          </p:pic>
          <p:pic>
            <p:nvPicPr>
              <p:cNvPr id="22" name="review-view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954571" y="3438525"/>
                <a:ext cx="2808233" cy="2171700"/>
              </a:xfrm>
              <a:prstGeom prst="rect">
                <a:avLst/>
              </a:prstGeom>
            </p:spPr>
          </p:pic>
          <p:pic>
            <p:nvPicPr>
              <p:cNvPr id="23" name="review-accept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191875" y="5621238"/>
                <a:ext cx="742950" cy="673298"/>
              </a:xfrm>
              <a:prstGeom prst="rect">
                <a:avLst/>
              </a:prstGeom>
            </p:spPr>
          </p:pic>
          <p:pic>
            <p:nvPicPr>
              <p:cNvPr id="24" name="review-reject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144500" y="5621830"/>
                <a:ext cx="723900" cy="719740"/>
              </a:xfrm>
              <a:prstGeom prst="rect">
                <a:avLst/>
              </a:prstGeom>
            </p:spPr>
          </p:pic>
          <p:pic>
            <p:nvPicPr>
              <p:cNvPr id="28" name="review-lens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573000" y="2286855"/>
                <a:ext cx="1676400" cy="1493715"/>
              </a:xfrm>
              <a:prstGeom prst="rect">
                <a:avLst/>
              </a:prstGeom>
            </p:spPr>
          </p:pic>
          <p:sp>
            <p:nvSpPr>
              <p:cNvPr id="31" name="review-title"/>
              <p:cNvSpPr txBox="1"/>
              <p:nvPr/>
            </p:nvSpPr>
            <p:spPr>
              <a:xfrm>
                <a:off x="10763250" y="723900"/>
                <a:ext cx="3619500" cy="504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000" b="1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Semantic review</a:t>
                </a:r>
                <a:endParaRPr lang="zh-CN" sz="3000"/>
              </a:p>
            </p:txBody>
          </p:sp>
          <p:sp>
            <p:nvSpPr>
              <p:cNvPr id="35" name="review-accept-label"/>
              <p:cNvSpPr txBox="1"/>
              <p:nvPr/>
            </p:nvSpPr>
            <p:spPr>
              <a:xfrm>
                <a:off x="10829925" y="6334125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Accept</a:t>
                </a:r>
                <a:endParaRPr lang="zh-CN" sz="2400"/>
              </a:p>
            </p:txBody>
          </p:sp>
          <p:sp>
            <p:nvSpPr>
              <p:cNvPr id="36" name="review-reject-label"/>
              <p:cNvSpPr txBox="1"/>
              <p:nvPr/>
            </p:nvSpPr>
            <p:spPr>
              <a:xfrm>
                <a:off x="12715875" y="6334125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8B3F49"/>
                    </a:solidFill>
                    <a:latin typeface="Times New Roman"/>
                    <a:ea typeface="Times New Roman"/>
                    <a:cs typeface="Times New Roman"/>
                  </a:rPr>
                  <a:t>Reject</a:t>
                </a:r>
                <a:endParaRPr lang="zh-CN" sz="2400"/>
              </a:p>
            </p:txBody>
          </p:sp>
        </p:grpSp>
        <p:grpSp>
          <p:nvGrpSpPr>
            <p:cNvPr id="10004" name="Positive memory"/>
            <p:cNvGrpSpPr/>
            <p:nvPr/>
          </p:nvGrpSpPr>
          <p:grpSpPr>
            <a:xfrm>
              <a:off x="4429125" y="6762750"/>
              <a:ext cx="7191375" cy="2552700"/>
              <a:chOff x="4429125" y="6762750"/>
              <a:chExt cx="7191375" cy="2552700"/>
            </a:xfrm>
          </p:grpSpPr>
          <p:sp>
            <p:nvSpPr>
              <p:cNvPr id="2" name="memory-boundary"/>
              <p:cNvSpPr/>
              <p:nvPr/>
            </p:nvSpPr>
            <p:spPr>
              <a:xfrm>
                <a:off x="4429125" y="7334250"/>
                <a:ext cx="6000750" cy="1571625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rgbClr val="B7BEC2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3" name="memory-learning"/>
              <p:cNvSpPr/>
              <p:nvPr/>
            </p:nvSpPr>
            <p:spPr>
              <a:xfrm>
                <a:off x="10515600" y="8334375"/>
                <a:ext cx="1104900" cy="0"/>
              </a:xfrm>
              <a:prstGeom prst="line">
                <a:avLst/>
              </a:prstGeom>
              <a:noFill/>
              <a:ln w="25400">
                <a:solidFill>
                  <a:srgbClr val="62696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25" name="memory-neighbor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06279" y="7162800"/>
                <a:ext cx="2303192" cy="1666875"/>
              </a:xfrm>
              <a:prstGeom prst="rect">
                <a:avLst/>
              </a:prstGeom>
            </p:spPr>
          </p:pic>
          <p:pic>
            <p:nvPicPr>
              <p:cNvPr id="26" name="memory-augmented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20438" y="7162800"/>
                <a:ext cx="2266123" cy="1666875"/>
              </a:xfrm>
              <a:prstGeom prst="rect">
                <a:avLst/>
              </a:prstGeom>
            </p:spPr>
          </p:pic>
          <p:sp>
            <p:nvSpPr>
              <p:cNvPr id="38" name="memory-title"/>
              <p:cNvSpPr txBox="1"/>
              <p:nvPr/>
            </p:nvSpPr>
            <p:spPr>
              <a:xfrm>
                <a:off x="5095875" y="6762750"/>
                <a:ext cx="4667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600" b="1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Positive memory</a:t>
                </a:r>
                <a:endParaRPr lang="zh-CN" sz="2600"/>
              </a:p>
            </p:txBody>
          </p:sp>
          <p:sp>
            <p:nvSpPr>
              <p:cNvPr id="39" name="memory-neighbor-label"/>
              <p:cNvSpPr txBox="1"/>
              <p:nvPr/>
            </p:nvSpPr>
            <p:spPr>
              <a:xfrm>
                <a:off x="4667250" y="8953500"/>
                <a:ext cx="24574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Neighboring sample</a:t>
                </a:r>
                <a:endParaRPr lang="zh-CN" sz="2100"/>
              </a:p>
            </p:txBody>
          </p:sp>
          <p:sp>
            <p:nvSpPr>
              <p:cNvPr id="40" name="memory-augmented-label"/>
              <p:cNvSpPr txBox="1"/>
              <p:nvPr/>
            </p:nvSpPr>
            <p:spPr>
              <a:xfrm>
                <a:off x="7667625" y="8953500"/>
                <a:ext cx="24765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Augmented view</a:t>
                </a:r>
                <a:endParaRPr lang="zh-CN" sz="2100"/>
              </a:p>
            </p:txBody>
          </p:sp>
        </p:grpSp>
        <p:grpSp>
          <p:nvGrpSpPr>
            <p:cNvPr id="10005" name="Learning"/>
            <p:cNvGrpSpPr/>
            <p:nvPr/>
          </p:nvGrpSpPr>
          <p:grpSpPr>
            <a:xfrm>
              <a:off x="11715750" y="7839075"/>
              <a:ext cx="2571750" cy="952500"/>
              <a:chOff x="11715750" y="7839075"/>
              <a:chExt cx="2571750" cy="952500"/>
            </a:xfrm>
          </p:grpSpPr>
          <p:sp>
            <p:nvSpPr>
              <p:cNvPr id="42" name="learning-title"/>
              <p:cNvSpPr txBox="1"/>
              <p:nvPr/>
            </p:nvSpPr>
            <p:spPr>
              <a:xfrm>
                <a:off x="11715750" y="7839075"/>
                <a:ext cx="257175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700" b="1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Contrastive</a:t>
                </a:r>
                <a:endParaRPr lang="zh-CN" sz="2700"/>
              </a:p>
              <a:p>
                <a:pPr algn="ctr"/>
                <a:r>
                  <a:rPr lang="zh-CN" sz="2700" b="1">
                    <a:solidFill>
                      <a:srgbClr val="222629"/>
                    </a:solidFill>
                    <a:latin typeface="Times New Roman"/>
                    <a:ea typeface="Times New Roman"/>
                    <a:cs typeface="Times New Roman"/>
                  </a:rPr>
                  <a:t>learning</a:t>
                </a:r>
                <a:endParaRPr lang="zh-CN" sz="270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