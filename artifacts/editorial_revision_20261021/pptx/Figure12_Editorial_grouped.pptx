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Figure 12 — TimeSeriesGym challenge execution"/>
          <p:cNvGrpSpPr/>
          <p:nvPr/>
        </p:nvGrpSpPr>
        <p:grpSpPr>
          <a:xfrm>
            <a:off x="238125" y="952500"/>
            <a:ext cx="14154150" cy="6819900"/>
            <a:chOff x="238125" y="952500"/>
            <a:chExt cx="14154150" cy="6819900"/>
          </a:xfrm>
        </p:grpSpPr>
        <p:grpSp>
          <p:nvGrpSpPr>
            <p:cNvPr id="1000" name="Challenge resources"/>
            <p:cNvGrpSpPr/>
            <p:nvPr/>
          </p:nvGrpSpPr>
          <p:grpSpPr>
            <a:xfrm>
              <a:off x="238125" y="952500"/>
              <a:ext cx="4000500" cy="6181725"/>
              <a:chOff x="238125" y="952500"/>
              <a:chExt cx="4000500" cy="6181725"/>
            </a:xfrm>
          </p:grpSpPr>
          <p:sp>
            <p:nvSpPr>
              <p:cNvPr id="2" name="Rect 2"/>
              <p:cNvSpPr/>
              <p:nvPr/>
            </p:nvSpPr>
            <p:spPr>
              <a:xfrm>
                <a:off x="400050" y="2019300"/>
                <a:ext cx="3695700" cy="5114925"/>
              </a:xfrm>
              <a:prstGeom prst="rect">
                <a:avLst/>
              </a:prstGeom>
              <a:solidFill>
                <a:srgbClr val="E8E8E6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" name="Rect 3"/>
              <p:cNvSpPr/>
              <p:nvPr/>
            </p:nvSpPr>
            <p:spPr>
              <a:xfrm>
                <a:off x="333375" y="1943100"/>
                <a:ext cx="3695700" cy="51149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/>
            </p:txBody>
          </p:sp>
          <p:pic>
            <p:nvPicPr>
              <p:cNvPr id="4" name="data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2925" y="2238375"/>
                <a:ext cx="1476375" cy="1628775"/>
              </a:xfrm>
              <a:prstGeom prst="rect">
                <a:avLst/>
              </a:prstGeom>
            </p:spPr>
          </p:pic>
          <p:pic>
            <p:nvPicPr>
              <p:cNvPr id="5" name="resource_code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6950" y="2238375"/>
                <a:ext cx="1476375" cy="1628775"/>
              </a:xfrm>
              <a:prstGeom prst="rect">
                <a:avLst/>
              </a:prstGeom>
            </p:spPr>
          </p:pic>
          <p:pic>
            <p:nvPicPr>
              <p:cNvPr id="6" name="paper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925" y="4438650"/>
                <a:ext cx="1476375" cy="1628775"/>
              </a:xfrm>
              <a:prstGeom prst="rect">
                <a:avLst/>
              </a:prstGeom>
            </p:spPr>
          </p:pic>
          <p:pic>
            <p:nvPicPr>
              <p:cNvPr id="7" name="documentation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6950" y="4438650"/>
                <a:ext cx="1476375" cy="1628775"/>
              </a:xfrm>
              <a:prstGeom prst="rect">
                <a:avLst/>
              </a:prstGeom>
            </p:spPr>
          </p:pic>
          <p:sp>
            <p:nvSpPr>
              <p:cNvPr id="8" name="TextBox 8"/>
              <p:cNvSpPr txBox="1"/>
              <p:nvPr/>
            </p:nvSpPr>
            <p:spPr>
              <a:xfrm>
                <a:off x="238125" y="952500"/>
                <a:ext cx="40005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Challenge package</a:t>
                </a:r>
                <a:endParaRPr lang="zh-CN" sz="30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76250" y="3924300"/>
                <a:ext cx="16192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Data</a:t>
                </a:r>
                <a:endParaRPr lang="zh-CN" sz="23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190750" y="3924300"/>
                <a:ext cx="16192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Code</a:t>
                </a:r>
                <a:endParaRPr lang="zh-CN" sz="23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76250" y="6134100"/>
                <a:ext cx="16192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Paper</a:t>
                </a:r>
                <a:endParaRPr lang="zh-CN" sz="23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085975" y="6134100"/>
                <a:ext cx="185737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Documentation</a:t>
                </a:r>
                <a:endParaRPr lang="zh-CN" sz="2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3375" y="6772275"/>
                <a:ext cx="3695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description</a:t>
                </a:r>
                <a:endParaRPr lang="zh-CN" sz="2400"/>
              </a:p>
            </p:txBody>
          </p:sp>
        </p:grpSp>
        <p:grpSp>
          <p:nvGrpSpPr>
            <p:cNvPr id="1001" name="Agent"/>
            <p:cNvGrpSpPr/>
            <p:nvPr/>
          </p:nvGrpSpPr>
          <p:grpSpPr>
            <a:xfrm>
              <a:off x="4429125" y="952500"/>
              <a:ext cx="5334000" cy="2381250"/>
              <a:chOff x="4429125" y="952500"/>
              <a:chExt cx="5334000" cy="2381250"/>
            </a:xfrm>
          </p:grpSpPr>
          <p:pic>
            <p:nvPicPr>
              <p:cNvPr id="14" name="agent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58000" y="1809750"/>
                <a:ext cx="1076325" cy="1019175"/>
              </a:xfrm>
              <a:prstGeom prst="rect">
                <a:avLst/>
              </a:prstGeom>
            </p:spPr>
          </p:pic>
          <p:sp>
            <p:nvSpPr>
              <p:cNvPr id="15" name="Path 15"/>
              <p:cNvSpPr/>
              <p:nvPr/>
            </p:nvSpPr>
            <p:spPr>
              <a:xfrm>
                <a:off x="7391400" y="2886075"/>
                <a:ext cx="952" cy="4476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159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29125" y="952500"/>
                <a:ext cx="53340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Execution environment</a:t>
                </a:r>
                <a:endParaRPr lang="zh-CN" sz="30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24675" y="2171700"/>
                <a:ext cx="9334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Agent</a:t>
                </a:r>
                <a:endParaRPr lang="zh-CN" sz="2100"/>
              </a:p>
            </p:txBody>
          </p:sp>
        </p:grpSp>
        <p:grpSp>
          <p:nvGrpSpPr>
            <p:cNvPr id="1002" name="Execution workspace"/>
            <p:cNvGrpSpPr/>
            <p:nvPr/>
          </p:nvGrpSpPr>
          <p:grpSpPr>
            <a:xfrm>
              <a:off x="4648200" y="3343275"/>
              <a:ext cx="5210175" cy="4429125"/>
              <a:chOff x="4648200" y="3343275"/>
              <a:chExt cx="5210175" cy="4429125"/>
            </a:xfrm>
          </p:grpSpPr>
          <p:sp>
            <p:nvSpPr>
              <p:cNvPr id="18" name="Rect 18"/>
              <p:cNvSpPr/>
              <p:nvPr/>
            </p:nvSpPr>
            <p:spPr>
              <a:xfrm>
                <a:off x="4724400" y="7620000"/>
                <a:ext cx="5133975" cy="152400"/>
              </a:xfrm>
              <a:prstGeom prst="rect">
                <a:avLst/>
              </a:prstGeom>
              <a:solidFill>
                <a:srgbClr val="D2D2CF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9" name="Rect 19"/>
              <p:cNvSpPr/>
              <p:nvPr/>
            </p:nvSpPr>
            <p:spPr>
              <a:xfrm>
                <a:off x="4648200" y="7477125"/>
                <a:ext cx="5133975" cy="180975"/>
              </a:xfrm>
              <a:prstGeom prst="rect">
                <a:avLst/>
              </a:prstGeom>
              <a:solidFill>
                <a:srgbClr val="DDDDDA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0" name="Rect 20"/>
              <p:cNvSpPr/>
              <p:nvPr/>
            </p:nvSpPr>
            <p:spPr>
              <a:xfrm>
                <a:off x="4648200" y="3343275"/>
                <a:ext cx="5133975" cy="4133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/>
            </p:txBody>
          </p:sp>
          <p:pic>
            <p:nvPicPr>
              <p:cNvPr id="21" name="code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8750" y="3781425"/>
                <a:ext cx="1809750" cy="1190625"/>
              </a:xfrm>
              <a:prstGeom prst="rect">
                <a:avLst/>
              </a:prstGeom>
            </p:spPr>
          </p:pic>
          <p:pic>
            <p:nvPicPr>
              <p:cNvPr id="22" name="terminal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24775" y="3781425"/>
                <a:ext cx="1752600" cy="1114425"/>
              </a:xfrm>
              <a:prstGeom prst="rect">
                <a:avLst/>
              </a:prstGeom>
            </p:spPr>
          </p:pic>
          <p:pic>
            <p:nvPicPr>
              <p:cNvPr id="23" name="saved_output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10375" y="5781675"/>
                <a:ext cx="1209675" cy="1038225"/>
              </a:xfrm>
              <a:prstGeom prst="rect">
                <a:avLst/>
              </a:prstGeom>
            </p:spPr>
          </p:pic>
          <p:sp>
            <p:nvSpPr>
              <p:cNvPr id="24" name="Path 24"/>
              <p:cNvSpPr/>
              <p:nvPr/>
            </p:nvSpPr>
            <p:spPr>
              <a:xfrm>
                <a:off x="7124700" y="4429125"/>
                <a:ext cx="514350" cy="9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8115300" y="5457825"/>
                <a:ext cx="457200" cy="8286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2159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6115050" y="5486400"/>
                <a:ext cx="590550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2159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38750" y="5095875"/>
                <a:ext cx="18097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Code</a:t>
                </a:r>
                <a:endParaRPr lang="zh-CN" sz="23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24775" y="5095875"/>
                <a:ext cx="1752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Execute</a:t>
                </a:r>
                <a:endParaRPr lang="zh-CN" sz="23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296025" y="7048500"/>
                <a:ext cx="223837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Saved output</a:t>
                </a:r>
                <a:endParaRPr lang="zh-CN" sz="23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29650" y="5657850"/>
                <a:ext cx="109537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Inspect</a:t>
                </a:r>
                <a:endParaRPr lang="zh-CN" sz="200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91125" y="577215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Edit</a:t>
                </a:r>
                <a:endParaRPr lang="zh-CN" sz="2100"/>
              </a:p>
            </p:txBody>
          </p:sp>
        </p:grpSp>
        <p:grpSp>
          <p:nvGrpSpPr>
            <p:cNvPr id="1003" name="Submission"/>
            <p:cNvGrpSpPr/>
            <p:nvPr/>
          </p:nvGrpSpPr>
          <p:grpSpPr>
            <a:xfrm>
              <a:off x="4162425" y="3905250"/>
              <a:ext cx="7800975" cy="3257550"/>
              <a:chOff x="4162425" y="3905250"/>
              <a:chExt cx="7800975" cy="3257550"/>
            </a:xfrm>
          </p:grpSpPr>
          <p:pic>
            <p:nvPicPr>
              <p:cNvPr id="32" name="submitted_output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87000" y="3905250"/>
                <a:ext cx="1371600" cy="1657350"/>
              </a:xfrm>
              <a:prstGeom prst="rect">
                <a:avLst/>
              </a:prstGeom>
            </p:spPr>
          </p:pic>
          <p:sp>
            <p:nvSpPr>
              <p:cNvPr id="33" name="Path 33"/>
              <p:cNvSpPr/>
              <p:nvPr/>
            </p:nvSpPr>
            <p:spPr>
              <a:xfrm>
                <a:off x="4162425" y="4524375"/>
                <a:ext cx="409575" cy="9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8086725" y="5248275"/>
                <a:ext cx="2124075" cy="1495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53625" y="5715000"/>
                <a:ext cx="200977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Submission</a:t>
                </a:r>
                <a:endParaRPr lang="zh-CN" sz="230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01125" y="6819900"/>
                <a:ext cx="119062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Submit</a:t>
                </a:r>
                <a:endParaRPr lang="zh-CN" sz="2100"/>
              </a:p>
            </p:txBody>
          </p:sp>
        </p:grpSp>
        <p:grpSp>
          <p:nvGrpSpPr>
            <p:cNvPr id="1004" name="Grader"/>
            <p:cNvGrpSpPr/>
            <p:nvPr/>
          </p:nvGrpSpPr>
          <p:grpSpPr>
            <a:xfrm>
              <a:off x="10191750" y="952500"/>
              <a:ext cx="4200525" cy="6219825"/>
              <a:chOff x="10191750" y="952500"/>
              <a:chExt cx="4200525" cy="6219825"/>
            </a:xfrm>
          </p:grpSpPr>
          <p:pic>
            <p:nvPicPr>
              <p:cNvPr id="37" name="validity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287250" y="2143125"/>
                <a:ext cx="1819275" cy="2447925"/>
              </a:xfrm>
              <a:prstGeom prst="rect">
                <a:avLst/>
              </a:prstGeom>
            </p:spPr>
          </p:pic>
          <p:pic>
            <p:nvPicPr>
              <p:cNvPr id="38" name="task_metrics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287250" y="5276850"/>
                <a:ext cx="1771650" cy="1895475"/>
              </a:xfrm>
              <a:prstGeom prst="rect">
                <a:avLst/>
              </a:prstGeom>
            </p:spPr>
          </p:pic>
          <p:sp>
            <p:nvSpPr>
              <p:cNvPr id="39" name="Path 39"/>
              <p:cNvSpPr/>
              <p:nvPr/>
            </p:nvSpPr>
            <p:spPr>
              <a:xfrm>
                <a:off x="11687175" y="3867150"/>
                <a:ext cx="485775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0" name="Path 40"/>
              <p:cNvSpPr/>
              <p:nvPr/>
            </p:nvSpPr>
            <p:spPr>
              <a:xfrm>
                <a:off x="11687175" y="5029200"/>
                <a:ext cx="485775" cy="7524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159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191750" y="952500"/>
                <a:ext cx="420052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Challenge grader</a:t>
                </a:r>
                <a:endParaRPr lang="zh-CN" sz="300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2430125" y="2667000"/>
                <a:ext cx="1524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Artifact validity</a:t>
                </a:r>
                <a:endParaRPr lang="zh-CN" sz="1800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2334875" y="5372100"/>
                <a:ext cx="16764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metrics</a:t>
                </a:r>
                <a:endParaRPr lang="zh-CN" sz="21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