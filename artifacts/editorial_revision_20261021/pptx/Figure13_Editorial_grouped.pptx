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630400" cy="97536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2" name="Figure 13 — TS-Agent"/>
          <p:cNvGrpSpPr/>
          <p:nvPr/>
        </p:nvGrpSpPr>
        <p:grpSpPr>
          <a:xfrm>
            <a:off x="238125" y="619125"/>
            <a:ext cx="14335125" cy="8324850"/>
            <a:chOff x="238125" y="619125"/>
            <a:chExt cx="14335125" cy="8324850"/>
          </a:xfrm>
        </p:grpSpPr>
        <p:grpSp>
          <p:nvGrpSpPr>
            <p:cNvPr id="1010" name="Iterative analytical reasoning"/>
            <p:cNvGrpSpPr/>
            <p:nvPr/>
          </p:nvGrpSpPr>
          <p:grpSpPr>
            <a:xfrm>
              <a:off x="238125" y="619125"/>
              <a:ext cx="14335125" cy="5372100"/>
              <a:chOff x="238125" y="619125"/>
              <a:chExt cx="14335125" cy="5372100"/>
            </a:xfrm>
          </p:grpSpPr>
          <p:grpSp>
            <p:nvGrpSpPr>
              <p:cNvPr id="1000" name="Question and series"/>
              <p:cNvGrpSpPr/>
              <p:nvPr/>
            </p:nvGrpSpPr>
            <p:grpSpPr>
              <a:xfrm>
                <a:off x="238125" y="619125"/>
                <a:ext cx="3524250" cy="4657725"/>
                <a:chOff x="238125" y="619125"/>
                <a:chExt cx="3524250" cy="4657725"/>
              </a:xfrm>
            </p:grpSpPr>
            <p:pic>
              <p:nvPicPr>
                <p:cNvPr id="2" name="input_sheet"/>
                <p:cNvPicPr/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38125" y="1266825"/>
                  <a:ext cx="3495675" cy="4010025"/>
                </a:xfrm>
                <a:prstGeom prst="rect">
                  <a:avLst/>
                </a:prstGeom>
              </p:spPr>
            </p:pic>
            <p:pic>
              <p:nvPicPr>
                <p:cNvPr id="3" name="question_note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61975" y="1609725"/>
                  <a:ext cx="2924175" cy="1057275"/>
                </a:xfrm>
                <a:prstGeom prst="rect">
                  <a:avLst/>
                </a:prstGeom>
              </p:spPr>
            </p:pic>
            <p:sp>
              <p:nvSpPr>
                <p:cNvPr id="4" name="Rect 4"/>
                <p:cNvSpPr/>
                <p:nvPr/>
              </p:nvSpPr>
              <p:spPr>
                <a:xfrm>
                  <a:off x="704850" y="2952750"/>
                  <a:ext cx="2705100" cy="1514475"/>
                </a:xfrm>
                <a:prstGeom prst="rect">
                  <a:avLst/>
                </a:prstGeom>
                <a:solidFill>
                  <a:srgbClr val="F9F9F8"/>
                </a:solidFill>
                <a:ln w="6350">
                  <a:solidFill>
                    <a:srgbClr val="C9CCCE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5" name="Path 5"/>
                <p:cNvSpPr/>
                <p:nvPr/>
              </p:nvSpPr>
              <p:spPr>
                <a:xfrm>
                  <a:off x="704850" y="3255645"/>
                  <a:ext cx="270510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" name="Path 6"/>
                <p:cNvSpPr/>
                <p:nvPr/>
              </p:nvSpPr>
              <p:spPr>
                <a:xfrm>
                  <a:off x="704850" y="3558540"/>
                  <a:ext cx="270510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7" name="Path 7"/>
                <p:cNvSpPr/>
                <p:nvPr/>
              </p:nvSpPr>
              <p:spPr>
                <a:xfrm>
                  <a:off x="704850" y="3861435"/>
                  <a:ext cx="270510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8" name="Path 8"/>
                <p:cNvSpPr/>
                <p:nvPr/>
              </p:nvSpPr>
              <p:spPr>
                <a:xfrm>
                  <a:off x="704850" y="4164330"/>
                  <a:ext cx="270510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9" name="Path 9"/>
                <p:cNvSpPr/>
                <p:nvPr/>
              </p:nvSpPr>
              <p:spPr>
                <a:xfrm>
                  <a:off x="704850" y="2952750"/>
                  <a:ext cx="2705100" cy="151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2700">
                  <a:solidFill>
                    <a:srgbClr val="515558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10" name="Path 10"/>
                <p:cNvSpPr/>
                <p:nvPr/>
              </p:nvSpPr>
              <p:spPr>
                <a:xfrm>
                  <a:off x="704850" y="3298542"/>
                  <a:ext cx="2705100" cy="968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19315"/>
                      </a:moveTo>
                      <a:lnTo>
                        <a:pt x="240" y="17369"/>
                      </a:lnTo>
                      <a:lnTo>
                        <a:pt x="480" y="20159"/>
                      </a:lnTo>
                      <a:lnTo>
                        <a:pt x="720" y="18580"/>
                      </a:lnTo>
                      <a:lnTo>
                        <a:pt x="960" y="19814"/>
                      </a:lnTo>
                      <a:lnTo>
                        <a:pt x="1200" y="21263"/>
                      </a:lnTo>
                      <a:lnTo>
                        <a:pt x="1440" y="17525"/>
                      </a:lnTo>
                      <a:lnTo>
                        <a:pt x="1680" y="19033"/>
                      </a:lnTo>
                      <a:lnTo>
                        <a:pt x="1920" y="19535"/>
                      </a:lnTo>
                      <a:lnTo>
                        <a:pt x="2160" y="18291"/>
                      </a:lnTo>
                      <a:lnTo>
                        <a:pt x="2400" y="21503"/>
                      </a:lnTo>
                      <a:lnTo>
                        <a:pt x="2640" y="19362"/>
                      </a:lnTo>
                      <a:lnTo>
                        <a:pt x="2880" y="17743"/>
                      </a:lnTo>
                      <a:lnTo>
                        <a:pt x="3120" y="20025"/>
                      </a:lnTo>
                      <a:lnTo>
                        <a:pt x="3360" y="18070"/>
                      </a:lnTo>
                      <a:lnTo>
                        <a:pt x="3600" y="19936"/>
                      </a:lnTo>
                      <a:lnTo>
                        <a:pt x="3840" y="21310"/>
                      </a:lnTo>
                      <a:lnTo>
                        <a:pt x="4080" y="17765"/>
                      </a:lnTo>
                      <a:lnTo>
                        <a:pt x="4320" y="19345"/>
                      </a:lnTo>
                      <a:lnTo>
                        <a:pt x="4560" y="19059"/>
                      </a:lnTo>
                      <a:lnTo>
                        <a:pt x="4800" y="18095"/>
                      </a:lnTo>
                      <a:lnTo>
                        <a:pt x="5040" y="21600"/>
                      </a:lnTo>
                      <a:lnTo>
                        <a:pt x="5280" y="19379"/>
                      </a:lnTo>
                      <a:lnTo>
                        <a:pt x="5520" y="18220"/>
                      </a:lnTo>
                      <a:lnTo>
                        <a:pt x="5760" y="19954"/>
                      </a:lnTo>
                      <a:lnTo>
                        <a:pt x="6000" y="17609"/>
                      </a:lnTo>
                      <a:lnTo>
                        <a:pt x="6240" y="19970"/>
                      </a:lnTo>
                      <a:lnTo>
                        <a:pt x="6480" y="21225"/>
                      </a:lnTo>
                      <a:lnTo>
                        <a:pt x="6720" y="18050"/>
                      </a:lnTo>
                      <a:lnTo>
                        <a:pt x="6960" y="19733"/>
                      </a:lnTo>
                      <a:lnTo>
                        <a:pt x="7200" y="18657"/>
                      </a:lnTo>
                      <a:lnTo>
                        <a:pt x="7440" y="17915"/>
                      </a:lnTo>
                      <a:lnTo>
                        <a:pt x="7680" y="21550"/>
                      </a:lnTo>
                      <a:lnTo>
                        <a:pt x="7920" y="19337"/>
                      </a:lnTo>
                      <a:lnTo>
                        <a:pt x="8160" y="18761"/>
                      </a:lnTo>
                      <a:lnTo>
                        <a:pt x="8400" y="19950"/>
                      </a:lnTo>
                      <a:lnTo>
                        <a:pt x="8640" y="17239"/>
                      </a:lnTo>
                      <a:lnTo>
                        <a:pt x="8880" y="19939"/>
                      </a:lnTo>
                      <a:lnTo>
                        <a:pt x="9120" y="21001"/>
                      </a:lnTo>
                      <a:lnTo>
                        <a:pt x="9360" y="18342"/>
                      </a:lnTo>
                      <a:lnTo>
                        <a:pt x="9600" y="20170"/>
                      </a:lnTo>
                      <a:lnTo>
                        <a:pt x="9840" y="17634"/>
                      </a:lnTo>
                      <a:lnTo>
                        <a:pt x="10080" y="15621"/>
                      </a:lnTo>
                      <a:lnTo>
                        <a:pt x="10320" y="17757"/>
                      </a:lnTo>
                      <a:lnTo>
                        <a:pt x="10560" y="14166"/>
                      </a:lnTo>
                      <a:lnTo>
                        <a:pt x="10800" y="12823"/>
                      </a:lnTo>
                      <a:lnTo>
                        <a:pt x="11040" y="12066"/>
                      </a:lnTo>
                      <a:lnTo>
                        <a:pt x="11280" y="7608"/>
                      </a:lnTo>
                      <a:lnTo>
                        <a:pt x="11520" y="9042"/>
                      </a:lnTo>
                      <a:lnTo>
                        <a:pt x="11760" y="8374"/>
                      </a:lnTo>
                      <a:lnTo>
                        <a:pt x="12000" y="4890"/>
                      </a:lnTo>
                      <a:lnTo>
                        <a:pt x="12240" y="5457"/>
                      </a:lnTo>
                      <a:lnTo>
                        <a:pt x="12480" y="1563"/>
                      </a:lnTo>
                      <a:lnTo>
                        <a:pt x="12720" y="850"/>
                      </a:lnTo>
                      <a:lnTo>
                        <a:pt x="12960" y="4184"/>
                      </a:lnTo>
                      <a:lnTo>
                        <a:pt x="13200" y="2127"/>
                      </a:lnTo>
                      <a:lnTo>
                        <a:pt x="13440" y="2960"/>
                      </a:lnTo>
                      <a:lnTo>
                        <a:pt x="13680" y="3213"/>
                      </a:lnTo>
                      <a:lnTo>
                        <a:pt x="13920" y="0"/>
                      </a:lnTo>
                      <a:lnTo>
                        <a:pt x="14160" y="2906"/>
                      </a:lnTo>
                      <a:lnTo>
                        <a:pt x="14400" y="3291"/>
                      </a:lnTo>
                      <a:lnTo>
                        <a:pt x="14640" y="1923"/>
                      </a:lnTo>
                      <a:lnTo>
                        <a:pt x="14880" y="4141"/>
                      </a:lnTo>
                      <a:lnTo>
                        <a:pt x="15120" y="1196"/>
                      </a:lnTo>
                      <a:lnTo>
                        <a:pt x="15360" y="915"/>
                      </a:lnTo>
                      <a:lnTo>
                        <a:pt x="15600" y="3824"/>
                      </a:lnTo>
                      <a:lnTo>
                        <a:pt x="15840" y="1852"/>
                      </a:lnTo>
                      <a:lnTo>
                        <a:pt x="16080" y="3425"/>
                      </a:lnTo>
                      <a:lnTo>
                        <a:pt x="16320" y="3327"/>
                      </a:lnTo>
                      <a:lnTo>
                        <a:pt x="16560" y="53"/>
                      </a:lnTo>
                      <a:lnTo>
                        <a:pt x="16800" y="2859"/>
                      </a:lnTo>
                      <a:lnTo>
                        <a:pt x="17040" y="2754"/>
                      </a:lnTo>
                      <a:lnTo>
                        <a:pt x="17280" y="2062"/>
                      </a:lnTo>
                      <a:lnTo>
                        <a:pt x="17520" y="4485"/>
                      </a:lnTo>
                      <a:lnTo>
                        <a:pt x="17760" y="1215"/>
                      </a:lnTo>
                      <a:lnTo>
                        <a:pt x="18000" y="1102"/>
                      </a:lnTo>
                      <a:lnTo>
                        <a:pt x="18240" y="3434"/>
                      </a:lnTo>
                      <a:lnTo>
                        <a:pt x="18480" y="1520"/>
                      </a:lnTo>
                      <a:lnTo>
                        <a:pt x="18720" y="3787"/>
                      </a:lnTo>
                      <a:lnTo>
                        <a:pt x="18960" y="3422"/>
                      </a:lnTo>
                      <a:lnTo>
                        <a:pt x="19200" y="252"/>
                      </a:lnTo>
                      <a:lnTo>
                        <a:pt x="19440" y="2865"/>
                      </a:lnTo>
                      <a:lnTo>
                        <a:pt x="19680" y="2184"/>
                      </a:lnTo>
                      <a:lnTo>
                        <a:pt x="19920" y="2127"/>
                      </a:lnTo>
                      <a:lnTo>
                        <a:pt x="20160" y="4719"/>
                      </a:lnTo>
                      <a:lnTo>
                        <a:pt x="20400" y="1306"/>
                      </a:lnTo>
                      <a:lnTo>
                        <a:pt x="20640" y="1412"/>
                      </a:lnTo>
                      <a:lnTo>
                        <a:pt x="20880" y="3055"/>
                      </a:lnTo>
                      <a:lnTo>
                        <a:pt x="21120" y="1161"/>
                      </a:lnTo>
                      <a:lnTo>
                        <a:pt x="21360" y="4028"/>
                      </a:lnTo>
                      <a:lnTo>
                        <a:pt x="21600" y="3466"/>
                      </a:lnTo>
                    </a:path>
                  </a:pathLst>
                </a:custGeom>
                <a:noFill/>
                <a:ln w="25400">
                  <a:solidFill>
                    <a:srgbClr val="45494C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238125" y="619125"/>
                  <a:ext cx="352425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900" b="1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Question and series</a:t>
                  </a:r>
                  <a:endParaRPr lang="zh-CN" sz="2900"/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647700" y="1809750"/>
                  <a:ext cx="2714625" cy="685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300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Where did the change</a:t>
                  </a:r>
                  <a:endParaRPr lang="zh-CN" sz="2300"/>
                </a:p>
                <a:p>
                  <a:pPr algn="ctr"/>
                  <a:r>
                    <a:rPr lang="zh-CN" sz="2300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occur?</a:t>
                  </a:r>
                  <a:endParaRPr lang="zh-CN" sz="2300"/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704850" y="4486275"/>
                  <a:ext cx="2705100" cy="247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1700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Time</a:t>
                  </a:r>
                  <a:endParaRPr lang="zh-CN" sz="1700"/>
                </a:p>
              </p:txBody>
            </p:sp>
          </p:grpSp>
          <p:grpSp>
            <p:nvGrpSpPr>
              <p:cNvPr id="1001" name="Change-point tool"/>
              <p:cNvGrpSpPr/>
              <p:nvPr/>
            </p:nvGrpSpPr>
            <p:grpSpPr>
              <a:xfrm>
                <a:off x="3971925" y="619125"/>
                <a:ext cx="3524250" cy="2676525"/>
                <a:chOff x="3971925" y="619125"/>
                <a:chExt cx="3524250" cy="2676525"/>
              </a:xfrm>
            </p:grpSpPr>
            <p:pic>
              <p:nvPicPr>
                <p:cNvPr id="14" name="change_card"/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71925" y="1143000"/>
                  <a:ext cx="3524250" cy="2152650"/>
                </a:xfrm>
                <a:prstGeom prst="rect">
                  <a:avLst/>
                </a:prstGeom>
              </p:spPr>
            </p:pic>
            <p:sp>
              <p:nvSpPr>
                <p:cNvPr id="15" name="Rect 15"/>
                <p:cNvSpPr/>
                <p:nvPr/>
              </p:nvSpPr>
              <p:spPr>
                <a:xfrm>
                  <a:off x="4429125" y="1790700"/>
                  <a:ext cx="2800350" cy="1076325"/>
                </a:xfrm>
                <a:prstGeom prst="rect">
                  <a:avLst/>
                </a:prstGeom>
                <a:solidFill>
                  <a:srgbClr val="F9F9F8"/>
                </a:solidFill>
                <a:ln w="6350">
                  <a:solidFill>
                    <a:srgbClr val="C9CCCE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16" name="Rect 16"/>
                <p:cNvSpPr/>
                <p:nvPr/>
              </p:nvSpPr>
              <p:spPr>
                <a:xfrm>
                  <a:off x="5689282" y="1790700"/>
                  <a:ext cx="364046" cy="1076325"/>
                </a:xfrm>
                <a:prstGeom prst="rect">
                  <a:avLst/>
                </a:prstGeom>
                <a:solidFill>
                  <a:srgbClr val="E9D8D9"/>
                </a:solidFill>
                <a:ln>
                  <a:noFill/>
                </a:ln>
              </p:spPr>
              <p:txBody>
                <a:bodyPr/>
                <a:lstStyle/>
                <a:p/>
              </p:txBody>
            </p:sp>
            <p:sp>
              <p:nvSpPr>
                <p:cNvPr id="17" name="Path 17"/>
                <p:cNvSpPr/>
                <p:nvPr/>
              </p:nvSpPr>
              <p:spPr>
                <a:xfrm>
                  <a:off x="4429125" y="2005965"/>
                  <a:ext cx="280035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18" name="Path 18"/>
                <p:cNvSpPr/>
                <p:nvPr/>
              </p:nvSpPr>
              <p:spPr>
                <a:xfrm>
                  <a:off x="4429125" y="2221230"/>
                  <a:ext cx="280035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19" name="Path 19"/>
                <p:cNvSpPr/>
                <p:nvPr/>
              </p:nvSpPr>
              <p:spPr>
                <a:xfrm>
                  <a:off x="4429125" y="2436495"/>
                  <a:ext cx="280035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20" name="Path 20"/>
                <p:cNvSpPr/>
                <p:nvPr/>
              </p:nvSpPr>
              <p:spPr>
                <a:xfrm>
                  <a:off x="4429125" y="2651760"/>
                  <a:ext cx="280035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21" name="Path 21"/>
                <p:cNvSpPr/>
                <p:nvPr/>
              </p:nvSpPr>
              <p:spPr>
                <a:xfrm>
                  <a:off x="4429125" y="1790700"/>
                  <a:ext cx="2800350" cy="107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2700">
                  <a:solidFill>
                    <a:srgbClr val="515558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22" name="Path 22"/>
                <p:cNvSpPr/>
                <p:nvPr/>
              </p:nvSpPr>
              <p:spPr>
                <a:xfrm>
                  <a:off x="4429125" y="2036452"/>
                  <a:ext cx="2800350" cy="6881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19315"/>
                      </a:moveTo>
                      <a:lnTo>
                        <a:pt x="240" y="17369"/>
                      </a:lnTo>
                      <a:lnTo>
                        <a:pt x="480" y="20159"/>
                      </a:lnTo>
                      <a:lnTo>
                        <a:pt x="720" y="18580"/>
                      </a:lnTo>
                      <a:lnTo>
                        <a:pt x="960" y="19814"/>
                      </a:lnTo>
                      <a:lnTo>
                        <a:pt x="1200" y="21263"/>
                      </a:lnTo>
                      <a:lnTo>
                        <a:pt x="1440" y="17525"/>
                      </a:lnTo>
                      <a:lnTo>
                        <a:pt x="1680" y="19033"/>
                      </a:lnTo>
                      <a:lnTo>
                        <a:pt x="1920" y="19535"/>
                      </a:lnTo>
                      <a:lnTo>
                        <a:pt x="2160" y="18291"/>
                      </a:lnTo>
                      <a:lnTo>
                        <a:pt x="2400" y="21503"/>
                      </a:lnTo>
                      <a:lnTo>
                        <a:pt x="2640" y="19362"/>
                      </a:lnTo>
                      <a:lnTo>
                        <a:pt x="2880" y="17743"/>
                      </a:lnTo>
                      <a:lnTo>
                        <a:pt x="3120" y="20025"/>
                      </a:lnTo>
                      <a:lnTo>
                        <a:pt x="3360" y="18070"/>
                      </a:lnTo>
                      <a:lnTo>
                        <a:pt x="3600" y="19936"/>
                      </a:lnTo>
                      <a:lnTo>
                        <a:pt x="3840" y="21310"/>
                      </a:lnTo>
                      <a:lnTo>
                        <a:pt x="4080" y="17765"/>
                      </a:lnTo>
                      <a:lnTo>
                        <a:pt x="4320" y="19345"/>
                      </a:lnTo>
                      <a:lnTo>
                        <a:pt x="4560" y="19059"/>
                      </a:lnTo>
                      <a:lnTo>
                        <a:pt x="4800" y="18095"/>
                      </a:lnTo>
                      <a:lnTo>
                        <a:pt x="5040" y="21600"/>
                      </a:lnTo>
                      <a:lnTo>
                        <a:pt x="5280" y="19379"/>
                      </a:lnTo>
                      <a:lnTo>
                        <a:pt x="5520" y="18220"/>
                      </a:lnTo>
                      <a:lnTo>
                        <a:pt x="5760" y="19954"/>
                      </a:lnTo>
                      <a:lnTo>
                        <a:pt x="6000" y="17609"/>
                      </a:lnTo>
                      <a:lnTo>
                        <a:pt x="6240" y="19970"/>
                      </a:lnTo>
                      <a:lnTo>
                        <a:pt x="6480" y="21225"/>
                      </a:lnTo>
                      <a:lnTo>
                        <a:pt x="6720" y="18050"/>
                      </a:lnTo>
                      <a:lnTo>
                        <a:pt x="6960" y="19733"/>
                      </a:lnTo>
                      <a:lnTo>
                        <a:pt x="7200" y="18657"/>
                      </a:lnTo>
                      <a:lnTo>
                        <a:pt x="7440" y="17915"/>
                      </a:lnTo>
                      <a:lnTo>
                        <a:pt x="7680" y="21550"/>
                      </a:lnTo>
                      <a:lnTo>
                        <a:pt x="7920" y="19337"/>
                      </a:lnTo>
                      <a:lnTo>
                        <a:pt x="8160" y="18761"/>
                      </a:lnTo>
                      <a:lnTo>
                        <a:pt x="8400" y="19950"/>
                      </a:lnTo>
                      <a:lnTo>
                        <a:pt x="8640" y="17239"/>
                      </a:lnTo>
                      <a:lnTo>
                        <a:pt x="8880" y="19939"/>
                      </a:lnTo>
                      <a:lnTo>
                        <a:pt x="9120" y="21001"/>
                      </a:lnTo>
                      <a:lnTo>
                        <a:pt x="9360" y="18342"/>
                      </a:lnTo>
                      <a:lnTo>
                        <a:pt x="9600" y="20170"/>
                      </a:lnTo>
                      <a:lnTo>
                        <a:pt x="9840" y="17634"/>
                      </a:lnTo>
                      <a:lnTo>
                        <a:pt x="10080" y="15621"/>
                      </a:lnTo>
                      <a:lnTo>
                        <a:pt x="10320" y="17757"/>
                      </a:lnTo>
                      <a:lnTo>
                        <a:pt x="10560" y="14166"/>
                      </a:lnTo>
                      <a:lnTo>
                        <a:pt x="10800" y="12823"/>
                      </a:lnTo>
                      <a:lnTo>
                        <a:pt x="11040" y="12066"/>
                      </a:lnTo>
                      <a:lnTo>
                        <a:pt x="11280" y="7608"/>
                      </a:lnTo>
                      <a:lnTo>
                        <a:pt x="11520" y="9042"/>
                      </a:lnTo>
                      <a:lnTo>
                        <a:pt x="11760" y="8374"/>
                      </a:lnTo>
                      <a:lnTo>
                        <a:pt x="12000" y="4890"/>
                      </a:lnTo>
                      <a:lnTo>
                        <a:pt x="12240" y="5457"/>
                      </a:lnTo>
                      <a:lnTo>
                        <a:pt x="12480" y="1563"/>
                      </a:lnTo>
                      <a:lnTo>
                        <a:pt x="12720" y="850"/>
                      </a:lnTo>
                      <a:lnTo>
                        <a:pt x="12960" y="4184"/>
                      </a:lnTo>
                      <a:lnTo>
                        <a:pt x="13200" y="2127"/>
                      </a:lnTo>
                      <a:lnTo>
                        <a:pt x="13440" y="2960"/>
                      </a:lnTo>
                      <a:lnTo>
                        <a:pt x="13680" y="3213"/>
                      </a:lnTo>
                      <a:lnTo>
                        <a:pt x="13920" y="0"/>
                      </a:lnTo>
                      <a:lnTo>
                        <a:pt x="14160" y="2906"/>
                      </a:lnTo>
                      <a:lnTo>
                        <a:pt x="14400" y="3291"/>
                      </a:lnTo>
                      <a:lnTo>
                        <a:pt x="14640" y="1923"/>
                      </a:lnTo>
                      <a:lnTo>
                        <a:pt x="14880" y="4141"/>
                      </a:lnTo>
                      <a:lnTo>
                        <a:pt x="15120" y="1196"/>
                      </a:lnTo>
                      <a:lnTo>
                        <a:pt x="15360" y="915"/>
                      </a:lnTo>
                      <a:lnTo>
                        <a:pt x="15600" y="3824"/>
                      </a:lnTo>
                      <a:lnTo>
                        <a:pt x="15840" y="1852"/>
                      </a:lnTo>
                      <a:lnTo>
                        <a:pt x="16080" y="3425"/>
                      </a:lnTo>
                      <a:lnTo>
                        <a:pt x="16320" y="3327"/>
                      </a:lnTo>
                      <a:lnTo>
                        <a:pt x="16560" y="53"/>
                      </a:lnTo>
                      <a:lnTo>
                        <a:pt x="16800" y="2859"/>
                      </a:lnTo>
                      <a:lnTo>
                        <a:pt x="17040" y="2754"/>
                      </a:lnTo>
                      <a:lnTo>
                        <a:pt x="17280" y="2062"/>
                      </a:lnTo>
                      <a:lnTo>
                        <a:pt x="17520" y="4485"/>
                      </a:lnTo>
                      <a:lnTo>
                        <a:pt x="17760" y="1215"/>
                      </a:lnTo>
                      <a:lnTo>
                        <a:pt x="18000" y="1102"/>
                      </a:lnTo>
                      <a:lnTo>
                        <a:pt x="18240" y="3434"/>
                      </a:lnTo>
                      <a:lnTo>
                        <a:pt x="18480" y="1520"/>
                      </a:lnTo>
                      <a:lnTo>
                        <a:pt x="18720" y="3787"/>
                      </a:lnTo>
                      <a:lnTo>
                        <a:pt x="18960" y="3422"/>
                      </a:lnTo>
                      <a:lnTo>
                        <a:pt x="19200" y="252"/>
                      </a:lnTo>
                      <a:lnTo>
                        <a:pt x="19440" y="2865"/>
                      </a:lnTo>
                      <a:lnTo>
                        <a:pt x="19680" y="2184"/>
                      </a:lnTo>
                      <a:lnTo>
                        <a:pt x="19920" y="2127"/>
                      </a:lnTo>
                      <a:lnTo>
                        <a:pt x="20160" y="4719"/>
                      </a:lnTo>
                      <a:lnTo>
                        <a:pt x="20400" y="1306"/>
                      </a:lnTo>
                      <a:lnTo>
                        <a:pt x="20640" y="1412"/>
                      </a:lnTo>
                      <a:lnTo>
                        <a:pt x="20880" y="3055"/>
                      </a:lnTo>
                      <a:lnTo>
                        <a:pt x="21120" y="1161"/>
                      </a:lnTo>
                      <a:lnTo>
                        <a:pt x="21360" y="4028"/>
                      </a:lnTo>
                      <a:lnTo>
                        <a:pt x="21600" y="3466"/>
                      </a:lnTo>
                    </a:path>
                  </a:pathLst>
                </a:custGeom>
                <a:noFill/>
                <a:ln w="25400">
                  <a:solidFill>
                    <a:srgbClr val="45494C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23" name="Path 23"/>
                <p:cNvSpPr/>
                <p:nvPr/>
              </p:nvSpPr>
              <p:spPr>
                <a:xfrm>
                  <a:off x="5689282" y="1790700"/>
                  <a:ext cx="952" cy="107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2700">
                  <a:solidFill>
                    <a:srgbClr val="7F3E48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24" name="Path 24"/>
                <p:cNvSpPr/>
                <p:nvPr/>
              </p:nvSpPr>
              <p:spPr>
                <a:xfrm>
                  <a:off x="6053328" y="1790700"/>
                  <a:ext cx="952" cy="107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2700">
                  <a:solidFill>
                    <a:srgbClr val="7F3E48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3971925" y="619125"/>
                  <a:ext cx="352425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900" b="1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Numerical tools</a:t>
                  </a:r>
                  <a:endParaRPr lang="zh-CN" sz="2900"/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4162425" y="1333500"/>
                  <a:ext cx="3143250" cy="333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Change-point detection</a:t>
                  </a:r>
                  <a:endParaRPr lang="zh-CN" sz="2200"/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4429125" y="2886075"/>
                  <a:ext cx="2800350" cy="247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1700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Time</a:t>
                  </a:r>
                  <a:endParaRPr lang="zh-CN" sz="1700"/>
                </a:p>
              </p:txBody>
            </p:sp>
          </p:grpSp>
          <p:grpSp>
            <p:nvGrpSpPr>
              <p:cNvPr id="1002" name="Trend tool"/>
              <p:cNvGrpSpPr/>
              <p:nvPr/>
            </p:nvGrpSpPr>
            <p:grpSpPr>
              <a:xfrm>
                <a:off x="3981450" y="3276600"/>
                <a:ext cx="3524250" cy="2095500"/>
                <a:chOff x="3981450" y="3276600"/>
                <a:chExt cx="3524250" cy="2095500"/>
              </a:xfrm>
            </p:grpSpPr>
            <p:pic>
              <p:nvPicPr>
                <p:cNvPr id="28" name="trend_card"/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81450" y="3276600"/>
                  <a:ext cx="3524250" cy="2095500"/>
                </a:xfrm>
                <a:prstGeom prst="rect">
                  <a:avLst/>
                </a:prstGeom>
              </p:spPr>
            </p:pic>
            <p:sp>
              <p:nvSpPr>
                <p:cNvPr id="29" name="Rect 29"/>
                <p:cNvSpPr/>
                <p:nvPr/>
              </p:nvSpPr>
              <p:spPr>
                <a:xfrm>
                  <a:off x="4429125" y="3857625"/>
                  <a:ext cx="2800350" cy="1019175"/>
                </a:xfrm>
                <a:prstGeom prst="rect">
                  <a:avLst/>
                </a:prstGeom>
                <a:solidFill>
                  <a:srgbClr val="F9F9F8"/>
                </a:solidFill>
                <a:ln w="6350">
                  <a:solidFill>
                    <a:srgbClr val="C9CCCE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30" name="Path 30"/>
                <p:cNvSpPr/>
                <p:nvPr/>
              </p:nvSpPr>
              <p:spPr>
                <a:xfrm>
                  <a:off x="4429125" y="4061460"/>
                  <a:ext cx="280035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1" name="Path 31"/>
                <p:cNvSpPr/>
                <p:nvPr/>
              </p:nvSpPr>
              <p:spPr>
                <a:xfrm>
                  <a:off x="4429125" y="4265295"/>
                  <a:ext cx="280035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2" name="Path 32"/>
                <p:cNvSpPr/>
                <p:nvPr/>
              </p:nvSpPr>
              <p:spPr>
                <a:xfrm>
                  <a:off x="4429125" y="4469130"/>
                  <a:ext cx="280035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3" name="Path 33"/>
                <p:cNvSpPr/>
                <p:nvPr/>
              </p:nvSpPr>
              <p:spPr>
                <a:xfrm>
                  <a:off x="4429125" y="4672965"/>
                  <a:ext cx="280035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4" name="Path 34"/>
                <p:cNvSpPr/>
                <p:nvPr/>
              </p:nvSpPr>
              <p:spPr>
                <a:xfrm>
                  <a:off x="4429125" y="3857625"/>
                  <a:ext cx="2800350" cy="1019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2700">
                  <a:solidFill>
                    <a:srgbClr val="515558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5" name="Path 35"/>
                <p:cNvSpPr/>
                <p:nvPr/>
              </p:nvSpPr>
              <p:spPr>
                <a:xfrm>
                  <a:off x="4429125" y="4163377"/>
                  <a:ext cx="2800350" cy="5095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21600"/>
                      </a:moveTo>
                      <a:lnTo>
                        <a:pt x="240" y="21600"/>
                      </a:lnTo>
                      <a:lnTo>
                        <a:pt x="480" y="21600"/>
                      </a:lnTo>
                      <a:lnTo>
                        <a:pt x="720" y="21600"/>
                      </a:lnTo>
                      <a:lnTo>
                        <a:pt x="960" y="21600"/>
                      </a:lnTo>
                      <a:lnTo>
                        <a:pt x="1200" y="21600"/>
                      </a:lnTo>
                      <a:lnTo>
                        <a:pt x="1440" y="21600"/>
                      </a:lnTo>
                      <a:lnTo>
                        <a:pt x="1680" y="21600"/>
                      </a:lnTo>
                      <a:lnTo>
                        <a:pt x="1920" y="21600"/>
                      </a:lnTo>
                      <a:lnTo>
                        <a:pt x="2160" y="21600"/>
                      </a:lnTo>
                      <a:lnTo>
                        <a:pt x="2400" y="21600"/>
                      </a:lnTo>
                      <a:lnTo>
                        <a:pt x="2640" y="21600"/>
                      </a:lnTo>
                      <a:lnTo>
                        <a:pt x="2880" y="21600"/>
                      </a:lnTo>
                      <a:lnTo>
                        <a:pt x="3120" y="21600"/>
                      </a:lnTo>
                      <a:lnTo>
                        <a:pt x="3360" y="21600"/>
                      </a:lnTo>
                      <a:lnTo>
                        <a:pt x="3600" y="21600"/>
                      </a:lnTo>
                      <a:lnTo>
                        <a:pt x="3840" y="21600"/>
                      </a:lnTo>
                      <a:lnTo>
                        <a:pt x="4080" y="21600"/>
                      </a:lnTo>
                      <a:lnTo>
                        <a:pt x="4320" y="21600"/>
                      </a:lnTo>
                      <a:lnTo>
                        <a:pt x="4560" y="21600"/>
                      </a:lnTo>
                      <a:lnTo>
                        <a:pt x="4800" y="21600"/>
                      </a:lnTo>
                      <a:lnTo>
                        <a:pt x="5040" y="21600"/>
                      </a:lnTo>
                      <a:lnTo>
                        <a:pt x="5280" y="21600"/>
                      </a:lnTo>
                      <a:lnTo>
                        <a:pt x="5520" y="21600"/>
                      </a:lnTo>
                      <a:lnTo>
                        <a:pt x="5760" y="21600"/>
                      </a:lnTo>
                      <a:lnTo>
                        <a:pt x="6000" y="21600"/>
                      </a:lnTo>
                      <a:lnTo>
                        <a:pt x="6240" y="21600"/>
                      </a:lnTo>
                      <a:lnTo>
                        <a:pt x="6480" y="21600"/>
                      </a:lnTo>
                      <a:lnTo>
                        <a:pt x="6720" y="21600"/>
                      </a:lnTo>
                      <a:lnTo>
                        <a:pt x="6960" y="21600"/>
                      </a:lnTo>
                      <a:lnTo>
                        <a:pt x="7200" y="21600"/>
                      </a:lnTo>
                      <a:lnTo>
                        <a:pt x="7440" y="21600"/>
                      </a:lnTo>
                      <a:lnTo>
                        <a:pt x="7680" y="21600"/>
                      </a:lnTo>
                      <a:lnTo>
                        <a:pt x="7920" y="21600"/>
                      </a:lnTo>
                      <a:lnTo>
                        <a:pt x="8160" y="21600"/>
                      </a:lnTo>
                      <a:lnTo>
                        <a:pt x="8400" y="21600"/>
                      </a:lnTo>
                      <a:lnTo>
                        <a:pt x="8640" y="21600"/>
                      </a:lnTo>
                      <a:lnTo>
                        <a:pt x="8880" y="21600"/>
                      </a:lnTo>
                      <a:lnTo>
                        <a:pt x="9120" y="21600"/>
                      </a:lnTo>
                      <a:lnTo>
                        <a:pt x="9360" y="21600"/>
                      </a:lnTo>
                      <a:lnTo>
                        <a:pt x="9600" y="21600"/>
                      </a:lnTo>
                      <a:lnTo>
                        <a:pt x="9840" y="20677"/>
                      </a:lnTo>
                      <a:lnTo>
                        <a:pt x="10080" y="18831"/>
                      </a:lnTo>
                      <a:lnTo>
                        <a:pt x="10320" y="16985"/>
                      </a:lnTo>
                      <a:lnTo>
                        <a:pt x="10560" y="15138"/>
                      </a:lnTo>
                      <a:lnTo>
                        <a:pt x="10800" y="13292"/>
                      </a:lnTo>
                      <a:lnTo>
                        <a:pt x="11040" y="11446"/>
                      </a:lnTo>
                      <a:lnTo>
                        <a:pt x="11280" y="9600"/>
                      </a:lnTo>
                      <a:lnTo>
                        <a:pt x="11520" y="7754"/>
                      </a:lnTo>
                      <a:lnTo>
                        <a:pt x="11760" y="5908"/>
                      </a:lnTo>
                      <a:lnTo>
                        <a:pt x="12000" y="4062"/>
                      </a:lnTo>
                      <a:lnTo>
                        <a:pt x="12240" y="2215"/>
                      </a:lnTo>
                      <a:lnTo>
                        <a:pt x="12480" y="369"/>
                      </a:lnTo>
                      <a:lnTo>
                        <a:pt x="12720" y="0"/>
                      </a:lnTo>
                      <a:lnTo>
                        <a:pt x="12960" y="0"/>
                      </a:lnTo>
                      <a:lnTo>
                        <a:pt x="13200" y="0"/>
                      </a:lnTo>
                      <a:lnTo>
                        <a:pt x="13440" y="0"/>
                      </a:lnTo>
                      <a:lnTo>
                        <a:pt x="13680" y="0"/>
                      </a:lnTo>
                      <a:lnTo>
                        <a:pt x="13920" y="0"/>
                      </a:lnTo>
                      <a:lnTo>
                        <a:pt x="14160" y="0"/>
                      </a:lnTo>
                      <a:lnTo>
                        <a:pt x="14400" y="0"/>
                      </a:lnTo>
                      <a:lnTo>
                        <a:pt x="14640" y="0"/>
                      </a:lnTo>
                      <a:lnTo>
                        <a:pt x="14880" y="0"/>
                      </a:lnTo>
                      <a:lnTo>
                        <a:pt x="15120" y="0"/>
                      </a:lnTo>
                      <a:lnTo>
                        <a:pt x="15360" y="0"/>
                      </a:lnTo>
                      <a:lnTo>
                        <a:pt x="15600" y="0"/>
                      </a:lnTo>
                      <a:lnTo>
                        <a:pt x="15840" y="0"/>
                      </a:lnTo>
                      <a:lnTo>
                        <a:pt x="16080" y="0"/>
                      </a:lnTo>
                      <a:lnTo>
                        <a:pt x="16320" y="0"/>
                      </a:lnTo>
                      <a:lnTo>
                        <a:pt x="16560" y="0"/>
                      </a:lnTo>
                      <a:lnTo>
                        <a:pt x="16800" y="0"/>
                      </a:lnTo>
                      <a:lnTo>
                        <a:pt x="17040" y="0"/>
                      </a:lnTo>
                      <a:lnTo>
                        <a:pt x="17280" y="0"/>
                      </a:lnTo>
                      <a:lnTo>
                        <a:pt x="17520" y="0"/>
                      </a:lnTo>
                      <a:lnTo>
                        <a:pt x="17760" y="0"/>
                      </a:lnTo>
                      <a:lnTo>
                        <a:pt x="18000" y="0"/>
                      </a:lnTo>
                      <a:lnTo>
                        <a:pt x="18240" y="0"/>
                      </a:lnTo>
                      <a:lnTo>
                        <a:pt x="18480" y="0"/>
                      </a:lnTo>
                      <a:lnTo>
                        <a:pt x="18720" y="0"/>
                      </a:lnTo>
                      <a:lnTo>
                        <a:pt x="18960" y="0"/>
                      </a:lnTo>
                      <a:lnTo>
                        <a:pt x="19200" y="0"/>
                      </a:lnTo>
                      <a:lnTo>
                        <a:pt x="19440" y="0"/>
                      </a:lnTo>
                      <a:lnTo>
                        <a:pt x="19680" y="0"/>
                      </a:lnTo>
                      <a:lnTo>
                        <a:pt x="19920" y="0"/>
                      </a:lnTo>
                      <a:lnTo>
                        <a:pt x="20160" y="0"/>
                      </a:lnTo>
                      <a:lnTo>
                        <a:pt x="20400" y="0"/>
                      </a:lnTo>
                      <a:lnTo>
                        <a:pt x="20640" y="0"/>
                      </a:lnTo>
                      <a:lnTo>
                        <a:pt x="20880" y="0"/>
                      </a:lnTo>
                      <a:lnTo>
                        <a:pt x="21120" y="0"/>
                      </a:lnTo>
                      <a:lnTo>
                        <a:pt x="21360" y="0"/>
                      </a:lnTo>
                      <a:lnTo>
                        <a:pt x="21600" y="0"/>
                      </a:lnTo>
                    </a:path>
                  </a:pathLst>
                </a:custGeom>
                <a:noFill/>
                <a:ln w="25400">
                  <a:solidFill>
                    <a:srgbClr val="7F3E48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4162425" y="3409950"/>
                  <a:ext cx="3143250" cy="333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Trend diagnostics</a:t>
                  </a:r>
                  <a:endParaRPr lang="zh-CN" sz="2200"/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4429125" y="4895850"/>
                  <a:ext cx="2800350" cy="247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1700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Time</a:t>
                  </a:r>
                  <a:endParaRPr lang="zh-CN" sz="1700"/>
                </a:p>
              </p:txBody>
            </p:sp>
          </p:grpSp>
          <p:grpSp>
            <p:nvGrpSpPr>
              <p:cNvPr id="1003" name="Evidence review"/>
              <p:cNvGrpSpPr/>
              <p:nvPr/>
            </p:nvGrpSpPr>
            <p:grpSpPr>
              <a:xfrm>
                <a:off x="7753350" y="619125"/>
                <a:ext cx="3857625" cy="4657725"/>
                <a:chOff x="7753350" y="619125"/>
                <a:chExt cx="3857625" cy="4657725"/>
              </a:xfrm>
            </p:grpSpPr>
            <p:sp>
              <p:nvSpPr>
                <p:cNvPr id="38" name="Rect 38"/>
                <p:cNvSpPr/>
                <p:nvPr/>
              </p:nvSpPr>
              <p:spPr>
                <a:xfrm>
                  <a:off x="7867650" y="1371600"/>
                  <a:ext cx="2924175" cy="3667125"/>
                </a:xfrm>
                <a:prstGeom prst="rect">
                  <a:avLst/>
                </a:prstGeom>
                <a:solidFill>
                  <a:srgbClr val="E9E9E7"/>
                </a:solidFill>
                <a:ln>
                  <a:noFill/>
                </a:ln>
              </p:spPr>
              <p:txBody>
                <a:bodyPr/>
                <a:lstStyle/>
                <a:p/>
              </p:txBody>
            </p:sp>
            <p:sp>
              <p:nvSpPr>
                <p:cNvPr id="39" name="Rect 39"/>
                <p:cNvSpPr/>
                <p:nvPr/>
              </p:nvSpPr>
              <p:spPr>
                <a:xfrm>
                  <a:off x="7981950" y="1438275"/>
                  <a:ext cx="2924175" cy="3667125"/>
                </a:xfrm>
                <a:prstGeom prst="rect">
                  <a:avLst/>
                </a:prstGeom>
                <a:solidFill>
                  <a:srgbClr val="E9E9E7"/>
                </a:solidFill>
                <a:ln>
                  <a:noFill/>
                </a:ln>
              </p:spPr>
              <p:txBody>
                <a:bodyPr/>
                <a:lstStyle/>
                <a:p/>
              </p:txBody>
            </p:sp>
            <p:sp>
              <p:nvSpPr>
                <p:cNvPr id="40" name="Rect 40"/>
                <p:cNvSpPr/>
                <p:nvPr/>
              </p:nvSpPr>
              <p:spPr>
                <a:xfrm>
                  <a:off x="8096250" y="1504950"/>
                  <a:ext cx="2924175" cy="3667125"/>
                </a:xfrm>
                <a:prstGeom prst="rect">
                  <a:avLst/>
                </a:prstGeom>
                <a:solidFill>
                  <a:srgbClr val="E9E9E7"/>
                </a:solidFill>
                <a:ln>
                  <a:noFill/>
                </a:ln>
              </p:spPr>
              <p:txBody>
                <a:bodyPr/>
                <a:lstStyle/>
                <a:p/>
              </p:txBody>
            </p:sp>
            <p:sp>
              <p:nvSpPr>
                <p:cNvPr id="41" name="Rect 41"/>
                <p:cNvSpPr/>
                <p:nvPr/>
              </p:nvSpPr>
              <p:spPr>
                <a:xfrm>
                  <a:off x="7820025" y="1304925"/>
                  <a:ext cx="2924175" cy="3667125"/>
                </a:xfrm>
                <a:prstGeom prst="rect">
                  <a:avLst/>
                </a:prstGeom>
                <a:solidFill>
                  <a:srgbClr val="F8F8F6"/>
                </a:solidFill>
                <a:ln w="6350">
                  <a:solidFill>
                    <a:srgbClr val="D8D8D5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42" name="Rect 42"/>
                <p:cNvSpPr/>
                <p:nvPr/>
              </p:nvSpPr>
              <p:spPr>
                <a:xfrm>
                  <a:off x="7934325" y="1371600"/>
                  <a:ext cx="2924175" cy="3667125"/>
                </a:xfrm>
                <a:prstGeom prst="rect">
                  <a:avLst/>
                </a:prstGeom>
                <a:solidFill>
                  <a:srgbClr val="F8F8F6"/>
                </a:solidFill>
                <a:ln w="6350">
                  <a:solidFill>
                    <a:srgbClr val="D8D8D5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43" name="Rect 43"/>
                <p:cNvSpPr/>
                <p:nvPr/>
              </p:nvSpPr>
              <p:spPr>
                <a:xfrm>
                  <a:off x="8048625" y="1438275"/>
                  <a:ext cx="2924175" cy="3667125"/>
                </a:xfrm>
                <a:prstGeom prst="rect">
                  <a:avLst/>
                </a:prstGeom>
                <a:solidFill>
                  <a:srgbClr val="F8F8F6"/>
                </a:solidFill>
                <a:ln w="6350">
                  <a:solidFill>
                    <a:srgbClr val="D8D8D5"/>
                  </a:solidFill>
                </a:ln>
              </p:spPr>
              <p:txBody>
                <a:bodyPr/>
                <a:lstStyle/>
                <a:p/>
              </p:txBody>
            </p:sp>
            <p:pic>
              <p:nvPicPr>
                <p:cNvPr id="44" name="magnifier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53350" y="1304925"/>
                  <a:ext cx="3857625" cy="3971925"/>
                </a:xfrm>
                <a:prstGeom prst="rect">
                  <a:avLst/>
                </a:prstGeom>
              </p:spPr>
            </p:pic>
            <p:sp>
              <p:nvSpPr>
                <p:cNvPr id="45" name="TextBox 45"/>
                <p:cNvSpPr txBox="1"/>
                <p:nvPr/>
              </p:nvSpPr>
              <p:spPr>
                <a:xfrm>
                  <a:off x="7762875" y="619125"/>
                  <a:ext cx="3476625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900" b="1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Evidence review</a:t>
                  </a:r>
                  <a:endParaRPr lang="zh-CN" sz="2900"/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8162925" y="2047875"/>
                  <a:ext cx="22098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300" b="1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Question intent</a:t>
                  </a:r>
                  <a:endParaRPr lang="zh-CN" sz="2300"/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8162925" y="2409825"/>
                  <a:ext cx="2209800" cy="2952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100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Locate a level shift</a:t>
                  </a:r>
                  <a:endParaRPr lang="zh-CN" sz="2100"/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8162925" y="2876550"/>
                  <a:ext cx="22098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300" b="1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Tool evidence</a:t>
                  </a:r>
                  <a:endParaRPr lang="zh-CN" sz="2300"/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8067675" y="3248025"/>
                  <a:ext cx="24003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100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Change point + trend</a:t>
                  </a:r>
                  <a:endParaRPr lang="zh-CN" sz="2100"/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8143875" y="4495800"/>
                  <a:ext cx="241935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Check coverage</a:t>
                  </a:r>
                  <a:endParaRPr lang="zh-CN" sz="2200"/>
                </a:p>
              </p:txBody>
            </p:sp>
          </p:grpSp>
          <p:grpSp>
            <p:nvGrpSpPr>
              <p:cNvPr id="1004" name="Grounded answer"/>
              <p:cNvGrpSpPr/>
              <p:nvPr/>
            </p:nvGrpSpPr>
            <p:grpSpPr>
              <a:xfrm>
                <a:off x="11239500" y="619125"/>
                <a:ext cx="3333750" cy="4591050"/>
                <a:chOff x="11239500" y="619125"/>
                <a:chExt cx="3333750" cy="4591050"/>
              </a:xfrm>
            </p:grpSpPr>
            <p:pic>
              <p:nvPicPr>
                <p:cNvPr id="51" name="answer_sheet"/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315700" y="1314450"/>
                  <a:ext cx="3190875" cy="3895725"/>
                </a:xfrm>
                <a:prstGeom prst="rect">
                  <a:avLst/>
                </a:prstGeom>
              </p:spPr>
            </p:pic>
            <p:sp>
              <p:nvSpPr>
                <p:cNvPr id="52" name="Rect 52"/>
                <p:cNvSpPr/>
                <p:nvPr/>
              </p:nvSpPr>
              <p:spPr>
                <a:xfrm>
                  <a:off x="11753850" y="2790825"/>
                  <a:ext cx="2438400" cy="1238250"/>
                </a:xfrm>
                <a:prstGeom prst="rect">
                  <a:avLst/>
                </a:prstGeom>
                <a:solidFill>
                  <a:srgbClr val="F9F9F8"/>
                </a:solidFill>
                <a:ln w="6350">
                  <a:solidFill>
                    <a:srgbClr val="C9CCCE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53" name="Rect 53"/>
                <p:cNvSpPr/>
                <p:nvPr/>
              </p:nvSpPr>
              <p:spPr>
                <a:xfrm>
                  <a:off x="12851130" y="2790825"/>
                  <a:ext cx="316992" cy="1238250"/>
                </a:xfrm>
                <a:prstGeom prst="rect">
                  <a:avLst/>
                </a:prstGeom>
                <a:solidFill>
                  <a:srgbClr val="E9D8D9"/>
                </a:solidFill>
                <a:ln>
                  <a:noFill/>
                </a:ln>
              </p:spPr>
              <p:txBody>
                <a:bodyPr/>
                <a:lstStyle/>
                <a:p/>
              </p:txBody>
            </p:sp>
            <p:sp>
              <p:nvSpPr>
                <p:cNvPr id="54" name="Path 54"/>
                <p:cNvSpPr/>
                <p:nvPr/>
              </p:nvSpPr>
              <p:spPr>
                <a:xfrm>
                  <a:off x="11753850" y="3038475"/>
                  <a:ext cx="243840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55" name="Path 55"/>
                <p:cNvSpPr/>
                <p:nvPr/>
              </p:nvSpPr>
              <p:spPr>
                <a:xfrm>
                  <a:off x="11753850" y="3286125"/>
                  <a:ext cx="243840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56" name="Path 56"/>
                <p:cNvSpPr/>
                <p:nvPr/>
              </p:nvSpPr>
              <p:spPr>
                <a:xfrm>
                  <a:off x="11753850" y="3533775"/>
                  <a:ext cx="243840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57" name="Path 57"/>
                <p:cNvSpPr/>
                <p:nvPr/>
              </p:nvSpPr>
              <p:spPr>
                <a:xfrm>
                  <a:off x="11753850" y="3781425"/>
                  <a:ext cx="243840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58" name="Path 58"/>
                <p:cNvSpPr/>
                <p:nvPr/>
              </p:nvSpPr>
              <p:spPr>
                <a:xfrm>
                  <a:off x="11753850" y="2790825"/>
                  <a:ext cx="2438400" cy="123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2700">
                  <a:solidFill>
                    <a:srgbClr val="515558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59" name="Path 59"/>
                <p:cNvSpPr/>
                <p:nvPr/>
              </p:nvSpPr>
              <p:spPr>
                <a:xfrm>
                  <a:off x="11753850" y="3073548"/>
                  <a:ext cx="2438400" cy="791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19315"/>
                      </a:moveTo>
                      <a:lnTo>
                        <a:pt x="240" y="17369"/>
                      </a:lnTo>
                      <a:lnTo>
                        <a:pt x="480" y="20159"/>
                      </a:lnTo>
                      <a:lnTo>
                        <a:pt x="720" y="18580"/>
                      </a:lnTo>
                      <a:lnTo>
                        <a:pt x="960" y="19814"/>
                      </a:lnTo>
                      <a:lnTo>
                        <a:pt x="1200" y="21263"/>
                      </a:lnTo>
                      <a:lnTo>
                        <a:pt x="1440" y="17525"/>
                      </a:lnTo>
                      <a:lnTo>
                        <a:pt x="1680" y="19033"/>
                      </a:lnTo>
                      <a:lnTo>
                        <a:pt x="1920" y="19535"/>
                      </a:lnTo>
                      <a:lnTo>
                        <a:pt x="2160" y="18291"/>
                      </a:lnTo>
                      <a:lnTo>
                        <a:pt x="2400" y="21503"/>
                      </a:lnTo>
                      <a:lnTo>
                        <a:pt x="2640" y="19362"/>
                      </a:lnTo>
                      <a:lnTo>
                        <a:pt x="2880" y="17743"/>
                      </a:lnTo>
                      <a:lnTo>
                        <a:pt x="3120" y="20025"/>
                      </a:lnTo>
                      <a:lnTo>
                        <a:pt x="3360" y="18070"/>
                      </a:lnTo>
                      <a:lnTo>
                        <a:pt x="3600" y="19936"/>
                      </a:lnTo>
                      <a:lnTo>
                        <a:pt x="3840" y="21310"/>
                      </a:lnTo>
                      <a:lnTo>
                        <a:pt x="4080" y="17765"/>
                      </a:lnTo>
                      <a:lnTo>
                        <a:pt x="4320" y="19345"/>
                      </a:lnTo>
                      <a:lnTo>
                        <a:pt x="4560" y="19059"/>
                      </a:lnTo>
                      <a:lnTo>
                        <a:pt x="4800" y="18095"/>
                      </a:lnTo>
                      <a:lnTo>
                        <a:pt x="5040" y="21600"/>
                      </a:lnTo>
                      <a:lnTo>
                        <a:pt x="5280" y="19379"/>
                      </a:lnTo>
                      <a:lnTo>
                        <a:pt x="5520" y="18220"/>
                      </a:lnTo>
                      <a:lnTo>
                        <a:pt x="5760" y="19954"/>
                      </a:lnTo>
                      <a:lnTo>
                        <a:pt x="6000" y="17609"/>
                      </a:lnTo>
                      <a:lnTo>
                        <a:pt x="6240" y="19970"/>
                      </a:lnTo>
                      <a:lnTo>
                        <a:pt x="6480" y="21225"/>
                      </a:lnTo>
                      <a:lnTo>
                        <a:pt x="6720" y="18050"/>
                      </a:lnTo>
                      <a:lnTo>
                        <a:pt x="6960" y="19733"/>
                      </a:lnTo>
                      <a:lnTo>
                        <a:pt x="7200" y="18657"/>
                      </a:lnTo>
                      <a:lnTo>
                        <a:pt x="7440" y="17915"/>
                      </a:lnTo>
                      <a:lnTo>
                        <a:pt x="7680" y="21550"/>
                      </a:lnTo>
                      <a:lnTo>
                        <a:pt x="7920" y="19337"/>
                      </a:lnTo>
                      <a:lnTo>
                        <a:pt x="8160" y="18761"/>
                      </a:lnTo>
                      <a:lnTo>
                        <a:pt x="8400" y="19950"/>
                      </a:lnTo>
                      <a:lnTo>
                        <a:pt x="8640" y="17239"/>
                      </a:lnTo>
                      <a:lnTo>
                        <a:pt x="8880" y="19939"/>
                      </a:lnTo>
                      <a:lnTo>
                        <a:pt x="9120" y="21001"/>
                      </a:lnTo>
                      <a:lnTo>
                        <a:pt x="9360" y="18342"/>
                      </a:lnTo>
                      <a:lnTo>
                        <a:pt x="9600" y="20170"/>
                      </a:lnTo>
                      <a:lnTo>
                        <a:pt x="9840" y="17634"/>
                      </a:lnTo>
                      <a:lnTo>
                        <a:pt x="10080" y="15621"/>
                      </a:lnTo>
                      <a:lnTo>
                        <a:pt x="10320" y="17757"/>
                      </a:lnTo>
                      <a:lnTo>
                        <a:pt x="10560" y="14166"/>
                      </a:lnTo>
                      <a:lnTo>
                        <a:pt x="10800" y="12823"/>
                      </a:lnTo>
                      <a:lnTo>
                        <a:pt x="11040" y="12066"/>
                      </a:lnTo>
                      <a:lnTo>
                        <a:pt x="11280" y="7608"/>
                      </a:lnTo>
                      <a:lnTo>
                        <a:pt x="11520" y="9042"/>
                      </a:lnTo>
                      <a:lnTo>
                        <a:pt x="11760" y="8374"/>
                      </a:lnTo>
                      <a:lnTo>
                        <a:pt x="12000" y="4890"/>
                      </a:lnTo>
                      <a:lnTo>
                        <a:pt x="12240" y="5457"/>
                      </a:lnTo>
                      <a:lnTo>
                        <a:pt x="12480" y="1563"/>
                      </a:lnTo>
                      <a:lnTo>
                        <a:pt x="12720" y="850"/>
                      </a:lnTo>
                      <a:lnTo>
                        <a:pt x="12960" y="4184"/>
                      </a:lnTo>
                      <a:lnTo>
                        <a:pt x="13200" y="2127"/>
                      </a:lnTo>
                      <a:lnTo>
                        <a:pt x="13440" y="2960"/>
                      </a:lnTo>
                      <a:lnTo>
                        <a:pt x="13680" y="3213"/>
                      </a:lnTo>
                      <a:lnTo>
                        <a:pt x="13920" y="0"/>
                      </a:lnTo>
                      <a:lnTo>
                        <a:pt x="14160" y="2906"/>
                      </a:lnTo>
                      <a:lnTo>
                        <a:pt x="14400" y="3291"/>
                      </a:lnTo>
                      <a:lnTo>
                        <a:pt x="14640" y="1923"/>
                      </a:lnTo>
                      <a:lnTo>
                        <a:pt x="14880" y="4141"/>
                      </a:lnTo>
                      <a:lnTo>
                        <a:pt x="15120" y="1196"/>
                      </a:lnTo>
                      <a:lnTo>
                        <a:pt x="15360" y="915"/>
                      </a:lnTo>
                      <a:lnTo>
                        <a:pt x="15600" y="3824"/>
                      </a:lnTo>
                      <a:lnTo>
                        <a:pt x="15840" y="1852"/>
                      </a:lnTo>
                      <a:lnTo>
                        <a:pt x="16080" y="3425"/>
                      </a:lnTo>
                      <a:lnTo>
                        <a:pt x="16320" y="3327"/>
                      </a:lnTo>
                      <a:lnTo>
                        <a:pt x="16560" y="53"/>
                      </a:lnTo>
                      <a:lnTo>
                        <a:pt x="16800" y="2859"/>
                      </a:lnTo>
                      <a:lnTo>
                        <a:pt x="17040" y="2754"/>
                      </a:lnTo>
                      <a:lnTo>
                        <a:pt x="17280" y="2062"/>
                      </a:lnTo>
                      <a:lnTo>
                        <a:pt x="17520" y="4485"/>
                      </a:lnTo>
                      <a:lnTo>
                        <a:pt x="17760" y="1215"/>
                      </a:lnTo>
                      <a:lnTo>
                        <a:pt x="18000" y="1102"/>
                      </a:lnTo>
                      <a:lnTo>
                        <a:pt x="18240" y="3434"/>
                      </a:lnTo>
                      <a:lnTo>
                        <a:pt x="18480" y="1520"/>
                      </a:lnTo>
                      <a:lnTo>
                        <a:pt x="18720" y="3787"/>
                      </a:lnTo>
                      <a:lnTo>
                        <a:pt x="18960" y="3422"/>
                      </a:lnTo>
                      <a:lnTo>
                        <a:pt x="19200" y="252"/>
                      </a:lnTo>
                      <a:lnTo>
                        <a:pt x="19440" y="2865"/>
                      </a:lnTo>
                      <a:lnTo>
                        <a:pt x="19680" y="2184"/>
                      </a:lnTo>
                      <a:lnTo>
                        <a:pt x="19920" y="2127"/>
                      </a:lnTo>
                      <a:lnTo>
                        <a:pt x="20160" y="4719"/>
                      </a:lnTo>
                      <a:lnTo>
                        <a:pt x="20400" y="1306"/>
                      </a:lnTo>
                      <a:lnTo>
                        <a:pt x="20640" y="1412"/>
                      </a:lnTo>
                      <a:lnTo>
                        <a:pt x="20880" y="3055"/>
                      </a:lnTo>
                      <a:lnTo>
                        <a:pt x="21120" y="1161"/>
                      </a:lnTo>
                      <a:lnTo>
                        <a:pt x="21360" y="4028"/>
                      </a:lnTo>
                      <a:lnTo>
                        <a:pt x="21600" y="3466"/>
                      </a:lnTo>
                    </a:path>
                  </a:pathLst>
                </a:custGeom>
                <a:noFill/>
                <a:ln w="25400">
                  <a:solidFill>
                    <a:srgbClr val="45494C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0" name="Path 60"/>
                <p:cNvSpPr/>
                <p:nvPr/>
              </p:nvSpPr>
              <p:spPr>
                <a:xfrm>
                  <a:off x="12851130" y="2790825"/>
                  <a:ext cx="952" cy="123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2700">
                  <a:solidFill>
                    <a:srgbClr val="7F3E48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1" name="Path 61"/>
                <p:cNvSpPr/>
                <p:nvPr/>
              </p:nvSpPr>
              <p:spPr>
                <a:xfrm>
                  <a:off x="13168122" y="2790825"/>
                  <a:ext cx="952" cy="123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2700">
                  <a:solidFill>
                    <a:srgbClr val="7F3E48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11239500" y="619125"/>
                  <a:ext cx="333375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900" b="1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Grounded response</a:t>
                  </a:r>
                  <a:endParaRPr lang="zh-CN" sz="2900"/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11553825" y="1809750"/>
                  <a:ext cx="2714625" cy="72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The change lies in the</a:t>
                  </a:r>
                  <a:endParaRPr lang="zh-CN" sz="2200"/>
                </a:p>
                <a:p>
                  <a:pPr algn="ctr"/>
                  <a:r>
                    <a:rPr lang="zh-CN" sz="2200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highlighted interval.</a:t>
                  </a:r>
                  <a:endParaRPr lang="zh-CN" sz="2200"/>
                </a:p>
              </p:txBody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11753850" y="4048125"/>
                  <a:ext cx="2438400" cy="247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1700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Time</a:t>
                  </a:r>
                  <a:endParaRPr lang="zh-CN" sz="1700"/>
                </a:p>
              </p:txBody>
            </p:sp>
            <p:sp>
              <p:nvSpPr>
                <p:cNvPr id="65" name="TextBox 65"/>
                <p:cNvSpPr txBox="1"/>
                <p:nvPr/>
              </p:nvSpPr>
              <p:spPr>
                <a:xfrm>
                  <a:off x="11620500" y="4457700"/>
                  <a:ext cx="2667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000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Linked numerical evidence</a:t>
                  </a:r>
                  <a:endParaRPr lang="zh-CN" sz="2000"/>
                </a:p>
              </p:txBody>
            </p:sp>
          </p:grpSp>
          <p:grpSp>
            <p:nvGrpSpPr>
              <p:cNvPr id="1005" name="Reasoning loop"/>
              <p:cNvGrpSpPr/>
              <p:nvPr/>
            </p:nvGrpSpPr>
            <p:grpSpPr>
              <a:xfrm>
                <a:off x="3638550" y="3133725"/>
                <a:ext cx="7629525" cy="2857500"/>
                <a:chOff x="3638550" y="3133725"/>
                <a:chExt cx="7629525" cy="2857500"/>
              </a:xfrm>
            </p:grpSpPr>
            <p:sp>
              <p:nvSpPr>
                <p:cNvPr id="66" name="Path 66"/>
                <p:cNvSpPr/>
                <p:nvPr/>
              </p:nvSpPr>
              <p:spPr>
                <a:xfrm>
                  <a:off x="3638550" y="3133725"/>
                  <a:ext cx="33337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27940">
                  <a:solidFill>
                    <a:srgbClr val="53595D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67" name="Path 67"/>
                <p:cNvSpPr/>
                <p:nvPr/>
              </p:nvSpPr>
              <p:spPr>
                <a:xfrm>
                  <a:off x="7429500" y="3133725"/>
                  <a:ext cx="32385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27940">
                  <a:solidFill>
                    <a:srgbClr val="53595D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68" name="Path 68"/>
                <p:cNvSpPr/>
                <p:nvPr/>
              </p:nvSpPr>
              <p:spPr>
                <a:xfrm>
                  <a:off x="10915650" y="3133725"/>
                  <a:ext cx="3524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27940">
                  <a:solidFill>
                    <a:srgbClr val="53595D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69" name="Path 69"/>
                <p:cNvSpPr/>
                <p:nvPr/>
              </p:nvSpPr>
              <p:spPr>
                <a:xfrm>
                  <a:off x="5429250" y="5314950"/>
                  <a:ext cx="3981450" cy="67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21600" y="0"/>
                      </a:move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2130"/>
                      </a:lnTo>
                    </a:path>
                  </a:pathLst>
                </a:custGeom>
                <a:noFill/>
                <a:ln w="25400">
                  <a:solidFill>
                    <a:srgbClr val="53595D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5934075" y="5562600"/>
                  <a:ext cx="304800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300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Request another operation</a:t>
                  </a:r>
                  <a:endParaRPr lang="zh-CN" sz="2300"/>
                </a:p>
              </p:txBody>
            </p:sp>
          </p:grpSp>
        </p:grpSp>
        <p:grpSp>
          <p:nvGrpSpPr>
            <p:cNvPr id="1011" name="Traceable evidence"/>
            <p:cNvGrpSpPr/>
            <p:nvPr/>
          </p:nvGrpSpPr>
          <p:grpSpPr>
            <a:xfrm>
              <a:off x="1276350" y="6429375"/>
              <a:ext cx="12077700" cy="2514600"/>
              <a:chOff x="1276350" y="6429375"/>
              <a:chExt cx="12077700" cy="2514600"/>
            </a:xfrm>
          </p:grpSpPr>
          <p:grpSp>
            <p:nvGrpSpPr>
              <p:cNvPr id="1006" name="Traceable input"/>
              <p:cNvGrpSpPr/>
              <p:nvPr/>
            </p:nvGrpSpPr>
            <p:grpSpPr>
              <a:xfrm>
                <a:off x="2028825" y="6515100"/>
                <a:ext cx="2905125" cy="2209800"/>
                <a:chOff x="2028825" y="6515100"/>
                <a:chExt cx="2905125" cy="2209800"/>
              </a:xfrm>
            </p:grpSpPr>
            <p:pic>
              <p:nvPicPr>
                <p:cNvPr id="71" name="trace_input_papers"/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028825" y="6905625"/>
                  <a:ext cx="2886075" cy="1819275"/>
                </a:xfrm>
                <a:prstGeom prst="rect">
                  <a:avLst/>
                </a:prstGeom>
              </p:spPr>
            </p:pic>
            <p:sp>
              <p:nvSpPr>
                <p:cNvPr id="72" name="Rect 72"/>
                <p:cNvSpPr/>
                <p:nvPr/>
              </p:nvSpPr>
              <p:spPr>
                <a:xfrm>
                  <a:off x="2438400" y="7153275"/>
                  <a:ext cx="2066925" cy="1162050"/>
                </a:xfrm>
                <a:prstGeom prst="rect">
                  <a:avLst/>
                </a:prstGeom>
                <a:solidFill>
                  <a:srgbClr val="F9F9F8"/>
                </a:solidFill>
                <a:ln w="6350">
                  <a:solidFill>
                    <a:srgbClr val="C9CCCE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73" name="Path 73"/>
                <p:cNvSpPr/>
                <p:nvPr/>
              </p:nvSpPr>
              <p:spPr>
                <a:xfrm>
                  <a:off x="2438400" y="7385685"/>
                  <a:ext cx="20669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74" name="Path 74"/>
                <p:cNvSpPr/>
                <p:nvPr/>
              </p:nvSpPr>
              <p:spPr>
                <a:xfrm>
                  <a:off x="2438400" y="7618095"/>
                  <a:ext cx="20669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75" name="Path 75"/>
                <p:cNvSpPr/>
                <p:nvPr/>
              </p:nvSpPr>
              <p:spPr>
                <a:xfrm>
                  <a:off x="2438400" y="7850505"/>
                  <a:ext cx="20669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76" name="Path 76"/>
                <p:cNvSpPr/>
                <p:nvPr/>
              </p:nvSpPr>
              <p:spPr>
                <a:xfrm>
                  <a:off x="2438400" y="8082915"/>
                  <a:ext cx="20669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77" name="Path 77"/>
                <p:cNvSpPr/>
                <p:nvPr/>
              </p:nvSpPr>
              <p:spPr>
                <a:xfrm>
                  <a:off x="2438400" y="7153275"/>
                  <a:ext cx="2066925" cy="116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2700">
                  <a:solidFill>
                    <a:srgbClr val="515558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78" name="Path 78"/>
                <p:cNvSpPr/>
                <p:nvPr/>
              </p:nvSpPr>
              <p:spPr>
                <a:xfrm>
                  <a:off x="2438400" y="7418600"/>
                  <a:ext cx="2066925" cy="7429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19315"/>
                      </a:moveTo>
                      <a:lnTo>
                        <a:pt x="240" y="17369"/>
                      </a:lnTo>
                      <a:lnTo>
                        <a:pt x="480" y="20159"/>
                      </a:lnTo>
                      <a:lnTo>
                        <a:pt x="720" y="18580"/>
                      </a:lnTo>
                      <a:lnTo>
                        <a:pt x="960" y="19814"/>
                      </a:lnTo>
                      <a:lnTo>
                        <a:pt x="1200" y="21263"/>
                      </a:lnTo>
                      <a:lnTo>
                        <a:pt x="1440" y="17525"/>
                      </a:lnTo>
                      <a:lnTo>
                        <a:pt x="1680" y="19033"/>
                      </a:lnTo>
                      <a:lnTo>
                        <a:pt x="1920" y="19535"/>
                      </a:lnTo>
                      <a:lnTo>
                        <a:pt x="2160" y="18291"/>
                      </a:lnTo>
                      <a:lnTo>
                        <a:pt x="2400" y="21503"/>
                      </a:lnTo>
                      <a:lnTo>
                        <a:pt x="2640" y="19362"/>
                      </a:lnTo>
                      <a:lnTo>
                        <a:pt x="2880" y="17743"/>
                      </a:lnTo>
                      <a:lnTo>
                        <a:pt x="3120" y="20025"/>
                      </a:lnTo>
                      <a:lnTo>
                        <a:pt x="3360" y="18070"/>
                      </a:lnTo>
                      <a:lnTo>
                        <a:pt x="3600" y="19936"/>
                      </a:lnTo>
                      <a:lnTo>
                        <a:pt x="3840" y="21310"/>
                      </a:lnTo>
                      <a:lnTo>
                        <a:pt x="4080" y="17765"/>
                      </a:lnTo>
                      <a:lnTo>
                        <a:pt x="4320" y="19345"/>
                      </a:lnTo>
                      <a:lnTo>
                        <a:pt x="4560" y="19059"/>
                      </a:lnTo>
                      <a:lnTo>
                        <a:pt x="4800" y="18095"/>
                      </a:lnTo>
                      <a:lnTo>
                        <a:pt x="5040" y="21600"/>
                      </a:lnTo>
                      <a:lnTo>
                        <a:pt x="5280" y="19379"/>
                      </a:lnTo>
                      <a:lnTo>
                        <a:pt x="5520" y="18220"/>
                      </a:lnTo>
                      <a:lnTo>
                        <a:pt x="5760" y="19954"/>
                      </a:lnTo>
                      <a:lnTo>
                        <a:pt x="6000" y="17609"/>
                      </a:lnTo>
                      <a:lnTo>
                        <a:pt x="6240" y="19970"/>
                      </a:lnTo>
                      <a:lnTo>
                        <a:pt x="6480" y="21225"/>
                      </a:lnTo>
                      <a:lnTo>
                        <a:pt x="6720" y="18050"/>
                      </a:lnTo>
                      <a:lnTo>
                        <a:pt x="6960" y="19733"/>
                      </a:lnTo>
                      <a:lnTo>
                        <a:pt x="7200" y="18657"/>
                      </a:lnTo>
                      <a:lnTo>
                        <a:pt x="7440" y="17915"/>
                      </a:lnTo>
                      <a:lnTo>
                        <a:pt x="7680" y="21550"/>
                      </a:lnTo>
                      <a:lnTo>
                        <a:pt x="7920" y="19337"/>
                      </a:lnTo>
                      <a:lnTo>
                        <a:pt x="8160" y="18761"/>
                      </a:lnTo>
                      <a:lnTo>
                        <a:pt x="8400" y="19950"/>
                      </a:lnTo>
                      <a:lnTo>
                        <a:pt x="8640" y="17239"/>
                      </a:lnTo>
                      <a:lnTo>
                        <a:pt x="8880" y="19939"/>
                      </a:lnTo>
                      <a:lnTo>
                        <a:pt x="9120" y="21001"/>
                      </a:lnTo>
                      <a:lnTo>
                        <a:pt x="9360" y="18342"/>
                      </a:lnTo>
                      <a:lnTo>
                        <a:pt x="9600" y="20170"/>
                      </a:lnTo>
                      <a:lnTo>
                        <a:pt x="9840" y="17634"/>
                      </a:lnTo>
                      <a:lnTo>
                        <a:pt x="10080" y="15621"/>
                      </a:lnTo>
                      <a:lnTo>
                        <a:pt x="10320" y="17757"/>
                      </a:lnTo>
                      <a:lnTo>
                        <a:pt x="10560" y="14166"/>
                      </a:lnTo>
                      <a:lnTo>
                        <a:pt x="10800" y="12823"/>
                      </a:lnTo>
                      <a:lnTo>
                        <a:pt x="11040" y="12066"/>
                      </a:lnTo>
                      <a:lnTo>
                        <a:pt x="11280" y="7608"/>
                      </a:lnTo>
                      <a:lnTo>
                        <a:pt x="11520" y="9042"/>
                      </a:lnTo>
                      <a:lnTo>
                        <a:pt x="11760" y="8374"/>
                      </a:lnTo>
                      <a:lnTo>
                        <a:pt x="12000" y="4890"/>
                      </a:lnTo>
                      <a:lnTo>
                        <a:pt x="12240" y="5457"/>
                      </a:lnTo>
                      <a:lnTo>
                        <a:pt x="12480" y="1563"/>
                      </a:lnTo>
                      <a:lnTo>
                        <a:pt x="12720" y="850"/>
                      </a:lnTo>
                      <a:lnTo>
                        <a:pt x="12960" y="4184"/>
                      </a:lnTo>
                      <a:lnTo>
                        <a:pt x="13200" y="2127"/>
                      </a:lnTo>
                      <a:lnTo>
                        <a:pt x="13440" y="2960"/>
                      </a:lnTo>
                      <a:lnTo>
                        <a:pt x="13680" y="3213"/>
                      </a:lnTo>
                      <a:lnTo>
                        <a:pt x="13920" y="0"/>
                      </a:lnTo>
                      <a:lnTo>
                        <a:pt x="14160" y="2906"/>
                      </a:lnTo>
                      <a:lnTo>
                        <a:pt x="14400" y="3291"/>
                      </a:lnTo>
                      <a:lnTo>
                        <a:pt x="14640" y="1923"/>
                      </a:lnTo>
                      <a:lnTo>
                        <a:pt x="14880" y="4141"/>
                      </a:lnTo>
                      <a:lnTo>
                        <a:pt x="15120" y="1196"/>
                      </a:lnTo>
                      <a:lnTo>
                        <a:pt x="15360" y="915"/>
                      </a:lnTo>
                      <a:lnTo>
                        <a:pt x="15600" y="3824"/>
                      </a:lnTo>
                      <a:lnTo>
                        <a:pt x="15840" y="1852"/>
                      </a:lnTo>
                      <a:lnTo>
                        <a:pt x="16080" y="3425"/>
                      </a:lnTo>
                      <a:lnTo>
                        <a:pt x="16320" y="3327"/>
                      </a:lnTo>
                      <a:lnTo>
                        <a:pt x="16560" y="53"/>
                      </a:lnTo>
                      <a:lnTo>
                        <a:pt x="16800" y="2859"/>
                      </a:lnTo>
                      <a:lnTo>
                        <a:pt x="17040" y="2754"/>
                      </a:lnTo>
                      <a:lnTo>
                        <a:pt x="17280" y="2062"/>
                      </a:lnTo>
                      <a:lnTo>
                        <a:pt x="17520" y="4485"/>
                      </a:lnTo>
                      <a:lnTo>
                        <a:pt x="17760" y="1215"/>
                      </a:lnTo>
                      <a:lnTo>
                        <a:pt x="18000" y="1102"/>
                      </a:lnTo>
                      <a:lnTo>
                        <a:pt x="18240" y="3434"/>
                      </a:lnTo>
                      <a:lnTo>
                        <a:pt x="18480" y="1520"/>
                      </a:lnTo>
                      <a:lnTo>
                        <a:pt x="18720" y="3787"/>
                      </a:lnTo>
                      <a:lnTo>
                        <a:pt x="18960" y="3422"/>
                      </a:lnTo>
                      <a:lnTo>
                        <a:pt x="19200" y="252"/>
                      </a:lnTo>
                      <a:lnTo>
                        <a:pt x="19440" y="2865"/>
                      </a:lnTo>
                      <a:lnTo>
                        <a:pt x="19680" y="2184"/>
                      </a:lnTo>
                      <a:lnTo>
                        <a:pt x="19920" y="2127"/>
                      </a:lnTo>
                      <a:lnTo>
                        <a:pt x="20160" y="4719"/>
                      </a:lnTo>
                      <a:lnTo>
                        <a:pt x="20400" y="1306"/>
                      </a:lnTo>
                      <a:lnTo>
                        <a:pt x="20640" y="1412"/>
                      </a:lnTo>
                      <a:lnTo>
                        <a:pt x="20880" y="3055"/>
                      </a:lnTo>
                      <a:lnTo>
                        <a:pt x="21120" y="1161"/>
                      </a:lnTo>
                      <a:lnTo>
                        <a:pt x="21360" y="4028"/>
                      </a:lnTo>
                      <a:lnTo>
                        <a:pt x="21600" y="3466"/>
                      </a:lnTo>
                    </a:path>
                  </a:pathLst>
                </a:custGeom>
                <a:noFill/>
                <a:ln w="25400">
                  <a:solidFill>
                    <a:srgbClr val="45494C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2028825" y="6515100"/>
                  <a:ext cx="2905125" cy="3524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400" b="1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Tool input</a:t>
                  </a:r>
                  <a:endParaRPr lang="zh-CN" sz="2400"/>
                </a:p>
              </p:txBody>
            </p:sp>
            <p:sp>
              <p:nvSpPr>
                <p:cNvPr id="80" name="TextBox 80"/>
                <p:cNvSpPr txBox="1"/>
                <p:nvPr/>
              </p:nvSpPr>
              <p:spPr>
                <a:xfrm>
                  <a:off x="2438400" y="8334375"/>
                  <a:ext cx="2066925" cy="247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1700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Time</a:t>
                  </a:r>
                  <a:endParaRPr lang="zh-CN" sz="1700"/>
                </a:p>
              </p:txBody>
            </p:sp>
          </p:grpSp>
          <p:grpSp>
            <p:nvGrpSpPr>
              <p:cNvPr id="1007" name="Traceable output"/>
              <p:cNvGrpSpPr/>
              <p:nvPr/>
            </p:nvGrpSpPr>
            <p:grpSpPr>
              <a:xfrm>
                <a:off x="5981700" y="6515100"/>
                <a:ext cx="3190875" cy="2200275"/>
                <a:chOff x="5981700" y="6515100"/>
                <a:chExt cx="3190875" cy="2200275"/>
              </a:xfrm>
            </p:grpSpPr>
            <p:pic>
              <p:nvPicPr>
                <p:cNvPr id="81" name="trace_output_paper"/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981700" y="6877050"/>
                  <a:ext cx="3190875" cy="1838325"/>
                </a:xfrm>
                <a:prstGeom prst="rect">
                  <a:avLst/>
                </a:prstGeom>
              </p:spPr>
            </p:pic>
            <p:sp>
              <p:nvSpPr>
                <p:cNvPr id="82" name="Rect 82"/>
                <p:cNvSpPr/>
                <p:nvPr/>
              </p:nvSpPr>
              <p:spPr>
                <a:xfrm>
                  <a:off x="6391275" y="7153275"/>
                  <a:ext cx="2514600" cy="1162050"/>
                </a:xfrm>
                <a:prstGeom prst="rect">
                  <a:avLst/>
                </a:prstGeom>
                <a:solidFill>
                  <a:srgbClr val="F9F9F8"/>
                </a:solidFill>
                <a:ln w="6350">
                  <a:solidFill>
                    <a:srgbClr val="C9CCCE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83" name="Rect 83"/>
                <p:cNvSpPr/>
                <p:nvPr/>
              </p:nvSpPr>
              <p:spPr>
                <a:xfrm>
                  <a:off x="7522845" y="7153275"/>
                  <a:ext cx="326898" cy="1162050"/>
                </a:xfrm>
                <a:prstGeom prst="rect">
                  <a:avLst/>
                </a:prstGeom>
                <a:solidFill>
                  <a:srgbClr val="E9D8D9"/>
                </a:solidFill>
                <a:ln>
                  <a:noFill/>
                </a:ln>
              </p:spPr>
              <p:txBody>
                <a:bodyPr/>
                <a:lstStyle/>
                <a:p/>
              </p:txBody>
            </p:sp>
            <p:sp>
              <p:nvSpPr>
                <p:cNvPr id="84" name="Path 84"/>
                <p:cNvSpPr/>
                <p:nvPr/>
              </p:nvSpPr>
              <p:spPr>
                <a:xfrm>
                  <a:off x="6391275" y="7385685"/>
                  <a:ext cx="251460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85" name="Path 85"/>
                <p:cNvSpPr/>
                <p:nvPr/>
              </p:nvSpPr>
              <p:spPr>
                <a:xfrm>
                  <a:off x="6391275" y="7618095"/>
                  <a:ext cx="251460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86" name="Path 86"/>
                <p:cNvSpPr/>
                <p:nvPr/>
              </p:nvSpPr>
              <p:spPr>
                <a:xfrm>
                  <a:off x="6391275" y="7850505"/>
                  <a:ext cx="251460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87" name="Path 87"/>
                <p:cNvSpPr/>
                <p:nvPr/>
              </p:nvSpPr>
              <p:spPr>
                <a:xfrm>
                  <a:off x="6391275" y="8082915"/>
                  <a:ext cx="251460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6350">
                  <a:solidFill>
                    <a:srgbClr val="E5E6E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88" name="Path 88"/>
                <p:cNvSpPr/>
                <p:nvPr/>
              </p:nvSpPr>
              <p:spPr>
                <a:xfrm>
                  <a:off x="6391275" y="7153275"/>
                  <a:ext cx="2514600" cy="116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2700">
                  <a:solidFill>
                    <a:srgbClr val="515558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89" name="Path 89"/>
                <p:cNvSpPr/>
                <p:nvPr/>
              </p:nvSpPr>
              <p:spPr>
                <a:xfrm>
                  <a:off x="6391275" y="7418600"/>
                  <a:ext cx="2514600" cy="7429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19315"/>
                      </a:moveTo>
                      <a:lnTo>
                        <a:pt x="240" y="17369"/>
                      </a:lnTo>
                      <a:lnTo>
                        <a:pt x="480" y="20159"/>
                      </a:lnTo>
                      <a:lnTo>
                        <a:pt x="720" y="18580"/>
                      </a:lnTo>
                      <a:lnTo>
                        <a:pt x="960" y="19814"/>
                      </a:lnTo>
                      <a:lnTo>
                        <a:pt x="1200" y="21263"/>
                      </a:lnTo>
                      <a:lnTo>
                        <a:pt x="1440" y="17525"/>
                      </a:lnTo>
                      <a:lnTo>
                        <a:pt x="1680" y="19033"/>
                      </a:lnTo>
                      <a:lnTo>
                        <a:pt x="1920" y="19535"/>
                      </a:lnTo>
                      <a:lnTo>
                        <a:pt x="2160" y="18291"/>
                      </a:lnTo>
                      <a:lnTo>
                        <a:pt x="2400" y="21503"/>
                      </a:lnTo>
                      <a:lnTo>
                        <a:pt x="2640" y="19362"/>
                      </a:lnTo>
                      <a:lnTo>
                        <a:pt x="2880" y="17743"/>
                      </a:lnTo>
                      <a:lnTo>
                        <a:pt x="3120" y="20025"/>
                      </a:lnTo>
                      <a:lnTo>
                        <a:pt x="3360" y="18070"/>
                      </a:lnTo>
                      <a:lnTo>
                        <a:pt x="3600" y="19936"/>
                      </a:lnTo>
                      <a:lnTo>
                        <a:pt x="3840" y="21310"/>
                      </a:lnTo>
                      <a:lnTo>
                        <a:pt x="4080" y="17765"/>
                      </a:lnTo>
                      <a:lnTo>
                        <a:pt x="4320" y="19345"/>
                      </a:lnTo>
                      <a:lnTo>
                        <a:pt x="4560" y="19059"/>
                      </a:lnTo>
                      <a:lnTo>
                        <a:pt x="4800" y="18095"/>
                      </a:lnTo>
                      <a:lnTo>
                        <a:pt x="5040" y="21600"/>
                      </a:lnTo>
                      <a:lnTo>
                        <a:pt x="5280" y="19379"/>
                      </a:lnTo>
                      <a:lnTo>
                        <a:pt x="5520" y="18220"/>
                      </a:lnTo>
                      <a:lnTo>
                        <a:pt x="5760" y="19954"/>
                      </a:lnTo>
                      <a:lnTo>
                        <a:pt x="6000" y="17609"/>
                      </a:lnTo>
                      <a:lnTo>
                        <a:pt x="6240" y="19970"/>
                      </a:lnTo>
                      <a:lnTo>
                        <a:pt x="6480" y="21225"/>
                      </a:lnTo>
                      <a:lnTo>
                        <a:pt x="6720" y="18050"/>
                      </a:lnTo>
                      <a:lnTo>
                        <a:pt x="6960" y="19733"/>
                      </a:lnTo>
                      <a:lnTo>
                        <a:pt x="7200" y="18657"/>
                      </a:lnTo>
                      <a:lnTo>
                        <a:pt x="7440" y="17915"/>
                      </a:lnTo>
                      <a:lnTo>
                        <a:pt x="7680" y="21550"/>
                      </a:lnTo>
                      <a:lnTo>
                        <a:pt x="7920" y="19337"/>
                      </a:lnTo>
                      <a:lnTo>
                        <a:pt x="8160" y="18761"/>
                      </a:lnTo>
                      <a:lnTo>
                        <a:pt x="8400" y="19950"/>
                      </a:lnTo>
                      <a:lnTo>
                        <a:pt x="8640" y="17239"/>
                      </a:lnTo>
                      <a:lnTo>
                        <a:pt x="8880" y="19939"/>
                      </a:lnTo>
                      <a:lnTo>
                        <a:pt x="9120" y="21001"/>
                      </a:lnTo>
                      <a:lnTo>
                        <a:pt x="9360" y="18342"/>
                      </a:lnTo>
                      <a:lnTo>
                        <a:pt x="9600" y="20170"/>
                      </a:lnTo>
                      <a:lnTo>
                        <a:pt x="9840" y="17634"/>
                      </a:lnTo>
                      <a:lnTo>
                        <a:pt x="10080" y="15621"/>
                      </a:lnTo>
                      <a:lnTo>
                        <a:pt x="10320" y="17757"/>
                      </a:lnTo>
                      <a:lnTo>
                        <a:pt x="10560" y="14166"/>
                      </a:lnTo>
                      <a:lnTo>
                        <a:pt x="10800" y="12823"/>
                      </a:lnTo>
                      <a:lnTo>
                        <a:pt x="11040" y="12066"/>
                      </a:lnTo>
                      <a:lnTo>
                        <a:pt x="11280" y="7608"/>
                      </a:lnTo>
                      <a:lnTo>
                        <a:pt x="11520" y="9042"/>
                      </a:lnTo>
                      <a:lnTo>
                        <a:pt x="11760" y="8374"/>
                      </a:lnTo>
                      <a:lnTo>
                        <a:pt x="12000" y="4890"/>
                      </a:lnTo>
                      <a:lnTo>
                        <a:pt x="12240" y="5457"/>
                      </a:lnTo>
                      <a:lnTo>
                        <a:pt x="12480" y="1563"/>
                      </a:lnTo>
                      <a:lnTo>
                        <a:pt x="12720" y="850"/>
                      </a:lnTo>
                      <a:lnTo>
                        <a:pt x="12960" y="4184"/>
                      </a:lnTo>
                      <a:lnTo>
                        <a:pt x="13200" y="2127"/>
                      </a:lnTo>
                      <a:lnTo>
                        <a:pt x="13440" y="2960"/>
                      </a:lnTo>
                      <a:lnTo>
                        <a:pt x="13680" y="3213"/>
                      </a:lnTo>
                      <a:lnTo>
                        <a:pt x="13920" y="0"/>
                      </a:lnTo>
                      <a:lnTo>
                        <a:pt x="14160" y="2906"/>
                      </a:lnTo>
                      <a:lnTo>
                        <a:pt x="14400" y="3291"/>
                      </a:lnTo>
                      <a:lnTo>
                        <a:pt x="14640" y="1923"/>
                      </a:lnTo>
                      <a:lnTo>
                        <a:pt x="14880" y="4141"/>
                      </a:lnTo>
                      <a:lnTo>
                        <a:pt x="15120" y="1196"/>
                      </a:lnTo>
                      <a:lnTo>
                        <a:pt x="15360" y="915"/>
                      </a:lnTo>
                      <a:lnTo>
                        <a:pt x="15600" y="3824"/>
                      </a:lnTo>
                      <a:lnTo>
                        <a:pt x="15840" y="1852"/>
                      </a:lnTo>
                      <a:lnTo>
                        <a:pt x="16080" y="3425"/>
                      </a:lnTo>
                      <a:lnTo>
                        <a:pt x="16320" y="3327"/>
                      </a:lnTo>
                      <a:lnTo>
                        <a:pt x="16560" y="53"/>
                      </a:lnTo>
                      <a:lnTo>
                        <a:pt x="16800" y="2859"/>
                      </a:lnTo>
                      <a:lnTo>
                        <a:pt x="17040" y="2754"/>
                      </a:lnTo>
                      <a:lnTo>
                        <a:pt x="17280" y="2062"/>
                      </a:lnTo>
                      <a:lnTo>
                        <a:pt x="17520" y="4485"/>
                      </a:lnTo>
                      <a:lnTo>
                        <a:pt x="17760" y="1215"/>
                      </a:lnTo>
                      <a:lnTo>
                        <a:pt x="18000" y="1102"/>
                      </a:lnTo>
                      <a:lnTo>
                        <a:pt x="18240" y="3434"/>
                      </a:lnTo>
                      <a:lnTo>
                        <a:pt x="18480" y="1520"/>
                      </a:lnTo>
                      <a:lnTo>
                        <a:pt x="18720" y="3787"/>
                      </a:lnTo>
                      <a:lnTo>
                        <a:pt x="18960" y="3422"/>
                      </a:lnTo>
                      <a:lnTo>
                        <a:pt x="19200" y="252"/>
                      </a:lnTo>
                      <a:lnTo>
                        <a:pt x="19440" y="2865"/>
                      </a:lnTo>
                      <a:lnTo>
                        <a:pt x="19680" y="2184"/>
                      </a:lnTo>
                      <a:lnTo>
                        <a:pt x="19920" y="2127"/>
                      </a:lnTo>
                      <a:lnTo>
                        <a:pt x="20160" y="4719"/>
                      </a:lnTo>
                      <a:lnTo>
                        <a:pt x="20400" y="1306"/>
                      </a:lnTo>
                      <a:lnTo>
                        <a:pt x="20640" y="1412"/>
                      </a:lnTo>
                      <a:lnTo>
                        <a:pt x="20880" y="3055"/>
                      </a:lnTo>
                      <a:lnTo>
                        <a:pt x="21120" y="1161"/>
                      </a:lnTo>
                      <a:lnTo>
                        <a:pt x="21360" y="4028"/>
                      </a:lnTo>
                      <a:lnTo>
                        <a:pt x="21600" y="3466"/>
                      </a:lnTo>
                    </a:path>
                  </a:pathLst>
                </a:custGeom>
                <a:noFill/>
                <a:ln w="25400">
                  <a:solidFill>
                    <a:srgbClr val="45494C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90" name="Path 90"/>
                <p:cNvSpPr/>
                <p:nvPr/>
              </p:nvSpPr>
              <p:spPr>
                <a:xfrm>
                  <a:off x="7522845" y="7153275"/>
                  <a:ext cx="952" cy="116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2700">
                  <a:solidFill>
                    <a:srgbClr val="7F3E48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91" name="Path 91"/>
                <p:cNvSpPr/>
                <p:nvPr/>
              </p:nvSpPr>
              <p:spPr>
                <a:xfrm>
                  <a:off x="7849743" y="7153275"/>
                  <a:ext cx="952" cy="1162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2700">
                  <a:solidFill>
                    <a:srgbClr val="7F3E48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92" name="TextBox 92"/>
                <p:cNvSpPr txBox="1"/>
                <p:nvPr/>
              </p:nvSpPr>
              <p:spPr>
                <a:xfrm>
                  <a:off x="5981700" y="6515100"/>
                  <a:ext cx="3190875" cy="3524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400" b="1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Tool output</a:t>
                  </a:r>
                  <a:endParaRPr lang="zh-CN" sz="2400"/>
                </a:p>
              </p:txBody>
            </p:sp>
            <p:sp>
              <p:nvSpPr>
                <p:cNvPr id="93" name="TextBox 93"/>
                <p:cNvSpPr txBox="1"/>
                <p:nvPr/>
              </p:nvSpPr>
              <p:spPr>
                <a:xfrm>
                  <a:off x="6391275" y="8334375"/>
                  <a:ext cx="2514600" cy="247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1700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Time</a:t>
                  </a:r>
                  <a:endParaRPr lang="zh-CN" sz="1700"/>
                </a:p>
              </p:txBody>
            </p:sp>
          </p:grpSp>
          <p:grpSp>
            <p:nvGrpSpPr>
              <p:cNvPr id="1008" name="Source link"/>
              <p:cNvGrpSpPr/>
              <p:nvPr/>
            </p:nvGrpSpPr>
            <p:grpSpPr>
              <a:xfrm>
                <a:off x="10382250" y="6515100"/>
                <a:ext cx="1971675" cy="2200275"/>
                <a:chOff x="10382250" y="6515100"/>
                <a:chExt cx="1971675" cy="2200275"/>
              </a:xfrm>
            </p:grpSpPr>
            <p:pic>
              <p:nvPicPr>
                <p:cNvPr id="94" name="source_papers"/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382250" y="6915150"/>
                  <a:ext cx="1790700" cy="1800225"/>
                </a:xfrm>
                <a:prstGeom prst="rect">
                  <a:avLst/>
                </a:prstGeom>
              </p:spPr>
            </p:pic>
            <p:pic>
              <p:nvPicPr>
                <p:cNvPr id="95" name="source_link"/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677650" y="7858125"/>
                  <a:ext cx="676275" cy="695325"/>
                </a:xfrm>
                <a:prstGeom prst="rect">
                  <a:avLst/>
                </a:prstGeom>
              </p:spPr>
            </p:pic>
            <p:sp>
              <p:nvSpPr>
                <p:cNvPr id="96" name="Path 96"/>
                <p:cNvSpPr/>
                <p:nvPr/>
              </p:nvSpPr>
              <p:spPr>
                <a:xfrm>
                  <a:off x="10868025" y="7200900"/>
                  <a:ext cx="9239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25400">
                  <a:solidFill>
                    <a:srgbClr val="B4B5B5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97" name="Path 97"/>
                <p:cNvSpPr/>
                <p:nvPr/>
              </p:nvSpPr>
              <p:spPr>
                <a:xfrm>
                  <a:off x="10868025" y="7343775"/>
                  <a:ext cx="9239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25400">
                  <a:solidFill>
                    <a:srgbClr val="B4B5B5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98" name="Path 98"/>
                <p:cNvSpPr/>
                <p:nvPr/>
              </p:nvSpPr>
              <p:spPr>
                <a:xfrm>
                  <a:off x="10868025" y="7486650"/>
                  <a:ext cx="9239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25400">
                  <a:solidFill>
                    <a:srgbClr val="B4B5B5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99" name="Path 99"/>
                <p:cNvSpPr/>
                <p:nvPr/>
              </p:nvSpPr>
              <p:spPr>
                <a:xfrm>
                  <a:off x="10868025" y="7629525"/>
                  <a:ext cx="9239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25400">
                  <a:solidFill>
                    <a:srgbClr val="B4B5B5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100" name="Path 100"/>
                <p:cNvSpPr/>
                <p:nvPr/>
              </p:nvSpPr>
              <p:spPr>
                <a:xfrm>
                  <a:off x="10868025" y="7772400"/>
                  <a:ext cx="64770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25400">
                  <a:solidFill>
                    <a:srgbClr val="B4B5B5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101" name="Path 101"/>
                <p:cNvSpPr/>
                <p:nvPr/>
              </p:nvSpPr>
              <p:spPr>
                <a:xfrm>
                  <a:off x="10868025" y="7915275"/>
                  <a:ext cx="64770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25400">
                  <a:solidFill>
                    <a:srgbClr val="B4B5B5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102" name="TextBox 102"/>
                <p:cNvSpPr txBox="1"/>
                <p:nvPr/>
              </p:nvSpPr>
              <p:spPr>
                <a:xfrm>
                  <a:off x="10382250" y="6515100"/>
                  <a:ext cx="1952625" cy="3524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400" b="1">
                      <a:solidFill>
                        <a:srgbClr val="24272A"/>
                      </a:solidFill>
                      <a:latin typeface="Times New Roman"/>
                      <a:ea typeface="Times New Roman"/>
                      <a:cs typeface="Times New Roman"/>
                    </a:rPr>
                    <a:t>Source</a:t>
                  </a:r>
                  <a:endParaRPr lang="zh-CN" sz="2400"/>
                </a:p>
              </p:txBody>
            </p:sp>
          </p:grpSp>
          <p:grpSp>
            <p:nvGrpSpPr>
              <p:cNvPr id="1009" name="Evidence trace"/>
              <p:cNvGrpSpPr/>
              <p:nvPr/>
            </p:nvGrpSpPr>
            <p:grpSpPr>
              <a:xfrm>
                <a:off x="1276350" y="6429375"/>
                <a:ext cx="12077700" cy="2514600"/>
                <a:chOff x="1276350" y="6429375"/>
                <a:chExt cx="12077700" cy="2514600"/>
              </a:xfrm>
            </p:grpSpPr>
            <p:sp>
              <p:nvSpPr>
                <p:cNvPr id="103" name="Path 103"/>
                <p:cNvSpPr/>
                <p:nvPr/>
              </p:nvSpPr>
              <p:spPr>
                <a:xfrm>
                  <a:off x="5038725" y="7762875"/>
                  <a:ext cx="78105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25400">
                  <a:solidFill>
                    <a:srgbClr val="53595D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104" name="Path 104"/>
                <p:cNvSpPr/>
                <p:nvPr/>
              </p:nvSpPr>
              <p:spPr>
                <a:xfrm>
                  <a:off x="9324975" y="7762875"/>
                  <a:ext cx="79057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25400">
                  <a:solidFill>
                    <a:srgbClr val="53595D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105" name="Path 105"/>
                <p:cNvSpPr/>
                <p:nvPr/>
              </p:nvSpPr>
              <p:spPr>
                <a:xfrm>
                  <a:off x="1276350" y="6429375"/>
                  <a:ext cx="12077700" cy="251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0160">
                  <a:solidFill>
                    <a:srgbClr val="B8BDBF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