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c0bdeca6584a57" /><Relationship Type="http://schemas.openxmlformats.org/officeDocument/2006/relationships/extended-properties" Target="/docProps/app.xml" Id="R70eea4fe6b45453c" /><Relationship Type="http://schemas.openxmlformats.org/officeDocument/2006/relationships/officeDocument" Target="/ppt/presentation.xml" Id="Rfb5b9f6053b447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5047dcc930493b"/>
  </p:sldMasterIdLst>
  <p:notesMasterIdLst>
    <p:notesMasterId xmlns:r="http://schemas.openxmlformats.org/officeDocument/2006/relationships" r:id="Rb21ad04eae454735"/>
  </p:notesMasterIdLst>
  <p:sldIdLst>
    <p:sldId xmlns:r="http://schemas.openxmlformats.org/officeDocument/2006/relationships" id="256" r:id="R9ee1eba68d4f4ab2"/>
    <p:sldId xmlns:r="http://schemas.openxmlformats.org/officeDocument/2006/relationships" id="257" r:id="Rd963c408140d469c"/>
    <p:sldId xmlns:r="http://schemas.openxmlformats.org/officeDocument/2006/relationships" id="258" r:id="R76ba40996e744db5"/>
    <p:sldId xmlns:r="http://schemas.openxmlformats.org/officeDocument/2006/relationships" id="259" r:id="Rf57193201a7b4028"/>
    <p:sldId xmlns:r="http://schemas.openxmlformats.org/officeDocument/2006/relationships" id="260" r:id="Rf9f8383b4c894511"/>
  </p:sldIdLst>
  <p:sldSz cx="16668750" cy="12782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e4be55f2d5459c" /><Relationship Type="http://schemas.openxmlformats.org/officeDocument/2006/relationships/slideMaster" Target="/ppt/slideMasters/slideMaster1.xml" Id="R4a5047dcc930493b" /><Relationship Type="http://schemas.openxmlformats.org/officeDocument/2006/relationships/notesMaster" Target="/ppt/notesMasters/notesMaster1.xml" Id="Rb21ad04eae454735" /><Relationship Type="http://schemas.openxmlformats.org/officeDocument/2006/relationships/presProps" Target="/ppt/presProps.xml" Id="R19c3760fd64945fb" /><Relationship Type="http://schemas.openxmlformats.org/officeDocument/2006/relationships/tableStyles" Target="/ppt/tableStyles.xml" Id="Rf333968830364ef5" /><Relationship Type="http://schemas.openxmlformats.org/officeDocument/2006/relationships/slide" Target="/ppt/slides/slide1.xml" Id="R9ee1eba68d4f4ab2" /><Relationship Type="http://schemas.openxmlformats.org/officeDocument/2006/relationships/slide" Target="/ppt/slides/slide2.xml" Id="Rd963c408140d469c" /><Relationship Type="http://schemas.openxmlformats.org/officeDocument/2006/relationships/slide" Target="/ppt/slides/slide3.xml" Id="R76ba40996e744db5" /><Relationship Type="http://schemas.openxmlformats.org/officeDocument/2006/relationships/slide" Target="/ppt/slides/slide4.xml" Id="Rf57193201a7b4028" /><Relationship Type="http://schemas.openxmlformats.org/officeDocument/2006/relationships/slide" Target="/ppt/slides/slide5.xml" Id="Rf9f8383b4c8945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5d2a9aee7b4c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348b1e888403b" /><Relationship Type="http://schemas.openxmlformats.org/officeDocument/2006/relationships/notesMaster" Target="/ppt/notesMasters/notesMaster1.xml" Id="R139d9e6cd807409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92cd05a2c84c6b" /><Relationship Type="http://schemas.openxmlformats.org/officeDocument/2006/relationships/notesMaster" Target="/ppt/notesMasters/notesMaster1.xml" Id="Rc8f9ab28e8ee4f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d24167e2386473e" /><Relationship Type="http://schemas.openxmlformats.org/officeDocument/2006/relationships/notesMaster" Target="/ppt/notesMasters/notesMaster1.xml" Id="R1165ab953ce944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0fd134e7545cd" /><Relationship Type="http://schemas.openxmlformats.org/officeDocument/2006/relationships/notesMaster" Target="/ppt/notesMasters/notesMaster1.xml" Id="Rf086894c30474bf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459179bef242af" /><Relationship Type="http://schemas.openxmlformats.org/officeDocument/2006/relationships/notesMaster" Target="/ppt/notesMasters/notesMaster1.xml" Id="R663a1278696e40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Time-Series Agent survey figure adapted from the user-supplied RSI visual template. The layout, typography, and visual hierarchy are retained while the content is rewritten for the LLM + General Harness + Time-Series Harness Module framework. Editable PowerPoint objects remain available for later grouping and revision.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065a1dbfa4cb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6b3f5ec6554750" /><Relationship Type="http://schemas.openxmlformats.org/officeDocument/2006/relationships/slideLayout" Target="/ppt/slideLayouts/slideLayout1.xml" Id="Rbb14991f646a40bb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14991f646a40bb"/>
  </p:sldLayoutIdLst>
</p:sldMaster>
</file>

<file path=ppt/slideMasters/theme/theme2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2dcfd2b50445d" /><Relationship Type="http://schemas.openxmlformats.org/officeDocument/2006/relationships/image" Target="/ppt/media/image.png" Id="R9410bcc5fbde44b7" /><Relationship Type="http://schemas.openxmlformats.org/officeDocument/2006/relationships/image" Target="/ppt/media/image2.png" Id="R23290212b4c44737" /><Relationship Type="http://schemas.openxmlformats.org/officeDocument/2006/relationships/image" Target="/ppt/media/image3.png" Id="Ra8bc0eb1dc1d49df" /><Relationship Type="http://schemas.openxmlformats.org/officeDocument/2006/relationships/image" Target="/ppt/media/image4.png" Id="R01951684cf1f47a4" /><Relationship Type="http://schemas.openxmlformats.org/officeDocument/2006/relationships/image" Target="/ppt/media/image5.png" Id="R185727ba45504267" /><Relationship Type="http://schemas.openxmlformats.org/officeDocument/2006/relationships/image" Target="/ppt/media/image6.png" Id="Rac3ad095849d42fe" /><Relationship Type="http://schemas.openxmlformats.org/officeDocument/2006/relationships/notesSlide" Target="/ppt/notesSlides/notesSlide1.xml" Id="Rab50d19cbe75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62e2e709c84793" /><Relationship Type="http://schemas.openxmlformats.org/officeDocument/2006/relationships/notesSlide" Target="/ppt/notesSlides/notesSlide2.xml" Id="R2c6cb0b2d4d0407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24be70c77848d7" /><Relationship Type="http://schemas.openxmlformats.org/officeDocument/2006/relationships/image" Target="/ppt/media/image7.png" Id="R2714772a40c84050" /><Relationship Type="http://schemas.openxmlformats.org/officeDocument/2006/relationships/notesSlide" Target="/ppt/notesSlides/notesSlide3.xml" Id="Rc13bba3e43ae4e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e83ff1ccf4718" /><Relationship Type="http://schemas.openxmlformats.org/officeDocument/2006/relationships/notesSlide" Target="/ppt/notesSlides/notesSlide4.xml" Id="R98c7cc77feb248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83475e0384913" /><Relationship Type="http://schemas.openxmlformats.org/officeDocument/2006/relationships/image" Target="/ppt/media/image8.png" Id="Rdcad4565388f487c" /><Relationship Type="http://schemas.openxmlformats.org/officeDocument/2006/relationships/image" Target="/ppt/media/image9.png" Id="Ra56e8fc105384222" /><Relationship Type="http://schemas.openxmlformats.org/officeDocument/2006/relationships/image" Target="/ppt/media/image10.png" Id="R41307cf1d4f747ae" /><Relationship Type="http://schemas.openxmlformats.org/officeDocument/2006/relationships/image" Target="/ppt/media/image11.png" Id="R6d6d32a6fed0499b" /><Relationship Type="http://schemas.openxmlformats.org/officeDocument/2006/relationships/image" Target="/ppt/media/image12.png" Id="Rcbeac8d5111d42db" /><Relationship Type="http://schemas.openxmlformats.org/officeDocument/2006/relationships/image" Target="/ppt/media/image13.png" Id="Ref7034834a744933" /><Relationship Type="http://schemas.openxmlformats.org/officeDocument/2006/relationships/image" Target="/ppt/media/image14.png" Id="R2da33bc895f04cc7" /><Relationship Type="http://schemas.openxmlformats.org/officeDocument/2006/relationships/image" Target="/ppt/media/image15.png" Id="Rcf82d185a8bc45f4" /><Relationship Type="http://schemas.openxmlformats.org/officeDocument/2006/relationships/notesSlide" Target="/ppt/notesSlides/notesSlide5.xml" Id="R678d11e0f3ba4f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091BE1DA-5D40-4CBE-A66B-7ABB5305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3B3DF7B5-B3A8-4BDC-8B81-87DBD2C11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7F3E3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9AE58F54-E40F-4E9F-8743-264729DB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223837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CAE9EE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FB1AD3BB-2E93-4933-BD3C-41423558E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5E2F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6CD28B33-F5EB-4D94-B27A-CC655823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912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EF0EA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146E3F88-16CA-4B85-8C5A-7101493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53750" y="5953125"/>
            <a:ext cx="371475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FF9CF"/>
          </a:solidFill>
          <a:ln xmlns:a="http://schemas.openxmlformats.org/drawingml/2006/main" w="38100">
            <a:solidFill>
              <a:srgbClr val="3A38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D27D85E6-BEDB-446A-9F67-77134CDD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0" y="10096500"/>
            <a:ext cx="13239750" cy="552450"/>
          </a:xfrm>
          <a:prstGeom xmlns:a="http://schemas.openxmlformats.org/drawingml/2006/main" prst="roundRect">
            <a:avLst>
              <a:gd name="adj" fmla="val 31034"/>
            </a:avLst>
          </a:prstGeom>
          <a:solidFill xmlns:a="http://schemas.openxmlformats.org/drawingml/2006/main">
            <a:srgbClr val="F2F3EE"/>
          </a:solidFill>
          <a:ln xmlns:a="http://schemas.openxmlformats.org/drawingml/2006/main" w="38100">
            <a:solidFill>
              <a:srgbClr val="2C2D2C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7" name="monito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10bcc5fbde44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68" name="docum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290212b4c447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69" name="checked-document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c0eb1dc1d49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244792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0" name="code-file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51684cf1f47a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670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1" name="documents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5727ba455042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7429500" y="6162675"/>
            <a:ext cx="1238250" cy="952500"/>
          </a:xfrm>
          <a:prstGeom xmlns:a="http://schemas.openxmlformats.org/drawingml/2006/main" prst="rect">
            <a:avLst/>
          </a:prstGeom>
        </p:spPr>
      </p:pic>
      <p:pic>
        <p:nvPicPr>
          <p:cNvPr id="72" name="shield-chec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ad095849d42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92000" y="6162675"/>
            <a:ext cx="1238250" cy="952500"/>
          </a:xfrm>
          <a:prstGeom xmlns:a="http://schemas.openxmlformats.org/drawingml/2006/main" prst="rect">
            <a:avLst/>
          </a:prstGeom>
        </p:spPr>
      </p:pic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3C1754C9-08E4-47B5-A3B3-63080963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40E55CD0-0DAF-4871-9DD8-BB5033EF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34290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319FAB10-BB27-4332-A6B0-C677C285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1B2E5773-972F-42CB-ABF5-D4CE0F02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6858000" y="4619625"/>
            <a:ext cx="1190625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57D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2A26F444-1626-40DF-B782-9F017BC5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435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Line 20">
            <a:extLst xmlns:a="http://schemas.openxmlformats.org/drawingml/2006/main">
              <a:ext uri="{FF2B5EF4-FFF2-40B4-BE49-F238E27FC236}">
                <a16:creationId xmlns:a16="http://schemas.microsoft.com/office/drawing/2014/main" id="{E64B4FA8-73A3-41E6-8500-2EDFF7BD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000" y="714375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8AED57B8-D74B-4118-A898-AA7C5F37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12811125" y="4619625"/>
            <a:ext cx="0" cy="1333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2222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C833CD3E-092C-4419-95BD-C5E5B592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3D852BBD-672D-403B-AB79-34AB1AA9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86125" y="14287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1E3788B0-40AD-4725-8F5A-09952EAC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1428750"/>
            <a:ext cx="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3C808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FE3D1A80-C87C-4FDC-8F9C-83E5F3F1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11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732FEB52-3E93-41A3-A1FF-C01DF7CC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3286125" y="902970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C56F394D-DC57-4502-8B17-5E45DA37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1">
            <a:off x="3286125" y="8334375"/>
            <a:ext cx="0" cy="6953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A79CF"/>
            </a:solidFill>
            <a:prstDash val="dash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824CB86E-41D4-49AF-BEEA-72E9518F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34125" y="1028700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80" i="1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Time-Series Agent construction</a:t>
            </a:r>
            <a:endParaRPr sz="138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4F45BB68-2F6B-485F-A166-46FCDD74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5000" y="162877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347D83"/>
                </a:solidFill>
                <a:latin typeface="Cambria"/>
                <a:ea typeface="Cambria"/>
                <a:cs typeface="Cambria"/>
              </a:rPr>
              <a:t>Modules compose across tasks</a:t>
            </a:r>
            <a:endParaRPr sz="19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33D813C2-71C1-4ADF-9A2B-58D2323CC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Agent</a:t>
            </a:r>
            <a:endParaRPr sz="25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0933424A-4DAF-415C-9AEE-7A07FFC4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LLM +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and temporal data</a:t>
            </a:r>
            <a:endParaRPr sz="19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54B39655-D9E5-4BEA-827D-AF157B6B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Paper cards</a:t>
            </a:r>
            <a:endParaRPr sz="25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46E1F57F-F15A-4218-ABD8-8191B264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claims, evidence,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module tags</a:t>
            </a:r>
            <a:endParaRPr sz="19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32D62DCA-981B-4EF2-A0CC-D47B5089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328612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New task agent</a:t>
            </a:r>
            <a:endParaRPr sz="16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637A725E-4A56-49FD-B1C5-D53CE741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381000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Reusable harness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configuration</a:t>
            </a:r>
            <a:endParaRPr sz="19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36A950D0-8EC1-4A9A-8F0F-AB0C4ED7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600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General Harness</a:t>
            </a:r>
            <a:endParaRPr sz="16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D7DEBE3E-F9F4-4244-B540-FDE4CE28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62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tools, memory,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control, planning</a:t>
            </a:r>
            <a:endParaRPr sz="190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46F3B6C6-1D92-4D10-A86E-C959CCBB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3627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Time-Series Harness</a:t>
            </a:r>
            <a:endParaRPr sz="25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F197BFA1-3750-4660-938A-1BF229DF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246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temporal state,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operations, validation</a:t>
            </a:r>
            <a:endParaRPr sz="19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1BF21F82-91BB-4450-B276-27E76CA7B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25200" y="7000875"/>
            <a:ext cx="3371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00" b="1">
                <a:solidFill>
                  <a:srgbClr val="141414"/>
                </a:solidFill>
                <a:latin typeface="Cambria"/>
                <a:ea typeface="Cambria"/>
                <a:cs typeface="Cambria"/>
              </a:rPr>
              <a:t>Task contract</a:t>
            </a:r>
            <a:endParaRPr sz="25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42696F46-4638-47D6-903F-BA8F50AC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87125" y="7524750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forecasting, anomaly,</a:t>
            </a:r>
            <a:endParaRPr sz="1900"/>
          </a:p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D6E67"/>
                </a:solidFill>
                <a:latin typeface="Cambria"/>
                <a:ea typeface="Cambria"/>
                <a:cs typeface="Cambria"/>
              </a:rPr>
              <a:t>augmentation, decisions</a:t>
            </a:r>
            <a:endParaRPr sz="190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8FD79540-1E42-427C-A282-8E5FE8AD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3095625"/>
            <a:ext cx="904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8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instantiate</a:t>
            </a:r>
            <a:endParaRPr sz="108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1B05187-6FF9-47AF-8ED8-D1D80527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952750" y="4762500"/>
            <a:ext cx="123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observe</a:t>
            </a:r>
            <a:endParaRPr sz="190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E8672D1E-0D61-4F15-9F46-05D602DA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5029200"/>
            <a:ext cx="1285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00" i="1">
                <a:solidFill>
                  <a:srgbClr val="397C63"/>
                </a:solidFill>
                <a:latin typeface="Cambria"/>
                <a:ea typeface="Cambria"/>
                <a:cs typeface="Cambria"/>
              </a:rPr>
              <a:t>evaluate</a:t>
            </a:r>
            <a:endParaRPr sz="210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4739C982-5A7D-419D-BB63-6261384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9700" y="6762750"/>
            <a:ext cx="1000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adapt</a:t>
            </a:r>
            <a:endParaRPr sz="20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6BDE3432-28E4-4B26-8461-246925E8D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91750" y="6762750"/>
            <a:ext cx="66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6645D"/>
                </a:solidFill>
                <a:latin typeface="Cambria"/>
                <a:ea typeface="Cambria"/>
                <a:cs typeface="Cambria"/>
              </a:rPr>
              <a:t>benchmark</a:t>
            </a:r>
            <a:endParaRPr sz="20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3726F861-F451-4F58-80DB-BCAC123BB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58625" y="4762500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i="1">
                <a:solidFill>
                  <a:srgbClr val="357D83"/>
                </a:solidFill>
                <a:latin typeface="Cambria"/>
                <a:ea typeface="Cambria"/>
                <a:cs typeface="Cambria"/>
              </a:rPr>
              <a:t>select module</a:t>
            </a:r>
            <a:endParaRPr sz="19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A3503A4D-4DD1-45BF-9C71-B5A11DFF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00" y="909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70" i="1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Module-level paper card</a:t>
            </a:r>
            <a:endParaRPr sz="117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7744CDA9-1742-4ACF-AF0D-108260DB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95750" y="9601200"/>
            <a:ext cx="8334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>
                <a:solidFill>
                  <a:srgbClr val="7776CC"/>
                </a:solidFill>
                <a:latin typeface="Cambria"/>
                <a:ea typeface="Cambria"/>
                <a:cs typeface="Cambria"/>
              </a:rPr>
              <a:t>One paper may contribute several modules</a:t>
            </a:r>
            <a:endParaRPr sz="19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79B95E8B-0480-4DDB-99F9-05D65555C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76500" y="10210800"/>
            <a:ext cx="1114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1">
                <a:solidFill>
                  <a:srgbClr val="6C706C"/>
                </a:solidFill>
                <a:latin typeface="Cambria"/>
                <a:ea typeface="Cambria"/>
                <a:cs typeface="Cambria"/>
              </a:rPr>
              <a:t>Task semantics and benchmark protocols remain explicit</a:t>
            </a:r>
            <a:endParaRPr sz="18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D2309CB6-DBDF-4E12-B07E-FF34C66F8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85875" y="323850"/>
            <a:ext cx="561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 system</a:t>
            </a:r>
            <a:endParaRPr sz="31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7776EDDA-9999-4CF4-9ED3-2EEBE36D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77625" y="40957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540" i="1">
                <a:solidFill>
                  <a:srgbClr val="66716D"/>
                </a:solidFill>
                <a:latin typeface="Cambria"/>
                <a:ea typeface="Cambria"/>
                <a:cs typeface="Cambria"/>
              </a:rPr>
              <a:t>A module-level construction view</a:t>
            </a:r>
            <a:endParaRPr sz="154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88F8995-A091-419D-BCEA-3B07778F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2875" y="10744200"/>
            <a:ext cx="1628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1. A module-level construction view of a Time-Series Agent. The LLM supplies language and reasoning; the General Harness provides reusable runtime mechanisms; the Time-Series Harness Module supplies temporal state, operations, grounding, and task contracts. A paper card records the claim, evidence locator, module layer, task family, and BibTeX entry.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2636424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E3148168-9C29-4D1D-B284-3341DD55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16697" y="4692728"/>
            <a:ext cx="1975054" cy="1753848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CFE9EE"/>
          </a:solidFill>
          <a:ln xmlns:a="http://schemas.openxmlformats.org/drawingml/2006/main" w="25400">
            <a:solidFill>
              <a:srgbClr val="1F2937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BE3E8044-4ED3-4D05-A284-7B02F291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74262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89F805E9-65CF-4712-9212-C10EA239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967154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CFDF5120-0F99-4122-9A18-6DC6E6DE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3199588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5CB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18E9B2B3-DA64-4815-862C-77CDCE3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4424121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3B159F16-E5D7-4EE3-8B00-655E4557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5664455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EDF413AE-BB6A-450D-A8CD-D6D7CA964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6888989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DEFD8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0517662F-B233-42E7-8C13-818E1CA0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8121422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C9E8EE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B7A9D2AE-AF57-43A7-ACAC-82BDCD1D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9353856"/>
            <a:ext cx="3752603" cy="110603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128C7543-49C4-4998-B42A-0BED97C85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8072" y="10586290"/>
            <a:ext cx="3752603" cy="829523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5DDF0"/>
          </a:solidFill>
          <a:ln xmlns:a="http://schemas.openxmlformats.org/drawingml/2006/main" w="25400">
            <a:solidFill>
              <a:srgbClr val="202020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ECE280E3-C651-4CCE-B52C-C8D666D6C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74262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C20A3EB1-296D-4BCA-A76E-89AEABEC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967154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CE165D91-2A8E-4F68-8804-99488EA7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3199588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BFBEF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7FFE0940-CD24-40BF-8AD8-7DEDF90F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4424121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755008CF-B769-4E8B-896C-D3FCD022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5664455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835A9284-9C40-4FEF-91DE-FAC6C5C2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6888989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2F9EE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F434AE5D-27E3-4AB4-AAE3-A381760C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8121422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7F5F8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A5114163-1FDF-4AF0-B20B-3E7BED18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9353856"/>
            <a:ext cx="5490650" cy="110603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D53A30FE-599B-488D-AE84-02A3DA3E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79698" y="10586290"/>
            <a:ext cx="5490650" cy="829523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5F0FA"/>
          </a:solidFill>
          <a:ln xmlns:a="http://schemas.openxmlformats.org/drawingml/2006/main" w="25400">
            <a:solidFill>
              <a:srgbClr val="25252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Line 21">
            <a:extLst xmlns:a="http://schemas.openxmlformats.org/drawingml/2006/main">
              <a:ext uri="{FF2B5EF4-FFF2-40B4-BE49-F238E27FC236}">
                <a16:creationId xmlns:a16="http://schemas.microsoft.com/office/drawing/2014/main" id="{A1B2F729-0D60-47C2-93D9-AEA693EB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8130"/>
            <a:ext cx="0" cy="1097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9727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Line 22">
            <a:extLst xmlns:a="http://schemas.openxmlformats.org/drawingml/2006/main">
              <a:ext uri="{FF2B5EF4-FFF2-40B4-BE49-F238E27FC236}">
                <a16:creationId xmlns:a16="http://schemas.microsoft.com/office/drawing/2014/main" id="{106D5B82-A175-4874-81B2-5BA2FE12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8233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Line 23">
            <a:extLst xmlns:a="http://schemas.openxmlformats.org/drawingml/2006/main">
              <a:ext uri="{FF2B5EF4-FFF2-40B4-BE49-F238E27FC236}">
                <a16:creationId xmlns:a16="http://schemas.microsoft.com/office/drawing/2014/main" id="{E873D310-5C58-46D4-8867-4C03262F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2306863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Line 24">
            <a:extLst xmlns:a="http://schemas.openxmlformats.org/drawingml/2006/main">
              <a:ext uri="{FF2B5EF4-FFF2-40B4-BE49-F238E27FC236}">
                <a16:creationId xmlns:a16="http://schemas.microsoft.com/office/drawing/2014/main" id="{1BF46743-2982-4937-95B0-0982F5F7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3539297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D81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Line 25">
            <a:extLst xmlns:a="http://schemas.openxmlformats.org/drawingml/2006/main">
              <a:ext uri="{FF2B5EF4-FFF2-40B4-BE49-F238E27FC236}">
                <a16:creationId xmlns:a16="http://schemas.microsoft.com/office/drawing/2014/main" id="{A2003435-5245-4C09-BB6F-D34A2214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4771731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Line 26">
            <a:extLst xmlns:a="http://schemas.openxmlformats.org/drawingml/2006/main">
              <a:ext uri="{FF2B5EF4-FFF2-40B4-BE49-F238E27FC236}">
                <a16:creationId xmlns:a16="http://schemas.microsoft.com/office/drawing/2014/main" id="{12BFFD14-5D45-435B-A677-BDA97CC6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6004164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Line 27">
            <a:extLst xmlns:a="http://schemas.openxmlformats.org/drawingml/2006/main">
              <a:ext uri="{FF2B5EF4-FFF2-40B4-BE49-F238E27FC236}">
                <a16:creationId xmlns:a16="http://schemas.microsoft.com/office/drawing/2014/main" id="{7F7A90F1-14F1-46C5-8C0C-E01F90313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7236598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C866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Line 28">
            <a:extLst xmlns:a="http://schemas.openxmlformats.org/drawingml/2006/main">
              <a:ext uri="{FF2B5EF4-FFF2-40B4-BE49-F238E27FC236}">
                <a16:creationId xmlns:a16="http://schemas.microsoft.com/office/drawing/2014/main" id="{9A8274EE-9E76-45D2-93B8-DBDBCEDB9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8469032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B91A8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Line 29">
            <a:extLst xmlns:a="http://schemas.openxmlformats.org/drawingml/2006/main">
              <a:ext uri="{FF2B5EF4-FFF2-40B4-BE49-F238E27FC236}">
                <a16:creationId xmlns:a16="http://schemas.microsoft.com/office/drawing/2014/main" id="{D8D235E3-604D-4087-8076-88ECA1EB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9701466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Line 30">
            <a:extLst xmlns:a="http://schemas.openxmlformats.org/drawingml/2006/main">
              <a:ext uri="{FF2B5EF4-FFF2-40B4-BE49-F238E27FC236}">
                <a16:creationId xmlns:a16="http://schemas.microsoft.com/office/drawing/2014/main" id="{04D36EB1-D60B-4FA3-A1CC-535F50EBA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63061" y="10941800"/>
            <a:ext cx="395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264A3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Line 31">
            <a:extLst xmlns:a="http://schemas.openxmlformats.org/drawingml/2006/main">
              <a:ext uri="{FF2B5EF4-FFF2-40B4-BE49-F238E27FC236}">
                <a16:creationId xmlns:a16="http://schemas.microsoft.com/office/drawing/2014/main" id="{D82C9405-3419-43F4-AB3F-60D5962C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1534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Line 32">
            <a:extLst xmlns:a="http://schemas.openxmlformats.org/drawingml/2006/main">
              <a:ext uri="{FF2B5EF4-FFF2-40B4-BE49-F238E27FC236}">
                <a16:creationId xmlns:a16="http://schemas.microsoft.com/office/drawing/2014/main" id="{21CEB09A-8349-4178-802C-76AFD9339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2520169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Line 33">
            <a:extLst xmlns:a="http://schemas.openxmlformats.org/drawingml/2006/main">
              <a:ext uri="{FF2B5EF4-FFF2-40B4-BE49-F238E27FC236}">
                <a16:creationId xmlns:a16="http://schemas.microsoft.com/office/drawing/2014/main" id="{DF59A8D0-0705-4403-B178-B0BA1136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3752603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E7A5B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Line 34">
            <a:extLst xmlns:a="http://schemas.openxmlformats.org/drawingml/2006/main">
              <a:ext uri="{FF2B5EF4-FFF2-40B4-BE49-F238E27FC236}">
                <a16:creationId xmlns:a16="http://schemas.microsoft.com/office/drawing/2014/main" id="{7D61C7CB-E92C-40B2-BB8C-7C97C563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4834932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Line 35">
            <a:extLst xmlns:a="http://schemas.openxmlformats.org/drawingml/2006/main">
              <a:ext uri="{FF2B5EF4-FFF2-40B4-BE49-F238E27FC236}">
                <a16:creationId xmlns:a16="http://schemas.microsoft.com/office/drawing/2014/main" id="{82D8CAFF-163A-411B-B7F3-D5AA038B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6217470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Line 36">
            <a:extLst xmlns:a="http://schemas.openxmlformats.org/drawingml/2006/main">
              <a:ext uri="{FF2B5EF4-FFF2-40B4-BE49-F238E27FC236}">
                <a16:creationId xmlns:a16="http://schemas.microsoft.com/office/drawing/2014/main" id="{93BD36D2-8AF4-46FA-AA36-16628779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7442004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8F7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Line 37">
            <a:extLst xmlns:a="http://schemas.openxmlformats.org/drawingml/2006/main">
              <a:ext uri="{FF2B5EF4-FFF2-40B4-BE49-F238E27FC236}">
                <a16:creationId xmlns:a16="http://schemas.microsoft.com/office/drawing/2014/main" id="{89BDCEF9-9A95-47F8-84F2-7E63AEE6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8674438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793A5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Line 38">
            <a:extLst xmlns:a="http://schemas.openxmlformats.org/drawingml/2006/main">
              <a:ext uri="{FF2B5EF4-FFF2-40B4-BE49-F238E27FC236}">
                <a16:creationId xmlns:a16="http://schemas.microsoft.com/office/drawing/2014/main" id="{41A20C73-29F2-4A1C-87A0-96556F68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990687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Line 39">
            <a:extLst xmlns:a="http://schemas.openxmlformats.org/drawingml/2006/main">
              <a:ext uri="{FF2B5EF4-FFF2-40B4-BE49-F238E27FC236}">
                <a16:creationId xmlns:a16="http://schemas.microsoft.com/office/drawing/2014/main" id="{0C366863-6C9C-4C38-8379-3D55B8CE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10674" y="10997101"/>
            <a:ext cx="8690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8068A1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Ellipse 40">
            <a:extLst xmlns:a="http://schemas.openxmlformats.org/drawingml/2006/main">
              <a:ext uri="{FF2B5EF4-FFF2-40B4-BE49-F238E27FC236}">
                <a16:creationId xmlns:a16="http://schemas.microsoft.com/office/drawing/2014/main" id="{18B9D285-40A3-4DDD-95ED-C28F62DF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0332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Ellipse 41">
            <a:extLst xmlns:a="http://schemas.openxmlformats.org/drawingml/2006/main">
              <a:ext uri="{FF2B5EF4-FFF2-40B4-BE49-F238E27FC236}">
                <a16:creationId xmlns:a16="http://schemas.microsoft.com/office/drawing/2014/main" id="{70DF1513-D66D-464D-BC0D-DF55B76F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2227861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Ellipse 42">
            <a:extLst xmlns:a="http://schemas.openxmlformats.org/drawingml/2006/main">
              <a:ext uri="{FF2B5EF4-FFF2-40B4-BE49-F238E27FC236}">
                <a16:creationId xmlns:a16="http://schemas.microsoft.com/office/drawing/2014/main" id="{FCEA9A01-CBD8-4804-A639-F47D3F9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3460295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F1D7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Ellipse 43">
            <a:extLst xmlns:a="http://schemas.openxmlformats.org/drawingml/2006/main">
              <a:ext uri="{FF2B5EF4-FFF2-40B4-BE49-F238E27FC236}">
                <a16:creationId xmlns:a16="http://schemas.microsoft.com/office/drawing/2014/main" id="{C632F869-983E-4D4A-9829-B52EEB5A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4692728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Ellipse 44">
            <a:extLst xmlns:a="http://schemas.openxmlformats.org/drawingml/2006/main">
              <a:ext uri="{FF2B5EF4-FFF2-40B4-BE49-F238E27FC236}">
                <a16:creationId xmlns:a16="http://schemas.microsoft.com/office/drawing/2014/main" id="{17C3AE12-8E84-49F8-9E36-CBE1584B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5925162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Ellipse 45">
            <a:extLst xmlns:a="http://schemas.openxmlformats.org/drawingml/2006/main">
              <a:ext uri="{FF2B5EF4-FFF2-40B4-BE49-F238E27FC236}">
                <a16:creationId xmlns:a16="http://schemas.microsoft.com/office/drawing/2014/main" id="{025F4318-9FA3-455B-B518-AA8FC907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7157596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F3E8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Ellipse 46">
            <a:extLst xmlns:a="http://schemas.openxmlformats.org/drawingml/2006/main">
              <a:ext uri="{FF2B5EF4-FFF2-40B4-BE49-F238E27FC236}">
                <a16:creationId xmlns:a16="http://schemas.microsoft.com/office/drawing/2014/main" id="{C2D72691-84B9-47FB-B895-8C98583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8390030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EEF3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Ellipse 47">
            <a:extLst xmlns:a="http://schemas.openxmlformats.org/drawingml/2006/main">
              <a:ext uri="{FF2B5EF4-FFF2-40B4-BE49-F238E27FC236}">
                <a16:creationId xmlns:a16="http://schemas.microsoft.com/office/drawing/2014/main" id="{98D2A905-FE4D-4E05-A547-A557F09E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9622463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Ellipse 48">
            <a:extLst xmlns:a="http://schemas.openxmlformats.org/drawingml/2006/main">
              <a:ext uri="{FF2B5EF4-FFF2-40B4-BE49-F238E27FC236}">
                <a16:creationId xmlns:a16="http://schemas.microsoft.com/office/drawing/2014/main" id="{966759A1-BD6B-4F08-8EBE-B8CC75A2B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084059" y="10862797"/>
            <a:ext cx="158004" cy="1580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DFF0"/>
          </a:solidFill>
          <a:ln xmlns:a="http://schemas.openxmlformats.org/drawingml/2006/main" w="25400">
            <a:solidFill>
              <a:srgbClr val="55606B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7B0F7876-F4B9-4D89-8554-F31BC5CA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77616" y="142204"/>
            <a:ext cx="1422039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Survey organization</a:t>
            </a:r>
            <a:endParaRPr sz="254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A242DDB0-4013-49AD-8A55-BCBB5422F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154752" y="142204"/>
            <a:ext cx="1738048" cy="5135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50" i="1">
                <a:solidFill>
                  <a:srgbClr val="707070"/>
                </a:solidFill>
                <a:latin typeface="Cambria"/>
                <a:ea typeface="Cambria"/>
                <a:cs typeface="Cambria"/>
              </a:rPr>
              <a:t>Sections</a:t>
            </a:r>
            <a:endParaRPr sz="235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56AED3C2-9780-4FC7-8BF6-6F8B1A8C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4937635"/>
            <a:ext cx="1659045" cy="8295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Time-Series</a:t>
            </a:r>
            <a:endParaRPr sz="2680"/>
          </a:p>
          <a:p xmlns:a="http://schemas.openxmlformats.org/drawingml/2006/main">
            <a:pPr algn="ctr">
              <a:buNone/>
            </a:pPr>
            <a:r>
              <a:rPr sz="2680" b="1">
                <a:solidFill>
                  <a:srgbClr val="101828"/>
                </a:solidFill>
                <a:latin typeface="Cambria"/>
                <a:ea typeface="Cambria"/>
                <a:cs typeface="Cambria"/>
              </a:rPr>
              <a:t>Agent</a:t>
            </a:r>
            <a:endParaRPr sz="268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D94E4F82-2B10-4475-A95D-13F45112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4701" y="5877761"/>
            <a:ext cx="1659045" cy="3555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80" i="1">
                <a:solidFill>
                  <a:srgbClr val="6B7280"/>
                </a:solidFill>
                <a:latin typeface="Cambria"/>
                <a:ea typeface="Cambria"/>
                <a:cs typeface="Cambria"/>
              </a:rPr>
              <a:t>Reader’s guide</a:t>
            </a:r>
            <a:endParaRPr sz="168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2D7934F5-0DA7-48CD-833F-39674934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0582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1    Introduction</a:t>
            </a:r>
            <a:endParaRPr sz="285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02A6F6B2-7C35-4604-B550-261EA634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2030356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2    What Is a</a:t>
            </a:r>
            <a:endParaRPr sz="2410"/>
          </a:p>
          <a:p xmlns:a="http://schemas.openxmlformats.org/drawingml/2006/main">
            <a:pPr algn="ctr">
              <a:buNone/>
            </a:pPr>
            <a:r>
              <a:rPr sz="24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Agent?</a:t>
            </a:r>
            <a:endParaRPr sz="241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AA8B56A2-5A0C-4295-9E10-C5C4F061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3262789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3    LLM-Side</a:t>
            </a:r>
            <a:endParaRPr sz="2480"/>
          </a:p>
          <a:p xmlns:a="http://schemas.openxmlformats.org/drawingml/2006/main">
            <a:pPr algn="ctr">
              <a:buNone/>
            </a:pPr>
            <a:r>
              <a:rPr sz="24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Contributions</a:t>
            </a:r>
            <a:endParaRPr sz="248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9237F28F-E6F3-4A3A-98A5-507EBAD4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4487323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4    General</a:t>
            </a:r>
            <a:endParaRPr sz="2540"/>
          </a:p>
          <a:p xmlns:a="http://schemas.openxmlformats.org/drawingml/2006/main">
            <a:pPr algn="ctr">
              <a:buNone/>
            </a:pPr>
            <a:r>
              <a:rPr sz="254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54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B27D937D-F408-4696-BAA7-F086718BE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5727657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5    General Time-Series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2970DE70-A06F-437A-901C-EE5DF4E08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6952190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6    Task-Specific</a:t>
            </a:r>
            <a:endParaRPr sz="2110"/>
          </a:p>
          <a:p xmlns:a="http://schemas.openxmlformats.org/drawingml/2006/main">
            <a:pPr algn="ctr">
              <a:buNone/>
            </a:pPr>
            <a:r>
              <a:rPr sz="21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Harness</a:t>
            </a:r>
            <a:endParaRPr sz="211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193D77BF-B030-49D0-931B-64B1DBC6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8184624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7    Infrastructure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Benchmarks</a:t>
            </a:r>
            <a:endParaRPr sz="261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2792D67B-DEB0-41F4-B353-9A36C4A2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9417058"/>
            <a:ext cx="3476095" cy="9796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8    Open Problems and</a:t>
            </a:r>
            <a:endParaRPr sz="2610"/>
          </a:p>
          <a:p xmlns:a="http://schemas.openxmlformats.org/drawingml/2006/main">
            <a:pPr algn="ctr">
              <a:buNone/>
            </a:pPr>
            <a:r>
              <a:rPr sz="261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Case Studies</a:t>
            </a:r>
            <a:endParaRPr sz="261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364F97ED-721F-4C41-9EF6-0BEA4120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92375" y="10649492"/>
            <a:ext cx="3476095" cy="703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§ 9    Conclusion</a:t>
            </a:r>
            <a:endParaRPr sz="322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1FFC012D-6B36-4436-9A21-936A30BB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790022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definition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Construction questions</a:t>
            </a:r>
            <a:endParaRPr sz="237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C0B5F267-54CA-4B45-A855-DBCCA188E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2014555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Review scope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evidence</a:t>
            </a:r>
            <a:endParaRPr sz="237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45731280-7B39-4460-98CA-107035A14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3246989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representation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Alignment and reasoning</a:t>
            </a:r>
            <a:endParaRPr sz="2180"/>
          </a:p>
          <a:p xmlns:a="http://schemas.openxmlformats.org/drawingml/2006/main">
            <a:pPr algn="l">
              <a:buNone/>
            </a:pPr>
            <a:r>
              <a:rPr sz="218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LLM-side methods</a:t>
            </a:r>
            <a:endParaRPr sz="218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771CA874-97C7-4FCD-A537-64136EC9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4471522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Tools and memory          Control and execution</a:t>
            </a:r>
            <a:endParaRPr sz="2160"/>
          </a:p>
          <a:p xmlns:a="http://schemas.openxmlformats.org/drawingml/2006/main">
            <a:pPr algn="l">
              <a:buNone/>
            </a:pPr>
            <a:r>
              <a:rPr sz="216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state             Provenance and validation</a:t>
            </a:r>
            <a:endParaRPr sz="216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A78C6B64-0461-4920-9CC2-9B121485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5711856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Time-series harnesses     Reusable modules</a:t>
            </a:r>
            <a:endParaRPr sz="2000"/>
          </a:p>
          <a:p xmlns:a="http://schemas.openxmlformats.org/drawingml/2006/main">
            <a:pPr algn="l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contracts             Benchmark protocols</a:t>
            </a:r>
            <a:endParaRPr sz="20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0B66FB22-26F4-4391-AFBE-9489710B7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6936390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               Augmentation</a:t>
            </a:r>
            <a:endParaRPr sz="1889"/>
          </a:p>
          <a:p xmlns:a="http://schemas.openxmlformats.org/drawingml/2006/main">
            <a:pPr algn="l">
              <a:buNone/>
            </a:pPr>
            <a:r>
              <a:rPr sz="1889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          Decision support</a:t>
            </a:r>
            <a:endParaRPr sz="1889"/>
          </a:p>
        </p:txBody>
      </p:sp>
      <p:sp>
        <p:nvSpPr>
          <p:cNvPr id="68" name="TextBox 68">
            <a:extLst xmlns:a="http://schemas.openxmlformats.org/drawingml/2006/main">
              <a:ext uri="{FF2B5EF4-FFF2-40B4-BE49-F238E27FC236}">
                <a16:creationId xmlns:a16="http://schemas.microsoft.com/office/drawing/2014/main" id="{AD49E2C3-07C8-4CDC-9EA5-5793E1E73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8168824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ModernTSF                  TimeSeriesGym</a:t>
            </a:r>
            <a:endParaRPr sz="1870"/>
          </a:p>
          <a:p xmlns:a="http://schemas.openxmlformats.org/drawingml/2006/main">
            <a:pPr algn="l">
              <a:buNone/>
            </a:pPr>
            <a:r>
              <a:rPr sz="18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Traces and episodes        Reproducible evaluation</a:t>
            </a:r>
            <a:endParaRPr sz="1870"/>
          </a:p>
        </p:txBody>
      </p:sp>
      <p:sp>
        <p:nvSpPr>
          <p:cNvPr id="69" name="TextBox 69">
            <a:extLst xmlns:a="http://schemas.openxmlformats.org/drawingml/2006/main">
              <a:ext uri="{FF2B5EF4-FFF2-40B4-BE49-F238E27FC236}">
                <a16:creationId xmlns:a16="http://schemas.microsoft.com/office/drawing/2014/main" id="{F2DDDEBA-309B-48FB-BB3D-799825B6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9401257"/>
            <a:ext cx="5135141" cy="10112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Paper-card database        Module-level counts</a:t>
            </a:r>
            <a:endParaRPr sz="1850"/>
          </a:p>
          <a:p xmlns:a="http://schemas.openxmlformats.org/drawingml/2006/main">
            <a:pPr algn="l">
              <a:buNone/>
            </a:pPr>
            <a:r>
              <a:rPr sz="18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tasks                 Evidence gaps</a:t>
            </a:r>
            <a:endParaRPr sz="1850"/>
          </a:p>
        </p:txBody>
      </p:sp>
      <p:sp>
        <p:nvSpPr>
          <p:cNvPr id="70" name="TextBox 70">
            <a:extLst xmlns:a="http://schemas.openxmlformats.org/drawingml/2006/main">
              <a:ext uri="{FF2B5EF4-FFF2-40B4-BE49-F238E27FC236}">
                <a16:creationId xmlns:a16="http://schemas.microsoft.com/office/drawing/2014/main" id="{7ADA58BA-BAB0-4154-99F0-9E0DB978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61403" y="10633691"/>
            <a:ext cx="5135141" cy="734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System map</a:t>
            </a:r>
            <a:endParaRPr sz="2370"/>
          </a:p>
          <a:p xmlns:a="http://schemas.openxmlformats.org/drawingml/2006/main">
            <a:pPr algn="l">
              <a:buNone/>
            </a:pPr>
            <a:r>
              <a:rPr sz="237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Open problems</a:t>
            </a:r>
            <a:endParaRPr sz="2370"/>
          </a:p>
        </p:txBody>
      </p:sp>
    </p:spTree>
    <p:extLst>
      <p:ext uri="{BB962C8B-B14F-4D97-AF65-F5344CB8AC3E}">
        <p14:creationId xmlns:p14="http://schemas.microsoft.com/office/powerpoint/2010/main" val="4774991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Complex radial landscape chart body; source-faithful rasterized visual reg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14772a40c8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157531" y="1329669"/>
            <a:ext cx="10460062" cy="7942555"/>
          </a:xfrm>
          <a:prstGeom xmlns:a="http://schemas.openxmlformats.org/drawingml/2006/main" prst="rect">
            <a:avLst/>
          </a:prstGeom>
        </p:spPr>
      </p:pic>
      <p:sp>
        <p:nvSpPr>
          <p:cNvPr id="3" name="TextBox 3">
            <a:extLst xmlns:a="http://schemas.openxmlformats.org/drawingml/2006/main">
              <a:ext uri="{FF2B5EF4-FFF2-40B4-BE49-F238E27FC236}">
                <a16:creationId xmlns:a16="http://schemas.microsoft.com/office/drawing/2014/main" id="{64A7A37D-1B12-4A11-A3B3-84F6F625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1853" y="496410"/>
            <a:ext cx="6559700" cy="6382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The Time-Series Agent landscape</a:t>
            </a:r>
            <a:endParaRPr sz="2800"/>
          </a:p>
        </p:txBody>
      </p:sp>
      <p:sp>
        <p:nvSpPr>
          <p:cNvPr id="4" name="TextBox 4">
            <a:extLst xmlns:a="http://schemas.openxmlformats.org/drawingml/2006/main">
              <a:ext uri="{FF2B5EF4-FFF2-40B4-BE49-F238E27FC236}">
                <a16:creationId xmlns:a16="http://schemas.microsoft.com/office/drawing/2014/main" id="{74D77D02-E675-471B-A5EE-1AA13F4B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1853" y="1028277"/>
            <a:ext cx="6736989" cy="425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LLM, Harness modules, task contracts, and evaluation infrastructure</a:t>
            </a:r>
            <a:endParaRPr sz="1800"/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043A789D-14F0-4D9B-8239-07F57A0B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0637351"/>
            <a:ext cx="10938743" cy="3368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3. Landscape of mechanisms relevant to Time-Series Agents. The map connects the LLM side, reusable Harness modules, temporal Harness modules, and task-specific contracts.</a:t>
            </a:r>
            <a:endParaRPr sz="1750"/>
          </a:p>
        </p:txBody>
      </p:sp>
      <p:sp>
        <p:nvSpPr>
          <p:cNvPr id="6" name="TextBox 6">
            <a:extLst xmlns:a="http://schemas.openxmlformats.org/drawingml/2006/main">
              <a:ext uri="{FF2B5EF4-FFF2-40B4-BE49-F238E27FC236}">
                <a16:creationId xmlns:a16="http://schemas.microsoft.com/office/drawing/2014/main" id="{8BE34693-93B2-456B-9F4C-B7BBCADA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1009658"/>
            <a:ext cx="10938743" cy="30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The inner band denotes the four contribution layers; the middle band denotes reusable mechanisms; the outer band denotes representative works.</a:t>
            </a:r>
            <a:endParaRPr sz="1750"/>
          </a:p>
        </p:txBody>
      </p:sp>
      <p:sp>
        <p:nvSpPr>
          <p:cNvPr id="7" name="TextBox 7">
            <a:extLst xmlns:a="http://schemas.openxmlformats.org/drawingml/2006/main">
              <a:ext uri="{FF2B5EF4-FFF2-40B4-BE49-F238E27FC236}">
                <a16:creationId xmlns:a16="http://schemas.microsoft.com/office/drawing/2014/main" id="{0DA6D848-539D-434F-BAD0-5C0E9D1D6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1346508"/>
            <a:ext cx="10938743" cy="30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The sectors cover language capability, runtime control, temporal grounding, task contracts, evaluation, and paper-card evidence. A work may</a:t>
            </a:r>
            <a:endParaRPr sz="1750"/>
          </a:p>
        </p:txBody>
      </p:sp>
      <p:sp>
        <p:nvSpPr>
          <p:cNvPr id="8" name="TextBox 8">
            <a:extLst xmlns:a="http://schemas.openxmlformats.org/drawingml/2006/main">
              <a:ext uri="{FF2B5EF4-FFF2-40B4-BE49-F238E27FC236}">
                <a16:creationId xmlns:a16="http://schemas.microsoft.com/office/drawing/2014/main" id="{0EE1C298-4087-4F9A-9224-AB6FFCBD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1683357"/>
            <a:ext cx="10938743" cy="30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contribute to several sectors; its placement highlights one module-level connection. The map includes LLM-side methods, Harness modules,</a:t>
            </a:r>
            <a:endParaRPr sz="1750"/>
          </a:p>
        </p:txBody>
      </p:sp>
      <p:sp>
        <p:nvSpPr>
          <p:cNvPr id="9" name="TextBox 9">
            <a:extLst xmlns:a="http://schemas.openxmlformats.org/drawingml/2006/main">
              <a:ext uri="{FF2B5EF4-FFF2-40B4-BE49-F238E27FC236}">
                <a16:creationId xmlns:a16="http://schemas.microsoft.com/office/drawing/2014/main" id="{DEB81358-1045-4F07-8A29-BFB7E0416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2020207"/>
            <a:ext cx="10938743" cy="30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time-series systems, and benchmark infrastructure. Logos denote selected affiliations or project homes, rather than base</a:t>
            </a:r>
            <a:endParaRPr sz="1750"/>
          </a:p>
        </p:txBody>
      </p:sp>
      <p:sp>
        <p:nvSpPr>
          <p:cNvPr id="10" name="TextBox 10">
            <a:extLst xmlns:a="http://schemas.openxmlformats.org/drawingml/2006/main">
              <a:ext uri="{FF2B5EF4-FFF2-40B4-BE49-F238E27FC236}">
                <a16:creationId xmlns:a16="http://schemas.microsoft.com/office/drawing/2014/main" id="{5C51F61E-16F5-4EF3-B48D-9327C422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865004" y="12357056"/>
            <a:ext cx="10938743" cy="3013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5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models; other collaborating institutions may be omitted. The accompanying paper-card register records each selection.</a:t>
            </a:r>
            <a:endParaRPr sz="1750"/>
          </a:p>
        </p:txBody>
      </p:sp>
    </p:spTree>
    <p:extLst>
      <p:ext uri="{BB962C8B-B14F-4D97-AF65-F5344CB8AC3E}">
        <p14:creationId xmlns:p14="http://schemas.microsoft.com/office/powerpoint/2010/main" val="12168621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oundrect 2">
            <a:extLst xmlns:a="http://schemas.openxmlformats.org/drawingml/2006/main">
              <a:ext uri="{FF2B5EF4-FFF2-40B4-BE49-F238E27FC236}">
                <a16:creationId xmlns:a16="http://schemas.microsoft.com/office/drawing/2014/main" id="{E2580C10-59CC-432E-AC37-0BE4E613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50989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BF5E8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oundrect 3">
            <a:extLst xmlns:a="http://schemas.openxmlformats.org/drawingml/2006/main">
              <a:ext uri="{FF2B5EF4-FFF2-40B4-BE49-F238E27FC236}">
                <a16:creationId xmlns:a16="http://schemas.microsoft.com/office/drawing/2014/main" id="{FC084977-9937-48F8-9BBF-47EEEAD7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5535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7F1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oundrect 4">
            <a:extLst xmlns:a="http://schemas.openxmlformats.org/drawingml/2006/main">
              <a:ext uri="{FF2B5EF4-FFF2-40B4-BE49-F238E27FC236}">
                <a16:creationId xmlns:a16="http://schemas.microsoft.com/office/drawing/2014/main" id="{D342A2E2-BA97-4861-AC38-40F038F65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60080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oundrect 5">
            <a:extLst xmlns:a="http://schemas.openxmlformats.org/drawingml/2006/main">
              <a:ext uri="{FF2B5EF4-FFF2-40B4-BE49-F238E27FC236}">
                <a16:creationId xmlns:a16="http://schemas.microsoft.com/office/drawing/2014/main" id="{19242CE7-110F-42F7-B79F-94AD0C3B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4626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9EEEE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Roundrect 6">
            <a:extLst xmlns:a="http://schemas.openxmlformats.org/drawingml/2006/main">
              <a:ext uri="{FF2B5EF4-FFF2-40B4-BE49-F238E27FC236}">
                <a16:creationId xmlns:a16="http://schemas.microsoft.com/office/drawing/2014/main" id="{282215D8-B0B4-4452-9AD8-39E55143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69171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F4EFF8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7BF98906-3875-41DD-96AB-E2516375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23717" y="856322"/>
            <a:ext cx="1245559" cy="1105434"/>
          </a:xfrm>
          <a:prstGeom xmlns:a="http://schemas.openxmlformats.org/drawingml/2006/main" prst="roundRect">
            <a:avLst>
              <a:gd name="adj" fmla="val 7042"/>
            </a:avLst>
          </a:prstGeom>
          <a:solidFill xmlns:a="http://schemas.openxmlformats.org/drawingml/2006/main">
            <a:srgbClr val="EDF6F6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1B1DBA51-9E27-4D39-AA38-11C73322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434218" y="9730930"/>
            <a:ext cx="8096134" cy="560502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BFBFB"/>
          </a:solidFill>
          <a:ln xmlns:a="http://schemas.openxmlformats.org/drawingml/2006/main" w="25400">
            <a:solidFill>
              <a:srgbClr val="283244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95A7E4ED-92CB-456A-A0B4-62BE4C7E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E8979A29-88E3-433B-883A-1E415F34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6AFB77C4-01B1-4C2D-98C9-26CA0B14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4A0A2A3B-0332-4983-BC0B-449861BB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445E3209-DE3A-403F-9CFD-8B19E605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630B33C8-48BC-4A22-A097-188802E5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Roundrect 15">
            <a:extLst xmlns:a="http://schemas.openxmlformats.org/drawingml/2006/main">
              <a:ext uri="{FF2B5EF4-FFF2-40B4-BE49-F238E27FC236}">
                <a16:creationId xmlns:a16="http://schemas.microsoft.com/office/drawing/2014/main" id="{5521E552-B9E8-4C05-B0B7-A057C249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Roundrect 16">
            <a:extLst xmlns:a="http://schemas.openxmlformats.org/drawingml/2006/main">
              <a:ext uri="{FF2B5EF4-FFF2-40B4-BE49-F238E27FC236}">
                <a16:creationId xmlns:a16="http://schemas.microsoft.com/office/drawing/2014/main" id="{668D0EBF-725A-46F6-830C-E6D13964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Roundrect 17">
            <a:extLst xmlns:a="http://schemas.openxmlformats.org/drawingml/2006/main">
              <a:ext uri="{FF2B5EF4-FFF2-40B4-BE49-F238E27FC236}">
                <a16:creationId xmlns:a16="http://schemas.microsoft.com/office/drawing/2014/main" id="{6AFC0546-0D44-4C3F-B5D8-28ED1AEF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928720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Roundrect 18">
            <a:extLst xmlns:a="http://schemas.openxmlformats.org/drawingml/2006/main">
              <a:ext uri="{FF2B5EF4-FFF2-40B4-BE49-F238E27FC236}">
                <a16:creationId xmlns:a16="http://schemas.microsoft.com/office/drawing/2014/main" id="{86573DEC-1781-4E76-9114-C54A1509F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74344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Roundrect 19">
            <a:extLst xmlns:a="http://schemas.openxmlformats.org/drawingml/2006/main">
              <a:ext uri="{FF2B5EF4-FFF2-40B4-BE49-F238E27FC236}">
                <a16:creationId xmlns:a16="http://schemas.microsoft.com/office/drawing/2014/main" id="{D7D0265C-32E7-4BC5-9AC4-F1A328CE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Roundrect 20">
            <a:extLst xmlns:a="http://schemas.openxmlformats.org/drawingml/2006/main">
              <a:ext uri="{FF2B5EF4-FFF2-40B4-BE49-F238E27FC236}">
                <a16:creationId xmlns:a16="http://schemas.microsoft.com/office/drawing/2014/main" id="{2A2D0591-6C93-4B0F-A3AB-1CDABA8C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Roundrect 21">
            <a:extLst xmlns:a="http://schemas.openxmlformats.org/drawingml/2006/main">
              <a:ext uri="{FF2B5EF4-FFF2-40B4-BE49-F238E27FC236}">
                <a16:creationId xmlns:a16="http://schemas.microsoft.com/office/drawing/2014/main" id="{9D392FFB-F791-4679-96BB-B0C111E71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Roundrect 22">
            <a:extLst xmlns:a="http://schemas.openxmlformats.org/drawingml/2006/main">
              <a:ext uri="{FF2B5EF4-FFF2-40B4-BE49-F238E27FC236}">
                <a16:creationId xmlns:a16="http://schemas.microsoft.com/office/drawing/2014/main" id="{47F0ACC6-080C-4C97-9E1E-3D858817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28889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Roundrect 23">
            <a:extLst xmlns:a="http://schemas.openxmlformats.org/drawingml/2006/main">
              <a:ext uri="{FF2B5EF4-FFF2-40B4-BE49-F238E27FC236}">
                <a16:creationId xmlns:a16="http://schemas.microsoft.com/office/drawing/2014/main" id="{CFA64476-8AC5-4940-ABB7-5878E8D5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Roundrect 24">
            <a:extLst xmlns:a="http://schemas.openxmlformats.org/drawingml/2006/main">
              <a:ext uri="{FF2B5EF4-FFF2-40B4-BE49-F238E27FC236}">
                <a16:creationId xmlns:a16="http://schemas.microsoft.com/office/drawing/2014/main" id="{CB024F4E-0A9C-480C-B73A-6F9B0028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Roundrect 25">
            <a:extLst xmlns:a="http://schemas.openxmlformats.org/drawingml/2006/main">
              <a:ext uri="{FF2B5EF4-FFF2-40B4-BE49-F238E27FC236}">
                <a16:creationId xmlns:a16="http://schemas.microsoft.com/office/drawing/2014/main" id="{A2769D32-30C4-4D12-B389-3A49937E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Roundrect 26">
            <a:extLst xmlns:a="http://schemas.openxmlformats.org/drawingml/2006/main">
              <a:ext uri="{FF2B5EF4-FFF2-40B4-BE49-F238E27FC236}">
                <a16:creationId xmlns:a16="http://schemas.microsoft.com/office/drawing/2014/main" id="{D92E8251-6E84-4F9C-97CD-B49CEB3F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Roundrect 27">
            <a:extLst xmlns:a="http://schemas.openxmlformats.org/drawingml/2006/main">
              <a:ext uri="{FF2B5EF4-FFF2-40B4-BE49-F238E27FC236}">
                <a16:creationId xmlns:a16="http://schemas.microsoft.com/office/drawing/2014/main" id="{06D22A7B-3883-48E8-8CC7-260AB40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Roundrect 28">
            <a:extLst xmlns:a="http://schemas.openxmlformats.org/drawingml/2006/main">
              <a:ext uri="{FF2B5EF4-FFF2-40B4-BE49-F238E27FC236}">
                <a16:creationId xmlns:a16="http://schemas.microsoft.com/office/drawing/2014/main" id="{193ED1D9-9CB4-4EBF-B32D-5A02EAB45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83435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Roundrect 29">
            <a:extLst xmlns:a="http://schemas.openxmlformats.org/drawingml/2006/main">
              <a:ext uri="{FF2B5EF4-FFF2-40B4-BE49-F238E27FC236}">
                <a16:creationId xmlns:a16="http://schemas.microsoft.com/office/drawing/2014/main" id="{566D4BA9-894B-4447-A5CE-481854FE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Roundrect 30">
            <a:extLst xmlns:a="http://schemas.openxmlformats.org/drawingml/2006/main">
              <a:ext uri="{FF2B5EF4-FFF2-40B4-BE49-F238E27FC236}">
                <a16:creationId xmlns:a16="http://schemas.microsoft.com/office/drawing/2014/main" id="{593B434D-8A7F-4FDD-B47B-9AD4AB5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Roundrect 31">
            <a:extLst xmlns:a="http://schemas.openxmlformats.org/drawingml/2006/main">
              <a:ext uri="{FF2B5EF4-FFF2-40B4-BE49-F238E27FC236}">
                <a16:creationId xmlns:a16="http://schemas.microsoft.com/office/drawing/2014/main" id="{0FB2AF02-3C66-4032-94AF-FFC5BEB8D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414926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Roundrect 32">
            <a:extLst xmlns:a="http://schemas.openxmlformats.org/drawingml/2006/main">
              <a:ext uri="{FF2B5EF4-FFF2-40B4-BE49-F238E27FC236}">
                <a16:creationId xmlns:a16="http://schemas.microsoft.com/office/drawing/2014/main" id="{7A50D7E7-8E7B-45B0-B521-9E2F5657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Roundrect 33">
            <a:extLst xmlns:a="http://schemas.openxmlformats.org/drawingml/2006/main">
              <a:ext uri="{FF2B5EF4-FFF2-40B4-BE49-F238E27FC236}">
                <a16:creationId xmlns:a16="http://schemas.microsoft.com/office/drawing/2014/main" id="{5F50BBBC-5EA5-4E5F-9426-FBD2B497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Roundrect 34">
            <a:extLst xmlns:a="http://schemas.openxmlformats.org/drawingml/2006/main">
              <a:ext uri="{FF2B5EF4-FFF2-40B4-BE49-F238E27FC236}">
                <a16:creationId xmlns:a16="http://schemas.microsoft.com/office/drawing/2014/main" id="{077D49F4-429B-4385-855B-B513F5AA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Roundrect 35">
            <a:extLst xmlns:a="http://schemas.openxmlformats.org/drawingml/2006/main">
              <a:ext uri="{FF2B5EF4-FFF2-40B4-BE49-F238E27FC236}">
                <a16:creationId xmlns:a16="http://schemas.microsoft.com/office/drawing/2014/main" id="{E1E66030-6E68-4789-B7ED-1236E231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Roundrect 36">
            <a:extLst xmlns:a="http://schemas.openxmlformats.org/drawingml/2006/main">
              <a:ext uri="{FF2B5EF4-FFF2-40B4-BE49-F238E27FC236}">
                <a16:creationId xmlns:a16="http://schemas.microsoft.com/office/drawing/2014/main" id="{1F9AF603-109B-42DA-A40A-3945B261E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Roundrect 37">
            <a:extLst xmlns:a="http://schemas.openxmlformats.org/drawingml/2006/main">
              <a:ext uri="{FF2B5EF4-FFF2-40B4-BE49-F238E27FC236}">
                <a16:creationId xmlns:a16="http://schemas.microsoft.com/office/drawing/2014/main" id="{474E3CA8-DB1A-4039-985D-C0CB95FE8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7980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Roundrect 38">
            <a:extLst xmlns:a="http://schemas.openxmlformats.org/drawingml/2006/main">
              <a:ext uri="{FF2B5EF4-FFF2-40B4-BE49-F238E27FC236}">
                <a16:creationId xmlns:a16="http://schemas.microsoft.com/office/drawing/2014/main" id="{29DCFC5B-2360-4E9C-97D1-1AD42213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Roundrect 39">
            <a:extLst xmlns:a="http://schemas.openxmlformats.org/drawingml/2006/main">
              <a:ext uri="{FF2B5EF4-FFF2-40B4-BE49-F238E27FC236}">
                <a16:creationId xmlns:a16="http://schemas.microsoft.com/office/drawing/2014/main" id="{536C60F0-44B3-4D2B-93A9-8BB00FF2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Roundrect 40">
            <a:extLst xmlns:a="http://schemas.openxmlformats.org/drawingml/2006/main">
              <a:ext uri="{FF2B5EF4-FFF2-40B4-BE49-F238E27FC236}">
                <a16:creationId xmlns:a16="http://schemas.microsoft.com/office/drawing/2014/main" id="{00F33C53-427D-4D52-AEBC-AA499C44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Roundrect 41">
            <a:extLst xmlns:a="http://schemas.openxmlformats.org/drawingml/2006/main">
              <a:ext uri="{FF2B5EF4-FFF2-40B4-BE49-F238E27FC236}">
                <a16:creationId xmlns:a16="http://schemas.microsoft.com/office/drawing/2014/main" id="{2C744237-98E8-472F-A09B-8D31FF3E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31698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Roundrect 42">
            <a:extLst xmlns:a="http://schemas.openxmlformats.org/drawingml/2006/main">
              <a:ext uri="{FF2B5EF4-FFF2-40B4-BE49-F238E27FC236}">
                <a16:creationId xmlns:a16="http://schemas.microsoft.com/office/drawing/2014/main" id="{A485C64C-8465-4BF3-8E3F-44506EECE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558944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Roundrect 43">
            <a:extLst xmlns:a="http://schemas.openxmlformats.org/drawingml/2006/main">
              <a:ext uri="{FF2B5EF4-FFF2-40B4-BE49-F238E27FC236}">
                <a16:creationId xmlns:a16="http://schemas.microsoft.com/office/drawing/2014/main" id="{1707EEDD-04D1-4210-B6AD-34D60EC0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7574556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Roundrect 44">
            <a:extLst xmlns:a="http://schemas.openxmlformats.org/drawingml/2006/main">
              <a:ext uri="{FF2B5EF4-FFF2-40B4-BE49-F238E27FC236}">
                <a16:creationId xmlns:a16="http://schemas.microsoft.com/office/drawing/2014/main" id="{2F29643E-639C-4D1D-B9FC-774798F3C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92526" y="8742268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Roundrect 45">
            <a:extLst xmlns:a="http://schemas.openxmlformats.org/drawingml/2006/main">
              <a:ext uri="{FF2B5EF4-FFF2-40B4-BE49-F238E27FC236}">
                <a16:creationId xmlns:a16="http://schemas.microsoft.com/office/drawing/2014/main" id="{D766F782-797D-45D0-AA14-0082F34A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189169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Roundrect 46">
            <a:extLst xmlns:a="http://schemas.openxmlformats.org/drawingml/2006/main">
              <a:ext uri="{FF2B5EF4-FFF2-40B4-BE49-F238E27FC236}">
                <a16:creationId xmlns:a16="http://schemas.microsoft.com/office/drawing/2014/main" id="{875536EA-4986-44A9-8DB7-54BFFEBF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164159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Roundrect 47">
            <a:extLst xmlns:a="http://schemas.openxmlformats.org/drawingml/2006/main">
              <a:ext uri="{FF2B5EF4-FFF2-40B4-BE49-F238E27FC236}">
                <a16:creationId xmlns:a16="http://schemas.microsoft.com/office/drawing/2014/main" id="{0D7DCB95-5AD2-4FD7-82E6-E825B591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2436625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Roundrect 48">
            <a:extLst xmlns:a="http://schemas.openxmlformats.org/drawingml/2006/main">
              <a:ext uri="{FF2B5EF4-FFF2-40B4-BE49-F238E27FC236}">
                <a16:creationId xmlns:a16="http://schemas.microsoft.com/office/drawing/2014/main" id="{E74ACE44-9F15-4E38-A97E-0A5019911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604337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Roundrect 49">
            <a:extLst xmlns:a="http://schemas.openxmlformats.org/drawingml/2006/main">
              <a:ext uri="{FF2B5EF4-FFF2-40B4-BE49-F238E27FC236}">
                <a16:creationId xmlns:a16="http://schemas.microsoft.com/office/drawing/2014/main" id="{150F6E9F-9756-47D2-BB62-673703A2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3876803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Roundrect 50">
            <a:extLst xmlns:a="http://schemas.openxmlformats.org/drawingml/2006/main">
              <a:ext uri="{FF2B5EF4-FFF2-40B4-BE49-F238E27FC236}">
                <a16:creationId xmlns:a16="http://schemas.microsoft.com/office/drawing/2014/main" id="{E64363B0-82DB-4D5C-92BD-80987C81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5861912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Roundrect 51">
            <a:extLst xmlns:a="http://schemas.openxmlformats.org/drawingml/2006/main">
              <a:ext uri="{FF2B5EF4-FFF2-40B4-BE49-F238E27FC236}">
                <a16:creationId xmlns:a16="http://schemas.microsoft.com/office/drawing/2014/main" id="{55C9F22A-7687-4C80-9CD7-E869A9117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029624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Roundrect 52">
            <a:extLst xmlns:a="http://schemas.openxmlformats.org/drawingml/2006/main">
              <a:ext uri="{FF2B5EF4-FFF2-40B4-BE49-F238E27FC236}">
                <a16:creationId xmlns:a16="http://schemas.microsoft.com/office/drawing/2014/main" id="{AFD6CBC6-F95C-4578-9C7F-C8B33261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47071" y="7302090"/>
            <a:ext cx="1276698" cy="350313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3" name="Line 53">
            <a:extLst xmlns:a="http://schemas.openxmlformats.org/drawingml/2006/main">
              <a:ext uri="{FF2B5EF4-FFF2-40B4-BE49-F238E27FC236}">
                <a16:creationId xmlns:a16="http://schemas.microsoft.com/office/drawing/2014/main" id="{A49BB275-A0B4-425D-A531-771D5A2B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138398" y="2179728"/>
            <a:ext cx="0" cy="720088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707783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Line 54">
            <a:extLst xmlns:a="http://schemas.openxmlformats.org/drawingml/2006/main">
              <a:ext uri="{FF2B5EF4-FFF2-40B4-BE49-F238E27FC236}">
                <a16:creationId xmlns:a16="http://schemas.microsoft.com/office/drawing/2014/main" id="{90B5E8B9-710F-4EF9-9888-8C52D284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2335423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Line 55">
            <a:extLst xmlns:a="http://schemas.openxmlformats.org/drawingml/2006/main">
              <a:ext uri="{FF2B5EF4-FFF2-40B4-BE49-F238E27FC236}">
                <a16:creationId xmlns:a16="http://schemas.microsoft.com/office/drawing/2014/main" id="{4F4B3EE6-17CC-41CE-9789-94EB6F2B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4048067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Line 56">
            <a:extLst xmlns:a="http://schemas.openxmlformats.org/drawingml/2006/main">
              <a:ext uri="{FF2B5EF4-FFF2-40B4-BE49-F238E27FC236}">
                <a16:creationId xmlns:a16="http://schemas.microsoft.com/office/drawing/2014/main" id="{488E86DA-D913-4C7D-852C-DDD1A27A1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5760711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7" name="Line 57">
            <a:extLst xmlns:a="http://schemas.openxmlformats.org/drawingml/2006/main">
              <a:ext uri="{FF2B5EF4-FFF2-40B4-BE49-F238E27FC236}">
                <a16:creationId xmlns:a16="http://schemas.microsoft.com/office/drawing/2014/main" id="{8C2CC6DA-314E-4BB6-956E-6445F844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7473354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Line 58">
            <a:extLst xmlns:a="http://schemas.openxmlformats.org/drawingml/2006/main">
              <a:ext uri="{FF2B5EF4-FFF2-40B4-BE49-F238E27FC236}">
                <a16:creationId xmlns:a16="http://schemas.microsoft.com/office/drawing/2014/main" id="{EA1E74F6-9C10-4EDD-BF98-AE1DE16D8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278523" y="9185998"/>
            <a:ext cx="84075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CE3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9" name="Line 59">
            <a:extLst xmlns:a="http://schemas.openxmlformats.org/drawingml/2006/main">
              <a:ext uri="{FF2B5EF4-FFF2-40B4-BE49-F238E27FC236}">
                <a16:creationId xmlns:a16="http://schemas.microsoft.com/office/drawing/2014/main" id="{19643085-F86B-467B-ABA8-805875CA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2693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Line 60">
            <a:extLst xmlns:a="http://schemas.openxmlformats.org/drawingml/2006/main">
              <a:ext uri="{FF2B5EF4-FFF2-40B4-BE49-F238E27FC236}">
                <a16:creationId xmlns:a16="http://schemas.microsoft.com/office/drawing/2014/main" id="{6EDFC77B-1550-41F9-BD59-6734B8E9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567238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1" name="Line 61">
            <a:extLst xmlns:a="http://schemas.openxmlformats.org/drawingml/2006/main">
              <a:ext uri="{FF2B5EF4-FFF2-40B4-BE49-F238E27FC236}">
                <a16:creationId xmlns:a16="http://schemas.microsoft.com/office/drawing/2014/main" id="{2C1527C2-A3D4-475B-AE34-CC425B6D7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921784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Line 62">
            <a:extLst xmlns:a="http://schemas.openxmlformats.org/drawingml/2006/main">
              <a:ext uri="{FF2B5EF4-FFF2-40B4-BE49-F238E27FC236}">
                <a16:creationId xmlns:a16="http://schemas.microsoft.com/office/drawing/2014/main" id="{98210928-FCC5-407F-B82F-C712444F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276329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3" name="Line 63">
            <a:extLst xmlns:a="http://schemas.openxmlformats.org/drawingml/2006/main">
              <a:ext uri="{FF2B5EF4-FFF2-40B4-BE49-F238E27FC236}">
                <a16:creationId xmlns:a16="http://schemas.microsoft.com/office/drawing/2014/main" id="{E5570E4C-ED8F-43D4-BA17-9F528B3C2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30875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Line 64">
            <a:extLst xmlns:a="http://schemas.openxmlformats.org/drawingml/2006/main">
              <a:ext uri="{FF2B5EF4-FFF2-40B4-BE49-F238E27FC236}">
                <a16:creationId xmlns:a16="http://schemas.microsoft.com/office/drawing/2014/main" id="{D744A9AE-7C32-4062-BC4C-920DE687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85420" y="2117450"/>
            <a:ext cx="0" cy="734879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5" name="Ellipse 65">
            <a:extLst xmlns:a="http://schemas.openxmlformats.org/drawingml/2006/main">
              <a:ext uri="{FF2B5EF4-FFF2-40B4-BE49-F238E27FC236}">
                <a16:creationId xmlns:a16="http://schemas.microsoft.com/office/drawing/2014/main" id="{15CA0357-D4F3-4DE5-BF67-10FE4B40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095921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B9832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6" name="Ellipse 66">
            <a:extLst xmlns:a="http://schemas.openxmlformats.org/drawingml/2006/main">
              <a:ext uri="{FF2B5EF4-FFF2-40B4-BE49-F238E27FC236}">
                <a16:creationId xmlns:a16="http://schemas.microsoft.com/office/drawing/2014/main" id="{DEBE4BDB-21A0-4D37-AEFE-BC5B6954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450467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C8D7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7" name="Ellipse 67">
            <a:extLst xmlns:a="http://schemas.openxmlformats.org/drawingml/2006/main">
              <a:ext uri="{FF2B5EF4-FFF2-40B4-BE49-F238E27FC236}">
                <a16:creationId xmlns:a16="http://schemas.microsoft.com/office/drawing/2014/main" id="{98CE8B5A-7733-4DD4-8F67-4B8FB776D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05012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F7BAD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8" name="Ellipse 68">
            <a:extLst xmlns:a="http://schemas.openxmlformats.org/drawingml/2006/main">
              <a:ext uri="{FF2B5EF4-FFF2-40B4-BE49-F238E27FC236}">
                <a16:creationId xmlns:a16="http://schemas.microsoft.com/office/drawing/2014/main" id="{B59D6D27-8E2F-4727-851A-2112BCC50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59558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C16A58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9" name="Ellipse 69">
            <a:extLst xmlns:a="http://schemas.openxmlformats.org/drawingml/2006/main">
              <a:ext uri="{FF2B5EF4-FFF2-40B4-BE49-F238E27FC236}">
                <a16:creationId xmlns:a16="http://schemas.microsoft.com/office/drawing/2014/main" id="{7AD577C2-130C-4944-9F83-1D215ADCD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514103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8561A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0" name="Ellipse 70">
            <a:extLst xmlns:a="http://schemas.openxmlformats.org/drawingml/2006/main">
              <a:ext uri="{FF2B5EF4-FFF2-40B4-BE49-F238E27FC236}">
                <a16:creationId xmlns:a16="http://schemas.microsoft.com/office/drawing/2014/main" id="{FD70318F-FF2D-407B-8E37-53A023FC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8649" y="879676"/>
            <a:ext cx="155695" cy="155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>
            <a:solidFill>
              <a:srgbClr val="3B8791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1" name="TextBox 71">
            <a:extLst xmlns:a="http://schemas.openxmlformats.org/drawingml/2006/main">
              <a:ext uri="{FF2B5EF4-FFF2-40B4-BE49-F238E27FC236}">
                <a16:creationId xmlns:a16="http://schemas.microsoft.com/office/drawing/2014/main" id="{B35055E4-1AF1-4DB5-9D4E-1CAD60C0A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9286" y="171264"/>
            <a:ext cx="7006270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12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Research routes in Time-Series Agent systems</a:t>
            </a:r>
            <a:endParaRPr sz="2120"/>
          </a:p>
        </p:txBody>
      </p:sp>
      <p:sp>
        <p:nvSpPr>
          <p:cNvPr id="72" name="TextBox 72">
            <a:extLst xmlns:a="http://schemas.openxmlformats.org/drawingml/2006/main">
              <a:ext uri="{FF2B5EF4-FFF2-40B4-BE49-F238E27FC236}">
                <a16:creationId xmlns:a16="http://schemas.microsoft.com/office/drawing/2014/main" id="{4D78F13C-B22D-4962-A812-33FF8881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904856" y="560502"/>
            <a:ext cx="7629049" cy="2802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20" b="1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Representative module contributions by first public year | LLM and Harness layers</a:t>
            </a:r>
            <a:endParaRPr sz="1320"/>
          </a:p>
        </p:txBody>
      </p:sp>
      <p:sp>
        <p:nvSpPr>
          <p:cNvPr id="73" name="TextBox 73">
            <a:extLst xmlns:a="http://schemas.openxmlformats.org/drawingml/2006/main">
              <a:ext uri="{FF2B5EF4-FFF2-40B4-BE49-F238E27FC236}">
                <a16:creationId xmlns:a16="http://schemas.microsoft.com/office/drawing/2014/main" id="{D1202BD3-7ADC-4117-A8F4-416855EE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LLM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B9832E"/>
                </a:solidFill>
                <a:latin typeface="PingFang SC"/>
                <a:ea typeface="PingFang SC"/>
                <a:cs typeface="PingFang SC"/>
              </a:rPr>
              <a:t>side</a:t>
            </a:r>
            <a:endParaRPr sz="1310"/>
          </a:p>
        </p:txBody>
      </p:sp>
      <p:sp>
        <p:nvSpPr>
          <p:cNvPr id="74" name="TextBox 74">
            <a:extLst xmlns:a="http://schemas.openxmlformats.org/drawingml/2006/main">
              <a:ext uri="{FF2B5EF4-FFF2-40B4-BE49-F238E27FC236}">
                <a16:creationId xmlns:a16="http://schemas.microsoft.com/office/drawing/2014/main" id="{D576D402-8702-46FC-8748-80B1E08A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Representation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Alignment</a:t>
            </a:r>
            <a:endParaRPr sz="910"/>
          </a:p>
        </p:txBody>
      </p:sp>
      <p:sp>
        <p:nvSpPr>
          <p:cNvPr id="75" name="TextBox 75">
            <a:extLst xmlns:a="http://schemas.openxmlformats.org/drawingml/2006/main">
              <a:ext uri="{FF2B5EF4-FFF2-40B4-BE49-F238E27FC236}">
                <a16:creationId xmlns:a16="http://schemas.microsoft.com/office/drawing/2014/main" id="{40071AA3-EE31-4755-9732-E02540C0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General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C8D76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6" name="TextBox 76">
            <a:extLst xmlns:a="http://schemas.openxmlformats.org/drawingml/2006/main">
              <a:ext uri="{FF2B5EF4-FFF2-40B4-BE49-F238E27FC236}">
                <a16:creationId xmlns:a16="http://schemas.microsoft.com/office/drawing/2014/main" id="{5BFB02D5-1F0A-4499-9C96-11AB8906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Tools and memory</a:t>
            </a:r>
            <a:endParaRPr sz="819"/>
          </a:p>
          <a:p xmlns:a="http://schemas.openxmlformats.org/drawingml/2006/main">
            <a:pPr algn="ctr">
              <a:buNone/>
            </a:pPr>
            <a:r>
              <a:rPr sz="819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Control and planning</a:t>
            </a:r>
            <a:endParaRPr sz="819"/>
          </a:p>
        </p:txBody>
      </p:sp>
      <p:sp>
        <p:nvSpPr>
          <p:cNvPr id="77" name="TextBox 77">
            <a:extLst xmlns:a="http://schemas.openxmlformats.org/drawingml/2006/main">
              <a:ext uri="{FF2B5EF4-FFF2-40B4-BE49-F238E27FC236}">
                <a16:creationId xmlns:a16="http://schemas.microsoft.com/office/drawing/2014/main" id="{D40E9388-F1AB-421E-BF2D-93D86588B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General Time-Series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F7BAD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78" name="TextBox 78">
            <a:extLst xmlns:a="http://schemas.openxmlformats.org/drawingml/2006/main">
              <a:ext uri="{FF2B5EF4-FFF2-40B4-BE49-F238E27FC236}">
                <a16:creationId xmlns:a16="http://schemas.microsoft.com/office/drawing/2014/main" id="{E78CC72D-4B95-4F61-A063-2F50A083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Temporal state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Operations and grounding</a:t>
            </a:r>
            <a:endParaRPr sz="910"/>
          </a:p>
        </p:txBody>
      </p:sp>
      <p:sp>
        <p:nvSpPr>
          <p:cNvPr id="79" name="TextBox 79">
            <a:extLst xmlns:a="http://schemas.openxmlformats.org/drawingml/2006/main">
              <a:ext uri="{FF2B5EF4-FFF2-40B4-BE49-F238E27FC236}">
                <a16:creationId xmlns:a16="http://schemas.microsoft.com/office/drawing/2014/main" id="{5322FF8E-614C-48FC-977C-8623B6797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Task-Specific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C16A58"/>
                </a:solidFill>
                <a:latin typeface="PingFang SC"/>
                <a:ea typeface="PingFang SC"/>
                <a:cs typeface="PingFang SC"/>
              </a:rPr>
              <a:t>Harness</a:t>
            </a:r>
            <a:endParaRPr sz="1310"/>
          </a:p>
        </p:txBody>
      </p:sp>
      <p:sp>
        <p:nvSpPr>
          <p:cNvPr id="80" name="TextBox 80">
            <a:extLst xmlns:a="http://schemas.openxmlformats.org/drawingml/2006/main">
              <a:ext uri="{FF2B5EF4-FFF2-40B4-BE49-F238E27FC236}">
                <a16:creationId xmlns:a16="http://schemas.microsoft.com/office/drawing/2014/main" id="{BDE04687-860D-46FD-963A-1BC4426E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Forecasting and prediction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Anomaly and diagnosis</a:t>
            </a:r>
            <a:endParaRPr sz="860"/>
          </a:p>
        </p:txBody>
      </p:sp>
      <p:sp>
        <p:nvSpPr>
          <p:cNvPr id="81" name="TextBox 81">
            <a:extLst xmlns:a="http://schemas.openxmlformats.org/drawingml/2006/main">
              <a:ext uri="{FF2B5EF4-FFF2-40B4-BE49-F238E27FC236}">
                <a16:creationId xmlns:a16="http://schemas.microsoft.com/office/drawing/2014/main" id="{B3ECB629-FF51-4758-B593-3B044D715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Infrastructure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8561A3"/>
                </a:solidFill>
                <a:latin typeface="PingFang SC"/>
                <a:ea typeface="PingFang SC"/>
                <a:cs typeface="PingFang SC"/>
              </a:rPr>
              <a:t>and benchmarks</a:t>
            </a:r>
            <a:endParaRPr sz="1310"/>
          </a:p>
        </p:txBody>
      </p:sp>
      <p:sp>
        <p:nvSpPr>
          <p:cNvPr id="82" name="TextBox 82">
            <a:extLst xmlns:a="http://schemas.openxmlformats.org/drawingml/2006/main">
              <a:ext uri="{FF2B5EF4-FFF2-40B4-BE49-F238E27FC236}">
                <a16:creationId xmlns:a16="http://schemas.microsoft.com/office/drawing/2014/main" id="{6688A36F-2F5C-4C30-A75C-97328628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Episodes, traces</a:t>
            </a:r>
            <a:endParaRPr sz="910"/>
          </a:p>
          <a:p xmlns:a="http://schemas.openxmlformats.org/drawingml/2006/main">
            <a:pPr algn="ctr">
              <a:buNone/>
            </a:pPr>
            <a:r>
              <a:rPr sz="91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TimeSeriesGym and ModernTSF</a:t>
            </a:r>
            <a:endParaRPr sz="910"/>
          </a:p>
        </p:txBody>
      </p:sp>
      <p:sp>
        <p:nvSpPr>
          <p:cNvPr id="83" name="TextBox 83">
            <a:extLst xmlns:a="http://schemas.openxmlformats.org/drawingml/2006/main">
              <a:ext uri="{FF2B5EF4-FFF2-40B4-BE49-F238E27FC236}">
                <a16:creationId xmlns:a16="http://schemas.microsoft.com/office/drawing/2014/main" id="{3185B2A4-F4F4-4226-9135-D56BF406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949739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Paper-card</a:t>
            </a:r>
            <a:endParaRPr sz="1310"/>
          </a:p>
          <a:p xmlns:a="http://schemas.openxmlformats.org/drawingml/2006/main">
            <a:pPr algn="ctr">
              <a:buNone/>
            </a:pPr>
            <a:r>
              <a:rPr sz="1310" b="1">
                <a:solidFill>
                  <a:srgbClr val="3B8791"/>
                </a:solidFill>
                <a:latin typeface="PingFang SC"/>
                <a:ea typeface="PingFang SC"/>
                <a:cs typeface="PingFang SC"/>
              </a:rPr>
              <a:t>database</a:t>
            </a:r>
            <a:endParaRPr sz="1310"/>
          </a:p>
        </p:txBody>
      </p:sp>
      <p:sp>
        <p:nvSpPr>
          <p:cNvPr id="84" name="TextBox 84">
            <a:extLst xmlns:a="http://schemas.openxmlformats.org/drawingml/2006/main">
              <a:ext uri="{FF2B5EF4-FFF2-40B4-BE49-F238E27FC236}">
                <a16:creationId xmlns:a16="http://schemas.microsoft.com/office/drawing/2014/main" id="{77600D55-F45E-4F1A-BB3E-549416D2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401254"/>
            <a:ext cx="1121003" cy="4048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Claim, evidence</a:t>
            </a:r>
            <a:endParaRPr sz="860"/>
          </a:p>
          <a:p xmlns:a="http://schemas.openxmlformats.org/drawingml/2006/main">
            <a:pPr algn="ctr">
              <a:buNone/>
            </a:pPr>
            <a:r>
              <a:rPr sz="86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module-level counts</a:t>
            </a:r>
            <a:endParaRPr sz="860"/>
          </a:p>
        </p:txBody>
      </p:sp>
      <p:sp>
        <p:nvSpPr>
          <p:cNvPr id="85" name="TextBox 85">
            <a:extLst xmlns:a="http://schemas.openxmlformats.org/drawingml/2006/main">
              <a:ext uri="{FF2B5EF4-FFF2-40B4-BE49-F238E27FC236}">
                <a16:creationId xmlns:a16="http://schemas.microsoft.com/office/drawing/2014/main" id="{7CD9522C-028D-4BC1-AEBA-2F5E42278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2242006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2026</a:t>
            </a:r>
            <a:endParaRPr sz="1400"/>
          </a:p>
        </p:txBody>
      </p:sp>
      <p:sp>
        <p:nvSpPr>
          <p:cNvPr id="86" name="TextBox 86">
            <a:extLst xmlns:a="http://schemas.openxmlformats.org/drawingml/2006/main">
              <a:ext uri="{FF2B5EF4-FFF2-40B4-BE49-F238E27FC236}">
                <a16:creationId xmlns:a16="http://schemas.microsoft.com/office/drawing/2014/main" id="{92C1E2D9-1166-4028-92A6-664B7AE1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3954650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2025</a:t>
            </a:r>
            <a:endParaRPr sz="1400"/>
          </a:p>
        </p:txBody>
      </p:sp>
      <p:sp>
        <p:nvSpPr>
          <p:cNvPr id="87" name="TextBox 87">
            <a:extLst xmlns:a="http://schemas.openxmlformats.org/drawingml/2006/main">
              <a:ext uri="{FF2B5EF4-FFF2-40B4-BE49-F238E27FC236}">
                <a16:creationId xmlns:a16="http://schemas.microsoft.com/office/drawing/2014/main" id="{7DEBDAB9-7A31-4DEF-A3DD-4B0975FB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5667294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2024</a:t>
            </a:r>
            <a:endParaRPr sz="1400"/>
          </a:p>
        </p:txBody>
      </p:sp>
      <p:sp>
        <p:nvSpPr>
          <p:cNvPr id="88" name="TextBox 88">
            <a:extLst xmlns:a="http://schemas.openxmlformats.org/drawingml/2006/main">
              <a:ext uri="{FF2B5EF4-FFF2-40B4-BE49-F238E27FC236}">
                <a16:creationId xmlns:a16="http://schemas.microsoft.com/office/drawing/2014/main" id="{52112CE3-5CE9-42F1-8995-04AD06A3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7379938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2023</a:t>
            </a:r>
            <a:endParaRPr sz="1400"/>
          </a:p>
        </p:txBody>
      </p:sp>
      <p:sp>
        <p:nvSpPr>
          <p:cNvPr id="89" name="TextBox 89">
            <a:extLst xmlns:a="http://schemas.openxmlformats.org/drawingml/2006/main">
              <a:ext uri="{FF2B5EF4-FFF2-40B4-BE49-F238E27FC236}">
                <a16:creationId xmlns:a16="http://schemas.microsoft.com/office/drawing/2014/main" id="{5576AE78-8F4D-470E-9CE6-1E935501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58147" y="9092581"/>
            <a:ext cx="544932" cy="233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424B5B"/>
                </a:solidFill>
                <a:latin typeface="PingFang SC"/>
                <a:ea typeface="PingFang SC"/>
                <a:cs typeface="PingFang SC"/>
              </a:rPr>
              <a:t>2022</a:t>
            </a:r>
            <a:endParaRPr sz="1400"/>
          </a:p>
        </p:txBody>
      </p:sp>
      <p:sp>
        <p:nvSpPr>
          <p:cNvPr id="90" name="TextBox 90">
            <a:extLst xmlns:a="http://schemas.openxmlformats.org/drawingml/2006/main">
              <a:ext uri="{FF2B5EF4-FFF2-40B4-BE49-F238E27FC236}">
                <a16:creationId xmlns:a16="http://schemas.microsoft.com/office/drawing/2014/main" id="{E88269F7-AAC6-448E-BF5B-0FE266D5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ChatTS</a:t>
            </a:r>
            <a:endParaRPr sz="1100"/>
          </a:p>
        </p:txBody>
      </p:sp>
      <p:sp>
        <p:nvSpPr>
          <p:cNvPr id="91" name="TextBox 91">
            <a:extLst xmlns:a="http://schemas.openxmlformats.org/drawingml/2006/main">
              <a:ext uri="{FF2B5EF4-FFF2-40B4-BE49-F238E27FC236}">
                <a16:creationId xmlns:a16="http://schemas.microsoft.com/office/drawing/2014/main" id="{36622AE6-5599-4E43-AEB7-45E57539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Time-LLM</a:t>
            </a:r>
            <a:endParaRPr sz="1100"/>
          </a:p>
        </p:txBody>
      </p:sp>
      <p:sp>
        <p:nvSpPr>
          <p:cNvPr id="92" name="TextBox 92">
            <a:extLst xmlns:a="http://schemas.openxmlformats.org/drawingml/2006/main">
              <a:ext uri="{FF2B5EF4-FFF2-40B4-BE49-F238E27FC236}">
                <a16:creationId xmlns:a16="http://schemas.microsoft.com/office/drawing/2014/main" id="{0B93C1B7-2BD0-4574-BE4A-A7481E53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LLM4TS</a:t>
            </a:r>
            <a:endParaRPr sz="1100"/>
          </a:p>
        </p:txBody>
      </p:sp>
      <p:sp>
        <p:nvSpPr>
          <p:cNvPr id="93" name="TextBox 93">
            <a:extLst xmlns:a="http://schemas.openxmlformats.org/drawingml/2006/main">
              <a:ext uri="{FF2B5EF4-FFF2-40B4-BE49-F238E27FC236}">
                <a16:creationId xmlns:a16="http://schemas.microsoft.com/office/drawing/2014/main" id="{77082A11-0FFA-4B02-8B01-29BBCDBA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TimeMaster</a:t>
            </a:r>
            <a:endParaRPr sz="1100"/>
          </a:p>
        </p:txBody>
      </p:sp>
      <p:sp>
        <p:nvSpPr>
          <p:cNvPr id="94" name="TextBox 94">
            <a:extLst xmlns:a="http://schemas.openxmlformats.org/drawingml/2006/main">
              <a:ext uri="{FF2B5EF4-FFF2-40B4-BE49-F238E27FC236}">
                <a16:creationId xmlns:a16="http://schemas.microsoft.com/office/drawing/2014/main" id="{4EFED0B5-094A-4B38-9AC4-484127BF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TS-Agent</a:t>
            </a:r>
            <a:endParaRPr sz="1100"/>
          </a:p>
        </p:txBody>
      </p:sp>
      <p:sp>
        <p:nvSpPr>
          <p:cNvPr id="95" name="TextBox 95">
            <a:extLst xmlns:a="http://schemas.openxmlformats.org/drawingml/2006/main">
              <a:ext uri="{FF2B5EF4-FFF2-40B4-BE49-F238E27FC236}">
                <a16:creationId xmlns:a16="http://schemas.microsoft.com/office/drawing/2014/main" id="{71E05B5B-9437-42E0-AEF4-D0DD8D49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TimeART</a:t>
            </a:r>
            <a:endParaRPr sz="1100"/>
          </a:p>
        </p:txBody>
      </p:sp>
      <p:sp>
        <p:nvSpPr>
          <p:cNvPr id="96" name="TextBox 96">
            <a:extLst xmlns:a="http://schemas.openxmlformats.org/drawingml/2006/main">
              <a:ext uri="{FF2B5EF4-FFF2-40B4-BE49-F238E27FC236}">
                <a16:creationId xmlns:a16="http://schemas.microsoft.com/office/drawing/2014/main" id="{48047037-4AAE-40CE-8B43-012B7D4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AION</a:t>
            </a:r>
            <a:endParaRPr sz="1100"/>
          </a:p>
        </p:txBody>
      </p:sp>
      <p:sp>
        <p:nvSpPr>
          <p:cNvPr id="97" name="TextBox 97">
            <a:extLst xmlns:a="http://schemas.openxmlformats.org/drawingml/2006/main">
              <a:ext uri="{FF2B5EF4-FFF2-40B4-BE49-F238E27FC236}">
                <a16:creationId xmlns:a16="http://schemas.microsoft.com/office/drawing/2014/main" id="{05F52E68-D321-4F58-9F68-7FB0F67F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TimeClaw</a:t>
            </a:r>
            <a:endParaRPr sz="1100"/>
          </a:p>
        </p:txBody>
      </p:sp>
      <p:sp>
        <p:nvSpPr>
          <p:cNvPr id="98" name="TextBox 98">
            <a:extLst xmlns:a="http://schemas.openxmlformats.org/drawingml/2006/main">
              <a:ext uri="{FF2B5EF4-FFF2-40B4-BE49-F238E27FC236}">
                <a16:creationId xmlns:a16="http://schemas.microsoft.com/office/drawing/2014/main" id="{AD144097-2225-4D44-B769-523FAC31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932612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Memory Bank</a:t>
            </a:r>
            <a:endParaRPr sz="1100"/>
          </a:p>
        </p:txBody>
      </p:sp>
      <p:sp>
        <p:nvSpPr>
          <p:cNvPr id="99" name="TextBox 99">
            <a:extLst xmlns:a="http://schemas.openxmlformats.org/drawingml/2006/main">
              <a:ext uri="{FF2B5EF4-FFF2-40B4-BE49-F238E27FC236}">
                <a16:creationId xmlns:a16="http://schemas.microsoft.com/office/drawing/2014/main" id="{636AD5C7-8EC8-4EC6-BDEB-F1CEC66C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613267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Reflection</a:t>
            </a:r>
            <a:endParaRPr sz="1100"/>
          </a:p>
        </p:txBody>
      </p:sp>
      <p:sp>
        <p:nvSpPr>
          <p:cNvPr id="100" name="TextBox 100">
            <a:extLst xmlns:a="http://schemas.openxmlformats.org/drawingml/2006/main">
              <a:ext uri="{FF2B5EF4-FFF2-40B4-BE49-F238E27FC236}">
                <a16:creationId xmlns:a16="http://schemas.microsoft.com/office/drawing/2014/main" id="{8E82A618-D839-4A93-90A2-1B722935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TimeCAP</a:t>
            </a:r>
            <a:endParaRPr sz="1100"/>
          </a:p>
        </p:txBody>
      </p:sp>
      <p:sp>
        <p:nvSpPr>
          <p:cNvPr id="101" name="TextBox 101">
            <a:extLst xmlns:a="http://schemas.openxmlformats.org/drawingml/2006/main">
              <a:ext uri="{FF2B5EF4-FFF2-40B4-BE49-F238E27FC236}">
                <a16:creationId xmlns:a16="http://schemas.microsoft.com/office/drawing/2014/main" id="{F03E3285-76CB-476C-B81F-1B0E28C98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Temporal grounding</a:t>
            </a:r>
            <a:endParaRPr sz="1100"/>
          </a:p>
        </p:txBody>
      </p:sp>
      <p:sp>
        <p:nvSpPr>
          <p:cNvPr id="102" name="TextBox 102">
            <a:extLst xmlns:a="http://schemas.openxmlformats.org/drawingml/2006/main">
              <a:ext uri="{FF2B5EF4-FFF2-40B4-BE49-F238E27FC236}">
                <a16:creationId xmlns:a16="http://schemas.microsoft.com/office/drawing/2014/main" id="{7DA9DC89-E3C0-4A12-A37F-DA806DF7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Forecasting</a:t>
            </a:r>
            <a:endParaRPr sz="1100"/>
          </a:p>
        </p:txBody>
      </p:sp>
      <p:sp>
        <p:nvSpPr>
          <p:cNvPr id="103" name="TextBox 103">
            <a:extLst xmlns:a="http://schemas.openxmlformats.org/drawingml/2006/main">
              <a:ext uri="{FF2B5EF4-FFF2-40B4-BE49-F238E27FC236}">
                <a16:creationId xmlns:a16="http://schemas.microsoft.com/office/drawing/2014/main" id="{5F4A0401-29E7-4E79-A2DC-D0EED49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67813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Anomaly diagnosis</a:t>
            </a:r>
            <a:endParaRPr sz="1100"/>
          </a:p>
        </p:txBody>
      </p:sp>
      <p:sp>
        <p:nvSpPr>
          <p:cNvPr id="104" name="TextBox 104">
            <a:extLst xmlns:a="http://schemas.openxmlformats.org/drawingml/2006/main">
              <a:ext uri="{FF2B5EF4-FFF2-40B4-BE49-F238E27FC236}">
                <a16:creationId xmlns:a16="http://schemas.microsoft.com/office/drawing/2014/main" id="{56371C1F-8A0D-4E4D-B7E1-56723ABD8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Augmentation</a:t>
            </a:r>
            <a:endParaRPr sz="1100"/>
          </a:p>
        </p:txBody>
      </p:sp>
      <p:sp>
        <p:nvSpPr>
          <p:cNvPr id="105" name="TextBox 105">
            <a:extLst xmlns:a="http://schemas.openxmlformats.org/drawingml/2006/main">
              <a:ext uri="{FF2B5EF4-FFF2-40B4-BE49-F238E27FC236}">
                <a16:creationId xmlns:a16="http://schemas.microsoft.com/office/drawing/2014/main" id="{FC55B102-9829-4C92-B206-C82E2A41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Decision support</a:t>
            </a:r>
            <a:endParaRPr sz="980"/>
          </a:p>
        </p:txBody>
      </p:sp>
      <p:sp>
        <p:nvSpPr>
          <p:cNvPr id="106" name="TextBox 106">
            <a:extLst xmlns:a="http://schemas.openxmlformats.org/drawingml/2006/main">
              <a:ext uri="{FF2B5EF4-FFF2-40B4-BE49-F238E27FC236}">
                <a16:creationId xmlns:a16="http://schemas.microsoft.com/office/drawing/2014/main" id="{E6F07D55-5BF4-459A-A7C8-352F4920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ModernTSF</a:t>
            </a:r>
            <a:endParaRPr sz="1100"/>
          </a:p>
        </p:txBody>
      </p:sp>
      <p:sp>
        <p:nvSpPr>
          <p:cNvPr id="107" name="TextBox 107">
            <a:extLst xmlns:a="http://schemas.openxmlformats.org/drawingml/2006/main">
              <a:ext uri="{FF2B5EF4-FFF2-40B4-BE49-F238E27FC236}">
                <a16:creationId xmlns:a16="http://schemas.microsoft.com/office/drawing/2014/main" id="{7B34BD97-DB61-4990-9C16-DABC7C28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TimeSeriesGym</a:t>
            </a:r>
            <a:endParaRPr sz="1100"/>
          </a:p>
        </p:txBody>
      </p:sp>
      <p:sp>
        <p:nvSpPr>
          <p:cNvPr id="108" name="TextBox 108">
            <a:extLst xmlns:a="http://schemas.openxmlformats.org/drawingml/2006/main">
              <a:ext uri="{FF2B5EF4-FFF2-40B4-BE49-F238E27FC236}">
                <a16:creationId xmlns:a16="http://schemas.microsoft.com/office/drawing/2014/main" id="{57B93163-BA77-48AA-89C6-E30E7B1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TFRBench</a:t>
            </a:r>
            <a:endParaRPr sz="1100"/>
          </a:p>
        </p:txBody>
      </p:sp>
      <p:sp>
        <p:nvSpPr>
          <p:cNvPr id="109" name="TextBox 109">
            <a:extLst xmlns:a="http://schemas.openxmlformats.org/drawingml/2006/main">
              <a:ext uri="{FF2B5EF4-FFF2-40B4-BE49-F238E27FC236}">
                <a16:creationId xmlns:a16="http://schemas.microsoft.com/office/drawing/2014/main" id="{B27E150B-CD7E-4DD9-94C5-53CAAECC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22358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TSQBench</a:t>
            </a:r>
            <a:endParaRPr sz="1100"/>
          </a:p>
        </p:txBody>
      </p:sp>
      <p:sp>
        <p:nvSpPr>
          <p:cNvPr id="110" name="TextBox 110">
            <a:extLst xmlns:a="http://schemas.openxmlformats.org/drawingml/2006/main">
              <a:ext uri="{FF2B5EF4-FFF2-40B4-BE49-F238E27FC236}">
                <a16:creationId xmlns:a16="http://schemas.microsoft.com/office/drawing/2014/main" id="{2C406848-58F8-47EE-A4FA-EF701064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Prime Agent</a:t>
            </a:r>
            <a:endParaRPr sz="1100"/>
          </a:p>
        </p:txBody>
      </p:sp>
      <p:sp>
        <p:nvSpPr>
          <p:cNvPr id="111" name="TextBox 111">
            <a:extLst xmlns:a="http://schemas.openxmlformats.org/drawingml/2006/main">
              <a:ext uri="{FF2B5EF4-FFF2-40B4-BE49-F238E27FC236}">
                <a16:creationId xmlns:a16="http://schemas.microsoft.com/office/drawing/2014/main" id="{C66B8CE5-C0D8-40AD-AF29-6BC97423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GEPA</a:t>
            </a:r>
            <a:endParaRPr sz="1100"/>
          </a:p>
        </p:txBody>
      </p:sp>
      <p:sp>
        <p:nvSpPr>
          <p:cNvPr id="112" name="TextBox 112">
            <a:extLst xmlns:a="http://schemas.openxmlformats.org/drawingml/2006/main">
              <a:ext uri="{FF2B5EF4-FFF2-40B4-BE49-F238E27FC236}">
                <a16:creationId xmlns:a16="http://schemas.microsoft.com/office/drawing/2014/main" id="{C803704B-6304-4876-BBEA-AE3276837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4188192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DGM</a:t>
            </a:r>
            <a:endParaRPr sz="1100"/>
          </a:p>
        </p:txBody>
      </p:sp>
      <p:sp>
        <p:nvSpPr>
          <p:cNvPr id="113" name="TextBox 113">
            <a:extLst xmlns:a="http://schemas.openxmlformats.org/drawingml/2006/main">
              <a:ext uri="{FF2B5EF4-FFF2-40B4-BE49-F238E27FC236}">
                <a16:creationId xmlns:a16="http://schemas.microsoft.com/office/drawing/2014/main" id="{7C4566BF-5073-42AB-8525-5E5863F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SICA</a:t>
            </a:r>
            <a:endParaRPr sz="1100"/>
          </a:p>
        </p:txBody>
      </p:sp>
      <p:sp>
        <p:nvSpPr>
          <p:cNvPr id="114" name="TextBox 114">
            <a:extLst xmlns:a="http://schemas.openxmlformats.org/drawingml/2006/main">
              <a:ext uri="{FF2B5EF4-FFF2-40B4-BE49-F238E27FC236}">
                <a16:creationId xmlns:a16="http://schemas.microsoft.com/office/drawing/2014/main" id="{AE9AEFED-6AF5-44E6-A0B0-8E8AA0A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AFlow</a:t>
            </a:r>
            <a:endParaRPr sz="1100"/>
          </a:p>
        </p:txBody>
      </p:sp>
      <p:sp>
        <p:nvSpPr>
          <p:cNvPr id="115" name="TextBox 115">
            <a:extLst xmlns:a="http://schemas.openxmlformats.org/drawingml/2006/main">
              <a:ext uri="{FF2B5EF4-FFF2-40B4-BE49-F238E27FC236}">
                <a16:creationId xmlns:a16="http://schemas.microsoft.com/office/drawing/2014/main" id="{786BBFCC-65EB-4316-8653-1DCE1DB3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ADAS</a:t>
            </a:r>
            <a:endParaRPr sz="1100"/>
          </a:p>
        </p:txBody>
      </p:sp>
      <p:sp>
        <p:nvSpPr>
          <p:cNvPr id="116" name="TextBox 116">
            <a:extLst xmlns:a="http://schemas.openxmlformats.org/drawingml/2006/main">
              <a:ext uri="{FF2B5EF4-FFF2-40B4-BE49-F238E27FC236}">
                <a16:creationId xmlns:a16="http://schemas.microsoft.com/office/drawing/2014/main" id="{F8254F48-EB10-4615-8979-0E41F865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TextGrad</a:t>
            </a:r>
            <a:endParaRPr sz="1100"/>
          </a:p>
        </p:txBody>
      </p:sp>
      <p:sp>
        <p:nvSpPr>
          <p:cNvPr id="117" name="TextBox 117">
            <a:extLst xmlns:a="http://schemas.openxmlformats.org/drawingml/2006/main">
              <a:ext uri="{FF2B5EF4-FFF2-40B4-BE49-F238E27FC236}">
                <a16:creationId xmlns:a16="http://schemas.microsoft.com/office/drawing/2014/main" id="{38FB70A8-503C-414B-B8E7-717AFECC4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DSPy</a:t>
            </a:r>
            <a:endParaRPr sz="1100"/>
          </a:p>
        </p:txBody>
      </p:sp>
      <p:sp>
        <p:nvSpPr>
          <p:cNvPr id="118" name="TextBox 118">
            <a:extLst xmlns:a="http://schemas.openxmlformats.org/drawingml/2006/main">
              <a:ext uri="{FF2B5EF4-FFF2-40B4-BE49-F238E27FC236}">
                <a16:creationId xmlns:a16="http://schemas.microsoft.com/office/drawing/2014/main" id="{C7C01BBA-DF3C-47C6-A53E-924FC581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76904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OPRO</a:t>
            </a:r>
            <a:endParaRPr sz="1100"/>
          </a:p>
        </p:txBody>
      </p:sp>
      <p:sp>
        <p:nvSpPr>
          <p:cNvPr id="119" name="TextBox 119">
            <a:extLst xmlns:a="http://schemas.openxmlformats.org/drawingml/2006/main">
              <a:ext uri="{FF2B5EF4-FFF2-40B4-BE49-F238E27FC236}">
                <a16:creationId xmlns:a16="http://schemas.microsoft.com/office/drawing/2014/main" id="{DC8853B0-9D8F-4228-91DC-4C78959E5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Process Self-Rewarding</a:t>
            </a:r>
            <a:endParaRPr sz="800"/>
          </a:p>
        </p:txBody>
      </p:sp>
      <p:sp>
        <p:nvSpPr>
          <p:cNvPr id="120" name="TextBox 120">
            <a:extLst xmlns:a="http://schemas.openxmlformats.org/drawingml/2006/main">
              <a:ext uri="{FF2B5EF4-FFF2-40B4-BE49-F238E27FC236}">
                <a16:creationId xmlns:a16="http://schemas.microsoft.com/office/drawing/2014/main" id="{061B33FD-6F17-45A3-8851-4BD5389E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CREAM</a:t>
            </a:r>
            <a:endParaRPr sz="1100"/>
          </a:p>
        </p:txBody>
      </p:sp>
      <p:sp>
        <p:nvSpPr>
          <p:cNvPr id="121" name="TextBox 121">
            <a:extLst xmlns:a="http://schemas.openxmlformats.org/drawingml/2006/main">
              <a:ext uri="{FF2B5EF4-FFF2-40B4-BE49-F238E27FC236}">
                <a16:creationId xmlns:a16="http://schemas.microsoft.com/office/drawing/2014/main" id="{D0A63DBD-E374-42B2-B4E1-711066DC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Self-Taught Evaluators</a:t>
            </a:r>
            <a:endParaRPr sz="800"/>
          </a:p>
        </p:txBody>
      </p:sp>
      <p:sp>
        <p:nvSpPr>
          <p:cNvPr id="122" name="TextBox 122">
            <a:extLst xmlns:a="http://schemas.openxmlformats.org/drawingml/2006/main">
              <a:ext uri="{FF2B5EF4-FFF2-40B4-BE49-F238E27FC236}">
                <a16:creationId xmlns:a16="http://schemas.microsoft.com/office/drawing/2014/main" id="{10D02292-775A-4B65-9EE2-220F784B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35590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Meta-Rewarding</a:t>
            </a:r>
            <a:endParaRPr sz="1100"/>
          </a:p>
        </p:txBody>
      </p:sp>
      <p:sp>
        <p:nvSpPr>
          <p:cNvPr id="123" name="TextBox 123">
            <a:extLst xmlns:a="http://schemas.openxmlformats.org/drawingml/2006/main">
              <a:ext uri="{FF2B5EF4-FFF2-40B4-BE49-F238E27FC236}">
                <a16:creationId xmlns:a16="http://schemas.microsoft.com/office/drawing/2014/main" id="{9011A4CD-AACB-4B4C-B80B-FB9BDDF8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562837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Self-Rewarding</a:t>
            </a:r>
            <a:endParaRPr sz="1100"/>
          </a:p>
        </p:txBody>
      </p:sp>
      <p:sp>
        <p:nvSpPr>
          <p:cNvPr id="124" name="TextBox 124">
            <a:extLst xmlns:a="http://schemas.openxmlformats.org/drawingml/2006/main">
              <a:ext uri="{FF2B5EF4-FFF2-40B4-BE49-F238E27FC236}">
                <a16:creationId xmlns:a16="http://schemas.microsoft.com/office/drawing/2014/main" id="{F5EEE6BC-5A7D-4870-946F-21221CCD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761348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CRITIC</a:t>
            </a:r>
            <a:endParaRPr sz="1100"/>
          </a:p>
        </p:txBody>
      </p:sp>
      <p:sp>
        <p:nvSpPr>
          <p:cNvPr id="125" name="TextBox 125">
            <a:extLst xmlns:a="http://schemas.openxmlformats.org/drawingml/2006/main">
              <a:ext uri="{FF2B5EF4-FFF2-40B4-BE49-F238E27FC236}">
                <a16:creationId xmlns:a16="http://schemas.microsoft.com/office/drawing/2014/main" id="{B15CB2CD-3528-4EEE-8AF9-BAF48F9A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1449" y="8781191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4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Constitutional AI</a:t>
            </a:r>
            <a:endParaRPr sz="1040"/>
          </a:p>
        </p:txBody>
      </p:sp>
      <p:sp>
        <p:nvSpPr>
          <p:cNvPr id="126" name="TextBox 126">
            <a:extLst xmlns:a="http://schemas.openxmlformats.org/drawingml/2006/main">
              <a:ext uri="{FF2B5EF4-FFF2-40B4-BE49-F238E27FC236}">
                <a16:creationId xmlns:a16="http://schemas.microsoft.com/office/drawing/2014/main" id="{52CFDE71-9BA1-4054-A32C-95AD3F332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1930617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Meta^n</a:t>
            </a:r>
            <a:endParaRPr sz="1100"/>
          </a:p>
        </p:txBody>
      </p:sp>
      <p:sp>
        <p:nvSpPr>
          <p:cNvPr id="127" name="TextBox 127">
            <a:extLst xmlns:a="http://schemas.openxmlformats.org/drawingml/2006/main">
              <a:ext uri="{FF2B5EF4-FFF2-40B4-BE49-F238E27FC236}">
                <a16:creationId xmlns:a16="http://schemas.microsoft.com/office/drawing/2014/main" id="{D8E178E2-4D4A-49DF-8220-F61A6C244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203083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Bilevel Autoresearch</a:t>
            </a:r>
            <a:endParaRPr sz="880"/>
          </a:p>
        </p:txBody>
      </p:sp>
      <p:sp>
        <p:nvSpPr>
          <p:cNvPr id="128" name="TextBox 128">
            <a:extLst xmlns:a="http://schemas.openxmlformats.org/drawingml/2006/main">
              <a:ext uri="{FF2B5EF4-FFF2-40B4-BE49-F238E27FC236}">
                <a16:creationId xmlns:a16="http://schemas.microsoft.com/office/drawing/2014/main" id="{CA533464-111E-4487-95D7-13EEF9DF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2475549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Hyperagents</a:t>
            </a:r>
            <a:endParaRPr sz="1100"/>
          </a:p>
        </p:txBody>
      </p:sp>
      <p:sp>
        <p:nvSpPr>
          <p:cNvPr id="129" name="TextBox 129">
            <a:extLst xmlns:a="http://schemas.openxmlformats.org/drawingml/2006/main">
              <a:ext uri="{FF2B5EF4-FFF2-40B4-BE49-F238E27FC236}">
                <a16:creationId xmlns:a16="http://schemas.microsoft.com/office/drawing/2014/main" id="{F93FB9F5-5BA3-4837-92F9-27F1270A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643260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AlphaEvolve</a:t>
            </a:r>
            <a:endParaRPr sz="1100"/>
          </a:p>
        </p:txBody>
      </p:sp>
      <p:sp>
        <p:nvSpPr>
          <p:cNvPr id="130" name="TextBox 130">
            <a:extLst xmlns:a="http://schemas.openxmlformats.org/drawingml/2006/main">
              <a:ext uri="{FF2B5EF4-FFF2-40B4-BE49-F238E27FC236}">
                <a16:creationId xmlns:a16="http://schemas.microsoft.com/office/drawing/2014/main" id="{BAC86387-C67B-4F15-903D-7EC5DB86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391572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 Scientist-v2</a:t>
            </a:r>
            <a:endParaRPr sz="1100"/>
          </a:p>
        </p:txBody>
      </p:sp>
      <p:sp>
        <p:nvSpPr>
          <p:cNvPr id="131" name="TextBox 131">
            <a:extLst xmlns:a="http://schemas.openxmlformats.org/drawingml/2006/main">
              <a:ext uri="{FF2B5EF4-FFF2-40B4-BE49-F238E27FC236}">
                <a16:creationId xmlns:a16="http://schemas.microsoft.com/office/drawing/2014/main" id="{86D00155-9401-467F-9E0B-3EF89EA0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5900836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AI Scientist</a:t>
            </a:r>
            <a:endParaRPr sz="1100"/>
          </a:p>
        </p:txBody>
      </p:sp>
      <p:sp>
        <p:nvSpPr>
          <p:cNvPr id="132" name="TextBox 132">
            <a:extLst xmlns:a="http://schemas.openxmlformats.org/drawingml/2006/main">
              <a:ext uri="{FF2B5EF4-FFF2-40B4-BE49-F238E27FC236}">
                <a16:creationId xmlns:a16="http://schemas.microsoft.com/office/drawing/2014/main" id="{C94C51EE-F78C-419C-9244-74A3E507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068548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STOP</a:t>
            </a:r>
            <a:endParaRPr sz="1100"/>
          </a:p>
        </p:txBody>
      </p:sp>
      <p:sp>
        <p:nvSpPr>
          <p:cNvPr id="133" name="TextBox 133">
            <a:extLst xmlns:a="http://schemas.openxmlformats.org/drawingml/2006/main">
              <a:ext uri="{FF2B5EF4-FFF2-40B4-BE49-F238E27FC236}">
                <a16:creationId xmlns:a16="http://schemas.microsoft.com/office/drawing/2014/main" id="{24445B9C-30F5-4F58-BC9A-BDD398E6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385995" y="7341014"/>
            <a:ext cx="1198851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Promptbreeder</a:t>
            </a:r>
            <a:endParaRPr sz="1100"/>
          </a:p>
        </p:txBody>
      </p:sp>
      <p:sp>
        <p:nvSpPr>
          <p:cNvPr id="134" name="TextBox 134">
            <a:extLst xmlns:a="http://schemas.openxmlformats.org/drawingml/2006/main">
              <a:ext uri="{FF2B5EF4-FFF2-40B4-BE49-F238E27FC236}">
                <a16:creationId xmlns:a16="http://schemas.microsoft.com/office/drawing/2014/main" id="{727D1ADA-72D7-4E9D-B8FF-C14BC604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4589913" y="9808778"/>
            <a:ext cx="2335423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◫   2003 | Gödel Machine</a:t>
            </a:r>
            <a:endParaRPr sz="1100"/>
          </a:p>
        </p:txBody>
      </p:sp>
      <p:sp>
        <p:nvSpPr>
          <p:cNvPr id="135" name="TextBox 135">
            <a:extLst xmlns:a="http://schemas.openxmlformats.org/drawingml/2006/main">
              <a:ext uri="{FF2B5EF4-FFF2-40B4-BE49-F238E27FC236}">
                <a16:creationId xmlns:a16="http://schemas.microsoft.com/office/drawing/2014/main" id="{C7249525-C5BA-491C-9022-4245C6AFA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81031" y="9808778"/>
            <a:ext cx="256896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◉   2016 | Learned optimizers</a:t>
            </a:r>
            <a:endParaRPr sz="1100"/>
          </a:p>
        </p:txBody>
      </p:sp>
      <p:sp>
        <p:nvSpPr>
          <p:cNvPr id="136" name="TextBox 136">
            <a:extLst xmlns:a="http://schemas.openxmlformats.org/drawingml/2006/main">
              <a:ext uri="{FF2B5EF4-FFF2-40B4-BE49-F238E27FC236}">
                <a16:creationId xmlns:a16="http://schemas.microsoft.com/office/drawing/2014/main" id="{BF4FF723-27D9-44B0-AF48-6B688D16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9234" y="9808778"/>
            <a:ext cx="1946186" cy="1868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>
                <a:solidFill>
                  <a:srgbClr val="283244"/>
                </a:solidFill>
                <a:latin typeface="PingFang SC"/>
                <a:ea typeface="PingFang SC"/>
                <a:cs typeface="PingFang SC"/>
              </a:rPr>
              <a:t>▣   2019 | POET</a:t>
            </a:r>
            <a:endParaRPr sz="1100"/>
          </a:p>
        </p:txBody>
      </p:sp>
      <p:sp>
        <p:nvSpPr>
          <p:cNvPr id="137" name="TextBox 137">
            <a:extLst xmlns:a="http://schemas.openxmlformats.org/drawingml/2006/main">
              <a:ext uri="{FF2B5EF4-FFF2-40B4-BE49-F238E27FC236}">
                <a16:creationId xmlns:a16="http://schemas.microsoft.com/office/drawing/2014/main" id="{CDD7C0B6-A361-49AC-99F8-405B8B74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34845" y="10042320"/>
            <a:ext cx="6383490" cy="1712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rgbClr val="5E6878"/>
                </a:solidFill>
                <a:latin typeface="PingFang SC"/>
                <a:ea typeface="PingFang SC"/>
                <a:cs typeface="PingFang SC"/>
              </a:rPr>
              <a:t>Marks: selected affiliations | Branches: research routes, not technical ancestry</a:t>
            </a:r>
            <a:endParaRPr sz="900"/>
          </a:p>
        </p:txBody>
      </p:sp>
      <p:sp>
        <p:nvSpPr>
          <p:cNvPr id="138" name="TextBox 138">
            <a:extLst xmlns:a="http://schemas.openxmlformats.org/drawingml/2006/main">
              <a:ext uri="{FF2B5EF4-FFF2-40B4-BE49-F238E27FC236}">
                <a16:creationId xmlns:a16="http://schemas.microsoft.com/office/drawing/2014/main" id="{87186CA7-3C07-469C-9037-8DAAC978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074294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Figure 4. Research routes toward recursive self-improvement. Forty-five representative method papers are grouped into six research routes, with three historical anchors shown separately.</a:t>
            </a:r>
            <a:endParaRPr sz="750"/>
          </a:p>
        </p:txBody>
      </p:sp>
      <p:sp>
        <p:nvSpPr>
          <p:cNvPr id="139" name="TextBox 139">
            <a:extLst xmlns:a="http://schemas.openxmlformats.org/drawingml/2006/main">
              <a:ext uri="{FF2B5EF4-FFF2-40B4-BE49-F238E27FC236}">
                <a16:creationId xmlns:a16="http://schemas.microsoft.com/office/drawing/2014/main" id="{B1B44198-A09E-47AF-BDFB-D235287F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04655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Year bands use the first public dates in the checked source records; spacing within each band is adjusted for legibility. Branch lines denote research families.</a:t>
            </a:r>
            <a:endParaRPr sz="880"/>
          </a:p>
        </p:txBody>
      </p:sp>
      <p:sp>
        <p:nvSpPr>
          <p:cNvPr id="140" name="TextBox 140">
            <a:extLst xmlns:a="http://schemas.openxmlformats.org/drawingml/2006/main">
              <a:ext uri="{FF2B5EF4-FFF2-40B4-BE49-F238E27FC236}">
                <a16:creationId xmlns:a16="http://schemas.microsoft.com/office/drawing/2014/main" id="{80A6D186-D89D-4FD4-BE29-7147CBE13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350157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19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Technical ancestry, cross-route transfer, and sustained recursive gains require separate evidence. The selection reflects the literature search through September 12, 2026.</a:t>
            </a:r>
            <a:endParaRPr sz="819"/>
          </a:p>
        </p:txBody>
      </p:sp>
      <p:sp>
        <p:nvSpPr>
          <p:cNvPr id="141" name="TextBox 141">
            <a:extLst xmlns:a="http://schemas.openxmlformats.org/drawingml/2006/main">
              <a:ext uri="{FF2B5EF4-FFF2-40B4-BE49-F238E27FC236}">
                <a16:creationId xmlns:a16="http://schemas.microsoft.com/office/drawing/2014/main" id="{C80B9844-C23D-4AFD-B2FE-4D2443F4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686883" y="11653762"/>
            <a:ext cx="9263846" cy="264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4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Logos identify one selected author or work-done affiliation per study; “Ind.” denotes independent researchers. Affiliation and logo sources are documented separately.</a:t>
            </a:r>
            <a:endParaRPr sz="840"/>
          </a:p>
        </p:txBody>
      </p:sp>
    </p:spTree>
    <p:extLst>
      <p:ext uri="{BB962C8B-B14F-4D97-AF65-F5344CB8AC3E}">
        <p14:creationId xmlns:p14="http://schemas.microsoft.com/office/powerpoint/2010/main" val="3200357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 2">
            <a:extLst xmlns:a="http://schemas.openxmlformats.org/drawingml/2006/main">
              <a:ext uri="{FF2B5EF4-FFF2-40B4-BE49-F238E27FC236}">
                <a16:creationId xmlns:a16="http://schemas.microsoft.com/office/drawing/2014/main" id="{A77F6193-8C80-4589-9FE7-C0624B5CC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D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Rect 3">
            <a:extLst xmlns:a="http://schemas.openxmlformats.org/drawingml/2006/main">
              <a:ext uri="{FF2B5EF4-FFF2-40B4-BE49-F238E27FC236}">
                <a16:creationId xmlns:a16="http://schemas.microsoft.com/office/drawing/2014/main" id="{22E170A2-DA38-4C27-B46F-C89E5427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1641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F1DF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Rect 4">
            <a:extLst xmlns:a="http://schemas.openxmlformats.org/drawingml/2006/main">
              <a:ext uri="{FF2B5EF4-FFF2-40B4-BE49-F238E27FC236}">
                <a16:creationId xmlns:a16="http://schemas.microsoft.com/office/drawing/2014/main" id="{28D6FBA9-A3D7-4A4A-B3BB-56F508EF7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334375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F0F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Rect 5">
            <a:extLst xmlns:a="http://schemas.openxmlformats.org/drawingml/2006/main">
              <a:ext uri="{FF2B5EF4-FFF2-40B4-BE49-F238E27FC236}">
                <a16:creationId xmlns:a16="http://schemas.microsoft.com/office/drawing/2014/main" id="{BDD74A7F-0AF5-4D4D-B4D7-3C48E00C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67109" y="307375"/>
            <a:ext cx="3232734" cy="83945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3F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Line 6">
            <a:extLst xmlns:a="http://schemas.openxmlformats.org/drawingml/2006/main">
              <a:ext uri="{FF2B5EF4-FFF2-40B4-BE49-F238E27FC236}">
                <a16:creationId xmlns:a16="http://schemas.microsoft.com/office/drawing/2014/main" id="{3B8EF8F9-97E4-4542-88F8-B7AADFEB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79505" y="5066384"/>
            <a:ext cx="12909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C8C8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Roundrect 7">
            <a:extLst xmlns:a="http://schemas.openxmlformats.org/drawingml/2006/main">
              <a:ext uri="{FF2B5EF4-FFF2-40B4-BE49-F238E27FC236}">
                <a16:creationId xmlns:a16="http://schemas.microsoft.com/office/drawing/2014/main" id="{87389BEB-B556-4D44-8FE6-7138F499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Roundrect 8">
            <a:extLst xmlns:a="http://schemas.openxmlformats.org/drawingml/2006/main">
              <a:ext uri="{FF2B5EF4-FFF2-40B4-BE49-F238E27FC236}">
                <a16:creationId xmlns:a16="http://schemas.microsoft.com/office/drawing/2014/main" id="{34F7A396-45EB-4685-AF03-FD6ADF3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70290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Roundrect 9">
            <a:extLst xmlns:a="http://schemas.openxmlformats.org/drawingml/2006/main">
              <a:ext uri="{FF2B5EF4-FFF2-40B4-BE49-F238E27FC236}">
                <a16:creationId xmlns:a16="http://schemas.microsoft.com/office/drawing/2014/main" id="{FD1B4DFE-2E3B-4AAE-888F-24B3C992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Roundrect 10">
            <a:extLst xmlns:a="http://schemas.openxmlformats.org/drawingml/2006/main">
              <a:ext uri="{FF2B5EF4-FFF2-40B4-BE49-F238E27FC236}">
                <a16:creationId xmlns:a16="http://schemas.microsoft.com/office/drawing/2014/main" id="{4D8D8324-7D9C-46F7-B776-B9C1E619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92425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Roundrect 11">
            <a:extLst xmlns:a="http://schemas.openxmlformats.org/drawingml/2006/main">
              <a:ext uri="{FF2B5EF4-FFF2-40B4-BE49-F238E27FC236}">
                <a16:creationId xmlns:a16="http://schemas.microsoft.com/office/drawing/2014/main" id="{44CEC8F0-6CE4-403C-9923-B2AF7D55F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Roundrect 12">
            <a:extLst xmlns:a="http://schemas.openxmlformats.org/drawingml/2006/main">
              <a:ext uri="{FF2B5EF4-FFF2-40B4-BE49-F238E27FC236}">
                <a16:creationId xmlns:a16="http://schemas.microsoft.com/office/drawing/2014/main" id="{A2D5DF63-E219-4E5B-A378-AC3D2ECDF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25159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Roundrect 13">
            <a:extLst xmlns:a="http://schemas.openxmlformats.org/drawingml/2006/main">
              <a:ext uri="{FF2B5EF4-FFF2-40B4-BE49-F238E27FC236}">
                <a16:creationId xmlns:a16="http://schemas.microsoft.com/office/drawing/2014/main" id="{894B4D26-68E9-4031-BE4E-17A4A0C8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51155"/>
            <a:ext cx="2851166" cy="3762691"/>
          </a:xfrm>
          <a:prstGeom xmlns:a="http://schemas.openxmlformats.org/drawingml/2006/main" prst="roundRect">
            <a:avLst>
              <a:gd name="adj" fmla="val 7435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Roundrect 14">
            <a:extLst xmlns:a="http://schemas.openxmlformats.org/drawingml/2006/main">
              <a:ext uri="{FF2B5EF4-FFF2-40B4-BE49-F238E27FC236}">
                <a16:creationId xmlns:a16="http://schemas.microsoft.com/office/drawing/2014/main" id="{33B66A25-92F7-4F37-AE13-D16A7A286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757894" y="5670534"/>
            <a:ext cx="2851166" cy="1886645"/>
          </a:xfrm>
          <a:prstGeom xmlns:a="http://schemas.openxmlformats.org/drawingml/2006/main" prst="roundRect">
            <a:avLst>
              <a:gd name="adj" fmla="val 11236"/>
            </a:avLst>
          </a:prstGeom>
          <a:noFill xmlns:a="http://schemas.openxmlformats.org/drawingml/2006/main"/>
          <a:ln xmlns:a="http://schemas.openxmlformats.org/drawingml/2006/main" w="25400">
            <a:solidFill>
              <a:srgbClr val="222222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Line 15">
            <a:extLst xmlns:a="http://schemas.openxmlformats.org/drawingml/2006/main">
              <a:ext uri="{FF2B5EF4-FFF2-40B4-BE49-F238E27FC236}">
                <a16:creationId xmlns:a16="http://schemas.microsoft.com/office/drawing/2014/main" id="{8EB4F88A-EE47-420A-925D-98922285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490573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Line 16">
            <a:extLst xmlns:a="http://schemas.openxmlformats.org/drawingml/2006/main">
              <a:ext uri="{FF2B5EF4-FFF2-40B4-BE49-F238E27FC236}">
                <a16:creationId xmlns:a16="http://schemas.microsoft.com/office/drawing/2014/main" id="{9E5B2B97-30AB-47CF-AAF0-87A1615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23307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Line 17">
            <a:extLst xmlns:a="http://schemas.openxmlformats.org/drawingml/2006/main">
              <a:ext uri="{FF2B5EF4-FFF2-40B4-BE49-F238E27FC236}">
                <a16:creationId xmlns:a16="http://schemas.microsoft.com/office/drawing/2014/main" id="{5FA156C4-7BCB-47F9-9AB2-F55B2CC3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56042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D18D2F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Line 18">
            <a:extLst xmlns:a="http://schemas.openxmlformats.org/drawingml/2006/main">
              <a:ext uri="{FF2B5EF4-FFF2-40B4-BE49-F238E27FC236}">
                <a16:creationId xmlns:a16="http://schemas.microsoft.com/office/drawing/2014/main" id="{FEED205D-CA6F-4858-8DC1-0ADD9AFB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188776" y="4345643"/>
            <a:ext cx="0" cy="12506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7070B5"/>
            </a:solidFill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Line 19">
            <a:extLst xmlns:a="http://schemas.openxmlformats.org/drawingml/2006/main">
              <a:ext uri="{FF2B5EF4-FFF2-40B4-BE49-F238E27FC236}">
                <a16:creationId xmlns:a16="http://schemas.microsoft.com/office/drawing/2014/main" id="{593225EB-B21A-44FB-9382-4411CF91C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501172" y="4324445"/>
            <a:ext cx="0" cy="124009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555555"/>
            </a:solidFill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4" name="answer document revision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ad4565388f48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706237" y="1695861"/>
            <a:ext cx="2035033" cy="1187102"/>
          </a:xfrm>
          <a:prstGeom xmlns:a="http://schemas.openxmlformats.org/drawingml/2006/main" prst="rect">
            <a:avLst/>
          </a:prstGeom>
        </p:spPr>
      </p:pic>
      <p:pic>
        <p:nvPicPr>
          <p:cNvPr id="95" name="memory document stac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6e8fc10538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748187" y="1589869"/>
            <a:ext cx="1801852" cy="1536874"/>
          </a:xfrm>
          <a:prstGeom xmlns:a="http://schemas.openxmlformats.org/drawingml/2006/main" prst="rect">
            <a:avLst/>
          </a:prstGeom>
        </p:spPr>
      </p:pic>
      <p:pic>
        <p:nvPicPr>
          <p:cNvPr id="96" name="parameter neural networ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307cf1d4f747a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8949125" y="1579270"/>
            <a:ext cx="2268214" cy="1293094"/>
          </a:xfrm>
          <a:prstGeom xmlns:a="http://schemas.openxmlformats.org/drawingml/2006/main" prst="rect">
            <a:avLst/>
          </a:prstGeom>
        </p:spPr>
      </p:pic>
      <p:pic>
        <p:nvPicPr>
          <p:cNvPr id="97" name="improver procedure graph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d32a6fed049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60661" y="1642865"/>
            <a:ext cx="1854848" cy="1165904"/>
          </a:xfrm>
          <a:prstGeom xmlns:a="http://schemas.openxmlformats.org/drawingml/2006/main" prst="rect">
            <a:avLst/>
          </a:prstGeom>
        </p:spPr>
      </p:pic>
      <p:pic>
        <p:nvPicPr>
          <p:cNvPr id="98" name="solver network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ac8d5111d42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674440" y="6147495"/>
            <a:ext cx="1801852" cy="826732"/>
          </a:xfrm>
          <a:prstGeom xmlns:a="http://schemas.openxmlformats.org/drawingml/2006/main" prst="rect">
            <a:avLst/>
          </a:prstGeom>
        </p:spPr>
      </p:pic>
      <p:pic>
        <p:nvPicPr>
          <p:cNvPr id="99" name="solver plus memory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034834a74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822381" y="6105099"/>
            <a:ext cx="1695861" cy="826732"/>
          </a:xfrm>
          <a:prstGeom xmlns:a="http://schemas.openxmlformats.org/drawingml/2006/main" prst="rect">
            <a:avLst/>
          </a:prstGeom>
        </p:spPr>
      </p:pic>
      <p:pic>
        <p:nvPicPr>
          <p:cNvPr id="100" name="updated parameter matrix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33bc895f0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9076314" y="6083900"/>
            <a:ext cx="1907843" cy="953922"/>
          </a:xfrm>
          <a:prstGeom xmlns:a="http://schemas.openxmlformats.org/drawingml/2006/main" prst="rect">
            <a:avLst/>
          </a:prstGeom>
        </p:spPr>
      </p:pic>
      <p:pic>
        <p:nvPicPr>
          <p:cNvPr id="101" name="next update process ic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2d185a8bc45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2139462" y="6083900"/>
            <a:ext cx="1748856" cy="847930"/>
          </a:xfrm>
          <a:prstGeom xmlns:a="http://schemas.openxmlformats.org/drawingml/2006/main" prst="rect">
            <a:avLst/>
          </a:prstGeom>
        </p:spPr>
      </p:pic>
      <p:sp>
        <p:nvSpPr>
          <p:cNvPr id="28" name="TextBox 28">
            <a:extLst xmlns:a="http://schemas.openxmlformats.org/drawingml/2006/main">
              <a:ext uri="{FF2B5EF4-FFF2-40B4-BE49-F238E27FC236}">
                <a16:creationId xmlns:a16="http://schemas.microsoft.com/office/drawing/2014/main" id="{032692FA-D73D-4834-9C55-F20327EA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</a:t>
            </a:r>
            <a:endParaRPr sz="3100"/>
          </a:p>
        </p:txBody>
      </p:sp>
      <p:sp>
        <p:nvSpPr>
          <p:cNvPr id="29" name="TextBox 29">
            <a:extLst xmlns:a="http://schemas.openxmlformats.org/drawingml/2006/main">
              <a:ext uri="{FF2B5EF4-FFF2-40B4-BE49-F238E27FC236}">
                <a16:creationId xmlns:a16="http://schemas.microsoft.com/office/drawing/2014/main" id="{D20D5A23-77FF-4C3D-B2E0-909D9D3D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origin, horizon,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calibration</a:t>
            </a:r>
            <a:endParaRPr sz="1300"/>
          </a:p>
        </p:txBody>
      </p:sp>
      <p:sp>
        <p:nvSpPr>
          <p:cNvPr id="30" name="TextBox 30">
            <a:extLst xmlns:a="http://schemas.openxmlformats.org/drawingml/2006/main">
              <a:ext uri="{FF2B5EF4-FFF2-40B4-BE49-F238E27FC236}">
                <a16:creationId xmlns:a16="http://schemas.microsoft.com/office/drawing/2014/main" id="{DE72B775-39E7-46C0-B68F-A1CCDEA7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Augmentation</a:t>
            </a:r>
            <a:endParaRPr sz="3100"/>
          </a:p>
        </p:txBody>
      </p:sp>
      <p:sp>
        <p:nvSpPr>
          <p:cNvPr id="31" name="TextBox 31">
            <a:extLst xmlns:a="http://schemas.openxmlformats.org/drawingml/2006/main">
              <a:ext uri="{FF2B5EF4-FFF2-40B4-BE49-F238E27FC236}">
                <a16:creationId xmlns:a16="http://schemas.microsoft.com/office/drawing/2014/main" id="{F15DC1A0-B3FD-4E07-99DC-3BA9D290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98416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fidelity, diversity,</a:t>
            </a:r>
            <a:endParaRPr sz="1800"/>
          </a:p>
          <a:p xmlns:a="http://schemas.openxmlformats.org/drawingml/2006/main">
            <a:pPr algn="l">
              <a:buNone/>
            </a:pPr>
            <a:r>
              <a:rPr sz="18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utility</a:t>
            </a:r>
            <a:endParaRPr sz="1800"/>
          </a:p>
        </p:txBody>
      </p:sp>
      <p:sp>
        <p:nvSpPr>
          <p:cNvPr id="32" name="TextBox 32">
            <a:extLst xmlns:a="http://schemas.openxmlformats.org/drawingml/2006/main">
              <a:ext uri="{FF2B5EF4-FFF2-40B4-BE49-F238E27FC236}">
                <a16:creationId xmlns:a16="http://schemas.microsoft.com/office/drawing/2014/main" id="{6057527D-0F0A-49A7-B5FC-D9DAE1F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Anomaly diagnosis</a:t>
            </a:r>
            <a:endParaRPr sz="3100"/>
          </a:p>
        </p:txBody>
      </p:sp>
      <p:sp>
        <p:nvSpPr>
          <p:cNvPr id="33" name="TextBox 33">
            <a:extLst xmlns:a="http://schemas.openxmlformats.org/drawingml/2006/main">
              <a:ext uri="{FF2B5EF4-FFF2-40B4-BE49-F238E27FC236}">
                <a16:creationId xmlns:a16="http://schemas.microsoft.com/office/drawing/2014/main" id="{05CB3A14-526E-46B5-956F-2486414F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31151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event, window,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cause</a:t>
            </a:r>
            <a:endParaRPr sz="1300"/>
          </a:p>
        </p:txBody>
      </p:sp>
      <p:sp>
        <p:nvSpPr>
          <p:cNvPr id="34" name="TextBox 34">
            <a:extLst xmlns:a="http://schemas.openxmlformats.org/drawingml/2006/main">
              <a:ext uri="{FF2B5EF4-FFF2-40B4-BE49-F238E27FC236}">
                <a16:creationId xmlns:a16="http://schemas.microsoft.com/office/drawing/2014/main" id="{DED12167-D4C3-482B-842B-0B294935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476961"/>
            <a:ext cx="2596787" cy="582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Decision support</a:t>
            </a:r>
            <a:endParaRPr sz="3100"/>
          </a:p>
        </p:txBody>
      </p:sp>
      <p:sp>
        <p:nvSpPr>
          <p:cNvPr id="35" name="TextBox 35">
            <a:extLst xmlns:a="http://schemas.openxmlformats.org/drawingml/2006/main">
              <a:ext uri="{FF2B5EF4-FFF2-40B4-BE49-F238E27FC236}">
                <a16:creationId xmlns:a16="http://schemas.microsoft.com/office/drawing/2014/main" id="{CC383A94-BFF7-4F4F-926D-893AA72B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63885" y="1123508"/>
            <a:ext cx="2596787" cy="4027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action, cost,</a:t>
            </a:r>
            <a:endParaRPr sz="1300"/>
          </a:p>
          <a:p xmlns:a="http://schemas.openxmlformats.org/drawingml/2006/main">
            <a:pPr algn="l">
              <a:buNone/>
            </a:pPr>
            <a:r>
              <a:rPr sz="1300" i="1">
                <a:solidFill>
                  <a:srgbClr val="6B6B6B"/>
                </a:solidFill>
                <a:latin typeface="Cambria"/>
                <a:ea typeface="Cambria"/>
                <a:cs typeface="Cambria"/>
              </a:rPr>
              <a:t>uncertainty</a:t>
            </a:r>
            <a:endParaRPr sz="1300"/>
          </a:p>
        </p:txBody>
      </p:sp>
      <p:sp>
        <p:nvSpPr>
          <p:cNvPr id="36" name="TextBox 36">
            <a:extLst xmlns:a="http://schemas.openxmlformats.org/drawingml/2006/main">
              <a:ext uri="{FF2B5EF4-FFF2-40B4-BE49-F238E27FC236}">
                <a16:creationId xmlns:a16="http://schemas.microsoft.com/office/drawing/2014/main" id="{5C9A8DE6-3EA0-418A-B821-20098C9B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2702778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y_t</a:t>
            </a:r>
            <a:endParaRPr sz="2300"/>
          </a:p>
        </p:txBody>
      </p:sp>
      <p:sp>
        <p:nvSpPr>
          <p:cNvPr id="37" name="TextBox 37">
            <a:extLst xmlns:a="http://schemas.openxmlformats.org/drawingml/2006/main">
              <a:ext uri="{FF2B5EF4-FFF2-40B4-BE49-F238E27FC236}">
                <a16:creationId xmlns:a16="http://schemas.microsoft.com/office/drawing/2014/main" id="{B6C2361B-1559-4928-AA3F-BF5EF46A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882741" y="2702778"/>
            <a:ext cx="1059913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6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 y_{t+h}</a:t>
            </a:r>
            <a:endParaRPr sz="1160"/>
          </a:p>
        </p:txBody>
      </p:sp>
      <p:sp>
        <p:nvSpPr>
          <p:cNvPr id="38" name="TextBox 38">
            <a:extLst xmlns:a="http://schemas.openxmlformats.org/drawingml/2006/main">
              <a:ext uri="{FF2B5EF4-FFF2-40B4-BE49-F238E27FC236}">
                <a16:creationId xmlns:a16="http://schemas.microsoft.com/office/drawing/2014/main" id="{2EB50797-0CEC-4816-A26F-41DCE25A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94255" y="3603704"/>
            <a:ext cx="2172822" cy="339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check → revise</a:t>
            </a:r>
            <a:endParaRPr sz="1900"/>
          </a:p>
        </p:txBody>
      </p:sp>
      <p:sp>
        <p:nvSpPr>
          <p:cNvPr id="39" name="TextBox 39">
            <a:extLst xmlns:a="http://schemas.openxmlformats.org/drawingml/2006/main">
              <a:ext uri="{FF2B5EF4-FFF2-40B4-BE49-F238E27FC236}">
                <a16:creationId xmlns:a16="http://schemas.microsoft.com/office/drawing/2014/main" id="{80FB816F-2E3B-4356-A559-B140A9E7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50475" y="5776525"/>
            <a:ext cx="2596787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same harness</a:t>
            </a:r>
            <a:endParaRPr sz="2200"/>
          </a:p>
        </p:txBody>
      </p:sp>
      <p:sp>
        <p:nvSpPr>
          <p:cNvPr id="40" name="TextBox 40">
            <a:extLst xmlns:a="http://schemas.openxmlformats.org/drawingml/2006/main">
              <a:ext uri="{FF2B5EF4-FFF2-40B4-BE49-F238E27FC236}">
                <a16:creationId xmlns:a16="http://schemas.microsoft.com/office/drawing/2014/main" id="{ECC134B7-5CFF-44AF-A0D2-26C16B5E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03470" y="7143813"/>
            <a:ext cx="2490795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96969"/>
                </a:solidFill>
                <a:latin typeface="Cambria"/>
                <a:ea typeface="Cambria"/>
                <a:cs typeface="Cambria"/>
              </a:rPr>
              <a:t>new task</a:t>
            </a:r>
            <a:endParaRPr sz="1700"/>
          </a:p>
        </p:txBody>
      </p:sp>
      <p:sp>
        <p:nvSpPr>
          <p:cNvPr id="41" name="TextBox 41">
            <a:extLst xmlns:a="http://schemas.openxmlformats.org/drawingml/2006/main">
              <a:ext uri="{FF2B5EF4-FFF2-40B4-BE49-F238E27FC236}">
                <a16:creationId xmlns:a16="http://schemas.microsoft.com/office/drawing/2014/main" id="{E154BCE0-3AE0-483A-8A1B-3D40FD1C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97479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(a) Forecasting</a:t>
            </a:r>
            <a:endParaRPr sz="2120"/>
          </a:p>
        </p:txBody>
      </p:sp>
      <p:sp>
        <p:nvSpPr>
          <p:cNvPr id="42" name="TextBox 42">
            <a:extLst xmlns:a="http://schemas.openxmlformats.org/drawingml/2006/main">
              <a:ext uri="{FF2B5EF4-FFF2-40B4-BE49-F238E27FC236}">
                <a16:creationId xmlns:a16="http://schemas.microsoft.com/office/drawing/2014/main" id="{52BF4A6F-16B1-4D60-905F-BD19E76B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40813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(b) Augmentation</a:t>
            </a:r>
            <a:endParaRPr sz="2120"/>
          </a:p>
        </p:txBody>
      </p:sp>
      <p:sp>
        <p:nvSpPr>
          <p:cNvPr id="43" name="TextBox 43">
            <a:extLst xmlns:a="http://schemas.openxmlformats.org/drawingml/2006/main">
              <a:ext uri="{FF2B5EF4-FFF2-40B4-BE49-F238E27FC236}">
                <a16:creationId xmlns:a16="http://schemas.microsoft.com/office/drawing/2014/main" id="{2D3DE0FA-6951-4119-B6FA-4EEEE95F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715944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(c) Anomaly diagnosis</a:t>
            </a:r>
            <a:endParaRPr sz="2120"/>
          </a:p>
        </p:txBody>
      </p:sp>
      <p:sp>
        <p:nvSpPr>
          <p:cNvPr id="44" name="TextBox 44">
            <a:extLst xmlns:a="http://schemas.openxmlformats.org/drawingml/2006/main">
              <a:ext uri="{FF2B5EF4-FFF2-40B4-BE49-F238E27FC236}">
                <a16:creationId xmlns:a16="http://schemas.microsoft.com/office/drawing/2014/main" id="{CC5EDDD5-6489-47A7-BF2E-4C6BB35C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948678" y="7578377"/>
            <a:ext cx="2649782" cy="657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12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(d) Decision support</a:t>
            </a:r>
            <a:endParaRPr sz="2120"/>
          </a:p>
        </p:txBody>
      </p:sp>
      <p:sp>
        <p:nvSpPr>
          <p:cNvPr id="45" name="TextBox 45">
            <a:extLst xmlns:a="http://schemas.openxmlformats.org/drawingml/2006/main">
              <a:ext uri="{FF2B5EF4-FFF2-40B4-BE49-F238E27FC236}">
                <a16:creationId xmlns:a16="http://schemas.microsoft.com/office/drawing/2014/main" id="{324D8E48-8D43-4825-978C-5494E50C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430214" y="3921678"/>
            <a:ext cx="2543791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656565"/>
                </a:solidFill>
                <a:latin typeface="Cambria"/>
                <a:ea typeface="Cambria"/>
                <a:cs typeface="Cambria"/>
              </a:rPr>
              <a:t>H_t → H_{t+1}</a:t>
            </a:r>
            <a:endParaRPr sz="2300"/>
          </a:p>
        </p:txBody>
      </p:sp>
      <p:sp>
        <p:nvSpPr>
          <p:cNvPr id="46" name="TextBox 46">
            <a:extLst xmlns:a="http://schemas.openxmlformats.org/drawingml/2006/main">
              <a:ext uri="{FF2B5EF4-FFF2-40B4-BE49-F238E27FC236}">
                <a16:creationId xmlns:a16="http://schemas.microsoft.com/office/drawing/2014/main" id="{90130210-604A-456A-8A82-CDD0E7E3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377218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Agent + temporal state</a:t>
            </a:r>
            <a:endParaRPr sz="2200"/>
          </a:p>
        </p:txBody>
      </p:sp>
      <p:sp>
        <p:nvSpPr>
          <p:cNvPr id="47" name="TextBox 47">
            <a:extLst xmlns:a="http://schemas.openxmlformats.org/drawingml/2006/main">
              <a:ext uri="{FF2B5EF4-FFF2-40B4-BE49-F238E27FC236}">
                <a16:creationId xmlns:a16="http://schemas.microsoft.com/office/drawing/2014/main" id="{2D9E738C-77AD-449B-AB8D-F9670C2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907174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temporal memory</a:t>
            </a:r>
            <a:endParaRPr sz="2300"/>
          </a:p>
        </p:txBody>
      </p:sp>
      <p:sp>
        <p:nvSpPr>
          <p:cNvPr id="48" name="TextBox 48">
            <a:extLst xmlns:a="http://schemas.openxmlformats.org/drawingml/2006/main">
              <a:ext uri="{FF2B5EF4-FFF2-40B4-BE49-F238E27FC236}">
                <a16:creationId xmlns:a16="http://schemas.microsoft.com/office/drawing/2014/main" id="{FD0B524D-C9A0-439E-B808-96EB9F97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874931" y="3964074"/>
            <a:ext cx="264978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49" name="TextBox 49">
            <a:extLst xmlns:a="http://schemas.openxmlformats.org/drawingml/2006/main">
              <a:ext uri="{FF2B5EF4-FFF2-40B4-BE49-F238E27FC236}">
                <a16:creationId xmlns:a16="http://schemas.microsoft.com/office/drawing/2014/main" id="{EEC24DAD-3924-4CF3-95A9-259905FC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09952" y="5776525"/>
            <a:ext cx="264978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2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updated forecast</a:t>
            </a:r>
            <a:endParaRPr sz="2200"/>
          </a:p>
        </p:txBody>
      </p:sp>
      <p:sp>
        <p:nvSpPr>
          <p:cNvPr id="50" name="TextBox 50">
            <a:extLst xmlns:a="http://schemas.openxmlformats.org/drawingml/2006/main">
              <a:ext uri="{FF2B5EF4-FFF2-40B4-BE49-F238E27FC236}">
                <a16:creationId xmlns:a16="http://schemas.microsoft.com/office/drawing/2014/main" id="{2EB7FB31-3E2C-4FF9-B678-C5877030B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033918" y="7048421"/>
            <a:ext cx="1801852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output</a:t>
            </a:r>
            <a:endParaRPr sz="2300"/>
          </a:p>
        </p:txBody>
      </p:sp>
      <p:sp>
        <p:nvSpPr>
          <p:cNvPr id="51" name="TextBox 51">
            <a:extLst xmlns:a="http://schemas.openxmlformats.org/drawingml/2006/main">
              <a:ext uri="{FF2B5EF4-FFF2-40B4-BE49-F238E27FC236}">
                <a16:creationId xmlns:a16="http://schemas.microsoft.com/office/drawing/2014/main" id="{452847AF-3EA9-47C8-B74C-48FBB2C3B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842687" y="2670981"/>
            <a:ext cx="741939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300" i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task contract</a:t>
            </a:r>
            <a:endParaRPr sz="2300"/>
          </a:p>
        </p:txBody>
      </p:sp>
      <p:sp>
        <p:nvSpPr>
          <p:cNvPr id="52" name="TextBox 52">
            <a:extLst xmlns:a="http://schemas.openxmlformats.org/drawingml/2006/main">
              <a:ext uri="{FF2B5EF4-FFF2-40B4-BE49-F238E27FC236}">
                <a16:creationId xmlns:a16="http://schemas.microsoft.com/office/drawing/2014/main" id="{BFAD5A1B-FEC5-4DD2-A396-F1ACC74C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902600" y="2861765"/>
            <a:ext cx="1589869" cy="50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i="1">
                <a:solidFill>
                  <a:srgbClr val="606060"/>
                </a:solidFill>
                <a:latin typeface="Cambria"/>
                <a:ea typeface="Cambria"/>
                <a:cs typeface="Cambria"/>
              </a:rPr>
              <a:t>plan / verify</a:t>
            </a:r>
            <a:endParaRPr sz="1800"/>
          </a:p>
        </p:txBody>
      </p:sp>
      <p:sp>
        <p:nvSpPr>
          <p:cNvPr id="53" name="TextBox 53">
            <a:extLst xmlns:a="http://schemas.openxmlformats.org/drawingml/2006/main">
              <a:ext uri="{FF2B5EF4-FFF2-40B4-BE49-F238E27FC236}">
                <a16:creationId xmlns:a16="http://schemas.microsoft.com/office/drawing/2014/main" id="{0FDD394A-D666-4532-BA7D-8DA73CA2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683700" y="5776525"/>
            <a:ext cx="2967756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next task episode</a:t>
            </a:r>
            <a:endParaRPr sz="2000"/>
          </a:p>
        </p:txBody>
      </p:sp>
      <p:sp>
        <p:nvSpPr>
          <p:cNvPr id="54" name="TextBox 54">
            <a:extLst xmlns:a="http://schemas.openxmlformats.org/drawingml/2006/main">
              <a:ext uri="{FF2B5EF4-FFF2-40B4-BE49-F238E27FC236}">
                <a16:creationId xmlns:a16="http://schemas.microsoft.com/office/drawing/2014/main" id="{B3875A72-2BA6-4254-8D8C-05A6F2AE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213656" y="7048421"/>
            <a:ext cx="2119826" cy="3603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60" i="1">
                <a:solidFill>
                  <a:srgbClr val="555555"/>
                </a:solidFill>
                <a:latin typeface="Cambria"/>
                <a:ea typeface="Cambria"/>
                <a:cs typeface="Cambria"/>
              </a:rPr>
              <a:t>new module record</a:t>
            </a:r>
            <a:endParaRPr sz="1160"/>
          </a:p>
        </p:txBody>
      </p:sp>
      <p:sp>
        <p:nvSpPr>
          <p:cNvPr id="55" name="TextBox 55">
            <a:extLst xmlns:a="http://schemas.openxmlformats.org/drawingml/2006/main">
              <a:ext uri="{FF2B5EF4-FFF2-40B4-BE49-F238E27FC236}">
                <a16:creationId xmlns:a16="http://schemas.microsoft.com/office/drawing/2014/main" id="{233D5496-A8D6-440D-AC70-59FC0E78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307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6" name="TextBox 56">
            <a:extLst xmlns:a="http://schemas.openxmlformats.org/drawingml/2006/main">
              <a:ext uri="{FF2B5EF4-FFF2-40B4-BE49-F238E27FC236}">
                <a16:creationId xmlns:a16="http://schemas.microsoft.com/office/drawing/2014/main" id="{1DA2589D-85D4-48DB-B4E0-556CC0E2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58809" y="4451634"/>
            <a:ext cx="847930" cy="2755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retain</a:t>
            </a:r>
            <a:endParaRPr sz="1700"/>
          </a:p>
        </p:txBody>
      </p:sp>
      <p:sp>
        <p:nvSpPr>
          <p:cNvPr id="57" name="TextBox 57">
            <a:extLst xmlns:a="http://schemas.openxmlformats.org/drawingml/2006/main">
              <a:ext uri="{FF2B5EF4-FFF2-40B4-BE49-F238E27FC236}">
                <a16:creationId xmlns:a16="http://schemas.microsoft.com/office/drawing/2014/main" id="{4A501EDE-1204-45C5-8251-EF1FD7F7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3204396" y="4557626"/>
            <a:ext cx="1801852" cy="3709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0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task-bound</a:t>
            </a:r>
            <a:endParaRPr sz="2000"/>
          </a:p>
        </p:txBody>
      </p:sp>
      <p:sp>
        <p:nvSpPr>
          <p:cNvPr id="58" name="TextBox 58">
            <a:extLst xmlns:a="http://schemas.openxmlformats.org/drawingml/2006/main">
              <a:ext uri="{FF2B5EF4-FFF2-40B4-BE49-F238E27FC236}">
                <a16:creationId xmlns:a16="http://schemas.microsoft.com/office/drawing/2014/main" id="{FE46529F-B65B-409D-906E-73211C4F5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76281" y="5257168"/>
            <a:ext cx="1377887" cy="296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700" i="1">
                <a:solidFill>
                  <a:srgbClr val="676767"/>
                </a:solidFill>
                <a:latin typeface="Cambria"/>
                <a:ea typeface="Cambria"/>
                <a:cs typeface="Cambria"/>
              </a:rPr>
              <a:t>cross-task reuse</a:t>
            </a:r>
            <a:endParaRPr sz="1700"/>
          </a:p>
        </p:txBody>
      </p:sp>
      <p:sp>
        <p:nvSpPr>
          <p:cNvPr id="59" name="TextBox 59">
            <a:extLst xmlns:a="http://schemas.openxmlformats.org/drawingml/2006/main">
              <a:ext uri="{FF2B5EF4-FFF2-40B4-BE49-F238E27FC236}">
                <a16:creationId xmlns:a16="http://schemas.microsoft.com/office/drawing/2014/main" id="{7F1BC151-F13C-4AEF-B08E-938835B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8903269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Figure 5. Four task contracts instantiated by Time-Series Harness Modules. The same general runtime can support distinct temporal outputs when the interface, memory, tools, control, planning, optimization, and coordination obligations are specialized.</a:t>
            </a:r>
            <a:endParaRPr sz="1500"/>
          </a:p>
        </p:txBody>
      </p:sp>
      <p:sp>
        <p:nvSpPr>
          <p:cNvPr id="60" name="TextBox 60">
            <a:extLst xmlns:a="http://schemas.openxmlformats.org/drawingml/2006/main">
              <a:ext uri="{FF2B5EF4-FFF2-40B4-BE49-F238E27FC236}">
                <a16:creationId xmlns:a16="http://schemas.microsoft.com/office/drawing/2014/main" id="{9F171002-ACDD-4EA2-BA81-2B3D417B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231842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Forecasting binds origin, horizon, and calibration. Augmentation binds fidelity, diversity, and utility. Anomaly diagnosis binds event windows and causes. Decision support binds actions, costs, and uncertainty.</a:t>
            </a:r>
            <a:endParaRPr sz="1400"/>
          </a:p>
        </p:txBody>
      </p:sp>
      <p:sp>
        <p:nvSpPr>
          <p:cNvPr id="61" name="TextBox 61">
            <a:extLst xmlns:a="http://schemas.openxmlformats.org/drawingml/2006/main">
              <a:ext uri="{FF2B5EF4-FFF2-40B4-BE49-F238E27FC236}">
                <a16:creationId xmlns:a16="http://schemas.microsoft.com/office/drawing/2014/main" id="{1896DCCD-40AD-4AA4-AFFC-D685370C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560415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A paper may instantiate more than one contract. The paper-card ledger records each module independently so that a task-specific contribution does not occupy a coarser layer.</a:t>
            </a:r>
            <a:endParaRPr sz="1400"/>
          </a:p>
        </p:txBody>
      </p:sp>
      <p:sp>
        <p:nvSpPr>
          <p:cNvPr id="62" name="TextBox 62">
            <a:extLst xmlns:a="http://schemas.openxmlformats.org/drawingml/2006/main">
              <a:ext uri="{FF2B5EF4-FFF2-40B4-BE49-F238E27FC236}">
                <a16:creationId xmlns:a16="http://schemas.microsoft.com/office/drawing/2014/main" id="{7866013F-025E-420E-87FA-00C467CC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9888988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dashed horizontal rule separates reusable harness mechanisms from task-bound contracts.</a:t>
            </a:r>
            <a:endParaRPr sz="1400"/>
          </a:p>
        </p:txBody>
      </p:sp>
      <p:sp>
        <p:nvSpPr>
          <p:cNvPr id="63" name="TextBox 63">
            <a:extLst xmlns:a="http://schemas.openxmlformats.org/drawingml/2006/main">
              <a:ext uri="{FF2B5EF4-FFF2-40B4-BE49-F238E27FC236}">
                <a16:creationId xmlns:a16="http://schemas.microsoft.com/office/drawing/2014/main" id="{9DBBCE21-423B-4D22-AED7-E656DF1B7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217561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Colored arrows show the output contract carried by each task family.</a:t>
            </a:r>
            <a:endParaRPr sz="1400"/>
          </a:p>
        </p:txBody>
      </p:sp>
      <p:sp>
        <p:nvSpPr>
          <p:cNvPr id="64" name="TextBox 64">
            <a:extLst xmlns:a="http://schemas.openxmlformats.org/drawingml/2006/main">
              <a:ext uri="{FF2B5EF4-FFF2-40B4-BE49-F238E27FC236}">
                <a16:creationId xmlns:a16="http://schemas.microsoft.com/office/drawing/2014/main" id="{3BE31941-5F20-488A-B696-64456D6F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546134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The visual vocabulary is adapted from the supplied RSI template; the content follows our four task families.</a:t>
            </a:r>
            <a:endParaRPr sz="1400"/>
          </a:p>
        </p:txBody>
      </p:sp>
      <p:sp>
        <p:nvSpPr>
          <p:cNvPr id="65" name="TextBox 65">
            <a:extLst xmlns:a="http://schemas.openxmlformats.org/drawingml/2006/main">
              <a:ext uri="{FF2B5EF4-FFF2-40B4-BE49-F238E27FC236}">
                <a16:creationId xmlns:a16="http://schemas.microsoft.com/office/drawing/2014/main" id="{FD4CB92F-02D3-47F1-ABE8-640D7B3C8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0874707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6" name="TextBox 66">
            <a:extLst xmlns:a="http://schemas.openxmlformats.org/drawingml/2006/main">
              <a:ext uri="{FF2B5EF4-FFF2-40B4-BE49-F238E27FC236}">
                <a16:creationId xmlns:a16="http://schemas.microsoft.com/office/drawing/2014/main" id="{8CE72065-BEAE-462B-B82E-540FCB6F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203280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  <p:sp>
        <p:nvSpPr>
          <p:cNvPr id="67" name="TextBox 67">
            <a:extLst xmlns:a="http://schemas.openxmlformats.org/drawingml/2006/main">
              <a:ext uri="{FF2B5EF4-FFF2-40B4-BE49-F238E27FC236}">
                <a16:creationId xmlns:a16="http://schemas.microsoft.com/office/drawing/2014/main" id="{15C3F9DA-A84A-4D04-B312-8FDC19AB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27893" y="11531853"/>
            <a:ext cx="12634162" cy="317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/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102144819"/>
      </p:ext>
    </p:extLst>
  </p:cSld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2026-10-07T15:39:18.2900000Z</dcterms:created>
  <dcterms:modified xsi:type="dcterms:W3CDTF">2026-10-07T15:39:18.2900000Z</dcterms:modified>
</coreProperties>
</file>