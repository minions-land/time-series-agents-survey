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eab6a429b3479d" /><Relationship Type="http://schemas.openxmlformats.org/officeDocument/2006/relationships/extended-properties" Target="/docProps/app.xml" Id="R982553e435774952" /><Relationship Type="http://schemas.openxmlformats.org/officeDocument/2006/relationships/officeDocument" Target="/ppt/presentation.xml" Id="R75a30df7d3b54d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06e8a734cb471c"/>
  </p:sldMasterIdLst>
  <p:notesMasterIdLst>
    <p:notesMasterId xmlns:r="http://schemas.openxmlformats.org/officeDocument/2006/relationships" r:id="R53bb550236a64de5"/>
  </p:notesMasterIdLst>
  <p:sldIdLst>
    <p:sldId xmlns:r="http://schemas.openxmlformats.org/officeDocument/2006/relationships" id="256" r:id="Rf54baf4d7fa147b3"/>
    <p:sldId xmlns:r="http://schemas.openxmlformats.org/officeDocument/2006/relationships" id="257" r:id="Rda849feb341441f0"/>
    <p:sldId xmlns:r="http://schemas.openxmlformats.org/officeDocument/2006/relationships" id="258" r:id="R79e8a025d6304e1d"/>
    <p:sldId xmlns:r="http://schemas.openxmlformats.org/officeDocument/2006/relationships" id="259" r:id="Re0db9e96d4384c02"/>
    <p:sldId xmlns:r="http://schemas.openxmlformats.org/officeDocument/2006/relationships" id="260" r:id="R934e34978d5045d9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602866fb64e83" /><Relationship Type="http://schemas.openxmlformats.org/officeDocument/2006/relationships/slideMaster" Target="/ppt/slideMasters/slideMaster1.xml" Id="R0806e8a734cb471c" /><Relationship Type="http://schemas.openxmlformats.org/officeDocument/2006/relationships/notesMaster" Target="/ppt/notesMasters/notesMaster1.xml" Id="R53bb550236a64de5" /><Relationship Type="http://schemas.openxmlformats.org/officeDocument/2006/relationships/presProps" Target="/ppt/presProps.xml" Id="Rbf9e25c2236e4842" /><Relationship Type="http://schemas.openxmlformats.org/officeDocument/2006/relationships/tableStyles" Target="/ppt/tableStyles.xml" Id="Re83109eab10047b9" /><Relationship Type="http://schemas.openxmlformats.org/officeDocument/2006/relationships/slide" Target="/ppt/slides/slide1.xml" Id="Rf54baf4d7fa147b3" /><Relationship Type="http://schemas.openxmlformats.org/officeDocument/2006/relationships/slide" Target="/ppt/slides/slide2.xml" Id="Rda849feb341441f0" /><Relationship Type="http://schemas.openxmlformats.org/officeDocument/2006/relationships/slide" Target="/ppt/slides/slide3.xml" Id="R79e8a025d6304e1d" /><Relationship Type="http://schemas.openxmlformats.org/officeDocument/2006/relationships/slide" Target="/ppt/slides/slide4.xml" Id="Re0db9e96d4384c02" /><Relationship Type="http://schemas.openxmlformats.org/officeDocument/2006/relationships/slide" Target="/ppt/slides/slide5.xml" Id="R934e34978d50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8b047ff835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f74b5fca434c46" /><Relationship Type="http://schemas.openxmlformats.org/officeDocument/2006/relationships/notesMaster" Target="/ppt/notesMasters/notesMaster1.xml" Id="Rb6e4c0c5c831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e738bcbd74b95" /><Relationship Type="http://schemas.openxmlformats.org/officeDocument/2006/relationships/notesMaster" Target="/ppt/notesMasters/notesMaster1.xml" Id="R89e7c22058044f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59257a6bbe4568" /><Relationship Type="http://schemas.openxmlformats.org/officeDocument/2006/relationships/notesMaster" Target="/ppt/notesMasters/notesMaster1.xml" Id="R207038863b644c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a54beaed6a453f" /><Relationship Type="http://schemas.openxmlformats.org/officeDocument/2006/relationships/notesMaster" Target="/ppt/notesMasters/notesMaster1.xml" Id="R497183697af64a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6e9ba5066f4f48" /><Relationship Type="http://schemas.openxmlformats.org/officeDocument/2006/relationships/notesMaster" Target="/ppt/notesMasters/notesMaster1.xml" Id="Rae391ee072404f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3e37f094f4786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c3d388174f4ece" /><Relationship Type="http://schemas.openxmlformats.org/officeDocument/2006/relationships/slideLayout" Target="/ppt/slideLayouts/slideLayout1.xml" Id="Rf0dc1a070d3d474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dc1a070d3d474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05e1ed1bf4eb0" /><Relationship Type="http://schemas.openxmlformats.org/officeDocument/2006/relationships/image" Target="/ppt/media/image.png" Id="R2f0d5037fb3445d1" /><Relationship Type="http://schemas.openxmlformats.org/officeDocument/2006/relationships/image" Target="/ppt/media/image2.png" Id="R78fff4c643e74931" /><Relationship Type="http://schemas.openxmlformats.org/officeDocument/2006/relationships/image" Target="/ppt/media/image3.png" Id="R661582af14d14a36" /><Relationship Type="http://schemas.openxmlformats.org/officeDocument/2006/relationships/image" Target="/ppt/media/image4.png" Id="R56f1b03a04c14d09" /><Relationship Type="http://schemas.openxmlformats.org/officeDocument/2006/relationships/image" Target="/ppt/media/image5.png" Id="Reb35269dff6f4f86" /><Relationship Type="http://schemas.openxmlformats.org/officeDocument/2006/relationships/image" Target="/ppt/media/image6.png" Id="R5ad93ce20d484743" /><Relationship Type="http://schemas.openxmlformats.org/officeDocument/2006/relationships/notesSlide" Target="/ppt/notesSlides/notesSlide1.xml" Id="R17c9928c03894a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55bb781f64e52" /><Relationship Type="http://schemas.openxmlformats.org/officeDocument/2006/relationships/notesSlide" Target="/ppt/notesSlides/notesSlide2.xml" Id="R7267eeb354d045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7073d90834646" /><Relationship Type="http://schemas.openxmlformats.org/officeDocument/2006/relationships/notesSlide" Target="/ppt/notesSlides/notesSlide3.xml" Id="Rb796b00a589e4b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47d8278a843c0" /><Relationship Type="http://schemas.openxmlformats.org/officeDocument/2006/relationships/notesSlide" Target="/ppt/notesSlides/notesSlide4.xml" Id="R89065c92c3a84d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41ddaf3cd4e12" /><Relationship Type="http://schemas.openxmlformats.org/officeDocument/2006/relationships/image" Target="/ppt/media/image7.png" Id="R57ec709ffe584f78" /><Relationship Type="http://schemas.openxmlformats.org/officeDocument/2006/relationships/image" Target="/ppt/media/image8.png" Id="Rb3c7496332024665" /><Relationship Type="http://schemas.openxmlformats.org/officeDocument/2006/relationships/image" Target="/ppt/media/image9.png" Id="R02f1efb6ccee4701" /><Relationship Type="http://schemas.openxmlformats.org/officeDocument/2006/relationships/image" Target="/ppt/media/image10.png" Id="Re17349a4f9af4438" /><Relationship Type="http://schemas.openxmlformats.org/officeDocument/2006/relationships/image" Target="/ppt/media/image11.png" Id="R01f2ccb3247b4049" /><Relationship Type="http://schemas.openxmlformats.org/officeDocument/2006/relationships/image" Target="/ppt/media/image12.png" Id="R01969ee0043b4a49" /><Relationship Type="http://schemas.openxmlformats.org/officeDocument/2006/relationships/image" Target="/ppt/media/image13.png" Id="Rec072ce0626d4267" /><Relationship Type="http://schemas.openxmlformats.org/officeDocument/2006/relationships/image" Target="/ppt/media/image14.png" Id="R9e1baae663184a32" /><Relationship Type="http://schemas.openxmlformats.org/officeDocument/2006/relationships/notesSlide" Target="/ppt/notesSlides/notesSlide5.xml" Id="Re4f4f6c7640b43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4183A1F1-58D0-46F2-A0F9-34CA2784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203130B9-934D-4E3E-A397-D77C62E4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F3E3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0FD4F89D-C1F7-4D1B-8239-D0A2104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21D9FB30-CB1F-4E55-BFCC-8CDD5D4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5E2F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34B89641-36C4-43A4-B09C-AD1BE6B9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EF0E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D38E8973-23B9-4811-A55B-27B5FC5E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9CF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E93479A8-C50C-4151-8675-7C81472B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10096500"/>
            <a:ext cx="132397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2F3EE"/>
          </a:solidFill>
          <a:ln xmlns:a="http://schemas.openxmlformats.org/drawingml/2006/main" w="38100">
            <a:solidFill>
              <a:srgbClr val="2C2D2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monitor">
            <a:extLst xmlns:a="http://schemas.openxmlformats.org/drawingml/2006/main">
              <a:ext uri="{FF2B5EF4-FFF2-40B4-BE49-F238E27FC236}">
                <a16:creationId xmlns:a16="http://schemas.microsoft.com/office/drawing/2014/main" id="{84680CBA-0F12-4D0D-BF27-8586EF9A7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d5037fb3445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0" name="document">
            <a:extLst xmlns:a="http://schemas.openxmlformats.org/drawingml/2006/main">
              <a:ext uri="{FF2B5EF4-FFF2-40B4-BE49-F238E27FC236}">
                <a16:creationId xmlns:a16="http://schemas.microsoft.com/office/drawing/2014/main" id="{97778CC4-8C37-4858-B58A-10ACC0663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ff4c643e7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1" name="checked-document">
            <a:extLst xmlns:a="http://schemas.openxmlformats.org/drawingml/2006/main">
              <a:ext uri="{FF2B5EF4-FFF2-40B4-BE49-F238E27FC236}">
                <a16:creationId xmlns:a16="http://schemas.microsoft.com/office/drawing/2014/main" id="{8D2888FD-4605-4662-9B31-EC387C62D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582af14d14a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2" name="code-files">
            <a:extLst xmlns:a="http://schemas.openxmlformats.org/drawingml/2006/main">
              <a:ext uri="{FF2B5EF4-FFF2-40B4-BE49-F238E27FC236}">
                <a16:creationId xmlns:a16="http://schemas.microsoft.com/office/drawing/2014/main" id="{03E0377B-FEF0-480E-9837-DEBB6133F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1b03a04c14d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3" name="documents">
            <a:extLst xmlns:a="http://schemas.openxmlformats.org/drawingml/2006/main">
              <a:ext uri="{FF2B5EF4-FFF2-40B4-BE49-F238E27FC236}">
                <a16:creationId xmlns:a16="http://schemas.microsoft.com/office/drawing/2014/main" id="{BBE9FD60-C28F-47E8-BBAA-80AD33B846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5269dff6f4f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4" name="shield-check">
            <a:extLst xmlns:a="http://schemas.openxmlformats.org/drawingml/2006/main">
              <a:ext uri="{FF2B5EF4-FFF2-40B4-BE49-F238E27FC236}">
                <a16:creationId xmlns:a16="http://schemas.microsoft.com/office/drawing/2014/main" id="{0708141B-94C0-4E29-8967-DD8E9F043D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93ce20d484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6162675"/>
            <a:ext cx="1238250" cy="952500"/>
          </a:xfrm>
          <a:prstGeom xmlns:a="http://schemas.openxmlformats.org/drawingml/2006/main" prst="rect">
            <a:avLst/>
          </a:prstGeom>
        </p:spPr>
      </p:pic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934A0525-D926-4390-8D6F-BEDA3A9B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D4C773F9-5C58-4399-BCDB-888E2F5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B353FB0A-F304-4282-877A-DDE67AB9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FEF0539B-56C9-414F-B42B-1F07B02D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58000" y="4619625"/>
            <a:ext cx="1190625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7D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ED58CAED-AFFB-45DE-BB04-0EDF2264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0BE783F8-B846-4D0D-AD7B-5559E027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CE48B74B-BA21-43AC-96F8-A5B271FF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811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47D19619-B297-4A75-BBD7-EC29DAF3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563ED363-DE45-4FAF-AD65-9EE7EF83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1428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CEC4A582-9F0E-454A-9E7A-D05C5249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B0594353-C733-4181-9D17-C08B6CB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04E13A71-B537-4C9D-A806-D56F5650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286125" y="9029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2908FA0E-9455-49E8-A1D3-1A6ABD9C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0B950A6-753B-4257-AA02-7ED29363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5" y="10287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80" i="1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Time-Series Agent construction</a:t>
            </a:r>
            <a:endParaRPr sz="138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905892A-10B7-4416-AD29-6E86EC09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16287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Modules compose across tasks</a:t>
            </a:r>
            <a:endParaRPr sz="19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F5D381B-4D12-48DD-BB86-D5D78532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Agent</a:t>
            </a:r>
            <a:endParaRPr sz="25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22B88FF-26DA-4291-874E-F0ECC20C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LLM +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and temporal data</a:t>
            </a:r>
            <a:endParaRPr sz="19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E2B044CC-2AD7-4F1F-A269-3F0D5CDD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Paper cards</a:t>
            </a:r>
            <a:endParaRPr sz="25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B32029E-24E1-4AB1-B2D5-F41A730E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claims, evidence,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module tags</a:t>
            </a:r>
            <a:endParaRPr sz="19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2F087DF-3044-4DBF-8014-4727F058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New task agent</a:t>
            </a:r>
            <a:endParaRPr sz="16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A03511-D2B5-4E49-A7C3-D8237E6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Reusable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configuration</a:t>
            </a:r>
            <a:endParaRPr sz="19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AE438AE-C751-4BFE-A959-1CB0301B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General Harness</a:t>
            </a:r>
            <a:endParaRPr sz="16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AD4D138-BF2B-4C3D-B641-C4306A40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tools, memory,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control, planning</a:t>
            </a:r>
            <a:endParaRPr sz="190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5F0D7911-9A26-431F-9537-CA762B66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Harness</a:t>
            </a:r>
            <a:endParaRPr sz="25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63212F7-8CCB-49A7-A3E6-039E6DB8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temporal state,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operations, validation</a:t>
            </a:r>
            <a:endParaRPr sz="19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5CC3678E-757B-4CF7-AE3D-E66DBC63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Task contract</a:t>
            </a:r>
            <a:endParaRPr sz="25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BDC2A80-3623-42CB-AD16-271506B3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forecasting, anomaly,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augmentation, decisions</a:t>
            </a:r>
            <a:endParaRPr sz="190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C50D080-9D02-470D-AA62-9331676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309562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8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instantiate</a:t>
            </a:r>
            <a:endParaRPr sz="108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83208D74-B61A-4791-B943-BA2270EE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762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observe</a:t>
            </a:r>
            <a:endParaRPr sz="190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A09E8370-887A-41B9-B4C6-B0E6B901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5029200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i="1">
                <a:solidFill>
                  <a:srgbClr val="397C63"/>
                </a:solidFill>
                <a:latin typeface="Cambria"/>
                <a:ea typeface="Cambria"/>
                <a:cs typeface="Cambria"/>
              </a:rPr>
              <a:t>evaluate</a:t>
            </a:r>
            <a:endParaRPr sz="210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E18B5E2A-050A-4014-8D05-C5D2E740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67627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adapt</a:t>
            </a:r>
            <a:endParaRPr sz="20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17F72DD0-EA65-4873-BECD-1967A8E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6762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benchmark</a:t>
            </a:r>
            <a:endParaRPr sz="20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1D7C8443-3EAA-4E76-B785-045218E7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8625" y="4762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select module</a:t>
            </a:r>
            <a:endParaRPr sz="19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ED6B899-A0C9-46C3-92C7-03765AE0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909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70" i="1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Module-level paper card</a:t>
            </a:r>
            <a:endParaRPr sz="117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6DAB0010-B83E-452D-B763-A0FC64E2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9601200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One paper may contribute several modules</a:t>
            </a:r>
            <a:endParaRPr sz="19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0E1510D3-3C10-4C62-932E-1D83ED0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6500" y="102108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C706C"/>
                </a:solidFill>
                <a:latin typeface="Cambria"/>
                <a:ea typeface="Cambria"/>
                <a:cs typeface="Cambria"/>
              </a:rPr>
              <a:t>Task semantics and benchmark protocols remain explicit</a:t>
            </a:r>
            <a:endParaRPr sz="18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3C0CEF01-74D9-453D-8A4B-73B63535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5875" y="3238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 system</a:t>
            </a:r>
            <a:endParaRPr sz="31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E0DF73F3-03D0-4DD1-B63B-6A48BA7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25" y="4095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40" i="1">
                <a:solidFill>
                  <a:srgbClr val="66716D"/>
                </a:solidFill>
                <a:latin typeface="Cambria"/>
                <a:ea typeface="Cambria"/>
                <a:cs typeface="Cambria"/>
              </a:rPr>
              <a:t>A module-level construction view</a:t>
            </a:r>
            <a:endParaRPr sz="154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6769ED20-9853-4288-AB88-995B224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" y="10744200"/>
            <a:ext cx="1628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106316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9F782CCC-3434-4EB0-8DE4-4AC4C6C4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97" y="4692728"/>
            <a:ext cx="1975054" cy="1753848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CFE9EE"/>
          </a:solidFill>
          <a:ln xmlns:a="http://schemas.openxmlformats.org/drawingml/2006/main" w="25400">
            <a:solidFill>
              <a:srgbClr val="1F293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36AAD9BA-D0CA-4C95-B64A-32D6E12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74262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6B4C876A-F4D8-4802-96F4-BE607C59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967154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BB99C65A-FB16-44D2-A43E-EDEDC69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3199588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749E6523-FA25-41D7-BC7D-C9CEE2C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4424121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E35D14C6-8109-4B61-BCEA-461E20A4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5664455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A95570C2-816A-4162-8E1D-6020B418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6888989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898CBF83-47A9-43C9-8E92-86279044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8121422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9E8EE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F1BA3C08-53CD-4813-BCA8-B8A69499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9353856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B8DF2864-EEFF-4DC7-A9A8-0182D6D8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058629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37572E5A-A461-4CDB-A870-2944BBF6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74262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D78B8193-E5CB-4E52-8B40-1EC53A52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967154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6C7B9ED1-88A3-49B8-8EB4-12A17C21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3199588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A9E4A62C-CB62-4E97-91A5-1002C628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4424121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77D1C16F-A8DA-4700-A82F-3A148081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5664455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7C68ED38-15C6-4E1D-9D89-8AA17810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6888989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BAA51844-E7D2-41BA-934A-0A97BA68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8121422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A485E1DD-ACD9-432F-A2FA-222B373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9353856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FA9730B2-CA14-427B-BA15-8955E9CD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058629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100B3D14-7C4F-410C-AA7D-A484F269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8130"/>
            <a:ext cx="0" cy="1097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727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177C1EC4-4B90-4BB5-9E0C-F8820364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8233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4C3DFB65-2761-4662-85FB-BD944085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2306863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82CFD401-12A8-4A00-B747-56595698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3539297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A028AA2F-88A7-4662-9077-0B0DF35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4771731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D0623AD7-D357-4A49-A561-6FA59A6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6004164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67B29C67-D66C-48E8-928C-13B158E0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7236598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A450F686-5085-4157-82D7-E28FA420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8469032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91A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Line 29">
            <a:extLst xmlns:a="http://schemas.openxmlformats.org/drawingml/2006/main">
              <a:ext uri="{FF2B5EF4-FFF2-40B4-BE49-F238E27FC236}">
                <a16:creationId xmlns:a16="http://schemas.microsoft.com/office/drawing/2014/main" id="{C895B563-F879-43A2-827C-551E464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9701466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Line 30">
            <a:extLst xmlns:a="http://schemas.openxmlformats.org/drawingml/2006/main">
              <a:ext uri="{FF2B5EF4-FFF2-40B4-BE49-F238E27FC236}">
                <a16:creationId xmlns:a16="http://schemas.microsoft.com/office/drawing/2014/main" id="{74812086-92C2-4445-ACAE-C77D1D05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4180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725E48A5-5A8E-4FCB-A880-894B2545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1534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8C2C0314-9E5C-43EB-94B4-910810D5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2520169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Line 33">
            <a:extLst xmlns:a="http://schemas.openxmlformats.org/drawingml/2006/main">
              <a:ext uri="{FF2B5EF4-FFF2-40B4-BE49-F238E27FC236}">
                <a16:creationId xmlns:a16="http://schemas.microsoft.com/office/drawing/2014/main" id="{91FA70BB-A7BE-49C6-82E2-73E09F9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3752603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0965E52E-2523-4E96-A11B-D2B5659E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48349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Line 35">
            <a:extLst xmlns:a="http://schemas.openxmlformats.org/drawingml/2006/main">
              <a:ext uri="{FF2B5EF4-FFF2-40B4-BE49-F238E27FC236}">
                <a16:creationId xmlns:a16="http://schemas.microsoft.com/office/drawing/2014/main" id="{E0807F56-9B67-4D47-A81F-F971C327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6217470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Line 36">
            <a:extLst xmlns:a="http://schemas.openxmlformats.org/drawingml/2006/main">
              <a:ext uri="{FF2B5EF4-FFF2-40B4-BE49-F238E27FC236}">
                <a16:creationId xmlns:a16="http://schemas.microsoft.com/office/drawing/2014/main" id="{EEE42A70-AA57-4229-937D-5946BCB6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7442004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6D0306C1-D010-405B-9730-92F15A2B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8674438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793A5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Line 38">
            <a:extLst xmlns:a="http://schemas.openxmlformats.org/drawingml/2006/main">
              <a:ext uri="{FF2B5EF4-FFF2-40B4-BE49-F238E27FC236}">
                <a16:creationId xmlns:a16="http://schemas.microsoft.com/office/drawing/2014/main" id="{058760CA-30A3-4B86-B9EF-A9A5F086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990687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Line 39">
            <a:extLst xmlns:a="http://schemas.openxmlformats.org/drawingml/2006/main">
              <a:ext uri="{FF2B5EF4-FFF2-40B4-BE49-F238E27FC236}">
                <a16:creationId xmlns:a16="http://schemas.microsoft.com/office/drawing/2014/main" id="{2B130351-5DEC-4DD2-91F8-0BD489A1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099710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25C885D1-C9CA-4697-A017-C266CD8F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0332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Ellipse 41">
            <a:extLst xmlns:a="http://schemas.openxmlformats.org/drawingml/2006/main">
              <a:ext uri="{FF2B5EF4-FFF2-40B4-BE49-F238E27FC236}">
                <a16:creationId xmlns:a16="http://schemas.microsoft.com/office/drawing/2014/main" id="{DBBF7041-A999-4A59-A8D0-DA2E2547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2227861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823FE34C-F71B-48CE-A1C8-AEED3253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3460295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Ellipse 43">
            <a:extLst xmlns:a="http://schemas.openxmlformats.org/drawingml/2006/main">
              <a:ext uri="{FF2B5EF4-FFF2-40B4-BE49-F238E27FC236}">
                <a16:creationId xmlns:a16="http://schemas.microsoft.com/office/drawing/2014/main" id="{44ECDED9-0469-440A-BF1E-668C1D06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4692728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Ellipse 44">
            <a:extLst xmlns:a="http://schemas.openxmlformats.org/drawingml/2006/main">
              <a:ext uri="{FF2B5EF4-FFF2-40B4-BE49-F238E27FC236}">
                <a16:creationId xmlns:a16="http://schemas.microsoft.com/office/drawing/2014/main" id="{0BAC7B0F-5429-4522-9E0F-1339414D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5925162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Ellipse 45">
            <a:extLst xmlns:a="http://schemas.openxmlformats.org/drawingml/2006/main">
              <a:ext uri="{FF2B5EF4-FFF2-40B4-BE49-F238E27FC236}">
                <a16:creationId xmlns:a16="http://schemas.microsoft.com/office/drawing/2014/main" id="{128F326C-19F7-458D-AD20-A05A3555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7157596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4216F1CB-4A16-4F3F-9248-F325694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8390030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EF3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Ellipse 47">
            <a:extLst xmlns:a="http://schemas.openxmlformats.org/drawingml/2006/main">
              <a:ext uri="{FF2B5EF4-FFF2-40B4-BE49-F238E27FC236}">
                <a16:creationId xmlns:a16="http://schemas.microsoft.com/office/drawing/2014/main" id="{CF493A3C-28D5-487D-99A8-1B8CFBB9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9622463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A522E33E-7C32-41AC-B1C5-FD421290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86279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48A3FEC3-E6BA-4C1D-982D-8DFB13B3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616" y="142204"/>
            <a:ext cx="1422039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Survey organization</a:t>
            </a:r>
            <a:endParaRPr sz="254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8C177B-CBAC-4A9B-894D-7FB4DAA7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54752" y="142204"/>
            <a:ext cx="1738048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5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Sections</a:t>
            </a:r>
            <a:endParaRPr sz="235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B7EF8339-F878-4377-8E46-0826581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4937635"/>
            <a:ext cx="1659045" cy="829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Time-Series</a:t>
            </a:r>
            <a:endParaRPr sz="2680"/>
          </a:p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Agent</a:t>
            </a:r>
            <a:endParaRPr sz="268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99EB765-7E99-4CE9-B00B-1F29F328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5877761"/>
            <a:ext cx="1659045" cy="355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80" i="1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Reader’s guide</a:t>
            </a:r>
            <a:endParaRPr sz="168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1EE7D445-0648-4FC2-A2A3-0D41619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0582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1    Introduction</a:t>
            </a:r>
            <a:endParaRPr sz="285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780174A-6821-4D52-A039-32DAB85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2030356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2    What Is a</a:t>
            </a:r>
            <a:endParaRPr sz="2410"/>
          </a:p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Agent?</a:t>
            </a:r>
            <a:endParaRPr sz="241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3A9C8E21-278F-476D-968C-11BC9FD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3262789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3    LLM-Side</a:t>
            </a:r>
            <a:endParaRPr sz="2480"/>
          </a:p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Contributions</a:t>
            </a:r>
            <a:endParaRPr sz="248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11485006-D360-4BFD-9963-4B78443C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4487323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4    General</a:t>
            </a:r>
            <a:endParaRPr sz="2540"/>
          </a:p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54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7F18C8CD-2AA5-4AB4-BB98-2D12DCD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5727657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5    General Time-Series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239D1381-5541-4A1F-859F-66D1B39C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6952190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6    Task-Specific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B1B8DF08-7656-4FC9-B408-4E53B027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184624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7    Infrastructure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Benchmarks</a:t>
            </a:r>
            <a:endParaRPr sz="261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875031A9-F4E6-4587-A2B1-A3B6E47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9417058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8    Open Problems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Case Studies</a:t>
            </a:r>
            <a:endParaRPr sz="261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8D587273-47B3-4857-A7DF-538CDEAF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1064949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9    Conclusion</a:t>
            </a:r>
            <a:endParaRPr sz="322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4B91E13D-C296-4A4A-9E7B-548335EF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790022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definition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Construction questions</a:t>
            </a:r>
            <a:endParaRPr sz="237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4F432F60-C1CF-4DC3-BED2-39B312EF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2014555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Review scope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evidence</a:t>
            </a:r>
            <a:endParaRPr sz="237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8E8F28B5-03B5-4F65-8D5F-9F7DD399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3246989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representation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Alignment and reasoning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LLM-side methods</a:t>
            </a:r>
            <a:endParaRPr sz="218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71AAB14A-329B-4250-A251-A36AB02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4471522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Tools and memory          Control and execution</a:t>
            </a:r>
            <a:endParaRPr sz="2160"/>
          </a:p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state             Provenance and validation</a:t>
            </a:r>
            <a:endParaRPr sz="216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8655E1CE-5673-4EF3-A32C-E77AECDE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5711856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harnesses     Reusable modules</a:t>
            </a:r>
            <a:endParaRPr sz="2000"/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contracts             Benchmark protocols</a:t>
            </a:r>
            <a:endParaRPr sz="20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C8FD51F0-1A07-477C-91B5-03034C7F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6936390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               Augmentation</a:t>
            </a:r>
            <a:endParaRPr sz="1889"/>
          </a:p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          Decision support</a:t>
            </a:r>
            <a:endParaRPr sz="1889"/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9D5B4742-DF09-4183-96C0-2D5D0A37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8168824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ModernTSF                  TimeSeriesGym</a:t>
            </a:r>
            <a:endParaRPr sz="1870"/>
          </a:p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Traces and episodes        Reproducible evaluation</a:t>
            </a:r>
            <a:endParaRPr sz="1870"/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101A1524-EFE9-470E-87B7-9798172D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9401257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database        Module-level counts</a:t>
            </a:r>
            <a:endParaRPr sz="1850"/>
          </a:p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tasks                 Evidence gaps</a:t>
            </a:r>
            <a:endParaRPr sz="1850"/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A625E284-994D-48F5-AAE5-6B6908BF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10633691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map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problems</a:t>
            </a:r>
            <a:endParaRPr sz="2370"/>
          </a:p>
        </p:txBody>
      </p:sp>
    </p:spTree>
    <p:extLst>
      <p:ext uri="{BB962C8B-B14F-4D97-AF65-F5344CB8AC3E}">
        <p14:creationId xmlns:p14="http://schemas.microsoft.com/office/powerpoint/2010/main" val="1800794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F8010-9389-4A95-BB89-2727FD64FEE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8667750" y="4857750"/>
            <a:ext cx="2571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2778D-D131-4190-B9BB-809D8AF8BAA7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V="1">
            <a:off x="7429500" y="4762500"/>
            <a:ext cx="0" cy="2857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DED88-2024-4068-AE55-CD88CCD05AA9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V="1">
            <a:off x="7429500" y="3143250"/>
            <a:ext cx="0" cy="533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7E4AE-729E-4126-A4D2-52AEA00AE44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4857750"/>
            <a:ext cx="476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D6396"/>
            </a:solidFill>
            <a:prstDash val="solid"/>
            <a:head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BB0A43-AC61-4BD1-AC88-DFADC662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Contribution layers in Time-Series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8A9A5-3A3D-46FB-8C7C-3E227E54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cards record module-level contributions across the LLM, Harness, temporal, task, and evaluation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C4588-A99D-4F8B-BFBE-9147B88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LLM side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D3373-63B4-4507-92FC-D52ECEAC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4288">
            <a:solidFill>
              <a:srgbClr val="6D6396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52DE5-AC16-42D1-912A-DF994504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Language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1248C-FC0D-4D27-9D6D-B7A9CAFB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324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representation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alignment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reasoning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ChatTS lineage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38925-EA09-4FA8-9926-30C36A8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63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B21D6-2631-4328-8CDD-D4FDA839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LLM component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F9B95-8323-48CA-A827-5D12F3B5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 fields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claim · evidence · BibTeX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B1A71-AB35-4F18-974E-31EE464D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43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Time-Series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90AED-2588-4667-AC5B-5B747940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6667500" cy="68580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4C645-07B5-4FF7-9988-ED90E4EB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General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3F5EA-FD74-48EE-8EF3-4587B22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tools · memory · control · planning ·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3130A-960B-42CB-8F66-A36247F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4667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4288">
            <a:solidFill>
              <a:srgbClr val="6B9F80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064B1-DC88-4E0A-BBFE-2AF8A10F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rPr>
              <a:t>General Time-Series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247AA-2BA9-4507-B0FD-A7C7EAC5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state · operations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provenance ·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FB02F-575D-4285-A9F2-BB7D24D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4288">
            <a:solidFill>
              <a:srgbClr val="B47B24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B99EB-86E6-4144-8B83-20B20C9E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rPr>
              <a:t>Task-Specific Harness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AF30C-3E35-494D-BB9D-406F087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forecasting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augmentation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anomaly ·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B81F5-239D-408E-B62B-7152915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Evaluation and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4E622-4671-41A0-87CC-406D5202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8BE1B-5593-4091-838F-3B6B1AB7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Benchmark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E391A-743B-4DCE-B4FF-8157A85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7813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episodes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chronology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held-out tests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reproducible traces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6451C-7297-4BF5-8E5A-C18A2459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E0CEE-4C3A-408F-9F40-48DD7DB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720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module-level</a:t>
            </a:r>
          </a:p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counts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64EF0-A89A-4EEB-8D3E-92985A14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Each paper can contribute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several modules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4F9BB-9FCC-4988-B7B6-D793D41A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8582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B88256-7BAD-474F-AE37-DA1E98ED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0297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General Harness ⊃ General Time-Series Harness ⊃ Task-Specific Harness</a:t>
            </a:r>
          </a:p>
        </p:txBody>
      </p:sp>
    </p:spTree>
    <p:extLst>
      <p:ext uri="{BB962C8B-B14F-4D97-AF65-F5344CB8AC3E}">
        <p14:creationId xmlns:p14="http://schemas.microsoft.com/office/powerpoint/2010/main" val="1094844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BF2152F5-8610-476D-A58E-FF4E79DC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0989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BF5E8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590DE9DA-6065-477B-9D23-11B90127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35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FFC536CB-C7E4-416A-A61A-2574BA81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0080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62B334DA-99B7-46AA-B331-06BC9F1C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4626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59FDBEE1-7867-4CAF-AE79-96986A3A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9171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4EFF8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B7841B3B-F47D-47B0-83D7-DB1B3BDE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3717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6F6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11E1DBF8-9A82-4D5D-9892-15CDE5CC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4218" y="9730930"/>
            <a:ext cx="8096134" cy="560502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25400">
            <a:solidFill>
              <a:srgbClr val="2832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890EC910-C38B-4FB4-B06F-EA9257FF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FC9F43F5-0033-4451-A072-2F495CD2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375EA38E-9C66-466E-85DE-965C0FF6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3D37F9BE-887E-4371-BD61-1C5FF541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341C894D-0536-420A-AB1B-F6E2BD40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5F4E18F4-344D-4B62-9B60-385F784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5D10020A-2E06-4F87-9C87-7466E7D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759801BA-5DF1-4F74-BFF7-ED5DA086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34DBCF0D-95A5-4A1D-AB00-4CF9B46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928720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D1839210-64D5-40BD-B3F3-9AE292A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DB5C1F8E-9B00-45B4-B007-737F99FD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F792B76F-756E-4F4A-BC6F-45959A6A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oundrect 21">
            <a:extLst xmlns:a="http://schemas.openxmlformats.org/drawingml/2006/main">
              <a:ext uri="{FF2B5EF4-FFF2-40B4-BE49-F238E27FC236}">
                <a16:creationId xmlns:a16="http://schemas.microsoft.com/office/drawing/2014/main" id="{7C14769B-570D-429B-8C8D-BD43694C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rect 22">
            <a:extLst xmlns:a="http://schemas.openxmlformats.org/drawingml/2006/main">
              <a:ext uri="{FF2B5EF4-FFF2-40B4-BE49-F238E27FC236}">
                <a16:creationId xmlns:a16="http://schemas.microsoft.com/office/drawing/2014/main" id="{1CA0AAB7-0D6A-4B16-A2EB-B885473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rect 23">
            <a:extLst xmlns:a="http://schemas.openxmlformats.org/drawingml/2006/main">
              <a:ext uri="{FF2B5EF4-FFF2-40B4-BE49-F238E27FC236}">
                <a16:creationId xmlns:a16="http://schemas.microsoft.com/office/drawing/2014/main" id="{D6834717-57A7-4C6C-B1E4-E7F83C9C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oundrect 24">
            <a:extLst xmlns:a="http://schemas.openxmlformats.org/drawingml/2006/main">
              <a:ext uri="{FF2B5EF4-FFF2-40B4-BE49-F238E27FC236}">
                <a16:creationId xmlns:a16="http://schemas.microsoft.com/office/drawing/2014/main" id="{F6D3FE42-DD74-4245-ACA0-FBE9A8B2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oundrect 25">
            <a:extLst xmlns:a="http://schemas.openxmlformats.org/drawingml/2006/main">
              <a:ext uri="{FF2B5EF4-FFF2-40B4-BE49-F238E27FC236}">
                <a16:creationId xmlns:a16="http://schemas.microsoft.com/office/drawing/2014/main" id="{7A85B8E9-72A1-4910-A5EF-9285D5AD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oundrect 26">
            <a:extLst xmlns:a="http://schemas.openxmlformats.org/drawingml/2006/main">
              <a:ext uri="{FF2B5EF4-FFF2-40B4-BE49-F238E27FC236}">
                <a16:creationId xmlns:a16="http://schemas.microsoft.com/office/drawing/2014/main" id="{12BF1BED-BAA9-4CCA-8F72-32CA0B4D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oundrect 27">
            <a:extLst xmlns:a="http://schemas.openxmlformats.org/drawingml/2006/main">
              <a:ext uri="{FF2B5EF4-FFF2-40B4-BE49-F238E27FC236}">
                <a16:creationId xmlns:a16="http://schemas.microsoft.com/office/drawing/2014/main" id="{E7A54CBE-C77C-4E47-B699-F886B87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rect 28">
            <a:extLst xmlns:a="http://schemas.openxmlformats.org/drawingml/2006/main">
              <a:ext uri="{FF2B5EF4-FFF2-40B4-BE49-F238E27FC236}">
                <a16:creationId xmlns:a16="http://schemas.microsoft.com/office/drawing/2014/main" id="{20F210FA-2E29-4E33-A7A9-47BCFBCC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rect 29">
            <a:extLst xmlns:a="http://schemas.openxmlformats.org/drawingml/2006/main">
              <a:ext uri="{FF2B5EF4-FFF2-40B4-BE49-F238E27FC236}">
                <a16:creationId xmlns:a16="http://schemas.microsoft.com/office/drawing/2014/main" id="{4F61DCFF-1B15-410B-842C-2B6DCA9B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oundrect 30">
            <a:extLst xmlns:a="http://schemas.openxmlformats.org/drawingml/2006/main">
              <a:ext uri="{FF2B5EF4-FFF2-40B4-BE49-F238E27FC236}">
                <a16:creationId xmlns:a16="http://schemas.microsoft.com/office/drawing/2014/main" id="{5883A6BA-712D-453A-BEDD-F82DD9DF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oundrect 31">
            <a:extLst xmlns:a="http://schemas.openxmlformats.org/drawingml/2006/main">
              <a:ext uri="{FF2B5EF4-FFF2-40B4-BE49-F238E27FC236}">
                <a16:creationId xmlns:a16="http://schemas.microsoft.com/office/drawing/2014/main" id="{54900E37-873D-4CD4-B9F3-FF94830B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oundrect 32">
            <a:extLst xmlns:a="http://schemas.openxmlformats.org/drawingml/2006/main">
              <a:ext uri="{FF2B5EF4-FFF2-40B4-BE49-F238E27FC236}">
                <a16:creationId xmlns:a16="http://schemas.microsoft.com/office/drawing/2014/main" id="{4AD23785-DD1D-44B4-92B9-FDB6003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oundrect 33">
            <a:extLst xmlns:a="http://schemas.openxmlformats.org/drawingml/2006/main">
              <a:ext uri="{FF2B5EF4-FFF2-40B4-BE49-F238E27FC236}">
                <a16:creationId xmlns:a16="http://schemas.microsoft.com/office/drawing/2014/main" id="{8CA1AE40-ABFD-4597-B047-382F69F3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oundrect 34">
            <a:extLst xmlns:a="http://schemas.openxmlformats.org/drawingml/2006/main">
              <a:ext uri="{FF2B5EF4-FFF2-40B4-BE49-F238E27FC236}">
                <a16:creationId xmlns:a16="http://schemas.microsoft.com/office/drawing/2014/main" id="{75535CCC-939C-4A9E-8854-A12F4DBB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oundrect 35">
            <a:extLst xmlns:a="http://schemas.openxmlformats.org/drawingml/2006/main">
              <a:ext uri="{FF2B5EF4-FFF2-40B4-BE49-F238E27FC236}">
                <a16:creationId xmlns:a16="http://schemas.microsoft.com/office/drawing/2014/main" id="{A703F7BF-B0A1-46FF-B5C0-7C72B182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oundrect 36">
            <a:extLst xmlns:a="http://schemas.openxmlformats.org/drawingml/2006/main">
              <a:ext uri="{FF2B5EF4-FFF2-40B4-BE49-F238E27FC236}">
                <a16:creationId xmlns:a16="http://schemas.microsoft.com/office/drawing/2014/main" id="{7871DE1C-7E56-4D95-B459-34611B77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oundrect 37">
            <a:extLst xmlns:a="http://schemas.openxmlformats.org/drawingml/2006/main">
              <a:ext uri="{FF2B5EF4-FFF2-40B4-BE49-F238E27FC236}">
                <a16:creationId xmlns:a16="http://schemas.microsoft.com/office/drawing/2014/main" id="{E9A51617-8B47-4BBD-A17F-04ABC481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oundrect 38">
            <a:extLst xmlns:a="http://schemas.openxmlformats.org/drawingml/2006/main">
              <a:ext uri="{FF2B5EF4-FFF2-40B4-BE49-F238E27FC236}">
                <a16:creationId xmlns:a16="http://schemas.microsoft.com/office/drawing/2014/main" id="{C0BF311F-BCE0-4B07-98CA-77E99659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oundrect 39">
            <a:extLst xmlns:a="http://schemas.openxmlformats.org/drawingml/2006/main">
              <a:ext uri="{FF2B5EF4-FFF2-40B4-BE49-F238E27FC236}">
                <a16:creationId xmlns:a16="http://schemas.microsoft.com/office/drawing/2014/main" id="{3FD22586-0ECC-40C8-BCB5-D2B110FA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oundrect 40">
            <a:extLst xmlns:a="http://schemas.openxmlformats.org/drawingml/2006/main">
              <a:ext uri="{FF2B5EF4-FFF2-40B4-BE49-F238E27FC236}">
                <a16:creationId xmlns:a16="http://schemas.microsoft.com/office/drawing/2014/main" id="{E8F7EA12-EB9F-48CD-83D6-AC379699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oundrect 41">
            <a:extLst xmlns:a="http://schemas.openxmlformats.org/drawingml/2006/main">
              <a:ext uri="{FF2B5EF4-FFF2-40B4-BE49-F238E27FC236}">
                <a16:creationId xmlns:a16="http://schemas.microsoft.com/office/drawing/2014/main" id="{183D85F1-932B-46C6-A925-00E663B9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Roundrect 42">
            <a:extLst xmlns:a="http://schemas.openxmlformats.org/drawingml/2006/main">
              <a:ext uri="{FF2B5EF4-FFF2-40B4-BE49-F238E27FC236}">
                <a16:creationId xmlns:a16="http://schemas.microsoft.com/office/drawing/2014/main" id="{BDCA6C0E-7880-48C6-9519-E206FB87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Roundrect 43">
            <a:extLst xmlns:a="http://schemas.openxmlformats.org/drawingml/2006/main">
              <a:ext uri="{FF2B5EF4-FFF2-40B4-BE49-F238E27FC236}">
                <a16:creationId xmlns:a16="http://schemas.microsoft.com/office/drawing/2014/main" id="{F19B5115-FA19-4AC4-8FF5-34B80E98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oundrect 44">
            <a:extLst xmlns:a="http://schemas.openxmlformats.org/drawingml/2006/main">
              <a:ext uri="{FF2B5EF4-FFF2-40B4-BE49-F238E27FC236}">
                <a16:creationId xmlns:a16="http://schemas.microsoft.com/office/drawing/2014/main" id="{A2C945DD-A11C-447A-A8D7-E11E1605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oundrect 45">
            <a:extLst xmlns:a="http://schemas.openxmlformats.org/drawingml/2006/main">
              <a:ext uri="{FF2B5EF4-FFF2-40B4-BE49-F238E27FC236}">
                <a16:creationId xmlns:a16="http://schemas.microsoft.com/office/drawing/2014/main" id="{02ED7DB0-902A-48BC-81DA-94263234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oundrect 46">
            <a:extLst xmlns:a="http://schemas.openxmlformats.org/drawingml/2006/main">
              <a:ext uri="{FF2B5EF4-FFF2-40B4-BE49-F238E27FC236}">
                <a16:creationId xmlns:a16="http://schemas.microsoft.com/office/drawing/2014/main" id="{C693129E-2DD9-4574-9679-D993D62F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16415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Roundrect 47">
            <a:extLst xmlns:a="http://schemas.openxmlformats.org/drawingml/2006/main">
              <a:ext uri="{FF2B5EF4-FFF2-40B4-BE49-F238E27FC236}">
                <a16:creationId xmlns:a16="http://schemas.microsoft.com/office/drawing/2014/main" id="{77E09507-F1B4-45D9-AB12-E7A25889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436625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Roundrect 48">
            <a:extLst xmlns:a="http://schemas.openxmlformats.org/drawingml/2006/main">
              <a:ext uri="{FF2B5EF4-FFF2-40B4-BE49-F238E27FC236}">
                <a16:creationId xmlns:a16="http://schemas.microsoft.com/office/drawing/2014/main" id="{91319BCE-2B2D-43B3-903A-84256106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Roundrect 49">
            <a:extLst xmlns:a="http://schemas.openxmlformats.org/drawingml/2006/main">
              <a:ext uri="{FF2B5EF4-FFF2-40B4-BE49-F238E27FC236}">
                <a16:creationId xmlns:a16="http://schemas.microsoft.com/office/drawing/2014/main" id="{F9C9D45D-6EF0-485B-AD49-FA1F78F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oundrect 50">
            <a:extLst xmlns:a="http://schemas.openxmlformats.org/drawingml/2006/main">
              <a:ext uri="{FF2B5EF4-FFF2-40B4-BE49-F238E27FC236}">
                <a16:creationId xmlns:a16="http://schemas.microsoft.com/office/drawing/2014/main" id="{90B0A807-6118-4A81-A2C6-EB203DEF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oundrect 51">
            <a:extLst xmlns:a="http://schemas.openxmlformats.org/drawingml/2006/main">
              <a:ext uri="{FF2B5EF4-FFF2-40B4-BE49-F238E27FC236}">
                <a16:creationId xmlns:a16="http://schemas.microsoft.com/office/drawing/2014/main" id="{7DE9910C-796A-435D-8C60-CDB7AD30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Roundrect 52">
            <a:extLst xmlns:a="http://schemas.openxmlformats.org/drawingml/2006/main">
              <a:ext uri="{FF2B5EF4-FFF2-40B4-BE49-F238E27FC236}">
                <a16:creationId xmlns:a16="http://schemas.microsoft.com/office/drawing/2014/main" id="{9B6EF168-6E1F-43BB-A2D1-E1546CC9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Line 53">
            <a:extLst xmlns:a="http://schemas.openxmlformats.org/drawingml/2006/main">
              <a:ext uri="{FF2B5EF4-FFF2-40B4-BE49-F238E27FC236}">
                <a16:creationId xmlns:a16="http://schemas.microsoft.com/office/drawing/2014/main" id="{47FE6429-C7AF-44EE-895C-417319C7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8398" y="2179728"/>
            <a:ext cx="0" cy="7200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77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Line 54">
            <a:extLst xmlns:a="http://schemas.openxmlformats.org/drawingml/2006/main">
              <a:ext uri="{FF2B5EF4-FFF2-40B4-BE49-F238E27FC236}">
                <a16:creationId xmlns:a16="http://schemas.microsoft.com/office/drawing/2014/main" id="{BB267BB4-49AC-4FEF-A33C-505536EC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2335423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Line 55">
            <a:extLst xmlns:a="http://schemas.openxmlformats.org/drawingml/2006/main">
              <a:ext uri="{FF2B5EF4-FFF2-40B4-BE49-F238E27FC236}">
                <a16:creationId xmlns:a16="http://schemas.microsoft.com/office/drawing/2014/main" id="{93BE218F-6605-41FC-A172-6AA9FBB1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4048067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Line 56">
            <a:extLst xmlns:a="http://schemas.openxmlformats.org/drawingml/2006/main">
              <a:ext uri="{FF2B5EF4-FFF2-40B4-BE49-F238E27FC236}">
                <a16:creationId xmlns:a16="http://schemas.microsoft.com/office/drawing/2014/main" id="{35F67DFB-4A6D-415C-B102-76715DD3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5760711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Line 57">
            <a:extLst xmlns:a="http://schemas.openxmlformats.org/drawingml/2006/main">
              <a:ext uri="{FF2B5EF4-FFF2-40B4-BE49-F238E27FC236}">
                <a16:creationId xmlns:a16="http://schemas.microsoft.com/office/drawing/2014/main" id="{47A259F5-0CED-40BE-B753-BECBEBF3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7473354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Line 58">
            <a:extLst xmlns:a="http://schemas.openxmlformats.org/drawingml/2006/main">
              <a:ext uri="{FF2B5EF4-FFF2-40B4-BE49-F238E27FC236}">
                <a16:creationId xmlns:a16="http://schemas.microsoft.com/office/drawing/2014/main" id="{79F919C4-AD68-42EC-A8AF-DED5D40A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9185998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Line 59">
            <a:extLst xmlns:a="http://schemas.openxmlformats.org/drawingml/2006/main">
              <a:ext uri="{FF2B5EF4-FFF2-40B4-BE49-F238E27FC236}">
                <a16:creationId xmlns:a16="http://schemas.microsoft.com/office/drawing/2014/main" id="{C2B1AF47-60EC-422B-AA9B-A6BF6C9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693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Line 60">
            <a:extLst xmlns:a="http://schemas.openxmlformats.org/drawingml/2006/main">
              <a:ext uri="{FF2B5EF4-FFF2-40B4-BE49-F238E27FC236}">
                <a16:creationId xmlns:a16="http://schemas.microsoft.com/office/drawing/2014/main" id="{8565DF42-5FD8-433D-9D32-7E24DAE7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238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Line 61">
            <a:extLst xmlns:a="http://schemas.openxmlformats.org/drawingml/2006/main">
              <a:ext uri="{FF2B5EF4-FFF2-40B4-BE49-F238E27FC236}">
                <a16:creationId xmlns:a16="http://schemas.microsoft.com/office/drawing/2014/main" id="{59FA1073-4FC5-4CE2-BC9C-0942E8BA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1784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Line 62">
            <a:extLst xmlns:a="http://schemas.openxmlformats.org/drawingml/2006/main">
              <a:ext uri="{FF2B5EF4-FFF2-40B4-BE49-F238E27FC236}">
                <a16:creationId xmlns:a16="http://schemas.microsoft.com/office/drawing/2014/main" id="{7AA0F32D-4A3D-42C0-A4BB-71C71876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6329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Line 63">
            <a:extLst xmlns:a="http://schemas.openxmlformats.org/drawingml/2006/main">
              <a:ext uri="{FF2B5EF4-FFF2-40B4-BE49-F238E27FC236}">
                <a16:creationId xmlns:a16="http://schemas.microsoft.com/office/drawing/2014/main" id="{0EB52EF1-F73F-4E04-8FE8-498A97A2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30875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Line 64">
            <a:extLst xmlns:a="http://schemas.openxmlformats.org/drawingml/2006/main">
              <a:ext uri="{FF2B5EF4-FFF2-40B4-BE49-F238E27FC236}">
                <a16:creationId xmlns:a16="http://schemas.microsoft.com/office/drawing/2014/main" id="{46210E7C-1014-4D3D-8B86-A499A04B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5420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Ellipse 65">
            <a:extLst xmlns:a="http://schemas.openxmlformats.org/drawingml/2006/main">
              <a:ext uri="{FF2B5EF4-FFF2-40B4-BE49-F238E27FC236}">
                <a16:creationId xmlns:a16="http://schemas.microsoft.com/office/drawing/2014/main" id="{99755A4B-023B-4EE4-8EF3-1FA3392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5921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Ellipse 66">
            <a:extLst xmlns:a="http://schemas.openxmlformats.org/drawingml/2006/main">
              <a:ext uri="{FF2B5EF4-FFF2-40B4-BE49-F238E27FC236}">
                <a16:creationId xmlns:a16="http://schemas.microsoft.com/office/drawing/2014/main" id="{9B76710E-7C8E-42CC-9F5E-BB65D36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0467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Ellipse 67">
            <a:extLst xmlns:a="http://schemas.openxmlformats.org/drawingml/2006/main">
              <a:ext uri="{FF2B5EF4-FFF2-40B4-BE49-F238E27FC236}">
                <a16:creationId xmlns:a16="http://schemas.microsoft.com/office/drawing/2014/main" id="{199BA8BF-73F3-4F07-8CD9-AE2875BF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5012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Ellipse 68">
            <a:extLst xmlns:a="http://schemas.openxmlformats.org/drawingml/2006/main">
              <a:ext uri="{FF2B5EF4-FFF2-40B4-BE49-F238E27FC236}">
                <a16:creationId xmlns:a16="http://schemas.microsoft.com/office/drawing/2014/main" id="{BE65082A-E22A-4400-A854-539092A7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9558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Ellipse 69">
            <a:extLst xmlns:a="http://schemas.openxmlformats.org/drawingml/2006/main">
              <a:ext uri="{FF2B5EF4-FFF2-40B4-BE49-F238E27FC236}">
                <a16:creationId xmlns:a16="http://schemas.microsoft.com/office/drawing/2014/main" id="{13D87374-F484-4C53-B0C2-81D3AB47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4103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Ellipse 70">
            <a:extLst xmlns:a="http://schemas.openxmlformats.org/drawingml/2006/main">
              <a:ext uri="{FF2B5EF4-FFF2-40B4-BE49-F238E27FC236}">
                <a16:creationId xmlns:a16="http://schemas.microsoft.com/office/drawing/2014/main" id="{8A086433-6FA6-4D9D-8212-792CCC08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8649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35EB1A27-2452-4EF9-8E38-EDDB83BD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9286" y="171264"/>
            <a:ext cx="7006270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2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Research routes in Time-Series Agent systems</a:t>
            </a:r>
            <a:endParaRPr sz="2120"/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51AA779B-4FAC-4255-96F1-94ACFC1E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856" y="560502"/>
            <a:ext cx="7629049" cy="280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20" b="1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Representative module contributions by first public year | LLM and Harness layers</a:t>
            </a:r>
            <a:endParaRPr sz="1320"/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FC51B251-62EB-49FC-80F4-3E942618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LLM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side</a:t>
            </a:r>
            <a:endParaRPr sz="1310"/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86ABE312-9AE4-48F2-8B70-0BDDA5F4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Representation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Alignment</a:t>
            </a:r>
            <a:endParaRPr sz="910"/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A1CF1799-E2A1-48A1-99C3-64F390C3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General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3D45CE1E-4CF2-46FB-8C48-AE162AF6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Tools and memory</a:t>
            </a:r>
            <a:endParaRPr sz="819"/>
          </a:p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Control and planning</a:t>
            </a:r>
            <a:endParaRPr sz="819"/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768A6604-FAB5-4D24-B2C7-8CBC091F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General Time-Series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E2A31A98-CA65-4B1C-9BF5-D33B58DF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Temporal state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Operations and grounding</a:t>
            </a:r>
            <a:endParaRPr sz="910"/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ECB1C7B9-5CD6-41BD-8FE8-2AABD220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Task-Specific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E736DC1D-356B-40C3-9EC2-F402DEAE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Forecasting and prediction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Anomaly and diagnosis</a:t>
            </a:r>
            <a:endParaRPr sz="860"/>
          </a:p>
        </p:txBody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0517DBD4-D6E0-4FC3-9402-AD7B46F7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Infrastructure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and benchmarks</a:t>
            </a:r>
            <a:endParaRPr sz="1310"/>
          </a:p>
        </p:txBody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AD7E2008-8483-41CB-8D32-FD553A31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Episodes, traces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TimeSeriesGym and ModernTSF</a:t>
            </a:r>
            <a:endParaRPr sz="910"/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BE68B525-C137-479D-B25F-0FC9A09A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Paper-card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database</a:t>
            </a:r>
            <a:endParaRPr sz="1310"/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318D93ED-D1B0-422D-8ACB-7A988F3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Claim, evidence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module-level counts</a:t>
            </a:r>
            <a:endParaRPr sz="860"/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E187B6A3-E9B9-44D7-B3B0-3CFCD328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2242006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2026</a:t>
            </a:r>
            <a:endParaRPr sz="1400"/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C97EB507-5B5A-43F6-9941-E721B5B6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3954650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2025</a:t>
            </a:r>
            <a:endParaRPr sz="1400"/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4E090C26-9664-474F-8CAD-B0A5BC98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5667294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2024</a:t>
            </a:r>
            <a:endParaRPr sz="1400"/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B46559D6-F1A9-4333-8135-4399C1DE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7379938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2023</a:t>
            </a:r>
            <a:endParaRPr sz="1400"/>
          </a:p>
        </p:txBody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D1C43F6C-379B-4F55-8E1D-DE2865E4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9092581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2022</a:t>
            </a:r>
            <a:endParaRPr sz="1400"/>
          </a:p>
        </p:txBody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790FA3D3-3EF5-4629-923A-5A7924C9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ChatTS</a:t>
            </a:r>
            <a:endParaRPr sz="1100"/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BF0F2E99-0133-407B-97B7-E7661D0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Time-LLM</a:t>
            </a:r>
            <a:endParaRPr sz="1100"/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DDAB2D8B-4A4C-4758-8794-CF12AED2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LLM4TS</a:t>
            </a:r>
            <a:endParaRPr sz="1100"/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C6AFD108-85E8-4BDD-9B41-54CD3E1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TimeMaster</a:t>
            </a:r>
            <a:endParaRPr sz="1100"/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2A2E7A2A-EB95-4E32-978A-D33A2731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A06EBE3C-3162-4A5F-8A66-A1BA7CE1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F4C360EA-5F7D-4449-8806-63F410A0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2313E99F-65B3-4676-8884-17B7E45E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6C9691BF-A844-43E4-9906-D845E1D7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32612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Memory Bank</a:t>
            </a:r>
            <a:endParaRPr sz="1100"/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E2B45E1A-AC39-4C15-BF56-4D59FA8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Reflection</a:t>
            </a:r>
            <a:endParaRPr sz="1100"/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5070EAED-2661-41B1-AB96-EA2228F8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ECDCB9FF-8DA4-4BAD-8C7D-D331AB3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Temporal grounding</a:t>
            </a:r>
            <a:endParaRPr sz="1100"/>
          </a:p>
        </p:txBody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1A483134-7EF7-47FE-8914-CE926052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Forecasting</a:t>
            </a:r>
            <a:endParaRPr sz="1100"/>
          </a:p>
        </p:txBody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3122E3C7-3516-499C-A2F5-FFA800B4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Anomaly diagnosis</a:t>
            </a:r>
            <a:endParaRPr sz="1100"/>
          </a:p>
        </p:txBody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DBE042C3-222C-4210-B39F-EACAC5D3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Augmentation</a:t>
            </a:r>
            <a:endParaRPr sz="1100"/>
          </a:p>
        </p:txBody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6E367ED7-7CC7-4DFE-AA44-9446C2A2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Decision support</a:t>
            </a:r>
            <a:endParaRPr sz="980"/>
          </a:p>
        </p:txBody>
      </p:sp>
      <p:sp>
        <p:nvSpPr>
          <p:cNvPr id="106" name="TextBox 106">
            <a:extLst xmlns:a="http://schemas.openxmlformats.org/drawingml/2006/main">
              <a:ext uri="{FF2B5EF4-FFF2-40B4-BE49-F238E27FC236}">
                <a16:creationId xmlns:a16="http://schemas.microsoft.com/office/drawing/2014/main" id="{DFE7247C-988C-4660-88B0-1C0BDF2C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A51CAA37-38C3-4576-8C4C-B8D897D4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47E7003B-4F44-466F-905F-FFAC870D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4D540954-F2A4-4ED2-9266-D0B226AC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20080083-0107-4AB6-8D44-B7D35EF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111" name="TextBox 111">
            <a:extLst xmlns:a="http://schemas.openxmlformats.org/drawingml/2006/main">
              <a:ext uri="{FF2B5EF4-FFF2-40B4-BE49-F238E27FC236}">
                <a16:creationId xmlns:a16="http://schemas.microsoft.com/office/drawing/2014/main" id="{270694AE-C1D5-4076-B479-5ED546AC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2973CF66-BF3E-49F3-BAF6-3E8E676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9E70C074-FAAE-4576-98B1-F783F84A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11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B58354D6-4BE0-4D1D-A45F-D9E7A925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1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7B6369B9-976E-450C-B3FB-09B91E97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252BAB40-B0F5-40A9-BFD7-E68078EB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7" name="TextBox 117">
            <a:extLst xmlns:a="http://schemas.openxmlformats.org/drawingml/2006/main">
              <a:ext uri="{FF2B5EF4-FFF2-40B4-BE49-F238E27FC236}">
                <a16:creationId xmlns:a16="http://schemas.microsoft.com/office/drawing/2014/main" id="{CF7C5CEC-8422-4E88-A685-584B85FD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18" name="TextBox 118">
            <a:extLst xmlns:a="http://schemas.openxmlformats.org/drawingml/2006/main">
              <a:ext uri="{FF2B5EF4-FFF2-40B4-BE49-F238E27FC236}">
                <a16:creationId xmlns:a16="http://schemas.microsoft.com/office/drawing/2014/main" id="{825A6C26-2B24-4AA0-8CAF-5ABE7D46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8A92F733-F415-4F04-BF7B-A991E11A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TraceBench</a:t>
            </a:r>
            <a:endParaRPr sz="800"/>
          </a:p>
        </p:txBody>
      </p:sp>
      <p:sp>
        <p:nvSpPr>
          <p:cNvPr id="120" name="TextBox 120">
            <a:extLst xmlns:a="http://schemas.openxmlformats.org/drawingml/2006/main">
              <a:ext uri="{FF2B5EF4-FFF2-40B4-BE49-F238E27FC236}">
                <a16:creationId xmlns:a16="http://schemas.microsoft.com/office/drawing/2014/main" id="{5A1EBCC7-203E-4702-92F1-C9C85711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Bench</a:t>
            </a:r>
            <a:endParaRPr sz="1100"/>
          </a:p>
        </p:txBody>
      </p:sp>
      <p:sp>
        <p:nvSpPr>
          <p:cNvPr id="121" name="TextBox 121">
            <a:extLst xmlns:a="http://schemas.openxmlformats.org/drawingml/2006/main">
              <a:ext uri="{FF2B5EF4-FFF2-40B4-BE49-F238E27FC236}">
                <a16:creationId xmlns:a16="http://schemas.microsoft.com/office/drawing/2014/main" id="{83E5FA8D-50D5-4299-99B8-68EF880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Verify</a:t>
            </a:r>
            <a:endParaRPr sz="800"/>
          </a:p>
        </p:txBody>
      </p:sp>
      <p:sp>
        <p:nvSpPr>
          <p:cNvPr id="122" name="TextBox 122">
            <a:extLst xmlns:a="http://schemas.openxmlformats.org/drawingml/2006/main">
              <a:ext uri="{FF2B5EF4-FFF2-40B4-BE49-F238E27FC236}">
                <a16:creationId xmlns:a16="http://schemas.microsoft.com/office/drawing/2014/main" id="{3DC354CF-AFA4-47E5-8ED4-F9746323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Calib.</a:t>
            </a:r>
            <a:endParaRPr sz="1100"/>
          </a:p>
        </p:txBody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D7A3A730-8A8F-4774-86EA-32BC23B4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Audit</a:t>
            </a:r>
            <a:endParaRPr sz="1100"/>
          </a:p>
        </p:txBody>
      </p:sp>
      <p:sp>
        <p:nvSpPr>
          <p:cNvPr id="124" name="TextBox 124">
            <a:extLst xmlns:a="http://schemas.openxmlformats.org/drawingml/2006/main">
              <a:ext uri="{FF2B5EF4-FFF2-40B4-BE49-F238E27FC236}">
                <a16:creationId xmlns:a16="http://schemas.microsoft.com/office/drawing/2014/main" id="{40EC9959-072C-4DF5-BE66-8C753FF8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Audit</a:t>
            </a:r>
            <a:endParaRPr sz="1100"/>
          </a:p>
        </p:txBody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1C8194AD-C96F-4759-A148-E5937BB4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Reproducibility</a:t>
            </a:r>
            <a:endParaRPr sz="1040"/>
          </a:p>
        </p:txBody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5ECE62B0-A7EE-4243-AF8D-5C660C75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Paper card</a:t>
            </a:r>
            <a:endParaRPr sz="1100"/>
          </a:p>
        </p:txBody>
      </p:sp>
      <p:sp>
        <p:nvSpPr>
          <p:cNvPr id="127" name="TextBox 127">
            <a:extLst xmlns:a="http://schemas.openxmlformats.org/drawingml/2006/main">
              <a:ext uri="{FF2B5EF4-FFF2-40B4-BE49-F238E27FC236}">
                <a16:creationId xmlns:a16="http://schemas.microsoft.com/office/drawing/2014/main" id="{A964F5C0-B652-48A1-8B0C-5245E7E8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203083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Ledger</a:t>
            </a:r>
            <a:endParaRPr sz="880"/>
          </a:p>
        </p:txBody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46BAE8F0-F194-4796-9AAB-B9D8F002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475549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Module tags</a:t>
            </a:r>
            <a:endParaRPr sz="1100"/>
          </a:p>
        </p:txBody>
      </p:sp>
      <p:sp>
        <p:nvSpPr>
          <p:cNvPr id="129" name="TextBox 129">
            <a:extLst xmlns:a="http://schemas.openxmlformats.org/drawingml/2006/main">
              <a:ext uri="{FF2B5EF4-FFF2-40B4-BE49-F238E27FC236}">
                <a16:creationId xmlns:a16="http://schemas.microsoft.com/office/drawing/2014/main" id="{2B104F1F-9155-41CE-99E8-77E37F09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Open tasks</a:t>
            </a:r>
            <a:endParaRPr sz="1100"/>
          </a:p>
        </p:txBody>
      </p:sp>
      <p:sp>
        <p:nvSpPr>
          <p:cNvPr id="130" name="TextBox 130">
            <a:extLst xmlns:a="http://schemas.openxmlformats.org/drawingml/2006/main">
              <a:ext uri="{FF2B5EF4-FFF2-40B4-BE49-F238E27FC236}">
                <a16:creationId xmlns:a16="http://schemas.microsoft.com/office/drawing/2014/main" id="{8663295D-FD13-45A3-A41A-AFCB7A5F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Case studies</a:t>
            </a:r>
            <a:endParaRPr sz="1100"/>
          </a:p>
        </p:txBody>
      </p:sp>
      <p:sp>
        <p:nvSpPr>
          <p:cNvPr id="131" name="TextBox 131">
            <a:extLst xmlns:a="http://schemas.openxmlformats.org/drawingml/2006/main">
              <a:ext uri="{FF2B5EF4-FFF2-40B4-BE49-F238E27FC236}">
                <a16:creationId xmlns:a16="http://schemas.microsoft.com/office/drawing/2014/main" id="{6EB42493-A458-4896-8A85-624ECD76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Surveys</a:t>
            </a:r>
            <a:endParaRPr sz="1100"/>
          </a:p>
        </p:txBody>
      </p:sp>
      <p:sp>
        <p:nvSpPr>
          <p:cNvPr id="132" name="TextBox 132">
            <a:extLst xmlns:a="http://schemas.openxmlformats.org/drawingml/2006/main">
              <a:ext uri="{FF2B5EF4-FFF2-40B4-BE49-F238E27FC236}">
                <a16:creationId xmlns:a16="http://schemas.microsoft.com/office/drawing/2014/main" id="{482FA201-A1EF-49B3-967D-8393FEA0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BibTeX</a:t>
            </a:r>
            <a:endParaRPr sz="1100"/>
          </a:p>
        </p:txBody>
      </p:sp>
      <p:sp>
        <p:nvSpPr>
          <p:cNvPr id="133" name="TextBox 133">
            <a:extLst xmlns:a="http://schemas.openxmlformats.org/drawingml/2006/main">
              <a:ext uri="{FF2B5EF4-FFF2-40B4-BE49-F238E27FC236}">
                <a16:creationId xmlns:a16="http://schemas.microsoft.com/office/drawing/2014/main" id="{D632A201-8F15-4BB5-B161-E464BFF9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Claims</a:t>
            </a:r>
            <a:endParaRPr sz="1100"/>
          </a:p>
        </p:txBody>
      </p:sp>
      <p:sp>
        <p:nvSpPr>
          <p:cNvPr id="134" name="TextBox 134">
            <a:extLst xmlns:a="http://schemas.openxmlformats.org/drawingml/2006/main">
              <a:ext uri="{FF2B5EF4-FFF2-40B4-BE49-F238E27FC236}">
                <a16:creationId xmlns:a16="http://schemas.microsoft.com/office/drawing/2014/main" id="{2CB6AB33-1425-4BD5-B90D-6EB1D93F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913" y="9808778"/>
            <a:ext cx="2335423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◫   2003 | Gödel Machine</a:t>
            </a:r>
            <a:endParaRPr sz="1100"/>
          </a:p>
        </p:txBody>
      </p:sp>
      <p:sp>
        <p:nvSpPr>
          <p:cNvPr id="135" name="TextBox 135">
            <a:extLst xmlns:a="http://schemas.openxmlformats.org/drawingml/2006/main">
              <a:ext uri="{FF2B5EF4-FFF2-40B4-BE49-F238E27FC236}">
                <a16:creationId xmlns:a16="http://schemas.microsoft.com/office/drawing/2014/main" id="{8759CF3C-0266-49C4-99D1-1434EB6A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1031" y="9808778"/>
            <a:ext cx="256896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◉   2016 | Learned optimizers</a:t>
            </a:r>
            <a:endParaRPr sz="1100"/>
          </a:p>
        </p:txBody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40B82D3D-D277-4DCB-BD74-5FFFE909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9234" y="9808778"/>
            <a:ext cx="194618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▣   2019 | POET</a:t>
            </a:r>
            <a:endParaRPr sz="1100"/>
          </a:p>
        </p:txBody>
      </p:sp>
      <p:sp>
        <p:nvSpPr>
          <p:cNvPr id="137" name="TextBox 137">
            <a:extLst xmlns:a="http://schemas.openxmlformats.org/drawingml/2006/main">
              <a:ext uri="{FF2B5EF4-FFF2-40B4-BE49-F238E27FC236}">
                <a16:creationId xmlns:a16="http://schemas.microsoft.com/office/drawing/2014/main" id="{5F00B062-1E8B-4127-AF36-C6457150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4845" y="10042320"/>
            <a:ext cx="6383490" cy="171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Marks: selected affiliations | Branches: research routes, not technical ancestry</a:t>
            </a:r>
            <a:endParaRPr sz="900"/>
          </a:p>
        </p:txBody>
      </p:sp>
      <p:sp>
        <p:nvSpPr>
          <p:cNvPr id="138" name="TextBox 138">
            <a:extLst xmlns:a="http://schemas.openxmlformats.org/drawingml/2006/main">
              <a:ext uri="{FF2B5EF4-FFF2-40B4-BE49-F238E27FC236}">
                <a16:creationId xmlns:a16="http://schemas.microsoft.com/office/drawing/2014/main" id="{EE181F82-599F-4624-8053-2E85400C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074294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Figure 4. Research routes toward recursive self-improvement. Forty-five representative method papers are grouped into six research routes, with three historical anchors shown separately.</a:t>
            </a:r>
            <a:endParaRPr sz="750"/>
          </a:p>
        </p:txBody>
      </p:sp>
      <p:sp>
        <p:nvSpPr>
          <p:cNvPr id="139" name="TextBox 139">
            <a:extLst xmlns:a="http://schemas.openxmlformats.org/drawingml/2006/main">
              <a:ext uri="{FF2B5EF4-FFF2-40B4-BE49-F238E27FC236}">
                <a16:creationId xmlns:a16="http://schemas.microsoft.com/office/drawing/2014/main" id="{DF8480CC-2BFB-4C6C-898E-29D8B6C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04655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Year bands use the first public dates in the checked source records; spacing within each band is adjusted for legibility. Branch lines denote research families.</a:t>
            </a:r>
            <a:endParaRPr sz="880"/>
          </a:p>
        </p:txBody>
      </p:sp>
      <p:sp>
        <p:nvSpPr>
          <p:cNvPr id="140" name="TextBox 140">
            <a:extLst xmlns:a="http://schemas.openxmlformats.org/drawingml/2006/main">
              <a:ext uri="{FF2B5EF4-FFF2-40B4-BE49-F238E27FC236}">
                <a16:creationId xmlns:a16="http://schemas.microsoft.com/office/drawing/2014/main" id="{E80377A4-A33B-4C7E-9ECF-C1A027CF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35015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Technical ancestry, cross-route transfer, and sustained recursive gains require separate evidence. The selection reflects the literature search through September 12, 2026.</a:t>
            </a:r>
            <a:endParaRPr sz="819"/>
          </a:p>
        </p:txBody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306498D1-F5A8-44E6-8839-3BDC0C0B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65376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Logos identify one selected author or work-done affiliation per study; “Ind.” denotes independent researchers. Affiliation and logo sources are documented separately.</a:t>
            </a:r>
            <a:endParaRPr sz="840"/>
          </a:p>
        </p:txBody>
      </p:sp>
    </p:spTree>
    <p:extLst>
      <p:ext uri="{BB962C8B-B14F-4D97-AF65-F5344CB8AC3E}">
        <p14:creationId xmlns:p14="http://schemas.microsoft.com/office/powerpoint/2010/main" val="1972867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 2">
            <a:extLst xmlns:a="http://schemas.openxmlformats.org/drawingml/2006/main">
              <a:ext uri="{FF2B5EF4-FFF2-40B4-BE49-F238E27FC236}">
                <a16:creationId xmlns:a16="http://schemas.microsoft.com/office/drawing/2014/main" id="{D41AC0A2-AFBF-4787-A424-3DFF0AA1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D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 3">
            <a:extLst xmlns:a="http://schemas.openxmlformats.org/drawingml/2006/main">
              <a:ext uri="{FF2B5EF4-FFF2-40B4-BE49-F238E27FC236}">
                <a16:creationId xmlns:a16="http://schemas.microsoft.com/office/drawing/2014/main" id="{87D640D7-014B-48C4-BCA4-071A51D8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1641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D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 4">
            <a:extLst xmlns:a="http://schemas.openxmlformats.org/drawingml/2006/main">
              <a:ext uri="{FF2B5EF4-FFF2-40B4-BE49-F238E27FC236}">
                <a16:creationId xmlns:a16="http://schemas.microsoft.com/office/drawing/2014/main" id="{7B36EA58-B2F1-44FB-BE9E-D8F3D81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37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 5">
            <a:extLst xmlns:a="http://schemas.openxmlformats.org/drawingml/2006/main">
              <a:ext uri="{FF2B5EF4-FFF2-40B4-BE49-F238E27FC236}">
                <a16:creationId xmlns:a16="http://schemas.microsoft.com/office/drawing/2014/main" id="{7D960031-CE31-4EB2-8373-90020FE9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09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F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CAD46C7A-7D94-4DC5-B120-1E293174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5066384"/>
            <a:ext cx="12909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8C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66F3ECB7-DD1E-45CE-AABB-E0E06B54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D5E80CE2-F99A-44E6-A81B-B8A61A0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A6BFF942-8353-4EA4-8725-56216823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6C8C450D-FC57-4673-A2E4-638C851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91B75B0A-FF03-4333-9266-06F81DE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9E53EE01-29A7-4711-A051-14B2376F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BF0AE4B6-3313-4A1B-A9D7-5D3300CA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93546247-533F-43C7-BAA8-F46236AF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017F5DEE-9AF5-4BFD-B388-E524E04F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0573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2AF650F7-3B31-424E-87CF-5A9A2DCE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3307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C0C17960-4B36-4F9E-BAA2-EB10AFDE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6042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D18D2F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97753ECB-0AAB-44A5-A900-49E01D83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8776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070B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80FCB643-1EDF-4FE8-87F8-0D995DCD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1172" y="4324445"/>
            <a:ext cx="0" cy="124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answer document revision icon">
            <a:extLst xmlns:a="http://schemas.openxmlformats.org/drawingml/2006/main">
              <a:ext uri="{FF2B5EF4-FFF2-40B4-BE49-F238E27FC236}">
                <a16:creationId xmlns:a16="http://schemas.microsoft.com/office/drawing/2014/main" id="{5654410B-E59C-4FFC-9377-BAAC17D517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c709ffe584f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06237" y="1695861"/>
            <a:ext cx="2035033" cy="1187102"/>
          </a:xfrm>
          <a:prstGeom xmlns:a="http://schemas.openxmlformats.org/drawingml/2006/main" prst="rect">
            <a:avLst/>
          </a:prstGeom>
        </p:spPr>
      </p:pic>
      <p:pic>
        <p:nvPicPr>
          <p:cNvPr id="21" name="memory document stack icon">
            <a:extLst xmlns:a="http://schemas.openxmlformats.org/drawingml/2006/main">
              <a:ext uri="{FF2B5EF4-FFF2-40B4-BE49-F238E27FC236}">
                <a16:creationId xmlns:a16="http://schemas.microsoft.com/office/drawing/2014/main" id="{8134D1BF-3D9D-4E76-82CC-A2D4507E8E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749633202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48187" y="1589869"/>
            <a:ext cx="1801852" cy="1536874"/>
          </a:xfrm>
          <a:prstGeom xmlns:a="http://schemas.openxmlformats.org/drawingml/2006/main" prst="rect">
            <a:avLst/>
          </a:prstGeom>
        </p:spPr>
      </p:pic>
      <p:pic>
        <p:nvPicPr>
          <p:cNvPr id="22" name="parameter neural network icon">
            <a:extLst xmlns:a="http://schemas.openxmlformats.org/drawingml/2006/main">
              <a:ext uri="{FF2B5EF4-FFF2-40B4-BE49-F238E27FC236}">
                <a16:creationId xmlns:a16="http://schemas.microsoft.com/office/drawing/2014/main" id="{A3F0560A-3385-4428-8857-4703635E7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1efb6ccee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949125" y="1579270"/>
            <a:ext cx="2268214" cy="1293094"/>
          </a:xfrm>
          <a:prstGeom xmlns:a="http://schemas.openxmlformats.org/drawingml/2006/main" prst="rect">
            <a:avLst/>
          </a:prstGeom>
        </p:spPr>
      </p:pic>
      <p:pic>
        <p:nvPicPr>
          <p:cNvPr id="23" name="improver procedure graph icon">
            <a:extLst xmlns:a="http://schemas.openxmlformats.org/drawingml/2006/main">
              <a:ext uri="{FF2B5EF4-FFF2-40B4-BE49-F238E27FC236}">
                <a16:creationId xmlns:a16="http://schemas.microsoft.com/office/drawing/2014/main" id="{2CBE98A9-6FA3-47C2-B0A7-CC1FDEA2C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349a4f9af4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60661" y="1642865"/>
            <a:ext cx="1854848" cy="1165904"/>
          </a:xfrm>
          <a:prstGeom xmlns:a="http://schemas.openxmlformats.org/drawingml/2006/main" prst="rect">
            <a:avLst/>
          </a:prstGeom>
        </p:spPr>
      </p:pic>
      <p:pic>
        <p:nvPicPr>
          <p:cNvPr id="24" name="solver network icon">
            <a:extLst xmlns:a="http://schemas.openxmlformats.org/drawingml/2006/main">
              <a:ext uri="{FF2B5EF4-FFF2-40B4-BE49-F238E27FC236}">
                <a16:creationId xmlns:a16="http://schemas.microsoft.com/office/drawing/2014/main" id="{ED346105-C424-468E-878A-ED3C86274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2ccb3247b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74440" y="6147495"/>
            <a:ext cx="1801852" cy="826732"/>
          </a:xfrm>
          <a:prstGeom xmlns:a="http://schemas.openxmlformats.org/drawingml/2006/main" prst="rect">
            <a:avLst/>
          </a:prstGeom>
        </p:spPr>
      </p:pic>
      <p:pic>
        <p:nvPicPr>
          <p:cNvPr id="25" name="solver plus memory icon">
            <a:extLst xmlns:a="http://schemas.openxmlformats.org/drawingml/2006/main">
              <a:ext uri="{FF2B5EF4-FFF2-40B4-BE49-F238E27FC236}">
                <a16:creationId xmlns:a16="http://schemas.microsoft.com/office/drawing/2014/main" id="{ABCFC69E-B4FF-4927-AACC-5BDE3C77B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69ee0043b4a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22381" y="6105099"/>
            <a:ext cx="1695861" cy="826732"/>
          </a:xfrm>
          <a:prstGeom xmlns:a="http://schemas.openxmlformats.org/drawingml/2006/main" prst="rect">
            <a:avLst/>
          </a:prstGeom>
        </p:spPr>
      </p:pic>
      <p:pic>
        <p:nvPicPr>
          <p:cNvPr id="26" name="updated parameter matrix icon">
            <a:extLst xmlns:a="http://schemas.openxmlformats.org/drawingml/2006/main">
              <a:ext uri="{FF2B5EF4-FFF2-40B4-BE49-F238E27FC236}">
                <a16:creationId xmlns:a16="http://schemas.microsoft.com/office/drawing/2014/main" id="{AE91473C-F759-406D-BA0E-D9F1185BF8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72ce0626d4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076314" y="6083900"/>
            <a:ext cx="1907843" cy="953922"/>
          </a:xfrm>
          <a:prstGeom xmlns:a="http://schemas.openxmlformats.org/drawingml/2006/main" prst="rect">
            <a:avLst/>
          </a:prstGeom>
        </p:spPr>
      </p:pic>
      <p:pic>
        <p:nvPicPr>
          <p:cNvPr id="27" name="next update process icon">
            <a:extLst xmlns:a="http://schemas.openxmlformats.org/drawingml/2006/main">
              <a:ext uri="{FF2B5EF4-FFF2-40B4-BE49-F238E27FC236}">
                <a16:creationId xmlns:a16="http://schemas.microsoft.com/office/drawing/2014/main" id="{A2DC4176-DD30-4981-BBBC-B1B7F49BD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baae663184a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39462" y="6083900"/>
            <a:ext cx="1748856" cy="84793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2B717B9-4E4A-4CED-811C-1BC7FCD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</a:t>
            </a:r>
            <a:endParaRPr sz="310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FF57803-FDB2-4D99-ADD1-651BA698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origin, horizon,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calibration</a:t>
            </a:r>
            <a:endParaRPr sz="13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AA13A12-AC47-455F-8AFE-724A6D61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Augmentation</a:t>
            </a:r>
            <a:endParaRPr sz="31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0D885A89-BF92-4ADF-8FA6-E9005597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fidelity, diversity,</a:t>
            </a:r>
            <a:endParaRPr sz="1800"/>
          </a:p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utility</a:t>
            </a:r>
            <a:endParaRPr sz="18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B453A82-3FC3-4FC5-9FD2-00561177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</a:t>
            </a:r>
            <a:endParaRPr sz="31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9555AB7-BCD4-44DF-845C-E4E64C54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event, window,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cause</a:t>
            </a:r>
            <a:endParaRPr sz="13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EA7275A0-0C12-4206-80DC-D1ADA097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Decision support</a:t>
            </a:r>
            <a:endParaRPr sz="31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126D8375-3651-403C-A8B6-DC7CE235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action, cost,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uncertainty</a:t>
            </a:r>
            <a:endParaRPr sz="13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BDBED061-7D56-4EB5-947B-E95B8643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2702778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y_t</a:t>
            </a:r>
            <a:endParaRPr sz="23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99151DB-B938-4CA1-9F6C-D46856D2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2741" y="2702778"/>
            <a:ext cx="1059913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y_{t+h}</a:t>
            </a:r>
            <a:endParaRPr sz="116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7AB85F7E-AF7A-4D03-8033-00EB31B6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3603704"/>
            <a:ext cx="2172822" cy="33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check → revise</a:t>
            </a:r>
            <a:endParaRPr sz="19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088202-0DC5-4BFE-84C2-87F4069E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0475" y="5776525"/>
            <a:ext cx="2596787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same harness</a:t>
            </a:r>
            <a:endParaRPr sz="22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666C226B-1976-41D7-B47A-BF84A825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3470" y="7143813"/>
            <a:ext cx="2490795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96969"/>
                </a:solidFill>
                <a:latin typeface="Cambria"/>
                <a:ea typeface="Cambria"/>
                <a:cs typeface="Cambria"/>
              </a:rPr>
              <a:t>new task</a:t>
            </a:r>
            <a:endParaRPr sz="17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5EC7B07C-ED4F-4ECA-91EB-61EFB08B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7479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(a) Forecasting</a:t>
            </a:r>
            <a:endParaRPr sz="212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536DA695-EAD2-4DA7-B976-ED1E5954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813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(b) Augmentation</a:t>
            </a:r>
            <a:endParaRPr sz="212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16F74143-8797-4639-B565-51C4C5A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5944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(c) Anomaly diagnosis</a:t>
            </a:r>
            <a:endParaRPr sz="212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7D1F0433-243E-441F-84AE-52394B1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8678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(d) Decision support</a:t>
            </a:r>
            <a:endParaRPr sz="212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C02E257-EC4E-431B-98F4-B760EFEC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0214" y="3921678"/>
            <a:ext cx="2543791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656565"/>
                </a:solidFill>
                <a:latin typeface="Cambria"/>
                <a:ea typeface="Cambria"/>
                <a:cs typeface="Cambria"/>
              </a:rPr>
              <a:t>H_t → H_{t+1}</a:t>
            </a:r>
            <a:endParaRPr sz="23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F7DF3189-FC5A-426A-BCCB-770B5E3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7218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Agent + temporal state</a:t>
            </a:r>
            <a:endParaRPr sz="22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C867399F-2818-4B45-9B3B-A3625B2E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7174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memory</a:t>
            </a:r>
            <a:endParaRPr sz="23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80FB7F7-91FB-48E8-8327-C05A8A79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74931" y="3964074"/>
            <a:ext cx="264978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3EC35AE5-09D3-4498-A499-E31F2B8A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9952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updated forecast</a:t>
            </a:r>
            <a:endParaRPr sz="22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2FC2A274-0B94-48FE-8FB1-F2C62DF0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918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4366A51C-80BA-4955-B468-E03DD6D1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2687" y="2670981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</a:t>
            </a:r>
            <a:endParaRPr sz="23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E37C5C59-A233-460D-AFE5-B98531A1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2600" y="2861765"/>
            <a:ext cx="1589869" cy="50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i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plan / verify</a:t>
            </a:r>
            <a:endParaRPr sz="180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7E75D718-F75A-4BAA-8F3E-57B592C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3700" y="5776525"/>
            <a:ext cx="2967756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next task episode</a:t>
            </a:r>
            <a:endParaRPr sz="200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A92F0522-486B-4E7D-A40B-682B495A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3656" y="7048421"/>
            <a:ext cx="2119826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60" i="1">
                <a:solidFill>
                  <a:srgbClr val="555555"/>
                </a:solidFill>
                <a:latin typeface="Cambria"/>
                <a:ea typeface="Cambria"/>
                <a:cs typeface="Cambria"/>
              </a:rPr>
              <a:t>new module record</a:t>
            </a:r>
            <a:endParaRPr sz="116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53F5222C-5E78-4831-A4E3-8E0540A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07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B94E787E-6DCB-4252-8E84-0F45C7B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880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E5D62C4A-72F7-42F0-A7B3-533F9D4E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4396" y="4557626"/>
            <a:ext cx="180185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task-bound</a:t>
            </a:r>
            <a:endParaRPr sz="200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BEBC89A8-6D5C-430E-A9A1-95A00F59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5257168"/>
            <a:ext cx="1377887" cy="2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cross-task reuse</a:t>
            </a:r>
            <a:endParaRPr sz="170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4949647D-00C7-41B9-B342-6A928E2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8903269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50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F2F7E48-DCC9-4033-9B3D-12057DE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231842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99050581-9DE6-49EE-88B4-DF197C02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560415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14A80F2B-174B-482B-A929-57B6146D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888988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D25746DF-563E-4098-8F39-B4CF69CF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217561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189C07C5-E8F9-4C07-AC90-86969B92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546134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EC075398-9C07-412B-A127-7B028CFF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874707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4BF17B57-0EC3-4BFE-8967-509079DE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203280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421C1339-610F-4515-8D01-181D97F7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531853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29313274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2026-10-08T14:56:29.4340000Z</dcterms:created>
  <dcterms:modified xsi:type="dcterms:W3CDTF">2026-10-08T14:56:29.4340000Z</dcterms:modified>
</coreProperties>
</file>