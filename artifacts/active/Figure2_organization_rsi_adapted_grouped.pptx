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d6e2b1b2b4c8e" /><Relationship Type="http://schemas.openxmlformats.org/officeDocument/2006/relationships/extended-properties" Target="/docProps/app.xml" Id="R7a3bc27e99474807" /><Relationship Type="http://schemas.openxmlformats.org/officeDocument/2006/relationships/officeDocument" Target="/ppt/presentation.xml" Id="R617a959451a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7" r:id="Re598effa61d34d59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0673b7be64083" /><Relationship Type="http://schemas.openxmlformats.org/officeDocument/2006/relationships/slideMaster" Target="/ppt/slideMasters/slideMaster1.xml" Id="R201f40272f394435" /><Relationship Type="http://schemas.openxmlformats.org/officeDocument/2006/relationships/notesMaster" Target="/ppt/notesMasters/notesMaster1.xml" Id="Recc1189db638435c" /><Relationship Type="http://schemas.openxmlformats.org/officeDocument/2006/relationships/presProps" Target="/ppt/presProps.xml" Id="Rd57632f129984635" /><Relationship Type="http://schemas.openxmlformats.org/officeDocument/2006/relationships/tableStyles" Target="/ppt/tableStyles.xml" Id="R5bcb00eae1d54b44" /><Relationship Type="http://schemas.openxmlformats.org/officeDocument/2006/relationships/slide" Target="/ppt/slides/slide1.xml" Id="R2e0ace4a41a7452c" /><Relationship Type="http://schemas.openxmlformats.org/officeDocument/2006/relationships/slide" Target="/ppt/slides/slide2.xml" Id="Re598effa61d34d59" /><Relationship Type="http://schemas.openxmlformats.org/officeDocument/2006/relationships/slide" Target="/ppt/slides/slide3.xml" Id="R85f2e722fde04d7c" /><Relationship Type="http://schemas.openxmlformats.org/officeDocument/2006/relationships/slide" Target="/ppt/slides/slide4.xml" Id="Ra6ea51f892b945ee" /><Relationship Type="http://schemas.openxmlformats.org/officeDocument/2006/relationships/slide" Target="/ppt/slides/slide5.xml" Id="R8ec8b5091054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674405eb7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2745b6e3d4f6d" /><Relationship Type="http://schemas.openxmlformats.org/officeDocument/2006/relationships/notesMaster" Target="/ppt/notesMasters/notesMaster1.xml" Id="Rd3cdab951248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fb8672fee44dc" /><Relationship Type="http://schemas.openxmlformats.org/officeDocument/2006/relationships/notesMaster" Target="/ppt/notesMasters/notesMaster1.xml" Id="R5d0bb1b30b2945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ba3570b0a4522" /><Relationship Type="http://schemas.openxmlformats.org/officeDocument/2006/relationships/notesMaster" Target="/ppt/notesMasters/notesMaster1.xml" Id="R95cebba6874041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1c31f2628433d" /><Relationship Type="http://schemas.openxmlformats.org/officeDocument/2006/relationships/notesMaster" Target="/ppt/notesMasters/notesMaster1.xml" Id="R6e0f52ece921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5bf211019463e" /><Relationship Type="http://schemas.openxmlformats.org/officeDocument/2006/relationships/notesMaster" Target="/ppt/notesMasters/notesMaster1.xml" Id="R0746af58566c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3598500d24df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031b9f3824a24" /><Relationship Type="http://schemas.openxmlformats.org/officeDocument/2006/relationships/slideLayout" Target="/ppt/slideLayouts/slideLayout1.xml" Id="R140c98990e2a4c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7ca8938b4ab7" /><Relationship Type="http://schemas.openxmlformats.org/officeDocument/2006/relationships/image" Target="/ppt/media/image.png" Id="Re19ed5c9584244ed" /><Relationship Type="http://schemas.openxmlformats.org/officeDocument/2006/relationships/image" Target="/ppt/media/image2.png" Id="Rd7140c72683d4497" /><Relationship Type="http://schemas.openxmlformats.org/officeDocument/2006/relationships/image" Target="/ppt/media/image3.png" Id="R0dc249edfa9940a7" /><Relationship Type="http://schemas.openxmlformats.org/officeDocument/2006/relationships/image" Target="/ppt/media/image4.png" Id="Rb46179c2ebac4a06" /><Relationship Type="http://schemas.openxmlformats.org/officeDocument/2006/relationships/image" Target="/ppt/media/image5.png" Id="R722463d8b0524f35" /><Relationship Type="http://schemas.openxmlformats.org/officeDocument/2006/relationships/image" Target="/ppt/media/image6.png" Id="R7fb26a2bcf784c73" /><Relationship Type="http://schemas.openxmlformats.org/officeDocument/2006/relationships/notesSlide" Target="/ppt/notesSlides/notesSlide1.xml" Id="R214a01d30500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860c02216490b" /><Relationship Type="http://schemas.openxmlformats.org/officeDocument/2006/relationships/notesSlide" Target="/ppt/notesSlides/notesSlide2.xml" Id="Re15cf64ae211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ec26bf8404054" /><Relationship Type="http://schemas.openxmlformats.org/officeDocument/2006/relationships/notesSlide" Target="/ppt/notesSlides/notesSlide3.xml" Id="R6102d4bb1399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7c2835a64bcf" /><Relationship Type="http://schemas.openxmlformats.org/officeDocument/2006/relationships/notesSlide" Target="/ppt/notesSlides/notesSlide4.xml" Id="R4a8cb3aafdf2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3d0de3634845" /><Relationship Type="http://schemas.openxmlformats.org/officeDocument/2006/relationships/image" Target="/ppt/media/image7.png" Id="R843ed17d7b7e41df" /><Relationship Type="http://schemas.openxmlformats.org/officeDocument/2006/relationships/image" Target="/ppt/media/image8.png" Id="R132be69d97c3476a" /><Relationship Type="http://schemas.openxmlformats.org/officeDocument/2006/relationships/image" Target="/ppt/media/image9.png" Id="R3184e6d167a54a79" /><Relationship Type="http://schemas.openxmlformats.org/officeDocument/2006/relationships/image" Target="/ppt/media/image10.png" Id="R54561db6dbfb45c3" /><Relationship Type="http://schemas.openxmlformats.org/officeDocument/2006/relationships/image" Target="/ppt/media/image11.png" Id="Ra46b0078b3764c5a" /><Relationship Type="http://schemas.openxmlformats.org/officeDocument/2006/relationships/image" Target="/ppt/media/image12.png" Id="Rccd1ea46c26d4492" /><Relationship Type="http://schemas.openxmlformats.org/officeDocument/2006/relationships/image" Target="/ppt/media/image13.png" Id="R93f55ff11b0e4415" /><Relationship Type="http://schemas.openxmlformats.org/officeDocument/2006/relationships/image" Target="/ppt/media/image14.png" Id="R0d3acbb160f24d14" /><Relationship Type="http://schemas.openxmlformats.org/officeDocument/2006/relationships/notesSlide" Target="/ppt/notesSlides/notesSlide5.xml" Id="Rbbb2f260d5b1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A74C9CCF-4226-451B-A73A-836A5FC3D4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F1B83AF1-FD82-4BAC-9A10-EB3B02EE3E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7F3E3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7273A834-8333-4268-B157-40A2DCB01D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A47CAF06-CFE6-485F-AC28-71E0AAA6C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5E2F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2809B153-37FB-4BFC-89B8-0AF20F72C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EF0E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EB8C1623-F5F5-43E6-81ED-35CE3D759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FFF9CF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DF131352-803B-4782-B294-F7F2202D5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10096500"/>
              <a:ext cx="13239750" cy="552450"/>
            </a:xfrm>
            <a:prstGeom xmlns:a="http://schemas.openxmlformats.org/drawingml/2006/main" prst="roundRect">
              <a:avLst>
                <a:gd name="adj" fmla="val 31034"/>
              </a:avLst>
            </a:prstGeom>
            <a:solidFill xmlns:a="http://schemas.openxmlformats.org/drawingml/2006/main">
              <a:srgbClr val="F2F3EE"/>
            </a:solidFill>
            <a:ln xmlns:a="http://schemas.openxmlformats.org/drawingml/2006/main" w="38100">
              <a:solidFill>
                <a:srgbClr val="2C2D2C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9" name="monitor">
              <a:extLst xmlns:a="http://schemas.openxmlformats.org/drawingml/2006/main">
                <a:ext uri="{FF2B5EF4-FFF2-40B4-BE49-F238E27FC236}">
                  <a16:creationId xmlns:a16="http://schemas.microsoft.com/office/drawing/2014/main" id="{19F7A632-1636-4B91-AE89-AFA5281039F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19ed5c9584244ed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0" name="document">
              <a:extLst xmlns:a="http://schemas.openxmlformats.org/drawingml/2006/main">
                <a:ext uri="{FF2B5EF4-FFF2-40B4-BE49-F238E27FC236}">
                  <a16:creationId xmlns:a16="http://schemas.microsoft.com/office/drawing/2014/main" id="{8989611D-09F0-4A6A-8C8F-E4B8B1DDA6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7140c72683d449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1" name="checked-document">
              <a:extLst xmlns:a="http://schemas.openxmlformats.org/drawingml/2006/main">
                <a:ext uri="{FF2B5EF4-FFF2-40B4-BE49-F238E27FC236}">
                  <a16:creationId xmlns:a16="http://schemas.microsoft.com/office/drawing/2014/main" id="{80750F03-5F1E-41C8-8B20-D182761A78E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c249edfa9940a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2" name="code-files">
              <a:extLst xmlns:a="http://schemas.openxmlformats.org/drawingml/2006/main">
                <a:ext uri="{FF2B5EF4-FFF2-40B4-BE49-F238E27FC236}">
                  <a16:creationId xmlns:a16="http://schemas.microsoft.com/office/drawing/2014/main" id="{7560F6DA-902A-4683-B965-EA7B6E364A2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b46179c2ebac4a06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3" name="documents">
              <a:extLst xmlns:a="http://schemas.openxmlformats.org/drawingml/2006/main">
                <a:ext uri="{FF2B5EF4-FFF2-40B4-BE49-F238E27FC236}">
                  <a16:creationId xmlns:a16="http://schemas.microsoft.com/office/drawing/2014/main" id="{851F5A06-C8B5-4597-8F2A-BDB270A3AC5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22463d8b0524f3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4" name="shield-check">
              <a:extLst xmlns:a="http://schemas.openxmlformats.org/drawingml/2006/main">
                <a:ext uri="{FF2B5EF4-FFF2-40B4-BE49-F238E27FC236}">
                  <a16:creationId xmlns:a16="http://schemas.microsoft.com/office/drawing/2014/main" id="{47DD9597-0A75-49DA-89D4-850C98E1D955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fb26a2bcf784c7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5D40C4D7-8998-4A67-956C-7FB0888EF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836FE33E-2ADD-4F9E-BEEE-7AC7918FC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ADC59A5B-AB3B-40BA-87B6-F832DA370E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97BD7578-C2CC-4391-9050-3DEF2C9035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6858000" y="4619625"/>
              <a:ext cx="1190625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57D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1FEAD2AC-338E-44A4-BCC6-56BB22539F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Line 20">
              <a:extLst xmlns:a="http://schemas.openxmlformats.org/drawingml/2006/main">
                <a:ext uri="{FF2B5EF4-FFF2-40B4-BE49-F238E27FC236}">
                  <a16:creationId xmlns:a16="http://schemas.microsoft.com/office/drawing/2014/main" id="{821521D2-83F3-4AED-81A6-4F6598E516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10621B7F-440B-4187-A66E-1EE676D8C9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12811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9655314C-45D5-435B-BD94-BE46FAB2ED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54A58682-A4B0-4786-974A-8DC1034FE5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142875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82898BE3-AD06-4A83-BE0D-A87E68E8A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328CE424-BB0A-48C4-9E1A-EC6D14FEF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73D249A2-740D-4C40-922F-5E58587B57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3286125" y="902970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D2E3DE1B-B0DC-42D6-A715-71B50D105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9B7FEA43-D95F-455A-B9DC-5987F0536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34125" y="1028700"/>
              <a:ext cx="40005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80" i="1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Time-Series Agent construction</a:t>
              </a:r>
              <a:endParaRPr sz="138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635448E4-B446-4810-85DE-7AEFE16AC7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715000" y="1628775"/>
              <a:ext cx="57150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Modules compose across tasks</a:t>
              </a:r>
              <a:endParaRPr sz="19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557D7C7-0A63-4FF4-8DFA-58B1E9B73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Agent</a:t>
              </a:r>
              <a:endParaRPr sz="25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5EDA7FD3-7C76-4476-AF7B-C01A7EDF56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LLM +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and temporal data</a:t>
              </a:r>
              <a:endParaRPr sz="19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2B956CC6-84B2-42D8-86D5-B884194AB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Paper cards</a:t>
              </a:r>
              <a:endParaRPr sz="25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96488D2D-644F-4B5C-BA06-C728A60DA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claims, evidence,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module tags</a:t>
              </a:r>
              <a:endParaRPr sz="19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52814D69-94A9-4D43-AD20-3F5103561C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New task agent</a:t>
              </a:r>
              <a:endParaRPr sz="16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B0441189-B0F2-4FBC-91E2-D61027D73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Reusable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configuration</a:t>
              </a:r>
              <a:endParaRPr sz="19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B5A778F0-B4B3-445F-88BD-60003076B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General Harness</a:t>
              </a:r>
              <a:endParaRPr sz="16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8135804A-7E79-422B-803C-737B28FECD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tools, memory,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control, planning</a:t>
              </a:r>
              <a:endParaRPr sz="190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E792D0D1-82B0-4965-B721-AA2F5D06CD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Harness</a:t>
              </a:r>
              <a:endParaRPr sz="25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C2D3E767-259E-4AB8-B39F-E91EB3531D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temporal state,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operations, validation</a:t>
              </a:r>
              <a:endParaRPr sz="19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FADC864B-75CC-4906-9AC4-ED6EC912C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5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69234603-5CF0-4FDC-AA66-BA3DBAC8DE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forecasting, anomaly,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augmentation, decisions</a:t>
              </a:r>
              <a:endParaRPr sz="190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1CE96C91-6BF6-4691-B6D7-E5EB5E5D6D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3095625"/>
              <a:ext cx="904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8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instantiate</a:t>
              </a:r>
              <a:endParaRPr sz="108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EDE3FDC2-CE52-460D-9D1C-005430F62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952750" y="4762500"/>
              <a:ext cx="1238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observe</a:t>
              </a:r>
              <a:endParaRPr sz="190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367D18F-EEF8-4469-BDF5-7611931EF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5029200"/>
              <a:ext cx="1285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00" i="1">
                  <a:solidFill>
                    <a:srgbClr val="397C63"/>
                  </a:solidFill>
                  <a:latin typeface="Cambria"/>
                  <a:ea typeface="Cambria"/>
                  <a:cs typeface="Cambria"/>
                </a:rPr>
                <a:t>evaluate</a:t>
              </a:r>
              <a:endParaRPr sz="210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3B218B9E-1A38-4440-B01F-F776592BF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6762750"/>
              <a:ext cx="1000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adapt</a:t>
              </a:r>
              <a:endParaRPr sz="20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C800D007-8885-4CE3-A2BB-C41C28DE3C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191750" y="6762750"/>
              <a:ext cx="6667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benchmark</a:t>
              </a:r>
              <a:endParaRPr sz="20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95E9BF51-1D89-4615-9E4F-054ECC4D0C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58625" y="4762500"/>
              <a:ext cx="180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select module</a:t>
              </a:r>
              <a:endParaRPr sz="19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3C20A67-4095-49BA-BFB5-FD2794241F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00" y="9096375"/>
              <a:ext cx="49530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70" i="1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Module-level paper card</a:t>
              </a:r>
              <a:endParaRPr sz="117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5195BDD-DB93-4AF4-ABFD-EC0FF9D75B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95750" y="9601200"/>
              <a:ext cx="83343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One paper may contribute several modules</a:t>
              </a:r>
              <a:endParaRPr sz="19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3293197A-0C08-4983-863F-C62021D98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76500" y="10210800"/>
              <a:ext cx="11144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b="1">
                  <a:solidFill>
                    <a:srgbClr val="6C706C"/>
                  </a:solidFill>
                  <a:latin typeface="Cambria"/>
                  <a:ea typeface="Cambria"/>
                  <a:cs typeface="Cambria"/>
                </a:rPr>
                <a:t>Task semantics and benchmark protocols remain explicit</a:t>
              </a:r>
              <a:endParaRPr sz="18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8735695C-344B-4EDE-8ECD-E6D1302BE4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5875" y="323850"/>
              <a:ext cx="561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 system</a:t>
              </a:r>
              <a:endParaRPr sz="31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2B57A965-3E3D-427C-B3D8-9F357133BD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477625" y="409575"/>
              <a:ext cx="338137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buNone/>
              </a:pPr>
              <a:r>
                <a:rPr sz="1540" i="1">
                  <a:solidFill>
                    <a:srgbClr val="66716D"/>
                  </a:solidFill>
                  <a:latin typeface="Cambria"/>
                  <a:ea typeface="Cambria"/>
                  <a:cs typeface="Cambria"/>
                </a:rPr>
                <a:t>A module-level construction view</a:t>
              </a:r>
              <a:endParaRPr sz="154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B720197-D83C-4F5F-96F4-B2D6B9F07C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" y="10744200"/>
              <a:ext cx="16287750" cy="1714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</p:grpSp>
    </p:spTree>
    <p:extLst>
      <p:ext uri="{BB962C8B-B14F-4D97-AF65-F5344CB8AC3E}">
        <p14:creationId xmlns:p14="http://schemas.microsoft.com/office/powerpoint/2010/main" val="6608840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0A3D0D38-47FC-44BB-B1FA-D52AE4662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16697" y="4692728"/>
              <a:ext cx="1975054" cy="1753848"/>
            </a:xfrm>
            <a:prstGeom xmlns:a="http://schemas.openxmlformats.org/drawingml/2006/main" prst="roundRect">
              <a:avLst>
                <a:gd name="adj" fmla="val 8108"/>
              </a:avLst>
            </a:prstGeom>
            <a:solidFill xmlns:a="http://schemas.openxmlformats.org/drawingml/2006/main">
              <a:srgbClr val="CFE9EE"/>
            </a:solidFill>
            <a:ln xmlns:a="http://schemas.openxmlformats.org/drawingml/2006/main" w="25400">
              <a:solidFill>
                <a:srgbClr val="1F2937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8C5C85B8-06BF-4B9F-9D50-9AC7DE11B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74262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DEC47B3F-F672-4CF3-B466-041FB74C0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967154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D64BE902-CB9F-4263-9ADA-A99B93980B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3199588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FAE95982-E0AC-4C6B-939B-4745C2DF6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4424121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4A155900-06CC-4A2B-B3D0-1FF129B6C8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5664455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F9454FDB-CA7D-4DB9-8B9B-025E4E637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6888989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D017AD12-D4A5-454B-A342-D8B38831B7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8121422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C9E8EE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B31F1000-340A-4974-B333-070C93A948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9353856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CD2E0FEE-7759-43A9-8998-B7308AAC7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058629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FC4BCE47-30C5-4247-ACEB-8F2A5F167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74262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89220662-21BF-4837-9F80-64B6CC73D3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967154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52514506-723C-4C29-B42C-0F74044E21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3199588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9BACDACE-7947-4AA6-9386-D226436A90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4424121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112D592C-0E27-4968-A9A0-08BF0C7D1F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5664455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66B95DA8-04AB-42E9-9EF5-44048E9F9C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6888989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54EC743D-DC5A-4B1E-9EF8-B84C7DD12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8121422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7F5F8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F3D19169-4082-415F-847F-6BC79505B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9353856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A970C13-3960-4C84-9766-C46C2A37E2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058629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EA7CE87E-EABC-4ED6-B6D5-2CFB715C72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8130"/>
              <a:ext cx="0" cy="10973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9727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2DC6EC90-D975-4986-AAFD-D690FFE7B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8233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A1856308-AA3B-43CA-993E-5568348490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2306863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05038BD4-378B-48BC-A9FE-9E59980A0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3539297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66DC83AD-44B6-40E0-AFFA-293D89642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4771731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36CF8154-6118-4FA6-9B53-CA9CBAA75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6004164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4F38CBD7-8A95-4E1B-975F-18CE76C3D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7236598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Line 28">
              <a:extLst xmlns:a="http://schemas.openxmlformats.org/drawingml/2006/main">
                <a:ext uri="{FF2B5EF4-FFF2-40B4-BE49-F238E27FC236}">
                  <a16:creationId xmlns:a16="http://schemas.microsoft.com/office/drawing/2014/main" id="{79CEC729-7360-471C-AE59-25F5EA30A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8469032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B91A8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Line 29">
              <a:extLst xmlns:a="http://schemas.openxmlformats.org/drawingml/2006/main">
                <a:ext uri="{FF2B5EF4-FFF2-40B4-BE49-F238E27FC236}">
                  <a16:creationId xmlns:a16="http://schemas.microsoft.com/office/drawing/2014/main" id="{FDF2C4E9-A504-47D6-B991-AF7655D33B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9701466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Line 30">
              <a:extLst xmlns:a="http://schemas.openxmlformats.org/drawingml/2006/main">
                <a:ext uri="{FF2B5EF4-FFF2-40B4-BE49-F238E27FC236}">
                  <a16:creationId xmlns:a16="http://schemas.microsoft.com/office/drawing/2014/main" id="{71C126E5-08A2-4A9B-BAAD-670ABCACFD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4180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Line 31">
              <a:extLst xmlns:a="http://schemas.openxmlformats.org/drawingml/2006/main">
                <a:ext uri="{FF2B5EF4-FFF2-40B4-BE49-F238E27FC236}">
                  <a16:creationId xmlns:a16="http://schemas.microsoft.com/office/drawing/2014/main" id="{1E5FE03B-A6AC-4453-BCF6-075F79E868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1534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Line 32">
              <a:extLst xmlns:a="http://schemas.openxmlformats.org/drawingml/2006/main">
                <a:ext uri="{FF2B5EF4-FFF2-40B4-BE49-F238E27FC236}">
                  <a16:creationId xmlns:a16="http://schemas.microsoft.com/office/drawing/2014/main" id="{B04B91D8-7304-4743-9093-187DF4A40A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2520169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Line 33">
              <a:extLst xmlns:a="http://schemas.openxmlformats.org/drawingml/2006/main">
                <a:ext uri="{FF2B5EF4-FFF2-40B4-BE49-F238E27FC236}">
                  <a16:creationId xmlns:a16="http://schemas.microsoft.com/office/drawing/2014/main" id="{426829A0-D871-4EA5-8B43-AB70146AD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3752603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Line 34">
              <a:extLst xmlns:a="http://schemas.openxmlformats.org/drawingml/2006/main">
                <a:ext uri="{FF2B5EF4-FFF2-40B4-BE49-F238E27FC236}">
                  <a16:creationId xmlns:a16="http://schemas.microsoft.com/office/drawing/2014/main" id="{0B09B58E-9D83-4D05-BD12-B9B9600E39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48349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Line 35">
              <a:extLst xmlns:a="http://schemas.openxmlformats.org/drawingml/2006/main">
                <a:ext uri="{FF2B5EF4-FFF2-40B4-BE49-F238E27FC236}">
                  <a16:creationId xmlns:a16="http://schemas.microsoft.com/office/drawing/2014/main" id="{32F8FCBA-EF25-45BB-906D-A253832B88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6217470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Line 36">
              <a:extLst xmlns:a="http://schemas.openxmlformats.org/drawingml/2006/main">
                <a:ext uri="{FF2B5EF4-FFF2-40B4-BE49-F238E27FC236}">
                  <a16:creationId xmlns:a16="http://schemas.microsoft.com/office/drawing/2014/main" id="{3F45FAD1-E8EC-4882-A259-2590DF395E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7442004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Line 37">
              <a:extLst xmlns:a="http://schemas.openxmlformats.org/drawingml/2006/main">
                <a:ext uri="{FF2B5EF4-FFF2-40B4-BE49-F238E27FC236}">
                  <a16:creationId xmlns:a16="http://schemas.microsoft.com/office/drawing/2014/main" id="{4126B9EC-78E7-41EB-B021-2A8443548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8674438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5793A5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Line 38">
              <a:extLst xmlns:a="http://schemas.openxmlformats.org/drawingml/2006/main">
                <a:ext uri="{FF2B5EF4-FFF2-40B4-BE49-F238E27FC236}">
                  <a16:creationId xmlns:a16="http://schemas.microsoft.com/office/drawing/2014/main" id="{58080B09-FE8C-4C2E-93E6-1CAB937825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990687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Line 39">
              <a:extLst xmlns:a="http://schemas.openxmlformats.org/drawingml/2006/main">
                <a:ext uri="{FF2B5EF4-FFF2-40B4-BE49-F238E27FC236}">
                  <a16:creationId xmlns:a16="http://schemas.microsoft.com/office/drawing/2014/main" id="{DA3FAA57-3311-4F6A-9BFB-05481E045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099710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Ellipse 40">
              <a:extLst xmlns:a="http://schemas.openxmlformats.org/drawingml/2006/main">
                <a:ext uri="{FF2B5EF4-FFF2-40B4-BE49-F238E27FC236}">
                  <a16:creationId xmlns:a16="http://schemas.microsoft.com/office/drawing/2014/main" id="{37FBE542-10DE-4411-B941-02264D1123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0332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Ellipse 41">
              <a:extLst xmlns:a="http://schemas.openxmlformats.org/drawingml/2006/main">
                <a:ext uri="{FF2B5EF4-FFF2-40B4-BE49-F238E27FC236}">
                  <a16:creationId xmlns:a16="http://schemas.microsoft.com/office/drawing/2014/main" id="{E908D23C-23CA-40BE-9A76-9C98B8089F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2227861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Ellipse 42">
              <a:extLst xmlns:a="http://schemas.openxmlformats.org/drawingml/2006/main">
                <a:ext uri="{FF2B5EF4-FFF2-40B4-BE49-F238E27FC236}">
                  <a16:creationId xmlns:a16="http://schemas.microsoft.com/office/drawing/2014/main" id="{374D86A1-11AF-40A7-A3D6-067CCC651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3460295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Ellipse 43">
              <a:extLst xmlns:a="http://schemas.openxmlformats.org/drawingml/2006/main">
                <a:ext uri="{FF2B5EF4-FFF2-40B4-BE49-F238E27FC236}">
                  <a16:creationId xmlns:a16="http://schemas.microsoft.com/office/drawing/2014/main" id="{8918EC1D-F97B-430F-A7FB-DB20F5753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4692728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Ellipse 44">
              <a:extLst xmlns:a="http://schemas.openxmlformats.org/drawingml/2006/main">
                <a:ext uri="{FF2B5EF4-FFF2-40B4-BE49-F238E27FC236}">
                  <a16:creationId xmlns:a16="http://schemas.microsoft.com/office/drawing/2014/main" id="{5F78B2C5-6D4F-48BF-8ACF-096317EC3E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5925162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Ellipse 45">
              <a:extLst xmlns:a="http://schemas.openxmlformats.org/drawingml/2006/main">
                <a:ext uri="{FF2B5EF4-FFF2-40B4-BE49-F238E27FC236}">
                  <a16:creationId xmlns:a16="http://schemas.microsoft.com/office/drawing/2014/main" id="{6B841A32-AEFC-4046-83CE-3373F37A3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7157596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Ellipse 46">
              <a:extLst xmlns:a="http://schemas.openxmlformats.org/drawingml/2006/main">
                <a:ext uri="{FF2B5EF4-FFF2-40B4-BE49-F238E27FC236}">
                  <a16:creationId xmlns:a16="http://schemas.microsoft.com/office/drawing/2014/main" id="{EBFE40B9-CA6A-40E4-8DA1-336266F35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8390030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EF3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Ellipse 47">
              <a:extLst xmlns:a="http://schemas.openxmlformats.org/drawingml/2006/main">
                <a:ext uri="{FF2B5EF4-FFF2-40B4-BE49-F238E27FC236}">
                  <a16:creationId xmlns:a16="http://schemas.microsoft.com/office/drawing/2014/main" id="{D095759D-9372-40E2-BC15-7D00D97560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9622463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Ellipse 48">
              <a:extLst xmlns:a="http://schemas.openxmlformats.org/drawingml/2006/main">
                <a:ext uri="{FF2B5EF4-FFF2-40B4-BE49-F238E27FC236}">
                  <a16:creationId xmlns:a16="http://schemas.microsoft.com/office/drawing/2014/main" id="{E7F5B5EE-1697-46BF-AC25-7BD2158D7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86279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D81EF437-2A24-47E5-A07C-754416FAE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77616" y="142204"/>
              <a:ext cx="1422039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Survey organization</a:t>
              </a:r>
              <a:endParaRPr sz="254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56A6678B-794A-439F-B696-84A30D10A5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54752" y="142204"/>
              <a:ext cx="1738048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5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Sections</a:t>
              </a:r>
              <a:endParaRPr sz="235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2EDE01EB-343C-4029-BFDE-852D0E8B6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4937635"/>
              <a:ext cx="1659045" cy="82952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Time-Series</a:t>
              </a:r>
              <a:endParaRPr sz="2680"/>
            </a:p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Agent</a:t>
              </a:r>
              <a:endParaRPr sz="268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074160DC-92D4-46DC-BDBA-F789EE383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5877761"/>
              <a:ext cx="1659045" cy="3555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80" i="1">
                  <a:solidFill>
                    <a:srgbClr val="6B7280"/>
                  </a:solidFill>
                  <a:latin typeface="Cambria"/>
                  <a:ea typeface="Cambria"/>
                  <a:cs typeface="Cambria"/>
                </a:rPr>
                <a:t>Reader’s guide</a:t>
              </a:r>
              <a:endParaRPr sz="168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45CDC35-51B5-4026-B049-880E4DCDE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0582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1    Introduction</a:t>
              </a:r>
              <a:endParaRPr sz="285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333720CC-1901-4A32-A650-EB3CB1DA7E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2030356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2    What Is a</a:t>
              </a:r>
              <a:endParaRPr sz="2410"/>
            </a:p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Agent?</a:t>
              </a:r>
              <a:endParaRPr sz="241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D7ECB67E-68AE-44FB-96CA-14187B3B2B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3262789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3    LLM-Side</a:t>
              </a:r>
              <a:endParaRPr sz="2480"/>
            </a:p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Contributions</a:t>
              </a:r>
              <a:endParaRPr sz="248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C0FC43D4-686E-40E3-9D59-004BF930E8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4487323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4    General</a:t>
              </a:r>
              <a:endParaRPr sz="2540"/>
            </a:p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54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0CC18A36-E59D-4E6D-A86F-A12BC70F5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5727657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5    General Time-Series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470BDABB-D852-412E-B461-4E6952FCC7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6952190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6    Task-Specific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39DC99BB-1B76-497F-891D-B310F32F82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184624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7    Infrastructure and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Benchmarks</a:t>
              </a:r>
              <a:endParaRPr sz="261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17933CB9-3A8D-46F3-B0FF-DD21613BE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9417058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8    Open Problems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and System Analyses</a:t>
              </a:r>
              <a:endParaRPr sz="261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317574F8-F8A3-4C9F-9210-FEC21510A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1064949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32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9    Conclusion</a:t>
              </a:r>
              <a:endParaRPr sz="322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E80BEADC-3F2A-4C85-887C-0E15C420C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790022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Motivation and scope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questions</a:t>
              </a:r>
              <a:endParaRPr sz="237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B2946089-CC82-4883-8A6E-E5790B032C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2014555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Agent interaction loop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Tasks and module reuse</a:t>
              </a:r>
              <a:endParaRPr sz="237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4BBBEBF4-F1AB-46E5-8D29-2FE52072A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3246989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Model interfaces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adaptation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Workflow policies</a:t>
              </a:r>
              <a:endParaRPr sz="218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9A37DBF7-E12D-43B7-9BC8-E930F963D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4471522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Interfaces, tools, memory</a:t>
              </a:r>
              <a:endParaRPr sz="2160"/>
            </a:p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Control, plans, learning, roles</a:t>
              </a:r>
              <a:endParaRPr sz="216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1BA24F56-726F-41DC-81CC-AB6F3CEAD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5711856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Data management         Temporal processing</a:t>
              </a:r>
              <a:endParaRPr sz="2000"/>
            </a:p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Context and memory      Temporal validation</a:t>
              </a:r>
              <a:endParaRPr sz="20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B6E31246-0790-4B91-998C-73D25F5F2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6936390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                Augmentation</a:t>
              </a:r>
              <a:endParaRPr sz="1889"/>
            </a:p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          Decision support</a:t>
              </a:r>
              <a:endParaRPr sz="1889"/>
            </a:p>
          </p:txBody>
        </p:sp>
        <p:sp>
          <p:nvSpPr>
            <p:cNvPr id="68" name="TextBox 68">
              <a:extLst xmlns:a="http://schemas.openxmlformats.org/drawingml/2006/main">
                <a:ext uri="{FF2B5EF4-FFF2-40B4-BE49-F238E27FC236}">
                  <a16:creationId xmlns:a16="http://schemas.microsoft.com/office/drawing/2014/main" id="{219681E6-35A9-4F2D-A244-4B3141F5A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8168824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ModernTSF                  TimeSeriesGym</a:t>
              </a:r>
              <a:endParaRPr sz="1870"/>
            </a:p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Traces and episodes      Evaluation</a:t>
              </a:r>
              <a:endParaRPr sz="1870"/>
            </a:p>
          </p:txBody>
        </p:sp>
        <p:sp>
          <p:nvSpPr>
            <p:cNvPr id="69" name="TextBox 69">
              <a:extLst xmlns:a="http://schemas.openxmlformats.org/drawingml/2006/main">
                <a:ext uri="{FF2B5EF4-FFF2-40B4-BE49-F238E27FC236}">
                  <a16:creationId xmlns:a16="http://schemas.microsoft.com/office/drawing/2014/main" id="{95D6F2E5-1072-4082-A3AF-A3429A89D8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9401257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Transfer and memory      Evidence quality</a:t>
              </a:r>
              <a:endParaRPr sz="1850"/>
            </a:p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feedback        Design implications</a:t>
              </a:r>
              <a:endParaRPr sz="1850"/>
            </a:p>
          </p:txBody>
        </p:sp>
        <p:sp>
          <p:nvSpPr>
            <p:cNvPr id="70" name="TextBox 70">
              <a:extLst xmlns:a="http://schemas.openxmlformats.org/drawingml/2006/main">
                <a:ext uri="{FF2B5EF4-FFF2-40B4-BE49-F238E27FC236}">
                  <a16:creationId xmlns:a16="http://schemas.microsoft.com/office/drawing/2014/main" id="{6F899B69-AE09-4863-9B2D-8D460EA42E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10633691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choices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Evaluation and reuse</a:t>
              </a:r>
              <a:endParaRPr sz="2370"/>
            </a:p>
          </p:txBody>
        </p:sp>
      </p:grpSp>
    </p:spTree>
    <p:extLst>
      <p:ext uri="{BB962C8B-B14F-4D97-AF65-F5344CB8AC3E}">
        <p14:creationId xmlns:p14="http://schemas.microsoft.com/office/powerpoint/2010/main" val="10166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cxnSp>
          <p:nvCxn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55ED298-24C4-4B33-A3D6-6D4524122699}"/>
                </a:ext>
              </a:extLst>
            </p:cNvPr>
            <p:cNvCxnSpPr>
              <a:stCxn xmlns:a="http://schemas.openxmlformats.org/drawingml/2006/main" id="17" idx="3"/>
              <a:endCxn xmlns:a="http://schemas.openxmlformats.org/drawingml/2006/main" id="21" idx="1"/>
            </p:cNvCxnSpPr>
            <p:nvPr/>
          </p:nvCxnSpPr>
          <p:spPr>
            <a:xfrm xmlns:a="http://schemas.openxmlformats.org/drawingml/2006/main" flipV="1">
              <a:off x="8667750" y="4857750"/>
              <a:ext cx="2571750" cy="952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E96A5CA2-8414-40C7-8D47-AF32CCF905E5}"/>
                </a:ext>
              </a:extLst>
            </p:cNvPr>
            <p:cNvCxnSpPr>
              <a:stCxn xmlns:a="http://schemas.openxmlformats.org/drawingml/2006/main" id="14" idx="2"/>
              <a:endCxn xmlns:a="http://schemas.openxmlformats.org/drawingml/2006/main" id="17" idx="0"/>
            </p:cNvCxnSpPr>
            <p:nvPr/>
          </p:nvCxnSpPr>
          <p:spPr>
            <a:xfrm xmlns:a="http://schemas.openxmlformats.org/drawingml/2006/main" flipV="1">
              <a:off x="7429500" y="4762500"/>
              <a:ext cx="0" cy="2857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E67FC10C-D4EE-4E4B-B2E7-7BCA43A4CEAB}"/>
                </a:ext>
              </a:extLst>
            </p:cNvPr>
            <p:cNvCxnSpPr>
              <a:stCxn xmlns:a="http://schemas.openxmlformats.org/drawingml/2006/main" id="11" idx="2"/>
              <a:endCxn xmlns:a="http://schemas.openxmlformats.org/drawingml/2006/main" id="14" idx="0"/>
            </p:cNvCxnSpPr>
            <p:nvPr/>
          </p:nvCxnSpPr>
          <p:spPr>
            <a:xfrm xmlns:a="http://schemas.openxmlformats.org/drawingml/2006/main" flipV="1">
              <a:off x="7429500" y="3143250"/>
              <a:ext cx="0" cy="53340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6323333D-7D8E-4ED3-B563-B5FA79AE53F0}"/>
                </a:ext>
              </a:extLst>
            </p:cNvPr>
            <p:cNvCxnSpPr>
              <a:stCxn xmlns:a="http://schemas.openxmlformats.org/drawingml/2006/main" id="4" idx="3"/>
              <a:endCxn xmlns:a="http://schemas.openxmlformats.org/drawingml/2006/main" id="11" idx="1"/>
            </p:cNvCxnSpPr>
            <p:nvPr/>
          </p:nvCxnSpPr>
          <p:spPr>
            <a:xfrm xmlns:a="http://schemas.openxmlformats.org/drawingml/2006/main">
              <a:off x="3619500" y="4857750"/>
              <a:ext cx="4762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6D6396"/>
              </a:solidFill>
              <a:prstDash val="solid"/>
              <a:headEnd type="arrow" w="sm" len="sm"/>
            </a:ln>
          </p:spPr>
        </p:cxn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84A65B5F-2550-4210-ABCE-0AE3692338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"/>
              <a:ext cx="139065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Contribution layers in Time-Series Agents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9BC7A756-5F53-4634-A9F9-0E6967D9E3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723900"/>
              <a:ext cx="13906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LLM capabilities combine with three Harness scopes to support temporal tasks.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5196494C-F7A8-4CB4-84F8-094976A763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side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798E671-C3ED-41FC-AB44-F929CD996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4288">
              <a:solidFill>
                <a:srgbClr val="6D6396"/>
              </a:solidFill>
              <a:prstDash val="dash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67B41B1-896B-4B1B-BC09-2DBACDB65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interaction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05124DDF-0B26-446C-8F37-C3255259B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781300"/>
              <a:ext cx="232410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interpret observations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select tool actions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use returned feedback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adaptation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D26855EE-B49C-4CD8-B0C7-C041566A32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4810125"/>
              <a:ext cx="20002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D6396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0AF2F9E-9C01-41BA-9C4A-7D2B2FF95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3500" y="5010150"/>
              <a:ext cx="1714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Action-selection model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67C291B-4820-4588-9B62-A00DA29D09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6191250"/>
              <a:ext cx="2381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Model contribution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interfaces and training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3A9C5A2-68D9-40ED-A058-A4BF3002AE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5800" y="1143000"/>
              <a:ext cx="59055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Time-Series Agent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76330AE9-43C4-4D19-A843-B80ADEE7FF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619250"/>
              <a:ext cx="6667500" cy="6858000"/>
            </a:xfrm>
            <a:prstGeom xmlns:a="http://schemas.openxmlformats.org/drawingml/2006/main" prst="roundRect">
              <a:avLst>
                <a:gd name="adj" fmla="val 114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F2712E49-6679-4BB7-A8D3-BDD66F9E0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98120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General Harness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32BEDEE-6D5E-477F-9A1C-BB87ADAF9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234315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tools · memory · control · planning · coordination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1B747F3-93A6-415E-8C07-E0858A6A6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95875" y="3143250"/>
              <a:ext cx="4667250" cy="4476750"/>
            </a:xfrm>
            <a:prstGeom xmlns:a="http://schemas.openxmlformats.org/drawingml/2006/main" prst="roundRect">
              <a:avLst>
                <a:gd name="adj" fmla="val 1702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4288">
              <a:solidFill>
                <a:srgbClr val="6B9F80"/>
              </a:solidFill>
              <a:prstDash val="dash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AF78898E-882F-4483-A48C-78BF86E31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3476625"/>
              <a:ext cx="409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rPr>
                <a:t>General Time-Series Harness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0C15CA2F-A8B1-4922-8875-A36B28FF6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857625"/>
              <a:ext cx="4000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state · operations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provenance · validation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811E6EAC-EBC5-43FD-82E3-673A3B70A7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4762500"/>
              <a:ext cx="2476500" cy="2095500"/>
            </a:xfrm>
            <a:prstGeom xmlns:a="http://schemas.openxmlformats.org/drawingml/2006/main" prst="roundRect">
              <a:avLst>
                <a:gd name="adj" fmla="val 3636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B47B24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EC92D4D-9EA8-47B8-A9A2-F28BEBBF48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50482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rPr>
                <a:t>Task-Specific Harness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853C845-6533-42B7-8E89-93F0FED50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5524500"/>
              <a:ext cx="19431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forecasting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augmentation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anomaly · decisions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73419DC-0C6A-41E4-BAB3-444F27649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Evaluation and evidence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CB2FFA5C-6291-4A95-B53F-88F0666993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ECA11863-5A0F-4DAF-8067-C9173D7AE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Benchmark contract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A2D844B-1B0C-4653-8625-B99023659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781300"/>
              <a:ext cx="2381250" cy="1200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episodes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chronology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held-out tests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reproducible traces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48F4159-DD0B-48DE-A827-BE7BE0AA50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7625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7562827F-4A8E-41B1-9FCD-18850D224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972050"/>
              <a:ext cx="17526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module-level</a:t>
              </a:r>
            </a:p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counts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0F025FB-90C9-4A46-A4EE-D665C2A86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0" y="6191250"/>
              <a:ext cx="247650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Each paper can contribute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several modules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2790A23E-888B-4FCF-8030-17E7A31138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8858250"/>
              <a:ext cx="66675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4561BFF-9D9A-4258-B397-C1387E9BB9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9029700"/>
              <a:ext cx="6096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General Harness ⊃ General Time-Series Harness ⊃ Task-Specific Harness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633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3233EA32-85E7-4662-9AA3-0606C802E0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0989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BF5E8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C3919331-5D84-4245-B7FD-094B04E77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35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7F1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C4B7D85C-560D-41E9-BED3-AE110BCD70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60080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3FA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3C20F432-2B5C-4B88-8E16-4391A445D0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14626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9EEEE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7C10D64B-0797-4BF1-9D76-FC1F199334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69171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4EFF8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AB9A8D7F-54F3-4973-B39E-77DBB6F96B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23717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6F6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6FD39D24-71E3-40AB-A632-C672D7DE0F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434218" y="9730930"/>
              <a:ext cx="8096134" cy="560502"/>
            </a:xfrm>
            <a:prstGeom xmlns:a="http://schemas.openxmlformats.org/drawingml/2006/main" prst="roundRect">
              <a:avLst>
                <a:gd name="adj" fmla="val 13889"/>
              </a:avLst>
            </a:prstGeom>
            <a:solidFill xmlns:a="http://schemas.openxmlformats.org/drawingml/2006/main">
              <a:srgbClr val="FBFBFB"/>
            </a:solidFill>
            <a:ln xmlns:a="http://schemas.openxmlformats.org/drawingml/2006/main" w="25400">
              <a:solidFill>
                <a:srgbClr val="283244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83B14A0C-5511-4785-941F-98CC313AB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4618BD2A-F518-428A-84E6-7BF7501032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45F3B881-B1CA-4E17-A4D8-70CC0F75A9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783EBEBC-455C-44AE-83F1-2B7F9037E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B38B0811-2462-459F-91D7-25555350C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83F9FF2C-2DB2-470E-9EE8-97294F316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A3A337B9-5563-4FBB-B772-BEE32D92FE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55D88945-A448-433E-B50D-7FB8318036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B03FA411-ABDD-49B0-8FD8-755A447024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928720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D6FF93A4-FAEB-4A42-AC0D-AD57B88B7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CF2F75D1-025C-42B6-A90A-8F1BC21E4A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614EECF-670A-403E-8AB3-B6FD1FBEC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Roundrect 21">
              <a:extLst xmlns:a="http://schemas.openxmlformats.org/drawingml/2006/main">
                <a:ext uri="{FF2B5EF4-FFF2-40B4-BE49-F238E27FC236}">
                  <a16:creationId xmlns:a16="http://schemas.microsoft.com/office/drawing/2014/main" id="{31B32DD5-8C40-4B34-82E2-F08F917470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Roundrect 22">
              <a:extLst xmlns:a="http://schemas.openxmlformats.org/drawingml/2006/main">
                <a:ext uri="{FF2B5EF4-FFF2-40B4-BE49-F238E27FC236}">
                  <a16:creationId xmlns:a16="http://schemas.microsoft.com/office/drawing/2014/main" id="{01AC7B4E-84AB-46CC-A047-0723807B4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Roundrect 23">
              <a:extLst xmlns:a="http://schemas.openxmlformats.org/drawingml/2006/main">
                <a:ext uri="{FF2B5EF4-FFF2-40B4-BE49-F238E27FC236}">
                  <a16:creationId xmlns:a16="http://schemas.microsoft.com/office/drawing/2014/main" id="{66D2E466-7846-4F11-95C1-04B8795ADA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Roundrect 24">
              <a:extLst xmlns:a="http://schemas.openxmlformats.org/drawingml/2006/main">
                <a:ext uri="{FF2B5EF4-FFF2-40B4-BE49-F238E27FC236}">
                  <a16:creationId xmlns:a16="http://schemas.microsoft.com/office/drawing/2014/main" id="{BF9B040A-12D2-488C-B943-886D7ABB0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Roundrect 25">
              <a:extLst xmlns:a="http://schemas.openxmlformats.org/drawingml/2006/main">
                <a:ext uri="{FF2B5EF4-FFF2-40B4-BE49-F238E27FC236}">
                  <a16:creationId xmlns:a16="http://schemas.microsoft.com/office/drawing/2014/main" id="{E93DC402-3C34-41C0-A56C-A7F74AC444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Roundrect 26">
              <a:extLst xmlns:a="http://schemas.openxmlformats.org/drawingml/2006/main">
                <a:ext uri="{FF2B5EF4-FFF2-40B4-BE49-F238E27FC236}">
                  <a16:creationId xmlns:a16="http://schemas.microsoft.com/office/drawing/2014/main" id="{4DE2DAC1-C6E7-4AEA-8D8A-03B357E764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Roundrect 27">
              <a:extLst xmlns:a="http://schemas.openxmlformats.org/drawingml/2006/main">
                <a:ext uri="{FF2B5EF4-FFF2-40B4-BE49-F238E27FC236}">
                  <a16:creationId xmlns:a16="http://schemas.microsoft.com/office/drawing/2014/main" id="{F81542F6-97CF-4608-A896-37D8F085E5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Roundrect 28">
              <a:extLst xmlns:a="http://schemas.openxmlformats.org/drawingml/2006/main">
                <a:ext uri="{FF2B5EF4-FFF2-40B4-BE49-F238E27FC236}">
                  <a16:creationId xmlns:a16="http://schemas.microsoft.com/office/drawing/2014/main" id="{2DE18B02-AC1C-4CB4-8F04-E3323E6882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Roundrect 29">
              <a:extLst xmlns:a="http://schemas.openxmlformats.org/drawingml/2006/main">
                <a:ext uri="{FF2B5EF4-FFF2-40B4-BE49-F238E27FC236}">
                  <a16:creationId xmlns:a16="http://schemas.microsoft.com/office/drawing/2014/main" id="{323085DE-F74D-4DE0-8D53-4DC63666A2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Roundrect 30">
              <a:extLst xmlns:a="http://schemas.openxmlformats.org/drawingml/2006/main">
                <a:ext uri="{FF2B5EF4-FFF2-40B4-BE49-F238E27FC236}">
                  <a16:creationId xmlns:a16="http://schemas.microsoft.com/office/drawing/2014/main" id="{265640A4-4072-4AC6-8B01-81AB666715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Roundrect 31">
              <a:extLst xmlns:a="http://schemas.openxmlformats.org/drawingml/2006/main">
                <a:ext uri="{FF2B5EF4-FFF2-40B4-BE49-F238E27FC236}">
                  <a16:creationId xmlns:a16="http://schemas.microsoft.com/office/drawing/2014/main" id="{07B3B5B4-923B-4E45-83D6-7F342DE5DA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Roundrect 32">
              <a:extLst xmlns:a="http://schemas.openxmlformats.org/drawingml/2006/main">
                <a:ext uri="{FF2B5EF4-FFF2-40B4-BE49-F238E27FC236}">
                  <a16:creationId xmlns:a16="http://schemas.microsoft.com/office/drawing/2014/main" id="{AF6358CE-1C08-4C4B-B72D-67B94EC19C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Roundrect 33">
              <a:extLst xmlns:a="http://schemas.openxmlformats.org/drawingml/2006/main">
                <a:ext uri="{FF2B5EF4-FFF2-40B4-BE49-F238E27FC236}">
                  <a16:creationId xmlns:a16="http://schemas.microsoft.com/office/drawing/2014/main" id="{7238974E-AE77-4669-9D20-1FCA49FC3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Roundrect 34">
              <a:extLst xmlns:a="http://schemas.openxmlformats.org/drawingml/2006/main">
                <a:ext uri="{FF2B5EF4-FFF2-40B4-BE49-F238E27FC236}">
                  <a16:creationId xmlns:a16="http://schemas.microsoft.com/office/drawing/2014/main" id="{9C5DF1DF-9A34-4F2D-B8B7-F4855D7117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Roundrect 35">
              <a:extLst xmlns:a="http://schemas.openxmlformats.org/drawingml/2006/main">
                <a:ext uri="{FF2B5EF4-FFF2-40B4-BE49-F238E27FC236}">
                  <a16:creationId xmlns:a16="http://schemas.microsoft.com/office/drawing/2014/main" id="{4E7FF5A3-17D3-4B8B-B376-E634FD5EA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Roundrect 36">
              <a:extLst xmlns:a="http://schemas.openxmlformats.org/drawingml/2006/main">
                <a:ext uri="{FF2B5EF4-FFF2-40B4-BE49-F238E27FC236}">
                  <a16:creationId xmlns:a16="http://schemas.microsoft.com/office/drawing/2014/main" id="{A0A2A876-3B9C-4060-8EBC-620A5CE0BE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Roundrect 37">
              <a:extLst xmlns:a="http://schemas.openxmlformats.org/drawingml/2006/main">
                <a:ext uri="{FF2B5EF4-FFF2-40B4-BE49-F238E27FC236}">
                  <a16:creationId xmlns:a16="http://schemas.microsoft.com/office/drawing/2014/main" id="{FDD2EF93-BC4A-4A24-A730-AEA6CE114F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Roundrect 38">
              <a:extLst xmlns:a="http://schemas.openxmlformats.org/drawingml/2006/main">
                <a:ext uri="{FF2B5EF4-FFF2-40B4-BE49-F238E27FC236}">
                  <a16:creationId xmlns:a16="http://schemas.microsoft.com/office/drawing/2014/main" id="{172BFCFE-165B-4BDD-A44D-C700309659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Roundrect 39">
              <a:extLst xmlns:a="http://schemas.openxmlformats.org/drawingml/2006/main">
                <a:ext uri="{FF2B5EF4-FFF2-40B4-BE49-F238E27FC236}">
                  <a16:creationId xmlns:a16="http://schemas.microsoft.com/office/drawing/2014/main" id="{631A3826-DC99-4D65-985F-65793F7789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Roundrect 40">
              <a:extLst xmlns:a="http://schemas.openxmlformats.org/drawingml/2006/main">
                <a:ext uri="{FF2B5EF4-FFF2-40B4-BE49-F238E27FC236}">
                  <a16:creationId xmlns:a16="http://schemas.microsoft.com/office/drawing/2014/main" id="{427699D1-9DAC-4B13-88A4-C308BFF351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Roundrect 41">
              <a:extLst xmlns:a="http://schemas.openxmlformats.org/drawingml/2006/main">
                <a:ext uri="{FF2B5EF4-FFF2-40B4-BE49-F238E27FC236}">
                  <a16:creationId xmlns:a16="http://schemas.microsoft.com/office/drawing/2014/main" id="{3D267B24-7FD7-4B54-9C07-DB8D7628A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Roundrect 42">
              <a:extLst xmlns:a="http://schemas.openxmlformats.org/drawingml/2006/main">
                <a:ext uri="{FF2B5EF4-FFF2-40B4-BE49-F238E27FC236}">
                  <a16:creationId xmlns:a16="http://schemas.microsoft.com/office/drawing/2014/main" id="{7D739899-0DD6-4037-AE63-AED8730995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Roundrect 43">
              <a:extLst xmlns:a="http://schemas.openxmlformats.org/drawingml/2006/main">
                <a:ext uri="{FF2B5EF4-FFF2-40B4-BE49-F238E27FC236}">
                  <a16:creationId xmlns:a16="http://schemas.microsoft.com/office/drawing/2014/main" id="{6C09FE3B-8D6A-4716-BB1F-9389F7B1B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Roundrect 44">
              <a:extLst xmlns:a="http://schemas.openxmlformats.org/drawingml/2006/main">
                <a:ext uri="{FF2B5EF4-FFF2-40B4-BE49-F238E27FC236}">
                  <a16:creationId xmlns:a16="http://schemas.microsoft.com/office/drawing/2014/main" id="{6CA94553-77D7-45F8-AD9D-F382101DA2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Roundrect 45">
              <a:extLst xmlns:a="http://schemas.openxmlformats.org/drawingml/2006/main">
                <a:ext uri="{FF2B5EF4-FFF2-40B4-BE49-F238E27FC236}">
                  <a16:creationId xmlns:a16="http://schemas.microsoft.com/office/drawing/2014/main" id="{D5766E79-E8B0-4928-A42B-931A07061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Roundrect 46">
              <a:extLst xmlns:a="http://schemas.openxmlformats.org/drawingml/2006/main">
                <a:ext uri="{FF2B5EF4-FFF2-40B4-BE49-F238E27FC236}">
                  <a16:creationId xmlns:a16="http://schemas.microsoft.com/office/drawing/2014/main" id="{7FED352E-E4B1-4E19-9457-B2C7408AC3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16415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Roundrect 47">
              <a:extLst xmlns:a="http://schemas.openxmlformats.org/drawingml/2006/main">
                <a:ext uri="{FF2B5EF4-FFF2-40B4-BE49-F238E27FC236}">
                  <a16:creationId xmlns:a16="http://schemas.microsoft.com/office/drawing/2014/main" id="{5E3DB370-5EAA-4A41-8080-922876F326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436625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Roundrect 48">
              <a:extLst xmlns:a="http://schemas.openxmlformats.org/drawingml/2006/main">
                <a:ext uri="{FF2B5EF4-FFF2-40B4-BE49-F238E27FC236}">
                  <a16:creationId xmlns:a16="http://schemas.microsoft.com/office/drawing/2014/main" id="{A985B0EA-8E46-4DE6-991A-A65604D95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Roundrect 49">
              <a:extLst xmlns:a="http://schemas.openxmlformats.org/drawingml/2006/main">
                <a:ext uri="{FF2B5EF4-FFF2-40B4-BE49-F238E27FC236}">
                  <a16:creationId xmlns:a16="http://schemas.microsoft.com/office/drawing/2014/main" id="{A3CA271F-0962-4947-82FE-F8C7AA421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0" name="Roundrect 50">
              <a:extLst xmlns:a="http://schemas.openxmlformats.org/drawingml/2006/main">
                <a:ext uri="{FF2B5EF4-FFF2-40B4-BE49-F238E27FC236}">
                  <a16:creationId xmlns:a16="http://schemas.microsoft.com/office/drawing/2014/main" id="{E419ADF4-E4EF-46D9-B9BF-B9B2CEC2B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1" name="Roundrect 51">
              <a:extLst xmlns:a="http://schemas.openxmlformats.org/drawingml/2006/main">
                <a:ext uri="{FF2B5EF4-FFF2-40B4-BE49-F238E27FC236}">
                  <a16:creationId xmlns:a16="http://schemas.microsoft.com/office/drawing/2014/main" id="{0BB0CF29-91D9-4F60-A3F9-BCD3E35335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2" name="Roundrect 52">
              <a:extLst xmlns:a="http://schemas.openxmlformats.org/drawingml/2006/main">
                <a:ext uri="{FF2B5EF4-FFF2-40B4-BE49-F238E27FC236}">
                  <a16:creationId xmlns:a16="http://schemas.microsoft.com/office/drawing/2014/main" id="{301C4D08-2B94-46FE-96E3-15FB0CDD28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3" name="Line 53">
              <a:extLst xmlns:a="http://schemas.openxmlformats.org/drawingml/2006/main">
                <a:ext uri="{FF2B5EF4-FFF2-40B4-BE49-F238E27FC236}">
                  <a16:creationId xmlns:a16="http://schemas.microsoft.com/office/drawing/2014/main" id="{2FBBD4C3-04A2-4EBB-9198-9E2E52C382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38398" y="2179728"/>
              <a:ext cx="0" cy="720088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5400">
              <a:solidFill>
                <a:srgbClr val="7077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4" name="Line 54">
              <a:extLst xmlns:a="http://schemas.openxmlformats.org/drawingml/2006/main">
                <a:ext uri="{FF2B5EF4-FFF2-40B4-BE49-F238E27FC236}">
                  <a16:creationId xmlns:a16="http://schemas.microsoft.com/office/drawing/2014/main" id="{EC851C19-9B3E-4210-908C-04E646D138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2335423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5" name="Line 55">
              <a:extLst xmlns:a="http://schemas.openxmlformats.org/drawingml/2006/main">
                <a:ext uri="{FF2B5EF4-FFF2-40B4-BE49-F238E27FC236}">
                  <a16:creationId xmlns:a16="http://schemas.microsoft.com/office/drawing/2014/main" id="{7C8C186B-BFAE-4332-AC2E-9237AB18F7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4048067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6" name="Line 56">
              <a:extLst xmlns:a="http://schemas.openxmlformats.org/drawingml/2006/main">
                <a:ext uri="{FF2B5EF4-FFF2-40B4-BE49-F238E27FC236}">
                  <a16:creationId xmlns:a16="http://schemas.microsoft.com/office/drawing/2014/main" id="{16E0C929-6E12-447C-8EB2-30C5513D7B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5760711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7" name="Line 57">
              <a:extLst xmlns:a="http://schemas.openxmlformats.org/drawingml/2006/main">
                <a:ext uri="{FF2B5EF4-FFF2-40B4-BE49-F238E27FC236}">
                  <a16:creationId xmlns:a16="http://schemas.microsoft.com/office/drawing/2014/main" id="{F67F3063-9651-4BA6-A4F1-B90E3E9F3D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7473354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8" name="Line 58">
              <a:extLst xmlns:a="http://schemas.openxmlformats.org/drawingml/2006/main">
                <a:ext uri="{FF2B5EF4-FFF2-40B4-BE49-F238E27FC236}">
                  <a16:creationId xmlns:a16="http://schemas.microsoft.com/office/drawing/2014/main" id="{F722CEA4-851A-4A1A-A085-8E861F35FB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9185998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9" name="Line 59">
              <a:extLst xmlns:a="http://schemas.openxmlformats.org/drawingml/2006/main">
                <a:ext uri="{FF2B5EF4-FFF2-40B4-BE49-F238E27FC236}">
                  <a16:creationId xmlns:a16="http://schemas.microsoft.com/office/drawing/2014/main" id="{6F9A7B05-5983-400B-9B36-460BF6DECD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2693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0" name="Line 60">
              <a:extLst xmlns:a="http://schemas.openxmlformats.org/drawingml/2006/main">
                <a:ext uri="{FF2B5EF4-FFF2-40B4-BE49-F238E27FC236}">
                  <a16:creationId xmlns:a16="http://schemas.microsoft.com/office/drawing/2014/main" id="{980FF436-BADD-4165-8B5E-D36B8E6E7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67238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1" name="Line 61">
              <a:extLst xmlns:a="http://schemas.openxmlformats.org/drawingml/2006/main">
                <a:ext uri="{FF2B5EF4-FFF2-40B4-BE49-F238E27FC236}">
                  <a16:creationId xmlns:a16="http://schemas.microsoft.com/office/drawing/2014/main" id="{33994690-51E0-43A2-B644-6329223544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921784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2" name="Line 62">
              <a:extLst xmlns:a="http://schemas.openxmlformats.org/drawingml/2006/main">
                <a:ext uri="{FF2B5EF4-FFF2-40B4-BE49-F238E27FC236}">
                  <a16:creationId xmlns:a16="http://schemas.microsoft.com/office/drawing/2014/main" id="{1979CBA7-F52E-4316-94CE-58A3771014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276329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3" name="Line 63">
              <a:extLst xmlns:a="http://schemas.openxmlformats.org/drawingml/2006/main">
                <a:ext uri="{FF2B5EF4-FFF2-40B4-BE49-F238E27FC236}">
                  <a16:creationId xmlns:a16="http://schemas.microsoft.com/office/drawing/2014/main" id="{3948C1BE-3AE6-49C3-AE3E-3A66C1F165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630875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4" name="Line 64">
              <a:extLst xmlns:a="http://schemas.openxmlformats.org/drawingml/2006/main">
                <a:ext uri="{FF2B5EF4-FFF2-40B4-BE49-F238E27FC236}">
                  <a16:creationId xmlns:a16="http://schemas.microsoft.com/office/drawing/2014/main" id="{B692A7D9-4EBE-4BF2-8DEB-84DEAB27F7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85420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5" name="Ellipse 65">
              <a:extLst xmlns:a="http://schemas.openxmlformats.org/drawingml/2006/main">
                <a:ext uri="{FF2B5EF4-FFF2-40B4-BE49-F238E27FC236}">
                  <a16:creationId xmlns:a16="http://schemas.microsoft.com/office/drawing/2014/main" id="{FEA53A3A-77F1-43A1-98CC-7F5DB8625D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095921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6" name="Ellipse 66">
              <a:extLst xmlns:a="http://schemas.openxmlformats.org/drawingml/2006/main">
                <a:ext uri="{FF2B5EF4-FFF2-40B4-BE49-F238E27FC236}">
                  <a16:creationId xmlns:a16="http://schemas.microsoft.com/office/drawing/2014/main" id="{BF05276B-585C-4AD1-8795-40F1CBA583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450467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7" name="Ellipse 67">
              <a:extLst xmlns:a="http://schemas.openxmlformats.org/drawingml/2006/main">
                <a:ext uri="{FF2B5EF4-FFF2-40B4-BE49-F238E27FC236}">
                  <a16:creationId xmlns:a16="http://schemas.microsoft.com/office/drawing/2014/main" id="{FFEC77B2-4D73-48D9-B202-9AC61944E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805012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8" name="Ellipse 68">
              <a:extLst xmlns:a="http://schemas.openxmlformats.org/drawingml/2006/main">
                <a:ext uri="{FF2B5EF4-FFF2-40B4-BE49-F238E27FC236}">
                  <a16:creationId xmlns:a16="http://schemas.microsoft.com/office/drawing/2014/main" id="{6EBD3B65-5794-4C9A-B4A6-05980BD907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59558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9" name="Ellipse 69">
              <a:extLst xmlns:a="http://schemas.openxmlformats.org/drawingml/2006/main">
                <a:ext uri="{FF2B5EF4-FFF2-40B4-BE49-F238E27FC236}">
                  <a16:creationId xmlns:a16="http://schemas.microsoft.com/office/drawing/2014/main" id="{30157108-6F9A-4951-8149-A71D5AB6D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514103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0" name="Ellipse 70">
              <a:extLst xmlns:a="http://schemas.openxmlformats.org/drawingml/2006/main">
                <a:ext uri="{FF2B5EF4-FFF2-40B4-BE49-F238E27FC236}">
                  <a16:creationId xmlns:a16="http://schemas.microsoft.com/office/drawing/2014/main" id="{D9925127-51A4-4AB7-B0A6-A929DAD7B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8649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1" name="TextBox 71">
              <a:extLst xmlns:a="http://schemas.openxmlformats.org/drawingml/2006/main">
                <a:ext uri="{FF2B5EF4-FFF2-40B4-BE49-F238E27FC236}">
                  <a16:creationId xmlns:a16="http://schemas.microsoft.com/office/drawing/2014/main" id="{62688785-2AF0-47BB-8723-FDA2E7E40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9286" y="171264"/>
              <a:ext cx="7006270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2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Research routes in Time-Series Agent systems</a:t>
              </a:r>
              <a:endParaRPr sz="2120"/>
            </a:p>
          </p:txBody>
        </p:sp>
        <p:sp>
          <p:nvSpPr>
            <p:cNvPr id="72" name="TextBox 72">
              <a:extLst xmlns:a="http://schemas.openxmlformats.org/drawingml/2006/main">
                <a:ext uri="{FF2B5EF4-FFF2-40B4-BE49-F238E27FC236}">
                  <a16:creationId xmlns:a16="http://schemas.microsoft.com/office/drawing/2014/main" id="{F490F487-E131-4D0B-B006-BB55A98BB8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904856" y="560502"/>
              <a:ext cx="7629049" cy="28025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2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Representative module contributions by first public year | LLM and Harness layers</a:t>
              </a:r>
              <a:endParaRPr sz="1320"/>
            </a:p>
          </p:txBody>
        </p:sp>
        <p:sp>
          <p:nvSpPr>
            <p:cNvPr id="73" name="TextBox 73">
              <a:extLst xmlns:a="http://schemas.openxmlformats.org/drawingml/2006/main">
                <a:ext uri="{FF2B5EF4-FFF2-40B4-BE49-F238E27FC236}">
                  <a16:creationId xmlns:a16="http://schemas.microsoft.com/office/drawing/2014/main" id="{73734FB9-6864-4961-8D4F-2E9E9C4101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LLM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side</a:t>
              </a:r>
              <a:endParaRPr sz="1310"/>
            </a:p>
          </p:txBody>
        </p:sp>
        <p:sp>
          <p:nvSpPr>
            <p:cNvPr id="74" name="TextBox 74">
              <a:extLst xmlns:a="http://schemas.openxmlformats.org/drawingml/2006/main">
                <a:ext uri="{FF2B5EF4-FFF2-40B4-BE49-F238E27FC236}">
                  <a16:creationId xmlns:a16="http://schemas.microsoft.com/office/drawing/2014/main" id="{2CA921D6-481A-4474-B4DA-46FA53A66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Representation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Alignment</a:t>
              </a:r>
              <a:endParaRPr sz="910"/>
            </a:p>
          </p:txBody>
        </p:sp>
        <p:sp>
          <p:nvSpPr>
            <p:cNvPr id="75" name="TextBox 75">
              <a:extLst xmlns:a="http://schemas.openxmlformats.org/drawingml/2006/main">
                <a:ext uri="{FF2B5EF4-FFF2-40B4-BE49-F238E27FC236}">
                  <a16:creationId xmlns:a16="http://schemas.microsoft.com/office/drawing/2014/main" id="{7AFA6504-3757-4530-B3F7-EDC968981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General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6" name="TextBox 76">
              <a:extLst xmlns:a="http://schemas.openxmlformats.org/drawingml/2006/main">
                <a:ext uri="{FF2B5EF4-FFF2-40B4-BE49-F238E27FC236}">
                  <a16:creationId xmlns:a16="http://schemas.microsoft.com/office/drawing/2014/main" id="{66F5115B-347A-46A2-8354-D3F48D9856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Tools and memory</a:t>
              </a:r>
              <a:endParaRPr sz="819"/>
            </a:p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Control and planning</a:t>
              </a:r>
              <a:endParaRPr sz="819"/>
            </a:p>
          </p:txBody>
        </p:sp>
        <p:sp>
          <p:nvSpPr>
            <p:cNvPr id="77" name="TextBox 77">
              <a:extLst xmlns:a="http://schemas.openxmlformats.org/drawingml/2006/main">
                <a:ext uri="{FF2B5EF4-FFF2-40B4-BE49-F238E27FC236}">
                  <a16:creationId xmlns:a16="http://schemas.microsoft.com/office/drawing/2014/main" id="{AB7C656C-76B1-4A1C-8D8C-A0E0CC1EA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General Time-Series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8" name="TextBox 78">
              <a:extLst xmlns:a="http://schemas.openxmlformats.org/drawingml/2006/main">
                <a:ext uri="{FF2B5EF4-FFF2-40B4-BE49-F238E27FC236}">
                  <a16:creationId xmlns:a16="http://schemas.microsoft.com/office/drawing/2014/main" id="{F3373007-8BA2-4605-97BC-5AAB30BCE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Temporal state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Operations and grounding</a:t>
              </a:r>
              <a:endParaRPr sz="910"/>
            </a:p>
          </p:txBody>
        </p:sp>
        <p:sp>
          <p:nvSpPr>
            <p:cNvPr id="79" name="TextBox 79">
              <a:extLst xmlns:a="http://schemas.openxmlformats.org/drawingml/2006/main">
                <a:ext uri="{FF2B5EF4-FFF2-40B4-BE49-F238E27FC236}">
                  <a16:creationId xmlns:a16="http://schemas.microsoft.com/office/drawing/2014/main" id="{3A10B682-CC47-42EC-A72A-0C5A2446A8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Task-Specific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80" name="TextBox 80">
              <a:extLst xmlns:a="http://schemas.openxmlformats.org/drawingml/2006/main">
                <a:ext uri="{FF2B5EF4-FFF2-40B4-BE49-F238E27FC236}">
                  <a16:creationId xmlns:a16="http://schemas.microsoft.com/office/drawing/2014/main" id="{67B5FBF0-B1EB-41BA-AC70-89EDF9DD79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Forecasting and prediction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Anomaly and diagnosis</a:t>
              </a:r>
              <a:endParaRPr sz="860"/>
            </a:p>
          </p:txBody>
        </p:sp>
        <p:sp>
          <p:nvSpPr>
            <p:cNvPr id="81" name="TextBox 81">
              <a:extLst xmlns:a="http://schemas.openxmlformats.org/drawingml/2006/main">
                <a:ext uri="{FF2B5EF4-FFF2-40B4-BE49-F238E27FC236}">
                  <a16:creationId xmlns:a16="http://schemas.microsoft.com/office/drawing/2014/main" id="{432A2365-650D-40E2-A728-95AB088591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Infrastructure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and benchmarks</a:t>
              </a:r>
              <a:endParaRPr sz="1310"/>
            </a:p>
          </p:txBody>
        </p:sp>
        <p:sp>
          <p:nvSpPr>
            <p:cNvPr id="82" name="TextBox 82">
              <a:extLst xmlns:a="http://schemas.openxmlformats.org/drawingml/2006/main">
                <a:ext uri="{FF2B5EF4-FFF2-40B4-BE49-F238E27FC236}">
                  <a16:creationId xmlns:a16="http://schemas.microsoft.com/office/drawing/2014/main" id="{1EB9309C-5EA0-4BD3-91EA-F3EE832502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Episodes, traces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TimeSeriesGym and ModernTSF</a:t>
              </a:r>
              <a:endParaRPr sz="910"/>
            </a:p>
          </p:txBody>
        </p:sp>
        <p:sp>
          <p:nvSpPr>
            <p:cNvPr id="83" name="TextBox 83">
              <a:extLst xmlns:a="http://schemas.openxmlformats.org/drawingml/2006/main">
                <a:ext uri="{FF2B5EF4-FFF2-40B4-BE49-F238E27FC236}">
                  <a16:creationId xmlns:a16="http://schemas.microsoft.com/office/drawing/2014/main" id="{F7F9056D-4A27-4327-8FCD-FBE01944B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Paper-card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database</a:t>
              </a:r>
              <a:endParaRPr sz="1310"/>
            </a:p>
          </p:txBody>
        </p:sp>
        <p:sp>
          <p:nvSpPr>
            <p:cNvPr id="84" name="TextBox 84">
              <a:extLst xmlns:a="http://schemas.openxmlformats.org/drawingml/2006/main">
                <a:ext uri="{FF2B5EF4-FFF2-40B4-BE49-F238E27FC236}">
                  <a16:creationId xmlns:a16="http://schemas.microsoft.com/office/drawing/2014/main" id="{95A12204-A31D-4544-A395-B083E24811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Claim, evidence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module-level counts</a:t>
              </a:r>
              <a:endParaRPr sz="860"/>
            </a:p>
          </p:txBody>
        </p:sp>
        <p:sp>
          <p:nvSpPr>
            <p:cNvPr id="85" name="TextBox 85">
              <a:extLst xmlns:a="http://schemas.openxmlformats.org/drawingml/2006/main">
                <a:ext uri="{FF2B5EF4-FFF2-40B4-BE49-F238E27FC236}">
                  <a16:creationId xmlns:a16="http://schemas.microsoft.com/office/drawing/2014/main" id="{53D195EF-EA51-4279-9ED5-DB2152B3E3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2242006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2026</a:t>
              </a:r>
              <a:endParaRPr sz="1400"/>
            </a:p>
          </p:txBody>
        </p:sp>
        <p:sp>
          <p:nvSpPr>
            <p:cNvPr id="86" name="TextBox 86">
              <a:extLst xmlns:a="http://schemas.openxmlformats.org/drawingml/2006/main">
                <a:ext uri="{FF2B5EF4-FFF2-40B4-BE49-F238E27FC236}">
                  <a16:creationId xmlns:a16="http://schemas.microsoft.com/office/drawing/2014/main" id="{B511CEE4-CB1C-4271-8180-BC281D886B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3954650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2025</a:t>
              </a:r>
              <a:endParaRPr sz="1400"/>
            </a:p>
          </p:txBody>
        </p:sp>
        <p:sp>
          <p:nvSpPr>
            <p:cNvPr id="87" name="TextBox 87">
              <a:extLst xmlns:a="http://schemas.openxmlformats.org/drawingml/2006/main">
                <a:ext uri="{FF2B5EF4-FFF2-40B4-BE49-F238E27FC236}">
                  <a16:creationId xmlns:a16="http://schemas.microsoft.com/office/drawing/2014/main" id="{FDFD7EA4-A851-4DAD-9D39-F44A3D3EC4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5667294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2024</a:t>
              </a:r>
              <a:endParaRPr sz="1400"/>
            </a:p>
          </p:txBody>
        </p:sp>
        <p:sp>
          <p:nvSpPr>
            <p:cNvPr id="88" name="TextBox 88">
              <a:extLst xmlns:a="http://schemas.openxmlformats.org/drawingml/2006/main">
                <a:ext uri="{FF2B5EF4-FFF2-40B4-BE49-F238E27FC236}">
                  <a16:creationId xmlns:a16="http://schemas.microsoft.com/office/drawing/2014/main" id="{031E5418-85A1-433F-8FFC-14C36FF6C6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7379938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2023</a:t>
              </a:r>
              <a:endParaRPr sz="1400"/>
            </a:p>
          </p:txBody>
        </p:sp>
        <p:sp>
          <p:nvSpPr>
            <p:cNvPr id="89" name="TextBox 89">
              <a:extLst xmlns:a="http://schemas.openxmlformats.org/drawingml/2006/main">
                <a:ext uri="{FF2B5EF4-FFF2-40B4-BE49-F238E27FC236}">
                  <a16:creationId xmlns:a16="http://schemas.microsoft.com/office/drawing/2014/main" id="{D5AAA9EF-59E9-48CB-AA40-F03A5C875E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9092581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2022</a:t>
              </a:r>
              <a:endParaRPr sz="1400"/>
            </a:p>
          </p:txBody>
        </p:sp>
        <p:sp>
          <p:nvSpPr>
            <p:cNvPr id="90" name="TextBox 90">
              <a:extLst xmlns:a="http://schemas.openxmlformats.org/drawingml/2006/main">
                <a:ext uri="{FF2B5EF4-FFF2-40B4-BE49-F238E27FC236}">
                  <a16:creationId xmlns:a16="http://schemas.microsoft.com/office/drawing/2014/main" id="{FB5865C0-B8F3-4AF4-A1CD-F6F7949A0B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ChatTS</a:t>
              </a:r>
              <a:endParaRPr sz="1100"/>
            </a:p>
          </p:txBody>
        </p:sp>
        <p:sp>
          <p:nvSpPr>
            <p:cNvPr id="91" name="TextBox 91">
              <a:extLst xmlns:a="http://schemas.openxmlformats.org/drawingml/2006/main">
                <a:ext uri="{FF2B5EF4-FFF2-40B4-BE49-F238E27FC236}">
                  <a16:creationId xmlns:a16="http://schemas.microsoft.com/office/drawing/2014/main" id="{41477BF9-2E68-4F66-9508-36759BA033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Time-LLM</a:t>
              </a:r>
              <a:endParaRPr sz="1100"/>
            </a:p>
          </p:txBody>
        </p:sp>
        <p:sp>
          <p:nvSpPr>
            <p:cNvPr id="92" name="TextBox 92">
              <a:extLst xmlns:a="http://schemas.openxmlformats.org/drawingml/2006/main">
                <a:ext uri="{FF2B5EF4-FFF2-40B4-BE49-F238E27FC236}">
                  <a16:creationId xmlns:a16="http://schemas.microsoft.com/office/drawing/2014/main" id="{2C12E7FB-5314-4C9E-A683-2893B923AE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LLM4TS</a:t>
              </a:r>
              <a:endParaRPr sz="1100"/>
            </a:p>
          </p:txBody>
        </p:sp>
        <p:sp>
          <p:nvSpPr>
            <p:cNvPr id="93" name="TextBox 93">
              <a:extLst xmlns:a="http://schemas.openxmlformats.org/drawingml/2006/main">
                <a:ext uri="{FF2B5EF4-FFF2-40B4-BE49-F238E27FC236}">
                  <a16:creationId xmlns:a16="http://schemas.microsoft.com/office/drawing/2014/main" id="{D6DAFDDF-279E-4393-AF65-1FB5C03F05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TimeMaster</a:t>
              </a:r>
              <a:endParaRPr sz="1100"/>
            </a:p>
          </p:txBody>
        </p:sp>
        <p:sp>
          <p:nvSpPr>
            <p:cNvPr id="94" name="TextBox 94">
              <a:extLst xmlns:a="http://schemas.openxmlformats.org/drawingml/2006/main">
                <a:ext uri="{FF2B5EF4-FFF2-40B4-BE49-F238E27FC236}">
                  <a16:creationId xmlns:a16="http://schemas.microsoft.com/office/drawing/2014/main" id="{02661C4D-4D80-45FB-B52D-21A3269CA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95" name="TextBox 95">
              <a:extLst xmlns:a="http://schemas.openxmlformats.org/drawingml/2006/main">
                <a:ext uri="{FF2B5EF4-FFF2-40B4-BE49-F238E27FC236}">
                  <a16:creationId xmlns:a16="http://schemas.microsoft.com/office/drawing/2014/main" id="{D9909291-D0B2-4AD6-9BF9-81F8465EE9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96" name="TextBox 96">
              <a:extLst xmlns:a="http://schemas.openxmlformats.org/drawingml/2006/main">
                <a:ext uri="{FF2B5EF4-FFF2-40B4-BE49-F238E27FC236}">
                  <a16:creationId xmlns:a16="http://schemas.microsoft.com/office/drawing/2014/main" id="{BCA06ACE-F9C5-4029-B5CC-F256ECF17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97" name="TextBox 97">
              <a:extLst xmlns:a="http://schemas.openxmlformats.org/drawingml/2006/main">
                <a:ext uri="{FF2B5EF4-FFF2-40B4-BE49-F238E27FC236}">
                  <a16:creationId xmlns:a16="http://schemas.microsoft.com/office/drawing/2014/main" id="{5EC276AA-6D94-49F1-9608-4DFF8882D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98" name="TextBox 98">
              <a:extLst xmlns:a="http://schemas.openxmlformats.org/drawingml/2006/main">
                <a:ext uri="{FF2B5EF4-FFF2-40B4-BE49-F238E27FC236}">
                  <a16:creationId xmlns:a16="http://schemas.microsoft.com/office/drawing/2014/main" id="{89C9515D-0274-41E3-95BF-D8B519793B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32612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Memory Bank</a:t>
              </a:r>
              <a:endParaRPr sz="1100"/>
            </a:p>
          </p:txBody>
        </p:sp>
        <p:sp>
          <p:nvSpPr>
            <p:cNvPr id="99" name="TextBox 99">
              <a:extLst xmlns:a="http://schemas.openxmlformats.org/drawingml/2006/main">
                <a:ext uri="{FF2B5EF4-FFF2-40B4-BE49-F238E27FC236}">
                  <a16:creationId xmlns:a16="http://schemas.microsoft.com/office/drawing/2014/main" id="{673C6DC0-C51A-420A-8E82-749341C6B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Reflection</a:t>
              </a:r>
              <a:endParaRPr sz="1100"/>
            </a:p>
          </p:txBody>
        </p:sp>
        <p:sp>
          <p:nvSpPr>
            <p:cNvPr id="100" name="TextBox 100">
              <a:extLst xmlns:a="http://schemas.openxmlformats.org/drawingml/2006/main">
                <a:ext uri="{FF2B5EF4-FFF2-40B4-BE49-F238E27FC236}">
                  <a16:creationId xmlns:a16="http://schemas.microsoft.com/office/drawing/2014/main" id="{903EA025-2FD5-4501-A492-3C5357EB28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01" name="TextBox 101">
              <a:extLst xmlns:a="http://schemas.openxmlformats.org/drawingml/2006/main">
                <a:ext uri="{FF2B5EF4-FFF2-40B4-BE49-F238E27FC236}">
                  <a16:creationId xmlns:a16="http://schemas.microsoft.com/office/drawing/2014/main" id="{0CE36E83-1C49-417F-9456-A08FE728BD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Temporal grounding</a:t>
              </a:r>
              <a:endParaRPr sz="1100"/>
            </a:p>
          </p:txBody>
        </p:sp>
        <p:sp>
          <p:nvSpPr>
            <p:cNvPr id="102" name="TextBox 102">
              <a:extLst xmlns:a="http://schemas.openxmlformats.org/drawingml/2006/main">
                <a:ext uri="{FF2B5EF4-FFF2-40B4-BE49-F238E27FC236}">
                  <a16:creationId xmlns:a16="http://schemas.microsoft.com/office/drawing/2014/main" id="{02DB28E9-A407-4FAC-B867-DACAB35A1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Forecasting</a:t>
              </a:r>
              <a:endParaRPr sz="1100"/>
            </a:p>
          </p:txBody>
        </p:sp>
        <p:sp>
          <p:nvSpPr>
            <p:cNvPr id="103" name="TextBox 103">
              <a:extLst xmlns:a="http://schemas.openxmlformats.org/drawingml/2006/main">
                <a:ext uri="{FF2B5EF4-FFF2-40B4-BE49-F238E27FC236}">
                  <a16:creationId xmlns:a16="http://schemas.microsoft.com/office/drawing/2014/main" id="{380BDF00-6EF4-4E50-A58D-99A601146A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Anomaly diagnosis</a:t>
              </a:r>
              <a:endParaRPr sz="1100"/>
            </a:p>
          </p:txBody>
        </p:sp>
        <p:sp>
          <p:nvSpPr>
            <p:cNvPr id="104" name="TextBox 104">
              <a:extLst xmlns:a="http://schemas.openxmlformats.org/drawingml/2006/main">
                <a:ext uri="{FF2B5EF4-FFF2-40B4-BE49-F238E27FC236}">
                  <a16:creationId xmlns:a16="http://schemas.microsoft.com/office/drawing/2014/main" id="{5762953A-4419-4DD7-9127-591311AFA5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Augmentation</a:t>
              </a:r>
              <a:endParaRPr sz="1100"/>
            </a:p>
          </p:txBody>
        </p:sp>
        <p:sp>
          <p:nvSpPr>
            <p:cNvPr id="105" name="TextBox 105">
              <a:extLst xmlns:a="http://schemas.openxmlformats.org/drawingml/2006/main">
                <a:ext uri="{FF2B5EF4-FFF2-40B4-BE49-F238E27FC236}">
                  <a16:creationId xmlns:a16="http://schemas.microsoft.com/office/drawing/2014/main" id="{62BB6FBB-5E50-4A8A-A5EC-1D1AA2B99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Decision support</a:t>
              </a:r>
              <a:endParaRPr sz="980"/>
            </a:p>
          </p:txBody>
        </p:sp>
        <p:sp>
          <p:nvSpPr>
            <p:cNvPr id="106" name="TextBox 106">
              <a:extLst xmlns:a="http://schemas.openxmlformats.org/drawingml/2006/main">
                <a:ext uri="{FF2B5EF4-FFF2-40B4-BE49-F238E27FC236}">
                  <a16:creationId xmlns:a16="http://schemas.microsoft.com/office/drawing/2014/main" id="{E57873F2-B233-4EC5-93D7-29E640B886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07" name="TextBox 107">
              <a:extLst xmlns:a="http://schemas.openxmlformats.org/drawingml/2006/main">
                <a:ext uri="{FF2B5EF4-FFF2-40B4-BE49-F238E27FC236}">
                  <a16:creationId xmlns:a16="http://schemas.microsoft.com/office/drawing/2014/main" id="{57630B4E-054A-4A5B-BD9E-93249D8159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08" name="TextBox 108">
              <a:extLst xmlns:a="http://schemas.openxmlformats.org/drawingml/2006/main">
                <a:ext uri="{FF2B5EF4-FFF2-40B4-BE49-F238E27FC236}">
                  <a16:creationId xmlns:a16="http://schemas.microsoft.com/office/drawing/2014/main" id="{4DA774D1-5316-4292-8091-0042BD92A8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09" name="TextBox 109">
              <a:extLst xmlns:a="http://schemas.openxmlformats.org/drawingml/2006/main">
                <a:ext uri="{FF2B5EF4-FFF2-40B4-BE49-F238E27FC236}">
                  <a16:creationId xmlns:a16="http://schemas.microsoft.com/office/drawing/2014/main" id="{E9B4E654-ADA3-4F7C-AFCF-82388AAB12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0" name="TextBox 110">
              <a:extLst xmlns:a="http://schemas.openxmlformats.org/drawingml/2006/main">
                <a:ext uri="{FF2B5EF4-FFF2-40B4-BE49-F238E27FC236}">
                  <a16:creationId xmlns:a16="http://schemas.microsoft.com/office/drawing/2014/main" id="{3B20284E-2CEA-4B8E-BA46-7E21048FD3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111" name="TextBox 111">
              <a:extLst xmlns:a="http://schemas.openxmlformats.org/drawingml/2006/main">
                <a:ext uri="{FF2B5EF4-FFF2-40B4-BE49-F238E27FC236}">
                  <a16:creationId xmlns:a16="http://schemas.microsoft.com/office/drawing/2014/main" id="{D0F6FE6A-A326-4855-88D4-9090B62C2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112" name="TextBox 112">
              <a:extLst xmlns:a="http://schemas.openxmlformats.org/drawingml/2006/main">
                <a:ext uri="{FF2B5EF4-FFF2-40B4-BE49-F238E27FC236}">
                  <a16:creationId xmlns:a16="http://schemas.microsoft.com/office/drawing/2014/main" id="{A3AF18BC-0961-4C27-8173-B4BD5071F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113" name="TextBox 113">
              <a:extLst xmlns:a="http://schemas.openxmlformats.org/drawingml/2006/main">
                <a:ext uri="{FF2B5EF4-FFF2-40B4-BE49-F238E27FC236}">
                  <a16:creationId xmlns:a16="http://schemas.microsoft.com/office/drawing/2014/main" id="{E9EF3A40-35AB-4D71-B3C3-BEB5B5B0AA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114" name="TextBox 114">
              <a:extLst xmlns:a="http://schemas.openxmlformats.org/drawingml/2006/main">
                <a:ext uri="{FF2B5EF4-FFF2-40B4-BE49-F238E27FC236}">
                  <a16:creationId xmlns:a16="http://schemas.microsoft.com/office/drawing/2014/main" id="{3FEBB70D-D48C-466E-A4F0-64BEEA883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15" name="TextBox 115">
              <a:extLst xmlns:a="http://schemas.openxmlformats.org/drawingml/2006/main">
                <a:ext uri="{FF2B5EF4-FFF2-40B4-BE49-F238E27FC236}">
                  <a16:creationId xmlns:a16="http://schemas.microsoft.com/office/drawing/2014/main" id="{CF27F92F-A646-457D-A4F3-822348886F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16" name="TextBox 116">
              <a:extLst xmlns:a="http://schemas.openxmlformats.org/drawingml/2006/main">
                <a:ext uri="{FF2B5EF4-FFF2-40B4-BE49-F238E27FC236}">
                  <a16:creationId xmlns:a16="http://schemas.microsoft.com/office/drawing/2014/main" id="{3F35B3C3-6BBB-4D15-92EC-C3CBFEEB5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7" name="TextBox 117">
              <a:extLst xmlns:a="http://schemas.openxmlformats.org/drawingml/2006/main">
                <a:ext uri="{FF2B5EF4-FFF2-40B4-BE49-F238E27FC236}">
                  <a16:creationId xmlns:a16="http://schemas.microsoft.com/office/drawing/2014/main" id="{B4461641-1342-4F11-B78C-D1ACA39DF3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18" name="TextBox 118">
              <a:extLst xmlns:a="http://schemas.openxmlformats.org/drawingml/2006/main">
                <a:ext uri="{FF2B5EF4-FFF2-40B4-BE49-F238E27FC236}">
                  <a16:creationId xmlns:a16="http://schemas.microsoft.com/office/drawing/2014/main" id="{CC0C3D5B-5F96-4097-8557-72F99C3DA9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19" name="TextBox 119">
              <a:extLst xmlns:a="http://schemas.openxmlformats.org/drawingml/2006/main">
                <a:ext uri="{FF2B5EF4-FFF2-40B4-BE49-F238E27FC236}">
                  <a16:creationId xmlns:a16="http://schemas.microsoft.com/office/drawing/2014/main" id="{D9004EF9-897D-4309-9D8F-4D5FA2EB4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TraceBench</a:t>
              </a:r>
              <a:endParaRPr sz="800"/>
            </a:p>
          </p:txBody>
        </p:sp>
        <p:sp>
          <p:nvSpPr>
            <p:cNvPr id="120" name="TextBox 120">
              <a:extLst xmlns:a="http://schemas.openxmlformats.org/drawingml/2006/main">
                <a:ext uri="{FF2B5EF4-FFF2-40B4-BE49-F238E27FC236}">
                  <a16:creationId xmlns:a16="http://schemas.microsoft.com/office/drawing/2014/main" id="{044A6B8D-67C5-4E72-AB03-73D07D97E9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1" name="TextBox 121">
              <a:extLst xmlns:a="http://schemas.openxmlformats.org/drawingml/2006/main">
                <a:ext uri="{FF2B5EF4-FFF2-40B4-BE49-F238E27FC236}">
                  <a16:creationId xmlns:a16="http://schemas.microsoft.com/office/drawing/2014/main" id="{12E2F925-EF5B-4CAA-AF04-2FE46D95F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Verify</a:t>
              </a:r>
              <a:endParaRPr sz="800"/>
            </a:p>
          </p:txBody>
        </p:sp>
        <p:sp>
          <p:nvSpPr>
            <p:cNvPr id="122" name="TextBox 122">
              <a:extLst xmlns:a="http://schemas.openxmlformats.org/drawingml/2006/main">
                <a:ext uri="{FF2B5EF4-FFF2-40B4-BE49-F238E27FC236}">
                  <a16:creationId xmlns:a16="http://schemas.microsoft.com/office/drawing/2014/main" id="{7F21DE9F-639F-4989-AB73-3856D1AEA8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Calib.</a:t>
              </a:r>
              <a:endParaRPr sz="1100"/>
            </a:p>
          </p:txBody>
        </p:sp>
        <p:sp>
          <p:nvSpPr>
            <p:cNvPr id="123" name="TextBox 123">
              <a:extLst xmlns:a="http://schemas.openxmlformats.org/drawingml/2006/main">
                <a:ext uri="{FF2B5EF4-FFF2-40B4-BE49-F238E27FC236}">
                  <a16:creationId xmlns:a16="http://schemas.microsoft.com/office/drawing/2014/main" id="{6E20A2CE-6642-4FBB-AA86-6D0567D2ED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4" name="TextBox 124">
              <a:extLst xmlns:a="http://schemas.openxmlformats.org/drawingml/2006/main">
                <a:ext uri="{FF2B5EF4-FFF2-40B4-BE49-F238E27FC236}">
                  <a16:creationId xmlns:a16="http://schemas.microsoft.com/office/drawing/2014/main" id="{E84283EE-B8AE-42F2-AD8D-BBCE86533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Audit</a:t>
              </a:r>
              <a:endParaRPr sz="1100"/>
            </a:p>
          </p:txBody>
        </p:sp>
        <p:sp>
          <p:nvSpPr>
            <p:cNvPr id="125" name="TextBox 125">
              <a:extLst xmlns:a="http://schemas.openxmlformats.org/drawingml/2006/main">
                <a:ext uri="{FF2B5EF4-FFF2-40B4-BE49-F238E27FC236}">
                  <a16:creationId xmlns:a16="http://schemas.microsoft.com/office/drawing/2014/main" id="{513D88DF-0F99-4084-8CF1-66D48FB603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4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Reproducibility</a:t>
              </a:r>
              <a:endParaRPr sz="1040"/>
            </a:p>
          </p:txBody>
        </p:sp>
        <p:sp>
          <p:nvSpPr>
            <p:cNvPr id="126" name="TextBox 126">
              <a:extLst xmlns:a="http://schemas.openxmlformats.org/drawingml/2006/main">
                <a:ext uri="{FF2B5EF4-FFF2-40B4-BE49-F238E27FC236}">
                  <a16:creationId xmlns:a16="http://schemas.microsoft.com/office/drawing/2014/main" id="{6A0FB4A3-8BE1-4540-8C31-FE9C2DBE9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Paper card</a:t>
              </a:r>
              <a:endParaRPr sz="1100"/>
            </a:p>
          </p:txBody>
        </p:sp>
        <p:sp>
          <p:nvSpPr>
            <p:cNvPr id="127" name="TextBox 127">
              <a:extLst xmlns:a="http://schemas.openxmlformats.org/drawingml/2006/main">
                <a:ext uri="{FF2B5EF4-FFF2-40B4-BE49-F238E27FC236}">
                  <a16:creationId xmlns:a16="http://schemas.microsoft.com/office/drawing/2014/main" id="{EF2A7941-FB1C-4E54-BBD3-C121562833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203083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Ledger</a:t>
              </a:r>
              <a:endParaRPr sz="880"/>
            </a:p>
          </p:txBody>
        </p:sp>
        <p:sp>
          <p:nvSpPr>
            <p:cNvPr id="128" name="TextBox 128">
              <a:extLst xmlns:a="http://schemas.openxmlformats.org/drawingml/2006/main">
                <a:ext uri="{FF2B5EF4-FFF2-40B4-BE49-F238E27FC236}">
                  <a16:creationId xmlns:a16="http://schemas.microsoft.com/office/drawing/2014/main" id="{6EEB361D-EE9D-43F8-87A7-F2F5248E3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475549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Module tags</a:t>
              </a:r>
              <a:endParaRPr sz="1100"/>
            </a:p>
          </p:txBody>
        </p:sp>
        <p:sp>
          <p:nvSpPr>
            <p:cNvPr id="129" name="TextBox 129">
              <a:extLst xmlns:a="http://schemas.openxmlformats.org/drawingml/2006/main">
                <a:ext uri="{FF2B5EF4-FFF2-40B4-BE49-F238E27FC236}">
                  <a16:creationId xmlns:a16="http://schemas.microsoft.com/office/drawing/2014/main" id="{E3F709F2-16B7-4F97-B6D4-2F974C5808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Open tasks</a:t>
              </a:r>
              <a:endParaRPr sz="1100"/>
            </a:p>
          </p:txBody>
        </p:sp>
        <p:sp>
          <p:nvSpPr>
            <p:cNvPr id="130" name="TextBox 130">
              <a:extLst xmlns:a="http://schemas.openxmlformats.org/drawingml/2006/main">
                <a:ext uri="{FF2B5EF4-FFF2-40B4-BE49-F238E27FC236}">
                  <a16:creationId xmlns:a16="http://schemas.microsoft.com/office/drawing/2014/main" id="{D026DA87-0C0B-4CB9-BE35-84C6B3D41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Case studies</a:t>
              </a:r>
              <a:endParaRPr sz="1100"/>
            </a:p>
          </p:txBody>
        </p:sp>
        <p:sp>
          <p:nvSpPr>
            <p:cNvPr id="131" name="TextBox 131">
              <a:extLst xmlns:a="http://schemas.openxmlformats.org/drawingml/2006/main">
                <a:ext uri="{FF2B5EF4-FFF2-40B4-BE49-F238E27FC236}">
                  <a16:creationId xmlns:a16="http://schemas.microsoft.com/office/drawing/2014/main" id="{C30120B1-30CE-49C2-98F7-9C1C909ED1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Surveys</a:t>
              </a:r>
              <a:endParaRPr sz="1100"/>
            </a:p>
          </p:txBody>
        </p:sp>
        <p:sp>
          <p:nvSpPr>
            <p:cNvPr id="132" name="TextBox 132">
              <a:extLst xmlns:a="http://schemas.openxmlformats.org/drawingml/2006/main">
                <a:ext uri="{FF2B5EF4-FFF2-40B4-BE49-F238E27FC236}">
                  <a16:creationId xmlns:a16="http://schemas.microsoft.com/office/drawing/2014/main" id="{8F309167-67F5-4BAB-BABF-0DFF5295E5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BibTeX</a:t>
              </a:r>
              <a:endParaRPr sz="1100"/>
            </a:p>
          </p:txBody>
        </p:sp>
        <p:sp>
          <p:nvSpPr>
            <p:cNvPr id="133" name="TextBox 133">
              <a:extLst xmlns:a="http://schemas.openxmlformats.org/drawingml/2006/main">
                <a:ext uri="{FF2B5EF4-FFF2-40B4-BE49-F238E27FC236}">
                  <a16:creationId xmlns:a16="http://schemas.microsoft.com/office/drawing/2014/main" id="{C545A0DC-0529-42DF-8937-69E6F11B4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Claims</a:t>
              </a:r>
              <a:endParaRPr sz="1100"/>
            </a:p>
          </p:txBody>
        </p:sp>
        <p:sp>
          <p:nvSpPr>
            <p:cNvPr id="134" name="TextBox 134">
              <a:extLst xmlns:a="http://schemas.openxmlformats.org/drawingml/2006/main">
                <a:ext uri="{FF2B5EF4-FFF2-40B4-BE49-F238E27FC236}">
                  <a16:creationId xmlns:a16="http://schemas.microsoft.com/office/drawing/2014/main" id="{39A71BBA-86BD-41C2-85C5-6C941E80F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89913" y="9808778"/>
              <a:ext cx="2335423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◫   2003 | Gödel Machine</a:t>
              </a:r>
              <a:endParaRPr sz="1100"/>
            </a:p>
          </p:txBody>
        </p:sp>
        <p:sp>
          <p:nvSpPr>
            <p:cNvPr id="135" name="TextBox 135">
              <a:extLst xmlns:a="http://schemas.openxmlformats.org/drawingml/2006/main">
                <a:ext uri="{FF2B5EF4-FFF2-40B4-BE49-F238E27FC236}">
                  <a16:creationId xmlns:a16="http://schemas.microsoft.com/office/drawing/2014/main" id="{BA243D8A-647E-42F8-9FDB-B67D7BF79F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81031" y="9808778"/>
              <a:ext cx="256896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◉   2016 | Learned optimizers</a:t>
              </a:r>
              <a:endParaRPr sz="1100"/>
            </a:p>
          </p:txBody>
        </p:sp>
        <p:sp>
          <p:nvSpPr>
            <p:cNvPr id="136" name="TextBox 136">
              <a:extLst xmlns:a="http://schemas.openxmlformats.org/drawingml/2006/main">
                <a:ext uri="{FF2B5EF4-FFF2-40B4-BE49-F238E27FC236}">
                  <a16:creationId xmlns:a16="http://schemas.microsoft.com/office/drawing/2014/main" id="{B92DEF2A-1084-48F2-9128-20818C317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9234" y="9808778"/>
              <a:ext cx="194618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▣   2019 | POET</a:t>
              </a:r>
              <a:endParaRPr sz="1100"/>
            </a:p>
          </p:txBody>
        </p:sp>
        <p:sp>
          <p:nvSpPr>
            <p:cNvPr id="137" name="TextBox 137">
              <a:extLst xmlns:a="http://schemas.openxmlformats.org/drawingml/2006/main">
                <a:ext uri="{FF2B5EF4-FFF2-40B4-BE49-F238E27FC236}">
                  <a16:creationId xmlns:a16="http://schemas.microsoft.com/office/drawing/2014/main" id="{71453261-3DAD-459A-94E2-0F1D04949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34845" y="10042320"/>
              <a:ext cx="6383490" cy="1712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0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Marks: selected affiliations | Branches: research routes, not technical ancestry</a:t>
              </a:r>
              <a:endParaRPr sz="900"/>
            </a:p>
          </p:txBody>
        </p:sp>
        <p:sp>
          <p:nvSpPr>
            <p:cNvPr id="138" name="TextBox 138">
              <a:extLst xmlns:a="http://schemas.openxmlformats.org/drawingml/2006/main">
                <a:ext uri="{FF2B5EF4-FFF2-40B4-BE49-F238E27FC236}">
                  <a16:creationId xmlns:a16="http://schemas.microsoft.com/office/drawing/2014/main" id="{99B1A1F5-648F-4099-AFBE-0AF94DC298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074294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750"/>
            </a:p>
          </p:txBody>
        </p:sp>
        <p:sp>
          <p:nvSpPr>
            <p:cNvPr id="139" name="TextBox 139">
              <a:extLst xmlns:a="http://schemas.openxmlformats.org/drawingml/2006/main">
                <a:ext uri="{FF2B5EF4-FFF2-40B4-BE49-F238E27FC236}">
                  <a16:creationId xmlns:a16="http://schemas.microsoft.com/office/drawing/2014/main" id="{DAB11706-B5CA-4B40-8927-829B8AACB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04655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8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80"/>
            </a:p>
          </p:txBody>
        </p:sp>
        <p:sp>
          <p:nvSpPr>
            <p:cNvPr id="140" name="TextBox 140">
              <a:extLst xmlns:a="http://schemas.openxmlformats.org/drawingml/2006/main">
                <a:ext uri="{FF2B5EF4-FFF2-40B4-BE49-F238E27FC236}">
                  <a16:creationId xmlns:a16="http://schemas.microsoft.com/office/drawing/2014/main" id="{417D2A5A-9E13-4C35-9FA9-178308D01C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35015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19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19"/>
            </a:p>
          </p:txBody>
        </p:sp>
        <p:sp>
          <p:nvSpPr>
            <p:cNvPr id="141" name="TextBox 141">
              <a:extLst xmlns:a="http://schemas.openxmlformats.org/drawingml/2006/main">
                <a:ext uri="{FF2B5EF4-FFF2-40B4-BE49-F238E27FC236}">
                  <a16:creationId xmlns:a16="http://schemas.microsoft.com/office/drawing/2014/main" id="{DCDF5064-B574-40FC-94F4-EC64F860D6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65376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4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40"/>
            </a:p>
          </p:txBody>
        </p:sp>
      </p:grpSp>
    </p:spTree>
    <p:extLst>
      <p:ext uri="{BB962C8B-B14F-4D97-AF65-F5344CB8AC3E}">
        <p14:creationId xmlns:p14="http://schemas.microsoft.com/office/powerpoint/2010/main" val="125397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ect 2">
              <a:extLst xmlns:a="http://schemas.openxmlformats.org/drawingml/2006/main">
                <a:ext uri="{FF2B5EF4-FFF2-40B4-BE49-F238E27FC236}">
                  <a16:creationId xmlns:a16="http://schemas.microsoft.com/office/drawing/2014/main" id="{5A166B07-2A31-421F-8463-790F38809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F4D9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ect 3">
              <a:extLst xmlns:a="http://schemas.openxmlformats.org/drawingml/2006/main">
                <a:ext uri="{FF2B5EF4-FFF2-40B4-BE49-F238E27FC236}">
                  <a16:creationId xmlns:a16="http://schemas.microsoft.com/office/drawing/2014/main" id="{8E0752FD-64D8-4090-98D3-C36898FD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01641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F1DF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ect 4">
              <a:extLst xmlns:a="http://schemas.openxmlformats.org/drawingml/2006/main">
                <a:ext uri="{FF2B5EF4-FFF2-40B4-BE49-F238E27FC236}">
                  <a16:creationId xmlns:a16="http://schemas.microsoft.com/office/drawing/2014/main" id="{F7D23FA3-6161-4925-BEA9-8D5FD5BA7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3437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8F0F2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ect 5">
              <a:extLst xmlns:a="http://schemas.openxmlformats.org/drawingml/2006/main">
                <a:ext uri="{FF2B5EF4-FFF2-40B4-BE49-F238E27FC236}">
                  <a16:creationId xmlns:a16="http://schemas.microsoft.com/office/drawing/2014/main" id="{9DC3D657-5657-46EF-8EB1-B9B4A1CCAF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567109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3F1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Line 6">
              <a:extLst xmlns:a="http://schemas.openxmlformats.org/drawingml/2006/main">
                <a:ext uri="{FF2B5EF4-FFF2-40B4-BE49-F238E27FC236}">
                  <a16:creationId xmlns:a16="http://schemas.microsoft.com/office/drawing/2014/main" id="{50862E29-BC28-4ECF-9A5E-86898093A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5066384"/>
              <a:ext cx="1290974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C8C8C8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0D9125CF-B332-4708-BE2D-440919251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0261AEC8-175C-48F6-8CE3-17BE69A6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49FB8E61-2E93-4D21-B86F-58F0456AF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A0E607FA-E1C5-48BB-AAED-982FED646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D3E75581-5C67-4C68-AD26-FCBAFD298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31F60344-3FF5-4357-A2DC-C268FE870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76BCB369-706F-4F6C-A2AA-42C1BE67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3F8937E9-47C8-4C6D-BD1D-6A55F0B9B0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99516FAC-8327-41E0-B618-0E177BF509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490573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221D4FAB-20AF-40FA-82B2-1B6629018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723307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526BC9E9-EDB7-4A44-B670-5E7A013AE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56042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D18D2F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1E0B2CC9-61DF-4598-A5E3-805F4E3A3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3188776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070B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8618E515-12A8-4277-8384-D167E2BB9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501172" y="4324445"/>
              <a:ext cx="0" cy="12400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20" name="answer document revision icon">
              <a:extLst xmlns:a="http://schemas.openxmlformats.org/drawingml/2006/main">
                <a:ext uri="{FF2B5EF4-FFF2-40B4-BE49-F238E27FC236}">
                  <a16:creationId xmlns:a16="http://schemas.microsoft.com/office/drawing/2014/main" id="{699E2FBC-53A4-4EC8-B6FF-89ABB085A2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843ed17d7b7e41df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706237" y="1695861"/>
              <a:ext cx="2035033" cy="118710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1" name="memory document stack icon">
              <a:extLst xmlns:a="http://schemas.openxmlformats.org/drawingml/2006/main">
                <a:ext uri="{FF2B5EF4-FFF2-40B4-BE49-F238E27FC236}">
                  <a16:creationId xmlns:a16="http://schemas.microsoft.com/office/drawing/2014/main" id="{669A8428-86C0-4F8B-A2FE-B48CD4DF532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32be69d97c3476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748187" y="1589869"/>
              <a:ext cx="1801852" cy="153687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2" name="parameter neural network icon">
              <a:extLst xmlns:a="http://schemas.openxmlformats.org/drawingml/2006/main">
                <a:ext uri="{FF2B5EF4-FFF2-40B4-BE49-F238E27FC236}">
                  <a16:creationId xmlns:a16="http://schemas.microsoft.com/office/drawing/2014/main" id="{962E0259-AFD4-4ADB-A76C-F74F5D37A33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184e6d167a54a79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8949125" y="1579270"/>
              <a:ext cx="2268214" cy="129309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3" name="improver procedure graph icon">
              <a:extLst xmlns:a="http://schemas.openxmlformats.org/drawingml/2006/main">
                <a:ext uri="{FF2B5EF4-FFF2-40B4-BE49-F238E27FC236}">
                  <a16:creationId xmlns:a16="http://schemas.microsoft.com/office/drawing/2014/main" id="{D6A4CD9A-10D5-4AF9-82C0-298CD6DD15C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4561db6dbfb45c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60661" y="1642865"/>
              <a:ext cx="1854848" cy="116590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4" name="solver network icon">
              <a:extLst xmlns:a="http://schemas.openxmlformats.org/drawingml/2006/main">
                <a:ext uri="{FF2B5EF4-FFF2-40B4-BE49-F238E27FC236}">
                  <a16:creationId xmlns:a16="http://schemas.microsoft.com/office/drawing/2014/main" id="{D2F7935A-7950-4FCA-BAB7-ACC1231A01E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46b0078b3764c5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74440" y="6147495"/>
              <a:ext cx="1801852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5" name="solver plus memory icon">
              <a:extLst xmlns:a="http://schemas.openxmlformats.org/drawingml/2006/main">
                <a:ext uri="{FF2B5EF4-FFF2-40B4-BE49-F238E27FC236}">
                  <a16:creationId xmlns:a16="http://schemas.microsoft.com/office/drawing/2014/main" id="{0F9F81FC-2E7D-43D6-87E9-42590E56A5FD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cd1ea46c26d4492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822381" y="6105099"/>
              <a:ext cx="1695861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6" name="updated parameter matrix icon">
              <a:extLst xmlns:a="http://schemas.openxmlformats.org/drawingml/2006/main">
                <a:ext uri="{FF2B5EF4-FFF2-40B4-BE49-F238E27FC236}">
                  <a16:creationId xmlns:a16="http://schemas.microsoft.com/office/drawing/2014/main" id="{93E2DC27-84F6-4E9D-833E-CE40B32E8FBB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93f55ff11b0e441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9076314" y="6083900"/>
              <a:ext cx="1907843" cy="95392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7" name="next update process icon">
              <a:extLst xmlns:a="http://schemas.openxmlformats.org/drawingml/2006/main">
                <a:ext uri="{FF2B5EF4-FFF2-40B4-BE49-F238E27FC236}">
                  <a16:creationId xmlns:a16="http://schemas.microsoft.com/office/drawing/2014/main" id="{A6A132AE-E1F5-474A-B8D2-DA1C4301EC0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3acbb160f24d14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39462" y="6083900"/>
              <a:ext cx="1748856" cy="847930"/>
            </a:xfrm>
            <a:prstGeom xmlns:a="http://schemas.openxmlformats.org/drawingml/2006/main" prst="rect">
              <a:avLst/>
            </a:prstGeom>
          </p:spPr>
        </p:pic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38DC6013-B653-4650-B823-505722C8E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</a:t>
              </a:r>
              <a:endParaRPr sz="310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804B3A42-CA43-424C-BE98-79636EA2A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origin, horizon,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calibration</a:t>
              </a:r>
              <a:endParaRPr sz="13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895AB9E-482E-4800-9A6E-68D0D1FE8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Augmentation</a:t>
              </a:r>
              <a:endParaRPr sz="31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CCC6B642-49D2-4270-B08E-AEB9A7196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fidelity, diversity,</a:t>
              </a:r>
              <a:endParaRPr sz="1800"/>
            </a:p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18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9FF294C6-C834-4131-95D3-F327331F58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</a:t>
              </a:r>
              <a:endParaRPr sz="31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12527545-BA87-4974-B137-BFFB485D9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event, window,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cause</a:t>
              </a:r>
              <a:endParaRPr sz="13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F0C14BFD-AF40-4F14-8A1D-8C42530A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support</a:t>
              </a:r>
              <a:endParaRPr sz="31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DC85EFCC-FCD6-418B-AC37-6648C21D5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action, cost,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uncertainty</a:t>
              </a:r>
              <a:endParaRPr sz="13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EFF893D6-585A-4082-90DE-FF082F6E8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2702778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y_t</a:t>
              </a:r>
              <a:endParaRPr sz="23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6421D593-DB06-4147-B7FE-7BBBC34CA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2741" y="2702778"/>
              <a:ext cx="1059913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6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y_{t+h}</a:t>
              </a:r>
              <a:endParaRPr sz="116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45BB36E8-4EE2-4448-BCB4-4A946612A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603704"/>
              <a:ext cx="2172822" cy="33917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sz="19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63E2CE3D-2B7C-4C6D-917B-F89BFB687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250475" y="5776525"/>
              <a:ext cx="2596787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same harness</a:t>
              </a:r>
              <a:endParaRPr sz="22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89744D25-D8A9-4033-BED8-7E66F708C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303470" y="7143813"/>
              <a:ext cx="2490795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new task</a:t>
              </a:r>
              <a:endParaRPr sz="17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F8A1CD47-5B1F-4E0E-8607-2132F45A5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97479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Forecasting</a:t>
              </a:r>
              <a:endParaRPr sz="212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E6D705B2-581C-4031-89C7-F7CACF96B6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40813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Augmentation</a:t>
              </a:r>
              <a:endParaRPr sz="212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6107071B-3A71-4AAF-BDB5-585D870ABE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15944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Anomaly diagnosis</a:t>
              </a:r>
              <a:endParaRPr sz="212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7B0DD3D-FF2E-4878-8A04-8148BD0D9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48678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Decision support</a:t>
              </a:r>
              <a:endParaRPr sz="212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B666113C-3DE4-4B12-9E7B-877A770FE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30214" y="3921678"/>
              <a:ext cx="2543791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H_t → H_{t+1}</a:t>
              </a:r>
              <a:endParaRPr sz="23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603DB104-7707-49B1-90A8-A0A7E766B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77218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Agent + temporal state</a:t>
              </a:r>
              <a:endParaRPr sz="22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8766B3E4-EB04-4E69-AE5E-ABC51A021A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7174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memory</a:t>
              </a:r>
              <a:endParaRPr sz="23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E924DA1-1AC5-47D0-A0E4-A18E05593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874931" y="3964074"/>
              <a:ext cx="264978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8744081-E079-4E37-B6BA-8F8BB184D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09952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updated forecast</a:t>
              </a:r>
              <a:endParaRPr sz="22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A2CAFC65-A212-4814-A3E7-FAA480629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033918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668A8CCC-C327-4057-A67D-DCBCAF564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42687" y="2670981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3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7E8F5060-C3D2-4835-8864-16A70EFC3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902600" y="2861765"/>
              <a:ext cx="1589869" cy="5087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plan / verify</a:t>
              </a:r>
              <a:endParaRPr sz="180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EA50E358-F446-4D86-BDF8-DC5E073098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683700" y="5776525"/>
              <a:ext cx="2967756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next task episode</a:t>
              </a:r>
              <a:endParaRPr sz="200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F5855610-5DA9-4E46-855D-332EE6950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213656" y="7048421"/>
              <a:ext cx="2119826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6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new module record</a:t>
              </a:r>
              <a:endParaRPr sz="116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27678E7C-E9A8-4F09-BD63-BC992296E5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7307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EE52EB24-6097-4986-96DE-01031EF8E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35880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D629858E-FB13-47A5-97D6-AB08E58B9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04396" y="4557626"/>
              <a:ext cx="180185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task-bound</a:t>
              </a:r>
              <a:endParaRPr sz="200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B371695D-7E57-4EE2-9D4F-37E91C5ED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257168"/>
              <a:ext cx="1377887" cy="2967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cross-task reuse</a:t>
              </a:r>
              <a:endParaRPr sz="170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57D98FDA-0589-4FDE-9D30-A5EFEB2DE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8903269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6067EF63-8AE3-48C0-B87C-EF32F3582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231842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020E7366-2561-440D-8002-1C10A4B8D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560415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92E6B0AD-BFA7-472F-B2BF-51599FC2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888988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0F1C4ED2-332A-4E97-889F-0DD91227E0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217561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53646A9D-7025-4432-BCF1-5EF9A00A3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546134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FF191263-542E-437A-860F-CC8A92AD8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874707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B5744C7E-9726-4DF2-BCD3-D16F7DB5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203280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F2C06AE6-4A31-4F25-83C3-7D203DA6D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531853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