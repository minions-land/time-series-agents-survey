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7c64f3c8e249cc" /><Relationship Type="http://schemas.openxmlformats.org/officeDocument/2006/relationships/extended-properties" Target="/docProps/app.xml" Id="R3f8f9379e4d34921" /><Relationship Type="http://schemas.openxmlformats.org/officeDocument/2006/relationships/officeDocument" Target="/ppt/presentation.xml" Id="R220195c05a6944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715e27bfae4073"/>
  </p:sldMasterIdLst>
  <p:notesMasterIdLst>
    <p:notesMasterId xmlns:r="http://schemas.openxmlformats.org/officeDocument/2006/relationships" r:id="Re8a9581f823a4146"/>
  </p:notesMasterIdLst>
  <p:sldIdLst>
    <p:sldId xmlns:r="http://schemas.openxmlformats.org/officeDocument/2006/relationships" id="256" r:id="Re9531fc91b9846d9"/>
    <p:sldId xmlns:r="http://schemas.openxmlformats.org/officeDocument/2006/relationships" id="257" r:id="R410d6c8aff7c48ce"/>
    <p:sldId xmlns:r="http://schemas.openxmlformats.org/officeDocument/2006/relationships" id="258" r:id="R1f8159a89efd46fd"/>
    <p:sldId xmlns:r="http://schemas.openxmlformats.org/officeDocument/2006/relationships" id="259" r:id="R7665df01e51d46ee"/>
    <p:sldId xmlns:r="http://schemas.openxmlformats.org/officeDocument/2006/relationships" id="260" r:id="R1918bcddcf8244f5"/>
  </p:sldIdLst>
  <p:sldSz cx="16668750" cy="127825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74e149c6bd45f2" /><Relationship Type="http://schemas.openxmlformats.org/officeDocument/2006/relationships/slideMaster" Target="/ppt/slideMasters/slideMaster1.xml" Id="Rb2715e27bfae4073" /><Relationship Type="http://schemas.openxmlformats.org/officeDocument/2006/relationships/notesMaster" Target="/ppt/notesMasters/notesMaster1.xml" Id="Re8a9581f823a4146" /><Relationship Type="http://schemas.openxmlformats.org/officeDocument/2006/relationships/presProps" Target="/ppt/presProps.xml" Id="R0221380fdae54748" /><Relationship Type="http://schemas.openxmlformats.org/officeDocument/2006/relationships/tableStyles" Target="/ppt/tableStyles.xml" Id="R4700c895960545d7" /><Relationship Type="http://schemas.openxmlformats.org/officeDocument/2006/relationships/slide" Target="/ppt/slides/slide1.xml" Id="Re9531fc91b9846d9" /><Relationship Type="http://schemas.openxmlformats.org/officeDocument/2006/relationships/slide" Target="/ppt/slides/slide2.xml" Id="R410d6c8aff7c48ce" /><Relationship Type="http://schemas.openxmlformats.org/officeDocument/2006/relationships/slide" Target="/ppt/slides/slide3.xml" Id="R1f8159a89efd46fd" /><Relationship Type="http://schemas.openxmlformats.org/officeDocument/2006/relationships/slide" Target="/ppt/slides/slide4.xml" Id="R7665df01e51d46ee" /><Relationship Type="http://schemas.openxmlformats.org/officeDocument/2006/relationships/slide" Target="/ppt/slides/slide5.xml" Id="R1918bcddcf8244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1c75bd2f1048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7240fb04914d1e" /><Relationship Type="http://schemas.openxmlformats.org/officeDocument/2006/relationships/notesMaster" Target="/ppt/notesMasters/notesMaster1.xml" Id="R6931a3f8008a40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c181f2b54f4e3e" /><Relationship Type="http://schemas.openxmlformats.org/officeDocument/2006/relationships/notesMaster" Target="/ppt/notesMasters/notesMaster1.xml" Id="R4c9dd90b441943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0ef9bb4dd04a76" /><Relationship Type="http://schemas.openxmlformats.org/officeDocument/2006/relationships/notesMaster" Target="/ppt/notesMasters/notesMaster1.xml" Id="Re33d1b38972743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17d617c55a4ec6" /><Relationship Type="http://schemas.openxmlformats.org/officeDocument/2006/relationships/notesMaster" Target="/ppt/notesMasters/notesMaster1.xml" Id="R8751c17604594f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c6bc30df2a496d" /><Relationship Type="http://schemas.openxmlformats.org/officeDocument/2006/relationships/notesMaster" Target="/ppt/notesMasters/notesMaster1.xml" Id="R71062f5d853c4b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19c874746b479c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767ebbf3924130" /><Relationship Type="http://schemas.openxmlformats.org/officeDocument/2006/relationships/slideLayout" Target="/ppt/slideLayouts/slideLayout1.xml" Id="Rd4cc5bbcc5c74cf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cc5bbcc5c74cfa"/>
  </p:sldLayoutIdLst>
</p:sldMaster>
</file>

<file path=ppt/slideMasters/theme/theme2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e561264e1475e" /><Relationship Type="http://schemas.openxmlformats.org/officeDocument/2006/relationships/image" Target="/ppt/media/image.png" Id="Rfbcbdfbbe6c04326" /><Relationship Type="http://schemas.openxmlformats.org/officeDocument/2006/relationships/image" Target="/ppt/media/image2.png" Id="R3d9e8a9c01804b35" /><Relationship Type="http://schemas.openxmlformats.org/officeDocument/2006/relationships/image" Target="/ppt/media/image3.png" Id="Rd600b2f2e63c457b" /><Relationship Type="http://schemas.openxmlformats.org/officeDocument/2006/relationships/image" Target="/ppt/media/image4.png" Id="Rfb419df7337d4732" /><Relationship Type="http://schemas.openxmlformats.org/officeDocument/2006/relationships/image" Target="/ppt/media/image5.png" Id="R8841b033071c4319" /><Relationship Type="http://schemas.openxmlformats.org/officeDocument/2006/relationships/image" Target="/ppt/media/image6.png" Id="Ra7a2e94ea77e4421" /><Relationship Type="http://schemas.openxmlformats.org/officeDocument/2006/relationships/notesSlide" Target="/ppt/notesSlides/notesSlide1.xml" Id="R3be64428e8a945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49fa76ceb4990" /><Relationship Type="http://schemas.openxmlformats.org/officeDocument/2006/relationships/notesSlide" Target="/ppt/notesSlides/notesSlide2.xml" Id="Raca218dd02534f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4987a2a994cd6" /><Relationship Type="http://schemas.openxmlformats.org/officeDocument/2006/relationships/notesSlide" Target="/ppt/notesSlides/notesSlide3.xml" Id="Rd15ad5537dd64d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d34b9f0e04a69" /><Relationship Type="http://schemas.openxmlformats.org/officeDocument/2006/relationships/notesSlide" Target="/ppt/notesSlides/notesSlide4.xml" Id="R8ae022c068fe49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ae2fa29a94bed" /><Relationship Type="http://schemas.openxmlformats.org/officeDocument/2006/relationships/image" Target="/ppt/media/image7.png" Id="Rec73d5ec48d14b0f" /><Relationship Type="http://schemas.openxmlformats.org/officeDocument/2006/relationships/image" Target="/ppt/media/image8.png" Id="R4719bde6e8484df8" /><Relationship Type="http://schemas.openxmlformats.org/officeDocument/2006/relationships/image" Target="/ppt/media/image9.png" Id="R81f987392f504f11" /><Relationship Type="http://schemas.openxmlformats.org/officeDocument/2006/relationships/image" Target="/ppt/media/image10.png" Id="R7123a3c61ee245ba" /><Relationship Type="http://schemas.openxmlformats.org/officeDocument/2006/relationships/image" Target="/ppt/media/image11.png" Id="R539759a142004222" /><Relationship Type="http://schemas.openxmlformats.org/officeDocument/2006/relationships/image" Target="/ppt/media/image12.png" Id="Rc1a1905b76094714" /><Relationship Type="http://schemas.openxmlformats.org/officeDocument/2006/relationships/image" Target="/ppt/media/image13.png" Id="R4113a2d056e54b74" /><Relationship Type="http://schemas.openxmlformats.org/officeDocument/2006/relationships/image" Target="/ppt/media/image14.png" Id="R31b7e6a0c9ae4a6b" /><Relationship Type="http://schemas.openxmlformats.org/officeDocument/2006/relationships/notesSlide" Target="/ppt/notesSlides/notesSlide5.xml" Id="R24febb97a2ce42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rect 2">
            <a:extLst xmlns:a="http://schemas.openxmlformats.org/drawingml/2006/main">
              <a:ext uri="{FF2B5EF4-FFF2-40B4-BE49-F238E27FC236}">
                <a16:creationId xmlns:a16="http://schemas.microsoft.com/office/drawing/2014/main" id="{676B4F05-3088-41E7-8FEB-12C289D4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750" y="223837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CAE9EE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oundrect 3">
            <a:extLst xmlns:a="http://schemas.openxmlformats.org/drawingml/2006/main">
              <a:ext uri="{FF2B5EF4-FFF2-40B4-BE49-F238E27FC236}">
                <a16:creationId xmlns:a16="http://schemas.microsoft.com/office/drawing/2014/main" id="{CFCE7C0E-86BB-4D64-82CC-321E6BFC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1250" y="223837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E7F3E3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oundrect 4">
            <a:extLst xmlns:a="http://schemas.openxmlformats.org/drawingml/2006/main">
              <a:ext uri="{FF2B5EF4-FFF2-40B4-BE49-F238E27FC236}">
                <a16:creationId xmlns:a16="http://schemas.microsoft.com/office/drawing/2014/main" id="{B24C88C0-55C9-46B5-9B10-0F4CEFF9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3750" y="223837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CAE9EE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oundrect 5">
            <a:extLst xmlns:a="http://schemas.openxmlformats.org/drawingml/2006/main">
              <a:ext uri="{FF2B5EF4-FFF2-40B4-BE49-F238E27FC236}">
                <a16:creationId xmlns:a16="http://schemas.microsoft.com/office/drawing/2014/main" id="{62BE6EC9-41C4-4A5A-B4DE-11E77B17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750" y="595312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E5E2FA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oundrect 6">
            <a:extLst xmlns:a="http://schemas.openxmlformats.org/drawingml/2006/main">
              <a:ext uri="{FF2B5EF4-FFF2-40B4-BE49-F238E27FC236}">
                <a16:creationId xmlns:a16="http://schemas.microsoft.com/office/drawing/2014/main" id="{7237DEEE-E2FA-4626-BAAC-BC4AD8C5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1250" y="595312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EEF0EA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oundrect 7">
            <a:extLst xmlns:a="http://schemas.openxmlformats.org/drawingml/2006/main">
              <a:ext uri="{FF2B5EF4-FFF2-40B4-BE49-F238E27FC236}">
                <a16:creationId xmlns:a16="http://schemas.microsoft.com/office/drawing/2014/main" id="{7A96CD9F-104D-4549-A99E-DC095C55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3750" y="595312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9CF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rect 8">
            <a:extLst xmlns:a="http://schemas.openxmlformats.org/drawingml/2006/main">
              <a:ext uri="{FF2B5EF4-FFF2-40B4-BE49-F238E27FC236}">
                <a16:creationId xmlns:a16="http://schemas.microsoft.com/office/drawing/2014/main" id="{611D02C2-727D-415C-85E1-B3BA73CF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750" y="10096500"/>
            <a:ext cx="132397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2F3EE"/>
          </a:solidFill>
          <a:ln xmlns:a="http://schemas.openxmlformats.org/drawingml/2006/main" w="38100">
            <a:solidFill>
              <a:srgbClr val="2C2D2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monitor">
            <a:extLst xmlns:a="http://schemas.openxmlformats.org/drawingml/2006/main">
              <a:ext uri="{FF2B5EF4-FFF2-40B4-BE49-F238E27FC236}">
                <a16:creationId xmlns:a16="http://schemas.microsoft.com/office/drawing/2014/main" id="{54A80F12-D1C7-4166-883D-5FB0D301DB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bdfbbe6c043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67000" y="2447925"/>
            <a:ext cx="1238250" cy="952500"/>
          </a:xfrm>
          <a:prstGeom xmlns:a="http://schemas.openxmlformats.org/drawingml/2006/main" prst="rect">
            <a:avLst/>
          </a:prstGeom>
        </p:spPr>
      </p:pic>
      <p:pic>
        <p:nvPicPr>
          <p:cNvPr id="10" name="document">
            <a:extLst xmlns:a="http://schemas.openxmlformats.org/drawingml/2006/main">
              <a:ext uri="{FF2B5EF4-FFF2-40B4-BE49-F238E27FC236}">
                <a16:creationId xmlns:a16="http://schemas.microsoft.com/office/drawing/2014/main" id="{E5540E69-0E0A-4E4D-9855-517530861D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e8a9c01804b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429500" y="2447925"/>
            <a:ext cx="1238250" cy="952500"/>
          </a:xfrm>
          <a:prstGeom xmlns:a="http://schemas.openxmlformats.org/drawingml/2006/main" prst="rect">
            <a:avLst/>
          </a:prstGeom>
        </p:spPr>
      </p:pic>
      <p:pic>
        <p:nvPicPr>
          <p:cNvPr id="11" name="checked-document">
            <a:extLst xmlns:a="http://schemas.openxmlformats.org/drawingml/2006/main">
              <a:ext uri="{FF2B5EF4-FFF2-40B4-BE49-F238E27FC236}">
                <a16:creationId xmlns:a16="http://schemas.microsoft.com/office/drawing/2014/main" id="{02F65D92-7A76-4D2F-8617-0D220CF088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00b2f2e63c45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2192000" y="2447925"/>
            <a:ext cx="1238250" cy="952500"/>
          </a:xfrm>
          <a:prstGeom xmlns:a="http://schemas.openxmlformats.org/drawingml/2006/main" prst="rect">
            <a:avLst/>
          </a:prstGeom>
        </p:spPr>
      </p:pic>
      <p:pic>
        <p:nvPicPr>
          <p:cNvPr id="12" name="code-files">
            <a:extLst xmlns:a="http://schemas.openxmlformats.org/drawingml/2006/main">
              <a:ext uri="{FF2B5EF4-FFF2-40B4-BE49-F238E27FC236}">
                <a16:creationId xmlns:a16="http://schemas.microsoft.com/office/drawing/2014/main" id="{06CD523C-43D3-41F4-9235-EDE39638E2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419df7337d47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67000" y="6162675"/>
            <a:ext cx="1238250" cy="952500"/>
          </a:xfrm>
          <a:prstGeom xmlns:a="http://schemas.openxmlformats.org/drawingml/2006/main" prst="rect">
            <a:avLst/>
          </a:prstGeom>
        </p:spPr>
      </p:pic>
      <p:pic>
        <p:nvPicPr>
          <p:cNvPr id="13" name="documents">
            <a:extLst xmlns:a="http://schemas.openxmlformats.org/drawingml/2006/main">
              <a:ext uri="{FF2B5EF4-FFF2-40B4-BE49-F238E27FC236}">
                <a16:creationId xmlns:a16="http://schemas.microsoft.com/office/drawing/2014/main" id="{517549CC-2BC2-4AC4-BA1A-11818B93D4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1b033071c43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429500" y="6162675"/>
            <a:ext cx="1238250" cy="952500"/>
          </a:xfrm>
          <a:prstGeom xmlns:a="http://schemas.openxmlformats.org/drawingml/2006/main" prst="rect">
            <a:avLst/>
          </a:prstGeom>
        </p:spPr>
      </p:pic>
      <p:pic>
        <p:nvPicPr>
          <p:cNvPr id="14" name="shield-check">
            <a:extLst xmlns:a="http://schemas.openxmlformats.org/drawingml/2006/main">
              <a:ext uri="{FF2B5EF4-FFF2-40B4-BE49-F238E27FC236}">
                <a16:creationId xmlns:a16="http://schemas.microsoft.com/office/drawing/2014/main" id="{A6E3FA0D-C39A-420C-A7F5-250968972C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2e94ea77e44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2192000" y="6162675"/>
            <a:ext cx="1238250" cy="952500"/>
          </a:xfrm>
          <a:prstGeom xmlns:a="http://schemas.openxmlformats.org/drawingml/2006/main" prst="rect">
            <a:avLst/>
          </a:prstGeom>
        </p:spPr>
      </p:pic>
      <p:sp>
        <p:nvSpPr>
          <p:cNvPr id="15" name="Line 15">
            <a:extLst xmlns:a="http://schemas.openxmlformats.org/drawingml/2006/main">
              <a:ext uri="{FF2B5EF4-FFF2-40B4-BE49-F238E27FC236}">
                <a16:creationId xmlns:a16="http://schemas.microsoft.com/office/drawing/2014/main" id="{E332002E-B7DE-4F41-91E2-2BB90E22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43500" y="34290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Line 16">
            <a:extLst xmlns:a="http://schemas.openxmlformats.org/drawingml/2006/main">
              <a:ext uri="{FF2B5EF4-FFF2-40B4-BE49-F238E27FC236}">
                <a16:creationId xmlns:a16="http://schemas.microsoft.com/office/drawing/2014/main" id="{F4609571-757C-4BCA-A8B5-F90E4E21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6000" y="34290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Line 17">
            <a:extLst xmlns:a="http://schemas.openxmlformats.org/drawingml/2006/main">
              <a:ext uri="{FF2B5EF4-FFF2-40B4-BE49-F238E27FC236}">
                <a16:creationId xmlns:a16="http://schemas.microsoft.com/office/drawing/2014/main" id="{10ABF80F-2AB6-4080-BC19-3D2247FE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86125" y="4619625"/>
            <a:ext cx="0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Line 18">
            <a:extLst xmlns:a="http://schemas.openxmlformats.org/drawingml/2006/main">
              <a:ext uri="{FF2B5EF4-FFF2-40B4-BE49-F238E27FC236}">
                <a16:creationId xmlns:a16="http://schemas.microsoft.com/office/drawing/2014/main" id="{F7609049-CFE4-4D29-9D83-B4C6D8A4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858000" y="4619625"/>
            <a:ext cx="1190625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57D83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Line 19">
            <a:extLst xmlns:a="http://schemas.openxmlformats.org/drawingml/2006/main">
              <a:ext uri="{FF2B5EF4-FFF2-40B4-BE49-F238E27FC236}">
                <a16:creationId xmlns:a16="http://schemas.microsoft.com/office/drawing/2014/main" id="{ED467870-8C5B-4F36-AA5F-EBB60D3C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43500" y="71437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Line 20">
            <a:extLst xmlns:a="http://schemas.openxmlformats.org/drawingml/2006/main">
              <a:ext uri="{FF2B5EF4-FFF2-40B4-BE49-F238E27FC236}">
                <a16:creationId xmlns:a16="http://schemas.microsoft.com/office/drawing/2014/main" id="{5A80DD0A-FA0B-4442-81A7-3E975BF4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6000" y="71437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Line 21">
            <a:extLst xmlns:a="http://schemas.openxmlformats.org/drawingml/2006/main">
              <a:ext uri="{FF2B5EF4-FFF2-40B4-BE49-F238E27FC236}">
                <a16:creationId xmlns:a16="http://schemas.microsoft.com/office/drawing/2014/main" id="{1DA9B761-B3B3-4002-9028-D49A7E2B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2811125" y="4619625"/>
            <a:ext cx="0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Line 22">
            <a:extLst xmlns:a="http://schemas.openxmlformats.org/drawingml/2006/main">
              <a:ext uri="{FF2B5EF4-FFF2-40B4-BE49-F238E27FC236}">
                <a16:creationId xmlns:a16="http://schemas.microsoft.com/office/drawing/2014/main" id="{D5807FD4-1234-489F-B12F-D2DBA022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3286125" y="1428750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3C808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Line 23">
            <a:extLst xmlns:a="http://schemas.openxmlformats.org/drawingml/2006/main">
              <a:ext uri="{FF2B5EF4-FFF2-40B4-BE49-F238E27FC236}">
                <a16:creationId xmlns:a16="http://schemas.microsoft.com/office/drawing/2014/main" id="{14653B40-43ED-4AB3-AFCF-6EE11896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86125" y="14287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3C808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Line 24">
            <a:extLst xmlns:a="http://schemas.openxmlformats.org/drawingml/2006/main">
              <a:ext uri="{FF2B5EF4-FFF2-40B4-BE49-F238E27FC236}">
                <a16:creationId xmlns:a16="http://schemas.microsoft.com/office/drawing/2014/main" id="{F4BA15CF-14D7-4B08-8258-9877CC6F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1125" y="1428750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3C8085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Line 25">
            <a:extLst xmlns:a="http://schemas.openxmlformats.org/drawingml/2006/main">
              <a:ext uri="{FF2B5EF4-FFF2-40B4-BE49-F238E27FC236}">
                <a16:creationId xmlns:a16="http://schemas.microsoft.com/office/drawing/2014/main" id="{F240C266-EC38-4776-B436-BB4B2813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1125" y="8334375"/>
            <a:ext cx="0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7A79CF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Line 26">
            <a:extLst xmlns:a="http://schemas.openxmlformats.org/drawingml/2006/main">
              <a:ext uri="{FF2B5EF4-FFF2-40B4-BE49-F238E27FC236}">
                <a16:creationId xmlns:a16="http://schemas.microsoft.com/office/drawing/2014/main" id="{AF0F03B0-64E8-49DE-BC9C-9DF00520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3286125" y="90297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7A79CF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Line 27">
            <a:extLst xmlns:a="http://schemas.openxmlformats.org/drawingml/2006/main">
              <a:ext uri="{FF2B5EF4-FFF2-40B4-BE49-F238E27FC236}">
                <a16:creationId xmlns:a16="http://schemas.microsoft.com/office/drawing/2014/main" id="{6DB34691-CA1E-450B-9D7D-4F9BB809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3286125" y="8334375"/>
            <a:ext cx="0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7A79CF"/>
            </a:solidFill>
            <a:prstDash val="dash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22092F14-9D32-46A5-82E0-F3C4021D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4125" y="10287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80" i="1">
                <a:solidFill>
                  <a:srgbClr val="347D83"/>
                </a:solidFill>
                <a:latin typeface="Cambria"/>
                <a:ea typeface="Cambria"/>
                <a:cs typeface="Cambria"/>
              </a:rPr>
              <a:t>Time-Series Agent construction</a:t>
            </a:r>
            <a:endParaRPr sz="1380"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BD890FE9-81FC-4FDB-8B30-317C8898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0" y="162877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>
                <a:solidFill>
                  <a:srgbClr val="347D83"/>
                </a:solidFill>
                <a:latin typeface="Cambria"/>
                <a:ea typeface="Cambria"/>
                <a:cs typeface="Cambria"/>
              </a:rPr>
              <a:t>Modules compose across tasks</a:t>
            </a:r>
            <a:endParaRPr sz="1900"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3B4549D1-B440-4150-A1FF-637FDCD9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200" y="328612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Time-Series Agent</a:t>
            </a:r>
            <a:endParaRPr sz="2500"/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0B5D470A-4CE5-4E62-BB63-562CF9B5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2125" y="381000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LLM + harness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and temporal data</a:t>
            </a:r>
            <a:endParaRPr sz="1900"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50394CD-7BA3-4537-B1C4-EBD54802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2700" y="328612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Paper cards</a:t>
            </a:r>
            <a:endParaRPr sz="2500"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9324A9A7-DFC7-42C9-9C4D-BCB4C177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4625" y="381000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claims, evidence,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module tags</a:t>
            </a:r>
            <a:endParaRPr sz="1900"/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9BAA58CA-188F-40D6-980C-0CB8582F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25200" y="328612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New task agent</a:t>
            </a:r>
            <a:endParaRPr sz="1600"/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812A9759-6C52-4B42-BF64-CBDBCDAC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87125" y="381000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Reusable harness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configuration</a:t>
            </a:r>
            <a:endParaRPr sz="1900"/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FFE47FB6-E6D1-4BBE-A486-2DE9AC87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200" y="700087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General Harness</a:t>
            </a:r>
            <a:endParaRPr sz="1600"/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F6247606-4686-4BAF-BD37-7B77E45A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2125" y="752475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tools, memory,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control, planning</a:t>
            </a:r>
            <a:endParaRPr sz="1900"/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1A2ABB2A-5AF1-4B9E-A811-FCC1D5F1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2700" y="700087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Time-Series Harness</a:t>
            </a:r>
            <a:endParaRPr sz="2500"/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2DF6C039-6AEC-4C90-8FFE-52725C30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4625" y="752475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temporal state,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operations, validation</a:t>
            </a:r>
            <a:endParaRPr sz="1900"/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893AF134-E750-452A-B68A-B56C8143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25200" y="700087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Task contract</a:t>
            </a:r>
            <a:endParaRPr sz="2500"/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3DC8A566-BF6C-4CCC-B1C1-0F3EA8C5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87125" y="752475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forecasting, anomaly,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augmentation, decisions</a:t>
            </a:r>
            <a:endParaRPr sz="1900"/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7A756346-8515-4E77-918B-D8291C4E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9700" y="3095625"/>
            <a:ext cx="90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80" i="1">
                <a:solidFill>
                  <a:srgbClr val="66645D"/>
                </a:solidFill>
                <a:latin typeface="Cambria"/>
                <a:ea typeface="Cambria"/>
                <a:cs typeface="Cambria"/>
              </a:rPr>
              <a:t>instantiate</a:t>
            </a:r>
            <a:endParaRPr sz="1080"/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221F48CB-39AE-421F-9439-C10B2D47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52750" y="476250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i="1">
                <a:solidFill>
                  <a:srgbClr val="357D83"/>
                </a:solidFill>
                <a:latin typeface="Cambria"/>
                <a:ea typeface="Cambria"/>
                <a:cs typeface="Cambria"/>
              </a:rPr>
              <a:t>observe</a:t>
            </a:r>
            <a:endParaRPr sz="1900"/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7089465B-2268-40BF-AEC2-896D5A8B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9700" y="5029200"/>
            <a:ext cx="128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i="1">
                <a:solidFill>
                  <a:srgbClr val="397C63"/>
                </a:solidFill>
                <a:latin typeface="Cambria"/>
                <a:ea typeface="Cambria"/>
                <a:cs typeface="Cambria"/>
              </a:rPr>
              <a:t>evaluate</a:t>
            </a:r>
            <a:endParaRPr sz="2100"/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6EDBF6FB-4371-49A1-9434-A99F60A4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9700" y="6762750"/>
            <a:ext cx="100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i="1">
                <a:solidFill>
                  <a:srgbClr val="66645D"/>
                </a:solidFill>
                <a:latin typeface="Cambria"/>
                <a:ea typeface="Cambria"/>
                <a:cs typeface="Cambria"/>
              </a:rPr>
              <a:t>adapt</a:t>
            </a:r>
            <a:endParaRPr sz="2000"/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04F24497-A77C-4E5B-A485-C606E714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91750" y="6762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i="1">
                <a:solidFill>
                  <a:srgbClr val="66645D"/>
                </a:solidFill>
                <a:latin typeface="Cambria"/>
                <a:ea typeface="Cambria"/>
                <a:cs typeface="Cambria"/>
              </a:rPr>
              <a:t>benchmark</a:t>
            </a:r>
            <a:endParaRPr sz="2000"/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AC401A2C-E3AF-4055-B17C-D0321FC9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58625" y="47625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i="1">
                <a:solidFill>
                  <a:srgbClr val="357D83"/>
                </a:solidFill>
                <a:latin typeface="Cambria"/>
                <a:ea typeface="Cambria"/>
                <a:cs typeface="Cambria"/>
              </a:rPr>
              <a:t>select module</a:t>
            </a:r>
            <a:endParaRPr sz="1900"/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6552F3E8-D126-40D6-9CE3-CDE1EEF7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0" y="90963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70" i="1">
                <a:solidFill>
                  <a:srgbClr val="7776CC"/>
                </a:solidFill>
                <a:latin typeface="Cambria"/>
                <a:ea typeface="Cambria"/>
                <a:cs typeface="Cambria"/>
              </a:rPr>
              <a:t>Module-level paper card</a:t>
            </a:r>
            <a:endParaRPr sz="1170"/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0FA84973-D3A7-4FD9-B37F-0EE06B71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95750" y="9601200"/>
            <a:ext cx="833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>
                <a:solidFill>
                  <a:srgbClr val="7776CC"/>
                </a:solidFill>
                <a:latin typeface="Cambria"/>
                <a:ea typeface="Cambria"/>
                <a:cs typeface="Cambria"/>
              </a:rPr>
              <a:t>One paper may contribute several modules</a:t>
            </a:r>
            <a:endParaRPr sz="1900"/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8E70AB3E-152C-4E1A-BB2A-532C63D7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76500" y="10210800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6C706C"/>
                </a:solidFill>
                <a:latin typeface="Cambria"/>
                <a:ea typeface="Cambria"/>
                <a:cs typeface="Cambria"/>
              </a:rPr>
              <a:t>Task semantics and benchmark protocols remain explicit</a:t>
            </a:r>
            <a:endParaRPr sz="1800"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1AE8C21C-6556-46D1-8F1D-71A9BD93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5875" y="323850"/>
            <a:ext cx="561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Time-Series Agent system</a:t>
            </a:r>
            <a:endParaRPr sz="3100"/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CF18CF29-BA91-4E9B-A9D7-E0462417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7625" y="409575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540" i="1">
                <a:solidFill>
                  <a:srgbClr val="66716D"/>
                </a:solidFill>
                <a:latin typeface="Cambria"/>
                <a:ea typeface="Cambria"/>
                <a:cs typeface="Cambria"/>
              </a:rPr>
              <a:t>A module-level construction view</a:t>
            </a:r>
            <a:endParaRPr sz="1540"/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35682EC4-8334-4A1D-B6A2-A4ABC020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75" y="10744200"/>
            <a:ext cx="1628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Figure 1. A module-level construction view of a Time-Series Agent. The LLM supplies language and reasoning; the General Harness provides reusable runtime mechanisms; the Time-Series Harness Module supplies temporal state, operations, grounding, and task contracts. A paper card records the claim, evidence locator, module layer, task family, and BibTeX entry.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7804715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rect 2">
            <a:extLst xmlns:a="http://schemas.openxmlformats.org/drawingml/2006/main">
              <a:ext uri="{FF2B5EF4-FFF2-40B4-BE49-F238E27FC236}">
                <a16:creationId xmlns:a16="http://schemas.microsoft.com/office/drawing/2014/main" id="{A831FC14-62D7-4813-BDB8-2A80B8BE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16697" y="4692728"/>
            <a:ext cx="1975054" cy="1753848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CFE9EE"/>
          </a:solidFill>
          <a:ln xmlns:a="http://schemas.openxmlformats.org/drawingml/2006/main" w="25400">
            <a:solidFill>
              <a:srgbClr val="1F2937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oundrect 3">
            <a:extLst xmlns:a="http://schemas.openxmlformats.org/drawingml/2006/main">
              <a:ext uri="{FF2B5EF4-FFF2-40B4-BE49-F238E27FC236}">
                <a16:creationId xmlns:a16="http://schemas.microsoft.com/office/drawing/2014/main" id="{3E9C821B-8983-4339-B379-085F6463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742620"/>
            <a:ext cx="3752603" cy="829523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5CB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oundrect 4">
            <a:extLst xmlns:a="http://schemas.openxmlformats.org/drawingml/2006/main">
              <a:ext uri="{FF2B5EF4-FFF2-40B4-BE49-F238E27FC236}">
                <a16:creationId xmlns:a16="http://schemas.microsoft.com/office/drawing/2014/main" id="{046B05A7-35A8-4615-AFFE-055D80BD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1967154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5CB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oundrect 5">
            <a:extLst xmlns:a="http://schemas.openxmlformats.org/drawingml/2006/main">
              <a:ext uri="{FF2B5EF4-FFF2-40B4-BE49-F238E27FC236}">
                <a16:creationId xmlns:a16="http://schemas.microsoft.com/office/drawing/2014/main" id="{F56B00F2-825E-4407-AB68-15169335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3199588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5CB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oundrect 6">
            <a:extLst xmlns:a="http://schemas.openxmlformats.org/drawingml/2006/main">
              <a:ext uri="{FF2B5EF4-FFF2-40B4-BE49-F238E27FC236}">
                <a16:creationId xmlns:a16="http://schemas.microsoft.com/office/drawing/2014/main" id="{39E2F7E6-5F9D-4E57-9D2A-ED1AD4E8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4424121"/>
            <a:ext cx="3752603" cy="829523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DEFD8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oundrect 7">
            <a:extLst xmlns:a="http://schemas.openxmlformats.org/drawingml/2006/main">
              <a:ext uri="{FF2B5EF4-FFF2-40B4-BE49-F238E27FC236}">
                <a16:creationId xmlns:a16="http://schemas.microsoft.com/office/drawing/2014/main" id="{1EA8DDD6-FA62-43C3-B1BF-B9CB3994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5664455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EFD8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rect 8">
            <a:extLst xmlns:a="http://schemas.openxmlformats.org/drawingml/2006/main">
              <a:ext uri="{FF2B5EF4-FFF2-40B4-BE49-F238E27FC236}">
                <a16:creationId xmlns:a16="http://schemas.microsoft.com/office/drawing/2014/main" id="{CA29B948-9CB8-448F-8EDB-4BE17BF5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6888989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EFD8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oundrect 9">
            <a:extLst xmlns:a="http://schemas.openxmlformats.org/drawingml/2006/main">
              <a:ext uri="{FF2B5EF4-FFF2-40B4-BE49-F238E27FC236}">
                <a16:creationId xmlns:a16="http://schemas.microsoft.com/office/drawing/2014/main" id="{5F5E887D-6F1C-4CD7-A877-BCAD3CCB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8121422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C9E8EE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oundrect 10">
            <a:extLst xmlns:a="http://schemas.openxmlformats.org/drawingml/2006/main">
              <a:ext uri="{FF2B5EF4-FFF2-40B4-BE49-F238E27FC236}">
                <a16:creationId xmlns:a16="http://schemas.microsoft.com/office/drawing/2014/main" id="{91A1B6A4-C560-4A5D-AA40-77962788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9353856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5DDF0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oundrect 11">
            <a:extLst xmlns:a="http://schemas.openxmlformats.org/drawingml/2006/main">
              <a:ext uri="{FF2B5EF4-FFF2-40B4-BE49-F238E27FC236}">
                <a16:creationId xmlns:a16="http://schemas.microsoft.com/office/drawing/2014/main" id="{45E14795-77B6-4A19-8169-F096F744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10586290"/>
            <a:ext cx="3752603" cy="829523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5DDF0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oundrect 12">
            <a:extLst xmlns:a="http://schemas.openxmlformats.org/drawingml/2006/main">
              <a:ext uri="{FF2B5EF4-FFF2-40B4-BE49-F238E27FC236}">
                <a16:creationId xmlns:a16="http://schemas.microsoft.com/office/drawing/2014/main" id="{60B51A98-8245-42CB-BA84-53C730CF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742620"/>
            <a:ext cx="5490650" cy="829523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BFBEF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oundrect 13">
            <a:extLst xmlns:a="http://schemas.openxmlformats.org/drawingml/2006/main">
              <a:ext uri="{FF2B5EF4-FFF2-40B4-BE49-F238E27FC236}">
                <a16:creationId xmlns:a16="http://schemas.microsoft.com/office/drawing/2014/main" id="{123B6A59-512A-4E64-99F7-12C32067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1967154"/>
            <a:ext cx="5490650" cy="829523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BFBEF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oundrect 14">
            <a:extLst xmlns:a="http://schemas.openxmlformats.org/drawingml/2006/main">
              <a:ext uri="{FF2B5EF4-FFF2-40B4-BE49-F238E27FC236}">
                <a16:creationId xmlns:a16="http://schemas.microsoft.com/office/drawing/2014/main" id="{551204EC-AD69-42CE-870C-DCE2EF64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3199588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BFBEF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oundrect 15">
            <a:extLst xmlns:a="http://schemas.openxmlformats.org/drawingml/2006/main">
              <a:ext uri="{FF2B5EF4-FFF2-40B4-BE49-F238E27FC236}">
                <a16:creationId xmlns:a16="http://schemas.microsoft.com/office/drawing/2014/main" id="{43B9FFCA-A53D-4080-B693-0EE38B4E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4424121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9EE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oundrect 16">
            <a:extLst xmlns:a="http://schemas.openxmlformats.org/drawingml/2006/main">
              <a:ext uri="{FF2B5EF4-FFF2-40B4-BE49-F238E27FC236}">
                <a16:creationId xmlns:a16="http://schemas.microsoft.com/office/drawing/2014/main" id="{C2FA3E09-3F66-4AEF-989B-2BB625E3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5664455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9EE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oundrect 17">
            <a:extLst xmlns:a="http://schemas.openxmlformats.org/drawingml/2006/main">
              <a:ext uri="{FF2B5EF4-FFF2-40B4-BE49-F238E27FC236}">
                <a16:creationId xmlns:a16="http://schemas.microsoft.com/office/drawing/2014/main" id="{721BB8EE-61C6-4624-8EF3-A852ECF9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6888989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9EE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oundrect 18">
            <a:extLst xmlns:a="http://schemas.openxmlformats.org/drawingml/2006/main">
              <a:ext uri="{FF2B5EF4-FFF2-40B4-BE49-F238E27FC236}">
                <a16:creationId xmlns:a16="http://schemas.microsoft.com/office/drawing/2014/main" id="{7DFA049E-B331-4AB4-8F78-5D85D3C8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8121422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7F5F8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oundrect 19">
            <a:extLst xmlns:a="http://schemas.openxmlformats.org/drawingml/2006/main">
              <a:ext uri="{FF2B5EF4-FFF2-40B4-BE49-F238E27FC236}">
                <a16:creationId xmlns:a16="http://schemas.microsoft.com/office/drawing/2014/main" id="{0303670F-8E3E-4AE2-9734-C782A74B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9353856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F0FA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oundrect 20">
            <a:extLst xmlns:a="http://schemas.openxmlformats.org/drawingml/2006/main">
              <a:ext uri="{FF2B5EF4-FFF2-40B4-BE49-F238E27FC236}">
                <a16:creationId xmlns:a16="http://schemas.microsoft.com/office/drawing/2014/main" id="{BDDFAA23-EDA7-44F5-9B36-1313333E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10586290"/>
            <a:ext cx="5490650" cy="829523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0FA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Line 21">
            <a:extLst xmlns:a="http://schemas.openxmlformats.org/drawingml/2006/main">
              <a:ext uri="{FF2B5EF4-FFF2-40B4-BE49-F238E27FC236}">
                <a16:creationId xmlns:a16="http://schemas.microsoft.com/office/drawing/2014/main" id="{B97BEF48-D792-4DD2-BB1B-4FE6D062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1098130"/>
            <a:ext cx="0" cy="1097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9727B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Line 22">
            <a:extLst xmlns:a="http://schemas.openxmlformats.org/drawingml/2006/main">
              <a:ext uri="{FF2B5EF4-FFF2-40B4-BE49-F238E27FC236}">
                <a16:creationId xmlns:a16="http://schemas.microsoft.com/office/drawing/2014/main" id="{97FF94F5-D233-49D0-80B2-B097985D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1082330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D815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Line 23">
            <a:extLst xmlns:a="http://schemas.openxmlformats.org/drawingml/2006/main">
              <a:ext uri="{FF2B5EF4-FFF2-40B4-BE49-F238E27FC236}">
                <a16:creationId xmlns:a16="http://schemas.microsoft.com/office/drawing/2014/main" id="{B14CFF43-C2E3-4462-9C85-0607A641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2306863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D815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Line 24">
            <a:extLst xmlns:a="http://schemas.openxmlformats.org/drawingml/2006/main">
              <a:ext uri="{FF2B5EF4-FFF2-40B4-BE49-F238E27FC236}">
                <a16:creationId xmlns:a16="http://schemas.microsoft.com/office/drawing/2014/main" id="{A3A814E9-F12C-4237-88E5-E9993194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3539297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D815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Line 25">
            <a:extLst xmlns:a="http://schemas.openxmlformats.org/drawingml/2006/main">
              <a:ext uri="{FF2B5EF4-FFF2-40B4-BE49-F238E27FC236}">
                <a16:creationId xmlns:a16="http://schemas.microsoft.com/office/drawing/2014/main" id="{902912B1-33B0-4887-8449-68264299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4771731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C866D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Line 26">
            <a:extLst xmlns:a="http://schemas.openxmlformats.org/drawingml/2006/main">
              <a:ext uri="{FF2B5EF4-FFF2-40B4-BE49-F238E27FC236}">
                <a16:creationId xmlns:a16="http://schemas.microsoft.com/office/drawing/2014/main" id="{B7D9E33E-313E-4BC0-903B-BDA3AB8F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6004164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C866D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Line 27">
            <a:extLst xmlns:a="http://schemas.openxmlformats.org/drawingml/2006/main">
              <a:ext uri="{FF2B5EF4-FFF2-40B4-BE49-F238E27FC236}">
                <a16:creationId xmlns:a16="http://schemas.microsoft.com/office/drawing/2014/main" id="{318C65B7-7426-4DA2-A069-8AF32AA8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7236598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C866D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Line 28">
            <a:extLst xmlns:a="http://schemas.openxmlformats.org/drawingml/2006/main">
              <a:ext uri="{FF2B5EF4-FFF2-40B4-BE49-F238E27FC236}">
                <a16:creationId xmlns:a16="http://schemas.microsoft.com/office/drawing/2014/main" id="{1778B5D9-2218-4D9D-92A3-859E9DEE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8469032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B91A8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Line 29">
            <a:extLst xmlns:a="http://schemas.openxmlformats.org/drawingml/2006/main">
              <a:ext uri="{FF2B5EF4-FFF2-40B4-BE49-F238E27FC236}">
                <a16:creationId xmlns:a16="http://schemas.microsoft.com/office/drawing/2014/main" id="{AAFC5EE0-FCAF-41F5-BA57-14C167E4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9701466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264A3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Line 30">
            <a:extLst xmlns:a="http://schemas.openxmlformats.org/drawingml/2006/main">
              <a:ext uri="{FF2B5EF4-FFF2-40B4-BE49-F238E27FC236}">
                <a16:creationId xmlns:a16="http://schemas.microsoft.com/office/drawing/2014/main" id="{6EA5C7EC-7A9D-459F-B92E-34143256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10941800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264A3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Line 31">
            <a:extLst xmlns:a="http://schemas.openxmlformats.org/drawingml/2006/main">
              <a:ext uri="{FF2B5EF4-FFF2-40B4-BE49-F238E27FC236}">
                <a16:creationId xmlns:a16="http://schemas.microsoft.com/office/drawing/2014/main" id="{A3559353-604E-44A1-AE4E-7677F9F7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1153432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E7A5B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Line 32">
            <a:extLst xmlns:a="http://schemas.openxmlformats.org/drawingml/2006/main">
              <a:ext uri="{FF2B5EF4-FFF2-40B4-BE49-F238E27FC236}">
                <a16:creationId xmlns:a16="http://schemas.microsoft.com/office/drawing/2014/main" id="{D8742B10-74A1-4D3A-90AD-C925E59B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2520169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E7A5B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Line 33">
            <a:extLst xmlns:a="http://schemas.openxmlformats.org/drawingml/2006/main">
              <a:ext uri="{FF2B5EF4-FFF2-40B4-BE49-F238E27FC236}">
                <a16:creationId xmlns:a16="http://schemas.microsoft.com/office/drawing/2014/main" id="{F30D7D92-23EA-44B5-BB87-FC76C131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3752603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E7A5B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Line 34">
            <a:extLst xmlns:a="http://schemas.openxmlformats.org/drawingml/2006/main">
              <a:ext uri="{FF2B5EF4-FFF2-40B4-BE49-F238E27FC236}">
                <a16:creationId xmlns:a16="http://schemas.microsoft.com/office/drawing/2014/main" id="{018F65BA-6D52-46BD-B9D3-D51CCFAA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4834932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D8F7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Line 35">
            <a:extLst xmlns:a="http://schemas.openxmlformats.org/drawingml/2006/main">
              <a:ext uri="{FF2B5EF4-FFF2-40B4-BE49-F238E27FC236}">
                <a16:creationId xmlns:a16="http://schemas.microsoft.com/office/drawing/2014/main" id="{940A463E-E8DC-4586-8C80-62A18536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6217470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D8F7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Line 36">
            <a:extLst xmlns:a="http://schemas.openxmlformats.org/drawingml/2006/main">
              <a:ext uri="{FF2B5EF4-FFF2-40B4-BE49-F238E27FC236}">
                <a16:creationId xmlns:a16="http://schemas.microsoft.com/office/drawing/2014/main" id="{F5B3CD76-1676-4D63-A97A-EE40D329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7442004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D8F7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Line 37">
            <a:extLst xmlns:a="http://schemas.openxmlformats.org/drawingml/2006/main">
              <a:ext uri="{FF2B5EF4-FFF2-40B4-BE49-F238E27FC236}">
                <a16:creationId xmlns:a16="http://schemas.microsoft.com/office/drawing/2014/main" id="{8919712E-6F0B-48DA-8EF1-2E815D9C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8674438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793A5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Line 38">
            <a:extLst xmlns:a="http://schemas.openxmlformats.org/drawingml/2006/main">
              <a:ext uri="{FF2B5EF4-FFF2-40B4-BE49-F238E27FC236}">
                <a16:creationId xmlns:a16="http://schemas.microsoft.com/office/drawing/2014/main" id="{933281B5-59BC-4781-848C-F20A13CC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9906871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068A1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Line 39">
            <a:extLst xmlns:a="http://schemas.openxmlformats.org/drawingml/2006/main">
              <a:ext uri="{FF2B5EF4-FFF2-40B4-BE49-F238E27FC236}">
                <a16:creationId xmlns:a16="http://schemas.microsoft.com/office/drawing/2014/main" id="{2B8F5D1E-F799-4FBA-8882-79343B0B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10997101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068A1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Ellipse 40">
            <a:extLst xmlns:a="http://schemas.openxmlformats.org/drawingml/2006/main">
              <a:ext uri="{FF2B5EF4-FFF2-40B4-BE49-F238E27FC236}">
                <a16:creationId xmlns:a16="http://schemas.microsoft.com/office/drawing/2014/main" id="{6ED9AFAE-433F-4F9C-919A-DB948D73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1003327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D7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Ellipse 41">
            <a:extLst xmlns:a="http://schemas.openxmlformats.org/drawingml/2006/main">
              <a:ext uri="{FF2B5EF4-FFF2-40B4-BE49-F238E27FC236}">
                <a16:creationId xmlns:a16="http://schemas.microsoft.com/office/drawing/2014/main" id="{3AC11945-F881-48EB-B3F6-12213ADF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2227861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D7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Ellipse 42">
            <a:extLst xmlns:a="http://schemas.openxmlformats.org/drawingml/2006/main">
              <a:ext uri="{FF2B5EF4-FFF2-40B4-BE49-F238E27FC236}">
                <a16:creationId xmlns:a16="http://schemas.microsoft.com/office/drawing/2014/main" id="{F26C40C7-7BC1-41A4-9B8C-57580557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3460295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D7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Ellipse 43">
            <a:extLst xmlns:a="http://schemas.openxmlformats.org/drawingml/2006/main">
              <a:ext uri="{FF2B5EF4-FFF2-40B4-BE49-F238E27FC236}">
                <a16:creationId xmlns:a16="http://schemas.microsoft.com/office/drawing/2014/main" id="{F298E2F8-14D6-4730-B725-6E6F924E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4692728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3E8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Ellipse 44">
            <a:extLst xmlns:a="http://schemas.openxmlformats.org/drawingml/2006/main">
              <a:ext uri="{FF2B5EF4-FFF2-40B4-BE49-F238E27FC236}">
                <a16:creationId xmlns:a16="http://schemas.microsoft.com/office/drawing/2014/main" id="{08C893A1-FB32-41EC-94C4-792A920E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5925162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3E8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Ellipse 45">
            <a:extLst xmlns:a="http://schemas.openxmlformats.org/drawingml/2006/main">
              <a:ext uri="{FF2B5EF4-FFF2-40B4-BE49-F238E27FC236}">
                <a16:creationId xmlns:a16="http://schemas.microsoft.com/office/drawing/2014/main" id="{49239A53-EFE5-421B-BA0F-E0215DEB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7157596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3E8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Ellipse 46">
            <a:extLst xmlns:a="http://schemas.openxmlformats.org/drawingml/2006/main">
              <a:ext uri="{FF2B5EF4-FFF2-40B4-BE49-F238E27FC236}">
                <a16:creationId xmlns:a16="http://schemas.microsoft.com/office/drawing/2014/main" id="{25F3E9C7-6165-44F1-B9DD-643EA64A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8390030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EEF3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Ellipse 47">
            <a:extLst xmlns:a="http://schemas.openxmlformats.org/drawingml/2006/main">
              <a:ext uri="{FF2B5EF4-FFF2-40B4-BE49-F238E27FC236}">
                <a16:creationId xmlns:a16="http://schemas.microsoft.com/office/drawing/2014/main" id="{1D04795F-BE02-45ED-B6BE-E751997D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9622463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FF0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Ellipse 48">
            <a:extLst xmlns:a="http://schemas.openxmlformats.org/drawingml/2006/main">
              <a:ext uri="{FF2B5EF4-FFF2-40B4-BE49-F238E27FC236}">
                <a16:creationId xmlns:a16="http://schemas.microsoft.com/office/drawing/2014/main" id="{52B52244-C6C3-47FD-AFE3-040EEE4B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10862797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FF0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0D63884B-D380-4186-8C7F-1F3F5AEA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7616" y="142204"/>
            <a:ext cx="1422039" cy="513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40" i="1">
                <a:solidFill>
                  <a:srgbClr val="707070"/>
                </a:solidFill>
                <a:latin typeface="Cambria"/>
                <a:ea typeface="Cambria"/>
                <a:cs typeface="Cambria"/>
              </a:rPr>
              <a:t>Survey organization</a:t>
            </a:r>
            <a:endParaRPr sz="2540"/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170A3195-FB28-44DC-8F2D-EBFB1941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54752" y="142204"/>
            <a:ext cx="1738048" cy="513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50" i="1">
                <a:solidFill>
                  <a:srgbClr val="707070"/>
                </a:solidFill>
                <a:latin typeface="Cambria"/>
                <a:ea typeface="Cambria"/>
                <a:cs typeface="Cambria"/>
              </a:rPr>
              <a:t>Sections</a:t>
            </a:r>
            <a:endParaRPr sz="2350"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EAF11333-9A0E-4A0F-9A3A-9F7A9C8F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4701" y="4937635"/>
            <a:ext cx="1659045" cy="829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80" b="1">
                <a:solidFill>
                  <a:srgbClr val="101828"/>
                </a:solidFill>
                <a:latin typeface="Cambria"/>
                <a:ea typeface="Cambria"/>
                <a:cs typeface="Cambria"/>
              </a:rPr>
              <a:t>Time-Series</a:t>
            </a:r>
            <a:endParaRPr sz="2680"/>
          </a:p>
          <a:p xmlns:a="http://schemas.openxmlformats.org/drawingml/2006/main">
            <a:pPr algn="ctr">
              <a:buNone/>
            </a:pPr>
            <a:r>
              <a:rPr sz="2680" b="1">
                <a:solidFill>
                  <a:srgbClr val="101828"/>
                </a:solidFill>
                <a:latin typeface="Cambria"/>
                <a:ea typeface="Cambria"/>
                <a:cs typeface="Cambria"/>
              </a:rPr>
              <a:t>Agent</a:t>
            </a:r>
            <a:endParaRPr sz="2680"/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A28D7FA2-EC91-49B7-97D9-6EDBD095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4701" y="5877761"/>
            <a:ext cx="1659045" cy="355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80" i="1">
                <a:solidFill>
                  <a:srgbClr val="6B7280"/>
                </a:solidFill>
                <a:latin typeface="Cambria"/>
                <a:ea typeface="Cambria"/>
                <a:cs typeface="Cambria"/>
              </a:rPr>
              <a:t>Reader’s guide</a:t>
            </a:r>
            <a:endParaRPr sz="1680"/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2E50B944-54BE-45D8-87F5-84A5AC2D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805822"/>
            <a:ext cx="3476095" cy="703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5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1    Introduction</a:t>
            </a:r>
            <a:endParaRPr sz="2850"/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8ADD2E49-534D-4556-B433-5996D7AC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2030356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2    What Is a</a:t>
            </a:r>
            <a:endParaRPr sz="2410"/>
          </a:p>
          <a:p xmlns:a="http://schemas.openxmlformats.org/drawingml/2006/main">
            <a:pPr algn="ctr">
              <a:buNone/>
            </a:pPr>
            <a:r>
              <a:rPr sz="24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Time-Series Agent?</a:t>
            </a:r>
            <a:endParaRPr sz="2410"/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74705585-B5B8-473F-A736-317D25FD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3262789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8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3    LLM-Side</a:t>
            </a:r>
            <a:endParaRPr sz="2480"/>
          </a:p>
          <a:p xmlns:a="http://schemas.openxmlformats.org/drawingml/2006/main">
            <a:pPr algn="ctr">
              <a:buNone/>
            </a:pPr>
            <a:r>
              <a:rPr sz="248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Contributions</a:t>
            </a:r>
            <a:endParaRPr sz="2480"/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CE59709B-15C8-4DE3-B7B1-EFCE20A7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4487323"/>
            <a:ext cx="3476095" cy="703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4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4    General</a:t>
            </a:r>
            <a:endParaRPr sz="2540"/>
          </a:p>
          <a:p xmlns:a="http://schemas.openxmlformats.org/drawingml/2006/main">
            <a:pPr algn="ctr">
              <a:buNone/>
            </a:pPr>
            <a:r>
              <a:rPr sz="254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Harness</a:t>
            </a:r>
            <a:endParaRPr sz="2540"/>
          </a:p>
        </p:txBody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7905F1C2-4A22-4D9C-B7D2-6E1DEF74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5727657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5    General Time-Series</a:t>
            </a:r>
            <a:endParaRPr sz="2110"/>
          </a:p>
          <a:p xmlns:a="http://schemas.openxmlformats.org/drawingml/2006/main">
            <a:pPr algn="ctr">
              <a:buNone/>
            </a:pPr>
            <a:r>
              <a:rPr sz="21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Harness</a:t>
            </a:r>
            <a:endParaRPr sz="2110"/>
          </a:p>
        </p:txBody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3515EAA9-3F28-4BC2-8122-B9B28134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6952190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6    Task-Specific</a:t>
            </a:r>
            <a:endParaRPr sz="2110"/>
          </a:p>
          <a:p xmlns:a="http://schemas.openxmlformats.org/drawingml/2006/main">
            <a:pPr algn="ctr">
              <a:buNone/>
            </a:pPr>
            <a:r>
              <a:rPr sz="21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Harness</a:t>
            </a:r>
            <a:endParaRPr sz="2110"/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C5983454-2357-4BA0-8B81-36BB8249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8184624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7    Infrastructure and</a:t>
            </a:r>
            <a:endParaRPr sz="2610"/>
          </a:p>
          <a:p xmlns:a="http://schemas.openxmlformats.org/drawingml/2006/main">
            <a:pPr algn="ctr">
              <a:buNone/>
            </a:pPr>
            <a:r>
              <a:rPr sz="26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Benchmarks</a:t>
            </a:r>
            <a:endParaRPr sz="2610"/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250F4431-91CF-46A8-9EB5-438DFC46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9417058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8    Open Problems and</a:t>
            </a:r>
            <a:endParaRPr sz="2610"/>
          </a:p>
          <a:p xmlns:a="http://schemas.openxmlformats.org/drawingml/2006/main">
            <a:pPr algn="ctr">
              <a:buNone/>
            </a:pPr>
            <a:r>
              <a:rPr sz="26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Case Studies</a:t>
            </a:r>
            <a:endParaRPr sz="2610"/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ADDA99B6-17B3-4DFD-BD4D-C1152FD1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10649492"/>
            <a:ext cx="3476095" cy="703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2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9    Conclusion</a:t>
            </a:r>
            <a:endParaRPr sz="3220"/>
          </a:p>
        </p:txBody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DB0A82D2-65DF-4C5B-B730-3E78A1DF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790022"/>
            <a:ext cx="5135141" cy="734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System definition</a:t>
            </a:r>
            <a:endParaRPr sz="2370"/>
          </a:p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Construction questions</a:t>
            </a:r>
            <a:endParaRPr sz="2370"/>
          </a:p>
        </p:txBody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F6A377B7-FED3-4324-93F2-FD037FF0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2014555"/>
            <a:ext cx="5135141" cy="734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Review scope</a:t>
            </a:r>
            <a:endParaRPr sz="2370"/>
          </a:p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Paper-card evidence</a:t>
            </a:r>
            <a:endParaRPr sz="2370"/>
          </a:p>
        </p:txBody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80E106BF-B493-4953-BBC1-3EA6759F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3246989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8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Temporal representation</a:t>
            </a:r>
            <a:endParaRPr sz="2180"/>
          </a:p>
          <a:p xmlns:a="http://schemas.openxmlformats.org/drawingml/2006/main">
            <a:pPr algn="l">
              <a:buNone/>
            </a:pPr>
            <a:r>
              <a:rPr sz="218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Alignment and reasoning</a:t>
            </a:r>
            <a:endParaRPr sz="2180"/>
          </a:p>
          <a:p xmlns:a="http://schemas.openxmlformats.org/drawingml/2006/main">
            <a:pPr algn="l">
              <a:buNone/>
            </a:pPr>
            <a:r>
              <a:rPr sz="218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LLM-side methods</a:t>
            </a:r>
            <a:endParaRPr sz="2180"/>
          </a:p>
        </p:txBody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D673B466-337F-4D15-B7CA-4281694C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4471522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6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Tools and memory          Control and execution</a:t>
            </a:r>
            <a:endParaRPr sz="2160"/>
          </a:p>
          <a:p xmlns:a="http://schemas.openxmlformats.org/drawingml/2006/main">
            <a:pPr algn="l">
              <a:buNone/>
            </a:pPr>
            <a:r>
              <a:rPr sz="216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Temporal state             Provenance and validation</a:t>
            </a:r>
            <a:endParaRPr sz="2160"/>
          </a:p>
        </p:txBody>
      </p:sp>
      <p:sp>
        <p:nvSpPr>
          <p:cNvPr id="66" name="TextBox 66">
            <a:extLst xmlns:a="http://schemas.openxmlformats.org/drawingml/2006/main">
              <a:ext uri="{FF2B5EF4-FFF2-40B4-BE49-F238E27FC236}">
                <a16:creationId xmlns:a16="http://schemas.microsoft.com/office/drawing/2014/main" id="{08AB37B1-1315-4E61-8F8E-0808E1BB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5711856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Time-series harnesses     Reusable modules</a:t>
            </a:r>
            <a:endParaRPr sz="2000"/>
          </a:p>
          <a:p xmlns:a="http://schemas.openxmlformats.org/drawingml/2006/main">
            <a:pPr algn="l">
              <a:buNone/>
            </a:pPr>
            <a:r>
              <a:rPr sz="20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Task contracts             Benchmark protocols</a:t>
            </a:r>
            <a:endParaRPr sz="2000"/>
          </a:p>
        </p:txBody>
      </p:sp>
      <p:sp>
        <p:nvSpPr>
          <p:cNvPr id="67" name="TextBox 67">
            <a:extLst xmlns:a="http://schemas.openxmlformats.org/drawingml/2006/main">
              <a:ext uri="{FF2B5EF4-FFF2-40B4-BE49-F238E27FC236}">
                <a16:creationId xmlns:a16="http://schemas.microsoft.com/office/drawing/2014/main" id="{835A393D-9E9F-4419-A804-B0F5268A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6936390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89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Forecasting                Augmentation</a:t>
            </a:r>
            <a:endParaRPr sz="1889"/>
          </a:p>
          <a:p xmlns:a="http://schemas.openxmlformats.org/drawingml/2006/main">
            <a:pPr algn="l">
              <a:buNone/>
            </a:pPr>
            <a:r>
              <a:rPr sz="1889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Anomaly diagnosis          Decision support</a:t>
            </a:r>
            <a:endParaRPr sz="1889"/>
          </a:p>
        </p:txBody>
      </p:sp>
      <p:sp>
        <p:nvSpPr>
          <p:cNvPr id="68" name="TextBox 68">
            <a:extLst xmlns:a="http://schemas.openxmlformats.org/drawingml/2006/main">
              <a:ext uri="{FF2B5EF4-FFF2-40B4-BE49-F238E27FC236}">
                <a16:creationId xmlns:a16="http://schemas.microsoft.com/office/drawing/2014/main" id="{CAE03CDC-94E4-4129-A088-2DEDFD6D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8168824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ModernTSF                  TimeSeriesGym</a:t>
            </a:r>
            <a:endParaRPr sz="1870"/>
          </a:p>
          <a:p xmlns:a="http://schemas.openxmlformats.org/drawingml/2006/main">
            <a:pPr algn="l">
              <a:buNone/>
            </a:pPr>
            <a:r>
              <a:rPr sz="18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Traces and episodes        Reproducible evaluation</a:t>
            </a:r>
            <a:endParaRPr sz="1870"/>
          </a:p>
        </p:txBody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48F75D4E-4E4F-418D-A835-76660823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9401257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5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Paper-card database        Module-level counts</a:t>
            </a:r>
            <a:endParaRPr sz="1850"/>
          </a:p>
          <a:p xmlns:a="http://schemas.openxmlformats.org/drawingml/2006/main">
            <a:pPr algn="l">
              <a:buNone/>
            </a:pPr>
            <a:r>
              <a:rPr sz="185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Open tasks                 Evidence gaps</a:t>
            </a:r>
            <a:endParaRPr sz="1850"/>
          </a:p>
        </p:txBody>
      </p:sp>
      <p:sp>
        <p:nvSpPr>
          <p:cNvPr id="70" name="TextBox 70">
            <a:extLst xmlns:a="http://schemas.openxmlformats.org/drawingml/2006/main">
              <a:ext uri="{FF2B5EF4-FFF2-40B4-BE49-F238E27FC236}">
                <a16:creationId xmlns:a16="http://schemas.microsoft.com/office/drawing/2014/main" id="{03E8E8AE-5DA8-4A4E-AE2A-D3F57E69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10633691"/>
            <a:ext cx="5135141" cy="734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System map</a:t>
            </a:r>
            <a:endParaRPr sz="2370"/>
          </a:p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Open problems</a:t>
            </a:r>
            <a:endParaRPr sz="2370"/>
          </a:p>
        </p:txBody>
      </p:sp>
    </p:spTree>
    <p:extLst>
      <p:ext uri="{BB962C8B-B14F-4D97-AF65-F5344CB8AC3E}">
        <p14:creationId xmlns:p14="http://schemas.microsoft.com/office/powerpoint/2010/main" val="15473525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7455E1-E87E-4244-BB26-A620B1F24935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8667750" y="4857750"/>
            <a:ext cx="25717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F8F89"/>
            </a:solidFill>
            <a:prstDash val="solid"/>
            <a:headEnd type="arrow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270D39-2BBF-4F2D-8674-57DBC3B5E416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V="1">
            <a:off x="7429500" y="4762500"/>
            <a:ext cx="0" cy="2857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47B24"/>
            </a:solidFill>
            <a:prstDash val="solid"/>
            <a:headEnd type="arrow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BE36AF-ABC9-4581-BE60-D82E41A19A9C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V="1">
            <a:off x="7429500" y="3143250"/>
            <a:ext cx="0" cy="53340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F8F89"/>
            </a:solidFill>
            <a:prstDash val="solid"/>
            <a:headEnd type="arrow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066B5D-E998-41D3-B18C-D78FC26FAEC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619500" y="4857750"/>
            <a:ext cx="47625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D6396"/>
            </a:solidFill>
            <a:prstDash val="solid"/>
            <a:headEnd type="arrow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6D7F1B-47F0-4D07-B39F-37F83628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1390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2550" b="1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Contribution layers in Time-Series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0A886-26D4-47D7-8875-6DAC2E4A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390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200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pPr>
            <a:r>
              <a:rPr sz="1200" b="0" i="1">
                <a:solidFill>
                  <a:srgbClr val="687078"/>
                </a:solidFill>
                <a:latin typeface="Cambria"/>
                <a:ea typeface="Cambria"/>
                <a:cs typeface="Cambria"/>
              </a:rPr>
              <a:t>Paper cards record module-level contributions across the LLM, Harness, temporal, task, and evaluation layers.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BE0A9-DBB1-4E3E-922F-8A33464B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14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6D6396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6D6396"/>
                </a:solidFill>
                <a:latin typeface="Cambria"/>
                <a:ea typeface="Cambria"/>
                <a:cs typeface="Cambria"/>
              </a:defRPr>
            </a:pPr>
            <a:r>
              <a:rPr sz="1650" b="1" i="0">
                <a:solidFill>
                  <a:srgbClr val="6D6396"/>
                </a:solidFill>
                <a:latin typeface="Cambria"/>
                <a:ea typeface="Cambria"/>
                <a:cs typeface="Cambria"/>
              </a:rPr>
              <a:t>LLM side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47A6D-5AA8-4B70-BD90-DE64A268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857500" cy="6286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14288">
            <a:solidFill>
              <a:srgbClr val="6D6396"/>
            </a:solidFill>
            <a:prstDash val="dash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CEDCA-B9AB-4988-9FDE-FE0CBDD4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6D6396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6D6396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6D6396"/>
                </a:solidFill>
                <a:latin typeface="Cambria"/>
                <a:ea typeface="Cambria"/>
                <a:cs typeface="Cambria"/>
              </a:rPr>
              <a:t>Language capability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3B5F3D-A1DD-4F1C-AED6-24565C37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23241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representation</a:t>
            </a:r>
          </a:p>
          <a:p xmlns:a="http://schemas.openxmlformats.org/drawingml/2006/main">
            <a:pPr>
              <a:def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alignment</a:t>
            </a:r>
          </a:p>
          <a:p xmlns:a="http://schemas.openxmlformats.org/drawingml/2006/main">
            <a:pPr>
              <a:def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temporal reasoning</a:t>
            </a:r>
          </a:p>
          <a:p xmlns:a="http://schemas.openxmlformats.org/drawingml/2006/main">
            <a:pPr>
              <a:def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ChatTS lineage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5C0E5-FDF3-4879-9D84-34FDDA0B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10125"/>
            <a:ext cx="2000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D639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3296A6-1AB8-40FE-9532-EA029735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101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LLM component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BE155-8F43-40A0-BDBB-7FFFAF51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pPr>
            <a:r>
              <a: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rPr>
              <a:t>Paper card fields</a:t>
            </a:r>
          </a:p>
          <a:p xmlns:a="http://schemas.openxmlformats.org/drawingml/2006/main">
            <a: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pPr>
            <a:r>
              <a: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rPr>
              <a:t>claim · evidence · BibTeX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96BEF-975C-4841-901F-4557C6D8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1430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100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2100" b="1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Time-Series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1EC08-F067-4724-89C2-A97E2137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19250"/>
            <a:ext cx="6667500" cy="6858000"/>
          </a:xfrm>
          <a:prstGeom xmlns:a="http://schemas.openxmlformats.org/drawingml/2006/main" prst="roundRect">
            <a:avLst>
              <a:gd name="adj" fmla="val 1143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14288">
            <a:solidFill>
              <a:srgbClr val="4F8F89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36000-8FA7-47C3-88DE-C228D31F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8120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 i="0">
                <a:solidFill>
                  <a:srgbClr val="4F8F89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800" b="1" i="0">
                <a:solidFill>
                  <a:srgbClr val="4F8F89"/>
                </a:solidFill>
                <a:latin typeface="Cambria"/>
                <a:ea typeface="Cambria"/>
                <a:cs typeface="Cambria"/>
              </a:defRPr>
            </a:pPr>
            <a:r>
              <a:rPr sz="1800" b="1" i="0">
                <a:solidFill>
                  <a:srgbClr val="4F8F89"/>
                </a:solidFill>
                <a:latin typeface="Cambria"/>
                <a:ea typeface="Cambria"/>
                <a:cs typeface="Cambria"/>
              </a:rPr>
              <a:t>General Harness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4CE158-B149-4B26-BA66-E6B52C20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431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pPr>
            <a:r>
              <a: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rPr>
              <a:t>tools · memory · control · planning · coordination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707033-708E-4693-BE64-31B259E3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43250"/>
            <a:ext cx="466725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E1EEDC"/>
          </a:solidFill>
          <a:ln xmlns:a="http://schemas.openxmlformats.org/drawingml/2006/main" w="14288">
            <a:solidFill>
              <a:srgbClr val="6B9F80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BED1C4-B475-4FDD-944A-8F4101FE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4766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6B9F8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6B9F80"/>
                </a:solidFill>
                <a:latin typeface="Cambria"/>
                <a:ea typeface="Cambria"/>
                <a:cs typeface="Cambria"/>
              </a:defRPr>
            </a:pPr>
            <a:r>
              <a:rPr sz="1650" b="1" i="0">
                <a:solidFill>
                  <a:srgbClr val="6B9F80"/>
                </a:solidFill>
                <a:latin typeface="Cambria"/>
                <a:ea typeface="Cambria"/>
                <a:cs typeface="Cambria"/>
              </a:rPr>
              <a:t>General Time-Series Harness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C9125C-4E09-4DA7-B116-5A268B28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576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temporal state · operations</a:t>
            </a:r>
          </a:p>
          <a:p xmlns:a="http://schemas.openxmlformats.org/drawingml/2006/main">
            <a: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provenance ·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ABF864-3149-4FF3-B202-5BCD96E1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0CE"/>
          </a:solidFill>
          <a:ln xmlns:a="http://schemas.openxmlformats.org/drawingml/2006/main" w="14288">
            <a:solidFill>
              <a:srgbClr val="B47B24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BD0BDA-16DA-47B8-9F26-B0600279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48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B47B24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B47B24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B47B24"/>
                </a:solidFill>
                <a:latin typeface="Cambria"/>
                <a:ea typeface="Cambria"/>
                <a:cs typeface="Cambria"/>
              </a:rPr>
              <a:t>Task-Specific Harness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BBE368-48E5-4DF4-BE1C-A132AA73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1943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0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forecasting</a:t>
            </a:r>
          </a:p>
          <a:p xmlns:a="http://schemas.openxmlformats.org/drawingml/2006/main">
            <a:pPr>
              <a:defRPr sz="120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0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augmentation</a:t>
            </a:r>
          </a:p>
          <a:p xmlns:a="http://schemas.openxmlformats.org/drawingml/2006/main">
            <a:pPr>
              <a:defRPr sz="120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0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anomaly · decisions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FBFBC0-6C5B-4DED-B8D7-88B24E75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314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4F8F89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4F8F89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4F8F89"/>
                </a:solidFill>
                <a:latin typeface="Cambria"/>
                <a:ea typeface="Cambria"/>
                <a:cs typeface="Cambria"/>
              </a:rPr>
              <a:t>Evaluation and ledger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A8CC97-E40F-47C2-9977-2DC64BCA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714500"/>
            <a:ext cx="2857500" cy="6286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F8F89"/>
            </a:solidFill>
            <a:prstDash val="dash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D53A77-062A-418E-B6A5-0482E480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095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4F8F89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4F8F89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4F8F89"/>
                </a:solidFill>
                <a:latin typeface="Cambria"/>
                <a:ea typeface="Cambria"/>
                <a:cs typeface="Cambria"/>
              </a:rPr>
              <a:t>Benchmark contract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B6048F-9C9C-4600-BABC-D1E3E7EA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781300"/>
            <a:ext cx="2381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episodes</a:t>
            </a:r>
          </a:p>
          <a:p xmlns:a="http://schemas.openxmlformats.org/drawingml/2006/main">
            <a: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chronology</a:t>
            </a:r>
          </a:p>
          <a:p xmlns:a="http://schemas.openxmlformats.org/drawingml/2006/main">
            <a: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held-out tests</a:t>
            </a:r>
          </a:p>
          <a:p xmlns:a="http://schemas.openxmlformats.org/drawingml/2006/main">
            <a: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reproducible traces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04D9EA-A8A6-44EA-96A9-37760C7E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14288">
            <a:solidFill>
              <a:srgbClr val="4F8F8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70AEDE-966E-4023-81B5-B7A469D7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97205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module-level</a:t>
            </a:r>
          </a:p>
          <a:p xmlns:a="http://schemas.openxmlformats.org/drawingml/2006/main">
            <a:pPr>
              <a:def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counts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679CE3-77C0-4F88-B9DF-FFBF84C7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1912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pPr>
            <a:r>
              <a: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rPr>
              <a:t>Each paper can contribute</a:t>
            </a:r>
          </a:p>
          <a:p xmlns:a="http://schemas.openxmlformats.org/drawingml/2006/main">
            <a: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pPr>
            <a:r>
              <a: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rPr>
              <a:t>several modules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52FDED-9A1A-4DD1-8CC4-79EEF7F1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858250"/>
            <a:ext cx="666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05A"/>
          </a:solidFill>
          <a:ln xmlns:a="http://schemas.openxmlformats.org/drawingml/2006/main" w="0">
            <a:solidFill>
              <a:srgbClr val="45505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D56E64-BAB5-4E24-B9FD-E838A49E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02970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00" b="1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General Harness ⊃ General Time-Series Harness ⊃ Task-Specific Harness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C48752-318C-46BD-BBE9-AAB4D816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53625"/>
            <a:ext cx="1343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125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Figure 3. The survey records contributions at the module level. The LLM side is parallel to the Harness hierarchy; temporal modules specialize the reusable runtime, and task contracts instantiate the finest layer.</a:t>
            </a:r>
          </a:p>
        </p:txBody>
      </p:sp>
    </p:spTree>
    <p:extLst>
      <p:ext uri="{BB962C8B-B14F-4D97-AF65-F5344CB8AC3E}">
        <p14:creationId xmlns:p14="http://schemas.microsoft.com/office/powerpoint/2010/main" val="15613772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rect 2">
            <a:extLst xmlns:a="http://schemas.openxmlformats.org/drawingml/2006/main">
              <a:ext uri="{FF2B5EF4-FFF2-40B4-BE49-F238E27FC236}">
                <a16:creationId xmlns:a16="http://schemas.microsoft.com/office/drawing/2014/main" id="{A2DB3E60-DAC3-4D40-89F5-5AB3A4D0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0989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BF5E8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oundrect 3">
            <a:extLst xmlns:a="http://schemas.openxmlformats.org/drawingml/2006/main">
              <a:ext uri="{FF2B5EF4-FFF2-40B4-BE49-F238E27FC236}">
                <a16:creationId xmlns:a16="http://schemas.microsoft.com/office/drawing/2014/main" id="{4133812B-73DA-45E2-B993-5B6D9276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35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DF7F1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oundrect 4">
            <a:extLst xmlns:a="http://schemas.openxmlformats.org/drawingml/2006/main">
              <a:ext uri="{FF2B5EF4-FFF2-40B4-BE49-F238E27FC236}">
                <a16:creationId xmlns:a16="http://schemas.microsoft.com/office/drawing/2014/main" id="{1D87CA78-DFDD-43A0-95AE-B6A28E7D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60080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DF3FA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oundrect 5">
            <a:extLst xmlns:a="http://schemas.openxmlformats.org/drawingml/2006/main">
              <a:ext uri="{FF2B5EF4-FFF2-40B4-BE49-F238E27FC236}">
                <a16:creationId xmlns:a16="http://schemas.microsoft.com/office/drawing/2014/main" id="{E9AA490F-4D2E-4AB4-B20C-5072CEA6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14626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oundrect 6">
            <a:extLst xmlns:a="http://schemas.openxmlformats.org/drawingml/2006/main">
              <a:ext uri="{FF2B5EF4-FFF2-40B4-BE49-F238E27FC236}">
                <a16:creationId xmlns:a16="http://schemas.microsoft.com/office/drawing/2014/main" id="{A46CCC66-9C36-4A23-849A-CD8B9D50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69171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4EFF8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oundrect 7">
            <a:extLst xmlns:a="http://schemas.openxmlformats.org/drawingml/2006/main">
              <a:ext uri="{FF2B5EF4-FFF2-40B4-BE49-F238E27FC236}">
                <a16:creationId xmlns:a16="http://schemas.microsoft.com/office/drawing/2014/main" id="{16A416DE-EB3E-470C-B934-5008E3B8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23717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DF6F6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rect 8">
            <a:extLst xmlns:a="http://schemas.openxmlformats.org/drawingml/2006/main">
              <a:ext uri="{FF2B5EF4-FFF2-40B4-BE49-F238E27FC236}">
                <a16:creationId xmlns:a16="http://schemas.microsoft.com/office/drawing/2014/main" id="{BBFF54A3-8250-4BC3-BD78-22C35028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34218" y="9730930"/>
            <a:ext cx="8096134" cy="560502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25400">
            <a:solidFill>
              <a:srgbClr val="2832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oundrect 9">
            <a:extLst xmlns:a="http://schemas.openxmlformats.org/drawingml/2006/main">
              <a:ext uri="{FF2B5EF4-FFF2-40B4-BE49-F238E27FC236}">
                <a16:creationId xmlns:a16="http://schemas.microsoft.com/office/drawing/2014/main" id="{2AE26593-07A3-4171-BCAB-CE63FE9F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3604337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oundrect 10">
            <a:extLst xmlns:a="http://schemas.openxmlformats.org/drawingml/2006/main">
              <a:ext uri="{FF2B5EF4-FFF2-40B4-BE49-F238E27FC236}">
                <a16:creationId xmlns:a16="http://schemas.microsoft.com/office/drawing/2014/main" id="{6A47808F-BBB0-4057-A04D-197C2E2A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387680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oundrect 11">
            <a:extLst xmlns:a="http://schemas.openxmlformats.org/drawingml/2006/main">
              <a:ext uri="{FF2B5EF4-FFF2-40B4-BE49-F238E27FC236}">
                <a16:creationId xmlns:a16="http://schemas.microsoft.com/office/drawing/2014/main" id="{25A0B375-A0F7-4559-A1E9-3AE313FE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5861912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oundrect 12">
            <a:extLst xmlns:a="http://schemas.openxmlformats.org/drawingml/2006/main">
              <a:ext uri="{FF2B5EF4-FFF2-40B4-BE49-F238E27FC236}">
                <a16:creationId xmlns:a16="http://schemas.microsoft.com/office/drawing/2014/main" id="{D3B1B93D-87F2-4182-85BF-A02B11E9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531698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oundrect 13">
            <a:extLst xmlns:a="http://schemas.openxmlformats.org/drawingml/2006/main">
              <a:ext uri="{FF2B5EF4-FFF2-40B4-BE49-F238E27FC236}">
                <a16:creationId xmlns:a16="http://schemas.microsoft.com/office/drawing/2014/main" id="{4D98046F-B53A-4294-8CDC-544B8DDD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558944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oundrect 14">
            <a:extLst xmlns:a="http://schemas.openxmlformats.org/drawingml/2006/main">
              <a:ext uri="{FF2B5EF4-FFF2-40B4-BE49-F238E27FC236}">
                <a16:creationId xmlns:a16="http://schemas.microsoft.com/office/drawing/2014/main" id="{851F1709-3F0B-43CD-9C07-34F5D2CD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5861912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oundrect 15">
            <a:extLst xmlns:a="http://schemas.openxmlformats.org/drawingml/2006/main">
              <a:ext uri="{FF2B5EF4-FFF2-40B4-BE49-F238E27FC236}">
                <a16:creationId xmlns:a16="http://schemas.microsoft.com/office/drawing/2014/main" id="{F28D232A-3050-4743-931E-4AF2ABF4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7029624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oundrect 16">
            <a:extLst xmlns:a="http://schemas.openxmlformats.org/drawingml/2006/main">
              <a:ext uri="{FF2B5EF4-FFF2-40B4-BE49-F238E27FC236}">
                <a16:creationId xmlns:a16="http://schemas.microsoft.com/office/drawing/2014/main" id="{18C74D78-A3CA-45FB-88D6-6A128CBF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730209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oundrect 17">
            <a:extLst xmlns:a="http://schemas.openxmlformats.org/drawingml/2006/main">
              <a:ext uri="{FF2B5EF4-FFF2-40B4-BE49-F238E27FC236}">
                <a16:creationId xmlns:a16="http://schemas.microsoft.com/office/drawing/2014/main" id="{839A73F4-1226-4B27-BB76-158D5B59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928720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oundrect 18">
            <a:extLst xmlns:a="http://schemas.openxmlformats.org/drawingml/2006/main">
              <a:ext uri="{FF2B5EF4-FFF2-40B4-BE49-F238E27FC236}">
                <a16:creationId xmlns:a16="http://schemas.microsoft.com/office/drawing/2014/main" id="{E680D5CE-A56C-4392-8F3B-A16728B4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8742268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oundrect 19">
            <a:extLst xmlns:a="http://schemas.openxmlformats.org/drawingml/2006/main">
              <a:ext uri="{FF2B5EF4-FFF2-40B4-BE49-F238E27FC236}">
                <a16:creationId xmlns:a16="http://schemas.microsoft.com/office/drawing/2014/main" id="{CCFB81C7-84C6-4386-AF9C-CECA2892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8889" y="3604337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oundrect 20">
            <a:extLst xmlns:a="http://schemas.openxmlformats.org/drawingml/2006/main">
              <a:ext uri="{FF2B5EF4-FFF2-40B4-BE49-F238E27FC236}">
                <a16:creationId xmlns:a16="http://schemas.microsoft.com/office/drawing/2014/main" id="{AA8B82E5-636F-4089-850D-E669EE92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8889" y="387680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Roundrect 21">
            <a:extLst xmlns:a="http://schemas.openxmlformats.org/drawingml/2006/main">
              <a:ext uri="{FF2B5EF4-FFF2-40B4-BE49-F238E27FC236}">
                <a16:creationId xmlns:a16="http://schemas.microsoft.com/office/drawing/2014/main" id="{529BC2D0-942F-4452-8904-842CA7B2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8889" y="4149269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Roundrect 22">
            <a:extLst xmlns:a="http://schemas.openxmlformats.org/drawingml/2006/main">
              <a:ext uri="{FF2B5EF4-FFF2-40B4-BE49-F238E27FC236}">
                <a16:creationId xmlns:a16="http://schemas.microsoft.com/office/drawing/2014/main" id="{F96DF4CB-7D32-4B9A-A312-2CD98077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8889" y="531698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oundrect 23">
            <a:extLst xmlns:a="http://schemas.openxmlformats.org/drawingml/2006/main">
              <a:ext uri="{FF2B5EF4-FFF2-40B4-BE49-F238E27FC236}">
                <a16:creationId xmlns:a16="http://schemas.microsoft.com/office/drawing/2014/main" id="{BC8F94B5-9FA7-405E-ABCB-EB037AA8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189169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Roundrect 24">
            <a:extLst xmlns:a="http://schemas.openxmlformats.org/drawingml/2006/main">
              <a:ext uri="{FF2B5EF4-FFF2-40B4-BE49-F238E27FC236}">
                <a16:creationId xmlns:a16="http://schemas.microsoft.com/office/drawing/2014/main" id="{F9D62DD0-091A-4816-A5F6-8CF09C1A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387680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oundrect 25">
            <a:extLst xmlns:a="http://schemas.openxmlformats.org/drawingml/2006/main">
              <a:ext uri="{FF2B5EF4-FFF2-40B4-BE49-F238E27FC236}">
                <a16:creationId xmlns:a16="http://schemas.microsoft.com/office/drawing/2014/main" id="{6E5783E1-B2ED-47BD-9CC8-81AD1EE9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4149269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Roundrect 26">
            <a:extLst xmlns:a="http://schemas.openxmlformats.org/drawingml/2006/main">
              <a:ext uri="{FF2B5EF4-FFF2-40B4-BE49-F238E27FC236}">
                <a16:creationId xmlns:a16="http://schemas.microsoft.com/office/drawing/2014/main" id="{571FC7D4-6507-408D-A650-5FE84AAE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7029624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oundrect 27">
            <a:extLst xmlns:a="http://schemas.openxmlformats.org/drawingml/2006/main">
              <a:ext uri="{FF2B5EF4-FFF2-40B4-BE49-F238E27FC236}">
                <a16:creationId xmlns:a16="http://schemas.microsoft.com/office/drawing/2014/main" id="{A20C8E63-5D4E-43D5-B3F7-5C513D7A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730209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Roundrect 28">
            <a:extLst xmlns:a="http://schemas.openxmlformats.org/drawingml/2006/main">
              <a:ext uri="{FF2B5EF4-FFF2-40B4-BE49-F238E27FC236}">
                <a16:creationId xmlns:a16="http://schemas.microsoft.com/office/drawing/2014/main" id="{D9F418EF-0941-40DB-981E-C39AD44F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757455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Roundrect 29">
            <a:extLst xmlns:a="http://schemas.openxmlformats.org/drawingml/2006/main">
              <a:ext uri="{FF2B5EF4-FFF2-40B4-BE49-F238E27FC236}">
                <a16:creationId xmlns:a16="http://schemas.microsoft.com/office/drawing/2014/main" id="{3B86815D-E952-4BCE-9930-3A61B48F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189169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Roundrect 30">
            <a:extLst xmlns:a="http://schemas.openxmlformats.org/drawingml/2006/main">
              <a:ext uri="{FF2B5EF4-FFF2-40B4-BE49-F238E27FC236}">
                <a16:creationId xmlns:a16="http://schemas.microsoft.com/office/drawing/2014/main" id="{52A7F6D1-CF34-413E-9A93-B4D49F8D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387680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Roundrect 31">
            <a:extLst xmlns:a="http://schemas.openxmlformats.org/drawingml/2006/main">
              <a:ext uri="{FF2B5EF4-FFF2-40B4-BE49-F238E27FC236}">
                <a16:creationId xmlns:a16="http://schemas.microsoft.com/office/drawing/2014/main" id="{1DB592A6-09CB-47E6-AF7C-6AA51BBA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4149269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Roundrect 32">
            <a:extLst xmlns:a="http://schemas.openxmlformats.org/drawingml/2006/main">
              <a:ext uri="{FF2B5EF4-FFF2-40B4-BE49-F238E27FC236}">
                <a16:creationId xmlns:a16="http://schemas.microsoft.com/office/drawing/2014/main" id="{D1B38991-53A8-4029-9B7D-1961FA79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3604337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Roundrect 33">
            <a:extLst xmlns:a="http://schemas.openxmlformats.org/drawingml/2006/main">
              <a:ext uri="{FF2B5EF4-FFF2-40B4-BE49-F238E27FC236}">
                <a16:creationId xmlns:a16="http://schemas.microsoft.com/office/drawing/2014/main" id="{71F83BB5-2C50-4F43-A0F6-3008F35A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558944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Roundrect 34">
            <a:extLst xmlns:a="http://schemas.openxmlformats.org/drawingml/2006/main">
              <a:ext uri="{FF2B5EF4-FFF2-40B4-BE49-F238E27FC236}">
                <a16:creationId xmlns:a16="http://schemas.microsoft.com/office/drawing/2014/main" id="{7BAF44B0-95A9-4D66-9282-74A98198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5861912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Roundrect 35">
            <a:extLst xmlns:a="http://schemas.openxmlformats.org/drawingml/2006/main">
              <a:ext uri="{FF2B5EF4-FFF2-40B4-BE49-F238E27FC236}">
                <a16:creationId xmlns:a16="http://schemas.microsoft.com/office/drawing/2014/main" id="{1F6221F7-CDDA-4B92-9B38-979DD9B2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531698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Roundrect 36">
            <a:extLst xmlns:a="http://schemas.openxmlformats.org/drawingml/2006/main">
              <a:ext uri="{FF2B5EF4-FFF2-40B4-BE49-F238E27FC236}">
                <a16:creationId xmlns:a16="http://schemas.microsoft.com/office/drawing/2014/main" id="{AB21A674-AF9A-4FE6-AA2E-1EFA586A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730209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Roundrect 37">
            <a:extLst xmlns:a="http://schemas.openxmlformats.org/drawingml/2006/main">
              <a:ext uri="{FF2B5EF4-FFF2-40B4-BE49-F238E27FC236}">
                <a16:creationId xmlns:a16="http://schemas.microsoft.com/office/drawing/2014/main" id="{75DC34CE-E109-4612-8291-B6DA9750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757455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Roundrect 38">
            <a:extLst xmlns:a="http://schemas.openxmlformats.org/drawingml/2006/main">
              <a:ext uri="{FF2B5EF4-FFF2-40B4-BE49-F238E27FC236}">
                <a16:creationId xmlns:a16="http://schemas.microsoft.com/office/drawing/2014/main" id="{2D8F13D0-55FB-46B6-B013-CD90B9C1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3604337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Roundrect 39">
            <a:extLst xmlns:a="http://schemas.openxmlformats.org/drawingml/2006/main">
              <a:ext uri="{FF2B5EF4-FFF2-40B4-BE49-F238E27FC236}">
                <a16:creationId xmlns:a16="http://schemas.microsoft.com/office/drawing/2014/main" id="{4DE9193A-4826-4CD9-9B8E-5FAA8AC4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558944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Roundrect 40">
            <a:extLst xmlns:a="http://schemas.openxmlformats.org/drawingml/2006/main">
              <a:ext uri="{FF2B5EF4-FFF2-40B4-BE49-F238E27FC236}">
                <a16:creationId xmlns:a16="http://schemas.microsoft.com/office/drawing/2014/main" id="{D27C78A0-0388-4A9F-B032-55607966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5861912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Roundrect 41">
            <a:extLst xmlns:a="http://schemas.openxmlformats.org/drawingml/2006/main">
              <a:ext uri="{FF2B5EF4-FFF2-40B4-BE49-F238E27FC236}">
                <a16:creationId xmlns:a16="http://schemas.microsoft.com/office/drawing/2014/main" id="{43CDED30-3500-4C90-8899-1C6F26F8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531698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Roundrect 42">
            <a:extLst xmlns:a="http://schemas.openxmlformats.org/drawingml/2006/main">
              <a:ext uri="{FF2B5EF4-FFF2-40B4-BE49-F238E27FC236}">
                <a16:creationId xmlns:a16="http://schemas.microsoft.com/office/drawing/2014/main" id="{57CA70B3-4698-4166-9652-6A702FD7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558944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Roundrect 43">
            <a:extLst xmlns:a="http://schemas.openxmlformats.org/drawingml/2006/main">
              <a:ext uri="{FF2B5EF4-FFF2-40B4-BE49-F238E27FC236}">
                <a16:creationId xmlns:a16="http://schemas.microsoft.com/office/drawing/2014/main" id="{77129655-89E8-4791-87A4-AFA6363C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757455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Roundrect 44">
            <a:extLst xmlns:a="http://schemas.openxmlformats.org/drawingml/2006/main">
              <a:ext uri="{FF2B5EF4-FFF2-40B4-BE49-F238E27FC236}">
                <a16:creationId xmlns:a16="http://schemas.microsoft.com/office/drawing/2014/main" id="{511FD7B1-1972-489C-9F1D-125DC02A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8742268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Roundrect 45">
            <a:extLst xmlns:a="http://schemas.openxmlformats.org/drawingml/2006/main">
              <a:ext uri="{FF2B5EF4-FFF2-40B4-BE49-F238E27FC236}">
                <a16:creationId xmlns:a16="http://schemas.microsoft.com/office/drawing/2014/main" id="{102E31F9-4656-4C4E-A902-9A3D3938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189169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Roundrect 46">
            <a:extLst xmlns:a="http://schemas.openxmlformats.org/drawingml/2006/main">
              <a:ext uri="{FF2B5EF4-FFF2-40B4-BE49-F238E27FC236}">
                <a16:creationId xmlns:a16="http://schemas.microsoft.com/office/drawing/2014/main" id="{443ABC27-53A7-4F26-B627-A4EF12A5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2164159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Roundrect 47">
            <a:extLst xmlns:a="http://schemas.openxmlformats.org/drawingml/2006/main">
              <a:ext uri="{FF2B5EF4-FFF2-40B4-BE49-F238E27FC236}">
                <a16:creationId xmlns:a16="http://schemas.microsoft.com/office/drawing/2014/main" id="{7D1B0587-00C6-4233-A11C-559182E0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2436625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Roundrect 48">
            <a:extLst xmlns:a="http://schemas.openxmlformats.org/drawingml/2006/main">
              <a:ext uri="{FF2B5EF4-FFF2-40B4-BE49-F238E27FC236}">
                <a16:creationId xmlns:a16="http://schemas.microsoft.com/office/drawing/2014/main" id="{60934A8F-FEAB-4AF2-97B4-755FBE8D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3604337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Roundrect 49">
            <a:extLst xmlns:a="http://schemas.openxmlformats.org/drawingml/2006/main">
              <a:ext uri="{FF2B5EF4-FFF2-40B4-BE49-F238E27FC236}">
                <a16:creationId xmlns:a16="http://schemas.microsoft.com/office/drawing/2014/main" id="{C87471EC-6022-4E1E-9572-A60B2819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387680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Roundrect 50">
            <a:extLst xmlns:a="http://schemas.openxmlformats.org/drawingml/2006/main">
              <a:ext uri="{FF2B5EF4-FFF2-40B4-BE49-F238E27FC236}">
                <a16:creationId xmlns:a16="http://schemas.microsoft.com/office/drawing/2014/main" id="{48C8BD34-3550-4495-8ED7-2D9EE747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5861912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Roundrect 51">
            <a:extLst xmlns:a="http://schemas.openxmlformats.org/drawingml/2006/main">
              <a:ext uri="{FF2B5EF4-FFF2-40B4-BE49-F238E27FC236}">
                <a16:creationId xmlns:a16="http://schemas.microsoft.com/office/drawing/2014/main" id="{EDD21C20-E4A0-4918-BD06-38CAEBAF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7029624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Roundrect 52">
            <a:extLst xmlns:a="http://schemas.openxmlformats.org/drawingml/2006/main">
              <a:ext uri="{FF2B5EF4-FFF2-40B4-BE49-F238E27FC236}">
                <a16:creationId xmlns:a16="http://schemas.microsoft.com/office/drawing/2014/main" id="{67136590-5323-4969-B890-5E15769D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730209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Line 53">
            <a:extLst xmlns:a="http://schemas.openxmlformats.org/drawingml/2006/main">
              <a:ext uri="{FF2B5EF4-FFF2-40B4-BE49-F238E27FC236}">
                <a16:creationId xmlns:a16="http://schemas.microsoft.com/office/drawing/2014/main" id="{BAEF5C63-EE5B-4512-8CF1-47C65ADF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38398" y="2179728"/>
            <a:ext cx="0" cy="72008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07783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Line 54">
            <a:extLst xmlns:a="http://schemas.openxmlformats.org/drawingml/2006/main">
              <a:ext uri="{FF2B5EF4-FFF2-40B4-BE49-F238E27FC236}">
                <a16:creationId xmlns:a16="http://schemas.microsoft.com/office/drawing/2014/main" id="{EEA52860-9B35-4E14-9F36-8E57D2E6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8523" y="2335423"/>
            <a:ext cx="84075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CE3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Line 55">
            <a:extLst xmlns:a="http://schemas.openxmlformats.org/drawingml/2006/main">
              <a:ext uri="{FF2B5EF4-FFF2-40B4-BE49-F238E27FC236}">
                <a16:creationId xmlns:a16="http://schemas.microsoft.com/office/drawing/2014/main" id="{9228B9E2-BAEB-4685-8A03-65C99AF3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8523" y="4048067"/>
            <a:ext cx="84075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CE3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Line 56">
            <a:extLst xmlns:a="http://schemas.openxmlformats.org/drawingml/2006/main">
              <a:ext uri="{FF2B5EF4-FFF2-40B4-BE49-F238E27FC236}">
                <a16:creationId xmlns:a16="http://schemas.microsoft.com/office/drawing/2014/main" id="{A5225685-D291-42F0-8143-FB949B4A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8523" y="5760711"/>
            <a:ext cx="84075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CE3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Line 57">
            <a:extLst xmlns:a="http://schemas.openxmlformats.org/drawingml/2006/main">
              <a:ext uri="{FF2B5EF4-FFF2-40B4-BE49-F238E27FC236}">
                <a16:creationId xmlns:a16="http://schemas.microsoft.com/office/drawing/2014/main" id="{D07BE1C9-FDF6-493E-B856-A2C94CC9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8523" y="7473354"/>
            <a:ext cx="84075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CE3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Line 58">
            <a:extLst xmlns:a="http://schemas.openxmlformats.org/drawingml/2006/main">
              <a:ext uri="{FF2B5EF4-FFF2-40B4-BE49-F238E27FC236}">
                <a16:creationId xmlns:a16="http://schemas.microsoft.com/office/drawing/2014/main" id="{02DE74BA-11A9-4D1A-A1EA-612BD736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8523" y="9185998"/>
            <a:ext cx="84075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CE3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9" name="Line 59">
            <a:extLst xmlns:a="http://schemas.openxmlformats.org/drawingml/2006/main">
              <a:ext uri="{FF2B5EF4-FFF2-40B4-BE49-F238E27FC236}">
                <a16:creationId xmlns:a16="http://schemas.microsoft.com/office/drawing/2014/main" id="{7997B476-3B18-4338-9367-F7014966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2693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Line 60">
            <a:extLst xmlns:a="http://schemas.openxmlformats.org/drawingml/2006/main">
              <a:ext uri="{FF2B5EF4-FFF2-40B4-BE49-F238E27FC236}">
                <a16:creationId xmlns:a16="http://schemas.microsoft.com/office/drawing/2014/main" id="{B4F78AED-E9C9-4050-827E-505F43DF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67238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Line 61">
            <a:extLst xmlns:a="http://schemas.openxmlformats.org/drawingml/2006/main">
              <a:ext uri="{FF2B5EF4-FFF2-40B4-BE49-F238E27FC236}">
                <a16:creationId xmlns:a16="http://schemas.microsoft.com/office/drawing/2014/main" id="{7B655A8B-08AB-4FCB-BA94-D090388F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1784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Line 62">
            <a:extLst xmlns:a="http://schemas.openxmlformats.org/drawingml/2006/main">
              <a:ext uri="{FF2B5EF4-FFF2-40B4-BE49-F238E27FC236}">
                <a16:creationId xmlns:a16="http://schemas.microsoft.com/office/drawing/2014/main" id="{B1E4FC41-077F-4B73-B33E-576CA88A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76329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Line 63">
            <a:extLst xmlns:a="http://schemas.openxmlformats.org/drawingml/2006/main">
              <a:ext uri="{FF2B5EF4-FFF2-40B4-BE49-F238E27FC236}">
                <a16:creationId xmlns:a16="http://schemas.microsoft.com/office/drawing/2014/main" id="{05FE17D5-43F7-4DC0-ABE5-D96EDDE8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30875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Line 64">
            <a:extLst xmlns:a="http://schemas.openxmlformats.org/drawingml/2006/main">
              <a:ext uri="{FF2B5EF4-FFF2-40B4-BE49-F238E27FC236}">
                <a16:creationId xmlns:a16="http://schemas.microsoft.com/office/drawing/2014/main" id="{8608B55D-DAC7-4907-9781-2E025B7C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85420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5" name="Ellipse 65">
            <a:extLst xmlns:a="http://schemas.openxmlformats.org/drawingml/2006/main">
              <a:ext uri="{FF2B5EF4-FFF2-40B4-BE49-F238E27FC236}">
                <a16:creationId xmlns:a16="http://schemas.microsoft.com/office/drawing/2014/main" id="{BEC788FA-E722-4936-8D4F-64A340A8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95921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" name="Ellipse 66">
            <a:extLst xmlns:a="http://schemas.openxmlformats.org/drawingml/2006/main">
              <a:ext uri="{FF2B5EF4-FFF2-40B4-BE49-F238E27FC236}">
                <a16:creationId xmlns:a16="http://schemas.microsoft.com/office/drawing/2014/main" id="{36632E0F-AED3-4CB2-97AF-DB1E07EA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0467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Ellipse 67">
            <a:extLst xmlns:a="http://schemas.openxmlformats.org/drawingml/2006/main">
              <a:ext uri="{FF2B5EF4-FFF2-40B4-BE49-F238E27FC236}">
                <a16:creationId xmlns:a16="http://schemas.microsoft.com/office/drawing/2014/main" id="{22D90DE9-3DDA-48D8-A93E-EF6379F2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5012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8" name="Ellipse 68">
            <a:extLst xmlns:a="http://schemas.openxmlformats.org/drawingml/2006/main">
              <a:ext uri="{FF2B5EF4-FFF2-40B4-BE49-F238E27FC236}">
                <a16:creationId xmlns:a16="http://schemas.microsoft.com/office/drawing/2014/main" id="{36DF4D48-1B72-446F-95D3-6A3CE9F7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59558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9" name="Ellipse 69">
            <a:extLst xmlns:a="http://schemas.openxmlformats.org/drawingml/2006/main">
              <a:ext uri="{FF2B5EF4-FFF2-40B4-BE49-F238E27FC236}">
                <a16:creationId xmlns:a16="http://schemas.microsoft.com/office/drawing/2014/main" id="{DEE69E45-E13A-45F5-9E6D-84C1612F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14103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Ellipse 70">
            <a:extLst xmlns:a="http://schemas.openxmlformats.org/drawingml/2006/main">
              <a:ext uri="{FF2B5EF4-FFF2-40B4-BE49-F238E27FC236}">
                <a16:creationId xmlns:a16="http://schemas.microsoft.com/office/drawing/2014/main" id="{0B3F05DB-9EDA-4A1F-A8C4-52341C6E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68649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TextBox 71">
            <a:extLst xmlns:a="http://schemas.openxmlformats.org/drawingml/2006/main">
              <a:ext uri="{FF2B5EF4-FFF2-40B4-BE49-F238E27FC236}">
                <a16:creationId xmlns:a16="http://schemas.microsoft.com/office/drawing/2014/main" id="{7BCA7268-8C2D-4318-8E3C-4FAE0E60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9286" y="171264"/>
            <a:ext cx="7006270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2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Research routes in Time-Series Agent systems</a:t>
            </a:r>
            <a:endParaRPr sz="2120"/>
          </a:p>
        </p:txBody>
      </p:sp>
      <p:sp>
        <p:nvSpPr>
          <p:cNvPr id="72" name="TextBox 72">
            <a:extLst xmlns:a="http://schemas.openxmlformats.org/drawingml/2006/main">
              <a:ext uri="{FF2B5EF4-FFF2-40B4-BE49-F238E27FC236}">
                <a16:creationId xmlns:a16="http://schemas.microsoft.com/office/drawing/2014/main" id="{B6A26EF7-6EC8-434E-A054-9099394F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4856" y="560502"/>
            <a:ext cx="7629049" cy="2802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20" b="1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Representative module contributions by first public year | LLM and Harness layers</a:t>
            </a:r>
            <a:endParaRPr sz="1320"/>
          </a:p>
        </p:txBody>
      </p:sp>
      <p:sp>
        <p:nvSpPr>
          <p:cNvPr id="73" name="TextBox 73">
            <a:extLst xmlns:a="http://schemas.openxmlformats.org/drawingml/2006/main">
              <a:ext uri="{FF2B5EF4-FFF2-40B4-BE49-F238E27FC236}">
                <a16:creationId xmlns:a16="http://schemas.microsoft.com/office/drawing/2014/main" id="{A3D07DBA-A63C-4F88-A8FE-03C41781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B9832E"/>
                </a:solidFill>
                <a:latin typeface="PingFang SC"/>
                <a:ea typeface="PingFang SC"/>
                <a:cs typeface="PingFang SC"/>
              </a:rPr>
              <a:t>LLM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B9832E"/>
                </a:solidFill>
                <a:latin typeface="PingFang SC"/>
                <a:ea typeface="PingFang SC"/>
                <a:cs typeface="PingFang SC"/>
              </a:rPr>
              <a:t>side</a:t>
            </a:r>
            <a:endParaRPr sz="1310"/>
          </a:p>
        </p:txBody>
      </p:sp>
      <p:sp>
        <p:nvSpPr>
          <p:cNvPr id="74" name="TextBox 74">
            <a:extLst xmlns:a="http://schemas.openxmlformats.org/drawingml/2006/main">
              <a:ext uri="{FF2B5EF4-FFF2-40B4-BE49-F238E27FC236}">
                <a16:creationId xmlns:a16="http://schemas.microsoft.com/office/drawing/2014/main" id="{88E49201-CB79-49A1-B9F2-2FB06DBF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Representation</a:t>
            </a:r>
            <a:endParaRPr sz="910"/>
          </a:p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Alignment</a:t>
            </a:r>
            <a:endParaRPr sz="910"/>
          </a:p>
        </p:txBody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2B7A39BE-E4FD-4AB6-BEFD-D593D625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C8D76"/>
                </a:solidFill>
                <a:latin typeface="PingFang SC"/>
                <a:ea typeface="PingFang SC"/>
                <a:cs typeface="PingFang SC"/>
              </a:rPr>
              <a:t>General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C8D76"/>
                </a:solidFill>
                <a:latin typeface="PingFang SC"/>
                <a:ea typeface="PingFang SC"/>
                <a:cs typeface="PingFang SC"/>
              </a:rPr>
              <a:t>Harness</a:t>
            </a:r>
            <a:endParaRPr sz="1310"/>
          </a:p>
        </p:txBody>
      </p:sp>
      <p:sp>
        <p:nvSpPr>
          <p:cNvPr id="76" name="TextBox 76">
            <a:extLst xmlns:a="http://schemas.openxmlformats.org/drawingml/2006/main">
              <a:ext uri="{FF2B5EF4-FFF2-40B4-BE49-F238E27FC236}">
                <a16:creationId xmlns:a16="http://schemas.microsoft.com/office/drawing/2014/main" id="{380F0B8A-2F52-40E1-95F6-3C2569AF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Tools and memory</a:t>
            </a:r>
            <a:endParaRPr sz="819"/>
          </a:p>
          <a:p xmlns:a="http://schemas.openxmlformats.org/drawingml/2006/main">
            <a:pPr algn="ctr">
              <a:buNone/>
            </a:pPr>
            <a:r>
              <a:rPr sz="819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Control and planning</a:t>
            </a:r>
            <a:endParaRPr sz="819"/>
          </a:p>
        </p:txBody>
      </p:sp>
      <p:sp>
        <p:nvSpPr>
          <p:cNvPr id="77" name="TextBox 77">
            <a:extLst xmlns:a="http://schemas.openxmlformats.org/drawingml/2006/main">
              <a:ext uri="{FF2B5EF4-FFF2-40B4-BE49-F238E27FC236}">
                <a16:creationId xmlns:a16="http://schemas.microsoft.com/office/drawing/2014/main" id="{CBFA932E-9D13-4D24-AB57-FDAF4195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F7BAD"/>
                </a:solidFill>
                <a:latin typeface="PingFang SC"/>
                <a:ea typeface="PingFang SC"/>
                <a:cs typeface="PingFang SC"/>
              </a:rPr>
              <a:t>General Time-Series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F7BAD"/>
                </a:solidFill>
                <a:latin typeface="PingFang SC"/>
                <a:ea typeface="PingFang SC"/>
                <a:cs typeface="PingFang SC"/>
              </a:rPr>
              <a:t>Harness</a:t>
            </a:r>
            <a:endParaRPr sz="1310"/>
          </a:p>
        </p:txBody>
      </p:sp>
      <p:sp>
        <p:nvSpPr>
          <p:cNvPr id="78" name="TextBox 78">
            <a:extLst xmlns:a="http://schemas.openxmlformats.org/drawingml/2006/main">
              <a:ext uri="{FF2B5EF4-FFF2-40B4-BE49-F238E27FC236}">
                <a16:creationId xmlns:a16="http://schemas.microsoft.com/office/drawing/2014/main" id="{0AD38F89-D26A-43CE-B35F-F3494F12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Temporal state</a:t>
            </a:r>
            <a:endParaRPr sz="910"/>
          </a:p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Operations and grounding</a:t>
            </a:r>
            <a:endParaRPr sz="910"/>
          </a:p>
        </p:txBody>
      </p:sp>
      <p:sp>
        <p:nvSpPr>
          <p:cNvPr id="79" name="TextBox 79">
            <a:extLst xmlns:a="http://schemas.openxmlformats.org/drawingml/2006/main">
              <a:ext uri="{FF2B5EF4-FFF2-40B4-BE49-F238E27FC236}">
                <a16:creationId xmlns:a16="http://schemas.microsoft.com/office/drawing/2014/main" id="{85D1669D-D334-472D-BDAE-02AF65D1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C16A58"/>
                </a:solidFill>
                <a:latin typeface="PingFang SC"/>
                <a:ea typeface="PingFang SC"/>
                <a:cs typeface="PingFang SC"/>
              </a:rPr>
              <a:t>Task-Specific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C16A58"/>
                </a:solidFill>
                <a:latin typeface="PingFang SC"/>
                <a:ea typeface="PingFang SC"/>
                <a:cs typeface="PingFang SC"/>
              </a:rPr>
              <a:t>Harness</a:t>
            </a:r>
            <a:endParaRPr sz="1310"/>
          </a:p>
        </p:txBody>
      </p:sp>
      <p:sp>
        <p:nvSpPr>
          <p:cNvPr id="80" name="TextBox 80">
            <a:extLst xmlns:a="http://schemas.openxmlformats.org/drawingml/2006/main">
              <a:ext uri="{FF2B5EF4-FFF2-40B4-BE49-F238E27FC236}">
                <a16:creationId xmlns:a16="http://schemas.microsoft.com/office/drawing/2014/main" id="{CF0A2A41-1D12-4277-A8BB-EB4B0DE6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Forecasting and prediction</a:t>
            </a:r>
            <a:endParaRPr sz="860"/>
          </a:p>
          <a:p xmlns:a="http://schemas.openxmlformats.org/drawingml/2006/main">
            <a:pPr algn="ctr">
              <a:buNone/>
            </a:pPr>
            <a:r>
              <a:rPr sz="86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Anomaly and diagnosis</a:t>
            </a:r>
            <a:endParaRPr sz="860"/>
          </a:p>
        </p:txBody>
      </p:sp>
      <p:sp>
        <p:nvSpPr>
          <p:cNvPr id="81" name="TextBox 81">
            <a:extLst xmlns:a="http://schemas.openxmlformats.org/drawingml/2006/main">
              <a:ext uri="{FF2B5EF4-FFF2-40B4-BE49-F238E27FC236}">
                <a16:creationId xmlns:a16="http://schemas.microsoft.com/office/drawing/2014/main" id="{5B0BF8E7-B363-410C-8D52-3CA77293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8561A3"/>
                </a:solidFill>
                <a:latin typeface="PingFang SC"/>
                <a:ea typeface="PingFang SC"/>
                <a:cs typeface="PingFang SC"/>
              </a:rPr>
              <a:t>Infrastructure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8561A3"/>
                </a:solidFill>
                <a:latin typeface="PingFang SC"/>
                <a:ea typeface="PingFang SC"/>
                <a:cs typeface="PingFang SC"/>
              </a:rPr>
              <a:t>and benchmarks</a:t>
            </a:r>
            <a:endParaRPr sz="1310"/>
          </a:p>
        </p:txBody>
      </p:sp>
      <p:sp>
        <p:nvSpPr>
          <p:cNvPr id="82" name="TextBox 82">
            <a:extLst xmlns:a="http://schemas.openxmlformats.org/drawingml/2006/main">
              <a:ext uri="{FF2B5EF4-FFF2-40B4-BE49-F238E27FC236}">
                <a16:creationId xmlns:a16="http://schemas.microsoft.com/office/drawing/2014/main" id="{13D76A88-FC2F-43C0-947F-D4A2B60B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Episodes, traces</a:t>
            </a:r>
            <a:endParaRPr sz="910"/>
          </a:p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TimeSeriesGym and ModernTSF</a:t>
            </a:r>
            <a:endParaRPr sz="910"/>
          </a:p>
        </p:txBody>
      </p:sp>
      <p:sp>
        <p:nvSpPr>
          <p:cNvPr id="83" name="TextBox 83">
            <a:extLst xmlns:a="http://schemas.openxmlformats.org/drawingml/2006/main">
              <a:ext uri="{FF2B5EF4-FFF2-40B4-BE49-F238E27FC236}">
                <a16:creationId xmlns:a16="http://schemas.microsoft.com/office/drawing/2014/main" id="{B33056DA-C3D9-47CA-AFB4-384C7D71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B8791"/>
                </a:solidFill>
                <a:latin typeface="PingFang SC"/>
                <a:ea typeface="PingFang SC"/>
                <a:cs typeface="PingFang SC"/>
              </a:rPr>
              <a:t>Paper-card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B8791"/>
                </a:solidFill>
                <a:latin typeface="PingFang SC"/>
                <a:ea typeface="PingFang SC"/>
                <a:cs typeface="PingFang SC"/>
              </a:rPr>
              <a:t>database</a:t>
            </a:r>
            <a:endParaRPr sz="1310"/>
          </a:p>
        </p:txBody>
      </p:sp>
      <p:sp>
        <p:nvSpPr>
          <p:cNvPr id="84" name="TextBox 84">
            <a:extLst xmlns:a="http://schemas.openxmlformats.org/drawingml/2006/main">
              <a:ext uri="{FF2B5EF4-FFF2-40B4-BE49-F238E27FC236}">
                <a16:creationId xmlns:a16="http://schemas.microsoft.com/office/drawing/2014/main" id="{93CD7C23-B1A2-493E-B2CB-4BCA3272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Claim, evidence</a:t>
            </a:r>
            <a:endParaRPr sz="860"/>
          </a:p>
          <a:p xmlns:a="http://schemas.openxmlformats.org/drawingml/2006/main">
            <a:pPr algn="ctr">
              <a:buNone/>
            </a:pPr>
            <a:r>
              <a:rPr sz="86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module-level counts</a:t>
            </a:r>
            <a:endParaRPr sz="860"/>
          </a:p>
        </p:txBody>
      </p:sp>
      <p:sp>
        <p:nvSpPr>
          <p:cNvPr id="85" name="TextBox 85">
            <a:extLst xmlns:a="http://schemas.openxmlformats.org/drawingml/2006/main">
              <a:ext uri="{FF2B5EF4-FFF2-40B4-BE49-F238E27FC236}">
                <a16:creationId xmlns:a16="http://schemas.microsoft.com/office/drawing/2014/main" id="{9905A4CC-D923-45DE-B147-9884625D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8147" y="2242006"/>
            <a:ext cx="544932" cy="233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424B5B"/>
                </a:solidFill>
                <a:latin typeface="PingFang SC"/>
                <a:ea typeface="PingFang SC"/>
                <a:cs typeface="PingFang SC"/>
              </a:rPr>
              <a:t>2026</a:t>
            </a:r>
            <a:endParaRPr sz="1400"/>
          </a:p>
        </p:txBody>
      </p:sp>
      <p:sp>
        <p:nvSpPr>
          <p:cNvPr id="86" name="TextBox 86">
            <a:extLst xmlns:a="http://schemas.openxmlformats.org/drawingml/2006/main">
              <a:ext uri="{FF2B5EF4-FFF2-40B4-BE49-F238E27FC236}">
                <a16:creationId xmlns:a16="http://schemas.microsoft.com/office/drawing/2014/main" id="{2FC677E1-6833-4D8A-9DC5-611705CC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8147" y="3954650"/>
            <a:ext cx="544932" cy="233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424B5B"/>
                </a:solidFill>
                <a:latin typeface="PingFang SC"/>
                <a:ea typeface="PingFang SC"/>
                <a:cs typeface="PingFang SC"/>
              </a:rPr>
              <a:t>2025</a:t>
            </a:r>
            <a:endParaRPr sz="1400"/>
          </a:p>
        </p:txBody>
      </p:sp>
      <p:sp>
        <p:nvSpPr>
          <p:cNvPr id="87" name="TextBox 87">
            <a:extLst xmlns:a="http://schemas.openxmlformats.org/drawingml/2006/main">
              <a:ext uri="{FF2B5EF4-FFF2-40B4-BE49-F238E27FC236}">
                <a16:creationId xmlns:a16="http://schemas.microsoft.com/office/drawing/2014/main" id="{686B6C7D-6ADD-4F3D-821F-C3523067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8147" y="5667294"/>
            <a:ext cx="544932" cy="233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424B5B"/>
                </a:solidFill>
                <a:latin typeface="PingFang SC"/>
                <a:ea typeface="PingFang SC"/>
                <a:cs typeface="PingFang SC"/>
              </a:rPr>
              <a:t>2024</a:t>
            </a:r>
            <a:endParaRPr sz="1400"/>
          </a:p>
        </p:txBody>
      </p:sp>
      <p:sp>
        <p:nvSpPr>
          <p:cNvPr id="88" name="TextBox 88">
            <a:extLst xmlns:a="http://schemas.openxmlformats.org/drawingml/2006/main">
              <a:ext uri="{FF2B5EF4-FFF2-40B4-BE49-F238E27FC236}">
                <a16:creationId xmlns:a16="http://schemas.microsoft.com/office/drawing/2014/main" id="{A9A577B4-73E9-4F10-A29E-CB1FD5AE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8147" y="7379938"/>
            <a:ext cx="544932" cy="233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424B5B"/>
                </a:solidFill>
                <a:latin typeface="PingFang SC"/>
                <a:ea typeface="PingFang SC"/>
                <a:cs typeface="PingFang SC"/>
              </a:rPr>
              <a:t>2023</a:t>
            </a:r>
            <a:endParaRPr sz="1400"/>
          </a:p>
        </p:txBody>
      </p:sp>
      <p:sp>
        <p:nvSpPr>
          <p:cNvPr id="89" name="TextBox 89">
            <a:extLst xmlns:a="http://schemas.openxmlformats.org/drawingml/2006/main">
              <a:ext uri="{FF2B5EF4-FFF2-40B4-BE49-F238E27FC236}">
                <a16:creationId xmlns:a16="http://schemas.microsoft.com/office/drawing/2014/main" id="{03B3AD24-6906-4FC5-BDBA-53E53A48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8147" y="9092581"/>
            <a:ext cx="544932" cy="233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424B5B"/>
                </a:solidFill>
                <a:latin typeface="PingFang SC"/>
                <a:ea typeface="PingFang SC"/>
                <a:cs typeface="PingFang SC"/>
              </a:rPr>
              <a:t>2022</a:t>
            </a:r>
            <a:endParaRPr sz="1400"/>
          </a:p>
        </p:txBody>
      </p:sp>
      <p:sp>
        <p:nvSpPr>
          <p:cNvPr id="90" name="TextBox 90">
            <a:extLst xmlns:a="http://schemas.openxmlformats.org/drawingml/2006/main">
              <a:ext uri="{FF2B5EF4-FFF2-40B4-BE49-F238E27FC236}">
                <a16:creationId xmlns:a16="http://schemas.microsoft.com/office/drawing/2014/main" id="{717FB9EB-3117-4BFE-B26C-412FD8C1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364326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ChatTS</a:t>
            </a:r>
            <a:endParaRPr sz="1100"/>
          </a:p>
        </p:txBody>
      </p:sp>
      <p:sp>
        <p:nvSpPr>
          <p:cNvPr id="91" name="TextBox 91">
            <a:extLst xmlns:a="http://schemas.openxmlformats.org/drawingml/2006/main">
              <a:ext uri="{FF2B5EF4-FFF2-40B4-BE49-F238E27FC236}">
                <a16:creationId xmlns:a16="http://schemas.microsoft.com/office/drawing/2014/main" id="{26022333-4AC3-414F-AC99-867AF8D3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391572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Time-LLM</a:t>
            </a:r>
            <a:endParaRPr sz="1100"/>
          </a:p>
        </p:txBody>
      </p:sp>
      <p:sp>
        <p:nvSpPr>
          <p:cNvPr id="92" name="TextBox 92">
            <a:extLst xmlns:a="http://schemas.openxmlformats.org/drawingml/2006/main">
              <a:ext uri="{FF2B5EF4-FFF2-40B4-BE49-F238E27FC236}">
                <a16:creationId xmlns:a16="http://schemas.microsoft.com/office/drawing/2014/main" id="{7E02D438-B835-4BA7-9126-813FE7CC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590083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LLM4TS</a:t>
            </a:r>
            <a:endParaRPr sz="1100"/>
          </a:p>
        </p:txBody>
      </p:sp>
      <p:sp>
        <p:nvSpPr>
          <p:cNvPr id="93" name="TextBox 93">
            <a:extLst xmlns:a="http://schemas.openxmlformats.org/drawingml/2006/main">
              <a:ext uri="{FF2B5EF4-FFF2-40B4-BE49-F238E27FC236}">
                <a16:creationId xmlns:a16="http://schemas.microsoft.com/office/drawing/2014/main" id="{051AD566-61F3-4101-9C13-8715CCBF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535590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TimeMaster</a:t>
            </a:r>
            <a:endParaRPr sz="1100"/>
          </a:p>
        </p:txBody>
      </p:sp>
      <p:sp>
        <p:nvSpPr>
          <p:cNvPr id="94" name="TextBox 94">
            <a:extLst xmlns:a="http://schemas.openxmlformats.org/drawingml/2006/main">
              <a:ext uri="{FF2B5EF4-FFF2-40B4-BE49-F238E27FC236}">
                <a16:creationId xmlns:a16="http://schemas.microsoft.com/office/drawing/2014/main" id="{47797FCB-33FD-4BF2-8B37-0578C989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562837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TS-Agent</a:t>
            </a:r>
            <a:endParaRPr sz="1100"/>
          </a:p>
        </p:txBody>
      </p:sp>
      <p:sp>
        <p:nvSpPr>
          <p:cNvPr id="95" name="TextBox 95">
            <a:extLst xmlns:a="http://schemas.openxmlformats.org/drawingml/2006/main">
              <a:ext uri="{FF2B5EF4-FFF2-40B4-BE49-F238E27FC236}">
                <a16:creationId xmlns:a16="http://schemas.microsoft.com/office/drawing/2014/main" id="{6A8E4A98-48CD-43DB-933C-F653607F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590083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TimeART</a:t>
            </a:r>
            <a:endParaRPr sz="1100"/>
          </a:p>
        </p:txBody>
      </p:sp>
      <p:sp>
        <p:nvSpPr>
          <p:cNvPr id="96" name="TextBox 96">
            <a:extLst xmlns:a="http://schemas.openxmlformats.org/drawingml/2006/main">
              <a:ext uri="{FF2B5EF4-FFF2-40B4-BE49-F238E27FC236}">
                <a16:creationId xmlns:a16="http://schemas.microsoft.com/office/drawing/2014/main" id="{EB55950D-3875-46AE-8A77-6261D0FA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7068548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AION</a:t>
            </a:r>
            <a:endParaRPr sz="1100"/>
          </a:p>
        </p:txBody>
      </p:sp>
      <p:sp>
        <p:nvSpPr>
          <p:cNvPr id="97" name="TextBox 97">
            <a:extLst xmlns:a="http://schemas.openxmlformats.org/drawingml/2006/main">
              <a:ext uri="{FF2B5EF4-FFF2-40B4-BE49-F238E27FC236}">
                <a16:creationId xmlns:a16="http://schemas.microsoft.com/office/drawing/2014/main" id="{6B01CB6D-09A2-4B31-B04E-D4B4523E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734101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TimeClaw</a:t>
            </a:r>
            <a:endParaRPr sz="1100"/>
          </a:p>
        </p:txBody>
      </p:sp>
      <p:sp>
        <p:nvSpPr>
          <p:cNvPr id="98" name="TextBox 98">
            <a:extLst xmlns:a="http://schemas.openxmlformats.org/drawingml/2006/main">
              <a:ext uri="{FF2B5EF4-FFF2-40B4-BE49-F238E27FC236}">
                <a16:creationId xmlns:a16="http://schemas.microsoft.com/office/drawing/2014/main" id="{682BF64A-522F-43D0-91B5-075CA563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932612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Memory Bank</a:t>
            </a:r>
            <a:endParaRPr sz="1100"/>
          </a:p>
        </p:txBody>
      </p:sp>
      <p:sp>
        <p:nvSpPr>
          <p:cNvPr id="99" name="TextBox 99">
            <a:extLst xmlns:a="http://schemas.openxmlformats.org/drawingml/2006/main">
              <a:ext uri="{FF2B5EF4-FFF2-40B4-BE49-F238E27FC236}">
                <a16:creationId xmlns:a16="http://schemas.microsoft.com/office/drawing/2014/main" id="{6BAF0E5D-E6EB-4918-9BF3-9759ED1C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8781191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Reflection</a:t>
            </a:r>
            <a:endParaRPr sz="1100"/>
          </a:p>
        </p:txBody>
      </p:sp>
      <p:sp>
        <p:nvSpPr>
          <p:cNvPr id="100" name="TextBox 100">
            <a:extLst xmlns:a="http://schemas.openxmlformats.org/drawingml/2006/main">
              <a:ext uri="{FF2B5EF4-FFF2-40B4-BE49-F238E27FC236}">
                <a16:creationId xmlns:a16="http://schemas.microsoft.com/office/drawing/2014/main" id="{9FD76114-88AB-4B88-9E35-D7090587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364326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TimeCAP</a:t>
            </a:r>
            <a:endParaRPr sz="1100"/>
          </a:p>
        </p:txBody>
      </p:sp>
      <p:sp>
        <p:nvSpPr>
          <p:cNvPr id="101" name="TextBox 101">
            <a:extLst xmlns:a="http://schemas.openxmlformats.org/drawingml/2006/main">
              <a:ext uri="{FF2B5EF4-FFF2-40B4-BE49-F238E27FC236}">
                <a16:creationId xmlns:a16="http://schemas.microsoft.com/office/drawing/2014/main" id="{AD75A669-7310-4931-801B-FE52606C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391572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Temporal grounding</a:t>
            </a:r>
            <a:endParaRPr sz="1100"/>
          </a:p>
        </p:txBody>
      </p:sp>
      <p:sp>
        <p:nvSpPr>
          <p:cNvPr id="102" name="TextBox 102">
            <a:extLst xmlns:a="http://schemas.openxmlformats.org/drawingml/2006/main">
              <a:ext uri="{FF2B5EF4-FFF2-40B4-BE49-F238E27FC236}">
                <a16:creationId xmlns:a16="http://schemas.microsoft.com/office/drawing/2014/main" id="{85E45988-C6EC-4545-AA29-5B40E5DF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4188192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Forecasting</a:t>
            </a:r>
            <a:endParaRPr sz="1100"/>
          </a:p>
        </p:txBody>
      </p:sp>
      <p:sp>
        <p:nvSpPr>
          <p:cNvPr id="103" name="TextBox 103">
            <a:extLst xmlns:a="http://schemas.openxmlformats.org/drawingml/2006/main">
              <a:ext uri="{FF2B5EF4-FFF2-40B4-BE49-F238E27FC236}">
                <a16:creationId xmlns:a16="http://schemas.microsoft.com/office/drawing/2014/main" id="{E9D46C6A-A099-4DCA-8CAD-7B3C8103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535590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Anomaly diagnosis</a:t>
            </a:r>
            <a:endParaRPr sz="1100"/>
          </a:p>
        </p:txBody>
      </p:sp>
      <p:sp>
        <p:nvSpPr>
          <p:cNvPr id="104" name="TextBox 104">
            <a:extLst xmlns:a="http://schemas.openxmlformats.org/drawingml/2006/main">
              <a:ext uri="{FF2B5EF4-FFF2-40B4-BE49-F238E27FC236}">
                <a16:creationId xmlns:a16="http://schemas.microsoft.com/office/drawing/2014/main" id="{EFAC21CA-3776-4B3A-938E-46D1E3DF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1930617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Augmentation</a:t>
            </a:r>
            <a:endParaRPr sz="1100"/>
          </a:p>
        </p:txBody>
      </p:sp>
      <p:sp>
        <p:nvSpPr>
          <p:cNvPr id="105" name="TextBox 105">
            <a:extLst xmlns:a="http://schemas.openxmlformats.org/drawingml/2006/main">
              <a:ext uri="{FF2B5EF4-FFF2-40B4-BE49-F238E27FC236}">
                <a16:creationId xmlns:a16="http://schemas.microsoft.com/office/drawing/2014/main" id="{5DACA3B4-7992-449A-9EDE-7D1944EA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391572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8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Decision support</a:t>
            </a:r>
            <a:endParaRPr sz="980"/>
          </a:p>
        </p:txBody>
      </p:sp>
      <p:sp>
        <p:nvSpPr>
          <p:cNvPr id="106" name="TextBox 106">
            <a:extLst xmlns:a="http://schemas.openxmlformats.org/drawingml/2006/main">
              <a:ext uri="{FF2B5EF4-FFF2-40B4-BE49-F238E27FC236}">
                <a16:creationId xmlns:a16="http://schemas.microsoft.com/office/drawing/2014/main" id="{0777CA3A-6846-4AE0-B883-1EFAA45A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4188192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ModernTSF</a:t>
            </a:r>
            <a:endParaRPr sz="1100"/>
          </a:p>
        </p:txBody>
      </p:sp>
      <p:sp>
        <p:nvSpPr>
          <p:cNvPr id="107" name="TextBox 107">
            <a:extLst xmlns:a="http://schemas.openxmlformats.org/drawingml/2006/main">
              <a:ext uri="{FF2B5EF4-FFF2-40B4-BE49-F238E27FC236}">
                <a16:creationId xmlns:a16="http://schemas.microsoft.com/office/drawing/2014/main" id="{917E87AF-EB9F-46D6-8DCE-2F92C440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7068548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TimeSeriesGym</a:t>
            </a:r>
            <a:endParaRPr sz="1100"/>
          </a:p>
        </p:txBody>
      </p:sp>
      <p:sp>
        <p:nvSpPr>
          <p:cNvPr id="108" name="TextBox 108">
            <a:extLst xmlns:a="http://schemas.openxmlformats.org/drawingml/2006/main">
              <a:ext uri="{FF2B5EF4-FFF2-40B4-BE49-F238E27FC236}">
                <a16:creationId xmlns:a16="http://schemas.microsoft.com/office/drawing/2014/main" id="{F580FF27-3256-472C-9897-7D216985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734101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TFRBench</a:t>
            </a:r>
            <a:endParaRPr sz="1100"/>
          </a:p>
        </p:txBody>
      </p:sp>
      <p:sp>
        <p:nvSpPr>
          <p:cNvPr id="109" name="TextBox 109">
            <a:extLst xmlns:a="http://schemas.openxmlformats.org/drawingml/2006/main">
              <a:ext uri="{FF2B5EF4-FFF2-40B4-BE49-F238E27FC236}">
                <a16:creationId xmlns:a16="http://schemas.microsoft.com/office/drawing/2014/main" id="{7FAF86D5-CB93-4795-9C77-F699D39C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761348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TSQBench</a:t>
            </a:r>
            <a:endParaRPr sz="1100"/>
          </a:p>
        </p:txBody>
      </p:sp>
      <p:sp>
        <p:nvSpPr>
          <p:cNvPr id="110" name="TextBox 110">
            <a:extLst xmlns:a="http://schemas.openxmlformats.org/drawingml/2006/main">
              <a:ext uri="{FF2B5EF4-FFF2-40B4-BE49-F238E27FC236}">
                <a16:creationId xmlns:a16="http://schemas.microsoft.com/office/drawing/2014/main" id="{287E902D-5932-46B0-BC16-53272063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1930617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TS-Agent</a:t>
            </a:r>
            <a:endParaRPr sz="1100"/>
          </a:p>
        </p:txBody>
      </p:sp>
      <p:sp>
        <p:nvSpPr>
          <p:cNvPr id="111" name="TextBox 111">
            <a:extLst xmlns:a="http://schemas.openxmlformats.org/drawingml/2006/main">
              <a:ext uri="{FF2B5EF4-FFF2-40B4-BE49-F238E27FC236}">
                <a16:creationId xmlns:a16="http://schemas.microsoft.com/office/drawing/2014/main" id="{F886E98F-F258-44D9-AFE6-E5C034B9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391572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TimeART</a:t>
            </a:r>
            <a:endParaRPr sz="1100"/>
          </a:p>
        </p:txBody>
      </p:sp>
      <p:sp>
        <p:nvSpPr>
          <p:cNvPr id="112" name="TextBox 112">
            <a:extLst xmlns:a="http://schemas.openxmlformats.org/drawingml/2006/main">
              <a:ext uri="{FF2B5EF4-FFF2-40B4-BE49-F238E27FC236}">
                <a16:creationId xmlns:a16="http://schemas.microsoft.com/office/drawing/2014/main" id="{BCD25125-B23B-4FCD-BDD7-72A2ADE0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4188192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AION</a:t>
            </a:r>
            <a:endParaRPr sz="1100"/>
          </a:p>
        </p:txBody>
      </p:sp>
      <p:sp>
        <p:nvSpPr>
          <p:cNvPr id="113" name="TextBox 113">
            <a:extLst xmlns:a="http://schemas.openxmlformats.org/drawingml/2006/main">
              <a:ext uri="{FF2B5EF4-FFF2-40B4-BE49-F238E27FC236}">
                <a16:creationId xmlns:a16="http://schemas.microsoft.com/office/drawing/2014/main" id="{0AF53075-9D08-4FA4-B8F4-F7A2A208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364326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TimeClaw</a:t>
            </a:r>
            <a:endParaRPr sz="1100"/>
          </a:p>
        </p:txBody>
      </p:sp>
      <p:sp>
        <p:nvSpPr>
          <p:cNvPr id="114" name="TextBox 114">
            <a:extLst xmlns:a="http://schemas.openxmlformats.org/drawingml/2006/main">
              <a:ext uri="{FF2B5EF4-FFF2-40B4-BE49-F238E27FC236}">
                <a16:creationId xmlns:a16="http://schemas.microsoft.com/office/drawing/2014/main" id="{9041DEAB-0581-4264-AFFC-B834D59D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562837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TimeCAP</a:t>
            </a:r>
            <a:endParaRPr sz="1100"/>
          </a:p>
        </p:txBody>
      </p:sp>
      <p:sp>
        <p:nvSpPr>
          <p:cNvPr id="115" name="TextBox 115">
            <a:extLst xmlns:a="http://schemas.openxmlformats.org/drawingml/2006/main">
              <a:ext uri="{FF2B5EF4-FFF2-40B4-BE49-F238E27FC236}">
                <a16:creationId xmlns:a16="http://schemas.microsoft.com/office/drawing/2014/main" id="{7FCF7E4A-AE0C-4E6B-8A44-9CF5C270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590083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TFRBench</a:t>
            </a:r>
            <a:endParaRPr sz="1100"/>
          </a:p>
        </p:txBody>
      </p:sp>
      <p:sp>
        <p:nvSpPr>
          <p:cNvPr id="116" name="TextBox 116">
            <a:extLst xmlns:a="http://schemas.openxmlformats.org/drawingml/2006/main">
              <a:ext uri="{FF2B5EF4-FFF2-40B4-BE49-F238E27FC236}">
                <a16:creationId xmlns:a16="http://schemas.microsoft.com/office/drawing/2014/main" id="{9F0C990B-5AE1-4367-BC0F-1AF618F7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535590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TSQBench</a:t>
            </a:r>
            <a:endParaRPr sz="1100"/>
          </a:p>
        </p:txBody>
      </p:sp>
      <p:sp>
        <p:nvSpPr>
          <p:cNvPr id="117" name="TextBox 117">
            <a:extLst xmlns:a="http://schemas.openxmlformats.org/drawingml/2006/main">
              <a:ext uri="{FF2B5EF4-FFF2-40B4-BE49-F238E27FC236}">
                <a16:creationId xmlns:a16="http://schemas.microsoft.com/office/drawing/2014/main" id="{ED5C4A7F-8F16-48FC-9F39-8BFFEC41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734101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ModernTSF</a:t>
            </a:r>
            <a:endParaRPr sz="1100"/>
          </a:p>
        </p:txBody>
      </p:sp>
      <p:sp>
        <p:nvSpPr>
          <p:cNvPr id="118" name="TextBox 118">
            <a:extLst xmlns:a="http://schemas.openxmlformats.org/drawingml/2006/main">
              <a:ext uri="{FF2B5EF4-FFF2-40B4-BE49-F238E27FC236}">
                <a16:creationId xmlns:a16="http://schemas.microsoft.com/office/drawing/2014/main" id="{3AC36031-E231-417A-AD56-475C41A8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761348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TimeSeriesGym</a:t>
            </a:r>
            <a:endParaRPr sz="1100"/>
          </a:p>
        </p:txBody>
      </p:sp>
      <p:sp>
        <p:nvSpPr>
          <p:cNvPr id="119" name="TextBox 119">
            <a:extLst xmlns:a="http://schemas.openxmlformats.org/drawingml/2006/main">
              <a:ext uri="{FF2B5EF4-FFF2-40B4-BE49-F238E27FC236}">
                <a16:creationId xmlns:a16="http://schemas.microsoft.com/office/drawing/2014/main" id="{327C525E-42F9-49BE-A720-2A0BA50A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364326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TraceBench</a:t>
            </a:r>
            <a:endParaRPr sz="800"/>
          </a:p>
        </p:txBody>
      </p:sp>
      <p:sp>
        <p:nvSpPr>
          <p:cNvPr id="120" name="TextBox 120">
            <a:extLst xmlns:a="http://schemas.openxmlformats.org/drawingml/2006/main">
              <a:ext uri="{FF2B5EF4-FFF2-40B4-BE49-F238E27FC236}">
                <a16:creationId xmlns:a16="http://schemas.microsoft.com/office/drawing/2014/main" id="{DB25BF1B-1F48-4333-BD9F-05634CEC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562837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Benchmark suite</a:t>
            </a:r>
            <a:endParaRPr sz="1100"/>
          </a:p>
        </p:txBody>
      </p:sp>
      <p:sp>
        <p:nvSpPr>
          <p:cNvPr id="121" name="TextBox 121">
            <a:extLst xmlns:a="http://schemas.openxmlformats.org/drawingml/2006/main">
              <a:ext uri="{FF2B5EF4-FFF2-40B4-BE49-F238E27FC236}">
                <a16:creationId xmlns:a16="http://schemas.microsoft.com/office/drawing/2014/main" id="{2AEE9150-5D4D-48D0-A062-3FD061E1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590083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Verify</a:t>
            </a:r>
            <a:endParaRPr sz="800"/>
          </a:p>
        </p:txBody>
      </p:sp>
      <p:sp>
        <p:nvSpPr>
          <p:cNvPr id="122" name="TextBox 122">
            <a:extLst xmlns:a="http://schemas.openxmlformats.org/drawingml/2006/main">
              <a:ext uri="{FF2B5EF4-FFF2-40B4-BE49-F238E27FC236}">
                <a16:creationId xmlns:a16="http://schemas.microsoft.com/office/drawing/2014/main" id="{FBC29D45-C397-4BED-9914-656F46E8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535590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Calib.</a:t>
            </a:r>
            <a:endParaRPr sz="1100"/>
          </a:p>
        </p:txBody>
      </p:sp>
      <p:sp>
        <p:nvSpPr>
          <p:cNvPr id="123" name="TextBox 123">
            <a:extLst xmlns:a="http://schemas.openxmlformats.org/drawingml/2006/main">
              <a:ext uri="{FF2B5EF4-FFF2-40B4-BE49-F238E27FC236}">
                <a16:creationId xmlns:a16="http://schemas.microsoft.com/office/drawing/2014/main" id="{BD665DDC-4D86-4DBA-A3A0-73FA32F9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562837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Audit</a:t>
            </a:r>
            <a:endParaRPr sz="1100"/>
          </a:p>
        </p:txBody>
      </p:sp>
      <p:sp>
        <p:nvSpPr>
          <p:cNvPr id="124" name="TextBox 124">
            <a:extLst xmlns:a="http://schemas.openxmlformats.org/drawingml/2006/main">
              <a:ext uri="{FF2B5EF4-FFF2-40B4-BE49-F238E27FC236}">
                <a16:creationId xmlns:a16="http://schemas.microsoft.com/office/drawing/2014/main" id="{FD32A8FB-8316-470E-87DB-C2422BE5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761348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Audit</a:t>
            </a:r>
            <a:endParaRPr sz="1100"/>
          </a:p>
        </p:txBody>
      </p:sp>
      <p:sp>
        <p:nvSpPr>
          <p:cNvPr id="125" name="TextBox 125">
            <a:extLst xmlns:a="http://schemas.openxmlformats.org/drawingml/2006/main">
              <a:ext uri="{FF2B5EF4-FFF2-40B4-BE49-F238E27FC236}">
                <a16:creationId xmlns:a16="http://schemas.microsoft.com/office/drawing/2014/main" id="{5E7E0B56-C761-4542-822E-4B846C56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8781191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4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Reproducibility</a:t>
            </a:r>
            <a:endParaRPr sz="1040"/>
          </a:p>
        </p:txBody>
      </p:sp>
      <p:sp>
        <p:nvSpPr>
          <p:cNvPr id="126" name="TextBox 126">
            <a:extLst xmlns:a="http://schemas.openxmlformats.org/drawingml/2006/main">
              <a:ext uri="{FF2B5EF4-FFF2-40B4-BE49-F238E27FC236}">
                <a16:creationId xmlns:a16="http://schemas.microsoft.com/office/drawing/2014/main" id="{5A217881-8763-4E84-8BEB-58FDEB75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1930617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Paper card</a:t>
            </a:r>
            <a:endParaRPr sz="1100"/>
          </a:p>
        </p:txBody>
      </p:sp>
      <p:sp>
        <p:nvSpPr>
          <p:cNvPr id="127" name="TextBox 127">
            <a:extLst xmlns:a="http://schemas.openxmlformats.org/drawingml/2006/main">
              <a:ext uri="{FF2B5EF4-FFF2-40B4-BE49-F238E27FC236}">
                <a16:creationId xmlns:a16="http://schemas.microsoft.com/office/drawing/2014/main" id="{879A68C3-3109-4B13-8237-7342850E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2203083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8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Ledger</a:t>
            </a:r>
            <a:endParaRPr sz="880"/>
          </a:p>
        </p:txBody>
      </p:sp>
      <p:sp>
        <p:nvSpPr>
          <p:cNvPr id="128" name="TextBox 128">
            <a:extLst xmlns:a="http://schemas.openxmlformats.org/drawingml/2006/main">
              <a:ext uri="{FF2B5EF4-FFF2-40B4-BE49-F238E27FC236}">
                <a16:creationId xmlns:a16="http://schemas.microsoft.com/office/drawing/2014/main" id="{45BC53FE-2889-48A0-B1FC-F5EA12D3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2475549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Module tags</a:t>
            </a:r>
            <a:endParaRPr sz="1100"/>
          </a:p>
        </p:txBody>
      </p:sp>
      <p:sp>
        <p:nvSpPr>
          <p:cNvPr id="129" name="TextBox 129">
            <a:extLst xmlns:a="http://schemas.openxmlformats.org/drawingml/2006/main">
              <a:ext uri="{FF2B5EF4-FFF2-40B4-BE49-F238E27FC236}">
                <a16:creationId xmlns:a16="http://schemas.microsoft.com/office/drawing/2014/main" id="{1E1BA642-6881-4750-9C6C-85E9ECAE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364326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Open tasks</a:t>
            </a:r>
            <a:endParaRPr sz="1100"/>
          </a:p>
        </p:txBody>
      </p:sp>
      <p:sp>
        <p:nvSpPr>
          <p:cNvPr id="130" name="TextBox 130">
            <a:extLst xmlns:a="http://schemas.openxmlformats.org/drawingml/2006/main">
              <a:ext uri="{FF2B5EF4-FFF2-40B4-BE49-F238E27FC236}">
                <a16:creationId xmlns:a16="http://schemas.microsoft.com/office/drawing/2014/main" id="{80E50F50-4C6D-4D04-B6EF-FF8EA547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391572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Case studies</a:t>
            </a:r>
            <a:endParaRPr sz="1100"/>
          </a:p>
        </p:txBody>
      </p:sp>
      <p:sp>
        <p:nvSpPr>
          <p:cNvPr id="131" name="TextBox 131">
            <a:extLst xmlns:a="http://schemas.openxmlformats.org/drawingml/2006/main">
              <a:ext uri="{FF2B5EF4-FFF2-40B4-BE49-F238E27FC236}">
                <a16:creationId xmlns:a16="http://schemas.microsoft.com/office/drawing/2014/main" id="{E2204054-C26F-4B76-9EB7-B97014BD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590083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Surveys</a:t>
            </a:r>
            <a:endParaRPr sz="1100"/>
          </a:p>
        </p:txBody>
      </p:sp>
      <p:sp>
        <p:nvSpPr>
          <p:cNvPr id="132" name="TextBox 132">
            <a:extLst xmlns:a="http://schemas.openxmlformats.org/drawingml/2006/main">
              <a:ext uri="{FF2B5EF4-FFF2-40B4-BE49-F238E27FC236}">
                <a16:creationId xmlns:a16="http://schemas.microsoft.com/office/drawing/2014/main" id="{A32BCD6A-B0B4-4DA1-9EA2-49BE9F6A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7068548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BibTeX</a:t>
            </a:r>
            <a:endParaRPr sz="1100"/>
          </a:p>
        </p:txBody>
      </p:sp>
      <p:sp>
        <p:nvSpPr>
          <p:cNvPr id="133" name="TextBox 133">
            <a:extLst xmlns:a="http://schemas.openxmlformats.org/drawingml/2006/main">
              <a:ext uri="{FF2B5EF4-FFF2-40B4-BE49-F238E27FC236}">
                <a16:creationId xmlns:a16="http://schemas.microsoft.com/office/drawing/2014/main" id="{F7B386CE-CDA9-4ED9-8952-7F395BFD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734101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Claims</a:t>
            </a:r>
            <a:endParaRPr sz="1100"/>
          </a:p>
        </p:txBody>
      </p:sp>
      <p:sp>
        <p:nvSpPr>
          <p:cNvPr id="134" name="TextBox 134">
            <a:extLst xmlns:a="http://schemas.openxmlformats.org/drawingml/2006/main">
              <a:ext uri="{FF2B5EF4-FFF2-40B4-BE49-F238E27FC236}">
                <a16:creationId xmlns:a16="http://schemas.microsoft.com/office/drawing/2014/main" id="{47028EB7-52A0-4B11-828E-494778DB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89913" y="9808778"/>
            <a:ext cx="2335423" cy="186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◫   2003 | Gödel Machine</a:t>
            </a:r>
            <a:endParaRPr sz="1100"/>
          </a:p>
        </p:txBody>
      </p:sp>
      <p:sp>
        <p:nvSpPr>
          <p:cNvPr id="135" name="TextBox 135">
            <a:extLst xmlns:a="http://schemas.openxmlformats.org/drawingml/2006/main">
              <a:ext uri="{FF2B5EF4-FFF2-40B4-BE49-F238E27FC236}">
                <a16:creationId xmlns:a16="http://schemas.microsoft.com/office/drawing/2014/main" id="{A02CE9F2-15CF-4081-ABF3-3C131C1E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81031" y="9808778"/>
            <a:ext cx="2568966" cy="186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◉   2016 | Learned optimizers</a:t>
            </a:r>
            <a:endParaRPr sz="1100"/>
          </a:p>
        </p:txBody>
      </p:sp>
      <p:sp>
        <p:nvSpPr>
          <p:cNvPr id="136" name="TextBox 136">
            <a:extLst xmlns:a="http://schemas.openxmlformats.org/drawingml/2006/main">
              <a:ext uri="{FF2B5EF4-FFF2-40B4-BE49-F238E27FC236}">
                <a16:creationId xmlns:a16="http://schemas.microsoft.com/office/drawing/2014/main" id="{B8A372B5-7627-4C9F-8138-0E5B1111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9234" y="9808778"/>
            <a:ext cx="1946186" cy="186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▣   2019 | POET</a:t>
            </a:r>
            <a:endParaRPr sz="1100"/>
          </a:p>
        </p:txBody>
      </p:sp>
      <p:sp>
        <p:nvSpPr>
          <p:cNvPr id="137" name="TextBox 137">
            <a:extLst xmlns:a="http://schemas.openxmlformats.org/drawingml/2006/main">
              <a:ext uri="{FF2B5EF4-FFF2-40B4-BE49-F238E27FC236}">
                <a16:creationId xmlns:a16="http://schemas.microsoft.com/office/drawing/2014/main" id="{860D8AA5-2BF9-4C47-B245-3E942B13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4845" y="10042320"/>
            <a:ext cx="6383490" cy="171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Marks: selected affiliations | Branches: research routes, not technical ancestry</a:t>
            </a:r>
            <a:endParaRPr sz="900"/>
          </a:p>
        </p:txBody>
      </p:sp>
      <p:sp>
        <p:nvSpPr>
          <p:cNvPr id="138" name="TextBox 138">
            <a:extLst xmlns:a="http://schemas.openxmlformats.org/drawingml/2006/main">
              <a:ext uri="{FF2B5EF4-FFF2-40B4-BE49-F238E27FC236}">
                <a16:creationId xmlns:a16="http://schemas.microsoft.com/office/drawing/2014/main" id="{3A365F74-41D8-49E3-A078-8F626918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883" y="10742947"/>
            <a:ext cx="9263846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Figure 4. Research routes toward recursive self-improvement. Forty-five representative method papers are grouped into six research routes, with three historical anchors shown separately.</a:t>
            </a:r>
            <a:endParaRPr sz="750"/>
          </a:p>
        </p:txBody>
      </p:sp>
      <p:sp>
        <p:nvSpPr>
          <p:cNvPr id="139" name="TextBox 139">
            <a:extLst xmlns:a="http://schemas.openxmlformats.org/drawingml/2006/main">
              <a:ext uri="{FF2B5EF4-FFF2-40B4-BE49-F238E27FC236}">
                <a16:creationId xmlns:a16="http://schemas.microsoft.com/office/drawing/2014/main" id="{3F696E45-C9DD-4379-B741-21EAB089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883" y="11046552"/>
            <a:ext cx="9263846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8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Year bands use the first public dates in the checked source records; spacing within each band is adjusted for legibility. Branch lines denote research families.</a:t>
            </a:r>
            <a:endParaRPr sz="880"/>
          </a:p>
        </p:txBody>
      </p:sp>
      <p:sp>
        <p:nvSpPr>
          <p:cNvPr id="140" name="TextBox 140">
            <a:extLst xmlns:a="http://schemas.openxmlformats.org/drawingml/2006/main">
              <a:ext uri="{FF2B5EF4-FFF2-40B4-BE49-F238E27FC236}">
                <a16:creationId xmlns:a16="http://schemas.microsoft.com/office/drawing/2014/main" id="{9DAEB929-F15E-43BA-87F0-847ABB0A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883" y="11350157"/>
            <a:ext cx="9263846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19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Technical ancestry, cross-route transfer, and sustained recursive gains require separate evidence. The selection reflects the literature search through September 12, 2026.</a:t>
            </a:r>
            <a:endParaRPr sz="819"/>
          </a:p>
        </p:txBody>
      </p:sp>
      <p:sp>
        <p:nvSpPr>
          <p:cNvPr id="141" name="TextBox 141">
            <a:extLst xmlns:a="http://schemas.openxmlformats.org/drawingml/2006/main">
              <a:ext uri="{FF2B5EF4-FFF2-40B4-BE49-F238E27FC236}">
                <a16:creationId xmlns:a16="http://schemas.microsoft.com/office/drawing/2014/main" id="{2C0E0729-C623-407B-A16C-C1CF1079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883" y="11653762"/>
            <a:ext cx="9263846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4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Logos identify one selected author or work-done affiliation per study; “Ind.” denotes independent researchers. Affiliation and logo sources are documented separately.</a:t>
            </a:r>
            <a:endParaRPr sz="840"/>
          </a:p>
        </p:txBody>
      </p:sp>
    </p:spTree>
    <p:extLst>
      <p:ext uri="{BB962C8B-B14F-4D97-AF65-F5344CB8AC3E}">
        <p14:creationId xmlns:p14="http://schemas.microsoft.com/office/powerpoint/2010/main" val="3626219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 2">
            <a:extLst xmlns:a="http://schemas.openxmlformats.org/drawingml/2006/main">
              <a:ext uri="{FF2B5EF4-FFF2-40B4-BE49-F238E27FC236}">
                <a16:creationId xmlns:a16="http://schemas.microsoft.com/office/drawing/2014/main" id="{E65895F3-B2AE-4BA4-AA9F-DD0911FE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9505" y="307375"/>
            <a:ext cx="3232734" cy="8394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D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 3">
            <a:extLst xmlns:a="http://schemas.openxmlformats.org/drawingml/2006/main">
              <a:ext uri="{FF2B5EF4-FFF2-40B4-BE49-F238E27FC236}">
                <a16:creationId xmlns:a16="http://schemas.microsoft.com/office/drawing/2014/main" id="{0A6F9EEA-0089-4BD9-A1B1-81A867A1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01641" y="307375"/>
            <a:ext cx="3232734" cy="8394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1D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 4">
            <a:extLst xmlns:a="http://schemas.openxmlformats.org/drawingml/2006/main">
              <a:ext uri="{FF2B5EF4-FFF2-40B4-BE49-F238E27FC236}">
                <a16:creationId xmlns:a16="http://schemas.microsoft.com/office/drawing/2014/main" id="{7C02F2CA-6481-4B32-9E9C-0A11DF89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4375" y="307375"/>
            <a:ext cx="3232734" cy="8394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0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 5">
            <a:extLst xmlns:a="http://schemas.openxmlformats.org/drawingml/2006/main">
              <a:ext uri="{FF2B5EF4-FFF2-40B4-BE49-F238E27FC236}">
                <a16:creationId xmlns:a16="http://schemas.microsoft.com/office/drawing/2014/main" id="{D1814FFB-DC63-4438-ABE9-3FD3B4BE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09" y="307375"/>
            <a:ext cx="3232734" cy="8394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3F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Line 6">
            <a:extLst xmlns:a="http://schemas.openxmlformats.org/drawingml/2006/main">
              <a:ext uri="{FF2B5EF4-FFF2-40B4-BE49-F238E27FC236}">
                <a16:creationId xmlns:a16="http://schemas.microsoft.com/office/drawing/2014/main" id="{728C6CFF-35CA-48C5-A35A-463C0667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9505" y="5066384"/>
            <a:ext cx="129097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8C8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oundrect 7">
            <a:extLst xmlns:a="http://schemas.openxmlformats.org/drawingml/2006/main">
              <a:ext uri="{FF2B5EF4-FFF2-40B4-BE49-F238E27FC236}">
                <a16:creationId xmlns:a16="http://schemas.microsoft.com/office/drawing/2014/main" id="{F43076EC-FC79-4914-A65E-B39A70E2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70290" y="551155"/>
            <a:ext cx="2851166" cy="3762691"/>
          </a:xfrm>
          <a:prstGeom xmlns:a="http://schemas.openxmlformats.org/drawingml/2006/main" prst="roundRect">
            <a:avLst>
              <a:gd name="adj" fmla="val 7435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rect 8">
            <a:extLst xmlns:a="http://schemas.openxmlformats.org/drawingml/2006/main">
              <a:ext uri="{FF2B5EF4-FFF2-40B4-BE49-F238E27FC236}">
                <a16:creationId xmlns:a16="http://schemas.microsoft.com/office/drawing/2014/main" id="{571803D9-7501-4565-87CF-D0EBEE29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70290" y="5670534"/>
            <a:ext cx="2851166" cy="1886645"/>
          </a:xfrm>
          <a:prstGeom xmlns:a="http://schemas.openxmlformats.org/drawingml/2006/main" prst="roundRect">
            <a:avLst>
              <a:gd name="adj" fmla="val 11236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oundrect 9">
            <a:extLst xmlns:a="http://schemas.openxmlformats.org/drawingml/2006/main">
              <a:ext uri="{FF2B5EF4-FFF2-40B4-BE49-F238E27FC236}">
                <a16:creationId xmlns:a16="http://schemas.microsoft.com/office/drawing/2014/main" id="{B52509BF-6934-4702-B9D9-DA757490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2425" y="551155"/>
            <a:ext cx="2851166" cy="3762691"/>
          </a:xfrm>
          <a:prstGeom xmlns:a="http://schemas.openxmlformats.org/drawingml/2006/main" prst="roundRect">
            <a:avLst>
              <a:gd name="adj" fmla="val 7435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oundrect 10">
            <a:extLst xmlns:a="http://schemas.openxmlformats.org/drawingml/2006/main">
              <a:ext uri="{FF2B5EF4-FFF2-40B4-BE49-F238E27FC236}">
                <a16:creationId xmlns:a16="http://schemas.microsoft.com/office/drawing/2014/main" id="{0DA5A9D7-2B97-4809-B25C-2F2D6919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2425" y="5670534"/>
            <a:ext cx="2851166" cy="1886645"/>
          </a:xfrm>
          <a:prstGeom xmlns:a="http://schemas.openxmlformats.org/drawingml/2006/main" prst="roundRect">
            <a:avLst>
              <a:gd name="adj" fmla="val 11236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oundrect 11">
            <a:extLst xmlns:a="http://schemas.openxmlformats.org/drawingml/2006/main">
              <a:ext uri="{FF2B5EF4-FFF2-40B4-BE49-F238E27FC236}">
                <a16:creationId xmlns:a16="http://schemas.microsoft.com/office/drawing/2014/main" id="{D48DCF47-C9A5-4211-9C96-22FFA080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5159" y="551155"/>
            <a:ext cx="2851166" cy="3762691"/>
          </a:xfrm>
          <a:prstGeom xmlns:a="http://schemas.openxmlformats.org/drawingml/2006/main" prst="roundRect">
            <a:avLst>
              <a:gd name="adj" fmla="val 7435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oundrect 12">
            <a:extLst xmlns:a="http://schemas.openxmlformats.org/drawingml/2006/main">
              <a:ext uri="{FF2B5EF4-FFF2-40B4-BE49-F238E27FC236}">
                <a16:creationId xmlns:a16="http://schemas.microsoft.com/office/drawing/2014/main" id="{42785FBA-4569-4744-938F-4A47A453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5159" y="5670534"/>
            <a:ext cx="2851166" cy="1886645"/>
          </a:xfrm>
          <a:prstGeom xmlns:a="http://schemas.openxmlformats.org/drawingml/2006/main" prst="roundRect">
            <a:avLst>
              <a:gd name="adj" fmla="val 11236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oundrect 13">
            <a:extLst xmlns:a="http://schemas.openxmlformats.org/drawingml/2006/main">
              <a:ext uri="{FF2B5EF4-FFF2-40B4-BE49-F238E27FC236}">
                <a16:creationId xmlns:a16="http://schemas.microsoft.com/office/drawing/2014/main" id="{85CB3A98-EF3A-4342-AEA5-51896363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57894" y="551155"/>
            <a:ext cx="2851166" cy="3762691"/>
          </a:xfrm>
          <a:prstGeom xmlns:a="http://schemas.openxmlformats.org/drawingml/2006/main" prst="roundRect">
            <a:avLst>
              <a:gd name="adj" fmla="val 7435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oundrect 14">
            <a:extLst xmlns:a="http://schemas.openxmlformats.org/drawingml/2006/main">
              <a:ext uri="{FF2B5EF4-FFF2-40B4-BE49-F238E27FC236}">
                <a16:creationId xmlns:a16="http://schemas.microsoft.com/office/drawing/2014/main" id="{9415DDF5-3488-4890-86EC-BD686D23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57894" y="5670534"/>
            <a:ext cx="2851166" cy="1886645"/>
          </a:xfrm>
          <a:prstGeom xmlns:a="http://schemas.openxmlformats.org/drawingml/2006/main" prst="roundRect">
            <a:avLst>
              <a:gd name="adj" fmla="val 11236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Line 15">
            <a:extLst xmlns:a="http://schemas.openxmlformats.org/drawingml/2006/main">
              <a:ext uri="{FF2B5EF4-FFF2-40B4-BE49-F238E27FC236}">
                <a16:creationId xmlns:a16="http://schemas.microsoft.com/office/drawing/2014/main" id="{938CF639-F20F-4E94-840A-6F630F44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0573" y="4345643"/>
            <a:ext cx="0" cy="1250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555555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Line 16">
            <a:extLst xmlns:a="http://schemas.openxmlformats.org/drawingml/2006/main">
              <a:ext uri="{FF2B5EF4-FFF2-40B4-BE49-F238E27FC236}">
                <a16:creationId xmlns:a16="http://schemas.microsoft.com/office/drawing/2014/main" id="{3DFABE25-771A-4CD7-8696-5EB69D8A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23307" y="4345643"/>
            <a:ext cx="0" cy="1250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555555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Line 17">
            <a:extLst xmlns:a="http://schemas.openxmlformats.org/drawingml/2006/main">
              <a:ext uri="{FF2B5EF4-FFF2-40B4-BE49-F238E27FC236}">
                <a16:creationId xmlns:a16="http://schemas.microsoft.com/office/drawing/2014/main" id="{8E860307-8E74-4786-B562-7205DD8B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56042" y="4345643"/>
            <a:ext cx="0" cy="1250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D18D2F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Line 18">
            <a:extLst xmlns:a="http://schemas.openxmlformats.org/drawingml/2006/main">
              <a:ext uri="{FF2B5EF4-FFF2-40B4-BE49-F238E27FC236}">
                <a16:creationId xmlns:a16="http://schemas.microsoft.com/office/drawing/2014/main" id="{61E30078-3C1E-42F4-A4A8-1D181419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88776" y="4345643"/>
            <a:ext cx="0" cy="1250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7070B5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Line 19">
            <a:extLst xmlns:a="http://schemas.openxmlformats.org/drawingml/2006/main">
              <a:ext uri="{FF2B5EF4-FFF2-40B4-BE49-F238E27FC236}">
                <a16:creationId xmlns:a16="http://schemas.microsoft.com/office/drawing/2014/main" id="{24BEBD66-F6E6-48E8-8CBD-7733E1FF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01172" y="4324445"/>
            <a:ext cx="0" cy="12400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555555"/>
            </a:solidFill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0" name="answer document revision icon">
            <a:extLst xmlns:a="http://schemas.openxmlformats.org/drawingml/2006/main">
              <a:ext uri="{FF2B5EF4-FFF2-40B4-BE49-F238E27FC236}">
                <a16:creationId xmlns:a16="http://schemas.microsoft.com/office/drawing/2014/main" id="{659D6365-806A-4491-9D6C-55D61D372B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3d5ec48d14b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706237" y="1695861"/>
            <a:ext cx="2035033" cy="1187102"/>
          </a:xfrm>
          <a:prstGeom xmlns:a="http://schemas.openxmlformats.org/drawingml/2006/main" prst="rect">
            <a:avLst/>
          </a:prstGeom>
        </p:spPr>
      </p:pic>
      <p:pic>
        <p:nvPicPr>
          <p:cNvPr id="21" name="memory document stack icon">
            <a:extLst xmlns:a="http://schemas.openxmlformats.org/drawingml/2006/main">
              <a:ext uri="{FF2B5EF4-FFF2-40B4-BE49-F238E27FC236}">
                <a16:creationId xmlns:a16="http://schemas.microsoft.com/office/drawing/2014/main" id="{9E0DA97E-A742-41CB-8DFB-1062D4538B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19bde6e8484d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48187" y="1589869"/>
            <a:ext cx="1801852" cy="1536874"/>
          </a:xfrm>
          <a:prstGeom xmlns:a="http://schemas.openxmlformats.org/drawingml/2006/main" prst="rect">
            <a:avLst/>
          </a:prstGeom>
        </p:spPr>
      </p:pic>
      <p:pic>
        <p:nvPicPr>
          <p:cNvPr id="22" name="parameter neural network icon">
            <a:extLst xmlns:a="http://schemas.openxmlformats.org/drawingml/2006/main">
              <a:ext uri="{FF2B5EF4-FFF2-40B4-BE49-F238E27FC236}">
                <a16:creationId xmlns:a16="http://schemas.microsoft.com/office/drawing/2014/main" id="{286BDD0E-6A72-497B-A67A-84BB9FBE0D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f987392f504f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949125" y="1579270"/>
            <a:ext cx="2268214" cy="1293094"/>
          </a:xfrm>
          <a:prstGeom xmlns:a="http://schemas.openxmlformats.org/drawingml/2006/main" prst="rect">
            <a:avLst/>
          </a:prstGeom>
        </p:spPr>
      </p:pic>
      <p:pic>
        <p:nvPicPr>
          <p:cNvPr id="23" name="improver procedure graph icon">
            <a:extLst xmlns:a="http://schemas.openxmlformats.org/drawingml/2006/main">
              <a:ext uri="{FF2B5EF4-FFF2-40B4-BE49-F238E27FC236}">
                <a16:creationId xmlns:a16="http://schemas.microsoft.com/office/drawing/2014/main" id="{A353F717-6726-42A5-923C-5308347A28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3a3c61ee245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2160661" y="1642865"/>
            <a:ext cx="1854848" cy="1165904"/>
          </a:xfrm>
          <a:prstGeom xmlns:a="http://schemas.openxmlformats.org/drawingml/2006/main" prst="rect">
            <a:avLst/>
          </a:prstGeom>
        </p:spPr>
      </p:pic>
      <p:pic>
        <p:nvPicPr>
          <p:cNvPr id="24" name="solver network icon">
            <a:extLst xmlns:a="http://schemas.openxmlformats.org/drawingml/2006/main">
              <a:ext uri="{FF2B5EF4-FFF2-40B4-BE49-F238E27FC236}">
                <a16:creationId xmlns:a16="http://schemas.microsoft.com/office/drawing/2014/main" id="{19EB6BD3-EB91-4C14-811E-31E8DA0AED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759a1420042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74440" y="6147495"/>
            <a:ext cx="1801852" cy="826732"/>
          </a:xfrm>
          <a:prstGeom xmlns:a="http://schemas.openxmlformats.org/drawingml/2006/main" prst="rect">
            <a:avLst/>
          </a:prstGeom>
        </p:spPr>
      </p:pic>
      <p:pic>
        <p:nvPicPr>
          <p:cNvPr id="25" name="solver plus memory icon">
            <a:extLst xmlns:a="http://schemas.openxmlformats.org/drawingml/2006/main">
              <a:ext uri="{FF2B5EF4-FFF2-40B4-BE49-F238E27FC236}">
                <a16:creationId xmlns:a16="http://schemas.microsoft.com/office/drawing/2014/main" id="{648E5E23-0904-43C8-B92D-DD899138F9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a1905b760947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822381" y="6105099"/>
            <a:ext cx="1695861" cy="826732"/>
          </a:xfrm>
          <a:prstGeom xmlns:a="http://schemas.openxmlformats.org/drawingml/2006/main" prst="rect">
            <a:avLst/>
          </a:prstGeom>
        </p:spPr>
      </p:pic>
      <p:pic>
        <p:nvPicPr>
          <p:cNvPr id="26" name="updated parameter matrix icon">
            <a:extLst xmlns:a="http://schemas.openxmlformats.org/drawingml/2006/main">
              <a:ext uri="{FF2B5EF4-FFF2-40B4-BE49-F238E27FC236}">
                <a16:creationId xmlns:a16="http://schemas.microsoft.com/office/drawing/2014/main" id="{FDFB2B1F-BE2F-4056-80F5-60C87F90F7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13a2d056e54b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076314" y="6083900"/>
            <a:ext cx="1907843" cy="953922"/>
          </a:xfrm>
          <a:prstGeom xmlns:a="http://schemas.openxmlformats.org/drawingml/2006/main" prst="rect">
            <a:avLst/>
          </a:prstGeom>
        </p:spPr>
      </p:pic>
      <p:pic>
        <p:nvPicPr>
          <p:cNvPr id="27" name="next update process icon">
            <a:extLst xmlns:a="http://schemas.openxmlformats.org/drawingml/2006/main">
              <a:ext uri="{FF2B5EF4-FFF2-40B4-BE49-F238E27FC236}">
                <a16:creationId xmlns:a16="http://schemas.microsoft.com/office/drawing/2014/main" id="{9F84E462-7E50-404F-B3C1-AE12B86281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7e6a0c9ae4a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2139462" y="6083900"/>
            <a:ext cx="1748856" cy="847930"/>
          </a:xfrm>
          <a:prstGeom xmlns:a="http://schemas.openxmlformats.org/drawingml/2006/main" prst="rect">
            <a:avLst/>
          </a:prstGeom>
        </p:spPr>
      </p:pic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DDB30B24-FF9B-424E-9B16-0D2AA142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6281" y="476961"/>
            <a:ext cx="2596787" cy="582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Forecasting</a:t>
            </a:r>
            <a:endParaRPr sz="3100"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16271543-9755-4AB6-A64F-E80CDB01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6281" y="1123508"/>
            <a:ext cx="2596787" cy="402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origin, horizon,</a:t>
            </a:r>
            <a:endParaRPr sz="1300"/>
          </a:p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calibration</a:t>
            </a:r>
            <a:endParaRPr sz="1300"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34BC6A1F-DBB2-490E-B941-DB6F9008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98416" y="476961"/>
            <a:ext cx="2596787" cy="582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Augmentation</a:t>
            </a:r>
            <a:endParaRPr sz="3100"/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52A7599C-344D-4F4A-8DEA-2DD80CBF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98416" y="1123508"/>
            <a:ext cx="2596787" cy="402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fidelity, diversity,</a:t>
            </a:r>
            <a:endParaRPr sz="1800"/>
          </a:p>
          <a:p xmlns:a="http://schemas.openxmlformats.org/drawingml/2006/main">
            <a:pPr algn="l">
              <a:buNone/>
            </a:pPr>
            <a:r>
              <a:rPr sz="18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utility</a:t>
            </a:r>
            <a:endParaRPr sz="1800"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F33B2F74-7EFE-43B3-BB5D-6C77278C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1151" y="476961"/>
            <a:ext cx="2596787" cy="582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Anomaly diagnosis</a:t>
            </a:r>
            <a:endParaRPr sz="3100"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D24D2D20-3E90-4C79-BBED-691C9082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1151" y="1123508"/>
            <a:ext cx="2596787" cy="402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event, window,</a:t>
            </a:r>
            <a:endParaRPr sz="1300"/>
          </a:p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cause</a:t>
            </a:r>
            <a:endParaRPr sz="1300"/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174E2EBC-CB50-4981-BF7B-BB1A41D0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63885" y="476961"/>
            <a:ext cx="2596787" cy="582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Decision support</a:t>
            </a:r>
            <a:endParaRPr sz="3100"/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437F99A4-1D86-4C1E-9EC2-11B6006D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63885" y="1123508"/>
            <a:ext cx="2596787" cy="402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action, cost,</a:t>
            </a:r>
            <a:endParaRPr sz="1300"/>
          </a:p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uncertainty</a:t>
            </a:r>
            <a:endParaRPr sz="1300"/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16D9E9C4-E203-4EE6-9721-462A6E91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94255" y="2702778"/>
            <a:ext cx="741939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forecast y_t</a:t>
            </a:r>
            <a:endParaRPr sz="2300"/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ECB42B5C-5A0A-4FBE-8C5B-8F56C2DE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2741" y="2702778"/>
            <a:ext cx="1059913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forecast y_{t+h}</a:t>
            </a:r>
            <a:endParaRPr sz="1160"/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6B65FC31-53E7-4468-AF1F-6BC30EB8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94255" y="3603704"/>
            <a:ext cx="2172822" cy="33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06060"/>
                </a:solidFill>
                <a:latin typeface="Cambria"/>
                <a:ea typeface="Cambria"/>
                <a:cs typeface="Cambria"/>
              </a:rPr>
              <a:t>check → revise</a:t>
            </a:r>
            <a:endParaRPr sz="1900"/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2BD113C5-089E-45F4-903E-F050121B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50475" y="5776525"/>
            <a:ext cx="2596787" cy="37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same harness</a:t>
            </a:r>
            <a:endParaRPr sz="2200"/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A9EF8157-4E71-4FF3-8042-D4C60E53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03470" y="7143813"/>
            <a:ext cx="2490795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i="1">
                <a:solidFill>
                  <a:srgbClr val="696969"/>
                </a:solidFill>
                <a:latin typeface="Cambria"/>
                <a:ea typeface="Cambria"/>
                <a:cs typeface="Cambria"/>
              </a:rPr>
              <a:t>new task</a:t>
            </a:r>
            <a:endParaRPr sz="1700"/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36A7E63D-25C5-4944-A889-1E50EE7E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97479" y="7578377"/>
            <a:ext cx="2649782" cy="657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2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(a) Forecasting</a:t>
            </a:r>
            <a:endParaRPr sz="2120"/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5D1F178-EA10-433E-A6C8-AA4EDA5A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40813" y="7578377"/>
            <a:ext cx="2649782" cy="657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2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(b) Augmentation</a:t>
            </a:r>
            <a:endParaRPr sz="2120"/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A2AB4E83-37F5-4905-B71A-5D295850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5944" y="7578377"/>
            <a:ext cx="2649782" cy="657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2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(c) Anomaly diagnosis</a:t>
            </a:r>
            <a:endParaRPr sz="2120"/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A81001C6-3180-4062-8040-52F67CD4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48678" y="7578377"/>
            <a:ext cx="2649782" cy="657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2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(d) Decision support</a:t>
            </a:r>
            <a:endParaRPr sz="2120"/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C7C25097-F027-44F5-B4B3-18325B1D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0214" y="3921678"/>
            <a:ext cx="2543791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i="1">
                <a:solidFill>
                  <a:srgbClr val="656565"/>
                </a:solidFill>
                <a:latin typeface="Cambria"/>
                <a:ea typeface="Cambria"/>
                <a:cs typeface="Cambria"/>
              </a:rPr>
              <a:t>H_t → H_{t+1}</a:t>
            </a:r>
            <a:endParaRPr sz="2300"/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9AABE045-6983-47AB-8770-7A97F9C7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77218" y="5776525"/>
            <a:ext cx="2649782" cy="37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Agent + temporal state</a:t>
            </a:r>
            <a:endParaRPr sz="2200"/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F5E9137A-4E02-4E53-9FD2-62F5E123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7174" y="7048421"/>
            <a:ext cx="1801852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temporal memory</a:t>
            </a:r>
            <a:endParaRPr sz="2300"/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35FC91BB-E4B1-40D9-A920-B2380D38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74931" y="3964074"/>
            <a:ext cx="2649782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task output</a:t>
            </a:r>
            <a:endParaRPr sz="2300"/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EBD04023-2DA5-45B5-AED3-272C2B3F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09952" y="5776525"/>
            <a:ext cx="2649782" cy="37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updated forecast</a:t>
            </a:r>
            <a:endParaRPr sz="2200"/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AA685B38-0DDE-47BB-8A09-F04DA0A7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33918" y="7048421"/>
            <a:ext cx="1801852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task output</a:t>
            </a:r>
            <a:endParaRPr sz="2300"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E4E9CA09-6037-4955-906E-043E0FE5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42687" y="2670981"/>
            <a:ext cx="741939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task contract</a:t>
            </a:r>
            <a:endParaRPr sz="2300"/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9285ED08-6E9A-4C18-84AE-93FB3223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02600" y="2861765"/>
            <a:ext cx="1589869" cy="508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i="1">
                <a:solidFill>
                  <a:srgbClr val="606060"/>
                </a:solidFill>
                <a:latin typeface="Cambria"/>
                <a:ea typeface="Cambria"/>
                <a:cs typeface="Cambria"/>
              </a:rPr>
              <a:t>plan / verify</a:t>
            </a:r>
            <a:endParaRPr sz="1800"/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DC13849C-6F41-4937-9FE1-43C31CFB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83700" y="5776525"/>
            <a:ext cx="2967756" cy="37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next task episode</a:t>
            </a:r>
            <a:endParaRPr sz="2000"/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A04E6EC2-65ED-465A-BF94-6CCC251B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13656" y="7048421"/>
            <a:ext cx="2119826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60" i="1">
                <a:solidFill>
                  <a:srgbClr val="555555"/>
                </a:solidFill>
                <a:latin typeface="Cambria"/>
                <a:ea typeface="Cambria"/>
                <a:cs typeface="Cambria"/>
              </a:rPr>
              <a:t>new module record</a:t>
            </a:r>
            <a:endParaRPr sz="1160"/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076B4AC3-CD36-4742-9230-2CE8A98F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73079" y="4451634"/>
            <a:ext cx="847930" cy="275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i="1">
                <a:solidFill>
                  <a:srgbClr val="676767"/>
                </a:solidFill>
                <a:latin typeface="Cambria"/>
                <a:ea typeface="Cambria"/>
                <a:cs typeface="Cambria"/>
              </a:rPr>
              <a:t>retain</a:t>
            </a:r>
            <a:endParaRPr sz="1700"/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654D2809-1934-4067-8896-454C9056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58809" y="4451634"/>
            <a:ext cx="847930" cy="275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i="1">
                <a:solidFill>
                  <a:srgbClr val="676767"/>
                </a:solidFill>
                <a:latin typeface="Cambria"/>
                <a:ea typeface="Cambria"/>
                <a:cs typeface="Cambria"/>
              </a:rPr>
              <a:t>retain</a:t>
            </a:r>
            <a:endParaRPr sz="1700"/>
          </a:p>
        </p:txBody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5CCDD230-56A4-4D51-9437-9C015FAC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04396" y="4557626"/>
            <a:ext cx="1801852" cy="37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i="1">
                <a:solidFill>
                  <a:srgbClr val="676767"/>
                </a:solidFill>
                <a:latin typeface="Cambria"/>
                <a:ea typeface="Cambria"/>
                <a:cs typeface="Cambria"/>
              </a:rPr>
              <a:t>task-bound</a:t>
            </a:r>
            <a:endParaRPr sz="2000"/>
          </a:p>
        </p:txBody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18D5DCBE-9BC3-46C8-AECC-05FC6AF7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6281" y="5257168"/>
            <a:ext cx="1377887" cy="296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i="1">
                <a:solidFill>
                  <a:srgbClr val="676767"/>
                </a:solidFill>
                <a:latin typeface="Cambria"/>
                <a:ea typeface="Cambria"/>
                <a:cs typeface="Cambria"/>
              </a:rPr>
              <a:t>cross-task reuse</a:t>
            </a:r>
            <a:endParaRPr sz="1700"/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657B3EA9-5BC8-4ADB-8C65-384E1343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8903269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Figure 5. Four task contracts instantiated by Time-Series Harness Modules. The same general runtime can support distinct temporal outputs when the interface, memory, tools, control, planning, optimization, and coordination obligations are specialized.</a:t>
            </a:r>
            <a:endParaRPr sz="1500"/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DF7BA3EF-882D-4DF6-B600-26537037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9231842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Forecasting binds origin, horizon, and calibration. Augmentation binds fidelity, diversity, and utility. Anomaly diagnosis binds event windows and causes. Decision support binds actions, costs, and uncertainty.</a:t>
            </a:r>
            <a:endParaRPr sz="1400"/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622AF32F-F58F-4F90-9950-0C5AEED8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9560415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A paper may instantiate more than one contract. The paper-card ledger records each module independently so that a task-specific contribution does not occupy a coarser layer.</a:t>
            </a:r>
            <a:endParaRPr sz="1400"/>
          </a:p>
        </p:txBody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A779E287-B687-4A0D-A15B-175B9FB5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9888988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The dashed horizontal rule separates reusable harness mechanisms from task-bound contracts.</a:t>
            </a:r>
            <a:endParaRPr sz="1400"/>
          </a:p>
        </p:txBody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F1BB3606-7043-4282-A201-730A9D7A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10217561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Colored arrows show the output contract carried by each task family.</a:t>
            </a:r>
            <a:endParaRPr sz="1400"/>
          </a:p>
        </p:txBody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9950BB96-A155-41E8-ABFA-EF2CA830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10546134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The visual vocabulary is adapted from the supplied RSI template; the content follows our four task families.</a:t>
            </a:r>
            <a:endParaRPr sz="1400"/>
          </a:p>
        </p:txBody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42DCC1E8-F6DD-45D7-B96E-2DE80B1E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10874707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400"/>
          </a:p>
        </p:txBody>
      </p:sp>
      <p:sp>
        <p:nvSpPr>
          <p:cNvPr id="66" name="TextBox 66">
            <a:extLst xmlns:a="http://schemas.openxmlformats.org/drawingml/2006/main">
              <a:ext uri="{FF2B5EF4-FFF2-40B4-BE49-F238E27FC236}">
                <a16:creationId xmlns:a16="http://schemas.microsoft.com/office/drawing/2014/main" id="{9F832940-84B0-44BA-8F5D-E239E4C0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11203280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400"/>
          </a:p>
        </p:txBody>
      </p:sp>
      <p:sp>
        <p:nvSpPr>
          <p:cNvPr id="67" name="TextBox 67">
            <a:extLst xmlns:a="http://schemas.openxmlformats.org/drawingml/2006/main">
              <a:ext uri="{FF2B5EF4-FFF2-40B4-BE49-F238E27FC236}">
                <a16:creationId xmlns:a16="http://schemas.microsoft.com/office/drawing/2014/main" id="{227CF679-9636-40D8-A7AF-DC2C8B45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11531853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036103778"/>
      </p:ext>
    </p:extLst>
  </p:cSld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2026-10-08T14:27:28.3650000Z</dcterms:created>
  <dcterms:modified xsi:type="dcterms:W3CDTF">2026-10-08T14:27:28.3650000Z</dcterms:modified>
</coreProperties>
</file>