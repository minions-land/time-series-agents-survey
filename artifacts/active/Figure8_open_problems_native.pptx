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221f170f9274086"/><Relationship Type="http://schemas.openxmlformats.org/officeDocument/2006/relationships/extended-properties" Target="/docProps/app.xml" Id="R29e35edd98f840eb"/><Relationship Type="http://schemas.openxmlformats.org/officeDocument/2006/relationships/officeDocument" Target="/ppt/presentation.xml" Id="R1a3c6b71eb5c4c9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efc94876d426e"/>
  </p:sldMasterIdLst>
  <p:notesMasterIdLst>
    <p:notesMasterId xmlns:r="http://schemas.openxmlformats.org/officeDocument/2006/relationships" r:id="Rd580da435860420a"/>
  </p:notesMasterIdLst>
  <p:sldIdLst>
    <p:sldId xmlns:r="http://schemas.openxmlformats.org/officeDocument/2006/relationships" id="256" r:id="Rdf275c33d0f84d0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a1ce85ad712d493f"/><Relationship Type="http://schemas.openxmlformats.org/officeDocument/2006/relationships/slideMaster" Target="/ppt/slideMasters/slideMaster1.xml" Id="Rd59efc94876d426e"/><Relationship Type="http://schemas.openxmlformats.org/officeDocument/2006/relationships/notesMaster" Target="/ppt/notesMasters/notesMaster1.xml" Id="Rd580da435860420a"/><Relationship Type="http://schemas.openxmlformats.org/officeDocument/2006/relationships/presProps" Target="/ppt/presProps.xml" Id="Rc674d34131b042ec"/><Relationship Type="http://schemas.openxmlformats.org/officeDocument/2006/relationships/tableStyles" Target="/ppt/tableStyles.xml" Id="R83fec1baa15b4d91"/><Relationship Type="http://schemas.openxmlformats.org/officeDocument/2006/relationships/slide" Target="/ppt/slides/slide1.xml" Id="Rdf275c33d0f84d05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2eff441a7a024cb5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125a5e363dd3424f"/><Relationship Type="http://schemas.openxmlformats.org/officeDocument/2006/relationships/notesMaster" Target="/ppt/notesMasters/notesMaster1.xml" Id="R111e1c1e191d400b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problems and focused system cases. The left panel translates ledger gaps into evidence-backed research questions. The right panel places ChatTS on the LLM side, TimeClaw in the General Time-Series Harness, and ModernTSF in infrastructure. The bottom strip shows the paper-card fields used to record each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1de7ed4bc444579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b98cc2ea349f4ee5"/><Relationship Type="http://schemas.openxmlformats.org/officeDocument/2006/relationships/slideLayout" Target="/ppt/slideLayouts/slideLayout1.xml" Id="R9f843f96d2124064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43f96d212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6a2945ea41e43cd"/><Relationship Type="http://schemas.openxmlformats.org/officeDocument/2006/relationships/notesSlide" Target="/ppt/notesSlides/notesSlide1.xml" Id="R38651fc591ac42b1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8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16DB7632-F8AC-44CC-8DDB-DF77CCC3B1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Open Problems and System Cases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FF7DEF8B-13EB-4D8A-87D6-E515A71A30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Open questions connect model capabilities, reusable execution, temporal evidence, and task outcomes.</a:t>
              </a:r>
            </a:p>
          </p:txBody>
        </p:sp>
      </p:grpSp>
      <p:grpSp>
        <p:nvGrpSpPr>
          <p:cNvPr id="59" name="group-open-problem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open-problems-panel">
              <a:extLst xmlns:a="http://schemas.openxmlformats.org/drawingml/2006/main">
                <a:ext uri="{FF2B5EF4-FFF2-40B4-BE49-F238E27FC236}">
                  <a16:creationId xmlns:a16="http://schemas.microsoft.com/office/drawing/2014/main" id="{D694030F-5924-41FF-9ABB-7FF2C7CEF5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7700" y="1466850"/>
              <a:ext cx="9048750" cy="5429250"/>
            </a:xfrm>
            <a:prstGeom xmlns:a="http://schemas.openxmlformats.org/drawingml/2006/main" prst="roundRect">
              <a:avLst>
                <a:gd name="adj" fmla="val 386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" name="open-problems-title">
              <a:extLst xmlns:a="http://schemas.openxmlformats.org/drawingml/2006/main">
                <a:ext uri="{FF2B5EF4-FFF2-40B4-BE49-F238E27FC236}">
                  <a16:creationId xmlns:a16="http://schemas.microsoft.com/office/drawing/2014/main" id="{526D4A70-AAF3-4A69-B460-3554BFB220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3450" y="1714500"/>
              <a:ext cx="8477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Open problems in agent construction</a:t>
              </a:r>
            </a:p>
          </p:txBody>
        </p:sp>
        <p:sp>
          <p:nvSpPr>
            <p:cNvPr id="5" name="open-problems-subtitle">
              <a:extLst xmlns:a="http://schemas.openxmlformats.org/drawingml/2006/main">
                <a:ext uri="{FF2B5EF4-FFF2-40B4-BE49-F238E27FC236}">
                  <a16:creationId xmlns:a16="http://schemas.microsoft.com/office/drawing/2014/main" id="{05F7F76B-0E51-447A-81D5-6386EFDF94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3450" y="2038350"/>
              <a:ext cx="8477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Each question connects a system capability to the evidence needed to evaluate it.</a:t>
              </a:r>
            </a:p>
          </p:txBody>
        </p:sp>
      </p:grpSp>
      <p:grpSp>
        <p:nvGrpSpPr>
          <p:cNvPr id="60" name="group-problem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problem-1">
              <a:extLst xmlns:a="http://schemas.openxmlformats.org/drawingml/2006/main">
                <a:ext uri="{FF2B5EF4-FFF2-40B4-BE49-F238E27FC236}">
                  <a16:creationId xmlns:a16="http://schemas.microsoft.com/office/drawing/2014/main" id="{7851EBD8-CC1D-405C-B0D8-DF0A36E364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1550" y="25336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2859">
              <a:solidFill>
                <a:srgbClr val="3E8167"/>
              </a:solidFill>
              <a:prstDash val="solid"/>
            </a:ln>
          </p:spPr>
        </p:sp>
        <p:sp>
          <p:nvSpPr>
            <p:cNvPr id="7" name="problem-title-1">
              <a:extLst xmlns:a="http://schemas.openxmlformats.org/drawingml/2006/main">
                <a:ext uri="{FF2B5EF4-FFF2-40B4-BE49-F238E27FC236}">
                  <a16:creationId xmlns:a16="http://schemas.microsoft.com/office/drawing/2014/main" id="{D5DEEB79-091F-480C-AA6F-1C38DAABC7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26384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perception and execution</a:t>
              </a:r>
            </a:p>
          </p:txBody>
        </p:sp>
        <p:sp>
          <p:nvSpPr>
            <p:cNvPr id="8" name="problem-body-1">
              <a:extLst xmlns:a="http://schemas.openxmlformats.org/drawingml/2006/main">
                <a:ext uri="{FF2B5EF4-FFF2-40B4-BE49-F238E27FC236}">
                  <a16:creationId xmlns:a16="http://schemas.microsoft.com/office/drawing/2014/main" id="{26CAFAB6-8F55-4B65-88D7-355A673E5E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0" y="26479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Connect temporal representations to precise numerical operations and checked outputs.</a:t>
              </a:r>
            </a:p>
          </p:txBody>
        </p:sp>
        <p:sp>
          <p:nvSpPr>
            <p:cNvPr id="9" name="problem-layer-1">
              <a:extLst xmlns:a="http://schemas.openxmlformats.org/drawingml/2006/main">
                <a:ext uri="{FF2B5EF4-FFF2-40B4-BE49-F238E27FC236}">
                  <a16:creationId xmlns:a16="http://schemas.microsoft.com/office/drawing/2014/main" id="{9206F98A-BF02-4251-B464-E95EEE5C3A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72450" y="26955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10" name="problem-layer-text-1">
              <a:extLst xmlns:a="http://schemas.openxmlformats.org/drawingml/2006/main">
                <a:ext uri="{FF2B5EF4-FFF2-40B4-BE49-F238E27FC236}">
                  <a16:creationId xmlns:a16="http://schemas.microsoft.com/office/drawing/2014/main" id="{EFE15097-5F2D-4578-9515-3669FEFEDB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27622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LLM + GTS</a:t>
              </a:r>
            </a:p>
          </p:txBody>
        </p:sp>
      </p:grpSp>
      <p:grpSp>
        <p:nvGrpSpPr>
          <p:cNvPr id="61" name="group-problem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1" name="problem-2">
              <a:extLst xmlns:a="http://schemas.openxmlformats.org/drawingml/2006/main">
                <a:ext uri="{FF2B5EF4-FFF2-40B4-BE49-F238E27FC236}">
                  <a16:creationId xmlns:a16="http://schemas.microsoft.com/office/drawing/2014/main" id="{B470C08F-71F4-4194-A4E9-A38C5B5875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1550" y="33147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2" name="problem-title-2">
              <a:extLst xmlns:a="http://schemas.openxmlformats.org/drawingml/2006/main">
                <a:ext uri="{FF2B5EF4-FFF2-40B4-BE49-F238E27FC236}">
                  <a16:creationId xmlns:a16="http://schemas.microsoft.com/office/drawing/2014/main" id="{D3B414C8-EDEC-403E-8479-AC8599F498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34194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Memory under changing information</a:t>
              </a:r>
            </a:p>
          </p:txBody>
        </p:sp>
        <p:sp>
          <p:nvSpPr>
            <p:cNvPr id="13" name="problem-body-2">
              <a:extLst xmlns:a="http://schemas.openxmlformats.org/drawingml/2006/main">
                <a:ext uri="{FF2B5EF4-FFF2-40B4-BE49-F238E27FC236}">
                  <a16:creationId xmlns:a16="http://schemas.microsoft.com/office/drawing/2014/main" id="{BDFCA961-7E52-4E00-87E8-8A2B045282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0" y="34290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Track availability, revisions, and changing regimes when reusing past experience.</a:t>
              </a:r>
            </a:p>
          </p:txBody>
        </p:sp>
        <p:sp>
          <p:nvSpPr>
            <p:cNvPr id="14" name="problem-layer-2">
              <a:extLst xmlns:a="http://schemas.openxmlformats.org/drawingml/2006/main">
                <a:ext uri="{FF2B5EF4-FFF2-40B4-BE49-F238E27FC236}">
                  <a16:creationId xmlns:a16="http://schemas.microsoft.com/office/drawing/2014/main" id="{0946B516-E350-4F72-B0B1-44B1A338ED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72450" y="34766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15" name="problem-layer-text-2">
              <a:extLst xmlns:a="http://schemas.openxmlformats.org/drawingml/2006/main">
                <a:ext uri="{FF2B5EF4-FFF2-40B4-BE49-F238E27FC236}">
                  <a16:creationId xmlns:a16="http://schemas.microsoft.com/office/drawing/2014/main" id="{6F0AD8B2-C728-42BA-8C1A-FFEA0E8BF6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35433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2" name="group-problem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problem-3">
              <a:extLst xmlns:a="http://schemas.openxmlformats.org/drawingml/2006/main">
                <a:ext uri="{FF2B5EF4-FFF2-40B4-BE49-F238E27FC236}">
                  <a16:creationId xmlns:a16="http://schemas.microsoft.com/office/drawing/2014/main" id="{ABAD662A-37E2-4E0F-BC09-286BE54E2E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1550" y="40957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7" name="problem-title-3">
              <a:extLst xmlns:a="http://schemas.openxmlformats.org/drawingml/2006/main">
                <a:ext uri="{FF2B5EF4-FFF2-40B4-BE49-F238E27FC236}">
                  <a16:creationId xmlns:a16="http://schemas.microsoft.com/office/drawing/2014/main" id="{2A9E6F77-58F1-49F5-AAF8-DB6BDB4C31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42005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Transfer of learned procedures</a:t>
              </a:r>
            </a:p>
          </p:txBody>
        </p:sp>
        <p:sp>
          <p:nvSpPr>
            <p:cNvPr id="18" name="problem-body-3">
              <a:extLst xmlns:a="http://schemas.openxmlformats.org/drawingml/2006/main">
                <a:ext uri="{FF2B5EF4-FFF2-40B4-BE49-F238E27FC236}">
                  <a16:creationId xmlns:a16="http://schemas.microsoft.com/office/drawing/2014/main" id="{66D90CFA-3D1E-4100-A688-3058AED0CB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0" y="42100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Test reusable procedures across datasets, domains, and task contracts.</a:t>
              </a:r>
            </a:p>
          </p:txBody>
        </p:sp>
        <p:sp>
          <p:nvSpPr>
            <p:cNvPr id="19" name="problem-layer-3">
              <a:extLst xmlns:a="http://schemas.openxmlformats.org/drawingml/2006/main">
                <a:ext uri="{FF2B5EF4-FFF2-40B4-BE49-F238E27FC236}">
                  <a16:creationId xmlns:a16="http://schemas.microsoft.com/office/drawing/2014/main" id="{48A0B3F6-3379-4DCA-A748-191A90A466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72450" y="42576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0" name="problem-layer-text-3">
              <a:extLst xmlns:a="http://schemas.openxmlformats.org/drawingml/2006/main">
                <a:ext uri="{FF2B5EF4-FFF2-40B4-BE49-F238E27FC236}">
                  <a16:creationId xmlns:a16="http://schemas.microsoft.com/office/drawing/2014/main" id="{1827AAA4-D00A-49C6-90CE-8CF2480D58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43243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3" name="group-problem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problem-4">
              <a:extLst xmlns:a="http://schemas.openxmlformats.org/drawingml/2006/main">
                <a:ext uri="{FF2B5EF4-FFF2-40B4-BE49-F238E27FC236}">
                  <a16:creationId xmlns:a16="http://schemas.microsoft.com/office/drawing/2014/main" id="{07E08998-E459-455B-B685-647360A10A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1550" y="48768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22" name="problem-title-4">
              <a:extLst xmlns:a="http://schemas.openxmlformats.org/drawingml/2006/main">
                <a:ext uri="{FF2B5EF4-FFF2-40B4-BE49-F238E27FC236}">
                  <a16:creationId xmlns:a16="http://schemas.microsoft.com/office/drawing/2014/main" id="{4F8E9791-79CE-4DA1-A332-AD97EA5C2B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49815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Evidence-sensitive evaluation</a:t>
              </a:r>
            </a:p>
          </p:txBody>
        </p:sp>
        <p:sp>
          <p:nvSpPr>
            <p:cNvPr id="23" name="problem-body-4">
              <a:extLst xmlns:a="http://schemas.openxmlformats.org/drawingml/2006/main">
                <a:ext uri="{FF2B5EF4-FFF2-40B4-BE49-F238E27FC236}">
                  <a16:creationId xmlns:a16="http://schemas.microsoft.com/office/drawing/2014/main" id="{6E277624-B1DB-4FE3-B25D-9AA61AAA5A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0" y="49911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Measure how information quality, tool use, and validation affect the final result.</a:t>
              </a:r>
            </a:p>
          </p:txBody>
        </p:sp>
        <p:sp>
          <p:nvSpPr>
            <p:cNvPr id="24" name="problem-layer-4">
              <a:extLst xmlns:a="http://schemas.openxmlformats.org/drawingml/2006/main">
                <a:ext uri="{FF2B5EF4-FFF2-40B4-BE49-F238E27FC236}">
                  <a16:creationId xmlns:a16="http://schemas.microsoft.com/office/drawing/2014/main" id="{8FCCC103-11DF-4E5C-A9A4-69EC82D298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72450" y="50387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5" name="problem-layer-text-4">
              <a:extLst xmlns:a="http://schemas.openxmlformats.org/drawingml/2006/main">
                <a:ext uri="{FF2B5EF4-FFF2-40B4-BE49-F238E27FC236}">
                  <a16:creationId xmlns:a16="http://schemas.microsoft.com/office/drawing/2014/main" id="{CE0655C0-9261-482E-9040-F9E89F9BCA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51054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4" name="group-problem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problem-5">
              <a:extLst xmlns:a="http://schemas.openxmlformats.org/drawingml/2006/main">
                <a:ext uri="{FF2B5EF4-FFF2-40B4-BE49-F238E27FC236}">
                  <a16:creationId xmlns:a16="http://schemas.microsoft.com/office/drawing/2014/main" id="{62CA872F-BFE0-4C97-8A98-0204446F05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1550" y="56578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2859">
              <a:solidFill>
                <a:srgbClr val="B78324"/>
              </a:solidFill>
              <a:prstDash val="solid"/>
            </a:ln>
          </p:spPr>
        </p:sp>
        <p:sp>
          <p:nvSpPr>
            <p:cNvPr id="27" name="problem-title-5">
              <a:extLst xmlns:a="http://schemas.openxmlformats.org/drawingml/2006/main">
                <a:ext uri="{FF2B5EF4-FFF2-40B4-BE49-F238E27FC236}">
                  <a16:creationId xmlns:a16="http://schemas.microsoft.com/office/drawing/2014/main" id="{6E05DBFD-E297-45A0-8343-68491F0A35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" y="57626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Prediction-to-decision feedback</a:t>
              </a:r>
            </a:p>
          </p:txBody>
        </p:sp>
        <p:sp>
          <p:nvSpPr>
            <p:cNvPr id="28" name="problem-body-5">
              <a:extLst xmlns:a="http://schemas.openxmlformats.org/drawingml/2006/main">
                <a:ext uri="{FF2B5EF4-FFF2-40B4-BE49-F238E27FC236}">
                  <a16:creationId xmlns:a16="http://schemas.microsoft.com/office/drawing/2014/main" id="{A129E284-076C-42C2-95B4-7DD06F37E7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10000" y="57721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Evaluate actions, delayed outcomes, uncertainty, and the cost of prediction errors.</a:t>
              </a:r>
            </a:p>
          </p:txBody>
        </p:sp>
        <p:sp>
          <p:nvSpPr>
            <p:cNvPr id="29" name="problem-layer-5">
              <a:extLst xmlns:a="http://schemas.openxmlformats.org/drawingml/2006/main">
                <a:ext uri="{FF2B5EF4-FFF2-40B4-BE49-F238E27FC236}">
                  <a16:creationId xmlns:a16="http://schemas.microsoft.com/office/drawing/2014/main" id="{1C082A3A-B34D-4523-B2B6-8972E907D2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72450" y="58197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0" name="problem-layer-text-5">
              <a:extLst xmlns:a="http://schemas.openxmlformats.org/drawingml/2006/main">
                <a:ext uri="{FF2B5EF4-FFF2-40B4-BE49-F238E27FC236}">
                  <a16:creationId xmlns:a16="http://schemas.microsoft.com/office/drawing/2014/main" id="{261F4B63-EB73-4D41-809B-84824719E5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48650" y="58864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TSK</a:t>
              </a:r>
            </a:p>
          </p:txBody>
        </p:sp>
      </p:grpSp>
      <p:grpSp>
        <p:nvGrpSpPr>
          <p:cNvPr id="65" name="group-system-case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1" name="system-cases-panel">
              <a:extLst xmlns:a="http://schemas.openxmlformats.org/drawingml/2006/main">
                <a:ext uri="{FF2B5EF4-FFF2-40B4-BE49-F238E27FC236}">
                  <a16:creationId xmlns:a16="http://schemas.microsoft.com/office/drawing/2014/main" id="{9B1A7BFF-BD55-40A1-8905-35634DA01B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1250" y="1466850"/>
              <a:ext cx="4591050" cy="5429250"/>
            </a:xfrm>
            <a:prstGeom xmlns:a="http://schemas.openxmlformats.org/drawingml/2006/main" prst="roundRect">
              <a:avLst>
                <a:gd name="adj" fmla="val 45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32" name="system-cases-title">
              <a:extLst xmlns:a="http://schemas.openxmlformats.org/drawingml/2006/main">
                <a:ext uri="{FF2B5EF4-FFF2-40B4-BE49-F238E27FC236}">
                  <a16:creationId xmlns:a16="http://schemas.microsoft.com/office/drawing/2014/main" id="{E91DE981-6CAD-4269-AD41-D67949E427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67950" y="1714500"/>
              <a:ext cx="4057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Focused system cases</a:t>
              </a:r>
            </a:p>
          </p:txBody>
        </p:sp>
        <p:sp>
          <p:nvSpPr>
            <p:cNvPr id="33" name="system-cases-subtitle">
              <a:extLst xmlns:a="http://schemas.openxmlformats.org/drawingml/2006/main">
                <a:ext uri="{FF2B5EF4-FFF2-40B4-BE49-F238E27FC236}">
                  <a16:creationId xmlns:a16="http://schemas.microsoft.com/office/drawing/2014/main" id="{AAE55E73-3F39-44E8-BA14-C91868FD59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67950" y="2038350"/>
              <a:ext cx="40576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Examples connect capabilities to their use in a system.</a:t>
              </a:r>
            </a:p>
          </p:txBody>
        </p:sp>
        <p:sp>
          <p:nvSpPr>
            <p:cNvPr id="47" name="paper-card-strip">
              <a:extLst xmlns:a="http://schemas.openxmlformats.org/drawingml/2006/main">
                <a:ext uri="{FF2B5EF4-FFF2-40B4-BE49-F238E27FC236}">
                  <a16:creationId xmlns:a16="http://schemas.microsoft.com/office/drawing/2014/main" id="{68052FD0-12C7-4823-9B1E-A33BC9E530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7700" y="7181850"/>
              <a:ext cx="13944600" cy="819150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7145">
              <a:solidFill>
                <a:srgbClr val="467A92"/>
              </a:solidFill>
              <a:prstDash val="solid"/>
            </a:ln>
          </p:spPr>
        </p:sp>
        <p:sp>
          <p:nvSpPr>
            <p:cNvPr id="48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520B109A-51B6-41E4-8989-7968B532AF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5350" y="7372350"/>
              <a:ext cx="1619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Evidence record</a:t>
              </a:r>
            </a:p>
          </p:txBody>
        </p:sp>
      </p:grpSp>
      <p:grpSp>
        <p:nvGrpSpPr>
          <p:cNvPr id="66" name="group-cas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4" name="case-1">
              <a:extLst xmlns:a="http://schemas.openxmlformats.org/drawingml/2006/main">
                <a:ext uri="{FF2B5EF4-FFF2-40B4-BE49-F238E27FC236}">
                  <a16:creationId xmlns:a16="http://schemas.microsoft.com/office/drawing/2014/main" id="{97338457-99B0-46F7-B4B8-1328F01A0C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0" y="25336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4288">
              <a:solidFill>
                <a:srgbClr val="7058A6"/>
              </a:solidFill>
              <a:prstDash val="solid"/>
            </a:ln>
          </p:spPr>
        </p:sp>
        <p:sp>
          <p:nvSpPr>
            <p:cNvPr id="35" name="case-title-1">
              <a:extLst xmlns:a="http://schemas.openxmlformats.org/drawingml/2006/main">
                <a:ext uri="{FF2B5EF4-FFF2-40B4-BE49-F238E27FC236}">
                  <a16:creationId xmlns:a16="http://schemas.microsoft.com/office/drawing/2014/main" id="{C0546180-7601-40AB-BCC3-CF250486D6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26670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ChatTS</a:t>
              </a:r>
            </a:p>
          </p:txBody>
        </p:sp>
        <p:sp>
          <p:nvSpPr>
            <p:cNvPr id="36" name="case-layer-1">
              <a:extLst xmlns:a="http://schemas.openxmlformats.org/drawingml/2006/main">
                <a:ext uri="{FF2B5EF4-FFF2-40B4-BE49-F238E27FC236}">
                  <a16:creationId xmlns:a16="http://schemas.microsoft.com/office/drawing/2014/main" id="{59D71578-0570-48D9-9C47-94AD076188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25350" y="26860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LLM side</a:t>
              </a:r>
            </a:p>
          </p:txBody>
        </p:sp>
        <p:sp>
          <p:nvSpPr>
            <p:cNvPr id="37" name="case-body-1">
              <a:extLst xmlns:a="http://schemas.openxmlformats.org/drawingml/2006/main">
                <a:ext uri="{FF2B5EF4-FFF2-40B4-BE49-F238E27FC236}">
                  <a16:creationId xmlns:a16="http://schemas.microsoft.com/office/drawing/2014/main" id="{DD0B5831-7C41-4BA6-8108-6BC9F1FA31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29908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 and dialogue supervision make numerical series available to language reasoning.</a:t>
              </a:r>
            </a:p>
          </p:txBody>
        </p:sp>
      </p:grpSp>
      <p:grpSp>
        <p:nvGrpSpPr>
          <p:cNvPr id="67" name="group-cas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8" name="case-2">
              <a:extLst xmlns:a="http://schemas.openxmlformats.org/drawingml/2006/main">
                <a:ext uri="{FF2B5EF4-FFF2-40B4-BE49-F238E27FC236}">
                  <a16:creationId xmlns:a16="http://schemas.microsoft.com/office/drawing/2014/main" id="{5905C54A-CBDB-4E66-9ECC-908A581978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0" y="38290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4288">
              <a:solidFill>
                <a:srgbClr val="3E8167"/>
              </a:solidFill>
              <a:prstDash val="solid"/>
            </a:ln>
          </p:spPr>
        </p:sp>
        <p:sp>
          <p:nvSpPr>
            <p:cNvPr id="39" name="case-title-2">
              <a:extLst xmlns:a="http://schemas.openxmlformats.org/drawingml/2006/main">
                <a:ext uri="{FF2B5EF4-FFF2-40B4-BE49-F238E27FC236}">
                  <a16:creationId xmlns:a16="http://schemas.microsoft.com/office/drawing/2014/main" id="{E617366A-825E-40A7-A125-73BFE21262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39624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TimeClaw</a:t>
              </a:r>
            </a:p>
          </p:txBody>
        </p:sp>
        <p:sp>
          <p:nvSpPr>
            <p:cNvPr id="40" name="case-layer-2">
              <a:extLst xmlns:a="http://schemas.openxmlformats.org/drawingml/2006/main">
                <a:ext uri="{FF2B5EF4-FFF2-40B4-BE49-F238E27FC236}">
                  <a16:creationId xmlns:a16="http://schemas.microsoft.com/office/drawing/2014/main" id="{4BA529F5-D60C-49D5-85D6-5649EEE66F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25350" y="39814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41" name="case-body-2">
              <a:extLst xmlns:a="http://schemas.openxmlformats.org/drawingml/2006/main">
                <a:ext uri="{FF2B5EF4-FFF2-40B4-BE49-F238E27FC236}">
                  <a16:creationId xmlns:a16="http://schemas.microsoft.com/office/drawing/2014/main" id="{73CF4E62-C47C-4717-B1B1-6C45677D0B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42862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Executed trajectories are compared and distilled into reusable experience.</a:t>
              </a:r>
            </a:p>
          </p:txBody>
        </p:sp>
      </p:grpSp>
      <p:grpSp>
        <p:nvGrpSpPr>
          <p:cNvPr id="68" name="group-cas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2" name="case-3">
              <a:extLst xmlns:a="http://schemas.openxmlformats.org/drawingml/2006/main">
                <a:ext uri="{FF2B5EF4-FFF2-40B4-BE49-F238E27FC236}">
                  <a16:creationId xmlns:a16="http://schemas.microsoft.com/office/drawing/2014/main" id="{75200753-A2AB-4293-A2C9-373752ED13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0" y="51244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4288">
              <a:solidFill>
                <a:srgbClr val="467A92"/>
              </a:solidFill>
              <a:prstDash val="solid"/>
            </a:ln>
          </p:spPr>
        </p:sp>
        <p:sp>
          <p:nvSpPr>
            <p:cNvPr id="43" name="case-title-3">
              <a:extLst xmlns:a="http://schemas.openxmlformats.org/drawingml/2006/main">
                <a:ext uri="{FF2B5EF4-FFF2-40B4-BE49-F238E27FC236}">
                  <a16:creationId xmlns:a16="http://schemas.microsoft.com/office/drawing/2014/main" id="{0C6DBEB6-274A-4B3C-9AFD-3D8A45360B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52578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ModernTSF</a:t>
              </a:r>
            </a:p>
          </p:txBody>
        </p:sp>
        <p:sp>
          <p:nvSpPr>
            <p:cNvPr id="44" name="case-layer-3">
              <a:extLst xmlns:a="http://schemas.openxmlformats.org/drawingml/2006/main">
                <a:ext uri="{FF2B5EF4-FFF2-40B4-BE49-F238E27FC236}">
                  <a16:creationId xmlns:a16="http://schemas.microsoft.com/office/drawing/2014/main" id="{60FAFAB0-6450-4FBD-AED3-994C01E5B6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25350" y="52768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Infrastructure</a:t>
              </a:r>
            </a:p>
          </p:txBody>
        </p:sp>
        <p:sp>
          <p:nvSpPr>
            <p:cNvPr id="45" name="case-body-3">
              <a:extLst xmlns:a="http://schemas.openxmlformats.org/drawingml/2006/main">
                <a:ext uri="{FF2B5EF4-FFF2-40B4-BE49-F238E27FC236}">
                  <a16:creationId xmlns:a16="http://schemas.microsoft.com/office/drawing/2014/main" id="{119DA84E-E71C-4904-AF51-4A9678673E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77500" y="55816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Forecasting models and datasets provide resources for task evaluation.</a:t>
              </a:r>
            </a:p>
          </p:txBody>
        </p:sp>
      </p:grpSp>
      <p:grpSp>
        <p:nvGrpSpPr>
          <p:cNvPr id="69" name="group-paper-card-field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paper-card-field-1">
              <a:extLst xmlns:a="http://schemas.openxmlformats.org/drawingml/2006/main">
                <a:ext uri="{FF2B5EF4-FFF2-40B4-BE49-F238E27FC236}">
                  <a16:creationId xmlns:a16="http://schemas.microsoft.com/office/drawing/2014/main" id="{118C6E2B-8525-4F07-8C4E-295C53DEF7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432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0" name="paper-card-field-text-1">
              <a:extLst xmlns:a="http://schemas.openxmlformats.org/drawingml/2006/main">
                <a:ext uri="{FF2B5EF4-FFF2-40B4-BE49-F238E27FC236}">
                  <a16:creationId xmlns:a16="http://schemas.microsoft.com/office/drawing/2014/main" id="{A45335C8-A120-4438-976D-50F148215F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</p:grpSp>
      <p:grpSp>
        <p:nvGrpSpPr>
          <p:cNvPr id="70" name="group-paper-card-field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1" name="paper-card-field-2">
              <a:extLst xmlns:a="http://schemas.openxmlformats.org/drawingml/2006/main">
                <a:ext uri="{FF2B5EF4-FFF2-40B4-BE49-F238E27FC236}">
                  <a16:creationId xmlns:a16="http://schemas.microsoft.com/office/drawing/2014/main" id="{3187C65B-3F05-46C0-92B5-B5F88FBFB7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054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2" name="paper-card-field-text-2">
              <a:extLst xmlns:a="http://schemas.openxmlformats.org/drawingml/2006/main">
                <a:ext uri="{FF2B5EF4-FFF2-40B4-BE49-F238E27FC236}">
                  <a16:creationId xmlns:a16="http://schemas.microsoft.com/office/drawing/2014/main" id="{C3F67FAE-4D0C-47B0-A0C6-E7B892EB04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007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</a:t>
              </a:r>
            </a:p>
          </p:txBody>
        </p:sp>
      </p:grpSp>
      <p:grpSp>
        <p:nvGrpSpPr>
          <p:cNvPr id="71" name="group-paper-card-field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3" name="paper-card-field-3">
              <a:extLst xmlns:a="http://schemas.openxmlformats.org/drawingml/2006/main">
                <a:ext uri="{FF2B5EF4-FFF2-40B4-BE49-F238E27FC236}">
                  <a16:creationId xmlns:a16="http://schemas.microsoft.com/office/drawing/2014/main" id="{A803D286-02C7-4A2D-896B-9590620CA3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677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4" name="paper-card-field-text-3">
              <a:extLst xmlns:a="http://schemas.openxmlformats.org/drawingml/2006/main">
                <a:ext uri="{FF2B5EF4-FFF2-40B4-BE49-F238E27FC236}">
                  <a16:creationId xmlns:a16="http://schemas.microsoft.com/office/drawing/2014/main" id="{CEC3C2AD-17B4-4BBB-AC09-8806449045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629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72" name="group-paper-card-field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5" name="paper-card-field-4">
              <a:extLst xmlns:a="http://schemas.openxmlformats.org/drawingml/2006/main">
                <a:ext uri="{FF2B5EF4-FFF2-40B4-BE49-F238E27FC236}">
                  <a16:creationId xmlns:a16="http://schemas.microsoft.com/office/drawing/2014/main" id="{7F0503A7-6024-411F-B31D-A99D4CD0B6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299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6" name="paper-card-field-text-4">
              <a:extLst xmlns:a="http://schemas.openxmlformats.org/drawingml/2006/main">
                <a:ext uri="{FF2B5EF4-FFF2-40B4-BE49-F238E27FC236}">
                  <a16:creationId xmlns:a16="http://schemas.microsoft.com/office/drawing/2014/main" id="{718B400C-1DD3-4B28-86EA-3CF5711F97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252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Evidence locator</a:t>
              </a:r>
            </a:p>
          </p:txBody>
        </p:sp>
      </p:grpSp>
      <p:grpSp>
        <p:nvGrpSpPr>
          <p:cNvPr id="73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6" name="case-rule">
              <a:extLst xmlns:a="http://schemas.openxmlformats.org/drawingml/2006/main">
                <a:ext uri="{FF2B5EF4-FFF2-40B4-BE49-F238E27FC236}">
                  <a16:creationId xmlns:a16="http://schemas.microsoft.com/office/drawing/2014/main" id="{FC79B400-B47C-4100-8887-48E808872B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87000" y="6324600"/>
              <a:ext cx="4019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Source passages connect each case to its claims, modules, and task requirements.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6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2026-10-02T08:41:54.1110000Z</dcterms:created>
  <dcterms:modified xsi:type="dcterms:W3CDTF">2026-10-02T08:41:54.1110000Z</dcterms:modified>
</coreProperties>
</file>