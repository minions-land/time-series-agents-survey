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221f170f9274086" /><Relationship Type="http://schemas.openxmlformats.org/officeDocument/2006/relationships/extended-properties" Target="/docProps/app.xml" Id="R29e35edd98f840eb" /><Relationship Type="http://schemas.openxmlformats.org/officeDocument/2006/relationships/officeDocument" Target="/ppt/presentation.xml" Id="R1a3c6b71eb5c4c9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59efc94876d426e"/>
  </p:sldMasterIdLst>
  <p:notesMasterIdLst>
    <p:notesMasterId xmlns:r="http://schemas.openxmlformats.org/officeDocument/2006/relationships" r:id="Rd580da435860420a"/>
  </p:notesMasterIdLst>
  <p:sldIdLst>
    <p:sldId xmlns:r="http://schemas.openxmlformats.org/officeDocument/2006/relationships" id="256" r:id="Rdf275c33d0f84d05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1ce85ad712d493f" /><Relationship Type="http://schemas.openxmlformats.org/officeDocument/2006/relationships/slideMaster" Target="/ppt/slideMasters/slideMaster1.xml" Id="Rd59efc94876d426e" /><Relationship Type="http://schemas.openxmlformats.org/officeDocument/2006/relationships/notesMaster" Target="/ppt/notesMasters/notesMaster1.xml" Id="Rd580da435860420a" /><Relationship Type="http://schemas.openxmlformats.org/officeDocument/2006/relationships/presProps" Target="/ppt/presProps.xml" Id="Rc674d34131b042ec" /><Relationship Type="http://schemas.openxmlformats.org/officeDocument/2006/relationships/tableStyles" Target="/ppt/tableStyles.xml" Id="R83fec1baa15b4d91" /><Relationship Type="http://schemas.openxmlformats.org/officeDocument/2006/relationships/slide" Target="/ppt/slides/slide1.xml" Id="Rdf275c33d0f84d0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eff441a7a024cb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25a5e363dd3424f" /><Relationship Type="http://schemas.openxmlformats.org/officeDocument/2006/relationships/notesMaster" Target="/ppt/notesMasters/notesMaster1.xml" Id="R111e1c1e191d400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problems and focused system cases. The left panel translates ledger gaps into evidence-backed research questions. The right panel places ChatTS on the LLM side, TimeClaw in the General Time-Series Harness, and ModernTSF in infrastructure. The bottom strip shows the paper-card fields used to record each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de7ed4bc44457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98cc2ea349f4ee5" /><Relationship Type="http://schemas.openxmlformats.org/officeDocument/2006/relationships/slideLayout" Target="/ppt/slideLayouts/slideLayout1.xml" Id="R9f843f96d212406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f843f96d212406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a2945ea41e43cd" /><Relationship Type="http://schemas.openxmlformats.org/officeDocument/2006/relationships/notesSlide" Target="/ppt/notesSlides/notesSlide1.xml" Id="R38651fc591ac42b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B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figure-title">
            <a:extLst xmlns:a="http://schemas.openxmlformats.org/drawingml/2006/main">
              <a:ext uri="{FF2B5EF4-FFF2-40B4-BE49-F238E27FC236}">
                <a16:creationId xmlns:a16="http://schemas.microsoft.com/office/drawing/2014/main" id="{16DB7632-F8AC-44CC-8DDB-DF77CCC3B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1381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2550" b="1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rPr>
              <a:t>Open Problems and System Cases</a:t>
            </a:r>
          </a:p>
        </p:txBody>
      </p:sp>
      <p:sp>
        <p:nvSpPr>
          <p:cNvPr id="2" name="figure-subtitle">
            <a:extLst xmlns:a="http://schemas.openxmlformats.org/drawingml/2006/main">
              <a:ext uri="{FF2B5EF4-FFF2-40B4-BE49-F238E27FC236}">
                <a16:creationId xmlns:a16="http://schemas.microsoft.com/office/drawing/2014/main" id="{FF7DEF8B-13EB-4D8A-87D6-E515A71A3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28675"/>
            <a:ext cx="1381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1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275" b="0" i="1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rPr>
              <a:t>The paper card exposes gaps at the interfaces between model, runtime, temporal module, and task contract.</a:t>
            </a:r>
          </a:p>
        </p:txBody>
      </p:sp>
      <p:sp>
        <p:nvSpPr>
          <p:cNvPr id="3" name="open-problems-panel">
            <a:extLst xmlns:a="http://schemas.openxmlformats.org/drawingml/2006/main">
              <a:ext uri="{FF2B5EF4-FFF2-40B4-BE49-F238E27FC236}">
                <a16:creationId xmlns:a16="http://schemas.microsoft.com/office/drawing/2014/main" id="{D694030F-5924-41FF-9ABB-7FF2C7CEF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66850"/>
            <a:ext cx="9048750" cy="5429250"/>
          </a:xfrm>
          <a:prstGeom xmlns:a="http://schemas.openxmlformats.org/drawingml/2006/main" prst="roundRect">
            <a:avLst>
              <a:gd name="adj" fmla="val 3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3E8167"/>
            </a:solidFill>
            <a:prstDash val="solid"/>
          </a:ln>
        </p:spPr>
      </p:sp>
      <p:sp>
        <p:nvSpPr>
          <p:cNvPr id="4" name="open-problems-title">
            <a:extLst xmlns:a="http://schemas.openxmlformats.org/drawingml/2006/main">
              <a:ext uri="{FF2B5EF4-FFF2-40B4-BE49-F238E27FC236}">
                <a16:creationId xmlns:a16="http://schemas.microsoft.com/office/drawing/2014/main" id="{526D4A70-AAF3-4A69-B460-3554BFB22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714500"/>
            <a:ext cx="847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3E81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25" b="1" i="0">
                <a:solidFill>
                  <a:srgbClr val="3E8167"/>
                </a:solidFill>
                <a:latin typeface="Times New Roman"/>
                <a:ea typeface="Times New Roman"/>
                <a:cs typeface="Times New Roman"/>
              </a:rPr>
              <a:t>Open problems exposed by the ledger</a:t>
            </a:r>
          </a:p>
        </p:txBody>
      </p:sp>
      <p:sp>
        <p:nvSpPr>
          <p:cNvPr id="5" name="open-problems-subtitle">
            <a:extLst xmlns:a="http://schemas.openxmlformats.org/drawingml/2006/main">
              <a:ext uri="{FF2B5EF4-FFF2-40B4-BE49-F238E27FC236}">
                <a16:creationId xmlns:a16="http://schemas.microsoft.com/office/drawing/2014/main" id="{05F7F76B-0E51-447A-81D5-6386EFDF9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38350"/>
            <a:ext cx="8477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 i="1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0" i="1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rPr>
              <a:t>Each gap links a missing capability to a layer and an evidence requirement.</a:t>
            </a:r>
          </a:p>
        </p:txBody>
      </p:sp>
      <p:sp>
        <p:nvSpPr>
          <p:cNvPr id="6" name="problem-1">
            <a:extLst xmlns:a="http://schemas.openxmlformats.org/drawingml/2006/main">
              <a:ext uri="{FF2B5EF4-FFF2-40B4-BE49-F238E27FC236}">
                <a16:creationId xmlns:a16="http://schemas.microsoft.com/office/drawing/2014/main" id="{7851EBD8-CC1D-405C-B0D8-DF0A36E36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33650"/>
            <a:ext cx="84010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8F2EA"/>
          </a:solidFill>
          <a:ln xmlns:a="http://schemas.openxmlformats.org/drawingml/2006/main" w="12859">
            <a:solidFill>
              <a:srgbClr val="3E8167"/>
            </a:solidFill>
            <a:prstDash val="solid"/>
          </a:ln>
        </p:spPr>
      </p:sp>
      <p:sp>
        <p:nvSpPr>
          <p:cNvPr id="7" name="problem-title-1">
            <a:extLst xmlns:a="http://schemas.openxmlformats.org/drawingml/2006/main">
              <a:ext uri="{FF2B5EF4-FFF2-40B4-BE49-F238E27FC236}">
                <a16:creationId xmlns:a16="http://schemas.microsoft.com/office/drawing/2014/main" id="{D5DEEB79-091F-480C-AA6F-1C38DAABC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638425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3E81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3E8167"/>
                </a:solidFill>
                <a:latin typeface="Times New Roman"/>
                <a:ea typeface="Times New Roman"/>
                <a:cs typeface="Times New Roman"/>
              </a:rPr>
              <a:t>Temporal and numerical faithfulness</a:t>
            </a:r>
          </a:p>
        </p:txBody>
      </p:sp>
      <p:sp>
        <p:nvSpPr>
          <p:cNvPr id="8" name="problem-body-1">
            <a:extLst xmlns:a="http://schemas.openxmlformats.org/drawingml/2006/main">
              <a:ext uri="{FF2B5EF4-FFF2-40B4-BE49-F238E27FC236}">
                <a16:creationId xmlns:a16="http://schemas.microsoft.com/office/drawing/2014/main" id="{26CAFAB6-8F55-4B65-88D7-355A673E5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64795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13" b="0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13" b="0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rPr>
              <a:t>Typed time operations, units, chronology guards, and end-to-end fidelity.</a:t>
            </a:r>
          </a:p>
        </p:txBody>
      </p:sp>
      <p:sp>
        <p:nvSpPr>
          <p:cNvPr id="9" name="problem-layer-1">
            <a:extLst xmlns:a="http://schemas.openxmlformats.org/drawingml/2006/main">
              <a:ext uri="{FF2B5EF4-FFF2-40B4-BE49-F238E27FC236}">
                <a16:creationId xmlns:a16="http://schemas.microsoft.com/office/drawing/2014/main" id="{9206F98A-BF02-4251-B464-E95EEE5C3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695575"/>
            <a:ext cx="990600" cy="28575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3E8167"/>
            </a:solidFill>
            <a:prstDash val="solid"/>
          </a:ln>
        </p:spPr>
      </p:sp>
      <p:sp>
        <p:nvSpPr>
          <p:cNvPr id="10" name="problem-layer-text-1">
            <a:extLst xmlns:a="http://schemas.openxmlformats.org/drawingml/2006/main">
              <a:ext uri="{FF2B5EF4-FFF2-40B4-BE49-F238E27FC236}">
                <a16:creationId xmlns:a16="http://schemas.microsoft.com/office/drawing/2014/main" id="{EFE15097-5F2D-4578-9515-3669FEFED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762250"/>
            <a:ext cx="838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 i="0">
                <a:solidFill>
                  <a:srgbClr val="3E81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63" b="1" i="0">
                <a:solidFill>
                  <a:srgbClr val="3E8167"/>
                </a:solidFill>
                <a:latin typeface="Times New Roman"/>
                <a:ea typeface="Times New Roman"/>
                <a:cs typeface="Times New Roman"/>
              </a:rPr>
              <a:t>GTS</a:t>
            </a:r>
          </a:p>
        </p:txBody>
      </p:sp>
      <p:sp>
        <p:nvSpPr>
          <p:cNvPr id="11" name="problem-2">
            <a:extLst xmlns:a="http://schemas.openxmlformats.org/drawingml/2006/main">
              <a:ext uri="{FF2B5EF4-FFF2-40B4-BE49-F238E27FC236}">
                <a16:creationId xmlns:a16="http://schemas.microsoft.com/office/drawing/2014/main" id="{B470C08F-71F4-4194-A4E9-A38C5B587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314700"/>
            <a:ext cx="84010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4EFF4"/>
          </a:solidFill>
          <a:ln xmlns:a="http://schemas.openxmlformats.org/drawingml/2006/main" w="12859">
            <a:solidFill>
              <a:srgbClr val="2D6E8F"/>
            </a:solidFill>
            <a:prstDash val="solid"/>
          </a:ln>
        </p:spPr>
      </p:sp>
      <p:sp>
        <p:nvSpPr>
          <p:cNvPr id="12" name="problem-title-2">
            <a:extLst xmlns:a="http://schemas.openxmlformats.org/drawingml/2006/main">
              <a:ext uri="{FF2B5EF4-FFF2-40B4-BE49-F238E27FC236}">
                <a16:creationId xmlns:a16="http://schemas.microsoft.com/office/drawing/2014/main" id="{D3B414C8-EDEC-403E-8479-AC8599F49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19475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D6E8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2D6E8F"/>
                </a:solidFill>
                <a:latin typeface="Times New Roman"/>
                <a:ea typeface="Times New Roman"/>
                <a:cs typeface="Times New Roman"/>
              </a:rPr>
              <a:t>Temporal provenance and memory</a:t>
            </a:r>
          </a:p>
        </p:txBody>
      </p:sp>
      <p:sp>
        <p:nvSpPr>
          <p:cNvPr id="13" name="problem-body-2">
            <a:extLst xmlns:a="http://schemas.openxmlformats.org/drawingml/2006/main">
              <a:ext uri="{FF2B5EF4-FFF2-40B4-BE49-F238E27FC236}">
                <a16:creationId xmlns:a16="http://schemas.microsoft.com/office/drawing/2014/main" id="{BDFCA961-7E52-4E00-87E8-8A2B0452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4290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13" b="0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13" b="0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rPr>
              <a:t>Point-in-time retrieval, revision history, regime awareness, and replayable evidence.</a:t>
            </a:r>
          </a:p>
        </p:txBody>
      </p:sp>
      <p:sp>
        <p:nvSpPr>
          <p:cNvPr id="14" name="problem-layer-2">
            <a:extLst xmlns:a="http://schemas.openxmlformats.org/drawingml/2006/main">
              <a:ext uri="{FF2B5EF4-FFF2-40B4-BE49-F238E27FC236}">
                <a16:creationId xmlns:a16="http://schemas.microsoft.com/office/drawing/2014/main" id="{0946B516-E350-4F72-B0B1-44B1A338E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476625"/>
            <a:ext cx="990600" cy="28575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D6E8F"/>
            </a:solidFill>
            <a:prstDash val="solid"/>
          </a:ln>
        </p:spPr>
      </p:sp>
      <p:sp>
        <p:nvSpPr>
          <p:cNvPr id="15" name="problem-layer-text-2">
            <a:extLst xmlns:a="http://schemas.openxmlformats.org/drawingml/2006/main">
              <a:ext uri="{FF2B5EF4-FFF2-40B4-BE49-F238E27FC236}">
                <a16:creationId xmlns:a16="http://schemas.microsoft.com/office/drawing/2014/main" id="{6F0AD8B2-C728-42BA-8C1A-FFEA0E8BF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543300"/>
            <a:ext cx="838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 i="0">
                <a:solidFill>
                  <a:srgbClr val="2D6E8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63" b="1" i="0">
                <a:solidFill>
                  <a:srgbClr val="2D6E8F"/>
                </a:solidFill>
                <a:latin typeface="Times New Roman"/>
                <a:ea typeface="Times New Roman"/>
                <a:cs typeface="Times New Roman"/>
              </a:rPr>
              <a:t>GH + GTS</a:t>
            </a:r>
          </a:p>
        </p:txBody>
      </p:sp>
      <p:sp>
        <p:nvSpPr>
          <p:cNvPr id="16" name="problem-3">
            <a:extLst xmlns:a="http://schemas.openxmlformats.org/drawingml/2006/main">
              <a:ext uri="{FF2B5EF4-FFF2-40B4-BE49-F238E27FC236}">
                <a16:creationId xmlns:a16="http://schemas.microsoft.com/office/drawing/2014/main" id="{ABAD662A-37E2-4E0F-BC09-286BE54E2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95750"/>
            <a:ext cx="84010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4EFF4"/>
          </a:solidFill>
          <a:ln xmlns:a="http://schemas.openxmlformats.org/drawingml/2006/main" w="12859">
            <a:solidFill>
              <a:srgbClr val="2D6E8F"/>
            </a:solidFill>
            <a:prstDash val="solid"/>
          </a:ln>
        </p:spPr>
      </p:sp>
      <p:sp>
        <p:nvSpPr>
          <p:cNvPr id="17" name="problem-title-3">
            <a:extLst xmlns:a="http://schemas.openxmlformats.org/drawingml/2006/main">
              <a:ext uri="{FF2B5EF4-FFF2-40B4-BE49-F238E27FC236}">
                <a16:creationId xmlns:a16="http://schemas.microsoft.com/office/drawing/2014/main" id="{2A9E6F77-58F1-49F5-AAF8-DB6BDB4C3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200525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D6E8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2D6E8F"/>
                </a:solidFill>
                <a:latin typeface="Times New Roman"/>
                <a:ea typeface="Times New Roman"/>
                <a:cs typeface="Times New Roman"/>
              </a:rPr>
              <a:t>Interface standardization</a:t>
            </a:r>
          </a:p>
        </p:txBody>
      </p:sp>
      <p:sp>
        <p:nvSpPr>
          <p:cNvPr id="18" name="problem-body-3">
            <a:extLst xmlns:a="http://schemas.openxmlformats.org/drawingml/2006/main">
              <a:ext uri="{FF2B5EF4-FFF2-40B4-BE49-F238E27FC236}">
                <a16:creationId xmlns:a16="http://schemas.microsoft.com/office/drawing/2014/main" id="{66D90CFA-3D1E-4100-A688-3058AED0C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21005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13" b="0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13" b="0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rPr>
              <a:t>Shared schemas for temporal workspaces, tools, traces, and validators.</a:t>
            </a:r>
          </a:p>
        </p:txBody>
      </p:sp>
      <p:sp>
        <p:nvSpPr>
          <p:cNvPr id="19" name="problem-layer-3">
            <a:extLst xmlns:a="http://schemas.openxmlformats.org/drawingml/2006/main">
              <a:ext uri="{FF2B5EF4-FFF2-40B4-BE49-F238E27FC236}">
                <a16:creationId xmlns:a16="http://schemas.microsoft.com/office/drawing/2014/main" id="{48A0B3F6-3379-4DCA-A748-191A90A46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257675"/>
            <a:ext cx="990600" cy="28575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D6E8F"/>
            </a:solidFill>
            <a:prstDash val="solid"/>
          </a:ln>
        </p:spPr>
      </p:sp>
      <p:sp>
        <p:nvSpPr>
          <p:cNvPr id="20" name="problem-layer-text-3">
            <a:extLst xmlns:a="http://schemas.openxmlformats.org/drawingml/2006/main">
              <a:ext uri="{FF2B5EF4-FFF2-40B4-BE49-F238E27FC236}">
                <a16:creationId xmlns:a16="http://schemas.microsoft.com/office/drawing/2014/main" id="{1827AAA4-D00A-49C6-90CE-8CF2480D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324350"/>
            <a:ext cx="838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 i="0">
                <a:solidFill>
                  <a:srgbClr val="2D6E8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63" b="1" i="0">
                <a:solidFill>
                  <a:srgbClr val="2D6E8F"/>
                </a:solidFill>
                <a:latin typeface="Times New Roman"/>
                <a:ea typeface="Times New Roman"/>
                <a:cs typeface="Times New Roman"/>
              </a:rPr>
              <a:t>GH + GTS</a:t>
            </a:r>
          </a:p>
        </p:txBody>
      </p:sp>
      <p:sp>
        <p:nvSpPr>
          <p:cNvPr id="21" name="problem-4">
            <a:extLst xmlns:a="http://schemas.openxmlformats.org/drawingml/2006/main">
              <a:ext uri="{FF2B5EF4-FFF2-40B4-BE49-F238E27FC236}">
                <a16:creationId xmlns:a16="http://schemas.microsoft.com/office/drawing/2014/main" id="{07E08998-E459-455B-B685-647360A10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876800"/>
            <a:ext cx="84010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4EFF4"/>
          </a:solidFill>
          <a:ln xmlns:a="http://schemas.openxmlformats.org/drawingml/2006/main" w="12859">
            <a:solidFill>
              <a:srgbClr val="2D6E8F"/>
            </a:solidFill>
            <a:prstDash val="solid"/>
          </a:ln>
        </p:spPr>
      </p:sp>
      <p:sp>
        <p:nvSpPr>
          <p:cNvPr id="22" name="problem-title-4">
            <a:extLst xmlns:a="http://schemas.openxmlformats.org/drawingml/2006/main">
              <a:ext uri="{FF2B5EF4-FFF2-40B4-BE49-F238E27FC236}">
                <a16:creationId xmlns:a16="http://schemas.microsoft.com/office/drawing/2014/main" id="{4F8E9791-79CE-4DA1-A332-AD97EA5C2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981575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D6E8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2D6E8F"/>
                </a:solidFill>
                <a:latin typeface="Times New Roman"/>
                <a:ea typeface="Times New Roman"/>
                <a:cs typeface="Times New Roman"/>
              </a:rPr>
              <a:t>Safe component evolution</a:t>
            </a:r>
          </a:p>
        </p:txBody>
      </p:sp>
      <p:sp>
        <p:nvSpPr>
          <p:cNvPr id="23" name="problem-body-4">
            <a:extLst xmlns:a="http://schemas.openxmlformats.org/drawingml/2006/main">
              <a:ext uri="{FF2B5EF4-FFF2-40B4-BE49-F238E27FC236}">
                <a16:creationId xmlns:a16="http://schemas.microsoft.com/office/drawing/2014/main" id="{6E277624-B1DB-4FE3-B25D-9AA61AAA5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9911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13" b="0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13" b="0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rPr>
              <a:t>Regression checks and held-out temporal tests for new tools, policies, and memories.</a:t>
            </a:r>
          </a:p>
        </p:txBody>
      </p:sp>
      <p:sp>
        <p:nvSpPr>
          <p:cNvPr id="24" name="problem-layer-4">
            <a:extLst xmlns:a="http://schemas.openxmlformats.org/drawingml/2006/main">
              <a:ext uri="{FF2B5EF4-FFF2-40B4-BE49-F238E27FC236}">
                <a16:creationId xmlns:a16="http://schemas.microsoft.com/office/drawing/2014/main" id="{8FCCC103-11DF-4E5C-A9A4-69EC82D29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038725"/>
            <a:ext cx="990600" cy="28575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D6E8F"/>
            </a:solidFill>
            <a:prstDash val="solid"/>
          </a:ln>
        </p:spPr>
      </p:sp>
      <p:sp>
        <p:nvSpPr>
          <p:cNvPr id="25" name="problem-layer-text-4">
            <a:extLst xmlns:a="http://schemas.openxmlformats.org/drawingml/2006/main">
              <a:ext uri="{FF2B5EF4-FFF2-40B4-BE49-F238E27FC236}">
                <a16:creationId xmlns:a16="http://schemas.microsoft.com/office/drawing/2014/main" id="{CE0655C0-9261-482E-9040-F9E89F9BC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105400"/>
            <a:ext cx="838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 i="0">
                <a:solidFill>
                  <a:srgbClr val="2D6E8F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63" b="1" i="0">
                <a:solidFill>
                  <a:srgbClr val="2D6E8F"/>
                </a:solidFill>
                <a:latin typeface="Times New Roman"/>
                <a:ea typeface="Times New Roman"/>
                <a:cs typeface="Times New Roman"/>
              </a:rPr>
              <a:t>GH</a:t>
            </a:r>
          </a:p>
        </p:txBody>
      </p:sp>
      <p:sp>
        <p:nvSpPr>
          <p:cNvPr id="26" name="problem-5">
            <a:extLst xmlns:a="http://schemas.openxmlformats.org/drawingml/2006/main">
              <a:ext uri="{FF2B5EF4-FFF2-40B4-BE49-F238E27FC236}">
                <a16:creationId xmlns:a16="http://schemas.microsoft.com/office/drawing/2014/main" id="{62CA872F-BFE0-4C97-8A98-0204446F0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657850"/>
            <a:ext cx="84010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8F1DF"/>
          </a:solidFill>
          <a:ln xmlns:a="http://schemas.openxmlformats.org/drawingml/2006/main" w="12859">
            <a:solidFill>
              <a:srgbClr val="B78324"/>
            </a:solidFill>
            <a:prstDash val="solid"/>
          </a:ln>
        </p:spPr>
      </p:sp>
      <p:sp>
        <p:nvSpPr>
          <p:cNvPr id="27" name="problem-title-5">
            <a:extLst xmlns:a="http://schemas.openxmlformats.org/drawingml/2006/main">
              <a:ext uri="{FF2B5EF4-FFF2-40B4-BE49-F238E27FC236}">
                <a16:creationId xmlns:a16="http://schemas.microsoft.com/office/drawing/2014/main" id="{6E05DBFD-E297-45A0-8343-68491F0A3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762625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783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B78324"/>
                </a:solidFill>
                <a:latin typeface="Times New Roman"/>
                <a:ea typeface="Times New Roman"/>
                <a:cs typeface="Times New Roman"/>
              </a:rPr>
              <a:t>Decision-centered evaluation</a:t>
            </a:r>
          </a:p>
        </p:txBody>
      </p:sp>
      <p:sp>
        <p:nvSpPr>
          <p:cNvPr id="28" name="problem-body-5">
            <a:extLst xmlns:a="http://schemas.openxmlformats.org/drawingml/2006/main">
              <a:ext uri="{FF2B5EF4-FFF2-40B4-BE49-F238E27FC236}">
                <a16:creationId xmlns:a16="http://schemas.microsoft.com/office/drawing/2014/main" id="{A129E284-076C-42C2-95B4-7DD06F37E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13" b="0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13" b="0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rPr>
              <a:t>Connect forecasts and diagnoses to action quality, cost, uncertainty, and review.</a:t>
            </a:r>
          </a:p>
        </p:txBody>
      </p:sp>
      <p:sp>
        <p:nvSpPr>
          <p:cNvPr id="29" name="problem-layer-5">
            <a:extLst xmlns:a="http://schemas.openxmlformats.org/drawingml/2006/main">
              <a:ext uri="{FF2B5EF4-FFF2-40B4-BE49-F238E27FC236}">
                <a16:creationId xmlns:a16="http://schemas.microsoft.com/office/drawing/2014/main" id="{1C082A3A-B34D-4523-B2B6-8972E907D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819775"/>
            <a:ext cx="990600" cy="285750"/>
          </a:xfrm>
          <a:prstGeom xmlns:a="http://schemas.openxmlformats.org/drawingml/2006/main" prst="roundRect">
            <a:avLst>
              <a:gd name="adj" fmla="val 3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78324"/>
            </a:solidFill>
            <a:prstDash val="solid"/>
          </a:ln>
        </p:spPr>
      </p:sp>
      <p:sp>
        <p:nvSpPr>
          <p:cNvPr id="30" name="problem-layer-text-5">
            <a:extLst xmlns:a="http://schemas.openxmlformats.org/drawingml/2006/main">
              <a:ext uri="{FF2B5EF4-FFF2-40B4-BE49-F238E27FC236}">
                <a16:creationId xmlns:a16="http://schemas.microsoft.com/office/drawing/2014/main" id="{261F4B63-EB73-4D41-809B-84824719E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886450"/>
            <a:ext cx="838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 i="0">
                <a:solidFill>
                  <a:srgbClr val="B78324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863" b="1" i="0">
                <a:solidFill>
                  <a:srgbClr val="B78324"/>
                </a:solidFill>
                <a:latin typeface="Times New Roman"/>
                <a:ea typeface="Times New Roman"/>
                <a:cs typeface="Times New Roman"/>
              </a:rPr>
              <a:t>TSK</a:t>
            </a:r>
          </a:p>
        </p:txBody>
      </p:sp>
      <p:sp>
        <p:nvSpPr>
          <p:cNvPr id="31" name="system-cases-panel">
            <a:extLst xmlns:a="http://schemas.openxmlformats.org/drawingml/2006/main">
              <a:ext uri="{FF2B5EF4-FFF2-40B4-BE49-F238E27FC236}">
                <a16:creationId xmlns:a16="http://schemas.microsoft.com/office/drawing/2014/main" id="{9B1A7BFF-BD55-40A1-8905-35634DA01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466850"/>
            <a:ext cx="4591050" cy="5429250"/>
          </a:xfrm>
          <a:prstGeom xmlns:a="http://schemas.openxmlformats.org/drawingml/2006/main" prst="roundRect">
            <a:avLst>
              <a:gd name="adj" fmla="val 456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058A6"/>
            </a:solidFill>
            <a:prstDash val="solid"/>
          </a:ln>
        </p:spPr>
      </p:sp>
      <p:sp>
        <p:nvSpPr>
          <p:cNvPr id="32" name="system-cases-title">
            <a:extLst xmlns:a="http://schemas.openxmlformats.org/drawingml/2006/main">
              <a:ext uri="{FF2B5EF4-FFF2-40B4-BE49-F238E27FC236}">
                <a16:creationId xmlns:a16="http://schemas.microsoft.com/office/drawing/2014/main" id="{E91DE981-6CAD-4269-AD41-D67949E42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714500"/>
            <a:ext cx="405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7058A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725" b="1" i="0">
                <a:solidFill>
                  <a:srgbClr val="7058A6"/>
                </a:solidFill>
                <a:latin typeface="Times New Roman"/>
                <a:ea typeface="Times New Roman"/>
                <a:cs typeface="Times New Roman"/>
              </a:rPr>
              <a:t>Focused system cases</a:t>
            </a:r>
          </a:p>
        </p:txBody>
      </p:sp>
      <p:sp>
        <p:nvSpPr>
          <p:cNvPr id="33" name="system-cases-subtitle">
            <a:extLst xmlns:a="http://schemas.openxmlformats.org/drawingml/2006/main">
              <a:ext uri="{FF2B5EF4-FFF2-40B4-BE49-F238E27FC236}">
                <a16:creationId xmlns:a16="http://schemas.microsoft.com/office/drawing/2014/main" id="{AAE55E73-3F39-44E8-BA14-C91868FD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038350"/>
            <a:ext cx="405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 i="1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0" i="1">
                <a:solidFill>
                  <a:srgbClr val="6B7280"/>
                </a:solidFill>
                <a:latin typeface="Times New Roman"/>
                <a:ea typeface="Times New Roman"/>
                <a:cs typeface="Times New Roman"/>
              </a:rPr>
              <a:t>Three cards show different contribution loci.</a:t>
            </a:r>
          </a:p>
        </p:txBody>
      </p:sp>
      <p:sp>
        <p:nvSpPr>
          <p:cNvPr id="34" name="case-1">
            <a:extLst xmlns:a="http://schemas.openxmlformats.org/drawingml/2006/main">
              <a:ext uri="{FF2B5EF4-FFF2-40B4-BE49-F238E27FC236}">
                <a16:creationId xmlns:a16="http://schemas.microsoft.com/office/drawing/2014/main" id="{97338457-99B0-46F7-B4B8-1328F01A0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2533650"/>
            <a:ext cx="4019550" cy="1066800"/>
          </a:xfrm>
          <a:prstGeom xmlns:a="http://schemas.openxmlformats.org/drawingml/2006/main" prst="roundRect">
            <a:avLst>
              <a:gd name="adj" fmla="val 13393"/>
            </a:avLst>
          </a:prstGeom>
          <a:solidFill xmlns:a="http://schemas.openxmlformats.org/drawingml/2006/main">
            <a:srgbClr val="EEEAF7"/>
          </a:solidFill>
          <a:ln xmlns:a="http://schemas.openxmlformats.org/drawingml/2006/main" w="14288">
            <a:solidFill>
              <a:srgbClr val="7058A6"/>
            </a:solidFill>
            <a:prstDash val="solid"/>
          </a:ln>
        </p:spPr>
      </p:sp>
      <p:sp>
        <p:nvSpPr>
          <p:cNvPr id="35" name="case-title-1">
            <a:extLst xmlns:a="http://schemas.openxmlformats.org/drawingml/2006/main">
              <a:ext uri="{FF2B5EF4-FFF2-40B4-BE49-F238E27FC236}">
                <a16:creationId xmlns:a16="http://schemas.microsoft.com/office/drawing/2014/main" id="{C0546180-7601-40AB-BCC3-CF250486D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6670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7058A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1" i="0">
                <a:solidFill>
                  <a:srgbClr val="7058A6"/>
                </a:solidFill>
                <a:latin typeface="Times New Roman"/>
                <a:ea typeface="Times New Roman"/>
                <a:cs typeface="Times New Roman"/>
              </a:rPr>
              <a:t>ChatTS</a:t>
            </a:r>
          </a:p>
        </p:txBody>
      </p:sp>
      <p:sp>
        <p:nvSpPr>
          <p:cNvPr id="36" name="case-layer-1">
            <a:extLst xmlns:a="http://schemas.openxmlformats.org/drawingml/2006/main">
              <a:ext uri="{FF2B5EF4-FFF2-40B4-BE49-F238E27FC236}">
                <a16:creationId xmlns:a16="http://schemas.microsoft.com/office/drawing/2014/main" id="{59D71578-0570-48D9-9C47-94AD07618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25350" y="26860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38" b="1" i="0">
                <a:solidFill>
                  <a:srgbClr val="7058A6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38" b="1" i="0">
                <a:solidFill>
                  <a:srgbClr val="7058A6"/>
                </a:solidFill>
                <a:latin typeface="Times New Roman"/>
                <a:ea typeface="Times New Roman"/>
                <a:cs typeface="Times New Roman"/>
              </a:rPr>
              <a:t>LLM side</a:t>
            </a:r>
          </a:p>
        </p:txBody>
      </p:sp>
      <p:sp>
        <p:nvSpPr>
          <p:cNvPr id="37" name="case-body-1">
            <a:extLst xmlns:a="http://schemas.openxmlformats.org/drawingml/2006/main">
              <a:ext uri="{FF2B5EF4-FFF2-40B4-BE49-F238E27FC236}">
                <a16:creationId xmlns:a16="http://schemas.microsoft.com/office/drawing/2014/main" id="{DD0B5831-7C41-4BA6-8108-6BC9F1FA3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990850"/>
            <a:ext cx="3638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90" b="0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90" b="0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rPr>
              <a:t>Temporal alignment and dialogue supervision make numerical series available to language reasoning.</a:t>
            </a:r>
          </a:p>
        </p:txBody>
      </p:sp>
      <p:sp>
        <p:nvSpPr>
          <p:cNvPr id="38" name="case-2">
            <a:extLst xmlns:a="http://schemas.openxmlformats.org/drawingml/2006/main">
              <a:ext uri="{FF2B5EF4-FFF2-40B4-BE49-F238E27FC236}">
                <a16:creationId xmlns:a16="http://schemas.microsoft.com/office/drawing/2014/main" id="{5905C54A-CBDB-4E66-9ECC-908A58197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3829050"/>
            <a:ext cx="4019550" cy="1066800"/>
          </a:xfrm>
          <a:prstGeom xmlns:a="http://schemas.openxmlformats.org/drawingml/2006/main" prst="roundRect">
            <a:avLst>
              <a:gd name="adj" fmla="val 13393"/>
            </a:avLst>
          </a:prstGeom>
          <a:solidFill xmlns:a="http://schemas.openxmlformats.org/drawingml/2006/main">
            <a:srgbClr val="E8F2EA"/>
          </a:solidFill>
          <a:ln xmlns:a="http://schemas.openxmlformats.org/drawingml/2006/main" w="14288">
            <a:solidFill>
              <a:srgbClr val="3E8167"/>
            </a:solidFill>
            <a:prstDash val="solid"/>
          </a:ln>
        </p:spPr>
      </p:sp>
      <p:sp>
        <p:nvSpPr>
          <p:cNvPr id="39" name="case-title-2">
            <a:extLst xmlns:a="http://schemas.openxmlformats.org/drawingml/2006/main">
              <a:ext uri="{FF2B5EF4-FFF2-40B4-BE49-F238E27FC236}">
                <a16:creationId xmlns:a16="http://schemas.microsoft.com/office/drawing/2014/main" id="{E617366A-825E-40A7-A125-73BFE2126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39624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3E81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1" i="0">
                <a:solidFill>
                  <a:srgbClr val="3E8167"/>
                </a:solidFill>
                <a:latin typeface="Times New Roman"/>
                <a:ea typeface="Times New Roman"/>
                <a:cs typeface="Times New Roman"/>
              </a:rPr>
              <a:t>TimeClaw</a:t>
            </a:r>
          </a:p>
        </p:txBody>
      </p:sp>
      <p:sp>
        <p:nvSpPr>
          <p:cNvPr id="40" name="case-layer-2">
            <a:extLst xmlns:a="http://schemas.openxmlformats.org/drawingml/2006/main">
              <a:ext uri="{FF2B5EF4-FFF2-40B4-BE49-F238E27FC236}">
                <a16:creationId xmlns:a16="http://schemas.microsoft.com/office/drawing/2014/main" id="{4BA529F5-D60C-49D5-85D6-5649EEE66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25350" y="39814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38" b="1" i="0">
                <a:solidFill>
                  <a:srgbClr val="3E816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38" b="1" i="0">
                <a:solidFill>
                  <a:srgbClr val="3E8167"/>
                </a:solidFill>
                <a:latin typeface="Times New Roman"/>
                <a:ea typeface="Times New Roman"/>
                <a:cs typeface="Times New Roman"/>
              </a:rPr>
              <a:t>GTS runtime</a:t>
            </a:r>
          </a:p>
        </p:txBody>
      </p:sp>
      <p:sp>
        <p:nvSpPr>
          <p:cNvPr id="41" name="case-body-2">
            <a:extLst xmlns:a="http://schemas.openxmlformats.org/drawingml/2006/main">
              <a:ext uri="{FF2B5EF4-FFF2-40B4-BE49-F238E27FC236}">
                <a16:creationId xmlns:a16="http://schemas.microsoft.com/office/drawing/2014/main" id="{73CF4E62-C47C-4717-B1B1-6C45677D0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4286250"/>
            <a:ext cx="3638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90" b="0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90" b="0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rPr>
              <a:t>Temporal tools, auditable trajectories, memory, and capability evolution become executable.</a:t>
            </a:r>
          </a:p>
        </p:txBody>
      </p:sp>
      <p:sp>
        <p:nvSpPr>
          <p:cNvPr id="42" name="case-3">
            <a:extLst xmlns:a="http://schemas.openxmlformats.org/drawingml/2006/main">
              <a:ext uri="{FF2B5EF4-FFF2-40B4-BE49-F238E27FC236}">
                <a16:creationId xmlns:a16="http://schemas.microsoft.com/office/drawing/2014/main" id="{75200753-A2AB-4293-A2C9-373752ED1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5124450"/>
            <a:ext cx="4019550" cy="1066800"/>
          </a:xfrm>
          <a:prstGeom xmlns:a="http://schemas.openxmlformats.org/drawingml/2006/main" prst="roundRect">
            <a:avLst>
              <a:gd name="adj" fmla="val 13393"/>
            </a:avLst>
          </a:prstGeom>
          <a:solidFill xmlns:a="http://schemas.openxmlformats.org/drawingml/2006/main">
            <a:srgbClr val="E9F0F4"/>
          </a:solidFill>
          <a:ln xmlns:a="http://schemas.openxmlformats.org/drawingml/2006/main" w="14288">
            <a:solidFill>
              <a:srgbClr val="467A92"/>
            </a:solidFill>
            <a:prstDash val="solid"/>
          </a:ln>
        </p:spPr>
      </p:sp>
      <p:sp>
        <p:nvSpPr>
          <p:cNvPr id="43" name="case-title-3">
            <a:extLst xmlns:a="http://schemas.openxmlformats.org/drawingml/2006/main">
              <a:ext uri="{FF2B5EF4-FFF2-40B4-BE49-F238E27FC236}">
                <a16:creationId xmlns:a16="http://schemas.microsoft.com/office/drawing/2014/main" id="{0C6DBEB6-274A-4B3C-9AFD-3D8A4536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52578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467A9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1" i="0">
                <a:solidFill>
                  <a:srgbClr val="467A92"/>
                </a:solidFill>
                <a:latin typeface="Times New Roman"/>
                <a:ea typeface="Times New Roman"/>
                <a:cs typeface="Times New Roman"/>
              </a:rPr>
              <a:t>ModernTSF</a:t>
            </a:r>
          </a:p>
        </p:txBody>
      </p:sp>
      <p:sp>
        <p:nvSpPr>
          <p:cNvPr id="44" name="case-layer-3">
            <a:extLst xmlns:a="http://schemas.openxmlformats.org/drawingml/2006/main">
              <a:ext uri="{FF2B5EF4-FFF2-40B4-BE49-F238E27FC236}">
                <a16:creationId xmlns:a16="http://schemas.microsoft.com/office/drawing/2014/main" id="{60FAFAB0-6450-4FBD-AED3-994C01E5B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25350" y="52768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38" b="1" i="0">
                <a:solidFill>
                  <a:srgbClr val="467A9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38" b="1" i="0">
                <a:solidFill>
                  <a:srgbClr val="467A92"/>
                </a:solidFill>
                <a:latin typeface="Times New Roman"/>
                <a:ea typeface="Times New Roman"/>
                <a:cs typeface="Times New Roman"/>
              </a:rPr>
              <a:t>Infrastructure</a:t>
            </a:r>
          </a:p>
        </p:txBody>
      </p:sp>
      <p:sp>
        <p:nvSpPr>
          <p:cNvPr id="45" name="case-body-3">
            <a:extLst xmlns:a="http://schemas.openxmlformats.org/drawingml/2006/main">
              <a:ext uri="{FF2B5EF4-FFF2-40B4-BE49-F238E27FC236}">
                <a16:creationId xmlns:a16="http://schemas.microsoft.com/office/drawing/2014/main" id="{119DA84E-E71C-4904-AF51-4A9678673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5581650"/>
            <a:ext cx="3638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90" b="0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990" b="0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rPr>
              <a:t>Models, datasets, artifacts, budgets, and recoverable execution support reproducible evaluation.</a:t>
            </a:r>
          </a:p>
        </p:txBody>
      </p:sp>
      <p:sp>
        <p:nvSpPr>
          <p:cNvPr id="46" name="case-rule">
            <a:extLst xmlns:a="http://schemas.openxmlformats.org/drawingml/2006/main">
              <a:ext uri="{FF2B5EF4-FFF2-40B4-BE49-F238E27FC236}">
                <a16:creationId xmlns:a16="http://schemas.microsoft.com/office/drawing/2014/main" id="{FC79B400-B47C-4100-8887-48E808872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24600"/>
            <a:ext cx="401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13" b="1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013" b="1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rPr>
              <a:t>The paper card records the claim, module, task contract, and supporting evidence for each case.</a:t>
            </a:r>
          </a:p>
        </p:txBody>
      </p:sp>
      <p:sp>
        <p:nvSpPr>
          <p:cNvPr id="47" name="paper-card-strip">
            <a:extLst xmlns:a="http://schemas.openxmlformats.org/drawingml/2006/main">
              <a:ext uri="{FF2B5EF4-FFF2-40B4-BE49-F238E27FC236}">
                <a16:creationId xmlns:a16="http://schemas.microsoft.com/office/drawing/2014/main" id="{68052FD0-12C7-4823-9B1E-A33BC9E53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181850"/>
            <a:ext cx="13944600" cy="819150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FBFBF8"/>
          </a:solidFill>
          <a:ln xmlns:a="http://schemas.openxmlformats.org/drawingml/2006/main" w="17145">
            <a:solidFill>
              <a:srgbClr val="467A92"/>
            </a:solidFill>
            <a:prstDash val="solid"/>
          </a:ln>
        </p:spPr>
      </p:sp>
      <p:sp>
        <p:nvSpPr>
          <p:cNvPr id="48" name="paper-card-title">
            <a:extLst xmlns:a="http://schemas.openxmlformats.org/drawingml/2006/main">
              <a:ext uri="{FF2B5EF4-FFF2-40B4-BE49-F238E27FC236}">
                <a16:creationId xmlns:a16="http://schemas.microsoft.com/office/drawing/2014/main" id="{520B109A-51B6-41E4-8989-7968B532A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73723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467A92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350" b="1" i="0">
                <a:solidFill>
                  <a:srgbClr val="467A92"/>
                </a:solidFill>
                <a:latin typeface="Times New Roman"/>
                <a:ea typeface="Times New Roman"/>
                <a:cs typeface="Times New Roman"/>
              </a:rPr>
              <a:t>Paper Card</a:t>
            </a:r>
          </a:p>
        </p:txBody>
      </p:sp>
      <p:sp>
        <p:nvSpPr>
          <p:cNvPr id="49" name="paper-card-field-1">
            <a:extLst xmlns:a="http://schemas.openxmlformats.org/drawingml/2006/main">
              <a:ext uri="{FF2B5EF4-FFF2-40B4-BE49-F238E27FC236}">
                <a16:creationId xmlns:a16="http://schemas.microsoft.com/office/drawing/2014/main" id="{118C6E2B-8525-4F07-8C4E-295C53DEF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7315200"/>
            <a:ext cx="2381250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467A92"/>
            </a:solidFill>
            <a:prstDash val="solid"/>
          </a:ln>
        </p:spPr>
      </p:sp>
      <p:sp>
        <p:nvSpPr>
          <p:cNvPr id="50" name="paper-card-field-text-1">
            <a:extLst xmlns:a="http://schemas.openxmlformats.org/drawingml/2006/main">
              <a:ext uri="{FF2B5EF4-FFF2-40B4-BE49-F238E27FC236}">
                <a16:creationId xmlns:a16="http://schemas.microsoft.com/office/drawing/2014/main" id="{A45335C8-A120-4438-976D-50F14821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7448550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rPr>
              <a:t>Claim</a:t>
            </a:r>
          </a:p>
        </p:txBody>
      </p:sp>
      <p:sp>
        <p:nvSpPr>
          <p:cNvPr id="51" name="paper-card-field-2">
            <a:extLst xmlns:a="http://schemas.openxmlformats.org/drawingml/2006/main">
              <a:ext uri="{FF2B5EF4-FFF2-40B4-BE49-F238E27FC236}">
                <a16:creationId xmlns:a16="http://schemas.microsoft.com/office/drawing/2014/main" id="{3187C65B-3F05-46C0-92B5-B5F88FBFB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7315200"/>
            <a:ext cx="2381250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467A92"/>
            </a:solidFill>
            <a:prstDash val="solid"/>
          </a:ln>
        </p:spPr>
      </p:sp>
      <p:sp>
        <p:nvSpPr>
          <p:cNvPr id="52" name="paper-card-field-text-2">
            <a:extLst xmlns:a="http://schemas.openxmlformats.org/drawingml/2006/main">
              <a:ext uri="{FF2B5EF4-FFF2-40B4-BE49-F238E27FC236}">
                <a16:creationId xmlns:a16="http://schemas.microsoft.com/office/drawing/2014/main" id="{C3F67FAE-4D0C-47B0-A0C6-E7B892EB0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7448550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rPr>
              <a:t>Module</a:t>
            </a:r>
          </a:p>
        </p:txBody>
      </p:sp>
      <p:sp>
        <p:nvSpPr>
          <p:cNvPr id="53" name="paper-card-field-3">
            <a:extLst xmlns:a="http://schemas.openxmlformats.org/drawingml/2006/main">
              <a:ext uri="{FF2B5EF4-FFF2-40B4-BE49-F238E27FC236}">
                <a16:creationId xmlns:a16="http://schemas.microsoft.com/office/drawing/2014/main" id="{A803D286-02C7-4A2D-896B-9590620CA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7315200"/>
            <a:ext cx="2381250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467A92"/>
            </a:solidFill>
            <a:prstDash val="solid"/>
          </a:ln>
        </p:spPr>
      </p:sp>
      <p:sp>
        <p:nvSpPr>
          <p:cNvPr id="54" name="paper-card-field-text-3">
            <a:extLst xmlns:a="http://schemas.openxmlformats.org/drawingml/2006/main">
              <a:ext uri="{FF2B5EF4-FFF2-40B4-BE49-F238E27FC236}">
                <a16:creationId xmlns:a16="http://schemas.microsoft.com/office/drawing/2014/main" id="{CEC3C2AD-17B4-4BBB-AC09-880644904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7448550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rPr>
              <a:t>Task contract</a:t>
            </a:r>
          </a:p>
        </p:txBody>
      </p:sp>
      <p:sp>
        <p:nvSpPr>
          <p:cNvPr id="55" name="paper-card-field-4">
            <a:extLst xmlns:a="http://schemas.openxmlformats.org/drawingml/2006/main">
              <a:ext uri="{FF2B5EF4-FFF2-40B4-BE49-F238E27FC236}">
                <a16:creationId xmlns:a16="http://schemas.microsoft.com/office/drawing/2014/main" id="{7F0503A7-6024-411F-B31D-A99D4CD0B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7315200"/>
            <a:ext cx="2381250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467A92"/>
            </a:solidFill>
            <a:prstDash val="solid"/>
          </a:ln>
        </p:spPr>
      </p:sp>
      <p:sp>
        <p:nvSpPr>
          <p:cNvPr id="56" name="paper-card-field-text-4">
            <a:extLst xmlns:a="http://schemas.openxmlformats.org/drawingml/2006/main">
              <a:ext uri="{FF2B5EF4-FFF2-40B4-BE49-F238E27FC236}">
                <a16:creationId xmlns:a16="http://schemas.microsoft.com/office/drawing/2014/main" id="{718B400C-1DD3-4B28-86EA-3CF5711F9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7448550"/>
            <a:ext cx="2190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defRPr>
            </a:pPr>
            <a:r>
              <a:rPr sz="1125" b="1" i="0">
                <a:solidFill>
                  <a:srgbClr val="1E2F47"/>
                </a:solidFill>
                <a:latin typeface="Times New Roman"/>
                <a:ea typeface="Times New Roman"/>
                <a:cs typeface="Times New Roman"/>
              </a:rPr>
              <a:t>Evidence locator</a:t>
            </a:r>
          </a:p>
        </p:txBody>
      </p:sp>
    </p:spTree>
    <p:extLst>
      <p:ext uri="{BB962C8B-B14F-4D97-AF65-F5344CB8AC3E}">
        <p14:creationId xmlns:p14="http://schemas.microsoft.com/office/powerpoint/2010/main" val="206967652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2026-10-02T08:41:54.1110000Z</dcterms:created>
  <dcterms:modified xsi:type="dcterms:W3CDTF">2026-10-02T08:41:54.1110000Z</dcterms:modified>
</coreProperties>
</file>