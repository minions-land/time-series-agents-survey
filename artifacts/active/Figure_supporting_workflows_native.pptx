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9276092a8224663" /><Relationship Type="http://schemas.openxmlformats.org/officeDocument/2006/relationships/extended-properties" Target="/docProps/app.xml" Id="Re9eb7bb00f704407" /><Relationship Type="http://schemas.openxmlformats.org/officeDocument/2006/relationships/officeDocument" Target="/ppt/presentation.xml" Id="R49d9d626c7b243c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74f3cffce5743a9"/>
  </p:sldMasterIdLst>
  <p:notesMasterIdLst>
    <p:notesMasterId xmlns:r="http://schemas.openxmlformats.org/officeDocument/2006/relationships" r:id="R548f3c0593b9421c"/>
  </p:notesMasterIdLst>
  <p:sldIdLst>
    <p:sldId xmlns:r="http://schemas.openxmlformats.org/officeDocument/2006/relationships" id="256" r:id="R315c46d56a31483d"/>
    <p:sldId xmlns:r="http://schemas.openxmlformats.org/officeDocument/2006/relationships" id="257" r:id="Rf20877b65fd54653"/>
    <p:sldId xmlns:r="http://schemas.openxmlformats.org/officeDocument/2006/relationships" id="258" r:id="Ra4f97209bcd44441"/>
    <p:sldId xmlns:r="http://schemas.openxmlformats.org/officeDocument/2006/relationships" id="259" r:id="Rca21eae5e9a544cc"/>
    <p:sldId xmlns:r="http://schemas.openxmlformats.org/officeDocument/2006/relationships" id="260" r:id="Re373dc0f140449f9"/>
    <p:sldId xmlns:r="http://schemas.openxmlformats.org/officeDocument/2006/relationships" id="261" r:id="Rf7ca6c0528f14295"/>
    <p:sldId xmlns:r="http://schemas.openxmlformats.org/officeDocument/2006/relationships" id="262" r:id="Rca81a2d91edc4d4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3bca09c20bd45f1" /><Relationship Type="http://schemas.openxmlformats.org/officeDocument/2006/relationships/slideMaster" Target="/ppt/slideMasters/slideMaster1.xml" Id="Rb74f3cffce5743a9" /><Relationship Type="http://schemas.openxmlformats.org/officeDocument/2006/relationships/notesMaster" Target="/ppt/notesMasters/notesMaster1.xml" Id="R548f3c0593b9421c" /><Relationship Type="http://schemas.openxmlformats.org/officeDocument/2006/relationships/presProps" Target="/ppt/presProps.xml" Id="Rfb102f6c0eea4f74" /><Relationship Type="http://schemas.openxmlformats.org/officeDocument/2006/relationships/tableStyles" Target="/ppt/tableStyles.xml" Id="Rc112f3fc2d504d43" /><Relationship Type="http://schemas.openxmlformats.org/officeDocument/2006/relationships/slide" Target="/ppt/slides/slide1.xml" Id="R315c46d56a31483d" /><Relationship Type="http://schemas.openxmlformats.org/officeDocument/2006/relationships/slide" Target="/ppt/slides/slide2.xml" Id="Rf20877b65fd54653" /><Relationship Type="http://schemas.openxmlformats.org/officeDocument/2006/relationships/slide" Target="/ppt/slides/slide3.xml" Id="Ra4f97209bcd44441" /><Relationship Type="http://schemas.openxmlformats.org/officeDocument/2006/relationships/slide" Target="/ppt/slides/slide4.xml" Id="Rca21eae5e9a544cc" /><Relationship Type="http://schemas.openxmlformats.org/officeDocument/2006/relationships/slide" Target="/ppt/slides/slide5.xml" Id="Re373dc0f140449f9" /><Relationship Type="http://schemas.openxmlformats.org/officeDocument/2006/relationships/slide" Target="/ppt/slides/slide6.xml" Id="Rf7ca6c0528f14295" /><Relationship Type="http://schemas.openxmlformats.org/officeDocument/2006/relationships/slide" Target="/ppt/slides/slide7.xml" Id="Rca81a2d91edc4d4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690b9582e2743f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689dbd36db24a68" /><Relationship Type="http://schemas.openxmlformats.org/officeDocument/2006/relationships/notesMaster" Target="/ppt/notesMasters/notesMaster1.xml" Id="R043a32490455488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684c2c11f584aff" /><Relationship Type="http://schemas.openxmlformats.org/officeDocument/2006/relationships/notesMaster" Target="/ppt/notesMasters/notesMaster1.xml" Id="Rdb1ae7bee1bb489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8f70a5c2eef4828" /><Relationship Type="http://schemas.openxmlformats.org/officeDocument/2006/relationships/notesMaster" Target="/ppt/notesMasters/notesMaster1.xml" Id="R3e4de3526c6042a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992239264084fa5" /><Relationship Type="http://schemas.openxmlformats.org/officeDocument/2006/relationships/notesMaster" Target="/ppt/notesMasters/notesMaster1.xml" Id="R8528decceba9424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442b35edfe44bb5" /><Relationship Type="http://schemas.openxmlformats.org/officeDocument/2006/relationships/notesMaster" Target="/ppt/notesMasters/notesMaster1.xml" Id="R7840142ea5c843b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f814efe13254df2" /><Relationship Type="http://schemas.openxmlformats.org/officeDocument/2006/relationships/notesMaster" Target="/ppt/notesMasters/notesMaster1.xml" Id="R8c9a3b6f709e476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320d668c9fb4486" /><Relationship Type="http://schemas.openxmlformats.org/officeDocument/2006/relationships/notesMaster" Target="/ppt/notesMasters/notesMaster1.xml" Id="Rf587f042c9d6427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Redrawn schematic adapted from ChatTS, Fig. 3. Labels and geometry are normalized for this survey; the original paper remains the source of the mechanism.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Redrawn schematic adapted from AION, Fig. 2. Labels and geometry are normalized for this survey; the original paper remains the source of the mechanism.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Redrawn schematic adapted from MERIT, Fig. 2. Labels and geometry are normalized for this survey; the original paper remains the source of the mechanism.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Redrawn schematic adapted from AnomaMind, Fig. 1. Labels and geometry are normalized for this survey; the original paper remains the source of the mechanism.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Redrawn schematic adapted from TIMECLAW, Fig. 2. Labels and geometry are normalized for this survey; the original paper remains the source of the mechanism.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Redrawn schematic adapted from TimeSeriesGym, Fig. 1. Labels and geometry are normalized for this survey; the original paper remains the source of the mechanism.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Redrawn schematic adapted from TS-Agent, Fig. 3. Labels and geometry are normalized for this survey; the original paper remains the source of the mechanism.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71675b81634b8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ad949f8f9b145e8" /><Relationship Type="http://schemas.openxmlformats.org/officeDocument/2006/relationships/slideLayout" Target="/ppt/slideLayouts/slideLayout1.xml" Id="R3e9359e44b52430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e9359e44b52430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83aeb9e11843ec" /><Relationship Type="http://schemas.openxmlformats.org/officeDocument/2006/relationships/notesSlide" Target="/ppt/notesSlides/notesSlide1.xml" Id="Ra4ff8746a7704fe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f73a990c0c459e" /><Relationship Type="http://schemas.openxmlformats.org/officeDocument/2006/relationships/notesSlide" Target="/ppt/notesSlides/notesSlide2.xml" Id="R0016c72abde3467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eb62647db64ec7" /><Relationship Type="http://schemas.openxmlformats.org/officeDocument/2006/relationships/notesSlide" Target="/ppt/notesSlides/notesSlide3.xml" Id="R0e19279865bb4cc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6480844bac41c8" /><Relationship Type="http://schemas.openxmlformats.org/officeDocument/2006/relationships/notesSlide" Target="/ppt/notesSlides/notesSlide4.xml" Id="Rd3c7d4e0ab0e4ad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6aee5c823b45e9" /><Relationship Type="http://schemas.openxmlformats.org/officeDocument/2006/relationships/notesSlide" Target="/ppt/notesSlides/notesSlide5.xml" Id="R2433a97310b3463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9fd51eab864935" /><Relationship Type="http://schemas.openxmlformats.org/officeDocument/2006/relationships/notesSlide" Target="/ppt/notesSlides/notesSlide6.xml" Id="R669b17bc0dc0418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7fc8b2739043b0" /><Relationship Type="http://schemas.openxmlformats.org/officeDocument/2006/relationships/notesSlide" Target="/ppt/notesSlides/notesSlide7.xml" Id="Rf9e0096ab655409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414397-18C3-4221-A8B8-7B42199F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28600"/>
            <a:ext cx="1123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2432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i="0">
                <a:solidFill>
                  <a:srgbClr val="24324A"/>
                </a:solidFill>
                <a:latin typeface="Times New Roman"/>
                <a:ea typeface="Times New Roman"/>
                <a:cs typeface="Times New Roman"/>
              </a:rPr>
              <a:t>Temporal alignment and instruction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52E9EA-C573-44BC-BBAC-142531AA1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7700"/>
            <a:ext cx="1123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 i="1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0" i="1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rPr>
              <a:t>LLM-side contribution: numerical series enter language-model training through two complementary data paths.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BEFAC4-03DD-45A9-BB02-265418C3A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17145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D9EEF0"/>
          </a:solidFill>
          <a:ln xmlns:a="http://schemas.openxmlformats.org/drawingml/2006/main" w="13335">
            <a:solidFill>
              <a:srgbClr val="438B8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B58162-44A1-4FFD-8B85-D781E9DFC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622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438B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 i="0">
                <a:solidFill>
                  <a:srgbClr val="438B86"/>
                </a:solidFill>
                <a:latin typeface="Times New Roman"/>
                <a:ea typeface="Times New Roman"/>
                <a:cs typeface="Times New Roman"/>
              </a:rPr>
              <a:t>Attribute selector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8A0FA6-39E6-491B-89F9-8EE118C1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670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selects temporal attributes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9EEDD1-12D4-4B6F-ADD1-EF0E27F3C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666875"/>
            <a:ext cx="2190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4F0C9"/>
          </a:solidFill>
          <a:ln xmlns:a="http://schemas.openxmlformats.org/drawingml/2006/main" w="13335">
            <a:solidFill>
              <a:srgbClr val="B77F2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F8A8AE-30B5-4778-876D-85F5569EC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6212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B77F2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 i="0">
                <a:solidFill>
                  <a:srgbClr val="B77F2B"/>
                </a:solidFill>
                <a:latin typeface="Times New Roman"/>
                <a:ea typeface="Times New Roman"/>
                <a:cs typeface="Times New Roman"/>
              </a:rPr>
              <a:t>Attribute-based generator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AEBF65-79BC-4EFF-B802-B9DB1CAA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66925"/>
            <a:ext cx="1962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generates series with selected attributes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08D1B2-27E4-4430-8312-4704577BF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714750"/>
            <a:ext cx="2190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6E0F2"/>
          </a:solidFill>
          <a:ln xmlns:a="http://schemas.openxmlformats.org/drawingml/2006/main" w="13335">
            <a:solidFill>
              <a:srgbClr val="78639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29B719-DF70-45AB-AD28-955E37CF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8100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78639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 i="0">
                <a:solidFill>
                  <a:srgbClr val="78639F"/>
                </a:solidFill>
                <a:latin typeface="Times New Roman"/>
                <a:ea typeface="Times New Roman"/>
                <a:cs typeface="Times New Roman"/>
              </a:rPr>
              <a:t>Time-series evol-instruct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53FC2F-3399-474F-B357-6B726E176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114800"/>
            <a:ext cx="1962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generates temporal instruction text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81477E-4E93-4F5C-8941-93AB1473C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67000"/>
            <a:ext cx="2095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DEEDC"/>
          </a:solidFill>
          <a:ln xmlns:a="http://schemas.openxmlformats.org/drawingml/2006/main" w="13335">
            <a:solidFill>
              <a:srgbClr val="438B8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C9E39D-2E02-4DE6-91A6-04B1A63A7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622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438B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 i="0">
                <a:solidFill>
                  <a:srgbClr val="438B86"/>
                </a:solidFill>
                <a:latin typeface="Times New Roman"/>
                <a:ea typeface="Times New Roman"/>
                <a:cs typeface="Times New Roman"/>
              </a:rPr>
              <a:t>Generated training 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4D7A5F-F4FD-423D-8459-EAD986F70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067050"/>
            <a:ext cx="1866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series + language supervision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25F8B6-E4D5-47A0-B4D8-2FD287F48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667000"/>
            <a:ext cx="1619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9EEF0"/>
          </a:solidFill>
          <a:ln xmlns:a="http://schemas.openxmlformats.org/drawingml/2006/main" w="13335">
            <a:solidFill>
              <a:srgbClr val="438B8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15C4A-CBAB-461D-A6E4-E8F5C88A8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7622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438B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 i="0">
                <a:solidFill>
                  <a:srgbClr val="438B86"/>
                </a:solidFill>
                <a:latin typeface="Times New Roman"/>
                <a:ea typeface="Times New Roman"/>
                <a:cs typeface="Times New Roman"/>
              </a:rPr>
              <a:t>Model training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9C07AC-86D1-4558-85D6-54716F821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067050"/>
            <a:ext cx="1390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temporal alignment</a:t>
            </a:r>
          </a:p>
        </p:txBody>
      </p:sp>
      <p:cxnSp>
        <p:nvCxnSpPr>
          <p:cNvPr id="41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2381250" y="2143125"/>
            <a:ext cx="857250" cy="8667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38B86"/>
            </a:solidFill>
            <a:prstDash val="solid"/>
            <a:headEnd type="arrow" w="sm" len="sm"/>
          </a:ln>
        </p:spPr>
      </p:cxnSp>
      <p:cxnSp>
        <p:nvCxnSpPr>
          <p:cNvPr id="42" name=""/>
          <p:cNvCxnSpPr>
            <a:stCxn xmlns:a="http://schemas.openxmlformats.org/drawingml/2006/main" id="3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2381250" y="3009900"/>
            <a:ext cx="857250" cy="11811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8639F"/>
            </a:solidFill>
            <a:prstDash val="solid"/>
            <a:headEnd type="arrow" w="sm" len="sm"/>
          </a:ln>
        </p:spPr>
      </p:cxnSp>
      <p:cxnSp>
        <p:nvCxnSpPr>
          <p:cNvPr id="43" name=""/>
          <p:cNvCxnSpPr>
            <a:stCxn xmlns:a="http://schemas.openxmlformats.org/drawingml/2006/main" id="6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429250" y="2143125"/>
            <a:ext cx="1143000" cy="10001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77F2B"/>
            </a:solidFill>
            <a:prstDash val="solid"/>
            <a:headEnd type="arrow" w="sm" len="sm"/>
          </a:ln>
        </p:spPr>
      </p:cxnSp>
      <p:cxnSp>
        <p:nvCxnSpPr>
          <p:cNvPr id="44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 flipV="1">
            <a:off x="5429250" y="3143250"/>
            <a:ext cx="1143000" cy="1047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8639F"/>
            </a:solidFill>
            <a:prstDash val="solid"/>
            <a:headEnd type="arrow" w="sm" len="sm"/>
          </a:ln>
        </p:spPr>
      </p:cxnSp>
      <p:cxnSp>
        <p:nvCxnSpPr>
          <p:cNvPr id="45" name=""/>
          <p:cNvCxnSpPr>
            <a:stCxn xmlns:a="http://schemas.openxmlformats.org/drawingml/2006/main" id="12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667750" y="3143250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38B86"/>
            </a:solidFill>
            <a:prstDash val="solid"/>
            <a:headEnd type="arrow" w="sm" len="sm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09C7BA-B825-46C7-BBD3-C3D50FB4C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2382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 i="0">
                <a:solidFill>
                  <a:srgbClr val="2432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 i="0">
                <a:solidFill>
                  <a:srgbClr val="24324A"/>
                </a:solidFill>
                <a:latin typeface="Times New Roman"/>
                <a:ea typeface="Times New Roman"/>
                <a:cs typeface="Times New Roman"/>
              </a:rPr>
              <a:t>model-side representation and reasoning</a:t>
            </a:r>
          </a:p>
        </p:txBody>
      </p:sp>
    </p:spTree>
    <p:extLst>
      <p:ext uri="{BB962C8B-B14F-4D97-AF65-F5344CB8AC3E}">
        <p14:creationId xmlns:p14="http://schemas.microsoft.com/office/powerpoint/2010/main" val="2907893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902E96A-D154-4579-8F80-962C11971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28600"/>
            <a:ext cx="1123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2432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i="0">
                <a:solidFill>
                  <a:srgbClr val="24324A"/>
                </a:solidFill>
                <a:latin typeface="Times New Roman"/>
                <a:ea typeface="Times New Roman"/>
                <a:cs typeface="Times New Roman"/>
              </a:rPr>
              <a:t>Three principles for a reliable time-series 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F35704-3E4C-4950-B130-909CC385C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7700"/>
            <a:ext cx="1123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 i="1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0" i="1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rPr>
              <a:t>The temporal contract couples grounding, knowledge use, and reliability checks.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C0DCB4-DDB3-4297-8E4F-302A4CA6B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3238500" cy="4000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D9EEF0"/>
          </a:solidFill>
          <a:ln xmlns:a="http://schemas.openxmlformats.org/drawingml/2006/main" w="14288">
            <a:solidFill>
              <a:srgbClr val="438B8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0BEBD3-6DA5-46E2-8454-FEF993E8B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192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 i="0">
                <a:solidFill>
                  <a:srgbClr val="438B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1" i="0">
                <a:solidFill>
                  <a:srgbClr val="438B86"/>
                </a:solidFill>
                <a:latin typeface="Times New Roman"/>
                <a:ea typeface="Times New Roman"/>
                <a:cs typeface="Times New Roman"/>
              </a:rPr>
              <a:t>Temporal grounding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304BA0-65D4-4924-8561-1C4DEC5F5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38375"/>
            <a:ext cx="2667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38B8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1C6BBF-459F-4562-93F8-3251C9B33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24100"/>
            <a:ext cx="2438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Task specification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9607D0-FFDD-4816-8449-B55AC52A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71750"/>
            <a:ext cx="2438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 i="0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750" b="0" i="0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rPr>
              <a:t>declares the task contract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5D1A70-38A9-4B3E-A33E-A4597F0FD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95625"/>
            <a:ext cx="2667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38B8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9019C5-C093-4E9D-8FC8-C04E56730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81350"/>
            <a:ext cx="2438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Data interface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4BB7DF-26F0-44D8-AAFD-4192304F9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29000"/>
            <a:ext cx="2438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 i="0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750" b="0" i="0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rPr>
              <a:t>adds an inspectable check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B07A8D-F36C-4BD1-9382-3A72AC1B2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52875"/>
            <a:ext cx="2667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38B8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EE226C-D4B7-4664-BC22-DD5BE4AA9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38600"/>
            <a:ext cx="2438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Visual analysis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4894F4-3A6A-4607-AD8B-0F851922A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86250"/>
            <a:ext cx="2438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 i="0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750" b="0" i="0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rPr>
              <a:t>adds an inspectable check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BE244D-A4D7-499A-8EF9-775ECE5BB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428750"/>
            <a:ext cx="3238500" cy="4000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DDEEDC"/>
          </a:solidFill>
          <a:ln xmlns:a="http://schemas.openxmlformats.org/drawingml/2006/main" w="14288">
            <a:solidFill>
              <a:srgbClr val="438B8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7099B8-2D21-49FF-B2CD-F3C3739C2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6192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 i="0">
                <a:solidFill>
                  <a:srgbClr val="438B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1" i="0">
                <a:solidFill>
                  <a:srgbClr val="438B86"/>
                </a:solidFill>
                <a:latin typeface="Times New Roman"/>
                <a:ea typeface="Times New Roman"/>
                <a:cs typeface="Times New Roman"/>
              </a:rPr>
              <a:t>Knowledge-grounded reasoning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993E95-4F36-4111-A2D6-09296EE07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38375"/>
            <a:ext cx="2667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38B8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9AB778-D35B-4AEF-AAD9-E80B964AC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24100"/>
            <a:ext cx="2438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Strong knowledge dependence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6198F9-4738-4F36-B09A-985A69D85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571750"/>
            <a:ext cx="2438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 i="0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750" b="0" i="0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rPr>
              <a:t>declares the task contract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954327-0E49-47A7-9078-471A09899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095625"/>
            <a:ext cx="2667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38B8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CCC323-E0B5-4944-9421-9EAD60106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81350"/>
            <a:ext cx="2438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Temporal hypothesis expansion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3A0E6A-E782-404C-A536-F9969A5F3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429000"/>
            <a:ext cx="2438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 i="0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750" b="0" i="0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rPr>
              <a:t>adds an inspectable check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126816-FB4F-44A1-A606-1EC4620C2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52875"/>
            <a:ext cx="2667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38B8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ED3B10-43DC-42ED-9E24-F6D0FB9B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38600"/>
            <a:ext cx="2438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Rules-aware reasoning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36292F-D319-4696-A34C-28D604B1F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286250"/>
            <a:ext cx="2438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 i="0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750" b="0" i="0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rPr>
              <a:t>adds an inspectable check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8DDFE6-B4F3-4A23-984B-59F124184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28750"/>
            <a:ext cx="3238500" cy="4000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F4F0C9"/>
          </a:solidFill>
          <a:ln xmlns:a="http://schemas.openxmlformats.org/drawingml/2006/main" w="14288">
            <a:solidFill>
              <a:srgbClr val="B77F2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F4CA6D-30B3-48EF-B6A2-DCBADCDE7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192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 i="0">
                <a:solidFill>
                  <a:srgbClr val="B77F2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1" i="0">
                <a:solidFill>
                  <a:srgbClr val="B77F2B"/>
                </a:solidFill>
                <a:latin typeface="Times New Roman"/>
                <a:ea typeface="Times New Roman"/>
                <a:cs typeface="Times New Roman"/>
              </a:rPr>
              <a:t>Reliability mechanisms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9C3E49-9360-46A8-B0F2-2FBC1CC0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38375"/>
            <a:ext cx="2667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7F2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8A422F3-2D47-4C51-B3A1-680755AB4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324100"/>
            <a:ext cx="2438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Post-experiment analysis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589182-55E2-4B4E-AD03-8247E675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38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 i="0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750" b="0" i="0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rPr>
              <a:t>declares the task contract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F4FF808-B00D-4083-BC89-8604DC9C1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095625"/>
            <a:ext cx="2667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7F2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420549-0F60-49C6-9C4A-CF228D41C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81350"/>
            <a:ext cx="2438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Event-aware reasoning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4CC9047-2ABB-4DB1-923E-9A93F9125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429000"/>
            <a:ext cx="2438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 i="0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750" b="0" i="0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rPr>
              <a:t>adds an inspectable check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BB5D5A2-A8AE-4FBD-AFBE-5D7994581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52875"/>
            <a:ext cx="2667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7F2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90C89D2-29BF-4DD6-B804-A83BDE28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038600"/>
            <a:ext cx="2438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Layered review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39FA41E-5AB0-4B64-8F76-73EED9B5C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286250"/>
            <a:ext cx="2438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 i="0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750" b="0" i="0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rPr>
              <a:t>adds an inspectable check</a:t>
            </a:r>
          </a:p>
        </p:txBody>
      </p:sp>
      <p:cxnSp>
        <p:nvCxnSpPr>
          <p:cNvPr id="73" name=""/>
          <p:cNvCxnSpPr>
            <a:stCxn xmlns:a="http://schemas.openxmlformats.org/drawingml/2006/main" id="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3905250" y="342900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38B86"/>
            </a:solidFill>
            <a:prstDash val="solid"/>
            <a:headEnd type="arrow" w="sm" len="sm"/>
          </a:ln>
        </p:spPr>
      </p:cxnSp>
      <p:cxnSp>
        <p:nvCxnSpPr>
          <p:cNvPr id="74" name=""/>
          <p:cNvCxnSpPr>
            <a:stCxn xmlns:a="http://schemas.openxmlformats.org/drawingml/2006/main" id="14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7620000" y="342900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77F2B"/>
            </a:solidFill>
            <a:prstDash val="solid"/>
            <a:headEnd type="arrow" w="sm" len="sm"/>
          </a:ln>
        </p:spPr>
      </p:cxnSp>
    </p:spTree>
    <p:extLst>
      <p:ext uri="{BB962C8B-B14F-4D97-AF65-F5344CB8AC3E}">
        <p14:creationId xmlns:p14="http://schemas.microsoft.com/office/powerpoint/2010/main" val="18242680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004500-C3B8-497D-A1D1-B32E4BB47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28600"/>
            <a:ext cx="1123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2432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i="0">
                <a:solidFill>
                  <a:srgbClr val="24324A"/>
                </a:solidFill>
                <a:latin typeface="Times New Roman"/>
                <a:ea typeface="Times New Roman"/>
                <a:cs typeface="Times New Roman"/>
              </a:rPr>
              <a:t>Retrieval, augmentation, and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F1E4AF-BD1D-43D2-97E1-CC1DB552F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7700"/>
            <a:ext cx="1123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 i="1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0" i="1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rPr>
              <a:t>A task-specific synthesis loop couples candidate generation to fidelity and utility checks.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AD87D0-35AE-47D8-88F7-543849174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21907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D9EEF0"/>
          </a:solidFill>
          <a:ln xmlns:a="http://schemas.openxmlformats.org/drawingml/2006/main" w="13335">
            <a:solidFill>
              <a:srgbClr val="438B8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31AE0A-8C7F-41A5-B918-5A389C45E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438B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 i="0">
                <a:solidFill>
                  <a:srgbClr val="438B86"/>
                </a:solidFill>
                <a:latin typeface="Times New Roman"/>
                <a:ea typeface="Times New Roman"/>
                <a:cs typeface="Times New Roman"/>
              </a:rPr>
              <a:t>Retrieval agent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2664DE-66FD-430F-AEF1-EBA80EC5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1962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finds similar temporal samples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AB5FCE-7199-402F-A845-0CB117B51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381250"/>
            <a:ext cx="21907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DDEEDC"/>
          </a:solidFill>
          <a:ln xmlns:a="http://schemas.openxmlformats.org/drawingml/2006/main" w="13335">
            <a:solidFill>
              <a:srgbClr val="438B8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F97C9B-E5CB-4A63-997D-088E6D2B8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4765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438B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 i="0">
                <a:solidFill>
                  <a:srgbClr val="438B86"/>
                </a:solidFill>
                <a:latin typeface="Times New Roman"/>
                <a:ea typeface="Times New Roman"/>
                <a:cs typeface="Times New Roman"/>
              </a:rPr>
              <a:t>Augmentation 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F6B243-C763-48E3-B6FD-E59DA9EE6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2781300"/>
            <a:ext cx="1962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generates a conditioned sample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8CB867-9EEB-4868-A32F-680402268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81250"/>
            <a:ext cx="21907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4F0C9"/>
          </a:solidFill>
          <a:ln xmlns:a="http://schemas.openxmlformats.org/drawingml/2006/main" w="13335">
            <a:solidFill>
              <a:srgbClr val="B77F2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431B8D-C0C3-47DA-86F0-6619366BC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765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B77F2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 i="0">
                <a:solidFill>
                  <a:srgbClr val="B77F2B"/>
                </a:solidFill>
                <a:latin typeface="Times New Roman"/>
                <a:ea typeface="Times New Roman"/>
                <a:cs typeface="Times New Roman"/>
              </a:rPr>
              <a:t>Review agent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D8BB23-BE62-4CC2-9974-FD6975D8C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81300"/>
            <a:ext cx="1962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checks fidelity and utility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E9F4D4-F9EC-4BDA-982D-AE7477A5A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381250"/>
            <a:ext cx="16192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E6E0F2"/>
          </a:solidFill>
          <a:ln xmlns:a="http://schemas.openxmlformats.org/drawingml/2006/main" w="13335">
            <a:solidFill>
              <a:srgbClr val="78639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EA864E-5470-43CA-BF29-A516B7758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4765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78639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 i="0">
                <a:solidFill>
                  <a:srgbClr val="78639F"/>
                </a:solidFill>
                <a:latin typeface="Times New Roman"/>
                <a:ea typeface="Times New Roman"/>
                <a:cs typeface="Times New Roman"/>
              </a:rPr>
              <a:t>Accepted 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D3A53F-6E41-4E09-AEE9-B1DB856B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781300"/>
            <a:ext cx="1390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keeps usable data</a:t>
            </a:r>
          </a:p>
        </p:txBody>
      </p:sp>
      <p:cxnSp>
        <p:nvCxnSpPr>
          <p:cNvPr id="35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952750" y="2881313"/>
            <a:ext cx="904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38B86"/>
            </a:solidFill>
            <a:prstDash val="solid"/>
            <a:headEnd type="arrow" w="sm" len="sm"/>
          </a:ln>
        </p:spPr>
      </p:cxnSp>
      <p:cxnSp>
        <p:nvCxnSpPr>
          <p:cNvPr id="36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6048375" y="2881313"/>
            <a:ext cx="904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77F2B"/>
            </a:solidFill>
            <a:prstDash val="solid"/>
            <a:headEnd type="arrow" w="sm" len="sm"/>
          </a:ln>
        </p:spPr>
      </p:cxnSp>
      <p:cxnSp>
        <p:nvCxnSpPr>
          <p:cNvPr id="37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9144000" y="2881313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8639F"/>
            </a:solidFill>
            <a:prstDash val="solid"/>
            <a:headEnd type="arrow" w="sm" len="sm"/>
          </a:ln>
        </p:spPr>
      </p:cxnSp>
      <p:cxnSp>
        <p:nvCxnSpPr>
          <p:cNvPr id="38" name=""/>
          <p:cNvCxnSpPr>
            <a:stCxn xmlns:a="http://schemas.openxmlformats.org/drawingml/2006/main" id="9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 flipH="1">
            <a:off x="762000" y="2881313"/>
            <a:ext cx="8382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3E2DE"/>
            </a:solidFill>
            <a:prstDash val="dash"/>
            <a:headEnd type="arrow" w="sm" len="sm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F0EBBD-3BB2-4540-B084-2F3314C64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524000"/>
            <a:ext cx="885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 i="0">
                <a:solidFill>
                  <a:srgbClr val="2432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1" i="0">
                <a:solidFill>
                  <a:srgbClr val="24324A"/>
                </a:solidFill>
                <a:latin typeface="Times New Roman"/>
                <a:ea typeface="Times New Roman"/>
                <a:cs typeface="Times New Roman"/>
              </a:rPr>
              <a:t>retrieval  →  generation  →  review  →  downstream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691BE5-7073-4BB8-A4EC-CB6F0A2D1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000500"/>
            <a:ext cx="1019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0" i="1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0" i="1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rPr>
              <a:t>Temporal fidelity: dependence, missingness, distribution  |  Utility: downstream task performance</a:t>
            </a:r>
          </a:p>
        </p:txBody>
      </p:sp>
    </p:spTree>
    <p:extLst>
      <p:ext uri="{BB962C8B-B14F-4D97-AF65-F5344CB8AC3E}">
        <p14:creationId xmlns:p14="http://schemas.microsoft.com/office/powerpoint/2010/main" val="19482708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9D3564-270E-4AB5-92F7-70D570EC6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28600"/>
            <a:ext cx="1123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2432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i="0">
                <a:solidFill>
                  <a:srgbClr val="24324A"/>
                </a:solidFill>
                <a:latin typeface="Times New Roman"/>
                <a:ea typeface="Times New Roman"/>
                <a:cs typeface="Times New Roman"/>
              </a:rPr>
              <a:t>Coarse-to-fine anomaly diagnosis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C9A613-C954-4126-99DA-F00F97211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7700"/>
            <a:ext cx="1123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 i="1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0" i="1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rPr>
              <a:t>Evidence acquisition and iterative refinement connect detection to a diagnosis and a final alert.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2224C6-F3DE-44B6-91D0-DD3208164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2286000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D9EEF0"/>
          </a:solidFill>
          <a:ln xmlns:a="http://schemas.openxmlformats.org/drawingml/2006/main" w="13335">
            <a:solidFill>
              <a:srgbClr val="438B8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80698B-985B-4CFD-BD23-53B864C4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438B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 i="0">
                <a:solidFill>
                  <a:srgbClr val="438B86"/>
                </a:solidFill>
                <a:latin typeface="Times New Roman"/>
                <a:ea typeface="Times New Roman"/>
                <a:cs typeface="Times New Roman"/>
              </a:rPr>
              <a:t>Evidence acquisition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B4E1AE-C756-4849-AC5D-3C17933D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2057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retrieve signals and context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1692A9-4962-4C6B-976A-140BDBD7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76500"/>
            <a:ext cx="2286000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DDEEDC"/>
          </a:solidFill>
          <a:ln xmlns:a="http://schemas.openxmlformats.org/drawingml/2006/main" w="13335">
            <a:solidFill>
              <a:srgbClr val="438B8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084019-0D6B-4DE5-AC76-D4ACCD82A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5717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438B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 i="0">
                <a:solidFill>
                  <a:srgbClr val="438B86"/>
                </a:solidFill>
                <a:latin typeface="Times New Roman"/>
                <a:ea typeface="Times New Roman"/>
                <a:cs typeface="Times New Roman"/>
              </a:rPr>
              <a:t>Evidence construction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D80B73-D20B-459E-9C44-04C65C7CF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876550"/>
            <a:ext cx="2057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align and summarize evidence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D31150-9CAF-48B2-AE52-326F35DD3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76500"/>
            <a:ext cx="2286000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4F0C9"/>
          </a:solidFill>
          <a:ln xmlns:a="http://schemas.openxmlformats.org/drawingml/2006/main" w="13335">
            <a:solidFill>
              <a:srgbClr val="B77F2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18C8FF-B5AA-42E8-9E56-3DBDFBF7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717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B77F2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 i="0">
                <a:solidFill>
                  <a:srgbClr val="B77F2B"/>
                </a:solidFill>
                <a:latin typeface="Times New Roman"/>
                <a:ea typeface="Times New Roman"/>
                <a:cs typeface="Times New Roman"/>
              </a:rPr>
              <a:t>Anomaly detection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C3EB7E-3A1A-413A-BC70-E75EA23C7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876550"/>
            <a:ext cx="2057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score candidate events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466483-917A-4E50-A464-756828DAE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76500"/>
            <a:ext cx="2286000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3E2DE"/>
          </a:solidFill>
          <a:ln xmlns:a="http://schemas.openxmlformats.org/drawingml/2006/main" w="13335">
            <a:solidFill>
              <a:srgbClr val="B8665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3BFA5D-1406-4249-B41B-BB446F7D0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5717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B86659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 i="0">
                <a:solidFill>
                  <a:srgbClr val="B86659"/>
                </a:solidFill>
                <a:latin typeface="Times New Roman"/>
                <a:ea typeface="Times New Roman"/>
                <a:cs typeface="Times New Roman"/>
              </a:rPr>
              <a:t>Diagnosis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6DDA81-9187-41FC-9DE5-9B894D464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876550"/>
            <a:ext cx="2057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identify cause and confidence</a:t>
            </a:r>
          </a:p>
        </p:txBody>
      </p:sp>
      <p:cxnSp>
        <p:nvCxnSpPr>
          <p:cNvPr id="36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857500" y="3024188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38B86"/>
            </a:solidFill>
            <a:prstDash val="solid"/>
            <a:headEnd type="arrow" w="sm" len="sm"/>
          </a:ln>
        </p:spPr>
      </p:cxnSp>
      <p:cxnSp>
        <p:nvCxnSpPr>
          <p:cNvPr id="37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619750" y="3024188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38B86"/>
            </a:solidFill>
            <a:prstDash val="solid"/>
            <a:headEnd type="arrow" w="sm" len="sm"/>
          </a:ln>
        </p:spPr>
      </p:cxnSp>
      <p:cxnSp>
        <p:nvCxnSpPr>
          <p:cNvPr id="38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8382000" y="3024188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77F2B"/>
            </a:solidFill>
            <a:prstDash val="solid"/>
            <a:headEnd type="arrow" w="sm" len="sm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1C884F-607C-4037-AC69-D0F07BFFA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428750"/>
            <a:ext cx="9715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6E0F2"/>
          </a:solidFill>
          <a:ln xmlns:a="http://schemas.openxmlformats.org/drawingml/2006/main" w="11430">
            <a:solidFill>
              <a:srgbClr val="78639F"/>
            </a:solidFill>
            <a:prstDash val="dash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394A6E-ABF2-424C-ABF5-BE7326265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4305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 i="0">
                <a:solidFill>
                  <a:srgbClr val="78639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 i="0">
                <a:solidFill>
                  <a:srgbClr val="78639F"/>
                </a:solidFill>
                <a:latin typeface="Times New Roman"/>
                <a:ea typeface="Times New Roman"/>
                <a:cs typeface="Times New Roman"/>
              </a:rPr>
              <a:t>training and feedback update the detector, diagnostic tools, and review policy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8109DF-428A-4E7F-986E-C00E3605E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333875"/>
            <a:ext cx="85725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432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6714D6-96D0-4861-89A8-AF1ED7792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476750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 i="0">
                <a:solidFill>
                  <a:srgbClr val="2432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 i="0">
                <a:solidFill>
                  <a:srgbClr val="24324A"/>
                </a:solidFill>
                <a:latin typeface="Times New Roman"/>
                <a:ea typeface="Times New Roman"/>
                <a:cs typeface="Times New Roman"/>
              </a:rPr>
              <a:t>toolkit: time-series memory · numerical diagnostics · event labels · evaluator</a:t>
            </a:r>
          </a:p>
        </p:txBody>
      </p:sp>
    </p:spTree>
    <p:extLst>
      <p:ext uri="{BB962C8B-B14F-4D97-AF65-F5344CB8AC3E}">
        <p14:creationId xmlns:p14="http://schemas.microsoft.com/office/powerpoint/2010/main" val="15160981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2221A5-52D1-4464-B664-75DF60613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28600"/>
            <a:ext cx="1123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2432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i="0">
                <a:solidFill>
                  <a:srgbClr val="24324A"/>
                </a:solidFill>
                <a:latin typeface="Times New Roman"/>
                <a:ea typeface="Times New Roman"/>
                <a:cs typeface="Times New Roman"/>
              </a:rPr>
              <a:t>A time-series-native runtime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5A0255-BD1F-4545-89D6-2B4BF4E20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7700"/>
            <a:ext cx="1123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 i="1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0" i="1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rPr>
              <a:t>Numerical execution, capability evolution, and multimodal memory remain connected through auditable trajectories.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E6C56C-8087-402F-BCF7-BE7676D99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2095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9EEF0"/>
          </a:solidFill>
          <a:ln xmlns:a="http://schemas.openxmlformats.org/drawingml/2006/main" w="13335">
            <a:solidFill>
              <a:srgbClr val="438B8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0B5430-9CEC-4EBC-908C-7903E7FFE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438B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 i="0">
                <a:solidFill>
                  <a:srgbClr val="438B86"/>
                </a:solidFill>
                <a:latin typeface="Times New Roman"/>
                <a:ea typeface="Times New Roman"/>
                <a:cs typeface="Times New Roman"/>
              </a:rPr>
              <a:t>Contextual series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B5610A-8724-4FA3-9B48-E51D30366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1866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values, events, metadata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C23684-6FC7-4FDA-A6AC-0406924E5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90750"/>
            <a:ext cx="23812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DDEEDC"/>
          </a:solidFill>
          <a:ln xmlns:a="http://schemas.openxmlformats.org/drawingml/2006/main" w="13335">
            <a:solidFill>
              <a:srgbClr val="438B8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743DFF-DD5B-415B-B46A-B1AFF6AF6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860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438B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 i="0">
                <a:solidFill>
                  <a:srgbClr val="438B86"/>
                </a:solidFill>
                <a:latin typeface="Times New Roman"/>
                <a:ea typeface="Times New Roman"/>
                <a:cs typeface="Times New Roman"/>
              </a:rPr>
              <a:t>Time-series runtime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542B28-3BF9-4A70-A268-19F8634DC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590800"/>
            <a:ext cx="2152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server-side numerical execution</a:t>
            </a:r>
          </a:p>
          <a:p xmlns:a="http://schemas.openxmlformats.org/drawingml/2006/main">
            <a:pPr>
              <a:def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state and tools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C4B636-9E0C-48A4-A7EC-127537B18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190750"/>
            <a:ext cx="23812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4F0C9"/>
          </a:solidFill>
          <a:ln xmlns:a="http://schemas.openxmlformats.org/drawingml/2006/main" w="13335">
            <a:solidFill>
              <a:srgbClr val="B77F2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3D5E8C-DC8E-4067-9C2B-1359D4CA0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2860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B77F2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 i="0">
                <a:solidFill>
                  <a:srgbClr val="B77F2B"/>
                </a:solidFill>
                <a:latin typeface="Times New Roman"/>
                <a:ea typeface="Times New Roman"/>
                <a:cs typeface="Times New Roman"/>
              </a:rPr>
              <a:t>Capability evolution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712E49-F9ED-4120-901F-97BACA98D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2590800"/>
            <a:ext cx="2152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evaluate, update, retain, release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70B626-E7B8-4A25-B819-4B8656059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476500"/>
            <a:ext cx="1809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6E0F2"/>
          </a:solidFill>
          <a:ln xmlns:a="http://schemas.openxmlformats.org/drawingml/2006/main" w="13335">
            <a:solidFill>
              <a:srgbClr val="78639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4130E2-27AD-41F1-909A-9F613BC5D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5717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78639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 i="0">
                <a:solidFill>
                  <a:srgbClr val="78639F"/>
                </a:solidFill>
                <a:latin typeface="Times New Roman"/>
                <a:ea typeface="Times New Roman"/>
                <a:cs typeface="Times New Roman"/>
              </a:rPr>
              <a:t>Multimodal memory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F19876-61CE-40BC-8298-A01C8F2EE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2876550"/>
            <a:ext cx="15811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retrieve and reuse</a:t>
            </a:r>
          </a:p>
        </p:txBody>
      </p:sp>
      <p:cxnSp>
        <p:nvCxnSpPr>
          <p:cNvPr id="34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2667000" y="3000375"/>
            <a:ext cx="762000" cy="476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38B86"/>
            </a:solidFill>
            <a:prstDash val="solid"/>
            <a:headEnd type="arrow" w="sm" len="sm"/>
          </a:ln>
        </p:spPr>
      </p:cxnSp>
      <p:cxnSp>
        <p:nvCxnSpPr>
          <p:cNvPr id="35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810250" y="3000375"/>
            <a:ext cx="8096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77F2B"/>
            </a:solidFill>
            <a:prstDash val="solid"/>
            <a:headEnd type="arrow" w="sm" len="sm"/>
          </a:ln>
        </p:spPr>
      </p:cxnSp>
      <p:cxnSp>
        <p:nvCxnSpPr>
          <p:cNvPr id="36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9001125" y="3000375"/>
            <a:ext cx="809625" cy="476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8639F"/>
            </a:solidFill>
            <a:prstDash val="solid"/>
            <a:headEnd type="arrow" w="sm" len="sm"/>
          </a:ln>
        </p:spPr>
      </p:cxnSp>
      <p:cxnSp>
        <p:nvCxnSpPr>
          <p:cNvPr id="37" name=""/>
          <p:cNvCxnSpPr>
            <a:stCxn xmlns:a="http://schemas.openxmlformats.org/drawingml/2006/main" id="12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H="1" flipV="1">
            <a:off x="3429000" y="3000375"/>
            <a:ext cx="8191500" cy="476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8639F"/>
            </a:solidFill>
            <a:prstDash val="dash"/>
            <a:headEnd type="arrow" w="sm" len="sm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9A839F-4E74-4DFB-A533-305328E20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428750"/>
            <a:ext cx="619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 i="0">
                <a:solidFill>
                  <a:srgbClr val="2432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1" i="0">
                <a:solidFill>
                  <a:srgbClr val="24324A"/>
                </a:solidFill>
                <a:latin typeface="Times New Roman"/>
                <a:ea typeface="Times New Roman"/>
                <a:cs typeface="Times New Roman"/>
              </a:rPr>
              <a:t>auditable trajectories close the loop</a:t>
            </a:r>
          </a:p>
        </p:txBody>
      </p:sp>
    </p:spTree>
    <p:extLst>
      <p:ext uri="{BB962C8B-B14F-4D97-AF65-F5344CB8AC3E}">
        <p14:creationId xmlns:p14="http://schemas.microsoft.com/office/powerpoint/2010/main" val="20316750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EC47B4-4A9D-4ECD-A428-5673B763E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28600"/>
            <a:ext cx="1123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2432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i="0">
                <a:solidFill>
                  <a:srgbClr val="24324A"/>
                </a:solidFill>
                <a:latin typeface="Times New Roman"/>
                <a:ea typeface="Times New Roman"/>
                <a:cs typeface="Times New Roman"/>
              </a:rPr>
              <a:t>Benchmark infrastructure for executable agents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E26663-07AA-4296-B0D4-241185917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7700"/>
            <a:ext cx="1123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 i="1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0" i="1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rPr>
              <a:t>A benchmark combines heterogeneous sources, ML-engineering challenges, skill simulators, graders, and multimodal outputs.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74130A-20D4-4D6E-9882-66FCC5B67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20955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D9EEF0"/>
          </a:solidFill>
          <a:ln xmlns:a="http://schemas.openxmlformats.org/drawingml/2006/main" w="13335">
            <a:solidFill>
              <a:srgbClr val="438B8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304BDE-7D01-4943-9B2F-CE0C670E9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438B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 i="0">
                <a:solidFill>
                  <a:srgbClr val="438B86"/>
                </a:solidFill>
                <a:latin typeface="Times New Roman"/>
                <a:ea typeface="Times New Roman"/>
                <a:cs typeface="Times New Roman"/>
              </a:rPr>
              <a:t>Multiple sources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4AC166-2A35-4526-A9C0-29537C47F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66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Kaggle · GitHub · data resources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F9A6BC-971E-483B-960E-B6A6601AF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95500"/>
            <a:ext cx="228600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6E0F2"/>
          </a:solidFill>
          <a:ln xmlns:a="http://schemas.openxmlformats.org/drawingml/2006/main" w="13335">
            <a:solidFill>
              <a:srgbClr val="78639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81BBF4-3E10-4C62-AE24-DE8314F3F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907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78639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 i="0">
                <a:solidFill>
                  <a:srgbClr val="78639F"/>
                </a:solidFill>
                <a:latin typeface="Times New Roman"/>
                <a:ea typeface="Times New Roman"/>
                <a:cs typeface="Times New Roman"/>
              </a:rPr>
              <a:t>Challenges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C1E4D8-9DB7-441F-86FA-DE39CD673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495550"/>
            <a:ext cx="20574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descriptions · resources</a:t>
            </a:r>
          </a:p>
          <a:p xmlns:a="http://schemas.openxmlformats.org/drawingml/2006/main">
            <a:pPr>
              <a:def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skill simulators · code improvement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433461-C210-4C39-8214-9521BB59B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81250"/>
            <a:ext cx="19050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4F0C9"/>
          </a:solidFill>
          <a:ln xmlns:a="http://schemas.openxmlformats.org/drawingml/2006/main" w="13335">
            <a:solidFill>
              <a:srgbClr val="B77F2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A6FE5E-953F-4DFD-9C95-6B9248D2C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765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B77F2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 i="0">
                <a:solidFill>
                  <a:srgbClr val="B77F2B"/>
                </a:solidFill>
                <a:latin typeface="Times New Roman"/>
                <a:ea typeface="Times New Roman"/>
                <a:cs typeface="Times New Roman"/>
              </a:rPr>
              <a:t>Agent-agnostic design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90A40E-124E-4ED6-AC2D-F9B72B7A4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781300"/>
            <a:ext cx="1676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same contract for different Agents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F32853-921A-4B23-B214-F38885236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14500"/>
            <a:ext cx="2095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DDEEDC"/>
          </a:solidFill>
          <a:ln xmlns:a="http://schemas.openxmlformats.org/drawingml/2006/main" w="13335">
            <a:solidFill>
              <a:srgbClr val="438B8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3F05DE-2C29-49DD-ADA4-4B143BC5D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8097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438B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 i="0">
                <a:solidFill>
                  <a:srgbClr val="438B86"/>
                </a:solidFill>
                <a:latin typeface="Times New Roman"/>
                <a:ea typeface="Times New Roman"/>
                <a:cs typeface="Times New Roman"/>
              </a:rPr>
              <a:t>Quantitative grader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581AD7-B877-44A9-840F-985F326EC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114550"/>
            <a:ext cx="1866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accuracy, error, runtime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4832F5-4559-4698-A150-D7705B38C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0"/>
            <a:ext cx="2095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DDEEDC"/>
          </a:solidFill>
          <a:ln xmlns:a="http://schemas.openxmlformats.org/drawingml/2006/main" w="13335">
            <a:solidFill>
              <a:srgbClr val="438B8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D61CD1-5291-4D46-8415-9255877B5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290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438B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 i="0">
                <a:solidFill>
                  <a:srgbClr val="438B86"/>
                </a:solidFill>
                <a:latin typeface="Times New Roman"/>
                <a:ea typeface="Times New Roman"/>
                <a:cs typeface="Times New Roman"/>
              </a:rPr>
              <a:t>Qualitative grader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4BE100-2B81-40A3-A7BE-ABC534D45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733800"/>
            <a:ext cx="1866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trace and artifact review</a:t>
            </a:r>
          </a:p>
        </p:txBody>
      </p:sp>
      <p:cxnSp>
        <p:nvCxnSpPr>
          <p:cNvPr id="40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667000" y="3048000"/>
            <a:ext cx="762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38B86"/>
            </a:solidFill>
            <a:prstDash val="solid"/>
            <a:headEnd type="arrow" w="sm" len="sm"/>
          </a:ln>
        </p:spPr>
      </p:cxnSp>
      <p:cxnSp>
        <p:nvCxnSpPr>
          <p:cNvPr id="41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715000" y="3048000"/>
            <a:ext cx="762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8639F"/>
            </a:solidFill>
            <a:prstDash val="solid"/>
            <a:headEnd type="arrow" w="sm" len="sm"/>
          </a:ln>
        </p:spPr>
      </p:cxnSp>
      <p:cxnSp>
        <p:nvCxnSpPr>
          <p:cNvPr id="42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 flipV="1">
            <a:off x="8382000" y="2143125"/>
            <a:ext cx="762000" cy="9048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77F2B"/>
            </a:solidFill>
            <a:prstDash val="solid"/>
            <a:headEnd type="arrow" w="sm" len="sm"/>
          </a:ln>
        </p:spPr>
      </p:cxnSp>
      <p:cxnSp>
        <p:nvCxnSpPr>
          <p:cNvPr id="43" name=""/>
          <p:cNvCxnSpPr>
            <a:stCxn xmlns:a="http://schemas.openxmlformats.org/drawingml/2006/main" id="9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382000" y="3048000"/>
            <a:ext cx="762000" cy="714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77F2B"/>
            </a:solidFill>
            <a:prstDash val="solid"/>
            <a:headEnd type="arrow" w="sm" len="sm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03D45B-F47A-434D-A8F3-EB89864C0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76250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 i="0">
                <a:solidFill>
                  <a:srgbClr val="2432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24324A"/>
                </a:solidFill>
                <a:latin typeface="Times New Roman"/>
                <a:ea typeface="Times New Roman"/>
                <a:cs typeface="Times New Roman"/>
              </a:rPr>
              <a:t>multimodal outputs</a:t>
            </a:r>
          </a:p>
          <a:p xmlns:a="http://schemas.openxmlformats.org/drawingml/2006/main">
            <a:pPr>
              <a:defRPr sz="1125" b="1" i="0">
                <a:solidFill>
                  <a:srgbClr val="2432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24324A"/>
                </a:solidFill>
                <a:latin typeface="Times New Roman"/>
                <a:ea typeface="Times New Roman"/>
                <a:cs typeface="Times New Roman"/>
              </a:rPr>
              <a:t>files · models · code</a:t>
            </a:r>
          </a:p>
        </p:txBody>
      </p:sp>
    </p:spTree>
    <p:extLst>
      <p:ext uri="{BB962C8B-B14F-4D97-AF65-F5344CB8AC3E}">
        <p14:creationId xmlns:p14="http://schemas.microsoft.com/office/powerpoint/2010/main" val="3993595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9FA390-60DD-4AAC-9B0D-0C96684D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28600"/>
            <a:ext cx="1123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2432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i="0">
                <a:solidFill>
                  <a:srgbClr val="24324A"/>
                </a:solidFill>
                <a:latin typeface="Times New Roman"/>
                <a:ea typeface="Times New Roman"/>
                <a:cs typeface="Times New Roman"/>
              </a:rPr>
              <a:t>Tool-using temporal reasoning trace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D48DBE-DFD4-43B2-9351-165019745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7700"/>
            <a:ext cx="1123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 i="1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0" i="1">
                <a:solidFill>
                  <a:srgbClr val="687386"/>
                </a:solidFill>
                <a:latin typeface="Times New Roman"/>
                <a:ea typeface="Times New Roman"/>
                <a:cs typeface="Times New Roman"/>
              </a:rPr>
              <a:t>A General Harness loop exposes evidence, tool calls, critique, and a verified answer.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7265D3-90CC-4643-8F74-54D0FF087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76500"/>
            <a:ext cx="16192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D9EEF0"/>
          </a:solidFill>
          <a:ln xmlns:a="http://schemas.openxmlformats.org/drawingml/2006/main" w="13335">
            <a:solidFill>
              <a:srgbClr val="438B8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8D9C73-7F0F-4189-81AE-774EFD1A4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438B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 i="0">
                <a:solidFill>
                  <a:srgbClr val="438B86"/>
                </a:solidFill>
                <a:latin typeface="Times New Roman"/>
                <a:ea typeface="Times New Roman"/>
                <a:cs typeface="Times New Roman"/>
              </a:rPr>
              <a:t>Time-series 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DA0963-B5ED-4683-80C4-1605BA212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876550"/>
            <a:ext cx="1390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observations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BA6DB0-E314-4FBB-A22C-357DADE03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476500"/>
            <a:ext cx="16192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DDEEDC"/>
          </a:solidFill>
          <a:ln xmlns:a="http://schemas.openxmlformats.org/drawingml/2006/main" w="13335">
            <a:solidFill>
              <a:srgbClr val="438B8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0135A4-31FE-45B9-9B81-A346E46D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5717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438B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 i="0">
                <a:solidFill>
                  <a:srgbClr val="438B86"/>
                </a:solidFill>
                <a:latin typeface="Times New Roman"/>
                <a:ea typeface="Times New Roman"/>
                <a:cs typeface="Times New Roman"/>
              </a:rPr>
              <a:t>Evidence log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0A1F81-0739-491A-8928-F0CFCB63E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876550"/>
            <a:ext cx="1390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provenance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76548E-4C79-4D47-B63C-C57D804D4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190750"/>
            <a:ext cx="22860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4F0C9"/>
          </a:solidFill>
          <a:ln xmlns:a="http://schemas.openxmlformats.org/drawingml/2006/main" w="13335">
            <a:solidFill>
              <a:srgbClr val="B77F2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AC5EB7-C2D3-462B-BF94-663687065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2860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B77F2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 i="0">
                <a:solidFill>
                  <a:srgbClr val="B77F2B"/>
                </a:solidFill>
                <a:latin typeface="Times New Roman"/>
                <a:ea typeface="Times New Roman"/>
                <a:cs typeface="Times New Roman"/>
              </a:rPr>
              <a:t>Temporal tools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FD9216-CBCA-47C0-A82F-FB6A99DFA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2590800"/>
            <a:ext cx="2057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trend · anomaly</a:t>
            </a:r>
          </a:p>
          <a:p xmlns:a="http://schemas.openxmlformats.org/drawingml/2006/main">
            <a:pPr>
              <a:def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correlation · forecast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1840D9-B3E7-408E-9C84-4F68760B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76500"/>
            <a:ext cx="16192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6E0F2"/>
          </a:solidFill>
          <a:ln xmlns:a="http://schemas.openxmlformats.org/drawingml/2006/main" w="13335">
            <a:solidFill>
              <a:srgbClr val="78639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24FE95-C73B-4F68-9B78-7DEFC81F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5717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78639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 i="0">
                <a:solidFill>
                  <a:srgbClr val="78639F"/>
                </a:solidFill>
                <a:latin typeface="Times New Roman"/>
                <a:ea typeface="Times New Roman"/>
                <a:cs typeface="Times New Roman"/>
              </a:rPr>
              <a:t>LLM critic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8619BA-55EF-4EAA-9366-19D331174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76550"/>
            <a:ext cx="1390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check and revise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6108A2-4966-4D51-A5A1-C62DBDAB7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476500"/>
            <a:ext cx="16192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3E2DE"/>
          </a:solidFill>
          <a:ln xmlns:a="http://schemas.openxmlformats.org/drawingml/2006/main" w="13335">
            <a:solidFill>
              <a:srgbClr val="B8665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D43180-4E21-4824-BB48-F7A5A9896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5717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B86659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 i="0">
                <a:solidFill>
                  <a:srgbClr val="B86659"/>
                </a:solidFill>
                <a:latin typeface="Times New Roman"/>
                <a:ea typeface="Times New Roman"/>
                <a:cs typeface="Times New Roman"/>
              </a:rPr>
              <a:t>Final answer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3CA583-8D80-433E-9AAA-C5560EEB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2876550"/>
            <a:ext cx="1390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0" i="0">
                <a:solidFill>
                  <a:srgbClr val="303A4B"/>
                </a:solidFill>
                <a:latin typeface="Times New Roman"/>
                <a:ea typeface="Times New Roman"/>
                <a:cs typeface="Times New Roman"/>
              </a:rPr>
              <a:t>evidence-backed</a:t>
            </a:r>
          </a:p>
        </p:txBody>
      </p:sp>
      <p:cxnSp>
        <p:nvCxnSpPr>
          <p:cNvPr id="41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143125" y="3000375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38B86"/>
            </a:solidFill>
            <a:prstDash val="solid"/>
            <a:headEnd type="arrow" w="sm" len="sm"/>
          </a:ln>
        </p:spPr>
      </p:cxnSp>
      <p:cxnSp>
        <p:nvCxnSpPr>
          <p:cNvPr id="42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4286250" y="3000375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38B86"/>
            </a:solidFill>
            <a:prstDash val="solid"/>
            <a:headEnd type="arrow" w="sm" len="sm"/>
          </a:ln>
        </p:spPr>
      </p:cxnSp>
      <p:cxnSp>
        <p:nvCxnSpPr>
          <p:cNvPr id="43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7096125" y="3000375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77F2B"/>
            </a:solidFill>
            <a:prstDash val="solid"/>
            <a:headEnd type="arrow" w="sm" len="sm"/>
          </a:ln>
        </p:spPr>
      </p:cxnSp>
      <p:cxnSp>
        <p:nvCxnSpPr>
          <p:cNvPr id="44" name=""/>
          <p:cNvCxnSpPr>
            <a:stCxn xmlns:a="http://schemas.openxmlformats.org/drawingml/2006/main" id="12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9239250" y="3000375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8639F"/>
            </a:solidFill>
            <a:prstDash val="solid"/>
            <a:headEnd type="arrow" w="sm" len="sm"/>
          </a:ln>
        </p:spPr>
      </p:cxnSp>
      <p:cxnSp>
        <p:nvCxnSpPr>
          <p:cNvPr id="45" name=""/>
          <p:cNvCxnSpPr>
            <a:stCxn xmlns:a="http://schemas.openxmlformats.org/drawingml/2006/main" id="12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H="1">
            <a:off x="2667000" y="3000375"/>
            <a:ext cx="6572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8639F"/>
            </a:solidFill>
            <a:prstDash val="dash"/>
            <a:headEnd type="arrow" w="sm" len="sm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70E8C5-34B4-486E-A488-5B08E2D2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428750"/>
            <a:ext cx="714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 i="0">
                <a:solidFill>
                  <a:srgbClr val="24324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1" i="0">
                <a:solidFill>
                  <a:srgbClr val="24324A"/>
                </a:solidFill>
                <a:latin typeface="Times New Roman"/>
                <a:ea typeface="Times New Roman"/>
                <a:cs typeface="Times New Roman"/>
              </a:rPr>
              <a:t>observe  →  execute  →  critique  →  verify</a:t>
            </a:r>
          </a:p>
        </p:txBody>
      </p:sp>
    </p:spTree>
    <p:extLst>
      <p:ext uri="{BB962C8B-B14F-4D97-AF65-F5344CB8AC3E}">
        <p14:creationId xmlns:p14="http://schemas.microsoft.com/office/powerpoint/2010/main" val="9544529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2026-10-02T09:05:59.4440000Z</dcterms:created>
  <dcterms:modified xsi:type="dcterms:W3CDTF">2026-10-02T09:05:59.4440000Z</dcterms:modified>
</coreProperties>
</file>