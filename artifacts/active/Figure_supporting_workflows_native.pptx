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276092a8224663" /><Relationship Type="http://schemas.openxmlformats.org/officeDocument/2006/relationships/extended-properties" Target="/docProps/app.xml" Id="Re9eb7bb00f704407" /><Relationship Type="http://schemas.openxmlformats.org/officeDocument/2006/relationships/officeDocument" Target="/ppt/presentation.xml" Id="R49d9d626c7b243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4f3cffce5743a9"/>
  </p:sldMasterIdLst>
  <p:notesMasterIdLst>
    <p:notesMasterId xmlns:r="http://schemas.openxmlformats.org/officeDocument/2006/relationships" r:id="R548f3c0593b9421c"/>
  </p:notesMasterIdLst>
  <p:sldIdLst>
    <p:sldId xmlns:r="http://schemas.openxmlformats.org/officeDocument/2006/relationships" id="256" r:id="R315c46d56a31483d"/>
    <p:sldId xmlns:r="http://schemas.openxmlformats.org/officeDocument/2006/relationships" id="257" r:id="Rf20877b65fd54653"/>
    <p:sldId xmlns:r="http://schemas.openxmlformats.org/officeDocument/2006/relationships" id="258" r:id="Ra4f97209bcd44441"/>
    <p:sldId xmlns:r="http://schemas.openxmlformats.org/officeDocument/2006/relationships" id="259" r:id="Rca21eae5e9a544cc"/>
    <p:sldId xmlns:r="http://schemas.openxmlformats.org/officeDocument/2006/relationships" id="260" r:id="Re373dc0f140449f9"/>
    <p:sldId xmlns:r="http://schemas.openxmlformats.org/officeDocument/2006/relationships" id="261" r:id="Rf7ca6c0528f14295"/>
    <p:sldId xmlns:r="http://schemas.openxmlformats.org/officeDocument/2006/relationships" id="262" r:id="Rca81a2d91edc4d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bca09c20bd45f1" /><Relationship Type="http://schemas.openxmlformats.org/officeDocument/2006/relationships/slideMaster" Target="/ppt/slideMasters/slideMaster1.xml" Id="Rb74f3cffce5743a9" /><Relationship Type="http://schemas.openxmlformats.org/officeDocument/2006/relationships/notesMaster" Target="/ppt/notesMasters/notesMaster1.xml" Id="R548f3c0593b9421c" /><Relationship Type="http://schemas.openxmlformats.org/officeDocument/2006/relationships/presProps" Target="/ppt/presProps.xml" Id="Rfb102f6c0eea4f74" /><Relationship Type="http://schemas.openxmlformats.org/officeDocument/2006/relationships/tableStyles" Target="/ppt/tableStyles.xml" Id="Rc112f3fc2d504d43" /><Relationship Type="http://schemas.openxmlformats.org/officeDocument/2006/relationships/slide" Target="/ppt/slides/slide1.xml" Id="R315c46d56a31483d" /><Relationship Type="http://schemas.openxmlformats.org/officeDocument/2006/relationships/slide" Target="/ppt/slides/slide2.xml" Id="Rf20877b65fd54653" /><Relationship Type="http://schemas.openxmlformats.org/officeDocument/2006/relationships/slide" Target="/ppt/slides/slide3.xml" Id="Ra4f97209bcd44441" /><Relationship Type="http://schemas.openxmlformats.org/officeDocument/2006/relationships/slide" Target="/ppt/slides/slide4.xml" Id="Rca21eae5e9a544cc" /><Relationship Type="http://schemas.openxmlformats.org/officeDocument/2006/relationships/slide" Target="/ppt/slides/slide5.xml" Id="Re373dc0f140449f9" /><Relationship Type="http://schemas.openxmlformats.org/officeDocument/2006/relationships/slide" Target="/ppt/slides/slide6.xml" Id="Rf7ca6c0528f14295" /><Relationship Type="http://schemas.openxmlformats.org/officeDocument/2006/relationships/slide" Target="/ppt/slides/slide7.xml" Id="Rca81a2d91edc4d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90b9582e2743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89dbd36db24a68" /><Relationship Type="http://schemas.openxmlformats.org/officeDocument/2006/relationships/notesMaster" Target="/ppt/notesMasters/notesMaster1.xml" Id="R043a3249045548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84c2c11f584aff" /><Relationship Type="http://schemas.openxmlformats.org/officeDocument/2006/relationships/notesMaster" Target="/ppt/notesMasters/notesMaster1.xml" Id="Rdb1ae7bee1bb48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f70a5c2eef4828" /><Relationship Type="http://schemas.openxmlformats.org/officeDocument/2006/relationships/notesMaster" Target="/ppt/notesMasters/notesMaster1.xml" Id="R3e4de3526c6042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92239264084fa5" /><Relationship Type="http://schemas.openxmlformats.org/officeDocument/2006/relationships/notesMaster" Target="/ppt/notesMasters/notesMaster1.xml" Id="R8528decceba942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42b35edfe44bb5" /><Relationship Type="http://schemas.openxmlformats.org/officeDocument/2006/relationships/notesMaster" Target="/ppt/notesMasters/notesMaster1.xml" Id="R7840142ea5c843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814efe13254df2" /><Relationship Type="http://schemas.openxmlformats.org/officeDocument/2006/relationships/notesMaster" Target="/ppt/notesMasters/notesMaster1.xml" Id="R8c9a3b6f709e47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20d668c9fb4486" /><Relationship Type="http://schemas.openxmlformats.org/officeDocument/2006/relationships/notesMaster" Target="/ppt/notesMasters/notesMaster1.xml" Id="Rf587f042c9d642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ChatTS, Fig. 3.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AION, Fig. 2.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MERIT, Fig. 2.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AnomaMind, Fig. 1.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TIMECLAW, Fig. 2.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TimeSeriesGym, Fig. 1.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TS-Agent, Fig. 3.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71675b81634b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d949f8f9b145e8" /><Relationship Type="http://schemas.openxmlformats.org/officeDocument/2006/relationships/slideLayout" Target="/ppt/slideLayouts/slideLayout1.xml" Id="R3e9359e44b5243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9359e44b5243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3aeb9e11843ec" /><Relationship Type="http://schemas.openxmlformats.org/officeDocument/2006/relationships/notesSlide" Target="/ppt/notesSlides/notesSlide1.xml" Id="Ra4ff8746a7704f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73a990c0c459e" /><Relationship Type="http://schemas.openxmlformats.org/officeDocument/2006/relationships/notesSlide" Target="/ppt/notesSlides/notesSlide2.xml" Id="R0016c72abde346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b62647db64ec7" /><Relationship Type="http://schemas.openxmlformats.org/officeDocument/2006/relationships/notesSlide" Target="/ppt/notesSlides/notesSlide3.xml" Id="R0e19279865bb4c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480844bac41c8" /><Relationship Type="http://schemas.openxmlformats.org/officeDocument/2006/relationships/notesSlide" Target="/ppt/notesSlides/notesSlide4.xml" Id="Rd3c7d4e0ab0e4a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aee5c823b45e9" /><Relationship Type="http://schemas.openxmlformats.org/officeDocument/2006/relationships/notesSlide" Target="/ppt/notesSlides/notesSlide5.xml" Id="R2433a97310b346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fd51eab864935" /><Relationship Type="http://schemas.openxmlformats.org/officeDocument/2006/relationships/notesSlide" Target="/ppt/notesSlides/notesSlide6.xml" Id="R669b17bc0dc041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fc8b2739043b0" /><Relationship Type="http://schemas.openxmlformats.org/officeDocument/2006/relationships/notesSlide" Target="/ppt/notesSlides/notesSlide7.xml" Id="Rf9e0096ab65540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414397-18C3-4221-A8B8-7B42199F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Temporal alignment and instruction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2E9EA-C573-44BC-BBAC-142531AA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LLM-side contribution: numerical series enter language-model training through two complementary data paths.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EFAC4-03DD-45A9-BB02-265418C3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714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58162-44A1-4FFD-8B85-D781E9DF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Attribute selector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A0FA6-39E6-491B-89F9-8EE118C1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selects temporal attributes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EEDD1-12D4-4B6F-ADD1-EF0E27F3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66875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13335">
            <a:solidFill>
              <a:srgbClr val="B77F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8A8AE-30B5-4778-876D-85F5569E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621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B77F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B77F2B"/>
                </a:solidFill>
                <a:latin typeface="Times New Roman"/>
                <a:ea typeface="Times New Roman"/>
                <a:cs typeface="Times New Roman"/>
              </a:rPr>
              <a:t>Attribute-based generator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EBF65-79BC-4EFF-B802-B9DB1CAA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66925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generates series with selected attributes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08D1B2-27E4-4430-8312-4704577B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14750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13335">
            <a:solidFill>
              <a:srgbClr val="78639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9B719-DF70-45AB-AD28-955E37CF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00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78639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78639F"/>
                </a:solidFill>
                <a:latin typeface="Times New Roman"/>
                <a:ea typeface="Times New Roman"/>
                <a:cs typeface="Times New Roman"/>
              </a:rPr>
              <a:t>Time-series evol-instruct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3FC2F-3399-474F-B357-6B726E17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14800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generates temporal instruction 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1477E-4E93-4F5C-8941-93AB1473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9E39D-2E02-4DE6-91A6-04B1A63A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Generated training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D7A5F-F4FD-423D-8459-EAD986F7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6705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series + language supervision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25F8B6-E4D5-47A0-B4D8-2FD287F4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0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15C4A-CBAB-461D-A6E4-E8F5C88A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Model training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C07AC-86D1-4558-85D6-54716F82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67050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temporal alignment</a:t>
            </a:r>
          </a:p>
        </p:txBody>
      </p:sp>
      <p:cxnSp>
        <p:nvCxnSpPr>
          <p:cNvPr id="41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381250" y="2143125"/>
            <a:ext cx="857250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arrow" w="sm" len="sm"/>
          </a:ln>
        </p:spPr>
      </p:cxnSp>
      <p:cxnSp>
        <p:nvCxnSpPr>
          <p:cNvPr id="42" name=""/>
          <p:cNvCxnSpPr>
            <a:stCxn xmlns:a="http://schemas.openxmlformats.org/drawingml/2006/main" id="3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381250" y="3009900"/>
            <a:ext cx="857250" cy="1181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639F"/>
            </a:solidFill>
            <a:prstDash val="solid"/>
            <a:headEnd type="arrow" w="sm" len="sm"/>
          </a:ln>
        </p:spPr>
      </p:cxn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429250" y="2143125"/>
            <a:ext cx="114300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F2B"/>
            </a:solidFill>
            <a:prstDash val="solid"/>
            <a:headEnd type="arrow" w="sm" len="sm"/>
          </a:ln>
        </p:spPr>
      </p:cxnSp>
      <p:cxnSp>
        <p:nvCxnSpPr>
          <p:cNvPr id="44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5429250" y="3143250"/>
            <a:ext cx="114300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639F"/>
            </a:solidFill>
            <a:prstDash val="solid"/>
            <a:headEnd type="arrow" w="sm" len="sm"/>
          </a:ln>
        </p:spPr>
      </p:cxnSp>
      <p:cxnSp>
        <p:nvCxnSpPr>
          <p:cNvPr id="45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667750" y="31432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09C7BA-B825-46C7-BBD3-C3D50FB4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2382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model-side representation and reasoning</a:t>
            </a:r>
          </a:p>
        </p:txBody>
      </p:sp>
    </p:spTree>
    <p:extLst>
      <p:ext uri="{BB962C8B-B14F-4D97-AF65-F5344CB8AC3E}">
        <p14:creationId xmlns:p14="http://schemas.microsoft.com/office/powerpoint/2010/main" val="2907893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02E96A-D154-4579-8F80-962C1197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Three principles for a reliable time-series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35704-3E4C-4950-B130-909CC385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The temporal contract couples grounding, knowledge use, and reliability checks.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0DCB4-DDB3-4297-8E4F-302A4CA6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238500" cy="4000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14288">
            <a:solidFill>
              <a:srgbClr val="438B8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BEBD3-6DA5-46E2-8454-FEF993E8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Temporal grounding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04BA0-65D4-4924-8561-1C4DEC5F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266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38B8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C6BBF-459F-4562-93F8-3251C9B3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Task specification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607D0-FFDD-4816-8449-B55AC52A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declares the task 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D1A70-38A9-4B3E-A33E-A4597F0F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266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38B8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019C5-C093-4E9D-8FC8-C04E5673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Data interface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BB7DF-26F0-44D8-AAFD-4192304F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adds an inspectable 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07A8D-F36C-4BD1-9382-3A72AC1B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266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38B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EE226C-D4B7-4664-BC22-DD5BE4AA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Visual 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894F4-3A6A-4607-AD8B-0F851922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adds an inspectable check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BE244D-A4D7-499A-8EF9-775ECE5B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3238500" cy="4000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4288">
            <a:solidFill>
              <a:srgbClr val="438B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7099B8-2D21-49FF-B2CD-F3C3739C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19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Knowledge-grounded reasoning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993E95-4F36-4111-A2D6-09296EE0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66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38B8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9AB778-D35B-4AEF-AAD9-E80B964A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2410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Strong knowledge dependence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6198F9-4738-4F36-B09A-985A69D8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717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declares the task contract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954327-0E49-47A7-9078-471A0989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95625"/>
            <a:ext cx="266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38B8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CCC323-E0B5-4944-9421-9EAD6010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8135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Temporal hypothesis expansion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3A0E6A-E782-404C-A536-F9969A5F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2900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adds an inspectable 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126816-FB4F-44A1-A606-1EC4620C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52875"/>
            <a:ext cx="266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38B8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ED3B10-43DC-42ED-9E24-F6D0FB9B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3860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Rules-aware reasoning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36292F-D319-4696-A34C-28D604B1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862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adds an inspectable 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8DDFE6-B4F3-4A23-984B-59F12418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238500" cy="4000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14288">
            <a:solidFill>
              <a:srgbClr val="B77F2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F4CA6D-30B3-48EF-B6A2-DCBADCDE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19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B77F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B77F2B"/>
                </a:solidFill>
                <a:latin typeface="Times New Roman"/>
                <a:ea typeface="Times New Roman"/>
                <a:cs typeface="Times New Roman"/>
              </a:rPr>
              <a:t>Reliability mechanisms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9C3E49-9360-46A8-B0F2-2FBC1CC0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266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7F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A422F3-2D47-4C51-B3A1-680755AB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2410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Post-experiment analysis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589182-55E2-4B4E-AD03-8247E675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declares the task contract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4FF808-B00D-4083-BC89-8604DC9C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95625"/>
            <a:ext cx="266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7F2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420549-0F60-49C6-9C4A-CF228D41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8135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Event-aware reasoning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CC9047-2ABB-4DB1-923E-9A93F912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2900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adds an inspectable check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B5D5A2-A8AE-4FBD-AFBE-5D799458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52875"/>
            <a:ext cx="266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7F2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0C89D2-29BF-4DD6-B804-A83BDE28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3860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Layered review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9FA41E-5AB0-4B64-8F76-73EED9B5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862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adds an inspectable check</a:t>
            </a:r>
          </a:p>
        </p:txBody>
      </p:sp>
      <p:cxnSp>
        <p:nvCxnSpPr>
          <p:cNvPr id="73" name=""/>
          <p:cNvCxnSpPr>
            <a:stCxn xmlns:a="http://schemas.openxmlformats.org/drawingml/2006/main" id="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905250" y="3429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arrow" w="sm" len="sm"/>
          </a:ln>
        </p:spPr>
      </p:cxnSp>
      <p:cxnSp>
        <p:nvCxnSpPr>
          <p:cNvPr id="74" name=""/>
          <p:cNvCxnSpPr>
            <a:stCxn xmlns:a="http://schemas.openxmlformats.org/drawingml/2006/main" id="1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620000" y="3429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F2B"/>
            </a:solidFill>
            <a:prstDash val="solid"/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18242680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35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B19D1328-A266-45F2-93ED-7FEE1A354B1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000" y="2381250"/>
              <a:ext cx="2190750" cy="1000125"/>
            </a:xfrm>
            <a:prstGeom xmlns:a="http://schemas.openxmlformats.org/drawingml/2006/main" prst="roundRect">
              <a:avLst>
                <a:gd name="adj" fmla="val 7619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ED41BC84-DEF8-4828-A22F-4A7D5674FC2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7250" y="2476500"/>
              <a:ext cx="2000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Retrieval agent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DDC16A42-BE3B-43E0-B610-F48AC84091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76300" y="2781300"/>
              <a:ext cx="1962150" cy="523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finds similar temporal samples</a:t>
              </a:r>
            </a:p>
          </p:txBody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D2768537-3B1E-49A7-BC1D-FA34482B201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57625" y="2381250"/>
              <a:ext cx="2190750" cy="1000125"/>
            </a:xfrm>
            <a:prstGeom xmlns:a="http://schemas.openxmlformats.org/drawingml/2006/main" prst="roundRect">
              <a:avLst>
                <a:gd name="adj" fmla="val 7619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FEE4111A-FEFD-434F-BD85-C0AE413445B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52875" y="2476500"/>
              <a:ext cx="2000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Augmentation agent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5A7BD6D4-F657-4221-905C-AD5D73B6641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71925" y="2781300"/>
              <a:ext cx="1962150" cy="523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selects suitable augmentation strategies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BC35CF88-5244-4303-A02D-C0537BFBBE1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53250" y="2381250"/>
              <a:ext cx="2190750" cy="1000125"/>
            </a:xfrm>
            <a:prstGeom xmlns:a="http://schemas.openxmlformats.org/drawingml/2006/main" prst="roundRect">
              <a:avLst>
                <a:gd name="adj" fmla="val 7619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3335">
              <a:solidFill>
                <a:srgbClr val="B77F2B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E8FCF032-60EB-4BD6-99B7-DFACD49B56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48500" y="2476500"/>
              <a:ext cx="2000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Review agent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F1894E27-57D3-47D8-A1DE-827A8DF1E90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67550" y="2781300"/>
              <a:ext cx="1962150" cy="523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semantic quality of positive views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B969227C-5486-4FB7-A652-50DF8F8FD60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667875" y="2381250"/>
              <a:ext cx="1619250" cy="1000125"/>
            </a:xfrm>
            <a:prstGeom xmlns:a="http://schemas.openxmlformats.org/drawingml/2006/main" prst="roundRect">
              <a:avLst>
                <a:gd name="adj" fmla="val 7619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3335">
              <a:solidFill>
                <a:srgbClr val="78639F"/>
              </a:solidFill>
              <a:prstDash val="solid"/>
            </a:ln>
          </p:spPr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5375CEE7-3CA5-483F-87ED-9834C7A049B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763125" y="2476500"/>
              <a:ext cx="1428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Accepted set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B3B84A4A-B0CD-4F4F-AE42-F1B8BFE84F3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782175" y="2781300"/>
              <a:ext cx="1390650" cy="523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positive views for contrastive learning</a:t>
              </a:r>
            </a:p>
          </p:txBody>
        </p:sp>
        <p:cxnSp>
          <p:nvCxnSpPr>
            <p:cNvPr id="31" name=""/>
            <p:cNvCxnSpPr>
              <a:stCxn xmlns:a="http://schemas.openxmlformats.org/drawingml/2006/main" id="1" idx="3"/>
              <a:endCxn xmlns:a="http://schemas.openxmlformats.org/drawingml/2006/main" id="4" idx="1"/>
            </p:cNvCxnSpPr>
            <p:nvPr/>
          </p:nvCxnSpPr>
          <p:spPr>
            <a:xfrm xmlns:a="http://schemas.openxmlformats.org/drawingml/2006/main">
              <a:off x="2952750" y="2881313"/>
              <a:ext cx="90487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tailEnd type="arrow" w="sm" len="sm"/>
            </a:ln>
          </p:spPr>
        </p:cxnSp>
        <p:cxnSp>
          <p:nvCxnSpPr>
            <p:cNvPr id="32" name=""/>
            <p:cNvCxnSpPr>
              <a:stCxn xmlns:a="http://schemas.openxmlformats.org/drawingml/2006/main" id="4" idx="3"/>
              <a:endCxn xmlns:a="http://schemas.openxmlformats.org/drawingml/2006/main" id="7" idx="1"/>
            </p:cNvCxnSpPr>
            <p:nvPr/>
          </p:nvCxnSpPr>
          <p:spPr>
            <a:xfrm xmlns:a="http://schemas.openxmlformats.org/drawingml/2006/main">
              <a:off x="6048375" y="2881313"/>
              <a:ext cx="90487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tailEnd type="arrow" w="sm" len="sm"/>
            </a:ln>
          </p:spPr>
        </p:cxnSp>
        <p:cxnSp>
          <p:nvCxnSpPr>
            <p:cNvPr id="33" name=""/>
            <p:cNvCxnSpPr>
              <a:stCxn xmlns:a="http://schemas.openxmlformats.org/drawingml/2006/main" id="7" idx="3"/>
              <a:endCxn xmlns:a="http://schemas.openxmlformats.org/drawingml/2006/main" id="10" idx="1"/>
            </p:cNvCxnSpPr>
            <p:nvPr/>
          </p:nvCxnSpPr>
          <p:spPr>
            <a:xfrm xmlns:a="http://schemas.openxmlformats.org/drawingml/2006/main">
              <a:off x="9144000" y="2881313"/>
              <a:ext cx="52387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solid"/>
              <a:tailEnd type="arrow" w="sm" len="sm"/>
            </a:ln>
          </p:spPr>
        </p:cxnSp>
        <p:sp>
          <p:nvSpPr>
            <p:cNvPr id="34" name=""/>
            <p:cNvSpPr/>
            <p:nvPr/>
          </p:nvSpPr>
          <p:spPr>
            <a:xfrm xmlns:a="http://schemas.openxmlformats.org/drawingml/2006/main">
              <a:off x="1857375" y="3381375"/>
              <a:ext cx="6191250" cy="571500"/>
            </a:xfrm>
            <ns0:custGeom xmlns:ns0="http://schemas.openxmlformats.org/drawingml/2006/main">
              <ns0:avLst/>
              <ns0:gdLst/>
              <ns0:ahLst/>
              <ns0:cxnLst/>
              <ns0:pathLst>
                <ns0:path w="6191250" h="571500" fill="none" stroke="1">
                  <ns0:moveTo>
                    <ns0:pt x="6191250" y="0"/>
                  </ns0:moveTo>
                  <ns0:lnTo>
                    <ns0:pt x="6191250" y="571500"/>
                  </ns0:lnTo>
                  <ns0:lnTo>
                    <ns0:pt x="0" y="571500"/>
                  </ns0:lnTo>
                  <ns0:lnTo>
                    <ns0:pt x="0" y="0"/>
                  </ns0:lnTo>
                </ns0:path>
              </ns0:pathLst>
            </ns0:custGeom>
            <a:ln xmlns:a="http://schemas.openxmlformats.org/drawingml/2006/main" w="19050">
              <a:solidFill>
                <a:srgbClr val="B77F2B"/>
              </a:solidFill>
              <a:prstDash val="dash"/>
              <a:tailEnd type="arrow" w="sm" len="sm"/>
            </a:ln>
          </p:spPr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06ED2271-112A-45C7-8FA8-C0D5F2D03EE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19250" y="1524000"/>
              <a:ext cx="8858250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4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/>
              </a:r>
            </a:p>
          </p:txBody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221246F0-B37A-4182-B1B1-2F9503A1753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04875" y="4000500"/>
              <a:ext cx="1019175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/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71704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35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FEF69D22-4DA9-4F85-A9F5-CA4B993EE73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1500" y="2476500"/>
              <a:ext cx="2286000" cy="1095375"/>
            </a:xfrm>
            <a:prstGeom xmlns:a="http://schemas.openxmlformats.org/drawingml/2006/main" prst="roundRect">
              <a:avLst>
                <a:gd name="adj" fmla="val 6957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7AA180A0-1412-437F-9CD6-A0517A50EF1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6750" y="257175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Evidence acquisition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0BDBACBF-9000-431A-9E70-553FF712D77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2876550"/>
              <a:ext cx="20574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retrieve signals and context</a:t>
              </a:r>
            </a:p>
          </p:txBody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59039F02-9D19-4BCC-A33B-3ABA2A627F4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33750" y="2476500"/>
              <a:ext cx="2286000" cy="1095375"/>
            </a:xfrm>
            <a:prstGeom xmlns:a="http://schemas.openxmlformats.org/drawingml/2006/main" prst="roundRect">
              <a:avLst>
                <a:gd name="adj" fmla="val 6957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2B072089-7363-4F16-B170-DD3F5F1840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29000" y="2571750"/>
              <a:ext cx="209550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Adaptive evidence construction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94BD43F2-B306-46BA-813E-82844392F2C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48050" y="3124200"/>
              <a:ext cx="2057400" cy="3714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construct diagnostic evidence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9DC32BD0-DF1E-4736-B568-C38251B848C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96000" y="2476500"/>
              <a:ext cx="2286000" cy="1095375"/>
            </a:xfrm>
            <a:prstGeom xmlns:a="http://schemas.openxmlformats.org/drawingml/2006/main" prst="roundRect">
              <a:avLst>
                <a:gd name="adj" fmla="val 6957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3335">
              <a:solidFill>
                <a:srgbClr val="B77F2B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0B2D05D2-E533-4A70-9139-A004B57832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191250" y="257175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Anomaly detection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F77169F1-06CD-4C21-A59B-02C726176CD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10300" y="2876550"/>
              <a:ext cx="20574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score candidate events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E07E7F93-A204-49FC-BEAD-91DC6192EB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858250" y="2476500"/>
              <a:ext cx="2286000" cy="1095375"/>
            </a:xfrm>
            <a:prstGeom xmlns:a="http://schemas.openxmlformats.org/drawingml/2006/main" prst="roundRect">
              <a:avLst>
                <a:gd name="adj" fmla="val 6957"/>
              </a:avLst>
            </a:prstGeom>
            <a:solidFill xmlns:a="http://schemas.openxmlformats.org/drawingml/2006/main">
              <a:srgbClr val="F3E2DE"/>
            </a:solidFill>
            <a:ln xmlns:a="http://schemas.openxmlformats.org/drawingml/2006/main" w="13335">
              <a:solidFill>
                <a:srgbClr val="B86659"/>
              </a:solidFill>
              <a:prstDash val="solid"/>
            </a:ln>
          </p:spPr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3C44ED09-291E-4CEF-80CE-1FEFAF7C4F4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953500" y="257175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8665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86659"/>
                  </a:solidFill>
                  <a:latin typeface="Times New Roman"/>
                  <a:ea typeface="Times New Roman"/>
                  <a:cs typeface="Times New Roman"/>
                </a:rPr>
                <a:t>Iterative refinement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EF429A76-4B27-43B8-A278-89A4FB920E7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972550" y="2876550"/>
              <a:ext cx="20574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refine anomaly intervals</a:t>
              </a:r>
            </a:p>
          </p:txBody>
        </p:sp>
        <p:cxnSp>
          <p:nvCxnSpPr>
            <p:cNvPr id="32" name=""/>
            <p:cNvCxnSpPr>
              <a:stCxn xmlns:a="http://schemas.openxmlformats.org/drawingml/2006/main" id="1" idx="3"/>
              <a:endCxn xmlns:a="http://schemas.openxmlformats.org/drawingml/2006/main" id="4" idx="1"/>
            </p:cNvCxnSpPr>
            <p:nvPr/>
          </p:nvCxnSpPr>
          <p:spPr>
            <a:xfrm xmlns:a="http://schemas.openxmlformats.org/drawingml/2006/main">
              <a:off x="2857500" y="3024188"/>
              <a:ext cx="4762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tailEnd type="arrow" w="sm" len="sm"/>
            </a:ln>
          </p:spPr>
        </p:cxnSp>
        <p:cxnSp>
          <p:nvCxnSpPr>
            <p:cNvPr id="33" name=""/>
            <p:cNvCxnSpPr>
              <a:stCxn xmlns:a="http://schemas.openxmlformats.org/drawingml/2006/main" id="4" idx="3"/>
              <a:endCxn xmlns:a="http://schemas.openxmlformats.org/drawingml/2006/main" id="7" idx="1"/>
            </p:cNvCxnSpPr>
            <p:nvPr/>
          </p:nvCxnSpPr>
          <p:spPr>
            <a:xfrm xmlns:a="http://schemas.openxmlformats.org/drawingml/2006/main">
              <a:off x="5619750" y="3024188"/>
              <a:ext cx="4762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tailEnd type="arrow" w="sm" len="sm"/>
            </a:ln>
          </p:spPr>
        </p:cxnSp>
        <p:cxnSp>
          <p:nvCxnSpPr>
            <p:cNvPr id="34" name=""/>
            <p:cNvCxnSpPr>
              <a:stCxn xmlns:a="http://schemas.openxmlformats.org/drawingml/2006/main" id="7" idx="3"/>
              <a:endCxn xmlns:a="http://schemas.openxmlformats.org/drawingml/2006/main" id="10" idx="1"/>
            </p:cNvCxnSpPr>
            <p:nvPr/>
          </p:nvCxnSpPr>
          <p:spPr>
            <a:xfrm xmlns:a="http://schemas.openxmlformats.org/drawingml/2006/main">
              <a:off x="8382000" y="3024188"/>
              <a:ext cx="4762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tailEnd type="arrow" w="sm" len="sm"/>
            </a:ln>
          </p:spPr>
        </p:cxn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F2541FA1-FA0D-45A2-8399-FDD39A39992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38250" y="1428750"/>
              <a:ext cx="9715500" cy="571500"/>
            </a:xfrm>
            <a:prstGeom xmlns:a="http://schemas.openxmlformats.org/drawingml/2006/main" prst="roundRect">
              <a:avLst>
                <a:gd name="adj" fmla="val 13333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1430">
              <a:solidFill>
                <a:srgbClr val="78639F"/>
              </a:solidFill>
              <a:prstDash val="dash"/>
            </a:ln>
          </p:spPr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9AC80899-19F7-46D4-BA3A-2450ABF92B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28750" y="1543050"/>
              <a:ext cx="93345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Detector training with rule-based rewards</a:t>
              </a:r>
            </a:p>
          </p:txBody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B4E583EF-1057-44B0-8634-1631416F13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19250" y="4333875"/>
              <a:ext cx="8572500" cy="666750"/>
            </a:xfrm>
            <a:prstGeom xmlns:a="http://schemas.openxmlformats.org/drawingml/2006/main" prst="roundRect">
              <a:avLst>
                <a:gd name="adj" fmla="val 11429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2383">
              <a:solidFill>
                <a:srgbClr val="24324A"/>
              </a:solidFill>
              <a:prstDash val="solid"/>
            </a:ln>
          </p:spPr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83B8AADD-668D-47DB-A0DD-910EFBCC89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57375" y="4476750"/>
              <a:ext cx="809625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Toolkit: knowledge memory and numerical diagnostics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63921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2221A5-52D1-4464-B664-75DF6061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A time-series-native runtime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A0255-BD1F-4545-89D6-2B4BF4E2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Numerical execution, capability evolution, and multimodal memory remain connected through auditable trajectories.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6C56C-8087-402F-BCF7-BE7676D9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B5430-9CEC-4EBC-908C-7903E7FF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Contextual series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5610A-8724-4FA3-9B48-E51D3036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86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values, events, metadata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23684-6FC7-4FDA-A6AC-0406924E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2381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43DFF-DD5B-415B-B46A-B1AFF6AF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Time-series runtime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42B28-3BF9-4A70-A268-19F8634D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90800"/>
            <a:ext cx="2152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server-side numerical execution</a:t>
            </a:r>
          </a:p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state and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C4B636-9E0C-48A4-A7EC-127537B1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90750"/>
            <a:ext cx="2381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13335">
            <a:solidFill>
              <a:srgbClr val="B77F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D5E8C-DC8E-4067-9C2B-1359D4CA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86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B77F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B77F2B"/>
                </a:solidFill>
                <a:latin typeface="Times New Roman"/>
                <a:ea typeface="Times New Roman"/>
                <a:cs typeface="Times New Roman"/>
              </a:rPr>
              <a:t>Capability evolution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712E49-F9ED-4120-901F-97BACA98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590800"/>
            <a:ext cx="2152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evaluate, update, retain, release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0B626-E7B8-4A25-B819-4B865605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0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13335">
            <a:solidFill>
              <a:srgbClr val="78639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4130E2-27AD-41F1-909A-9F613BC5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7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78639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78639F"/>
                </a:solidFill>
                <a:latin typeface="Times New Roman"/>
                <a:ea typeface="Times New Roman"/>
                <a:cs typeface="Times New Roman"/>
              </a:rPr>
              <a:t>Multimodal 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F19876-61CE-40BC-8298-A01C8F2E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76550"/>
            <a:ext cx="1581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retrieve and reuse</a:t>
            </a:r>
          </a:p>
        </p:txBody>
      </p:sp>
      <p:cxnSp>
        <p:nvCxnSpPr>
          <p:cNvPr id="34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667000" y="3000375"/>
            <a:ext cx="76200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arrow" w="sm" len="sm"/>
          </a:ln>
        </p:spPr>
      </p:cxn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10250" y="30003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F2B"/>
            </a:solidFill>
            <a:prstDash val="solid"/>
            <a:headEnd type="arrow" w="sm" len="sm"/>
          </a:ln>
        </p:spPr>
      </p:cxn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001125" y="3000375"/>
            <a:ext cx="809625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639F"/>
            </a:solidFill>
            <a:prstDash val="solid"/>
            <a:headEnd type="arrow" w="sm" len="sm"/>
          </a:ln>
        </p:spPr>
      </p:cxnSp>
      <p:cxnSp>
        <p:nvCxnSpPr>
          <p:cNvPr id="37" name=""/>
          <p:cNvCxnSpPr>
            <a:stCxn xmlns:a="http://schemas.openxmlformats.org/drawingml/2006/main" id="12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H="1" flipV="1">
            <a:off x="3429000" y="3000375"/>
            <a:ext cx="819150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639F"/>
            </a:solidFill>
            <a:prstDash val="dash"/>
            <a:headEnd type="arrow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9A839F-4E74-4DFB-A533-305328E2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428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auditable trajectories close the loop</a:t>
            </a:r>
          </a:p>
        </p:txBody>
      </p:sp>
    </p:spTree>
    <p:extLst>
      <p:ext uri="{BB962C8B-B14F-4D97-AF65-F5344CB8AC3E}">
        <p14:creationId xmlns:p14="http://schemas.microsoft.com/office/powerpoint/2010/main" val="20316750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EC47B4-4A9D-4ECD-A428-5673B763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Benchmark infrastructure for executable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26663-07AA-4296-B0D4-24118591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A benchmark combines heterogeneous sources, ML-engineering challenges, skill simulators, graders, and multimodal outputs.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4130A-20D4-4D6E-9882-66FCC5B6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2095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04BDE-7D01-4943-9B2F-CE0C670E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Multiple 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AC166-2A35-4526-A9C0-29537C47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Kaggle · GitHub · data resources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9A6BC-971E-483B-960E-B6A6601A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22860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13335">
            <a:solidFill>
              <a:srgbClr val="78639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1BBF4-3E10-4C62-AE24-DE8314F3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78639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78639F"/>
                </a:solidFill>
                <a:latin typeface="Times New Roman"/>
                <a:ea typeface="Times New Roman"/>
                <a:cs typeface="Times New Roman"/>
              </a:rPr>
              <a:t>Challenges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C1E4D8-9DB7-441F-86FA-DE39CD67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2057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descriptions · resources</a:t>
            </a:r>
          </a:p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skill simulators · code improvement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33461-C210-4C39-8214-9521BB59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1905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13335">
            <a:solidFill>
              <a:srgbClr val="B77F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6FE5E-953F-4DFD-9C95-6B9248D2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B77F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B77F2B"/>
                </a:solidFill>
                <a:latin typeface="Times New Roman"/>
                <a:ea typeface="Times New Roman"/>
                <a:cs typeface="Times New Roman"/>
              </a:rPr>
              <a:t>Agent-agnostic 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90A40E-124E-4ED6-AC2D-F9B72B7A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81300"/>
            <a:ext cx="1676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same contract for different Agents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F32853-921A-4B23-B214-F3888523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1450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3F05DE-2C29-49DD-ADA4-4B143BC5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09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Quantitative grader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581AD7-B877-44A9-840F-985F326E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1455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accuracy, error, runtime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4832F5-4559-4698-A150-D7705B38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61CD1-5291-4D46-8415-9255877B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29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Qualitative grader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4BE100-2B81-40A3-A7BE-ABC534D4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3380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task-specific artifact checks</a:t>
            </a:r>
          </a:p>
        </p:txBody>
      </p:sp>
      <p:cxnSp>
        <p:nvCxnSpPr>
          <p:cNvPr id="40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667000" y="3048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arrow" w="sm" len="sm"/>
          </a:ln>
        </p:spPr>
      </p:cxn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715000" y="3048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639F"/>
            </a:solidFill>
            <a:prstDash val="solid"/>
            <a:headEnd type="arrow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8382000" y="2143125"/>
            <a:ext cx="76200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F2B"/>
            </a:solidFill>
            <a:prstDash val="solid"/>
            <a:headEnd type="arrow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382000" y="3048000"/>
            <a:ext cx="76200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F2B"/>
            </a:solidFill>
            <a:prstDash val="solid"/>
            <a:headEnd type="arrow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03D45B-F47A-434D-A8F3-EB89864C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762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multimodal outputs</a:t>
            </a:r>
          </a:p>
          <a:p xmlns:a="http://schemas.openxmlformats.org/drawingml/2006/main">
            <a:pPr>
              <a:defRPr sz="1125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files · models · code</a:t>
            </a:r>
          </a:p>
        </p:txBody>
      </p:sp>
    </p:spTree>
    <p:extLst>
      <p:ext uri="{BB962C8B-B14F-4D97-AF65-F5344CB8AC3E}">
        <p14:creationId xmlns:p14="http://schemas.microsoft.com/office/powerpoint/2010/main" val="3993595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9FA390-60DD-4AAC-9B0D-0C96684D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Tool-using temporal reasoning 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48DBE-DFD4-43B2-9351-16501974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A General Harness loop exposes evidence, tool calls, critique, and a verified answer.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265D3-90CC-4643-8F74-54D0FF08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D9C73-7F0F-4189-81AE-774EFD1A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Time-series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A0963-B5ED-4683-80C4-1605BA21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76550"/>
            <a:ext cx="139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observations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A6DB0-E314-4FBB-A22C-357DADE0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765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135A4-31FE-45B9-9B81-A346E46D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71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Evidence 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A1F81-0739-491A-8928-F0CFCB63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76550"/>
            <a:ext cx="139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provenance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6548E-4C79-4D47-B63C-C57D804D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90750"/>
            <a:ext cx="2286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13335">
            <a:solidFill>
              <a:srgbClr val="B77F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AC5EB7-C2D3-462B-BF94-66368706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B77F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B77F2B"/>
                </a:solidFill>
                <a:latin typeface="Times New Roman"/>
                <a:ea typeface="Times New Roman"/>
                <a:cs typeface="Times New Roman"/>
              </a:rPr>
              <a:t>Temporal tools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FD9216-CBCA-47C0-A82F-FB6A99DF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590800"/>
            <a:ext cx="2057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trend · anomaly</a:t>
            </a:r>
          </a:p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correlation · forecast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1840D9-B3E7-408E-9C84-4F68760B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13335">
            <a:solidFill>
              <a:srgbClr val="78639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24FE95-C73B-4F68-9B78-7DEFC81F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78639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78639F"/>
                </a:solidFill>
                <a:latin typeface="Times New Roman"/>
                <a:ea typeface="Times New Roman"/>
                <a:cs typeface="Times New Roman"/>
              </a:rPr>
              <a:t>LLM critic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8619BA-55EF-4EAA-9366-19D33117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76550"/>
            <a:ext cx="139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check and revise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108A2-4966-4D51-A5A1-C62DBDAB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765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E2DE"/>
          </a:solidFill>
          <a:ln xmlns:a="http://schemas.openxmlformats.org/drawingml/2006/main" w="13335">
            <a:solidFill>
              <a:srgbClr val="B8665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D43180-4E21-4824-BB48-F7A5A989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571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B8665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B86659"/>
                </a:solidFill>
                <a:latin typeface="Times New Roman"/>
                <a:ea typeface="Times New Roman"/>
                <a:cs typeface="Times New Roman"/>
              </a:rPr>
              <a:t>Final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3CA583-8D80-433E-9AAA-C5560EEB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876550"/>
            <a:ext cx="139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evidence-backed</a:t>
            </a:r>
          </a:p>
        </p:txBody>
      </p:sp>
      <p:cxnSp>
        <p:nvCxnSpPr>
          <p:cNvPr id="41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43125" y="30003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arrow" w="sm" len="sm"/>
          </a:ln>
        </p:spPr>
      </p:cxn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86250" y="30003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arrow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096125" y="30003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F2B"/>
            </a:solidFill>
            <a:prstDash val="solid"/>
            <a:headEnd type="arrow" w="sm" len="sm"/>
          </a:ln>
        </p:spPr>
      </p:cxnSp>
      <p:cxnSp>
        <p:nvCxnSpPr>
          <p:cNvPr id="44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239250" y="30003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639F"/>
            </a:solidFill>
            <a:prstDash val="solid"/>
            <a:headEnd type="arrow" w="sm" len="sm"/>
          </a:ln>
        </p:spPr>
      </p:cxnSp>
      <p:cxnSp>
        <p:nvCxnSpPr>
          <p:cNvPr id="45" name=""/>
          <p:cNvCxnSpPr>
            <a:stCxn xmlns:a="http://schemas.openxmlformats.org/drawingml/2006/main" id="12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H="1">
            <a:off x="2667000" y="3000375"/>
            <a:ext cx="6572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639F"/>
            </a:solidFill>
            <a:prstDash val="dash"/>
            <a:head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70E8C5-34B4-486E-A488-5B08E2D2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28750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observe  →  execute  →  critique  →  verify</a:t>
            </a:r>
          </a:p>
        </p:txBody>
      </p:sp>
    </p:spTree>
    <p:extLst>
      <p:ext uri="{BB962C8B-B14F-4D97-AF65-F5344CB8AC3E}">
        <p14:creationId xmlns:p14="http://schemas.microsoft.com/office/powerpoint/2010/main" val="9544529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2026-10-02T09:05:59.4440000Z</dcterms:created>
  <dcterms:modified xsi:type="dcterms:W3CDTF">2026-10-02T09:05:59.4440000Z</dcterms:modified>
</coreProperties>
</file>