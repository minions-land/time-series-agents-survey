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6668750" cy="1278255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-remaining-components"/>
          <p:cNvGrpSpPr/>
          <p:nvPr/>
        </p:nvGrpSpPr>
        <p:grpSpPr>
          <a:xfrm>
            <a:off x="0" y="0"/>
            <a:ext cx="15240000" cy="8572500"/>
            <a:chOff x="0" y="0"/>
            <a:chExt cx="15240000" cy="8572500"/>
          </a:xfrm>
        </p:grpSpPr>
        <p:sp>
          <p:nvSpPr>
            <p:cNvPr id="2" name="Roundrect 2"/>
            <p:cNvSpPr/>
            <p:nvPr/>
          </p:nvSpPr>
          <p:spPr>
            <a:xfrm>
              <a:off x="1428750" y="2238375"/>
              <a:ext cx="3714750" cy="2381250"/>
            </a:xfrm>
            <a:prstGeom prst="roundRect">
              <a:avLst>
                <a:gd name="adj" fmla="val 7200"/>
              </a:avLst>
            </a:prstGeom>
            <a:solidFill>
              <a:srgbClr val="CAE9EE"/>
            </a:solidFill>
            <a:ln w="38100">
              <a:solidFill>
                <a:srgbClr val="3A3833"/>
              </a:solidFill>
            </a:ln>
          </p:spPr>
          <p:txBody>
            <a:bodyPr/>
            <a:lstStyle/>
            <a:p/>
          </p:txBody>
        </p:sp>
        <p:sp>
          <p:nvSpPr>
            <p:cNvPr id="3" name="Roundrect 3"/>
            <p:cNvSpPr/>
            <p:nvPr/>
          </p:nvSpPr>
          <p:spPr>
            <a:xfrm>
              <a:off x="6191250" y="2238375"/>
              <a:ext cx="3714750" cy="2381250"/>
            </a:xfrm>
            <a:prstGeom prst="roundRect">
              <a:avLst>
                <a:gd name="adj" fmla="val 7200"/>
              </a:avLst>
            </a:prstGeom>
            <a:solidFill>
              <a:srgbClr val="E7F3E3"/>
            </a:solidFill>
            <a:ln w="38100">
              <a:solidFill>
                <a:srgbClr val="3A3833"/>
              </a:solidFill>
            </a:ln>
          </p:spPr>
          <p:txBody>
            <a:bodyPr/>
            <a:lstStyle/>
            <a:p/>
          </p:txBody>
        </p:sp>
        <p:sp>
          <p:nvSpPr>
            <p:cNvPr id="4" name="Roundrect 4"/>
            <p:cNvSpPr/>
            <p:nvPr/>
          </p:nvSpPr>
          <p:spPr>
            <a:xfrm>
              <a:off x="10953750" y="2238375"/>
              <a:ext cx="3714750" cy="2381250"/>
            </a:xfrm>
            <a:prstGeom prst="roundRect">
              <a:avLst>
                <a:gd name="adj" fmla="val 7200"/>
              </a:avLst>
            </a:prstGeom>
            <a:solidFill>
              <a:srgbClr val="CAE9EE"/>
            </a:solidFill>
            <a:ln w="38100">
              <a:solidFill>
                <a:srgbClr val="3A3833"/>
              </a:solidFill>
            </a:ln>
          </p:spPr>
          <p:txBody>
            <a:bodyPr/>
            <a:lstStyle/>
            <a:p/>
          </p:txBody>
        </p:sp>
        <p:sp>
          <p:nvSpPr>
            <p:cNvPr id="5" name="Roundrect 5"/>
            <p:cNvSpPr/>
            <p:nvPr/>
          </p:nvSpPr>
          <p:spPr>
            <a:xfrm>
              <a:off x="1428750" y="5953125"/>
              <a:ext cx="3714750" cy="2381250"/>
            </a:xfrm>
            <a:prstGeom prst="roundRect">
              <a:avLst>
                <a:gd name="adj" fmla="val 7200"/>
              </a:avLst>
            </a:prstGeom>
            <a:solidFill>
              <a:srgbClr val="E5E2FA"/>
            </a:solidFill>
            <a:ln w="38100">
              <a:solidFill>
                <a:srgbClr val="3A3833"/>
              </a:solidFill>
            </a:ln>
          </p:spPr>
          <p:txBody>
            <a:bodyPr/>
            <a:lstStyle/>
            <a:p/>
          </p:txBody>
        </p:sp>
        <p:sp>
          <p:nvSpPr>
            <p:cNvPr id="6" name="Roundrect 6"/>
            <p:cNvSpPr/>
            <p:nvPr/>
          </p:nvSpPr>
          <p:spPr>
            <a:xfrm>
              <a:off x="6191250" y="5953125"/>
              <a:ext cx="3714750" cy="2381250"/>
            </a:xfrm>
            <a:prstGeom prst="roundRect">
              <a:avLst>
                <a:gd name="adj" fmla="val 7200"/>
              </a:avLst>
            </a:prstGeom>
            <a:solidFill>
              <a:srgbClr val="EEF0EA"/>
            </a:solidFill>
            <a:ln w="38100">
              <a:solidFill>
                <a:srgbClr val="3A3833"/>
              </a:solidFill>
            </a:ln>
          </p:spPr>
          <p:txBody>
            <a:bodyPr/>
            <a:lstStyle/>
            <a:p/>
          </p:txBody>
        </p:sp>
        <p:sp>
          <p:nvSpPr>
            <p:cNvPr id="7" name="Roundrect 7"/>
            <p:cNvSpPr/>
            <p:nvPr/>
          </p:nvSpPr>
          <p:spPr>
            <a:xfrm>
              <a:off x="10953750" y="5953125"/>
              <a:ext cx="3714750" cy="2381250"/>
            </a:xfrm>
            <a:prstGeom prst="roundRect">
              <a:avLst>
                <a:gd name="adj" fmla="val 7200"/>
              </a:avLst>
            </a:prstGeom>
            <a:solidFill>
              <a:srgbClr val="FFF9CF"/>
            </a:solidFill>
            <a:ln w="38100">
              <a:solidFill>
                <a:srgbClr val="3A3833"/>
              </a:solidFill>
            </a:ln>
          </p:spPr>
          <p:txBody>
            <a:bodyPr/>
            <a:lstStyle/>
            <a:p/>
          </p:txBody>
        </p:sp>
        <p:sp>
          <p:nvSpPr>
            <p:cNvPr id="8" name="Roundrect 8"/>
            <p:cNvSpPr/>
            <p:nvPr/>
          </p:nvSpPr>
          <p:spPr>
            <a:xfrm>
              <a:off x="1428750" y="10096500"/>
              <a:ext cx="13239750" cy="552450"/>
            </a:xfrm>
            <a:prstGeom prst="roundRect">
              <a:avLst>
                <a:gd name="adj" fmla="val 31034"/>
              </a:avLst>
            </a:prstGeom>
            <a:solidFill>
              <a:srgbClr val="F2F3EE"/>
            </a:solidFill>
            <a:ln w="38100">
              <a:solidFill>
                <a:srgbClr val="2C2D2C"/>
              </a:solidFill>
            </a:ln>
          </p:spPr>
          <p:txBody>
            <a:bodyPr/>
            <a:lstStyle/>
            <a:p/>
          </p:txBody>
        </p:sp>
        <p:pic>
          <p:nvPicPr>
            <p:cNvPr id="9" name="monitor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667000" y="2447925"/>
              <a:ext cx="1238250" cy="952500"/>
            </a:xfrm>
            <a:prstGeom prst="rect">
              <a:avLst/>
            </a:prstGeom>
          </p:spPr>
        </p:pic>
        <p:pic>
          <p:nvPicPr>
            <p:cNvPr id="10" name="document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429500" y="2447925"/>
              <a:ext cx="1238250" cy="952500"/>
            </a:xfrm>
            <a:prstGeom prst="rect">
              <a:avLst/>
            </a:prstGeom>
          </p:spPr>
        </p:pic>
        <p:pic>
          <p:nvPicPr>
            <p:cNvPr id="11" name="checked-document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2192000" y="2447925"/>
              <a:ext cx="1238250" cy="952500"/>
            </a:xfrm>
            <a:prstGeom prst="rect">
              <a:avLst/>
            </a:prstGeom>
          </p:spPr>
        </p:pic>
        <p:pic>
          <p:nvPicPr>
            <p:cNvPr id="12" name="code-files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2667000" y="6162675"/>
              <a:ext cx="1238250" cy="952500"/>
            </a:xfrm>
            <a:prstGeom prst="rect">
              <a:avLst/>
            </a:prstGeom>
          </p:spPr>
        </p:pic>
        <p:pic>
          <p:nvPicPr>
            <p:cNvPr id="13" name="document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7429500" y="6162675"/>
              <a:ext cx="1238250" cy="952500"/>
            </a:xfrm>
            <a:prstGeom prst="rect">
              <a:avLst/>
            </a:prstGeom>
          </p:spPr>
        </p:pic>
        <p:pic>
          <p:nvPicPr>
            <p:cNvPr id="14" name="shield-check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12192000" y="6162675"/>
              <a:ext cx="1238250" cy="952500"/>
            </a:xfrm>
            <a:prstGeom prst="rect">
              <a:avLst/>
            </a:prstGeom>
          </p:spPr>
        </p:pic>
        <p:sp>
          <p:nvSpPr>
            <p:cNvPr id="15" name="Line 15"/>
            <p:cNvSpPr/>
            <p:nvPr/>
          </p:nvSpPr>
          <p:spPr>
            <a:xfrm>
              <a:off x="5143500" y="3429000"/>
              <a:ext cx="1047750" cy="0"/>
            </a:xfrm>
            <a:prstGeom prst="line">
              <a:avLst/>
            </a:prstGeom>
            <a:noFill/>
            <a:ln w="38100">
              <a:solidFill>
                <a:srgbClr val="222222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16" name="Line 16"/>
            <p:cNvSpPr/>
            <p:nvPr/>
          </p:nvSpPr>
          <p:spPr>
            <a:xfrm>
              <a:off x="9906000" y="3429000"/>
              <a:ext cx="1047750" cy="0"/>
            </a:xfrm>
            <a:prstGeom prst="line">
              <a:avLst/>
            </a:prstGeom>
            <a:noFill/>
            <a:ln w="38100">
              <a:solidFill>
                <a:srgbClr val="222222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17" name="Line 17"/>
            <p:cNvSpPr/>
            <p:nvPr/>
          </p:nvSpPr>
          <p:spPr>
            <a:xfrm>
              <a:off x="3286125" y="4619625"/>
              <a:ext cx="0" cy="1333500"/>
            </a:xfrm>
            <a:prstGeom prst="line">
              <a:avLst/>
            </a:prstGeom>
            <a:noFill/>
            <a:ln w="38100">
              <a:solidFill>
                <a:srgbClr val="222222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18" name="Line 18"/>
            <p:cNvSpPr/>
            <p:nvPr/>
          </p:nvSpPr>
          <p:spPr>
            <a:xfrm flipH="1">
              <a:off x="6858000" y="4619625"/>
              <a:ext cx="1190625" cy="1333500"/>
            </a:xfrm>
            <a:prstGeom prst="line">
              <a:avLst/>
            </a:prstGeom>
            <a:noFill/>
            <a:ln w="38100">
              <a:solidFill>
                <a:srgbClr val="357D83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19" name="Line 19"/>
            <p:cNvSpPr/>
            <p:nvPr/>
          </p:nvSpPr>
          <p:spPr>
            <a:xfrm>
              <a:off x="5143500" y="7143750"/>
              <a:ext cx="1047750" cy="0"/>
            </a:xfrm>
            <a:prstGeom prst="line">
              <a:avLst/>
            </a:prstGeom>
            <a:noFill/>
            <a:ln w="38100">
              <a:solidFill>
                <a:srgbClr val="222222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20" name="Line 20"/>
            <p:cNvSpPr/>
            <p:nvPr/>
          </p:nvSpPr>
          <p:spPr>
            <a:xfrm>
              <a:off x="9906000" y="7143750"/>
              <a:ext cx="1047750" cy="0"/>
            </a:xfrm>
            <a:prstGeom prst="line">
              <a:avLst/>
            </a:prstGeom>
            <a:noFill/>
            <a:ln w="38100">
              <a:solidFill>
                <a:srgbClr val="222222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21" name="Line 21"/>
            <p:cNvSpPr/>
            <p:nvPr/>
          </p:nvSpPr>
          <p:spPr>
            <a:xfrm flipV="1">
              <a:off x="12811125" y="4619625"/>
              <a:ext cx="0" cy="1333500"/>
            </a:xfrm>
            <a:prstGeom prst="line">
              <a:avLst/>
            </a:prstGeom>
            <a:noFill/>
            <a:ln w="38100">
              <a:solidFill>
                <a:srgbClr val="222222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22" name="Line 22"/>
            <p:cNvSpPr/>
            <p:nvPr/>
          </p:nvSpPr>
          <p:spPr>
            <a:xfrm flipV="1">
              <a:off x="3286125" y="1428750"/>
              <a:ext cx="0" cy="809625"/>
            </a:xfrm>
            <a:prstGeom prst="line">
              <a:avLst/>
            </a:prstGeom>
            <a:noFill/>
            <a:ln w="50800">
              <a:solidFill>
                <a:srgbClr val="3C8085"/>
              </a:solidFill>
            </a:ln>
          </p:spPr>
          <p:txBody>
            <a:bodyPr/>
            <a:lstStyle/>
            <a:p/>
          </p:txBody>
        </p:sp>
        <p:sp>
          <p:nvSpPr>
            <p:cNvPr id="23" name="Line 23"/>
            <p:cNvSpPr/>
            <p:nvPr/>
          </p:nvSpPr>
          <p:spPr>
            <a:xfrm>
              <a:off x="3286125" y="1428750"/>
              <a:ext cx="9525000" cy="0"/>
            </a:xfrm>
            <a:prstGeom prst="line">
              <a:avLst/>
            </a:prstGeom>
            <a:noFill/>
            <a:ln w="50800">
              <a:solidFill>
                <a:srgbClr val="3C8085"/>
              </a:solidFill>
            </a:ln>
          </p:spPr>
          <p:txBody>
            <a:bodyPr/>
            <a:lstStyle/>
            <a:p/>
          </p:txBody>
        </p:sp>
        <p:sp>
          <p:nvSpPr>
            <p:cNvPr id="24" name="Line 24"/>
            <p:cNvSpPr/>
            <p:nvPr/>
          </p:nvSpPr>
          <p:spPr>
            <a:xfrm>
              <a:off x="12811125" y="1428750"/>
              <a:ext cx="0" cy="809625"/>
            </a:xfrm>
            <a:prstGeom prst="line">
              <a:avLst/>
            </a:prstGeom>
            <a:noFill/>
            <a:ln w="50800">
              <a:solidFill>
                <a:srgbClr val="3C808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25" name="Line 25"/>
            <p:cNvSpPr/>
            <p:nvPr/>
          </p:nvSpPr>
          <p:spPr>
            <a:xfrm>
              <a:off x="12811125" y="8334375"/>
              <a:ext cx="0" cy="695325"/>
            </a:xfrm>
            <a:prstGeom prst="line">
              <a:avLst/>
            </a:prstGeom>
            <a:noFill/>
            <a:ln w="50800">
              <a:solidFill>
                <a:srgbClr val="7A79CF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26" name="Line 26"/>
            <p:cNvSpPr/>
            <p:nvPr/>
          </p:nvSpPr>
          <p:spPr>
            <a:xfrm flipH="1">
              <a:off x="3286125" y="9029700"/>
              <a:ext cx="9525000" cy="0"/>
            </a:xfrm>
            <a:prstGeom prst="line">
              <a:avLst/>
            </a:prstGeom>
            <a:noFill/>
            <a:ln w="50800">
              <a:solidFill>
                <a:srgbClr val="7A79CF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27" name="Line 27"/>
            <p:cNvSpPr/>
            <p:nvPr/>
          </p:nvSpPr>
          <p:spPr>
            <a:xfrm flipV="1">
              <a:off x="3286125" y="8334375"/>
              <a:ext cx="0" cy="695325"/>
            </a:xfrm>
            <a:prstGeom prst="line">
              <a:avLst/>
            </a:prstGeom>
            <a:noFill/>
            <a:ln w="50800">
              <a:solidFill>
                <a:srgbClr val="7A79CF"/>
              </a:solidFill>
              <a:prstDash val="dash"/>
              <a:tailEnd type="triangle"/>
            </a:ln>
          </p:spPr>
          <p:txBody>
            <a:bodyPr/>
            <a:lstStyle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6334125" y="1028700"/>
              <a:ext cx="40005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380" i="1">
                  <a:solidFill>
                    <a:srgbClr val="347D83"/>
                  </a:solidFill>
                  <a:latin typeface="Cambria"/>
                  <a:ea typeface="Cambria"/>
                  <a:cs typeface="Cambria"/>
                </a:rPr>
                <a:t>Task-system inheritance</a:t>
              </a:r>
              <a:endParaRPr lang="zh-CN" sz="138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15000" y="1628775"/>
              <a:ext cx="5715000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900">
                  <a:solidFill>
                    <a:srgbClr val="347D83"/>
                  </a:solidFill>
                  <a:latin typeface="Cambria"/>
                  <a:ea typeface="Cambria"/>
                  <a:cs typeface="Cambria"/>
                </a:rPr>
                <a:t>Retain capability for future tasks</a:t>
              </a:r>
              <a:endParaRPr lang="zh-CN" sz="190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00200" y="3286125"/>
              <a:ext cx="3371850" cy="495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Task system S_t</a:t>
              </a:r>
              <a:endParaRPr lang="zh-CN" sz="2500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62125" y="3810000"/>
              <a:ext cx="3048000" cy="6191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Model, code,</a:t>
              </a:r>
              <a:endParaRPr lang="zh-CN" sz="1900"/>
            </a:p>
            <a:p>
              <a:pPr algn="ctr"/>
              <a:r>
                <a:rPr lang="zh-CN"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memory, tools</a:t>
              </a:r>
              <a:endParaRPr lang="zh-CN" sz="190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62700" y="3286125"/>
              <a:ext cx="3371850" cy="495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Experience</a:t>
              </a:r>
              <a:endParaRPr lang="zh-CN" sz="250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24625" y="3810000"/>
              <a:ext cx="3048000" cy="6191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Traces, outcomes,</a:t>
              </a:r>
              <a:endParaRPr lang="zh-CN" sz="1900"/>
            </a:p>
            <a:p>
              <a:pPr algn="ctr"/>
              <a:r>
                <a:rPr lang="zh-CN"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failures</a:t>
              </a:r>
              <a:endParaRPr lang="zh-CN" sz="1900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25200" y="3286125"/>
              <a:ext cx="3371850" cy="495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6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Updated system S_{t+1}</a:t>
              </a:r>
              <a:endParaRPr lang="zh-CN" sz="160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87125" y="3810000"/>
              <a:ext cx="3048000" cy="6191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Accepted and</a:t>
              </a:r>
              <a:endParaRPr lang="zh-CN" sz="1900"/>
            </a:p>
            <a:p>
              <a:pPr algn="ctr"/>
              <a:r>
                <a:rPr lang="zh-CN"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retained state</a:t>
              </a:r>
              <a:endParaRPr lang="zh-CN" sz="190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00200" y="7000875"/>
              <a:ext cx="3371850" cy="495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6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Improvement process I_t</a:t>
              </a:r>
              <a:endParaRPr lang="zh-CN" sz="1600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62125" y="7524750"/>
              <a:ext cx="3048000" cy="6191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Diagnose, propose,</a:t>
              </a:r>
              <a:endParaRPr lang="zh-CN" sz="1900"/>
            </a:p>
            <a:p>
              <a:pPr algn="ctr"/>
              <a:r>
                <a:rPr lang="zh-CN"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search</a:t>
              </a:r>
              <a:endParaRPr lang="zh-CN" sz="190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62700" y="7000875"/>
              <a:ext cx="3371850" cy="495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Candidate changes</a:t>
              </a:r>
              <a:endParaRPr lang="zh-CN" sz="250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24625" y="7524750"/>
              <a:ext cx="3048000" cy="6191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System or</a:t>
              </a:r>
              <a:endParaRPr lang="zh-CN" sz="1900"/>
            </a:p>
            <a:p>
              <a:pPr algn="ctr"/>
              <a:r>
                <a:rPr lang="zh-CN"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improvement process</a:t>
              </a:r>
              <a:endParaRPr lang="zh-CN" sz="1900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125200" y="7000875"/>
              <a:ext cx="3371850" cy="495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Validate &amp; select</a:t>
              </a:r>
              <a:endParaRPr lang="zh-CN" sz="250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87125" y="7524750"/>
              <a:ext cx="3048000" cy="6191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Gains, regressions,</a:t>
              </a:r>
              <a:endParaRPr lang="zh-CN" sz="1900"/>
            </a:p>
            <a:p>
              <a:pPr algn="ctr"/>
              <a:r>
                <a:rPr lang="zh-CN"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cost</a:t>
              </a:r>
              <a:endParaRPr lang="zh-CN" sz="190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19700" y="3095625"/>
              <a:ext cx="904875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080" i="1">
                  <a:solidFill>
                    <a:srgbClr val="66645D"/>
                  </a:solidFill>
                  <a:latin typeface="Cambria"/>
                  <a:ea typeface="Cambria"/>
                  <a:cs typeface="Cambria"/>
                </a:rPr>
                <a:t>execute</a:t>
              </a:r>
              <a:endParaRPr lang="zh-CN" sz="1080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952750" y="4762500"/>
              <a:ext cx="123825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900" i="1">
                  <a:solidFill>
                    <a:srgbClr val="357D83"/>
                  </a:solidFill>
                  <a:latin typeface="Cambria"/>
                  <a:ea typeface="Cambria"/>
                  <a:cs typeface="Cambria"/>
                </a:rPr>
                <a:t>inspect</a:t>
              </a:r>
              <a:endParaRPr lang="zh-CN" sz="1900"/>
            </a:p>
            <a:p>
              <a:pPr algn="ctr"/>
              <a:r>
                <a:rPr lang="zh-CN" sz="1900" i="1">
                  <a:solidFill>
                    <a:srgbClr val="357D83"/>
                  </a:solidFill>
                  <a:latin typeface="Cambria"/>
                  <a:ea typeface="Cambria"/>
                  <a:cs typeface="Cambria"/>
                </a:rPr>
                <a:t>state</a:t>
              </a:r>
              <a:endParaRPr lang="zh-CN" sz="190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19700" y="5029200"/>
              <a:ext cx="1285875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100" i="1">
                  <a:solidFill>
                    <a:srgbClr val="397C63"/>
                  </a:solidFill>
                  <a:latin typeface="Cambria"/>
                  <a:ea typeface="Cambria"/>
                  <a:cs typeface="Cambria"/>
                </a:rPr>
                <a:t>feedback</a:t>
              </a:r>
              <a:endParaRPr lang="zh-CN" sz="2100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19700" y="6762750"/>
              <a:ext cx="1000125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000" i="1">
                  <a:solidFill>
                    <a:srgbClr val="66645D"/>
                  </a:solidFill>
                  <a:latin typeface="Cambria"/>
                  <a:ea typeface="Cambria"/>
                  <a:cs typeface="Cambria"/>
                </a:rPr>
                <a:t>propose</a:t>
              </a:r>
              <a:endParaRPr lang="zh-CN" sz="2000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191750" y="6762750"/>
              <a:ext cx="666750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000" i="1">
                  <a:solidFill>
                    <a:srgbClr val="66645D"/>
                  </a:solidFill>
                  <a:latin typeface="Cambria"/>
                  <a:ea typeface="Cambria"/>
                  <a:cs typeface="Cambria"/>
                </a:rPr>
                <a:t>test</a:t>
              </a:r>
              <a:endParaRPr lang="zh-CN" sz="200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858625" y="4762500"/>
              <a:ext cx="180975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900" i="1">
                  <a:solidFill>
                    <a:srgbClr val="357D83"/>
                  </a:solidFill>
                  <a:latin typeface="Cambria"/>
                  <a:ea typeface="Cambria"/>
                  <a:cs typeface="Cambria"/>
                </a:rPr>
                <a:t>accept system</a:t>
              </a:r>
              <a:endParaRPr lang="zh-CN" sz="1900"/>
            </a:p>
            <a:p>
              <a:pPr algn="ctr"/>
              <a:r>
                <a:rPr lang="zh-CN" sz="1900" i="1">
                  <a:solidFill>
                    <a:srgbClr val="357D83"/>
                  </a:solidFill>
                  <a:latin typeface="Cambria"/>
                  <a:ea typeface="Cambria"/>
                  <a:cs typeface="Cambria"/>
                </a:rPr>
                <a:t>update</a:t>
              </a:r>
              <a:endParaRPr lang="zh-CN" sz="1900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905500" y="9096375"/>
              <a:ext cx="49530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170" i="1">
                  <a:solidFill>
                    <a:srgbClr val="7776CC"/>
                  </a:solidFill>
                  <a:latin typeface="Cambria"/>
                  <a:ea typeface="Cambria"/>
                  <a:cs typeface="Cambria"/>
                </a:rPr>
                <a:t>Meta-improvement: in bevit I_{t+1}</a:t>
              </a:r>
              <a:endParaRPr lang="zh-CN" sz="1170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095750" y="9601200"/>
              <a:ext cx="8334375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900">
                  <a:solidFill>
                    <a:srgbClr val="7776CC"/>
                  </a:solidFill>
                  <a:latin typeface="Cambria"/>
                  <a:ea typeface="Cambria"/>
                  <a:cs typeface="Cambria"/>
                </a:rPr>
                <a:t>Accepted changes govern how the next improvements are produced</a:t>
              </a:r>
              <a:endParaRPr lang="zh-CN" sz="190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476500" y="10210800"/>
              <a:ext cx="11144250" cy="323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800" b="1">
                  <a:solidFill>
                    <a:srgbClr val="6C706C"/>
                  </a:solidFill>
                  <a:latin typeface="Cambria"/>
                  <a:ea typeface="Cambria"/>
                  <a:cs typeface="Cambria"/>
                </a:rPr>
                <a:t>Declared external anchors: task goals, protected evaluation, and resource budgets</a:t>
              </a:r>
              <a:endParaRPr lang="zh-CN" sz="1800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85875" y="323850"/>
              <a:ext cx="561975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Recursive self-improvement</a:t>
              </a:r>
              <a:endParaRPr lang="zh-CN" sz="3100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477625" y="409575"/>
              <a:ext cx="3381375" cy="4762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r"/>
              <a:r>
                <a:rPr lang="zh-CN" sz="1540" i="1">
                  <a:solidFill>
                    <a:srgbClr val="66716D"/>
                  </a:solidFill>
                  <a:latin typeface="Cambria"/>
                  <a:ea typeface="Cambria"/>
                  <a:cs typeface="Cambria"/>
                </a:rPr>
                <a:t>A mechanism-level view</a:t>
              </a:r>
              <a:endParaRPr lang="zh-CN" sz="154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42875" y="10744200"/>
              <a:ext cx="1628775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0" tIns="0" rIns="0" bIns="0">
              <a:noAutofit/>
            </a:bodyPr>
            <a:lstStyle/>
            <a:p>
              <a:pPr algn="l"/>
              <a:r>
                <a:rPr lang="zh-CN" sz="1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Figure 1. A mechanism-level view of recursive self-improvement. Experience informs candidate changes.</a:t>
              </a:r>
              <a:endParaRPr lang="zh-CN" sz="1500"/>
            </a:p>
            <a:p>
              <a:pPr algn="l"/>
              <a:r>
                <a:rPr lang="zh-CN" sz="1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Validation determines what is retained: the upper loop carries task-system state into later tasks; the dashed lower loop carries changes to the process that produce later improvements.</a:t>
              </a:r>
              <a:endParaRPr lang="zh-CN" sz="1500"/>
            </a:p>
            <a:p>
              <a:pPr algn="l"/>
              <a:r>
                <a:rPr lang="zh-CN" sz="1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External anchors specify the conditions outside the update scope. The diagram describes possible dependencies, rather than a guarantee of gains.</a:t>
              </a:r>
              <a:endParaRPr lang="zh-CN" sz="15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-remaining-components"/>
          <p:cNvGrpSpPr/>
          <p:nvPr/>
        </p:nvGrpSpPr>
        <p:grpSpPr>
          <a:xfrm>
            <a:off x="0" y="0"/>
            <a:ext cx="15240000" cy="8572500"/>
            <a:chOff x="0" y="0"/>
            <a:chExt cx="15240000" cy="8572500"/>
          </a:xfrm>
        </p:grpSpPr>
        <p:sp>
          <p:nvSpPr>
            <p:cNvPr id="2" name="Roundrect 2"/>
            <p:cNvSpPr/>
            <p:nvPr/>
          </p:nvSpPr>
          <p:spPr>
            <a:xfrm>
              <a:off x="1816697" y="4692728"/>
              <a:ext cx="1975054" cy="1753848"/>
            </a:xfrm>
            <a:prstGeom prst="roundRect">
              <a:avLst>
                <a:gd name="adj" fmla="val 8108"/>
              </a:avLst>
            </a:prstGeom>
            <a:solidFill>
              <a:srgbClr val="CFE9EE"/>
            </a:solidFill>
            <a:ln w="25400">
              <a:solidFill>
                <a:srgbClr val="1F2937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3" name="Roundrect 3"/>
            <p:cNvSpPr/>
            <p:nvPr/>
          </p:nvSpPr>
          <p:spPr>
            <a:xfrm>
              <a:off x="4558072" y="742620"/>
              <a:ext cx="3752603" cy="829523"/>
            </a:xfrm>
            <a:prstGeom prst="roundRect">
              <a:avLst>
                <a:gd name="adj" fmla="val 19048"/>
              </a:avLst>
            </a:prstGeom>
            <a:solidFill>
              <a:srgbClr val="F8F5CB"/>
            </a:solidFill>
            <a:ln w="25400">
              <a:solidFill>
                <a:srgbClr val="202020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4" name="Roundrect 4"/>
            <p:cNvSpPr/>
            <p:nvPr/>
          </p:nvSpPr>
          <p:spPr>
            <a:xfrm>
              <a:off x="4558072" y="1967154"/>
              <a:ext cx="3752603" cy="1106030"/>
            </a:xfrm>
            <a:prstGeom prst="roundRect">
              <a:avLst>
                <a:gd name="adj" fmla="val 14286"/>
              </a:avLst>
            </a:prstGeom>
            <a:solidFill>
              <a:srgbClr val="F8F5CB"/>
            </a:solidFill>
            <a:ln w="25400">
              <a:solidFill>
                <a:srgbClr val="202020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5" name="Roundrect 5"/>
            <p:cNvSpPr/>
            <p:nvPr/>
          </p:nvSpPr>
          <p:spPr>
            <a:xfrm>
              <a:off x="4558072" y="3199588"/>
              <a:ext cx="3752603" cy="1106030"/>
            </a:xfrm>
            <a:prstGeom prst="roundRect">
              <a:avLst>
                <a:gd name="adj" fmla="val 14286"/>
              </a:avLst>
            </a:prstGeom>
            <a:solidFill>
              <a:srgbClr val="F8F5CB"/>
            </a:solidFill>
            <a:ln w="25400">
              <a:solidFill>
                <a:srgbClr val="202020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6" name="Roundrect 6"/>
            <p:cNvSpPr/>
            <p:nvPr/>
          </p:nvSpPr>
          <p:spPr>
            <a:xfrm>
              <a:off x="4558072" y="4424121"/>
              <a:ext cx="3752603" cy="829523"/>
            </a:xfrm>
            <a:prstGeom prst="roundRect">
              <a:avLst>
                <a:gd name="adj" fmla="val 19048"/>
              </a:avLst>
            </a:prstGeom>
            <a:solidFill>
              <a:srgbClr val="DDEFD8"/>
            </a:solidFill>
            <a:ln w="25400">
              <a:solidFill>
                <a:srgbClr val="202020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7" name="Roundrect 7"/>
            <p:cNvSpPr/>
            <p:nvPr/>
          </p:nvSpPr>
          <p:spPr>
            <a:xfrm>
              <a:off x="4558072" y="5664455"/>
              <a:ext cx="3752603" cy="1106030"/>
            </a:xfrm>
            <a:prstGeom prst="roundRect">
              <a:avLst>
                <a:gd name="adj" fmla="val 14286"/>
              </a:avLst>
            </a:prstGeom>
            <a:solidFill>
              <a:srgbClr val="DDEFD8"/>
            </a:solidFill>
            <a:ln w="25400">
              <a:solidFill>
                <a:srgbClr val="202020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8" name="Roundrect 8"/>
            <p:cNvSpPr/>
            <p:nvPr/>
          </p:nvSpPr>
          <p:spPr>
            <a:xfrm>
              <a:off x="4558072" y="6888989"/>
              <a:ext cx="3752603" cy="1106030"/>
            </a:xfrm>
            <a:prstGeom prst="roundRect">
              <a:avLst>
                <a:gd name="adj" fmla="val 14286"/>
              </a:avLst>
            </a:prstGeom>
            <a:solidFill>
              <a:srgbClr val="DDEFD8"/>
            </a:solidFill>
            <a:ln w="25400">
              <a:solidFill>
                <a:srgbClr val="202020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9" name="Roundrect 9"/>
            <p:cNvSpPr/>
            <p:nvPr/>
          </p:nvSpPr>
          <p:spPr>
            <a:xfrm>
              <a:off x="4558072" y="8121422"/>
              <a:ext cx="3752603" cy="1106030"/>
            </a:xfrm>
            <a:prstGeom prst="roundRect">
              <a:avLst>
                <a:gd name="adj" fmla="val 14286"/>
              </a:avLst>
            </a:prstGeom>
            <a:solidFill>
              <a:srgbClr val="C9E8EE"/>
            </a:solidFill>
            <a:ln w="25400">
              <a:solidFill>
                <a:srgbClr val="202020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10" name="Roundrect 10"/>
            <p:cNvSpPr/>
            <p:nvPr/>
          </p:nvSpPr>
          <p:spPr>
            <a:xfrm>
              <a:off x="4558072" y="9353856"/>
              <a:ext cx="3752603" cy="1106030"/>
            </a:xfrm>
            <a:prstGeom prst="roundRect">
              <a:avLst>
                <a:gd name="adj" fmla="val 14286"/>
              </a:avLst>
            </a:prstGeom>
            <a:solidFill>
              <a:srgbClr val="E5DDF0"/>
            </a:solidFill>
            <a:ln w="25400">
              <a:solidFill>
                <a:srgbClr val="202020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11" name="Roundrect 11"/>
            <p:cNvSpPr/>
            <p:nvPr/>
          </p:nvSpPr>
          <p:spPr>
            <a:xfrm>
              <a:off x="4558072" y="10586290"/>
              <a:ext cx="3752603" cy="829523"/>
            </a:xfrm>
            <a:prstGeom prst="roundRect">
              <a:avLst>
                <a:gd name="adj" fmla="val 19048"/>
              </a:avLst>
            </a:prstGeom>
            <a:solidFill>
              <a:srgbClr val="E5DDF0"/>
            </a:solidFill>
            <a:ln w="25400">
              <a:solidFill>
                <a:srgbClr val="202020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12" name="Roundrect 12"/>
            <p:cNvSpPr/>
            <p:nvPr/>
          </p:nvSpPr>
          <p:spPr>
            <a:xfrm>
              <a:off x="9179698" y="742620"/>
              <a:ext cx="5490650" cy="829523"/>
            </a:xfrm>
            <a:prstGeom prst="roundRect">
              <a:avLst>
                <a:gd name="adj" fmla="val 22857"/>
              </a:avLst>
            </a:prstGeom>
            <a:solidFill>
              <a:srgbClr val="FBFBEF"/>
            </a:solidFill>
            <a:ln w="25400">
              <a:solidFill>
                <a:srgbClr val="252525"/>
              </a:solidFill>
              <a:prstDash val="solid"/>
            </a:ln>
          </p:spPr>
          <p:txBody>
            <a:bodyPr/>
            <a:lstStyle/>
            <a:p/>
          </p:txBody>
        </p:sp>
        <p:sp>
          <p:nvSpPr>
            <p:cNvPr id="13" name="Roundrect 13"/>
            <p:cNvSpPr/>
            <p:nvPr/>
          </p:nvSpPr>
          <p:spPr>
            <a:xfrm>
              <a:off x="9179698" y="1967154"/>
              <a:ext cx="5490650" cy="829523"/>
            </a:xfrm>
            <a:prstGeom prst="roundRect">
              <a:avLst>
                <a:gd name="adj" fmla="val 22857"/>
              </a:avLst>
            </a:prstGeom>
            <a:solidFill>
              <a:srgbClr val="FBFBEF"/>
            </a:solidFill>
            <a:ln w="25400">
              <a:solidFill>
                <a:srgbClr val="252525"/>
              </a:solidFill>
              <a:prstDash val="solid"/>
            </a:ln>
          </p:spPr>
          <p:txBody>
            <a:bodyPr/>
            <a:lstStyle/>
            <a:p/>
          </p:txBody>
        </p:sp>
        <p:sp>
          <p:nvSpPr>
            <p:cNvPr id="14" name="Roundrect 14"/>
            <p:cNvSpPr/>
            <p:nvPr/>
          </p:nvSpPr>
          <p:spPr>
            <a:xfrm>
              <a:off x="9179698" y="3199588"/>
              <a:ext cx="5490650" cy="1106030"/>
            </a:xfrm>
            <a:prstGeom prst="roundRect">
              <a:avLst>
                <a:gd name="adj" fmla="val 17143"/>
              </a:avLst>
            </a:prstGeom>
            <a:solidFill>
              <a:srgbClr val="FBFBEF"/>
            </a:solidFill>
            <a:ln w="25400">
              <a:solidFill>
                <a:srgbClr val="252525"/>
              </a:solidFill>
              <a:prstDash val="solid"/>
            </a:ln>
          </p:spPr>
          <p:txBody>
            <a:bodyPr/>
            <a:lstStyle/>
            <a:p/>
          </p:txBody>
        </p:sp>
        <p:sp>
          <p:nvSpPr>
            <p:cNvPr id="15" name="Roundrect 15"/>
            <p:cNvSpPr/>
            <p:nvPr/>
          </p:nvSpPr>
          <p:spPr>
            <a:xfrm>
              <a:off x="9179698" y="4424121"/>
              <a:ext cx="5490650" cy="1106030"/>
            </a:xfrm>
            <a:prstGeom prst="roundRect">
              <a:avLst>
                <a:gd name="adj" fmla="val 17143"/>
              </a:avLst>
            </a:prstGeom>
            <a:solidFill>
              <a:srgbClr val="F2F9EE"/>
            </a:solidFill>
            <a:ln w="25400">
              <a:solidFill>
                <a:srgbClr val="252525"/>
              </a:solidFill>
              <a:prstDash val="solid"/>
            </a:ln>
          </p:spPr>
          <p:txBody>
            <a:bodyPr/>
            <a:lstStyle/>
            <a:p/>
          </p:txBody>
        </p:sp>
        <p:sp>
          <p:nvSpPr>
            <p:cNvPr id="16" name="Roundrect 16"/>
            <p:cNvSpPr/>
            <p:nvPr/>
          </p:nvSpPr>
          <p:spPr>
            <a:xfrm>
              <a:off x="9179698" y="5664455"/>
              <a:ext cx="5490650" cy="1106030"/>
            </a:xfrm>
            <a:prstGeom prst="roundRect">
              <a:avLst>
                <a:gd name="adj" fmla="val 17143"/>
              </a:avLst>
            </a:prstGeom>
            <a:solidFill>
              <a:srgbClr val="F2F9EE"/>
            </a:solidFill>
            <a:ln w="25400">
              <a:solidFill>
                <a:srgbClr val="252525"/>
              </a:solidFill>
              <a:prstDash val="solid"/>
            </a:ln>
          </p:spPr>
          <p:txBody>
            <a:bodyPr/>
            <a:lstStyle/>
            <a:p/>
          </p:txBody>
        </p:sp>
        <p:sp>
          <p:nvSpPr>
            <p:cNvPr id="17" name="Roundrect 17"/>
            <p:cNvSpPr/>
            <p:nvPr/>
          </p:nvSpPr>
          <p:spPr>
            <a:xfrm>
              <a:off x="9179698" y="6888989"/>
              <a:ext cx="5490650" cy="1106030"/>
            </a:xfrm>
            <a:prstGeom prst="roundRect">
              <a:avLst>
                <a:gd name="adj" fmla="val 17143"/>
              </a:avLst>
            </a:prstGeom>
            <a:solidFill>
              <a:srgbClr val="F2F9EE"/>
            </a:solidFill>
            <a:ln w="25400">
              <a:solidFill>
                <a:srgbClr val="252525"/>
              </a:solidFill>
              <a:prstDash val="solid"/>
            </a:ln>
          </p:spPr>
          <p:txBody>
            <a:bodyPr/>
            <a:lstStyle/>
            <a:p/>
          </p:txBody>
        </p:sp>
        <p:sp>
          <p:nvSpPr>
            <p:cNvPr id="18" name="Roundrect 18"/>
            <p:cNvSpPr/>
            <p:nvPr/>
          </p:nvSpPr>
          <p:spPr>
            <a:xfrm>
              <a:off x="9179698" y="8121422"/>
              <a:ext cx="5490650" cy="1106030"/>
            </a:xfrm>
            <a:prstGeom prst="roundRect">
              <a:avLst>
                <a:gd name="adj" fmla="val 17143"/>
              </a:avLst>
            </a:prstGeom>
            <a:solidFill>
              <a:srgbClr val="E7F5F8"/>
            </a:solidFill>
            <a:ln w="25400">
              <a:solidFill>
                <a:srgbClr val="252525"/>
              </a:solidFill>
              <a:prstDash val="solid"/>
            </a:ln>
          </p:spPr>
          <p:txBody>
            <a:bodyPr/>
            <a:lstStyle/>
            <a:p/>
          </p:txBody>
        </p:sp>
        <p:sp>
          <p:nvSpPr>
            <p:cNvPr id="19" name="Roundrect 19"/>
            <p:cNvSpPr/>
            <p:nvPr/>
          </p:nvSpPr>
          <p:spPr>
            <a:xfrm>
              <a:off x="9179698" y="9353856"/>
              <a:ext cx="5490650" cy="1106030"/>
            </a:xfrm>
            <a:prstGeom prst="roundRect">
              <a:avLst>
                <a:gd name="adj" fmla="val 17143"/>
              </a:avLst>
            </a:prstGeom>
            <a:solidFill>
              <a:srgbClr val="F5F0FA"/>
            </a:solidFill>
            <a:ln w="25400">
              <a:solidFill>
                <a:srgbClr val="252525"/>
              </a:solidFill>
              <a:prstDash val="solid"/>
            </a:ln>
          </p:spPr>
          <p:txBody>
            <a:bodyPr/>
            <a:lstStyle/>
            <a:p/>
          </p:txBody>
        </p:sp>
        <p:sp>
          <p:nvSpPr>
            <p:cNvPr id="20" name="Roundrect 20"/>
            <p:cNvSpPr/>
            <p:nvPr/>
          </p:nvSpPr>
          <p:spPr>
            <a:xfrm>
              <a:off x="9179698" y="10586290"/>
              <a:ext cx="5490650" cy="829523"/>
            </a:xfrm>
            <a:prstGeom prst="roundRect">
              <a:avLst>
                <a:gd name="adj" fmla="val 22857"/>
              </a:avLst>
            </a:prstGeom>
            <a:solidFill>
              <a:srgbClr val="F5F0FA"/>
            </a:solidFill>
            <a:ln w="25400">
              <a:solidFill>
                <a:srgbClr val="252525"/>
              </a:solidFill>
              <a:prstDash val="solid"/>
            </a:ln>
          </p:spPr>
          <p:txBody>
            <a:bodyPr/>
            <a:lstStyle/>
            <a:p/>
          </p:txBody>
        </p:sp>
        <p:sp>
          <p:nvSpPr>
            <p:cNvPr id="21" name="Line 21"/>
            <p:cNvSpPr/>
            <p:nvPr/>
          </p:nvSpPr>
          <p:spPr>
            <a:xfrm>
              <a:off x="4163061" y="1098130"/>
              <a:ext cx="0" cy="10973400"/>
            </a:xfrm>
            <a:prstGeom prst="line">
              <a:avLst/>
            </a:prstGeom>
            <a:noFill/>
            <a:ln w="38100">
              <a:solidFill>
                <a:srgbClr val="69727B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22" name="Line 22"/>
            <p:cNvSpPr/>
            <p:nvPr/>
          </p:nvSpPr>
          <p:spPr>
            <a:xfrm>
              <a:off x="4163061" y="1082330"/>
              <a:ext cx="395011" cy="0"/>
            </a:xfrm>
            <a:prstGeom prst="line">
              <a:avLst/>
            </a:prstGeom>
            <a:noFill/>
            <a:ln w="38100">
              <a:solidFill>
                <a:srgbClr val="7D8156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23" name="Line 23"/>
            <p:cNvSpPr/>
            <p:nvPr/>
          </p:nvSpPr>
          <p:spPr>
            <a:xfrm>
              <a:off x="4163061" y="2306863"/>
              <a:ext cx="395011" cy="0"/>
            </a:xfrm>
            <a:prstGeom prst="line">
              <a:avLst/>
            </a:prstGeom>
            <a:noFill/>
            <a:ln w="38100">
              <a:solidFill>
                <a:srgbClr val="7D8156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24" name="Line 24"/>
            <p:cNvSpPr/>
            <p:nvPr/>
          </p:nvSpPr>
          <p:spPr>
            <a:xfrm>
              <a:off x="4163061" y="3539297"/>
              <a:ext cx="395011" cy="0"/>
            </a:xfrm>
            <a:prstGeom prst="line">
              <a:avLst/>
            </a:prstGeom>
            <a:noFill/>
            <a:ln w="38100">
              <a:solidFill>
                <a:srgbClr val="7D8156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25" name="Line 25"/>
            <p:cNvSpPr/>
            <p:nvPr/>
          </p:nvSpPr>
          <p:spPr>
            <a:xfrm>
              <a:off x="4163061" y="4771731"/>
              <a:ext cx="395011" cy="0"/>
            </a:xfrm>
            <a:prstGeom prst="line">
              <a:avLst/>
            </a:prstGeom>
            <a:noFill/>
            <a:ln w="38100">
              <a:solidFill>
                <a:srgbClr val="4C866D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26" name="Line 26"/>
            <p:cNvSpPr/>
            <p:nvPr/>
          </p:nvSpPr>
          <p:spPr>
            <a:xfrm>
              <a:off x="4163061" y="6004164"/>
              <a:ext cx="395011" cy="0"/>
            </a:xfrm>
            <a:prstGeom prst="line">
              <a:avLst/>
            </a:prstGeom>
            <a:noFill/>
            <a:ln w="38100">
              <a:solidFill>
                <a:srgbClr val="4C866D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27" name="Line 27"/>
            <p:cNvSpPr/>
            <p:nvPr/>
          </p:nvSpPr>
          <p:spPr>
            <a:xfrm>
              <a:off x="4163061" y="7236598"/>
              <a:ext cx="395011" cy="0"/>
            </a:xfrm>
            <a:prstGeom prst="line">
              <a:avLst/>
            </a:prstGeom>
            <a:noFill/>
            <a:ln w="38100">
              <a:solidFill>
                <a:srgbClr val="4C866D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28" name="Line 28"/>
            <p:cNvSpPr/>
            <p:nvPr/>
          </p:nvSpPr>
          <p:spPr>
            <a:xfrm>
              <a:off x="4163061" y="8469032"/>
              <a:ext cx="395011" cy="0"/>
            </a:xfrm>
            <a:prstGeom prst="line">
              <a:avLst/>
            </a:prstGeom>
            <a:noFill/>
            <a:ln w="38100">
              <a:solidFill>
                <a:srgbClr val="4B91A8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29" name="Line 29"/>
            <p:cNvSpPr/>
            <p:nvPr/>
          </p:nvSpPr>
          <p:spPr>
            <a:xfrm>
              <a:off x="4163061" y="9701466"/>
              <a:ext cx="395011" cy="0"/>
            </a:xfrm>
            <a:prstGeom prst="line">
              <a:avLst/>
            </a:prstGeom>
            <a:noFill/>
            <a:ln w="38100">
              <a:solidFill>
                <a:srgbClr val="8264A3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30" name="Line 30"/>
            <p:cNvSpPr/>
            <p:nvPr/>
          </p:nvSpPr>
          <p:spPr>
            <a:xfrm>
              <a:off x="4163061" y="10941800"/>
              <a:ext cx="395011" cy="0"/>
            </a:xfrm>
            <a:prstGeom prst="line">
              <a:avLst/>
            </a:prstGeom>
            <a:noFill/>
            <a:ln w="38100">
              <a:solidFill>
                <a:srgbClr val="8264A3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31" name="Line 31"/>
            <p:cNvSpPr/>
            <p:nvPr/>
          </p:nvSpPr>
          <p:spPr>
            <a:xfrm>
              <a:off x="8310674" y="1153432"/>
              <a:ext cx="869024" cy="0"/>
            </a:xfrm>
            <a:prstGeom prst="line">
              <a:avLst/>
            </a:prstGeom>
            <a:noFill/>
            <a:ln w="38100">
              <a:solidFill>
                <a:srgbClr val="6E7A5B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32" name="Line 32"/>
            <p:cNvSpPr/>
            <p:nvPr/>
          </p:nvSpPr>
          <p:spPr>
            <a:xfrm>
              <a:off x="8310674" y="2520169"/>
              <a:ext cx="869024" cy="0"/>
            </a:xfrm>
            <a:prstGeom prst="line">
              <a:avLst/>
            </a:prstGeom>
            <a:noFill/>
            <a:ln w="38100">
              <a:solidFill>
                <a:srgbClr val="6E7A5B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33" name="Line 33"/>
            <p:cNvSpPr/>
            <p:nvPr/>
          </p:nvSpPr>
          <p:spPr>
            <a:xfrm>
              <a:off x="8310674" y="3752603"/>
              <a:ext cx="869024" cy="0"/>
            </a:xfrm>
            <a:prstGeom prst="line">
              <a:avLst/>
            </a:prstGeom>
            <a:noFill/>
            <a:ln w="38100">
              <a:solidFill>
                <a:srgbClr val="6E7A5B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34" name="Line 34"/>
            <p:cNvSpPr/>
            <p:nvPr/>
          </p:nvSpPr>
          <p:spPr>
            <a:xfrm>
              <a:off x="8310674" y="4834932"/>
              <a:ext cx="869024" cy="0"/>
            </a:xfrm>
            <a:prstGeom prst="line">
              <a:avLst/>
            </a:prstGeom>
            <a:noFill/>
            <a:ln w="38100">
              <a:solidFill>
                <a:srgbClr val="4D8F76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35" name="Line 35"/>
            <p:cNvSpPr/>
            <p:nvPr/>
          </p:nvSpPr>
          <p:spPr>
            <a:xfrm>
              <a:off x="8310674" y="6217470"/>
              <a:ext cx="869024" cy="0"/>
            </a:xfrm>
            <a:prstGeom prst="line">
              <a:avLst/>
            </a:prstGeom>
            <a:noFill/>
            <a:ln w="38100">
              <a:solidFill>
                <a:srgbClr val="4D8F76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36" name="Line 36"/>
            <p:cNvSpPr/>
            <p:nvPr/>
          </p:nvSpPr>
          <p:spPr>
            <a:xfrm>
              <a:off x="8310674" y="7442004"/>
              <a:ext cx="869024" cy="0"/>
            </a:xfrm>
            <a:prstGeom prst="line">
              <a:avLst/>
            </a:prstGeom>
            <a:noFill/>
            <a:ln w="38100">
              <a:solidFill>
                <a:srgbClr val="4D8F76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37" name="Line 37"/>
            <p:cNvSpPr/>
            <p:nvPr/>
          </p:nvSpPr>
          <p:spPr>
            <a:xfrm>
              <a:off x="8310674" y="8674438"/>
              <a:ext cx="869024" cy="0"/>
            </a:xfrm>
            <a:prstGeom prst="line">
              <a:avLst/>
            </a:prstGeom>
            <a:noFill/>
            <a:ln w="38100">
              <a:solidFill>
                <a:srgbClr val="5793A5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38" name="Line 38"/>
            <p:cNvSpPr/>
            <p:nvPr/>
          </p:nvSpPr>
          <p:spPr>
            <a:xfrm>
              <a:off x="8310674" y="9906871"/>
              <a:ext cx="869024" cy="0"/>
            </a:xfrm>
            <a:prstGeom prst="line">
              <a:avLst/>
            </a:prstGeom>
            <a:noFill/>
            <a:ln w="38100">
              <a:solidFill>
                <a:srgbClr val="8068A1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39" name="Line 39"/>
            <p:cNvSpPr/>
            <p:nvPr/>
          </p:nvSpPr>
          <p:spPr>
            <a:xfrm>
              <a:off x="8310674" y="10997101"/>
              <a:ext cx="869024" cy="0"/>
            </a:xfrm>
            <a:prstGeom prst="line">
              <a:avLst/>
            </a:prstGeom>
            <a:noFill/>
            <a:ln w="38100">
              <a:solidFill>
                <a:srgbClr val="8068A1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40" name="Ellipse 40"/>
            <p:cNvSpPr/>
            <p:nvPr/>
          </p:nvSpPr>
          <p:spPr>
            <a:xfrm>
              <a:off x="4084059" y="1003327"/>
              <a:ext cx="158004" cy="158004"/>
            </a:xfrm>
            <a:prstGeom prst="ellipse">
              <a:avLst/>
            </a:prstGeom>
            <a:solidFill>
              <a:srgbClr val="F4F1D7"/>
            </a:solidFill>
            <a:ln w="25400">
              <a:solidFill>
                <a:srgbClr val="55606B"/>
              </a:solidFill>
            </a:ln>
          </p:spPr>
          <p:txBody>
            <a:bodyPr/>
            <a:lstStyle/>
            <a:p/>
          </p:txBody>
        </p:sp>
        <p:sp>
          <p:nvSpPr>
            <p:cNvPr id="41" name="Ellipse 41"/>
            <p:cNvSpPr/>
            <p:nvPr/>
          </p:nvSpPr>
          <p:spPr>
            <a:xfrm>
              <a:off x="4084059" y="2227861"/>
              <a:ext cx="158004" cy="158004"/>
            </a:xfrm>
            <a:prstGeom prst="ellipse">
              <a:avLst/>
            </a:prstGeom>
            <a:solidFill>
              <a:srgbClr val="F4F1D7"/>
            </a:solidFill>
            <a:ln w="25400">
              <a:solidFill>
                <a:srgbClr val="55606B"/>
              </a:solidFill>
            </a:ln>
          </p:spPr>
          <p:txBody>
            <a:bodyPr/>
            <a:lstStyle/>
            <a:p/>
          </p:txBody>
        </p:sp>
        <p:sp>
          <p:nvSpPr>
            <p:cNvPr id="42" name="Ellipse 42"/>
            <p:cNvSpPr/>
            <p:nvPr/>
          </p:nvSpPr>
          <p:spPr>
            <a:xfrm>
              <a:off x="4084059" y="3460295"/>
              <a:ext cx="158004" cy="158004"/>
            </a:xfrm>
            <a:prstGeom prst="ellipse">
              <a:avLst/>
            </a:prstGeom>
            <a:solidFill>
              <a:srgbClr val="F4F1D7"/>
            </a:solidFill>
            <a:ln w="25400">
              <a:solidFill>
                <a:srgbClr val="55606B"/>
              </a:solidFill>
            </a:ln>
          </p:spPr>
          <p:txBody>
            <a:bodyPr/>
            <a:lstStyle/>
            <a:p/>
          </p:txBody>
        </p:sp>
        <p:sp>
          <p:nvSpPr>
            <p:cNvPr id="43" name="Ellipse 43"/>
            <p:cNvSpPr/>
            <p:nvPr/>
          </p:nvSpPr>
          <p:spPr>
            <a:xfrm>
              <a:off x="4084059" y="4692728"/>
              <a:ext cx="158004" cy="158004"/>
            </a:xfrm>
            <a:prstGeom prst="ellipse">
              <a:avLst/>
            </a:prstGeom>
            <a:solidFill>
              <a:srgbClr val="E7F3E8"/>
            </a:solidFill>
            <a:ln w="25400">
              <a:solidFill>
                <a:srgbClr val="55606B"/>
              </a:solidFill>
            </a:ln>
          </p:spPr>
          <p:txBody>
            <a:bodyPr/>
            <a:lstStyle/>
            <a:p/>
          </p:txBody>
        </p:sp>
        <p:sp>
          <p:nvSpPr>
            <p:cNvPr id="44" name="Ellipse 44"/>
            <p:cNvSpPr/>
            <p:nvPr/>
          </p:nvSpPr>
          <p:spPr>
            <a:xfrm>
              <a:off x="4084059" y="5925162"/>
              <a:ext cx="158004" cy="158004"/>
            </a:xfrm>
            <a:prstGeom prst="ellipse">
              <a:avLst/>
            </a:prstGeom>
            <a:solidFill>
              <a:srgbClr val="E7F3E8"/>
            </a:solidFill>
            <a:ln w="25400">
              <a:solidFill>
                <a:srgbClr val="55606B"/>
              </a:solidFill>
            </a:ln>
          </p:spPr>
          <p:txBody>
            <a:bodyPr/>
            <a:lstStyle/>
            <a:p/>
          </p:txBody>
        </p:sp>
        <p:sp>
          <p:nvSpPr>
            <p:cNvPr id="45" name="Ellipse 45"/>
            <p:cNvSpPr/>
            <p:nvPr/>
          </p:nvSpPr>
          <p:spPr>
            <a:xfrm>
              <a:off x="4084059" y="7157596"/>
              <a:ext cx="158004" cy="158004"/>
            </a:xfrm>
            <a:prstGeom prst="ellipse">
              <a:avLst/>
            </a:prstGeom>
            <a:solidFill>
              <a:srgbClr val="E7F3E8"/>
            </a:solidFill>
            <a:ln w="25400">
              <a:solidFill>
                <a:srgbClr val="55606B"/>
              </a:solidFill>
            </a:ln>
          </p:spPr>
          <p:txBody>
            <a:bodyPr/>
            <a:lstStyle/>
            <a:p/>
          </p:txBody>
        </p:sp>
        <p:sp>
          <p:nvSpPr>
            <p:cNvPr id="46" name="Ellipse 46"/>
            <p:cNvSpPr/>
            <p:nvPr/>
          </p:nvSpPr>
          <p:spPr>
            <a:xfrm>
              <a:off x="4084059" y="8390030"/>
              <a:ext cx="158004" cy="158004"/>
            </a:xfrm>
            <a:prstGeom prst="ellipse">
              <a:avLst/>
            </a:prstGeom>
            <a:solidFill>
              <a:srgbClr val="D6EEF3"/>
            </a:solidFill>
            <a:ln w="25400">
              <a:solidFill>
                <a:srgbClr val="55606B"/>
              </a:solidFill>
            </a:ln>
          </p:spPr>
          <p:txBody>
            <a:bodyPr/>
            <a:lstStyle/>
            <a:p/>
          </p:txBody>
        </p:sp>
        <p:sp>
          <p:nvSpPr>
            <p:cNvPr id="47" name="Ellipse 47"/>
            <p:cNvSpPr/>
            <p:nvPr/>
          </p:nvSpPr>
          <p:spPr>
            <a:xfrm>
              <a:off x="4084059" y="9622463"/>
              <a:ext cx="158004" cy="158004"/>
            </a:xfrm>
            <a:prstGeom prst="ellipse">
              <a:avLst/>
            </a:prstGeom>
            <a:solidFill>
              <a:srgbClr val="E9DFF0"/>
            </a:solidFill>
            <a:ln w="25400">
              <a:solidFill>
                <a:srgbClr val="55606B"/>
              </a:solidFill>
            </a:ln>
          </p:spPr>
          <p:txBody>
            <a:bodyPr/>
            <a:lstStyle/>
            <a:p/>
          </p:txBody>
        </p:sp>
        <p:sp>
          <p:nvSpPr>
            <p:cNvPr id="48" name="Ellipse 48"/>
            <p:cNvSpPr/>
            <p:nvPr/>
          </p:nvSpPr>
          <p:spPr>
            <a:xfrm>
              <a:off x="4084059" y="10862797"/>
              <a:ext cx="158004" cy="158004"/>
            </a:xfrm>
            <a:prstGeom prst="ellipse">
              <a:avLst/>
            </a:prstGeom>
            <a:solidFill>
              <a:srgbClr val="E9DFF0"/>
            </a:solidFill>
            <a:ln w="25400">
              <a:solidFill>
                <a:srgbClr val="55606B"/>
              </a:solidFill>
            </a:ln>
          </p:spPr>
          <p:txBody>
            <a:bodyPr/>
            <a:lstStyle/>
            <a:p/>
          </p:txBody>
        </p:sp>
        <p:sp>
          <p:nvSpPr>
            <p:cNvPr id="49" name="TextBox 49"/>
            <p:cNvSpPr txBox="1"/>
            <p:nvPr/>
          </p:nvSpPr>
          <p:spPr>
            <a:xfrm>
              <a:off x="6177616" y="142204"/>
              <a:ext cx="1422039" cy="5135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540" i="1">
                  <a:solidFill>
                    <a:srgbClr val="707070"/>
                  </a:solidFill>
                  <a:latin typeface="Cambria"/>
                  <a:ea typeface="Cambria"/>
                  <a:cs typeface="Cambria"/>
                </a:rPr>
                <a:t>Sections</a:t>
              </a:r>
              <a:endParaRPr lang="zh-CN" sz="254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54752" y="142204"/>
              <a:ext cx="1738048" cy="5135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350" i="1">
                  <a:solidFill>
                    <a:srgbClr val="707070"/>
                  </a:solidFill>
                  <a:latin typeface="Cambria"/>
                  <a:ea typeface="Cambria"/>
                  <a:cs typeface="Cambria"/>
                </a:rPr>
                <a:t>Core topics</a:t>
              </a:r>
              <a:endParaRPr lang="zh-CN" sz="2350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974701" y="4937635"/>
              <a:ext cx="1659045" cy="8295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680" b="1">
                  <a:solidFill>
                    <a:srgbClr val="101828"/>
                  </a:solidFill>
                  <a:latin typeface="Cambria"/>
                  <a:ea typeface="Cambria"/>
                  <a:cs typeface="Cambria"/>
                </a:rPr>
                <a:t>RSI</a:t>
              </a:r>
              <a:endParaRPr lang="zh-CN" sz="2680"/>
            </a:p>
            <a:p>
              <a:pPr algn="ctr"/>
              <a:r>
                <a:rPr lang="zh-CN" sz="2680" b="1">
                  <a:solidFill>
                    <a:srgbClr val="101828"/>
                  </a:solidFill>
                  <a:latin typeface="Cambria"/>
                  <a:ea typeface="Cambria"/>
                  <a:cs typeface="Cambria"/>
                </a:rPr>
                <a:t>Survey</a:t>
              </a:r>
              <a:endParaRPr lang="zh-CN" sz="2680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974701" y="5877761"/>
              <a:ext cx="1659045" cy="3555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680" i="1">
                  <a:solidFill>
                    <a:srgbClr val="6B7280"/>
                  </a:solidFill>
                  <a:latin typeface="Cambria"/>
                  <a:ea typeface="Cambria"/>
                  <a:cs typeface="Cambria"/>
                </a:rPr>
                <a:t>Reader’s guide</a:t>
              </a:r>
              <a:endParaRPr lang="zh-CN" sz="168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692375" y="805822"/>
              <a:ext cx="3476095" cy="7031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85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1    Introduction</a:t>
              </a:r>
              <a:endParaRPr lang="zh-CN" sz="2850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692375" y="2030356"/>
              <a:ext cx="3476095" cy="979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4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2    Scope and Review</a:t>
              </a:r>
              <a:endParaRPr lang="zh-CN" sz="2410"/>
            </a:p>
            <a:p>
              <a:pPr algn="ctr"/>
              <a:r>
                <a:rPr lang="zh-CN" sz="24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Methodology</a:t>
              </a:r>
              <a:endParaRPr lang="zh-CN" sz="2410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692375" y="3262789"/>
              <a:ext cx="3476095" cy="979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4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3    Foundations and</a:t>
              </a:r>
              <a:endParaRPr lang="zh-CN" sz="2480"/>
            </a:p>
            <a:p>
              <a:pPr algn="ctr"/>
              <a:r>
                <a:rPr lang="zh-CN" sz="24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Problem Formulation</a:t>
              </a:r>
              <a:endParaRPr lang="zh-CN" sz="2480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692375" y="4487323"/>
              <a:ext cx="3476095" cy="7031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54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4    Taxonomy of RSI</a:t>
              </a:r>
              <a:endParaRPr lang="zh-CN" sz="2540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692375" y="5727657"/>
              <a:ext cx="3476095" cy="979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5    Automated Design of</a:t>
              </a:r>
              <a:endParaRPr lang="zh-CN" sz="2110"/>
            </a:p>
            <a:p>
              <a:pPr algn="ctr"/>
              <a:r>
                <a:rPr lang="zh-CN"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AI Infrastructure</a:t>
              </a:r>
              <a:endParaRPr lang="zh-CN" sz="2110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692375" y="6952190"/>
              <a:ext cx="3476095" cy="979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6    Repair and</a:t>
              </a:r>
              <a:endParaRPr lang="zh-CN" sz="2110"/>
            </a:p>
            <a:p>
              <a:pPr algn="ctr"/>
              <a:r>
                <a:rPr lang="zh-CN"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Optimization of</a:t>
              </a:r>
              <a:endParaRPr lang="zh-CN" sz="2110"/>
            </a:p>
            <a:p>
              <a:pPr algn="ctr"/>
              <a:r>
                <a:rPr lang="zh-CN"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Existing Systems</a:t>
              </a:r>
              <a:endParaRPr lang="zh-CN" sz="2110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692375" y="8184624"/>
              <a:ext cx="3476095" cy="979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7    Benchmarks and</a:t>
              </a:r>
              <a:endParaRPr lang="zh-CN" sz="2610"/>
            </a:p>
            <a:p>
              <a:pPr algn="ctr"/>
              <a:r>
                <a:rPr lang="zh-CN"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Evaluation</a:t>
              </a:r>
              <a:endParaRPr lang="zh-CN" sz="2610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692375" y="9417058"/>
              <a:ext cx="3476095" cy="979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8    Challenges and</a:t>
              </a:r>
              <a:endParaRPr lang="zh-CN" sz="2610"/>
            </a:p>
            <a:p>
              <a:pPr algn="ctr"/>
              <a:r>
                <a:rPr lang="zh-CN"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Future Directions</a:t>
              </a:r>
              <a:endParaRPr lang="zh-CN" sz="2610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692375" y="10649492"/>
              <a:ext cx="3476095" cy="7031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32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9    Conclusion</a:t>
              </a:r>
              <a:endParaRPr lang="zh-CN" sz="3220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361403" y="790022"/>
              <a:ext cx="5135141" cy="734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Two engineering goals</a:t>
              </a:r>
              <a:endParaRPr lang="zh-CN" sz="2370"/>
            </a:p>
            <a:p>
              <a:pPr algn="l"/>
              <a:r>
                <a:rPr lang="zh-CN"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Central questions</a:t>
              </a:r>
              <a:endParaRPr lang="zh-CN" sz="2370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61403" y="2014555"/>
              <a:ext cx="5135141" cy="734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Inclusion and evidence</a:t>
              </a:r>
              <a:endParaRPr lang="zh-CN" sz="2370"/>
            </a:p>
            <a:p>
              <a:pPr algn="l"/>
              <a:r>
                <a:rPr lang="zh-CN"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Related-review tree</a:t>
              </a:r>
              <a:endParaRPr lang="zh-CN" sz="2370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361403" y="3246989"/>
              <a:ext cx="5135141" cy="1011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21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AutoML and meta-learning</a:t>
              </a:r>
              <a:endParaRPr lang="zh-CN" sz="2180"/>
            </a:p>
            <a:p>
              <a:pPr algn="l"/>
              <a:r>
                <a:rPr lang="zh-CN" sz="21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Design / repair objectives</a:t>
              </a:r>
              <a:endParaRPr lang="zh-CN" sz="2180"/>
            </a:p>
            <a:p>
              <a:pPr algn="l"/>
              <a:r>
                <a:rPr lang="zh-CN" sz="21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Task, retention, improver gains</a:t>
              </a:r>
              <a:endParaRPr lang="zh-CN" sz="2180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361403" y="4471522"/>
              <a:ext cx="5135141" cy="1011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216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Engineering goal          Update target</a:t>
              </a:r>
              <a:endParaRPr lang="zh-CN" sz="2160"/>
            </a:p>
            <a:p>
              <a:pPr algn="l"/>
              <a:r>
                <a:rPr lang="zh-CN" sz="216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Feedback                  Persistence</a:t>
              </a:r>
              <a:endParaRPr lang="zh-CN" sz="2160"/>
            </a:p>
            <a:p>
              <a:pPr algn="l"/>
              <a:r>
                <a:rPr lang="zh-CN" sz="216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Editable scope             Fixed anchors</a:t>
              </a:r>
              <a:endParaRPr lang="zh-CN" sz="2160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361403" y="5711856"/>
              <a:ext cx="5135141" cy="1011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Learning pipelines        Agent workflows</a:t>
              </a:r>
              <a:endParaRPr lang="zh-CN" sz="2000"/>
            </a:p>
            <a:p>
              <a:pPr algn="l"/>
              <a:r>
                <a:rPr lang="zh-CN"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Algorithm search           Research loops</a:t>
              </a:r>
              <a:endParaRPr lang="zh-CN" sz="2000"/>
            </a:p>
            <a:p>
              <a:pPr algn="l"/>
              <a:r>
                <a:rPr lang="zh-CN"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Useful design              Better designer</a:t>
              </a:r>
              <a:endParaRPr lang="zh-CN" sz="2000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361403" y="6936390"/>
              <a:ext cx="5135141" cy="1011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889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Weights                    Memory and skills</a:t>
              </a:r>
              <a:endParaRPr lang="zh-CN" sz="1889"/>
            </a:p>
            <a:p>
              <a:pPr algn="l"/>
              <a:r>
                <a:rPr lang="zh-CN" sz="1889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Prompts and code           Feedback</a:t>
              </a:r>
              <a:endParaRPr lang="zh-CN" sz="1889"/>
            </a:p>
            <a:p>
              <a:pPr algn="l"/>
              <a:r>
                <a:rPr lang="zh-CN" sz="1889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Improver revision          Regression checks</a:t>
              </a:r>
              <a:endParaRPr lang="zh-CN" sz="1889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361403" y="8168824"/>
              <a:ext cx="5135141" cy="1011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8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Goal-matched tests        Sealed audit</a:t>
              </a:r>
              <a:endParaRPr lang="zh-CN" sz="1870"/>
            </a:p>
            <a:p>
              <a:pPr algn="l"/>
              <a:r>
                <a:rPr lang="zh-CN" sz="18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Budget controls            Paired improvers</a:t>
              </a:r>
              <a:endParaRPr lang="zh-CN" sz="1870"/>
            </a:p>
            <a:p>
              <a:pPr algn="l"/>
              <a:r>
                <a:rPr lang="zh-CN" sz="18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Retention / transfer      Accept / roll back</a:t>
              </a:r>
              <a:endParaRPr lang="zh-CN" sz="1870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361403" y="9401257"/>
              <a:ext cx="5135141" cy="1011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85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External feedback         Coverage</a:t>
              </a:r>
              <a:endParaRPr lang="zh-CN" sz="1850"/>
            </a:p>
            <a:p>
              <a:pPr algn="l"/>
              <a:r>
                <a:rPr lang="zh-CN" sz="185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Update stability           Integrity</a:t>
              </a:r>
              <a:endParaRPr lang="zh-CN" sz="1850"/>
            </a:p>
            <a:p>
              <a:pPr algn="l"/>
              <a:r>
                <a:rPr lang="zh-CN" sz="185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Cost / transfer            Scientific validity</a:t>
              </a:r>
              <a:endParaRPr lang="zh-CN" sz="1850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361403" y="10633691"/>
              <a:ext cx="5135141" cy="734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Demonstrated gains</a:t>
              </a:r>
              <a:endParaRPr lang="zh-CN" sz="2370"/>
            </a:p>
            <a:p>
              <a:pPr algn="l"/>
              <a:r>
                <a:rPr lang="zh-CN"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Open limits and next tests</a:t>
              </a:r>
              <a:endParaRPr lang="zh-CN" sz="237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-remaining-components"/>
          <p:cNvGrpSpPr/>
          <p:nvPr/>
        </p:nvGrpSpPr>
        <p:grpSpPr>
          <a:xfrm>
            <a:off x="0" y="0"/>
            <a:ext cx="15240000" cy="8572500"/>
            <a:chOff x="0" y="0"/>
            <a:chExt cx="15240000" cy="8572500"/>
          </a:xfrm>
        </p:grpSpPr>
        <p:pic>
          <p:nvPicPr>
            <p:cNvPr id="2" name="Complex radial landscape chart body; source-faithful rasterized visual region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157531" y="1329669"/>
              <a:ext cx="10460062" cy="7942555"/>
            </a:xfrm>
            <a:prstGeom prst="rect">
              <a:avLst/>
            </a:prstGeom>
          </p:spPr>
        </p:pic>
        <p:sp>
          <p:nvSpPr>
            <p:cNvPr id="3" name="TextBox 3"/>
            <p:cNvSpPr txBox="1"/>
            <p:nvPr/>
          </p:nvSpPr>
          <p:spPr>
            <a:xfrm>
              <a:off x="3201853" y="496410"/>
              <a:ext cx="6559700" cy="638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28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The landscape of recursive self-improvement</a:t>
              </a:r>
              <a:endParaRPr lang="zh-CN" sz="28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01853" y="1028277"/>
              <a:ext cx="6736989" cy="425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800" b="1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Foundations, enabling mechanisms and emerging systems</a:t>
              </a:r>
              <a:endParaRPr lang="zh-CN" sz="180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865004" y="10637351"/>
              <a:ext cx="10938743" cy="3368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50" b="1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>Figure 3. Landscape of mechanisms relevant to recursive self-improvement. The map connects update targets</a:t>
              </a:r>
              <a:endParaRPr lang="zh-CN" sz="175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865004" y="11009658"/>
              <a:ext cx="10938743" cy="301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50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>in the inner band, improvement mechanisms in the middle band, and representative studies in the outer band.</a:t>
              </a:r>
              <a:endParaRPr lang="zh-CN" sz="175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865004" y="11346508"/>
              <a:ext cx="10938743" cy="301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50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>The six sectors cover weights, tasks, memory, programs, feedback, and the improvement process. A work may</a:t>
              </a:r>
              <a:endParaRPr lang="zh-CN" sz="175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865004" y="11683357"/>
              <a:ext cx="10938743" cy="301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50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>involve several targets; its placement highlights one connection. The map includes historical foundations, enabling</a:t>
              </a:r>
              <a:endParaRPr lang="zh-CN" sz="175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65004" y="12020207"/>
              <a:ext cx="10938743" cy="301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50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>methods, and RSI-oriented systems. Logos denote selected author or work-done affiliations, rather than base</a:t>
              </a:r>
              <a:endParaRPr lang="zh-CN" sz="175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65004" y="12357056"/>
              <a:ext cx="10938743" cy="301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50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>models; other collaborating institutions may be omitted. The accompanying source register records each selection.</a:t>
              </a:r>
              <a:endParaRPr lang="zh-CN" sz="175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roup-remaining-components"/>
          <p:cNvGrpSpPr/>
          <p:nvPr/>
        </p:nvGrpSpPr>
        <p:grpSpPr>
          <a:xfrm>
            <a:off x="0" y="0"/>
            <a:ext cx="15240000" cy="8572500"/>
            <a:chOff x="0" y="0"/>
            <a:chExt cx="15240000" cy="8572500"/>
          </a:xfrm>
        </p:grpSpPr>
        <p:sp>
          <p:nvSpPr>
            <p:cNvPr id="2" name="Roundrect 2"/>
            <p:cNvSpPr/>
            <p:nvPr/>
          </p:nvSpPr>
          <p:spPr>
            <a:xfrm>
              <a:off x="4550989" y="856322"/>
              <a:ext cx="1245559" cy="1105434"/>
            </a:xfrm>
            <a:prstGeom prst="roundRect">
              <a:avLst>
                <a:gd name="adj" fmla="val 7042"/>
              </a:avLst>
            </a:prstGeom>
            <a:solidFill>
              <a:srgbClr val="FBF5E8"/>
            </a:solidFill>
            <a:ln w="25400">
              <a:solidFill>
                <a:srgbClr val="B9832E"/>
              </a:solidFill>
            </a:ln>
          </p:spPr>
          <p:txBody>
            <a:bodyPr/>
            <a:lstStyle/>
            <a:p/>
          </p:txBody>
        </p:sp>
        <p:sp>
          <p:nvSpPr>
            <p:cNvPr id="3" name="Roundrect 3"/>
            <p:cNvSpPr/>
            <p:nvPr/>
          </p:nvSpPr>
          <p:spPr>
            <a:xfrm>
              <a:off x="5905535" y="856322"/>
              <a:ext cx="1245559" cy="1105434"/>
            </a:xfrm>
            <a:prstGeom prst="roundRect">
              <a:avLst>
                <a:gd name="adj" fmla="val 7042"/>
              </a:avLst>
            </a:prstGeom>
            <a:solidFill>
              <a:srgbClr val="EDF7F1"/>
            </a:solidFill>
            <a:ln w="25400">
              <a:solidFill>
                <a:srgbClr val="3C8D76"/>
              </a:solidFill>
            </a:ln>
          </p:spPr>
          <p:txBody>
            <a:bodyPr/>
            <a:lstStyle/>
            <a:p/>
          </p:txBody>
        </p:sp>
        <p:sp>
          <p:nvSpPr>
            <p:cNvPr id="4" name="Roundrect 4"/>
            <p:cNvSpPr/>
            <p:nvPr/>
          </p:nvSpPr>
          <p:spPr>
            <a:xfrm>
              <a:off x="7260080" y="856322"/>
              <a:ext cx="1245559" cy="1105434"/>
            </a:xfrm>
            <a:prstGeom prst="roundRect">
              <a:avLst>
                <a:gd name="adj" fmla="val 7042"/>
              </a:avLst>
            </a:prstGeom>
            <a:solidFill>
              <a:srgbClr val="EDF3FA"/>
            </a:solidFill>
            <a:ln w="25400">
              <a:solidFill>
                <a:srgbClr val="3F7BAD"/>
              </a:solidFill>
            </a:ln>
          </p:spPr>
          <p:txBody>
            <a:bodyPr/>
            <a:lstStyle/>
            <a:p/>
          </p:txBody>
        </p:sp>
        <p:sp>
          <p:nvSpPr>
            <p:cNvPr id="5" name="Roundrect 5"/>
            <p:cNvSpPr/>
            <p:nvPr/>
          </p:nvSpPr>
          <p:spPr>
            <a:xfrm>
              <a:off x="8614626" y="856322"/>
              <a:ext cx="1245559" cy="1105434"/>
            </a:xfrm>
            <a:prstGeom prst="roundRect">
              <a:avLst>
                <a:gd name="adj" fmla="val 7042"/>
              </a:avLst>
            </a:prstGeom>
            <a:solidFill>
              <a:srgbClr val="F9EEEE"/>
            </a:solidFill>
            <a:ln w="25400">
              <a:solidFill>
                <a:srgbClr val="C16A58"/>
              </a:solidFill>
            </a:ln>
          </p:spPr>
          <p:txBody>
            <a:bodyPr/>
            <a:lstStyle/>
            <a:p/>
          </p:txBody>
        </p:sp>
        <p:sp>
          <p:nvSpPr>
            <p:cNvPr id="6" name="Roundrect 6"/>
            <p:cNvSpPr/>
            <p:nvPr/>
          </p:nvSpPr>
          <p:spPr>
            <a:xfrm>
              <a:off x="9969171" y="856322"/>
              <a:ext cx="1245559" cy="1105434"/>
            </a:xfrm>
            <a:prstGeom prst="roundRect">
              <a:avLst>
                <a:gd name="adj" fmla="val 7042"/>
              </a:avLst>
            </a:prstGeom>
            <a:solidFill>
              <a:srgbClr val="F4EFF8"/>
            </a:solidFill>
            <a:ln w="25400">
              <a:solidFill>
                <a:srgbClr val="8561A3"/>
              </a:solidFill>
            </a:ln>
          </p:spPr>
          <p:txBody>
            <a:bodyPr/>
            <a:lstStyle/>
            <a:p/>
          </p:txBody>
        </p:sp>
        <p:sp>
          <p:nvSpPr>
            <p:cNvPr id="7" name="Roundrect 7"/>
            <p:cNvSpPr/>
            <p:nvPr/>
          </p:nvSpPr>
          <p:spPr>
            <a:xfrm>
              <a:off x="11323717" y="856322"/>
              <a:ext cx="1245559" cy="1105434"/>
            </a:xfrm>
            <a:prstGeom prst="roundRect">
              <a:avLst>
                <a:gd name="adj" fmla="val 7042"/>
              </a:avLst>
            </a:prstGeom>
            <a:solidFill>
              <a:srgbClr val="EDF6F6"/>
            </a:solidFill>
            <a:ln w="25400">
              <a:solidFill>
                <a:srgbClr val="3B8791"/>
              </a:solidFill>
            </a:ln>
          </p:spPr>
          <p:txBody>
            <a:bodyPr/>
            <a:lstStyle/>
            <a:p/>
          </p:txBody>
        </p:sp>
        <p:sp>
          <p:nvSpPr>
            <p:cNvPr id="8" name="Roundrect 8"/>
            <p:cNvSpPr/>
            <p:nvPr/>
          </p:nvSpPr>
          <p:spPr>
            <a:xfrm>
              <a:off x="4434218" y="9730930"/>
              <a:ext cx="8096134" cy="560502"/>
            </a:xfrm>
            <a:prstGeom prst="roundRect">
              <a:avLst>
                <a:gd name="adj" fmla="val 13889"/>
              </a:avLst>
            </a:prstGeom>
            <a:solidFill>
              <a:srgbClr val="FBFBFB"/>
            </a:solidFill>
            <a:ln w="25400">
              <a:solidFill>
                <a:srgbClr val="283244"/>
              </a:solidFill>
            </a:ln>
          </p:spPr>
          <p:txBody>
            <a:bodyPr/>
            <a:lstStyle/>
            <a:p/>
          </p:txBody>
        </p:sp>
        <p:sp>
          <p:nvSpPr>
            <p:cNvPr id="9" name="Roundrect 9"/>
            <p:cNvSpPr/>
            <p:nvPr/>
          </p:nvSpPr>
          <p:spPr>
            <a:xfrm>
              <a:off x="4574344" y="3604337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B9832E"/>
              </a:solidFill>
            </a:ln>
          </p:spPr>
          <p:txBody>
            <a:bodyPr/>
            <a:lstStyle/>
            <a:p/>
          </p:txBody>
        </p:sp>
        <p:sp>
          <p:nvSpPr>
            <p:cNvPr id="10" name="Roundrect 10"/>
            <p:cNvSpPr/>
            <p:nvPr/>
          </p:nvSpPr>
          <p:spPr>
            <a:xfrm>
              <a:off x="4574344" y="3876803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B9832E"/>
              </a:solidFill>
            </a:ln>
          </p:spPr>
          <p:txBody>
            <a:bodyPr/>
            <a:lstStyle/>
            <a:p/>
          </p:txBody>
        </p:sp>
        <p:sp>
          <p:nvSpPr>
            <p:cNvPr id="11" name="Roundrect 11"/>
            <p:cNvSpPr/>
            <p:nvPr/>
          </p:nvSpPr>
          <p:spPr>
            <a:xfrm>
              <a:off x="4574344" y="5861912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B9832E"/>
              </a:solidFill>
            </a:ln>
          </p:spPr>
          <p:txBody>
            <a:bodyPr/>
            <a:lstStyle/>
            <a:p/>
          </p:txBody>
        </p:sp>
        <p:sp>
          <p:nvSpPr>
            <p:cNvPr id="12" name="Roundrect 12"/>
            <p:cNvSpPr/>
            <p:nvPr/>
          </p:nvSpPr>
          <p:spPr>
            <a:xfrm>
              <a:off x="4574344" y="5316980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B9832E"/>
              </a:solidFill>
            </a:ln>
          </p:spPr>
          <p:txBody>
            <a:bodyPr/>
            <a:lstStyle/>
            <a:p/>
          </p:txBody>
        </p:sp>
        <p:sp>
          <p:nvSpPr>
            <p:cNvPr id="13" name="Roundrect 13"/>
            <p:cNvSpPr/>
            <p:nvPr/>
          </p:nvSpPr>
          <p:spPr>
            <a:xfrm>
              <a:off x="4574344" y="5589446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B9832E"/>
              </a:solidFill>
            </a:ln>
          </p:spPr>
          <p:txBody>
            <a:bodyPr/>
            <a:lstStyle/>
            <a:p/>
          </p:txBody>
        </p:sp>
        <p:sp>
          <p:nvSpPr>
            <p:cNvPr id="14" name="Roundrect 14"/>
            <p:cNvSpPr/>
            <p:nvPr/>
          </p:nvSpPr>
          <p:spPr>
            <a:xfrm>
              <a:off x="4574344" y="5861912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B9832E"/>
              </a:solidFill>
            </a:ln>
          </p:spPr>
          <p:txBody>
            <a:bodyPr/>
            <a:lstStyle/>
            <a:p/>
          </p:txBody>
        </p:sp>
        <p:sp>
          <p:nvSpPr>
            <p:cNvPr id="15" name="Roundrect 15"/>
            <p:cNvSpPr/>
            <p:nvPr/>
          </p:nvSpPr>
          <p:spPr>
            <a:xfrm>
              <a:off x="4574344" y="7029624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B9832E"/>
              </a:solidFill>
            </a:ln>
          </p:spPr>
          <p:txBody>
            <a:bodyPr/>
            <a:lstStyle/>
            <a:p/>
          </p:txBody>
        </p:sp>
        <p:sp>
          <p:nvSpPr>
            <p:cNvPr id="16" name="Roundrect 16"/>
            <p:cNvSpPr/>
            <p:nvPr/>
          </p:nvSpPr>
          <p:spPr>
            <a:xfrm>
              <a:off x="4574344" y="7302090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B9832E"/>
              </a:solidFill>
            </a:ln>
          </p:spPr>
          <p:txBody>
            <a:bodyPr/>
            <a:lstStyle/>
            <a:p/>
          </p:txBody>
        </p:sp>
        <p:sp>
          <p:nvSpPr>
            <p:cNvPr id="17" name="Roundrect 17"/>
            <p:cNvSpPr/>
            <p:nvPr/>
          </p:nvSpPr>
          <p:spPr>
            <a:xfrm>
              <a:off x="4574344" y="9287200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B9832E"/>
              </a:solidFill>
            </a:ln>
          </p:spPr>
          <p:txBody>
            <a:bodyPr/>
            <a:lstStyle/>
            <a:p/>
          </p:txBody>
        </p:sp>
        <p:sp>
          <p:nvSpPr>
            <p:cNvPr id="18" name="Roundrect 18"/>
            <p:cNvSpPr/>
            <p:nvPr/>
          </p:nvSpPr>
          <p:spPr>
            <a:xfrm>
              <a:off x="4574344" y="8742268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B9832E"/>
              </a:solidFill>
            </a:ln>
          </p:spPr>
          <p:txBody>
            <a:bodyPr/>
            <a:lstStyle/>
            <a:p/>
          </p:txBody>
        </p:sp>
        <p:sp>
          <p:nvSpPr>
            <p:cNvPr id="19" name="Roundrect 19"/>
            <p:cNvSpPr/>
            <p:nvPr/>
          </p:nvSpPr>
          <p:spPr>
            <a:xfrm>
              <a:off x="5928889" y="3604337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3C8D76"/>
              </a:solidFill>
            </a:ln>
          </p:spPr>
          <p:txBody>
            <a:bodyPr/>
            <a:lstStyle/>
            <a:p/>
          </p:txBody>
        </p:sp>
        <p:sp>
          <p:nvSpPr>
            <p:cNvPr id="20" name="Roundrect 20"/>
            <p:cNvSpPr/>
            <p:nvPr/>
          </p:nvSpPr>
          <p:spPr>
            <a:xfrm>
              <a:off x="5928889" y="3876803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3C8D76"/>
              </a:solidFill>
            </a:ln>
          </p:spPr>
          <p:txBody>
            <a:bodyPr/>
            <a:lstStyle/>
            <a:p/>
          </p:txBody>
        </p:sp>
        <p:sp>
          <p:nvSpPr>
            <p:cNvPr id="21" name="Roundrect 21"/>
            <p:cNvSpPr/>
            <p:nvPr/>
          </p:nvSpPr>
          <p:spPr>
            <a:xfrm>
              <a:off x="5928889" y="4149269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3C8D76"/>
              </a:solidFill>
            </a:ln>
          </p:spPr>
          <p:txBody>
            <a:bodyPr/>
            <a:lstStyle/>
            <a:p/>
          </p:txBody>
        </p:sp>
        <p:sp>
          <p:nvSpPr>
            <p:cNvPr id="22" name="Roundrect 22"/>
            <p:cNvSpPr/>
            <p:nvPr/>
          </p:nvSpPr>
          <p:spPr>
            <a:xfrm>
              <a:off x="5928889" y="5316980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3C8D76"/>
              </a:solidFill>
            </a:ln>
          </p:spPr>
          <p:txBody>
            <a:bodyPr/>
            <a:lstStyle/>
            <a:p/>
          </p:txBody>
        </p:sp>
        <p:sp>
          <p:nvSpPr>
            <p:cNvPr id="23" name="Roundrect 23"/>
            <p:cNvSpPr/>
            <p:nvPr/>
          </p:nvSpPr>
          <p:spPr>
            <a:xfrm>
              <a:off x="7283435" y="1891693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3F7BAD"/>
              </a:solidFill>
            </a:ln>
          </p:spPr>
          <p:txBody>
            <a:bodyPr/>
            <a:lstStyle/>
            <a:p/>
          </p:txBody>
        </p:sp>
        <p:sp>
          <p:nvSpPr>
            <p:cNvPr id="24" name="Roundrect 24"/>
            <p:cNvSpPr/>
            <p:nvPr/>
          </p:nvSpPr>
          <p:spPr>
            <a:xfrm>
              <a:off x="7283435" y="3876803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3F7BAD"/>
              </a:solidFill>
            </a:ln>
          </p:spPr>
          <p:txBody>
            <a:bodyPr/>
            <a:lstStyle/>
            <a:p/>
          </p:txBody>
        </p:sp>
        <p:sp>
          <p:nvSpPr>
            <p:cNvPr id="25" name="Roundrect 25"/>
            <p:cNvSpPr/>
            <p:nvPr/>
          </p:nvSpPr>
          <p:spPr>
            <a:xfrm>
              <a:off x="7283435" y="4149269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3F7BAD"/>
              </a:solidFill>
            </a:ln>
          </p:spPr>
          <p:txBody>
            <a:bodyPr/>
            <a:lstStyle/>
            <a:p/>
          </p:txBody>
        </p:sp>
        <p:sp>
          <p:nvSpPr>
            <p:cNvPr id="26" name="Roundrect 26"/>
            <p:cNvSpPr/>
            <p:nvPr/>
          </p:nvSpPr>
          <p:spPr>
            <a:xfrm>
              <a:off x="7283435" y="7029624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3F7BAD"/>
              </a:solidFill>
            </a:ln>
          </p:spPr>
          <p:txBody>
            <a:bodyPr/>
            <a:lstStyle/>
            <a:p/>
          </p:txBody>
        </p:sp>
        <p:sp>
          <p:nvSpPr>
            <p:cNvPr id="27" name="Roundrect 27"/>
            <p:cNvSpPr/>
            <p:nvPr/>
          </p:nvSpPr>
          <p:spPr>
            <a:xfrm>
              <a:off x="7283435" y="7302090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3F7BAD"/>
              </a:solidFill>
            </a:ln>
          </p:spPr>
          <p:txBody>
            <a:bodyPr/>
            <a:lstStyle/>
            <a:p/>
          </p:txBody>
        </p:sp>
        <p:sp>
          <p:nvSpPr>
            <p:cNvPr id="28" name="Roundrect 28"/>
            <p:cNvSpPr/>
            <p:nvPr/>
          </p:nvSpPr>
          <p:spPr>
            <a:xfrm>
              <a:off x="7283435" y="7574556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3F7BAD"/>
              </a:solidFill>
            </a:ln>
          </p:spPr>
          <p:txBody>
            <a:bodyPr/>
            <a:lstStyle/>
            <a:p/>
          </p:txBody>
        </p:sp>
        <p:sp>
          <p:nvSpPr>
            <p:cNvPr id="29" name="Roundrect 29"/>
            <p:cNvSpPr/>
            <p:nvPr/>
          </p:nvSpPr>
          <p:spPr>
            <a:xfrm>
              <a:off x="8637980" y="1891693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C16A58"/>
              </a:solidFill>
            </a:ln>
          </p:spPr>
          <p:txBody>
            <a:bodyPr/>
            <a:lstStyle/>
            <a:p/>
          </p:txBody>
        </p:sp>
        <p:sp>
          <p:nvSpPr>
            <p:cNvPr id="30" name="Roundrect 30"/>
            <p:cNvSpPr/>
            <p:nvPr/>
          </p:nvSpPr>
          <p:spPr>
            <a:xfrm>
              <a:off x="8637980" y="3876803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C16A58"/>
              </a:solidFill>
            </a:ln>
          </p:spPr>
          <p:txBody>
            <a:bodyPr/>
            <a:lstStyle/>
            <a:p/>
          </p:txBody>
        </p:sp>
        <p:sp>
          <p:nvSpPr>
            <p:cNvPr id="31" name="Roundrect 31"/>
            <p:cNvSpPr/>
            <p:nvPr/>
          </p:nvSpPr>
          <p:spPr>
            <a:xfrm>
              <a:off x="8637980" y="4149269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C16A58"/>
              </a:solidFill>
            </a:ln>
          </p:spPr>
          <p:txBody>
            <a:bodyPr/>
            <a:lstStyle/>
            <a:p/>
          </p:txBody>
        </p:sp>
        <p:sp>
          <p:nvSpPr>
            <p:cNvPr id="32" name="Roundrect 32"/>
            <p:cNvSpPr/>
            <p:nvPr/>
          </p:nvSpPr>
          <p:spPr>
            <a:xfrm>
              <a:off x="8637980" y="3604337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C16A58"/>
              </a:solidFill>
            </a:ln>
          </p:spPr>
          <p:txBody>
            <a:bodyPr/>
            <a:lstStyle/>
            <a:p/>
          </p:txBody>
        </p:sp>
        <p:sp>
          <p:nvSpPr>
            <p:cNvPr id="33" name="Roundrect 33"/>
            <p:cNvSpPr/>
            <p:nvPr/>
          </p:nvSpPr>
          <p:spPr>
            <a:xfrm>
              <a:off x="8637980" y="5589446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C16A58"/>
              </a:solidFill>
            </a:ln>
          </p:spPr>
          <p:txBody>
            <a:bodyPr/>
            <a:lstStyle/>
            <a:p/>
          </p:txBody>
        </p:sp>
        <p:sp>
          <p:nvSpPr>
            <p:cNvPr id="34" name="Roundrect 34"/>
            <p:cNvSpPr/>
            <p:nvPr/>
          </p:nvSpPr>
          <p:spPr>
            <a:xfrm>
              <a:off x="8637980" y="5861912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C16A58"/>
              </a:solidFill>
            </a:ln>
          </p:spPr>
          <p:txBody>
            <a:bodyPr/>
            <a:lstStyle/>
            <a:p/>
          </p:txBody>
        </p:sp>
        <p:sp>
          <p:nvSpPr>
            <p:cNvPr id="35" name="Roundrect 35"/>
            <p:cNvSpPr/>
            <p:nvPr/>
          </p:nvSpPr>
          <p:spPr>
            <a:xfrm>
              <a:off x="8637980" y="5316980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C16A58"/>
              </a:solidFill>
            </a:ln>
          </p:spPr>
          <p:txBody>
            <a:bodyPr/>
            <a:lstStyle/>
            <a:p/>
          </p:txBody>
        </p:sp>
        <p:sp>
          <p:nvSpPr>
            <p:cNvPr id="36" name="Roundrect 36"/>
            <p:cNvSpPr/>
            <p:nvPr/>
          </p:nvSpPr>
          <p:spPr>
            <a:xfrm>
              <a:off x="8637980" y="7302090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C16A58"/>
              </a:solidFill>
            </a:ln>
          </p:spPr>
          <p:txBody>
            <a:bodyPr/>
            <a:lstStyle/>
            <a:p/>
          </p:txBody>
        </p:sp>
        <p:sp>
          <p:nvSpPr>
            <p:cNvPr id="37" name="Roundrect 37"/>
            <p:cNvSpPr/>
            <p:nvPr/>
          </p:nvSpPr>
          <p:spPr>
            <a:xfrm>
              <a:off x="8637980" y="7574556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C16A58"/>
              </a:solidFill>
            </a:ln>
          </p:spPr>
          <p:txBody>
            <a:bodyPr/>
            <a:lstStyle/>
            <a:p/>
          </p:txBody>
        </p:sp>
        <p:sp>
          <p:nvSpPr>
            <p:cNvPr id="38" name="Roundrect 38"/>
            <p:cNvSpPr/>
            <p:nvPr/>
          </p:nvSpPr>
          <p:spPr>
            <a:xfrm>
              <a:off x="9992526" y="3604337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8561A3"/>
              </a:solidFill>
            </a:ln>
          </p:spPr>
          <p:txBody>
            <a:bodyPr/>
            <a:lstStyle/>
            <a:p/>
          </p:txBody>
        </p:sp>
        <p:sp>
          <p:nvSpPr>
            <p:cNvPr id="39" name="Roundrect 39"/>
            <p:cNvSpPr/>
            <p:nvPr/>
          </p:nvSpPr>
          <p:spPr>
            <a:xfrm>
              <a:off x="9992526" y="5589446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8561A3"/>
              </a:solidFill>
            </a:ln>
          </p:spPr>
          <p:txBody>
            <a:bodyPr/>
            <a:lstStyle/>
            <a:p/>
          </p:txBody>
        </p:sp>
        <p:sp>
          <p:nvSpPr>
            <p:cNvPr id="40" name="Roundrect 40"/>
            <p:cNvSpPr/>
            <p:nvPr/>
          </p:nvSpPr>
          <p:spPr>
            <a:xfrm>
              <a:off x="9992526" y="5861912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8561A3"/>
              </a:solidFill>
            </a:ln>
          </p:spPr>
          <p:txBody>
            <a:bodyPr/>
            <a:lstStyle/>
            <a:p/>
          </p:txBody>
        </p:sp>
        <p:sp>
          <p:nvSpPr>
            <p:cNvPr id="41" name="Roundrect 41"/>
            <p:cNvSpPr/>
            <p:nvPr/>
          </p:nvSpPr>
          <p:spPr>
            <a:xfrm>
              <a:off x="9992526" y="5316980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8561A3"/>
              </a:solidFill>
            </a:ln>
          </p:spPr>
          <p:txBody>
            <a:bodyPr/>
            <a:lstStyle/>
            <a:p/>
          </p:txBody>
        </p:sp>
        <p:sp>
          <p:nvSpPr>
            <p:cNvPr id="42" name="Roundrect 42"/>
            <p:cNvSpPr/>
            <p:nvPr/>
          </p:nvSpPr>
          <p:spPr>
            <a:xfrm>
              <a:off x="9992526" y="5589446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8561A3"/>
              </a:solidFill>
            </a:ln>
          </p:spPr>
          <p:txBody>
            <a:bodyPr/>
            <a:lstStyle/>
            <a:p/>
          </p:txBody>
        </p:sp>
        <p:sp>
          <p:nvSpPr>
            <p:cNvPr id="43" name="Roundrect 43"/>
            <p:cNvSpPr/>
            <p:nvPr/>
          </p:nvSpPr>
          <p:spPr>
            <a:xfrm>
              <a:off x="9992526" y="7574556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8561A3"/>
              </a:solidFill>
            </a:ln>
          </p:spPr>
          <p:txBody>
            <a:bodyPr/>
            <a:lstStyle/>
            <a:p/>
          </p:txBody>
        </p:sp>
        <p:sp>
          <p:nvSpPr>
            <p:cNvPr id="44" name="Roundrect 44"/>
            <p:cNvSpPr/>
            <p:nvPr/>
          </p:nvSpPr>
          <p:spPr>
            <a:xfrm>
              <a:off x="9992526" y="8742268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8561A3"/>
              </a:solidFill>
            </a:ln>
          </p:spPr>
          <p:txBody>
            <a:bodyPr/>
            <a:lstStyle/>
            <a:p/>
          </p:txBody>
        </p:sp>
        <p:sp>
          <p:nvSpPr>
            <p:cNvPr id="45" name="Roundrect 45"/>
            <p:cNvSpPr/>
            <p:nvPr/>
          </p:nvSpPr>
          <p:spPr>
            <a:xfrm>
              <a:off x="11347071" y="1891693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3B8791"/>
              </a:solidFill>
            </a:ln>
          </p:spPr>
          <p:txBody>
            <a:bodyPr/>
            <a:lstStyle/>
            <a:p/>
          </p:txBody>
        </p:sp>
        <p:sp>
          <p:nvSpPr>
            <p:cNvPr id="46" name="Roundrect 46"/>
            <p:cNvSpPr/>
            <p:nvPr/>
          </p:nvSpPr>
          <p:spPr>
            <a:xfrm>
              <a:off x="11347071" y="2164159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3B8791"/>
              </a:solidFill>
            </a:ln>
          </p:spPr>
          <p:txBody>
            <a:bodyPr/>
            <a:lstStyle/>
            <a:p/>
          </p:txBody>
        </p:sp>
        <p:sp>
          <p:nvSpPr>
            <p:cNvPr id="47" name="Roundrect 47"/>
            <p:cNvSpPr/>
            <p:nvPr/>
          </p:nvSpPr>
          <p:spPr>
            <a:xfrm>
              <a:off x="11347071" y="2436625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3B8791"/>
              </a:solidFill>
            </a:ln>
          </p:spPr>
          <p:txBody>
            <a:bodyPr/>
            <a:lstStyle/>
            <a:p/>
          </p:txBody>
        </p:sp>
        <p:sp>
          <p:nvSpPr>
            <p:cNvPr id="48" name="Roundrect 48"/>
            <p:cNvSpPr/>
            <p:nvPr/>
          </p:nvSpPr>
          <p:spPr>
            <a:xfrm>
              <a:off x="11347071" y="3604337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3B8791"/>
              </a:solidFill>
            </a:ln>
          </p:spPr>
          <p:txBody>
            <a:bodyPr/>
            <a:lstStyle/>
            <a:p/>
          </p:txBody>
        </p:sp>
        <p:sp>
          <p:nvSpPr>
            <p:cNvPr id="49" name="Roundrect 49"/>
            <p:cNvSpPr/>
            <p:nvPr/>
          </p:nvSpPr>
          <p:spPr>
            <a:xfrm>
              <a:off x="11347071" y="3876803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3B8791"/>
              </a:solidFill>
            </a:ln>
          </p:spPr>
          <p:txBody>
            <a:bodyPr/>
            <a:lstStyle/>
            <a:p/>
          </p:txBody>
        </p:sp>
        <p:sp>
          <p:nvSpPr>
            <p:cNvPr id="50" name="Roundrect 50"/>
            <p:cNvSpPr/>
            <p:nvPr/>
          </p:nvSpPr>
          <p:spPr>
            <a:xfrm>
              <a:off x="11347071" y="5861912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3B8791"/>
              </a:solidFill>
            </a:ln>
          </p:spPr>
          <p:txBody>
            <a:bodyPr/>
            <a:lstStyle/>
            <a:p/>
          </p:txBody>
        </p:sp>
        <p:sp>
          <p:nvSpPr>
            <p:cNvPr id="51" name="Roundrect 51"/>
            <p:cNvSpPr/>
            <p:nvPr/>
          </p:nvSpPr>
          <p:spPr>
            <a:xfrm>
              <a:off x="11347071" y="7029624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3B8791"/>
              </a:solidFill>
            </a:ln>
          </p:spPr>
          <p:txBody>
            <a:bodyPr/>
            <a:lstStyle/>
            <a:p/>
          </p:txBody>
        </p:sp>
        <p:sp>
          <p:nvSpPr>
            <p:cNvPr id="52" name="Roundrect 52"/>
            <p:cNvSpPr/>
            <p:nvPr/>
          </p:nvSpPr>
          <p:spPr>
            <a:xfrm>
              <a:off x="11347071" y="7302090"/>
              <a:ext cx="1276698" cy="350313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>
              <a:solidFill>
                <a:srgbClr val="3B8791"/>
              </a:solidFill>
            </a:ln>
          </p:spPr>
          <p:txBody>
            <a:bodyPr/>
            <a:lstStyle/>
            <a:p/>
          </p:txBody>
        </p:sp>
        <p:sp>
          <p:nvSpPr>
            <p:cNvPr id="53" name="Line 53"/>
            <p:cNvSpPr/>
            <p:nvPr/>
          </p:nvSpPr>
          <p:spPr>
            <a:xfrm>
              <a:off x="4138398" y="2179728"/>
              <a:ext cx="0" cy="7200888"/>
            </a:xfrm>
            <a:prstGeom prst="line">
              <a:avLst/>
            </a:prstGeom>
            <a:noFill/>
            <a:ln w="25400">
              <a:solidFill>
                <a:srgbClr val="707783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54" name="Line 54"/>
            <p:cNvSpPr/>
            <p:nvPr/>
          </p:nvSpPr>
          <p:spPr>
            <a:xfrm>
              <a:off x="4278523" y="2335423"/>
              <a:ext cx="8407524" cy="0"/>
            </a:xfrm>
            <a:prstGeom prst="line">
              <a:avLst/>
            </a:prstGeom>
            <a:noFill/>
            <a:ln w="12700">
              <a:solidFill>
                <a:srgbClr val="D8DCE3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55" name="Line 55"/>
            <p:cNvSpPr/>
            <p:nvPr/>
          </p:nvSpPr>
          <p:spPr>
            <a:xfrm>
              <a:off x="4278523" y="4048067"/>
              <a:ext cx="8407524" cy="0"/>
            </a:xfrm>
            <a:prstGeom prst="line">
              <a:avLst/>
            </a:prstGeom>
            <a:noFill/>
            <a:ln w="12700">
              <a:solidFill>
                <a:srgbClr val="D8DCE3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56" name="Line 56"/>
            <p:cNvSpPr/>
            <p:nvPr/>
          </p:nvSpPr>
          <p:spPr>
            <a:xfrm>
              <a:off x="4278523" y="5760711"/>
              <a:ext cx="8407524" cy="0"/>
            </a:xfrm>
            <a:prstGeom prst="line">
              <a:avLst/>
            </a:prstGeom>
            <a:noFill/>
            <a:ln w="12700">
              <a:solidFill>
                <a:srgbClr val="D8DCE3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57" name="Line 57"/>
            <p:cNvSpPr/>
            <p:nvPr/>
          </p:nvSpPr>
          <p:spPr>
            <a:xfrm>
              <a:off x="4278523" y="7473354"/>
              <a:ext cx="8407524" cy="0"/>
            </a:xfrm>
            <a:prstGeom prst="line">
              <a:avLst/>
            </a:prstGeom>
            <a:noFill/>
            <a:ln w="12700">
              <a:solidFill>
                <a:srgbClr val="D8DCE3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58" name="Line 58"/>
            <p:cNvSpPr/>
            <p:nvPr/>
          </p:nvSpPr>
          <p:spPr>
            <a:xfrm>
              <a:off x="4278523" y="9185998"/>
              <a:ext cx="8407524" cy="0"/>
            </a:xfrm>
            <a:prstGeom prst="line">
              <a:avLst/>
            </a:prstGeom>
            <a:noFill/>
            <a:ln w="12700">
              <a:solidFill>
                <a:srgbClr val="D8DCE3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59" name="Line 59"/>
            <p:cNvSpPr/>
            <p:nvPr/>
          </p:nvSpPr>
          <p:spPr>
            <a:xfrm>
              <a:off x="5212693" y="2117450"/>
              <a:ext cx="0" cy="7348799"/>
            </a:xfrm>
            <a:prstGeom prst="line">
              <a:avLst/>
            </a:prstGeom>
            <a:noFill/>
            <a:ln w="63500">
              <a:solidFill>
                <a:srgbClr val="B9832E"/>
              </a:solidFill>
            </a:ln>
          </p:spPr>
          <p:txBody>
            <a:bodyPr/>
            <a:lstStyle/>
            <a:p/>
          </p:txBody>
        </p:sp>
        <p:sp>
          <p:nvSpPr>
            <p:cNvPr id="60" name="Line 60"/>
            <p:cNvSpPr/>
            <p:nvPr/>
          </p:nvSpPr>
          <p:spPr>
            <a:xfrm>
              <a:off x="6567238" y="2117450"/>
              <a:ext cx="0" cy="7348799"/>
            </a:xfrm>
            <a:prstGeom prst="line">
              <a:avLst/>
            </a:prstGeom>
            <a:noFill/>
            <a:ln w="63500">
              <a:solidFill>
                <a:srgbClr val="3C8D76"/>
              </a:solidFill>
            </a:ln>
          </p:spPr>
          <p:txBody>
            <a:bodyPr/>
            <a:lstStyle/>
            <a:p/>
          </p:txBody>
        </p:sp>
        <p:sp>
          <p:nvSpPr>
            <p:cNvPr id="61" name="Line 61"/>
            <p:cNvSpPr/>
            <p:nvPr/>
          </p:nvSpPr>
          <p:spPr>
            <a:xfrm>
              <a:off x="7921784" y="2117450"/>
              <a:ext cx="0" cy="7348799"/>
            </a:xfrm>
            <a:prstGeom prst="line">
              <a:avLst/>
            </a:prstGeom>
            <a:noFill/>
            <a:ln w="63500">
              <a:solidFill>
                <a:srgbClr val="3F7BAD"/>
              </a:solidFill>
            </a:ln>
          </p:spPr>
          <p:txBody>
            <a:bodyPr/>
            <a:lstStyle/>
            <a:p/>
          </p:txBody>
        </p:sp>
        <p:sp>
          <p:nvSpPr>
            <p:cNvPr id="62" name="Line 62"/>
            <p:cNvSpPr/>
            <p:nvPr/>
          </p:nvSpPr>
          <p:spPr>
            <a:xfrm>
              <a:off x="9276329" y="2117450"/>
              <a:ext cx="0" cy="7348799"/>
            </a:xfrm>
            <a:prstGeom prst="line">
              <a:avLst/>
            </a:prstGeom>
            <a:noFill/>
            <a:ln w="63500">
              <a:solidFill>
                <a:srgbClr val="C16A58"/>
              </a:solidFill>
            </a:ln>
          </p:spPr>
          <p:txBody>
            <a:bodyPr/>
            <a:lstStyle/>
            <a:p/>
          </p:txBody>
        </p:sp>
        <p:sp>
          <p:nvSpPr>
            <p:cNvPr id="63" name="Line 63"/>
            <p:cNvSpPr/>
            <p:nvPr/>
          </p:nvSpPr>
          <p:spPr>
            <a:xfrm>
              <a:off x="10630875" y="2117450"/>
              <a:ext cx="0" cy="7348799"/>
            </a:xfrm>
            <a:prstGeom prst="line">
              <a:avLst/>
            </a:prstGeom>
            <a:noFill/>
            <a:ln w="63500">
              <a:solidFill>
                <a:srgbClr val="8561A3"/>
              </a:solidFill>
            </a:ln>
          </p:spPr>
          <p:txBody>
            <a:bodyPr/>
            <a:lstStyle/>
            <a:p/>
          </p:txBody>
        </p:sp>
        <p:sp>
          <p:nvSpPr>
            <p:cNvPr id="64" name="Line 64"/>
            <p:cNvSpPr/>
            <p:nvPr/>
          </p:nvSpPr>
          <p:spPr>
            <a:xfrm>
              <a:off x="11985420" y="2117450"/>
              <a:ext cx="0" cy="7348799"/>
            </a:xfrm>
            <a:prstGeom prst="line">
              <a:avLst/>
            </a:prstGeom>
            <a:noFill/>
            <a:ln w="63500">
              <a:solidFill>
                <a:srgbClr val="3B8791"/>
              </a:solidFill>
            </a:ln>
          </p:spPr>
          <p:txBody>
            <a:bodyPr/>
            <a:lstStyle/>
            <a:p/>
          </p:txBody>
        </p:sp>
        <p:sp>
          <p:nvSpPr>
            <p:cNvPr id="65" name="Ellipse 65"/>
            <p:cNvSpPr/>
            <p:nvPr/>
          </p:nvSpPr>
          <p:spPr>
            <a:xfrm>
              <a:off x="5095921" y="879676"/>
              <a:ext cx="155695" cy="155695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B9832E"/>
              </a:solidFill>
            </a:ln>
          </p:spPr>
          <p:txBody>
            <a:bodyPr/>
            <a:lstStyle/>
            <a:p/>
          </p:txBody>
        </p:sp>
        <p:sp>
          <p:nvSpPr>
            <p:cNvPr id="66" name="Ellipse 66"/>
            <p:cNvSpPr/>
            <p:nvPr/>
          </p:nvSpPr>
          <p:spPr>
            <a:xfrm>
              <a:off x="6450467" y="879676"/>
              <a:ext cx="155695" cy="155695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3C8D76"/>
              </a:solidFill>
            </a:ln>
          </p:spPr>
          <p:txBody>
            <a:bodyPr/>
            <a:lstStyle/>
            <a:p/>
          </p:txBody>
        </p:sp>
        <p:sp>
          <p:nvSpPr>
            <p:cNvPr id="67" name="Ellipse 67"/>
            <p:cNvSpPr/>
            <p:nvPr/>
          </p:nvSpPr>
          <p:spPr>
            <a:xfrm>
              <a:off x="7805012" y="879676"/>
              <a:ext cx="155695" cy="155695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3F7BAD"/>
              </a:solidFill>
            </a:ln>
          </p:spPr>
          <p:txBody>
            <a:bodyPr/>
            <a:lstStyle/>
            <a:p/>
          </p:txBody>
        </p:sp>
        <p:sp>
          <p:nvSpPr>
            <p:cNvPr id="68" name="Ellipse 68"/>
            <p:cNvSpPr/>
            <p:nvPr/>
          </p:nvSpPr>
          <p:spPr>
            <a:xfrm>
              <a:off x="9159558" y="879676"/>
              <a:ext cx="155695" cy="155695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C16A58"/>
              </a:solidFill>
            </a:ln>
          </p:spPr>
          <p:txBody>
            <a:bodyPr/>
            <a:lstStyle/>
            <a:p/>
          </p:txBody>
        </p:sp>
        <p:sp>
          <p:nvSpPr>
            <p:cNvPr id="69" name="Ellipse 69"/>
            <p:cNvSpPr/>
            <p:nvPr/>
          </p:nvSpPr>
          <p:spPr>
            <a:xfrm>
              <a:off x="10514103" y="879676"/>
              <a:ext cx="155695" cy="155695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8561A3"/>
              </a:solidFill>
            </a:ln>
          </p:spPr>
          <p:txBody>
            <a:bodyPr/>
            <a:lstStyle/>
            <a:p/>
          </p:txBody>
        </p:sp>
        <p:sp>
          <p:nvSpPr>
            <p:cNvPr id="70" name="Ellipse 70"/>
            <p:cNvSpPr/>
            <p:nvPr/>
          </p:nvSpPr>
          <p:spPr>
            <a:xfrm>
              <a:off x="11868649" y="879676"/>
              <a:ext cx="155695" cy="155695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3B8791"/>
              </a:solidFill>
            </a:ln>
          </p:spPr>
          <p:txBody>
            <a:bodyPr/>
            <a:lstStyle/>
            <a:p/>
          </p:txBody>
        </p:sp>
        <p:sp>
          <p:nvSpPr>
            <p:cNvPr id="71" name="TextBox 71"/>
            <p:cNvSpPr txBox="1"/>
            <p:nvPr/>
          </p:nvSpPr>
          <p:spPr>
            <a:xfrm>
              <a:off x="3889286" y="171264"/>
              <a:ext cx="7006270" cy="4048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212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Research routes toward recursive self-improvement</a:t>
              </a:r>
              <a:endParaRPr lang="zh-CN" sz="2120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904856" y="560502"/>
              <a:ext cx="7629049" cy="2802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320" b="1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Selected milestones by first public year | Historical roots and the foundation-model era</a:t>
              </a:r>
              <a:endParaRPr lang="zh-CN" sz="1320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613267" y="949739"/>
              <a:ext cx="1121003" cy="4048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310" b="1">
                  <a:solidFill>
                    <a:srgbClr val="B9832E"/>
                  </a:solidFill>
                  <a:latin typeface="PingFang SC"/>
                  <a:ea typeface="PingFang SC"/>
                  <a:cs typeface="PingFang SC"/>
                </a:rPr>
                <a:t>Data &amp;</a:t>
              </a:r>
              <a:endParaRPr lang="zh-CN" sz="1310"/>
            </a:p>
            <a:p>
              <a:pPr algn="ctr"/>
              <a:r>
                <a:rPr lang="zh-CN" sz="1310" b="1">
                  <a:solidFill>
                    <a:srgbClr val="B9832E"/>
                  </a:solidFill>
                  <a:latin typeface="PingFang SC"/>
                  <a:ea typeface="PingFang SC"/>
                  <a:cs typeface="PingFang SC"/>
                </a:rPr>
                <a:t>training</a:t>
              </a:r>
              <a:endParaRPr lang="zh-CN" sz="1310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613267" y="1401254"/>
              <a:ext cx="1121003" cy="4048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Synthetic data</a:t>
              </a:r>
              <a:endParaRPr lang="zh-CN" sz="910"/>
            </a:p>
            <a:p>
              <a:pPr algn="ctr"/>
              <a:r>
                <a:rPr lang="zh-CN"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Persistent updates</a:t>
              </a:r>
              <a:endParaRPr lang="zh-CN" sz="910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967813" y="949739"/>
              <a:ext cx="1121003" cy="4048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310" b="1">
                  <a:solidFill>
                    <a:srgbClr val="3C8D76"/>
                  </a:solidFill>
                  <a:latin typeface="PingFang SC"/>
                  <a:ea typeface="PingFang SC"/>
                  <a:cs typeface="PingFang SC"/>
                </a:rPr>
                <a:t>Tasks &amp;</a:t>
              </a:r>
              <a:endParaRPr lang="zh-CN" sz="1310"/>
            </a:p>
            <a:p>
              <a:pPr algn="ctr"/>
              <a:r>
                <a:rPr lang="zh-CN" sz="1310" b="1">
                  <a:solidFill>
                    <a:srgbClr val="3C8D76"/>
                  </a:solidFill>
                  <a:latin typeface="PingFang SC"/>
                  <a:ea typeface="PingFang SC"/>
                  <a:cs typeface="PingFang SC"/>
                </a:rPr>
                <a:t>curricula</a:t>
              </a:r>
              <a:endParaRPr lang="zh-CN" sz="1310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967813" y="1401254"/>
              <a:ext cx="1121003" cy="4048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819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Task generation</a:t>
              </a:r>
              <a:endParaRPr lang="zh-CN" sz="819"/>
            </a:p>
            <a:p>
              <a:pPr algn="ctr"/>
              <a:r>
                <a:rPr lang="zh-CN" sz="819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Environment feedback</a:t>
              </a:r>
              <a:endParaRPr lang="zh-CN" sz="819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322358" y="949739"/>
              <a:ext cx="1121003" cy="4048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310" b="1">
                  <a:solidFill>
                    <a:srgbClr val="3F7BAD"/>
                  </a:solidFill>
                  <a:latin typeface="PingFang SC"/>
                  <a:ea typeface="PingFang SC"/>
                  <a:cs typeface="PingFang SC"/>
                </a:rPr>
                <a:t>Memory &amp;</a:t>
              </a:r>
              <a:endParaRPr lang="zh-CN" sz="1310"/>
            </a:p>
            <a:p>
              <a:pPr algn="ctr"/>
              <a:r>
                <a:rPr lang="zh-CN" sz="1310" b="1">
                  <a:solidFill>
                    <a:srgbClr val="3F7BAD"/>
                  </a:solidFill>
                  <a:latin typeface="PingFang SC"/>
                  <a:ea typeface="PingFang SC"/>
                  <a:cs typeface="PingFang SC"/>
                </a:rPr>
                <a:t>skills</a:t>
              </a:r>
              <a:endParaRPr lang="zh-CN" sz="1310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322358" y="1401254"/>
              <a:ext cx="1121003" cy="4048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Reflective memory</a:t>
              </a:r>
              <a:endParaRPr lang="zh-CN" sz="910"/>
            </a:p>
            <a:p>
              <a:pPr algn="ctr"/>
              <a:r>
                <a:rPr lang="zh-CN"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Reusable knowledge</a:t>
              </a:r>
              <a:endParaRPr lang="zh-CN" sz="910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676904" y="949739"/>
              <a:ext cx="1121003" cy="4048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310" b="1">
                  <a:solidFill>
                    <a:srgbClr val="C16A58"/>
                  </a:solidFill>
                  <a:latin typeface="PingFang SC"/>
                  <a:ea typeface="PingFang SC"/>
                  <a:cs typeface="PingFang SC"/>
                </a:rPr>
                <a:t>Code &amp;</a:t>
              </a:r>
              <a:endParaRPr lang="zh-CN" sz="1310"/>
            </a:p>
            <a:p>
              <a:pPr algn="ctr"/>
              <a:r>
                <a:rPr lang="zh-CN" sz="1310" b="1">
                  <a:solidFill>
                    <a:srgbClr val="C16A58"/>
                  </a:solidFill>
                  <a:latin typeface="PingFang SC"/>
                  <a:ea typeface="PingFang SC"/>
                  <a:cs typeface="PingFang SC"/>
                </a:rPr>
                <a:t>workflows</a:t>
              </a:r>
              <a:endParaRPr lang="zh-CN" sz="1310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676904" y="1401254"/>
              <a:ext cx="1121003" cy="4048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86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Prompts and code</a:t>
              </a:r>
              <a:endParaRPr lang="zh-CN" sz="860"/>
            </a:p>
            <a:p>
              <a:pPr algn="ctr"/>
              <a:r>
                <a:rPr lang="zh-CN" sz="86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Agent architectures</a:t>
              </a:r>
              <a:endParaRPr lang="zh-CN" sz="860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031449" y="949739"/>
              <a:ext cx="1121003" cy="4048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310" b="1">
                  <a:solidFill>
                    <a:srgbClr val="8561A3"/>
                  </a:solidFill>
                  <a:latin typeface="PingFang SC"/>
                  <a:ea typeface="PingFang SC"/>
                  <a:cs typeface="PingFang SC"/>
                </a:rPr>
                <a:t>Feedback &amp;</a:t>
              </a:r>
              <a:endParaRPr lang="zh-CN" sz="1310"/>
            </a:p>
            <a:p>
              <a:pPr algn="ctr"/>
              <a:r>
                <a:rPr lang="zh-CN" sz="1310" b="1">
                  <a:solidFill>
                    <a:srgbClr val="8561A3"/>
                  </a:solidFill>
                  <a:latin typeface="PingFang SC"/>
                  <a:ea typeface="PingFang SC"/>
                  <a:cs typeface="PingFang SC"/>
                </a:rPr>
                <a:t>judges</a:t>
              </a:r>
              <a:endParaRPr lang="zh-CN" sz="1310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031449" y="1401254"/>
              <a:ext cx="1121003" cy="4048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Learned rewards</a:t>
              </a:r>
              <a:endParaRPr lang="zh-CN" sz="910"/>
            </a:p>
            <a:p>
              <a:pPr algn="ctr"/>
              <a:r>
                <a:rPr lang="zh-CN"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Evaluator learning</a:t>
              </a:r>
              <a:endParaRPr lang="zh-CN" sz="910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385995" y="949739"/>
              <a:ext cx="1121003" cy="4048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310" b="1">
                  <a:solidFill>
                    <a:srgbClr val="3B8791"/>
                  </a:solidFill>
                  <a:latin typeface="PingFang SC"/>
                  <a:ea typeface="PingFang SC"/>
                  <a:cs typeface="PingFang SC"/>
                </a:rPr>
                <a:t>Meta-level</a:t>
              </a:r>
              <a:endParaRPr lang="zh-CN" sz="1310"/>
            </a:p>
            <a:p>
              <a:pPr algn="ctr"/>
              <a:r>
                <a:rPr lang="zh-CN" sz="1310" b="1">
                  <a:solidFill>
                    <a:srgbClr val="3B8791"/>
                  </a:solidFill>
                  <a:latin typeface="PingFang SC"/>
                  <a:ea typeface="PingFang SC"/>
                  <a:cs typeface="PingFang SC"/>
                </a:rPr>
                <a:t>improvement</a:t>
              </a:r>
              <a:endParaRPr lang="zh-CN" sz="1310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385995" y="1401254"/>
              <a:ext cx="1121003" cy="4048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86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Update strategies</a:t>
              </a:r>
              <a:endParaRPr lang="zh-CN" sz="860"/>
            </a:p>
            <a:p>
              <a:pPr algn="ctr"/>
              <a:r>
                <a:rPr lang="zh-CN" sz="86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Research automation</a:t>
              </a:r>
              <a:endParaRPr lang="zh-CN" sz="860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3858147" y="2242006"/>
              <a:ext cx="544932" cy="2335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2026</a:t>
              </a:r>
              <a:endParaRPr lang="zh-CN" sz="1400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3858147" y="3954650"/>
              <a:ext cx="544932" cy="2335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2025</a:t>
              </a:r>
              <a:endParaRPr lang="zh-CN" sz="1400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3858147" y="5667294"/>
              <a:ext cx="544932" cy="2335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2024</a:t>
              </a:r>
              <a:endParaRPr lang="zh-CN" sz="1400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3858147" y="7379938"/>
              <a:ext cx="544932" cy="2335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2023</a:t>
              </a:r>
              <a:endParaRPr lang="zh-CN" sz="1400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3858147" y="9092581"/>
              <a:ext cx="544932" cy="2335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2022</a:t>
              </a:r>
              <a:endParaRPr lang="zh-CN" sz="1400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4613267" y="3643260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SEAL</a:t>
              </a:r>
              <a:endParaRPr lang="zh-CN" sz="1100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4613267" y="3915726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TTRL</a:t>
              </a:r>
              <a:endParaRPr lang="zh-CN" sz="1100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4613267" y="5900836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SCoRe</a:t>
              </a:r>
              <a:endParaRPr lang="zh-CN" sz="1100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4613267" y="5355904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RISE</a:t>
              </a:r>
              <a:endParaRPr lang="zh-CN" sz="1100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4613267" y="5628370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Quiet-Star</a:t>
              </a:r>
              <a:endParaRPr lang="zh-CN" sz="1100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4613267" y="5900836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SPIN</a:t>
              </a:r>
              <a:endParaRPr lang="zh-CN" sz="1100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4613267" y="7068548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ReSTEM</a:t>
              </a:r>
              <a:endParaRPr lang="zh-CN" sz="1100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4613267" y="7341014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ReST</a:t>
              </a:r>
              <a:endParaRPr lang="zh-CN" sz="1100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4613267" y="9326124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Self-Instruct</a:t>
              </a:r>
              <a:endParaRPr lang="zh-CN" sz="1100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4613267" y="8781191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StAR</a:t>
              </a:r>
              <a:endParaRPr lang="zh-CN" sz="1100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5967813" y="3643260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AgentEvolver</a:t>
              </a:r>
              <a:endParaRPr lang="zh-CN" sz="1100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5967813" y="3915726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R-Zero</a:t>
              </a:r>
              <a:endParaRPr lang="zh-CN" sz="1100"/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5967813" y="4188192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Absolute Zero</a:t>
              </a:r>
              <a:endParaRPr lang="zh-CN" sz="1100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5967813" y="5355904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AgentGym</a:t>
              </a:r>
              <a:endParaRPr lang="zh-CN" sz="1100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322358" y="1930617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MetaClaw</a:t>
              </a:r>
              <a:endParaRPr lang="zh-CN" sz="1100"/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322358" y="3915726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98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Dynamic Cheatsheet</a:t>
              </a:r>
              <a:endParaRPr lang="zh-CN" sz="980"/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322358" y="4188192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A-MEM</a:t>
              </a:r>
              <a:endParaRPr lang="zh-CN" sz="1100"/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322358" y="7068548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Expel</a:t>
              </a:r>
              <a:endParaRPr lang="zh-CN" sz="1100"/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322358" y="7341014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Voyager</a:t>
              </a:r>
              <a:endParaRPr lang="zh-CN" sz="1100"/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322358" y="7613480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Reflection</a:t>
              </a:r>
              <a:endParaRPr lang="zh-CN" sz="1100"/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8676904" y="1930617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Prime Agent</a:t>
              </a:r>
              <a:endParaRPr lang="zh-CN" sz="1100"/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676904" y="3915726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GEPA</a:t>
              </a:r>
              <a:endParaRPr lang="zh-CN" sz="1100"/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8676904" y="4188192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DGM</a:t>
              </a:r>
              <a:endParaRPr lang="zh-CN" sz="1100"/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8676904" y="3643260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SICA</a:t>
              </a:r>
              <a:endParaRPr lang="zh-CN" sz="1100"/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8676904" y="5628370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AFlow</a:t>
              </a:r>
              <a:endParaRPr lang="zh-CN" sz="1100"/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8676904" y="5900836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ADAS</a:t>
              </a:r>
              <a:endParaRPr lang="zh-CN" sz="1100"/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8676904" y="5355904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TextGrad</a:t>
              </a:r>
              <a:endParaRPr lang="zh-CN" sz="1100"/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8676904" y="7341014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DSPy</a:t>
              </a:r>
              <a:endParaRPr lang="zh-CN" sz="1100"/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8676904" y="7613480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OPRO</a:t>
              </a:r>
              <a:endParaRPr lang="zh-CN" sz="1100"/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0031449" y="3643260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8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Process Self-Rewarding</a:t>
              </a:r>
              <a:endParaRPr lang="zh-CN" sz="800"/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0031449" y="5628370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CREAM</a:t>
              </a:r>
              <a:endParaRPr lang="zh-CN" sz="1100"/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0031449" y="5900836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8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Self-Taught Evaluators</a:t>
              </a:r>
              <a:endParaRPr lang="zh-CN" sz="800"/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0031449" y="5355904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Meta-Rewarding</a:t>
              </a:r>
              <a:endParaRPr lang="zh-CN" sz="1100"/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0031449" y="5628370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Self-Rewarding</a:t>
              </a:r>
              <a:endParaRPr lang="zh-CN" sz="1100"/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0031449" y="7613480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CRITIC</a:t>
              </a:r>
              <a:endParaRPr lang="zh-CN" sz="1100"/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0031449" y="8781191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04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Constitutional AI</a:t>
              </a:r>
              <a:endParaRPr lang="zh-CN" sz="1040"/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1385995" y="1930617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Meta^n</a:t>
              </a:r>
              <a:endParaRPr lang="zh-CN" sz="1100"/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1385995" y="2203083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88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Bilevel Autoresearch</a:t>
              </a:r>
              <a:endParaRPr lang="zh-CN" sz="880"/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1385995" y="2475549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Hyperagents</a:t>
              </a:r>
              <a:endParaRPr lang="zh-CN" sz="1100"/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1385995" y="3643260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AlphaEvolve</a:t>
              </a:r>
              <a:endParaRPr lang="zh-CN" sz="1100"/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1385995" y="3915726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AI Scientist-v2</a:t>
              </a:r>
              <a:endParaRPr lang="zh-CN" sz="1100"/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11385995" y="5900836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AI Scientist</a:t>
              </a:r>
              <a:endParaRPr lang="zh-CN" sz="1100"/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11385995" y="7068548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STOP</a:t>
              </a:r>
              <a:endParaRPr lang="zh-CN" sz="1100"/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11385995" y="7341014"/>
              <a:ext cx="1198851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Promptbreeder</a:t>
              </a:r>
              <a:endParaRPr lang="zh-CN" sz="1100"/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4589913" y="9808778"/>
              <a:ext cx="2335423" cy="186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◫   2003 | Gödel Machine</a:t>
              </a:r>
              <a:endParaRPr lang="zh-CN" sz="1100"/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7081031" y="9808778"/>
              <a:ext cx="2568966" cy="186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◉   2016 | Learned optimizers</a:t>
              </a:r>
              <a:endParaRPr lang="zh-CN" sz="1100"/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10039234" y="9808778"/>
              <a:ext cx="1946186" cy="186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▣   2019 | POET</a:t>
              </a:r>
              <a:endParaRPr lang="zh-CN" sz="1100"/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5134845" y="10042320"/>
              <a:ext cx="6383490" cy="1712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90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Marks: selected affiliations | Branches: research routes, not technical ancestry</a:t>
              </a:r>
              <a:endParaRPr lang="zh-CN" sz="900"/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3686883" y="10742947"/>
              <a:ext cx="9263846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750" b="1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>Figure 4. Research routes toward recursive self-improvement. Forty-five representative method papers are grouped into six research routes, with three historical anchors shown separately.</a:t>
              </a:r>
              <a:endParaRPr lang="zh-CN" sz="750"/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3686883" y="11046552"/>
              <a:ext cx="9263846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880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>Year bands use the first public dates in the checked source records; spacing within each band is adjusted for legibility. Branch lines denote research families.</a:t>
              </a:r>
              <a:endParaRPr lang="zh-CN" sz="880"/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3686883" y="11350157"/>
              <a:ext cx="9263846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819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>Technical ancestry, cross-route transfer, and sustained recursive gains require separate evidence. The selection reflects the literature search through September 12, 2026.</a:t>
              </a:r>
              <a:endParaRPr lang="zh-CN" sz="819"/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3686883" y="11653762"/>
              <a:ext cx="9263846" cy="264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840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>Logos identify one selected author or work-done affiliation per study; “Ind.” denotes independent researchers. Affiliation and logo sources are documented separately.</a:t>
              </a:r>
              <a:endParaRPr lang="zh-CN" sz="84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-remaining-components"/>
          <p:cNvGrpSpPr/>
          <p:nvPr/>
        </p:nvGrpSpPr>
        <p:grpSpPr>
          <a:xfrm>
            <a:off x="0" y="0"/>
            <a:ext cx="15240000" cy="8572500"/>
            <a:chOff x="0" y="0"/>
            <a:chExt cx="15240000" cy="8572500"/>
          </a:xfrm>
        </p:grpSpPr>
        <p:sp>
          <p:nvSpPr>
            <p:cNvPr id="2" name="Rect 2"/>
            <p:cNvSpPr/>
            <p:nvPr/>
          </p:nvSpPr>
          <p:spPr>
            <a:xfrm>
              <a:off x="1879505" y="307375"/>
              <a:ext cx="3232734" cy="8394510"/>
            </a:xfrm>
            <a:prstGeom prst="rect">
              <a:avLst/>
            </a:prstGeom>
            <a:solidFill>
              <a:srgbClr val="F4F4D9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3" name="Rect 3"/>
            <p:cNvSpPr/>
            <p:nvPr/>
          </p:nvSpPr>
          <p:spPr>
            <a:xfrm>
              <a:off x="5101641" y="307375"/>
              <a:ext cx="3232734" cy="8394510"/>
            </a:xfrm>
            <a:prstGeom prst="rect">
              <a:avLst/>
            </a:prstGeom>
            <a:solidFill>
              <a:srgbClr val="E1F1DF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4" name="Rect 4"/>
            <p:cNvSpPr/>
            <p:nvPr/>
          </p:nvSpPr>
          <p:spPr>
            <a:xfrm>
              <a:off x="8334375" y="307375"/>
              <a:ext cx="3232734" cy="8394510"/>
            </a:xfrm>
            <a:prstGeom prst="rect">
              <a:avLst/>
            </a:prstGeom>
            <a:solidFill>
              <a:srgbClr val="D8F0F2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5" name="Rect 5"/>
            <p:cNvSpPr/>
            <p:nvPr/>
          </p:nvSpPr>
          <p:spPr>
            <a:xfrm>
              <a:off x="11567109" y="307375"/>
              <a:ext cx="3232734" cy="8394510"/>
            </a:xfrm>
            <a:prstGeom prst="rect">
              <a:avLst/>
            </a:prstGeom>
            <a:solidFill>
              <a:srgbClr val="E9E3F1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6" name="Line 6"/>
            <p:cNvSpPr/>
            <p:nvPr/>
          </p:nvSpPr>
          <p:spPr>
            <a:xfrm>
              <a:off x="1879505" y="5066384"/>
              <a:ext cx="12909740" cy="0"/>
            </a:xfrm>
            <a:prstGeom prst="line">
              <a:avLst/>
            </a:prstGeom>
            <a:noFill/>
            <a:ln w="19050">
              <a:solidFill>
                <a:srgbClr val="C8C8C8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7" name="Roundrect 7"/>
            <p:cNvSpPr/>
            <p:nvPr/>
          </p:nvSpPr>
          <p:spPr>
            <a:xfrm>
              <a:off x="2070290" y="551155"/>
              <a:ext cx="2851166" cy="3762691"/>
            </a:xfrm>
            <a:prstGeom prst="roundRect">
              <a:avLst>
                <a:gd name="adj" fmla="val 7435"/>
              </a:avLst>
            </a:prstGeom>
            <a:noFill/>
            <a:ln w="25400">
              <a:solidFill>
                <a:srgbClr val="222222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8" name="Roundrect 8"/>
            <p:cNvSpPr/>
            <p:nvPr/>
          </p:nvSpPr>
          <p:spPr>
            <a:xfrm>
              <a:off x="2070290" y="5670534"/>
              <a:ext cx="2851166" cy="1886645"/>
            </a:xfrm>
            <a:prstGeom prst="roundRect">
              <a:avLst>
                <a:gd name="adj" fmla="val 11236"/>
              </a:avLst>
            </a:prstGeom>
            <a:noFill/>
            <a:ln w="25400">
              <a:solidFill>
                <a:srgbClr val="222222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9" name="Roundrect 9"/>
            <p:cNvSpPr/>
            <p:nvPr/>
          </p:nvSpPr>
          <p:spPr>
            <a:xfrm>
              <a:off x="5292425" y="551155"/>
              <a:ext cx="2851166" cy="3762691"/>
            </a:xfrm>
            <a:prstGeom prst="roundRect">
              <a:avLst>
                <a:gd name="adj" fmla="val 7435"/>
              </a:avLst>
            </a:prstGeom>
            <a:noFill/>
            <a:ln w="25400">
              <a:solidFill>
                <a:srgbClr val="222222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10" name="Roundrect 10"/>
            <p:cNvSpPr/>
            <p:nvPr/>
          </p:nvSpPr>
          <p:spPr>
            <a:xfrm>
              <a:off x="5292425" y="5670534"/>
              <a:ext cx="2851166" cy="1886645"/>
            </a:xfrm>
            <a:prstGeom prst="roundRect">
              <a:avLst>
                <a:gd name="adj" fmla="val 11236"/>
              </a:avLst>
            </a:prstGeom>
            <a:noFill/>
            <a:ln w="25400">
              <a:solidFill>
                <a:srgbClr val="222222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11" name="Roundrect 11"/>
            <p:cNvSpPr/>
            <p:nvPr/>
          </p:nvSpPr>
          <p:spPr>
            <a:xfrm>
              <a:off x="8525159" y="551155"/>
              <a:ext cx="2851166" cy="3762691"/>
            </a:xfrm>
            <a:prstGeom prst="roundRect">
              <a:avLst>
                <a:gd name="adj" fmla="val 7435"/>
              </a:avLst>
            </a:prstGeom>
            <a:noFill/>
            <a:ln w="25400">
              <a:solidFill>
                <a:srgbClr val="222222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12" name="Roundrect 12"/>
            <p:cNvSpPr/>
            <p:nvPr/>
          </p:nvSpPr>
          <p:spPr>
            <a:xfrm>
              <a:off x="8525159" y="5670534"/>
              <a:ext cx="2851166" cy="1886645"/>
            </a:xfrm>
            <a:prstGeom prst="roundRect">
              <a:avLst>
                <a:gd name="adj" fmla="val 11236"/>
              </a:avLst>
            </a:prstGeom>
            <a:noFill/>
            <a:ln w="25400">
              <a:solidFill>
                <a:srgbClr val="222222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13" name="Roundrect 13"/>
            <p:cNvSpPr/>
            <p:nvPr/>
          </p:nvSpPr>
          <p:spPr>
            <a:xfrm>
              <a:off x="11757894" y="551155"/>
              <a:ext cx="2851166" cy="3762691"/>
            </a:xfrm>
            <a:prstGeom prst="roundRect">
              <a:avLst>
                <a:gd name="adj" fmla="val 7435"/>
              </a:avLst>
            </a:prstGeom>
            <a:noFill/>
            <a:ln w="25400">
              <a:solidFill>
                <a:srgbClr val="222222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14" name="Roundrect 14"/>
            <p:cNvSpPr/>
            <p:nvPr/>
          </p:nvSpPr>
          <p:spPr>
            <a:xfrm>
              <a:off x="11757894" y="5670534"/>
              <a:ext cx="2851166" cy="1886645"/>
            </a:xfrm>
            <a:prstGeom prst="roundRect">
              <a:avLst>
                <a:gd name="adj" fmla="val 11236"/>
              </a:avLst>
            </a:prstGeom>
            <a:noFill/>
            <a:ln w="25400">
              <a:solidFill>
                <a:srgbClr val="222222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15" name="Line 15"/>
            <p:cNvSpPr/>
            <p:nvPr/>
          </p:nvSpPr>
          <p:spPr>
            <a:xfrm>
              <a:off x="3490573" y="4345643"/>
              <a:ext cx="0" cy="1250697"/>
            </a:xfrm>
            <a:prstGeom prst="line">
              <a:avLst/>
            </a:prstGeom>
            <a:noFill/>
            <a:ln w="50800">
              <a:solidFill>
                <a:srgbClr val="55555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16" name="Line 16"/>
            <p:cNvSpPr/>
            <p:nvPr/>
          </p:nvSpPr>
          <p:spPr>
            <a:xfrm>
              <a:off x="6723307" y="4345643"/>
              <a:ext cx="0" cy="1250697"/>
            </a:xfrm>
            <a:prstGeom prst="line">
              <a:avLst/>
            </a:prstGeom>
            <a:noFill/>
            <a:ln w="50800">
              <a:solidFill>
                <a:srgbClr val="55555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17" name="Line 17"/>
            <p:cNvSpPr/>
            <p:nvPr/>
          </p:nvSpPr>
          <p:spPr>
            <a:xfrm>
              <a:off x="9956042" y="4345643"/>
              <a:ext cx="0" cy="1250697"/>
            </a:xfrm>
            <a:prstGeom prst="line">
              <a:avLst/>
            </a:prstGeom>
            <a:noFill/>
            <a:ln w="50800">
              <a:solidFill>
                <a:srgbClr val="D18D2F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18" name="Line 18"/>
            <p:cNvSpPr/>
            <p:nvPr/>
          </p:nvSpPr>
          <p:spPr>
            <a:xfrm>
              <a:off x="13188776" y="4345643"/>
              <a:ext cx="0" cy="1250697"/>
            </a:xfrm>
            <a:prstGeom prst="line">
              <a:avLst/>
            </a:prstGeom>
            <a:noFill/>
            <a:ln w="50800">
              <a:solidFill>
                <a:srgbClr val="7070B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19" name="Line 19"/>
            <p:cNvSpPr/>
            <p:nvPr/>
          </p:nvSpPr>
          <p:spPr>
            <a:xfrm>
              <a:off x="3501172" y="4324445"/>
              <a:ext cx="0" cy="1240098"/>
            </a:xfrm>
            <a:prstGeom prst="line">
              <a:avLst/>
            </a:prstGeom>
            <a:noFill/>
            <a:ln w="50800">
              <a:solidFill>
                <a:srgbClr val="555555"/>
              </a:solidFill>
              <a:tailEnd type="none"/>
            </a:ln>
          </p:spPr>
          <p:txBody>
            <a:bodyPr/>
            <a:lstStyle/>
            <a:p/>
          </p:txBody>
        </p:sp>
        <p:pic>
          <p:nvPicPr>
            <p:cNvPr id="20" name="answer document revision icon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706237" y="1695861"/>
              <a:ext cx="2035033" cy="1187102"/>
            </a:xfrm>
            <a:prstGeom prst="rect">
              <a:avLst/>
            </a:prstGeom>
          </p:spPr>
        </p:pic>
        <p:pic>
          <p:nvPicPr>
            <p:cNvPr id="21" name="memory document stack icon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5748187" y="1589869"/>
              <a:ext cx="1801852" cy="1536874"/>
            </a:xfrm>
            <a:prstGeom prst="rect">
              <a:avLst/>
            </a:prstGeom>
          </p:spPr>
        </p:pic>
        <p:pic>
          <p:nvPicPr>
            <p:cNvPr id="22" name="parameter neural network icon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8949125" y="1579270"/>
              <a:ext cx="2268214" cy="1293094"/>
            </a:xfrm>
            <a:prstGeom prst="rect">
              <a:avLst/>
            </a:prstGeom>
          </p:spPr>
        </p:pic>
        <p:pic>
          <p:nvPicPr>
            <p:cNvPr id="23" name="improver procedure graph icon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12160661" y="1642865"/>
              <a:ext cx="1854848" cy="1165904"/>
            </a:xfrm>
            <a:prstGeom prst="rect">
              <a:avLst/>
            </a:prstGeom>
          </p:spPr>
        </p:pic>
        <p:pic>
          <p:nvPicPr>
            <p:cNvPr id="24" name="solver network icon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2674440" y="6147495"/>
              <a:ext cx="1801852" cy="826732"/>
            </a:xfrm>
            <a:prstGeom prst="rect">
              <a:avLst/>
            </a:prstGeom>
          </p:spPr>
        </p:pic>
        <p:pic>
          <p:nvPicPr>
            <p:cNvPr id="25" name="solver plus memory icon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5822381" y="6105099"/>
              <a:ext cx="1695861" cy="826732"/>
            </a:xfrm>
            <a:prstGeom prst="rect">
              <a:avLst/>
            </a:prstGeom>
          </p:spPr>
        </p:pic>
        <p:pic>
          <p:nvPicPr>
            <p:cNvPr id="26" name="updated parameter matrix icon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9076314" y="6083900"/>
              <a:ext cx="1907843" cy="953922"/>
            </a:xfrm>
            <a:prstGeom prst="rect">
              <a:avLst/>
            </a:prstGeom>
          </p:spPr>
        </p:pic>
        <p:pic>
          <p:nvPicPr>
            <p:cNvPr id="27" name="next update process icon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12139462" y="6083900"/>
              <a:ext cx="1748856" cy="847930"/>
            </a:xfrm>
            <a:prstGeom prst="rect">
              <a:avLst/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2176281" y="476961"/>
              <a:ext cx="2596787" cy="5829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Answer</a:t>
              </a:r>
              <a:endParaRPr lang="zh-CN" sz="310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76281" y="1123508"/>
              <a:ext cx="2596787" cy="4027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Revise within one task</a:t>
              </a:r>
              <a:endParaRPr lang="zh-CN" sz="130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98416" y="476961"/>
              <a:ext cx="2596787" cy="5829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Memory</a:t>
              </a:r>
              <a:endParaRPr lang="zh-CN" sz="3100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98416" y="1123508"/>
              <a:ext cx="2596787" cy="4027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8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Accumulate experience</a:t>
              </a:r>
              <a:endParaRPr lang="zh-CN" sz="180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31151" y="476961"/>
              <a:ext cx="2596787" cy="5829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Parameters</a:t>
              </a:r>
              <a:endParaRPr lang="zh-CN" sz="310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31151" y="1123508"/>
              <a:ext cx="2596787" cy="4027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Learn weights $\theta_t$</a:t>
              </a:r>
              <a:endParaRPr lang="zh-CN" sz="1300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863885" y="476961"/>
              <a:ext cx="2596787" cy="5829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Improver</a:t>
              </a:r>
              <a:endParaRPr lang="zh-CN" sz="310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863885" y="1123508"/>
              <a:ext cx="2596787" cy="4027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Revise the update process</a:t>
              </a:r>
              <a:endParaRPr lang="zh-CN" sz="130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94255" y="2702778"/>
              <a:ext cx="741939" cy="360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y_k</a:t>
              </a:r>
              <a:endParaRPr lang="zh-CN" sz="2300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882741" y="2702778"/>
              <a:ext cx="1059913" cy="360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16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y_{k+1}</a:t>
              </a:r>
              <a:endParaRPr lang="zh-CN" sz="116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494255" y="3603704"/>
              <a:ext cx="2172822" cy="339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900" b="1">
                  <a:solidFill>
                    <a:srgbClr val="606060"/>
                  </a:solidFill>
                  <a:latin typeface="Cambria"/>
                  <a:ea typeface="Cambria"/>
                  <a:cs typeface="Cambria"/>
                </a:rPr>
                <a:t>check → revise</a:t>
              </a:r>
              <a:endParaRPr lang="zh-CN" sz="190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50475" y="5776525"/>
              <a:ext cx="2596787" cy="370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Same solver</a:t>
              </a:r>
              <a:endParaRPr lang="zh-CN" sz="2200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303470" y="7143813"/>
              <a:ext cx="2490795" cy="3179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700" i="1">
                  <a:solidFill>
                    <a:srgbClr val="696969"/>
                  </a:solidFill>
                  <a:latin typeface="Cambria"/>
                  <a:ea typeface="Cambria"/>
                  <a:cs typeface="Cambria"/>
                </a:rPr>
                <a:t>Future task</a:t>
              </a:r>
              <a:endParaRPr lang="zh-CN" sz="170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197479" y="7578377"/>
              <a:ext cx="2649782" cy="6571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(a) Local revision</a:t>
              </a:r>
              <a:endParaRPr lang="zh-CN" sz="212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440813" y="7578377"/>
              <a:ext cx="2649782" cy="6571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(b) Memory retention</a:t>
              </a:r>
              <a:endParaRPr lang="zh-CN" sz="2120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15944" y="7578377"/>
              <a:ext cx="2649782" cy="6571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(c) Parameter learning</a:t>
              </a:r>
              <a:endParaRPr lang="zh-CN" sz="212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948678" y="7578377"/>
              <a:ext cx="2649782" cy="6571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(d) Improver update</a:t>
              </a:r>
              <a:endParaRPr lang="zh-CN" sz="2120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430214" y="3921678"/>
              <a:ext cx="2543791" cy="360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300" i="1">
                  <a:solidFill>
                    <a:srgbClr val="656565"/>
                  </a:solidFill>
                  <a:latin typeface="Cambria"/>
                  <a:ea typeface="Cambria"/>
                  <a:cs typeface="Cambria"/>
                </a:rPr>
                <a:t>M_t → M_{t+1}</a:t>
              </a:r>
              <a:endParaRPr lang="zh-CN" sz="2300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377218" y="5776525"/>
              <a:ext cx="2649782" cy="370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Solver + memory</a:t>
              </a:r>
              <a:endParaRPr lang="zh-CN" sz="220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07174" y="7048421"/>
              <a:ext cx="1801852" cy="360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M_{t+1}</a:t>
              </a:r>
              <a:endParaRPr lang="zh-CN" sz="2300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74931" y="3964074"/>
              <a:ext cx="2649782" cy="360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θ_{t+1}</a:t>
              </a:r>
              <a:endParaRPr lang="zh-CN" sz="2300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09952" y="5776525"/>
              <a:ext cx="2649782" cy="370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Updated model</a:t>
              </a:r>
              <a:endParaRPr lang="zh-CN" sz="220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33918" y="7048421"/>
              <a:ext cx="1801852" cy="360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θ_{t+1}</a:t>
              </a:r>
              <a:endParaRPr lang="zh-CN" sz="2300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842687" y="2670981"/>
              <a:ext cx="741939" cy="360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I_t</a:t>
              </a:r>
              <a:endParaRPr lang="zh-CN" sz="2300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2902600" y="2861765"/>
              <a:ext cx="1589869" cy="5087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800" i="1">
                  <a:solidFill>
                    <a:srgbClr val="606060"/>
                  </a:solidFill>
                  <a:latin typeface="Cambria"/>
                  <a:ea typeface="Cambria"/>
                  <a:cs typeface="Cambria"/>
                </a:rPr>
                <a:t>revise / test</a:t>
              </a:r>
              <a:endParaRPr lang="zh-CN" sz="180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683700" y="5776525"/>
              <a:ext cx="2967756" cy="370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Next update process</a:t>
              </a:r>
              <a:endParaRPr lang="zh-CN" sz="2000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2213656" y="7048421"/>
              <a:ext cx="2119826" cy="360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160" i="1">
                  <a:solidFill>
                    <a:srgbClr val="555555"/>
                  </a:solidFill>
                  <a:latin typeface="Cambria"/>
                  <a:ea typeface="Cambria"/>
                  <a:cs typeface="Cambria"/>
                </a:rPr>
                <a:t>I_{t+1}    ΔS_{t+1}</a:t>
              </a:r>
              <a:endParaRPr lang="zh-CN" sz="1160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73079" y="4451634"/>
              <a:ext cx="847930" cy="2755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retain</a:t>
              </a:r>
              <a:endParaRPr lang="zh-CN" sz="1700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58809" y="4451634"/>
              <a:ext cx="847930" cy="2755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retain</a:t>
              </a:r>
              <a:endParaRPr lang="zh-CN" sz="1700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204396" y="4557626"/>
              <a:ext cx="1801852" cy="370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0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⊥  local only</a:t>
              </a:r>
              <a:endParaRPr lang="zh-CN" sz="2000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176281" y="5257168"/>
              <a:ext cx="1377887" cy="2967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later reuse</a:t>
              </a:r>
              <a:endParaRPr lang="zh-CN" sz="1700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027893" y="8903269"/>
              <a:ext cx="12634162" cy="3179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Figure 6. What survives a round of improvement? Four patterns distinguished by the state carried forward. (a) Local checking </a:t>
              </a:r>
              <a:endParaRPr lang="zh-CN" sz="1500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027893" y="9231842"/>
              <a:ext cx="12634162" cy="3179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and revision change an answer without retaining a change to the solver. (b) Memory M is retained while the model parameters a</a:t>
              </a:r>
              <a:endParaRPr lang="zh-CN" sz="1400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027893" y="9560415"/>
              <a:ext cx="12634162" cy="3179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nd the chosen update procedure are held fixed. (c) Parameters θ are updated under a fixed training procedure. (d) An accepted</a:t>
              </a:r>
              <a:endParaRPr lang="zh-CN" sz="1400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027893" y="9888988"/>
              <a:ext cx="12634162" cy="3179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 change to the improver I is retained and governs a subsequent task-system update ΔS_{t+1}. The horizontal gray dashed line s</a:t>
              </a:r>
              <a:endParaRPr lang="zh-CN" sz="1400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027893" y="10217561"/>
              <a:ext cx="12634162" cy="3179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eparates current-task or current-round processing from later reuse. Black dashed enclosures group components. Colored arrows </a:t>
              </a:r>
              <a:endParaRPr lang="zh-CN" sz="1400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027893" y="10546134"/>
              <a:ext cx="12634162" cy="3179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denote retained updates, and a capped line denotes a change that is not carried forward. Networks, memory stacks, and procedu</a:t>
              </a:r>
              <a:endParaRPr lang="zh-CN" sz="1400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027893" y="10874707"/>
              <a:ext cx="12634162" cy="3179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re graphs are schematic representations. Solver and improver are functional roles that may share an implementation. These ana</a:t>
              </a:r>
              <a:endParaRPr lang="zh-CN" sz="1400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027893" y="11203280"/>
              <a:ext cx="12634162" cy="3179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lytical patterns may coexist and do not form a capability ranking; persistent or meta-level changes alone do not establish su</a:t>
              </a:r>
              <a:endParaRPr lang="zh-CN" sz="1400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027893" y="11531853"/>
              <a:ext cx="12634162" cy="3179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stained recursive gains.</a:t>
              </a:r>
              <a:endParaRPr lang="zh-CN" sz="14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5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