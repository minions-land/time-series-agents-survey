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84023e04a451e" /><Relationship Type="http://schemas.openxmlformats.org/officeDocument/2006/relationships/extended-properties" Target="/docProps/app.xml" Id="Reb4123275c4c4745" /><Relationship Type="http://schemas.openxmlformats.org/officeDocument/2006/relationships/officeDocument" Target="/ppt/presentation.xml" Id="Rf0ce2a38e42f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6" r:id="R54915f8901d443b8"/>
    <p:sldId xmlns:r="http://schemas.openxmlformats.org/officeDocument/2006/relationships" id="257" r:id="R6aa49fdddf3b4460"/>
    <p:sldId xmlns:r="http://schemas.openxmlformats.org/officeDocument/2006/relationships" id="258" r:id="R902aab6081964fb3"/>
    <p:sldId xmlns:r="http://schemas.openxmlformats.org/officeDocument/2006/relationships" id="259" r:id="R295e926074ca4850"/>
    <p:sldId xmlns:r="http://schemas.openxmlformats.org/officeDocument/2006/relationships" id="260" r:id="Rb133d938fb00488e"/>
    <p:sldId xmlns:r="http://schemas.openxmlformats.org/officeDocument/2006/relationships" id="261" r:id="R907ab7b78eea41e1"/>
    <p:sldId xmlns:r="http://schemas.openxmlformats.org/officeDocument/2006/relationships" id="262" r:id="Rca86d5457666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0973d64ed4496" /><Relationship Type="http://schemas.openxmlformats.org/officeDocument/2006/relationships/slideMaster" Target="/ppt/slideMasters/slideMaster1.xml" Id="Rf6b885dc477b4b4b" /><Relationship Type="http://schemas.openxmlformats.org/officeDocument/2006/relationships/notesMaster" Target="/ppt/notesMasters/notesMaster1.xml" Id="R3057d2ddd8a74048" /><Relationship Type="http://schemas.openxmlformats.org/officeDocument/2006/relationships/presProps" Target="/ppt/presProps.xml" Id="R96037460a2744a7e" /><Relationship Type="http://schemas.openxmlformats.org/officeDocument/2006/relationships/tableStyles" Target="/ppt/tableStyles.xml" Id="Rebc202c8e2c54268" /><Relationship Type="http://schemas.openxmlformats.org/officeDocument/2006/relationships/slide" Target="/ppt/slides/slide1.xml" Id="R54915f8901d443b8" /><Relationship Type="http://schemas.openxmlformats.org/officeDocument/2006/relationships/slide" Target="/ppt/slides/slide2.xml" Id="R6aa49fdddf3b4460" /><Relationship Type="http://schemas.openxmlformats.org/officeDocument/2006/relationships/slide" Target="/ppt/slides/slide3.xml" Id="R902aab6081964fb3" /><Relationship Type="http://schemas.openxmlformats.org/officeDocument/2006/relationships/slide" Target="/ppt/slides/slide4.xml" Id="R295e926074ca4850" /><Relationship Type="http://schemas.openxmlformats.org/officeDocument/2006/relationships/slide" Target="/ppt/slides/slide5.xml" Id="Rb133d938fb00488e" /><Relationship Type="http://schemas.openxmlformats.org/officeDocument/2006/relationships/slide" Target="/ppt/slides/slide6.xml" Id="R907ab7b78eea41e1" /><Relationship Type="http://schemas.openxmlformats.org/officeDocument/2006/relationships/slide" Target="/ppt/slides/slide7.xml" Id="Rca86d5457666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a3cd93dbb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e830d0ccc4397" /><Relationship Type="http://schemas.openxmlformats.org/officeDocument/2006/relationships/notesMaster" Target="/ppt/notesMasters/notesMaster1.xml" Id="R04c57a0243a0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37e7857c4b4509" /><Relationship Type="http://schemas.openxmlformats.org/officeDocument/2006/relationships/notesMaster" Target="/ppt/notesMasters/notesMaster1.xml" Id="R7bd14335ca0a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6685cbc104568" /><Relationship Type="http://schemas.openxmlformats.org/officeDocument/2006/relationships/notesMaster" Target="/ppt/notesMasters/notesMaster1.xml" Id="R9f78db03d7d0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955034bd14466" /><Relationship Type="http://schemas.openxmlformats.org/officeDocument/2006/relationships/notesMaster" Target="/ppt/notesMasters/notesMaster1.xml" Id="R1abcb708d855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0a96bf51b495e" /><Relationship Type="http://schemas.openxmlformats.org/officeDocument/2006/relationships/notesMaster" Target="/ppt/notesMasters/notesMaster1.xml" Id="Re7de0e24d8d149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18685ad74e4e2f" /><Relationship Type="http://schemas.openxmlformats.org/officeDocument/2006/relationships/notesMaster" Target="/ppt/notesMasters/notesMaster1.xml" Id="R1c9fffde7abc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d4fb6041704cbe" /><Relationship Type="http://schemas.openxmlformats.org/officeDocument/2006/relationships/notesMaster" Target="/ppt/notesMasters/notesMaster1.xml" Id="R7fd49c8f8afb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c680c6efd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c2e13b8834b06" /><Relationship Type="http://schemas.openxmlformats.org/officeDocument/2006/relationships/slideLayout" Target="/ppt/slideLayouts/slideLayout1.xml" Id="R22619ecc912b46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81980895e41c3" /><Relationship Type="http://schemas.openxmlformats.org/officeDocument/2006/relationships/notesSlide" Target="/ppt/notesSlides/notesSlide1.xml" Id="R484ca769fe28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0c344bc254f3d" /><Relationship Type="http://schemas.openxmlformats.org/officeDocument/2006/relationships/notesSlide" Target="/ppt/notesSlides/notesSlide2.xml" Id="R349e970aa901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954a361c449f1" /><Relationship Type="http://schemas.openxmlformats.org/officeDocument/2006/relationships/notesSlide" Target="/ppt/notesSlides/notesSlide3.xml" Id="Reb97953297a7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5696b01341d3" /><Relationship Type="http://schemas.openxmlformats.org/officeDocument/2006/relationships/notesSlide" Target="/ppt/notesSlides/notesSlide4.xml" Id="Rb4fcd4002b9649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1f10098c4f1b" /><Relationship Type="http://schemas.openxmlformats.org/officeDocument/2006/relationships/notesSlide" Target="/ppt/notesSlides/notesSlide5.xml" Id="R4c16d645d2cd4a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502dd0bfe4094" /><Relationship Type="http://schemas.openxmlformats.org/officeDocument/2006/relationships/notesSlide" Target="/ppt/notesSlides/notesSlide6.xml" Id="R062f66a01e29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ca34047e4c7e" /><Relationship Type="http://schemas.openxmlformats.org/officeDocument/2006/relationships/notesSlide" Target="/ppt/notesSlides/notesSlide7.xml" Id="Ref4d66a35d7042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CF2C89CE-66B0-49DA-9A77-4E18D23055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0"/>
              <a:ext cx="1714500" cy="685800"/>
            </a:xfrm>
            <a:prstGeom xmlns:a="http://schemas.openxmlformats.org/drawingml/2006/main" prst="roundRect">
              <a:avLst>
                <a:gd name="adj" fmla="val 1111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061C27B-6B60-49BE-BD9C-FF4A518F75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762250"/>
              <a:ext cx="1524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7AE1AAE-6DEA-46F6-98B0-C33C4388EA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067050"/>
              <a:ext cx="1485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CF9884F-6AC9-4561-8A28-901988FBF5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1666875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616D2BF-919F-4B5C-8E1F-654F525AE9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1762125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22BDD841-E115-4A60-94CB-C257CA9D38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2066925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776DC2D5-2AB5-4808-8FDB-15EBAFA13F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3714750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50E9D9D8-A9B5-4D9F-8753-74F9626A84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38100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Time-series evol-instruct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B47E9688-1A56-4DDA-9502-67D6705F3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4114800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1C962D4-03E0-4E9A-9FE9-02C6E033A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6670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1C92E4B-2F9A-4512-90FF-0041352FCA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27622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372F32-5209-4F01-A38F-E317D3C22D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86550" y="3067050"/>
              <a:ext cx="18669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series + language supervision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556E85D-FE74-4E05-83E2-B044BE6ADC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667000"/>
              <a:ext cx="1619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3031705-A295-40F6-B115-84E8F4C15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7622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2560D73-9E0F-4247-A7CF-591968B01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3067050"/>
              <a:ext cx="13906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381250" y="2143125"/>
              <a:ext cx="857250" cy="866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1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2381250" y="3009900"/>
              <a:ext cx="857250" cy="11811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4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5429250" y="2143125"/>
              <a:ext cx="1143000" cy="10001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5429250" y="3143250"/>
              <a:ext cx="1143000" cy="1047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667750" y="3143250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E2055AAA-072A-49BB-BA14-FA9B26DD1E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238250"/>
              <a:ext cx="619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6589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02403A-11EC-4563-A764-C6F6D30F41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0E239C36-9177-4B18-A0F6-5966ABDFB7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Temporal grounding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8393DF7-7AF6-4FF9-91C2-0B70E72C5A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80DFACD8-291B-4C81-A912-9B488CD5A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 specification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5874F61-2DE4-43B9-A341-6ABC16D3EB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Task file, output form, and deliverable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0723F81-71CE-44A1-A6CA-64B0570F2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E8E91A0-539B-4A6A-8AF2-3893A169BF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Data interface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4BD99E5-3031-4564-B48B-461491486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Required series, timestamps, and access limits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1336FF4-EA86-43CB-ACE7-AC123B1795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0B202AF-3E8E-4210-B1BD-6A26753C1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Visual analysis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7563641-E1B9-41F5-8DD2-7A28F76E5A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Temporal patterns and trend inspection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C61E171-EF0D-410B-A301-01629738B8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634280A-B6A9-4EF4-9F57-8F51487312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Knowledge-grounded reasoning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0CCCF1F0-9E14-413D-9EFB-ECFA9DF2DE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063FC457-20BF-47CA-9C4F-137DA10D6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Strong knowledge dependence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10DD1824-3345-4B6A-861F-1E3C9C77A8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Domain context retrieval and alignment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C2D1814-2874-4FD4-AE58-0A152F7E0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B1205E0-EF01-4967-9233-A442F237B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hypothesis expansion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F2ECE531-2779-4463-A02D-8940C2FAE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Branching temporal hypotheses from evidence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37289A46-85E4-4EBC-B360-9E396E00D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1D50324E-4E01-4D77-90D7-20EABDFCA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Rules-aware reasoning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9F06E8A1-5F9E-4222-A234-ADEB0EC159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Constraint-aware logical inference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6F45A647-2F60-4834-89AF-E218861DB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4288">
              <a:solidFill>
                <a:srgbClr val="B77F2B"/>
              </a:solidFill>
              <a:prstDash val="solid"/>
            </a:ln>
          </p:spPr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641854E1-BABB-445E-99C7-A750AC3D00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Reliability mechanisms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FE2B76AB-4737-4C01-BC5A-96504D2196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19D4868A-225F-4388-8261-0F42E7678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Post-experiment analysis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96BE124A-CAA2-4B95-8E29-C19615F7C0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Residual and error distribution review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6BE1AFE-92D8-4AA7-BBB7-6E3FB2052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15AF28E6-1521-4304-A394-87A34EEED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Event-aware reasoning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97465288-51DD-40BC-A7F9-29F223B1E8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Temporal event markers in validation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A845D30B-A0C0-4703-81D1-21B14097DF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4F355F29-A788-4491-AB32-C2BCE2BA3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Layered review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F5136418-5375-449D-B4D4-EE91E7D22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Multi-stage review checkpoints</a:t>
              </a:r>
            </a:p>
          </p:txBody>
        </p:sp>
        <p:cxnSp>
          <p:nvCxnSpPr>
            <p:cNvPr id="69" name=""/>
            <p:cNvCxnSpPr>
              <a:stCxn xmlns:a="http://schemas.openxmlformats.org/drawingml/2006/main" id="1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390525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70" name=""/>
            <p:cNvCxnSpPr>
              <a:stCxn xmlns:a="http://schemas.openxmlformats.org/drawingml/2006/main" id="12" idx="3"/>
              <a:endCxn xmlns:a="http://schemas.openxmlformats.org/drawingml/2006/main" id="23" idx="1"/>
            </p:cNvCxnSpPr>
            <p:nvPr/>
          </p:nvCxnSpPr>
          <p:spPr>
            <a:xfrm xmlns:a="http://schemas.openxmlformats.org/drawingml/2006/main">
              <a:off x="762000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039653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9D1328-A266-45F2-93ED-7FEE1A354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D41BC84-DEF8-4828-A22F-4A7D5674FC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Retrieval agent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C16A42-BE3B-43E0-B610-F48AC84091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finds similar temporal samples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D2768537-3B1E-49A7-BC1D-FA34482B20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EE4111A-FEFD-434F-BD85-C0AE413445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52875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Augmentation agent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A7BD6D4-F657-4221-905C-AD5D73B664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1925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suitable augmentation strategies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C35CF88-5244-4303-A02D-C0537BFBBE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8FCF032-60EB-4BD6-99B7-DFACD49B5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Review agent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1894E27-57D3-47D8-A1DE-827A8DF1E9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semantic quality of positive views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969227C-5486-4FB7-A652-50DF8F8FD6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67875" y="2381250"/>
              <a:ext cx="16192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375CEE7-3CA5-483F-87ED-9834C7A04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63125" y="247650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Accepted set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B84A4A-B0CD-4F4F-AE42-F1B8BFE84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82175" y="2781300"/>
              <a:ext cx="1390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positive views for contrastive learning</a:t>
              </a:r>
            </a:p>
          </p:txBody>
        </p:sp>
        <p:cxnSp>
          <p:nvCxnSpPr>
            <p:cNvPr id="31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952750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6048375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144000" y="2881313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tailEnd type="arrow" w="sm" len="sm"/>
            </a:ln>
          </p:spPr>
        </p:cxnSp>
        <p:sp>
          <p:nvSpPr>
            <p:cNvPr id="34" name=""/>
            <p:cNvSpPr/>
            <p:nvPr/>
          </p:nvSpPr>
          <p:spPr>
            <a:xfrm xmlns:a="http://schemas.openxmlformats.org/drawingml/2006/main">
              <a:off x="1857375" y="3381375"/>
              <a:ext cx="6191250" cy="571500"/>
            </a:xfrm>
            <ns0:custGeom xmlns:ns0="http://schemas.openxmlformats.org/drawingml/2006/main">
              <ns0:avLst/>
              <ns0:gdLst/>
              <ns0:ahLst/>
              <ns0:cxnLst/>
              <ns0:pathLst>
                <ns0:path w="6191250" h="571500" fill="none" stroke="1">
                  <ns0:moveTo>
                    <ns0:pt x="6191250" y="0"/>
                  </ns0:moveTo>
                  <ns0:lnTo>
                    <ns0:pt x="6191250" y="571500"/>
                  </ns0:lnTo>
                  <ns0:lnTo>
                    <ns0:pt x="0" y="571500"/>
                  </ns0:lnTo>
                  <ns0:lnTo>
                    <ns0:pt x="0" y="0"/>
                  </ns0:lnTo>
                </ns0:path>
              </ns0:pathLst>
            </ns0:custGeom>
            <a:ln xmlns:a="http://schemas.openxmlformats.org/drawingml/2006/main" w="19050">
              <a:solidFill>
                <a:srgbClr val="B77F2B"/>
              </a:solidFill>
              <a:prstDash val="dash"/>
              <a:tailEnd type="arrow" w="sm" len="sm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ED2271-112A-45C7-8FA8-C0D5F2D03E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1524000"/>
              <a:ext cx="88582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221246F0-B37A-4182-B1B1-2F9503A175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" y="4000500"/>
              <a:ext cx="10191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170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EF69D22-4DA9-4F85-A9F5-CA4B993EE7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AA180A0-1412-437F-9CD6-A0517A50E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acquisition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BDBACBF-9000-431A-9E70-553FF712D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signals and context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59039F02-9D19-4BCC-A33B-3ABA2A627F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B072089-7363-4F16-B170-DD3F5F184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0" y="2571750"/>
              <a:ext cx="2095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Adaptive evidence construction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4BD43F2-B306-46BA-813E-82844392F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3124200"/>
              <a:ext cx="2057400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construct diagnostic evidence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DC32BD0-DF1E-4736-B568-C38251B848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B2D05D2-E533-4A70-9139-A004B57832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Anomaly detection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7169F1-06CD-4C21-A59B-02C726176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03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score candidate events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07E7F93-A204-49FC-BEAD-91DC6192E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C44ED09-291E-4CEF-80CE-1FEFAF7C4F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535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Iterative refinement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F429A76-4B27-43B8-A278-89A4FB920E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725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refine anomaly intervals</a:t>
              </a:r>
            </a:p>
          </p:txBody>
        </p:sp>
        <p:cxnSp>
          <p:nvCxnSpPr>
            <p:cNvPr id="32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8575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61975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83820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F2541FA1-FA0D-45A2-8399-FDD39A3999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8250" y="1428750"/>
              <a:ext cx="971550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dash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C80899-19F7-46D4-BA3A-2450ABF92B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1543050"/>
              <a:ext cx="9334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Detector training with rule-based rewards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E583EF-1057-44B0-8634-1631416F13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4333875"/>
              <a:ext cx="8572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24324A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83B8AADD-668D-47DB-A0DD-910EFBCC89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7375" y="4476750"/>
              <a:ext cx="8096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Toolkit: knowledge memory and numerical diagnostics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92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7E3E8B66-042B-4CFA-8850-A61F440F1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476500"/>
              <a:ext cx="209550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12B9592D-FE39-4FDB-9E99-731923F7D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71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Contextual series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32B129F9-C702-4C21-8E50-B47DC8969B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876550"/>
              <a:ext cx="18669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values, events, metadata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F405D135-BC56-46E8-9BA5-6CED331F1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A7430C1-C621-40F2-A238-5D5294026C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runtime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87709E80-B4B3-4FDB-B219-345D8F63A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server-side numerical execution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state and tools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17FE899B-0F4B-4E17-B900-392544DFDE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9875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2688A27F-337F-44E5-ACA6-DD44BCA2FC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Capability evolution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753A4C31-CEBD-4FEA-A5D8-5781AD9B0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34175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evaluate, update, retain, release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3A6CD89-C6BB-4907-A19E-757097C565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476500"/>
              <a:ext cx="180975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E15E6FE6-0E20-46AB-A523-4232292E71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571750"/>
              <a:ext cx="1619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Multimodal memory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4B0E1199-CE92-4406-AA69-106C61F33A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2876550"/>
              <a:ext cx="15811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and reuse</a:t>
              </a:r>
            </a:p>
          </p:txBody>
        </p:sp>
        <p:cxnSp>
          <p:nvCxnSpPr>
            <p:cNvPr id="30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667000" y="3000375"/>
              <a:ext cx="7620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1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810250" y="3000375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001125" y="3000375"/>
              <a:ext cx="809625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 flipV="1">
              <a:off x="3429000" y="3000375"/>
              <a:ext cx="81915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4E37E07C-6CBD-4DE1-9912-E76AFFFAE5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428750"/>
              <a:ext cx="6191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auditable trajectories close the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361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0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01E3925D-2343-4F18-94F9-649C16D02F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381250"/>
              <a:ext cx="20955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21B84866-6B80-49D2-8F59-BA9BF543F54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4765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Multiple sources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796DB8BB-B211-462D-B3B9-449C58FCA5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781300"/>
              <a:ext cx="18669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Kaggle · GitHub · data resources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CD8F752F-0598-4D0C-B1DD-872C3390BE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095500"/>
              <a:ext cx="2286000" cy="190500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B230261-61E5-4378-94B4-6E85C9D799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190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107D0D12-4E06-4946-A650-54DAF9024D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495550"/>
              <a:ext cx="2057400" cy="1428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descriptions · resources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skill simulators · code improvement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64F9075-E740-4942-89E6-B2A1EF45F4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2381250"/>
              <a:ext cx="19050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1E791F58-10FC-437F-B0AD-E798C4B6C9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476500"/>
              <a:ext cx="1714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Agent-agnostic design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BC9B9D7-5A69-47DB-A5AE-D224D4B8A5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781300"/>
              <a:ext cx="16764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same contract for different Agents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FAB79318-F741-4DD9-80BC-AF76A8B6B9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171450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2A88BC4A-3758-4CD8-909F-6497714F0E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1809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Quantitative grader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CB2A8EF-54BB-4BBD-ADC3-E837B9FAAF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211455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accuracy, error, runtime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974B927-FCC6-4FAD-AB4A-F8A4ED214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333375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FBA1C4F0-0C66-4ECE-99A6-FBB6A788DE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34290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Qualitative grader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98B50628-216A-443F-9B3A-38DC13983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373380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task-specific artifact checks</a:t>
              </a:r>
            </a:p>
          </p:txBody>
        </p:sp>
        <p:cxnSp>
          <p:nvCxnSpPr>
            <p:cNvPr id="36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667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7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715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 flipV="1">
              <a:off x="8382000" y="2143125"/>
              <a:ext cx="762000" cy="904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8382000" y="3048000"/>
              <a:ext cx="762000" cy="7143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B5A76C03-8FF2-4D10-BBAC-C74B39C904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762500"/>
              <a:ext cx="2667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multimodal outputs</a:t>
              </a:r>
            </a:p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files · models ·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562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BFEEC2A0-665D-4D75-865B-DE4A27BA77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9A21EFE-E32B-45C5-9B9B-2968A23C7F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data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E5B374E5-13F3-455A-ABF0-3AAE301755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FA0031C-29C5-4139-B260-7475D0F5EF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ADC859DC-1FA4-4DE4-B13C-4ECC013F2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BD0BC69-5A35-4C64-997B-AF68219BE1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1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provenance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27D9B795-DB2A-451C-8A78-5D11E8DBFA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2190750"/>
              <a:ext cx="228600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38FFE31E-F153-440D-A9C6-269BE6AB14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28600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Temporal tools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C240EB-EE81-410A-95E5-371BFA061E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4425" y="2590800"/>
              <a:ext cx="205740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trend · anomaly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correlation · forecast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71DB098-0DAE-47B5-93F0-DEEE4200E0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C4E97D1-E286-41E6-8BB1-65B21E37A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LLM critic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1F082071-FE1A-457E-BD2C-147FFCFBE2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34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check and revise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6BA83F5D-8727-422F-BB86-42BA929C3C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312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273F7764-0007-4A4E-AA4C-64A559484C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5837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Final answer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2FDB27E7-BFB8-4B73-9E62-24FB3C887B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742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evidence-backed</a:t>
              </a:r>
            </a:p>
          </p:txBody>
        </p:sp>
        <p:cxnSp>
          <p:nvCxnSpPr>
            <p:cNvPr id="37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143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8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4286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9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7096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0" name=""/>
            <p:cNvCxnSpPr>
              <a:stCxn xmlns:a="http://schemas.openxmlformats.org/drawingml/2006/main" id="10" idx="3"/>
              <a:endCxn xmlns:a="http://schemas.openxmlformats.org/drawingml/2006/main" id="13" idx="1"/>
            </p:cNvCxnSpPr>
            <p:nvPr/>
          </p:nvCxnSpPr>
          <p:spPr>
            <a:xfrm xmlns:a="http://schemas.openxmlformats.org/drawingml/2006/main">
              <a:off x="9239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>
              <a:off x="2667000" y="3000375"/>
              <a:ext cx="6572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2011238D-80BC-4BEA-9BD9-7B472C1D5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1428750"/>
              <a:ext cx="71437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observe  →  execute  →  critique  →  verify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915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