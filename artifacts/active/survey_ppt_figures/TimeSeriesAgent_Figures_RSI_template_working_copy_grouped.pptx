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4d6e2b1b2b4c8e" /><Relationship Type="http://schemas.openxmlformats.org/officeDocument/2006/relationships/extended-properties" Target="/docProps/app.xml" Id="R7a3bc27e99474807" /><Relationship Type="http://schemas.openxmlformats.org/officeDocument/2006/relationships/officeDocument" Target="/ppt/presentation.xml" Id="R617a959451a443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1f40272f394435"/>
  </p:sldMasterIdLst>
  <p:notesMasterIdLst>
    <p:notesMasterId xmlns:r="http://schemas.openxmlformats.org/officeDocument/2006/relationships" r:id="Recc1189db638435c"/>
  </p:notesMasterIdLst>
  <p:sldIdLst>
    <p:sldId xmlns:r="http://schemas.openxmlformats.org/officeDocument/2006/relationships" id="256" r:id="R2e0ace4a41a7452c"/>
    <p:sldId xmlns:r="http://schemas.openxmlformats.org/officeDocument/2006/relationships" id="257" r:id="Re598effa61d34d59"/>
    <p:sldId xmlns:r="http://schemas.openxmlformats.org/officeDocument/2006/relationships" id="258" r:id="R85f2e722fde04d7c"/>
    <p:sldId xmlns:r="http://schemas.openxmlformats.org/officeDocument/2006/relationships" id="259" r:id="Ra6ea51f892b945ee"/>
    <p:sldId xmlns:r="http://schemas.openxmlformats.org/officeDocument/2006/relationships" id="260" r:id="R8ec8b509105442b4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20673b7be64083" /><Relationship Type="http://schemas.openxmlformats.org/officeDocument/2006/relationships/slideMaster" Target="/ppt/slideMasters/slideMaster1.xml" Id="R201f40272f394435" /><Relationship Type="http://schemas.openxmlformats.org/officeDocument/2006/relationships/notesMaster" Target="/ppt/notesMasters/notesMaster1.xml" Id="Recc1189db638435c" /><Relationship Type="http://schemas.openxmlformats.org/officeDocument/2006/relationships/presProps" Target="/ppt/presProps.xml" Id="Rd57632f129984635" /><Relationship Type="http://schemas.openxmlformats.org/officeDocument/2006/relationships/tableStyles" Target="/ppt/tableStyles.xml" Id="R5bcb00eae1d54b44" /><Relationship Type="http://schemas.openxmlformats.org/officeDocument/2006/relationships/slide" Target="/ppt/slides/slide1.xml" Id="R2e0ace4a41a7452c" /><Relationship Type="http://schemas.openxmlformats.org/officeDocument/2006/relationships/slide" Target="/ppt/slides/slide2.xml" Id="Re598effa61d34d59" /><Relationship Type="http://schemas.openxmlformats.org/officeDocument/2006/relationships/slide" Target="/ppt/slides/slide3.xml" Id="R85f2e722fde04d7c" /><Relationship Type="http://schemas.openxmlformats.org/officeDocument/2006/relationships/slide" Target="/ppt/slides/slide4.xml" Id="Ra6ea51f892b945ee" /><Relationship Type="http://schemas.openxmlformats.org/officeDocument/2006/relationships/slide" Target="/ppt/slides/slide5.xml" Id="R8ec8b509105442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b674405eb74e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c2745b6e3d4f6d" /><Relationship Type="http://schemas.openxmlformats.org/officeDocument/2006/relationships/notesMaster" Target="/ppt/notesMasters/notesMaster1.xml" Id="Rd3cdab95124848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cfb8672fee44dc" /><Relationship Type="http://schemas.openxmlformats.org/officeDocument/2006/relationships/notesMaster" Target="/ppt/notesMasters/notesMaster1.xml" Id="R5d0bb1b30b2945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bba3570b0a4522" /><Relationship Type="http://schemas.openxmlformats.org/officeDocument/2006/relationships/notesMaster" Target="/ppt/notesMasters/notesMaster1.xml" Id="R95cebba6874041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21c31f2628433d" /><Relationship Type="http://schemas.openxmlformats.org/officeDocument/2006/relationships/notesMaster" Target="/ppt/notesMasters/notesMaster1.xml" Id="R6e0f52ece92146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35bf211019463e" /><Relationship Type="http://schemas.openxmlformats.org/officeDocument/2006/relationships/notesMaster" Target="/ppt/notesMasters/notesMaster1.xml" Id="R0746af58566c47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3598500d24dfd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f031b9f3824a24" /><Relationship Type="http://schemas.openxmlformats.org/officeDocument/2006/relationships/slideLayout" Target="/ppt/slideLayouts/slideLayout1.xml" Id="R140c98990e2a4c5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c98990e2a4c55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07ca8938b4ab7" /><Relationship Type="http://schemas.openxmlformats.org/officeDocument/2006/relationships/image" Target="/ppt/media/image.png" Id="Re19ed5c9584244ed" /><Relationship Type="http://schemas.openxmlformats.org/officeDocument/2006/relationships/image" Target="/ppt/media/image2.png" Id="Rd7140c72683d4497" /><Relationship Type="http://schemas.openxmlformats.org/officeDocument/2006/relationships/image" Target="/ppt/media/image3.png" Id="R0dc249edfa9940a7" /><Relationship Type="http://schemas.openxmlformats.org/officeDocument/2006/relationships/image" Target="/ppt/media/image4.png" Id="Rb46179c2ebac4a06" /><Relationship Type="http://schemas.openxmlformats.org/officeDocument/2006/relationships/image" Target="/ppt/media/image5.png" Id="R722463d8b0524f35" /><Relationship Type="http://schemas.openxmlformats.org/officeDocument/2006/relationships/image" Target="/ppt/media/image6.png" Id="R7fb26a2bcf784c73" /><Relationship Type="http://schemas.openxmlformats.org/officeDocument/2006/relationships/notesSlide" Target="/ppt/notesSlides/notesSlide1.xml" Id="R214a01d3050049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860c02216490b" /><Relationship Type="http://schemas.openxmlformats.org/officeDocument/2006/relationships/notesSlide" Target="/ppt/notesSlides/notesSlide2.xml" Id="Re15cf64ae2114a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ec26bf8404054" /><Relationship Type="http://schemas.openxmlformats.org/officeDocument/2006/relationships/notesSlide" Target="/ppt/notesSlides/notesSlide3.xml" Id="R6102d4bb139944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f7c2835a64bcf" /><Relationship Type="http://schemas.openxmlformats.org/officeDocument/2006/relationships/notesSlide" Target="/ppt/notesSlides/notesSlide4.xml" Id="R4a8cb3aafdf24b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33d0de3634845" /><Relationship Type="http://schemas.openxmlformats.org/officeDocument/2006/relationships/image" Target="/ppt/media/image7.png" Id="R843ed17d7b7e41df" /><Relationship Type="http://schemas.openxmlformats.org/officeDocument/2006/relationships/image" Target="/ppt/media/image8.png" Id="R132be69d97c3476a" /><Relationship Type="http://schemas.openxmlformats.org/officeDocument/2006/relationships/image" Target="/ppt/media/image9.png" Id="R3184e6d167a54a79" /><Relationship Type="http://schemas.openxmlformats.org/officeDocument/2006/relationships/image" Target="/ppt/media/image10.png" Id="R54561db6dbfb45c3" /><Relationship Type="http://schemas.openxmlformats.org/officeDocument/2006/relationships/image" Target="/ppt/media/image11.png" Id="Ra46b0078b3764c5a" /><Relationship Type="http://schemas.openxmlformats.org/officeDocument/2006/relationships/image" Target="/ppt/media/image12.png" Id="Rccd1ea46c26d4492" /><Relationship Type="http://schemas.openxmlformats.org/officeDocument/2006/relationships/image" Target="/ppt/media/image13.png" Id="R93f55ff11b0e4415" /><Relationship Type="http://schemas.openxmlformats.org/officeDocument/2006/relationships/image" Target="/ppt/media/image14.png" Id="R0d3acbb160f24d14" /><Relationship Type="http://schemas.openxmlformats.org/officeDocument/2006/relationships/notesSlide" Target="/ppt/notesSlides/notesSlide5.xml" Id="Rbbb2f260d5b147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A74C9CCF-4226-451B-A73A-836A5FC3D4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CAE9EE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F1B83AF1-FD82-4BAC-9A10-EB3B02EE3E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912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7F3E3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7273A834-8333-4268-B157-40A2DCB01D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953750" y="223837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CAE9EE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A47CAF06-CFE6-485F-AC28-71E0AAA6C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5E2FA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2809B153-37FB-4BFC-89B8-0AF20F72C7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912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EEF0EA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EB8C1623-F5F5-43E6-81ED-35CE3D7593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953750" y="5953125"/>
              <a:ext cx="3714750" cy="2381250"/>
            </a:xfrm>
            <a:prstGeom xmlns:a="http://schemas.openxmlformats.org/drawingml/2006/main" prst="roundRect">
              <a:avLst>
                <a:gd name="adj" fmla="val 7200"/>
              </a:avLst>
            </a:prstGeom>
            <a:solidFill xmlns:a="http://schemas.openxmlformats.org/drawingml/2006/main">
              <a:srgbClr val="FFF9CF"/>
            </a:solidFill>
            <a:ln xmlns:a="http://schemas.openxmlformats.org/drawingml/2006/main" w="38100">
              <a:solidFill>
                <a:srgbClr val="3A383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DF131352-803B-4782-B294-F7F2202D5B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0" y="10096500"/>
              <a:ext cx="13239750" cy="552450"/>
            </a:xfrm>
            <a:prstGeom xmlns:a="http://schemas.openxmlformats.org/drawingml/2006/main" prst="roundRect">
              <a:avLst>
                <a:gd name="adj" fmla="val 31034"/>
              </a:avLst>
            </a:prstGeom>
            <a:solidFill xmlns:a="http://schemas.openxmlformats.org/drawingml/2006/main">
              <a:srgbClr val="F2F3EE"/>
            </a:solidFill>
            <a:ln xmlns:a="http://schemas.openxmlformats.org/drawingml/2006/main" w="38100">
              <a:solidFill>
                <a:srgbClr val="2C2D2C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pic>
          <p:nvPicPr>
            <p:cNvPr id="9" name="monitor">
              <a:extLst xmlns:a="http://schemas.openxmlformats.org/drawingml/2006/main">
                <a:ext uri="{FF2B5EF4-FFF2-40B4-BE49-F238E27FC236}">
                  <a16:creationId xmlns:a16="http://schemas.microsoft.com/office/drawing/2014/main" id="{19F7A632-1636-4B91-AE89-AFA5281039FA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e19ed5c9584244ed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670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0" name="document">
              <a:extLst xmlns:a="http://schemas.openxmlformats.org/drawingml/2006/main">
                <a:ext uri="{FF2B5EF4-FFF2-40B4-BE49-F238E27FC236}">
                  <a16:creationId xmlns:a16="http://schemas.microsoft.com/office/drawing/2014/main" id="{8989611D-09F0-4A6A-8C8F-E4B8B1DDA639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d7140c72683d4497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74295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1" name="checked-document">
              <a:extLst xmlns:a="http://schemas.openxmlformats.org/drawingml/2006/main">
                <a:ext uri="{FF2B5EF4-FFF2-40B4-BE49-F238E27FC236}">
                  <a16:creationId xmlns:a16="http://schemas.microsoft.com/office/drawing/2014/main" id="{80750F03-5F1E-41C8-8B20-D182761A78EE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0dc249edfa9940a7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92000" y="244792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2" name="code-files">
              <a:extLst xmlns:a="http://schemas.openxmlformats.org/drawingml/2006/main">
                <a:ext uri="{FF2B5EF4-FFF2-40B4-BE49-F238E27FC236}">
                  <a16:creationId xmlns:a16="http://schemas.microsoft.com/office/drawing/2014/main" id="{7560F6DA-902A-4683-B965-EA7B6E364A2A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b46179c2ebac4a06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26670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3" name="documents">
              <a:extLst xmlns:a="http://schemas.openxmlformats.org/drawingml/2006/main">
                <a:ext uri="{FF2B5EF4-FFF2-40B4-BE49-F238E27FC236}">
                  <a16:creationId xmlns:a16="http://schemas.microsoft.com/office/drawing/2014/main" id="{851F5A06-C8B5-4597-8F2A-BDB270A3AC57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22463d8b0524f35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74295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pic>
          <p:nvPicPr>
            <p:cNvPr id="14" name="shield-check">
              <a:extLst xmlns:a="http://schemas.openxmlformats.org/drawingml/2006/main">
                <a:ext uri="{FF2B5EF4-FFF2-40B4-BE49-F238E27FC236}">
                  <a16:creationId xmlns:a16="http://schemas.microsoft.com/office/drawing/2014/main" id="{47DD9597-0A75-49DA-89D4-850C98E1D955}"/>
                </a:ext>
              </a:extLst>
            </p:cNvPr>
            <p:cNvPicPr>
              <a:picLocks xmlns:a="http://schemas.openxmlformats.org/drawingml/2006/main" noChangeAspect="1"/>
            </p:cNvPicPr>
            <p:nvPr/>
          </p:nvPicPr>
          <p:blipFill>
            <a:blip xmlns:r="http://schemas.openxmlformats.org/officeDocument/2006/relationships" xmlns:a="http://schemas.openxmlformats.org/drawingml/2006/main" r:embed="R7fb26a2bcf784c73"/>
            <a:stretch xmlns:a="http://schemas.openxmlformats.org/drawingml/2006/main">
              <a:fillRect l="0" t="0" r="0" b="0"/>
            </a:stretch>
          </p:blipFill>
          <p:spPr>
            <a:xfrm xmlns:a="http://schemas.openxmlformats.org/drawingml/2006/main" rot="0" flipH="0" flipV="0">
              <a:off x="12192000" y="6162675"/>
              <a:ext cx="1238250" cy="952500"/>
            </a:xfrm>
            <a:prstGeom xmlns:a="http://schemas.openxmlformats.org/drawingml/2006/main" prst="rect">
              <a:avLst/>
            </a:prstGeom>
          </p:spPr>
        </p:pic>
        <p:sp>
          <p:nvSpPr>
            <p:cNvPr id="15" name="Line 15">
              <a:extLst xmlns:a="http://schemas.openxmlformats.org/drawingml/2006/main">
                <a:ext uri="{FF2B5EF4-FFF2-40B4-BE49-F238E27FC236}">
                  <a16:creationId xmlns:a16="http://schemas.microsoft.com/office/drawing/2014/main" id="{5D40C4D7-8998-4A67-956C-7FB0888EF7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43500" y="342900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Line 16">
              <a:extLst xmlns:a="http://schemas.openxmlformats.org/drawingml/2006/main">
                <a:ext uri="{FF2B5EF4-FFF2-40B4-BE49-F238E27FC236}">
                  <a16:creationId xmlns:a16="http://schemas.microsoft.com/office/drawing/2014/main" id="{836FE33E-2ADD-4F9E-BEEE-7AC7918FC6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06000" y="342900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Line 17">
              <a:extLst xmlns:a="http://schemas.openxmlformats.org/drawingml/2006/main">
                <a:ext uri="{FF2B5EF4-FFF2-40B4-BE49-F238E27FC236}">
                  <a16:creationId xmlns:a16="http://schemas.microsoft.com/office/drawing/2014/main" id="{ADC59A5B-AB3B-40BA-87B6-F832DA370E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86125" y="4619625"/>
              <a:ext cx="0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Line 18">
              <a:extLst xmlns:a="http://schemas.openxmlformats.org/drawingml/2006/main">
                <a:ext uri="{FF2B5EF4-FFF2-40B4-BE49-F238E27FC236}">
                  <a16:creationId xmlns:a16="http://schemas.microsoft.com/office/drawing/2014/main" id="{97BD7578-C2CC-4391-9050-3DEF2C9035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1" flipV="0">
              <a:off x="6858000" y="4619625"/>
              <a:ext cx="1190625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357D83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Line 19">
              <a:extLst xmlns:a="http://schemas.openxmlformats.org/drawingml/2006/main">
                <a:ext uri="{FF2B5EF4-FFF2-40B4-BE49-F238E27FC236}">
                  <a16:creationId xmlns:a16="http://schemas.microsoft.com/office/drawing/2014/main" id="{1FEAD2AC-338E-44A4-BCC6-56BB22539F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43500" y="714375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Line 20">
              <a:extLst xmlns:a="http://schemas.openxmlformats.org/drawingml/2006/main">
                <a:ext uri="{FF2B5EF4-FFF2-40B4-BE49-F238E27FC236}">
                  <a16:creationId xmlns:a16="http://schemas.microsoft.com/office/drawing/2014/main" id="{821521D2-83F3-4AED-81A6-4F6598E516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06000" y="7143750"/>
              <a:ext cx="10477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Line 21">
              <a:extLst xmlns:a="http://schemas.openxmlformats.org/drawingml/2006/main">
                <a:ext uri="{FF2B5EF4-FFF2-40B4-BE49-F238E27FC236}">
                  <a16:creationId xmlns:a16="http://schemas.microsoft.com/office/drawing/2014/main" id="{10621B7F-440B-4187-A66E-1EE676D8C9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12811125" y="4619625"/>
              <a:ext cx="0" cy="1333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222222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Line 22">
              <a:extLst xmlns:a="http://schemas.openxmlformats.org/drawingml/2006/main">
                <a:ext uri="{FF2B5EF4-FFF2-40B4-BE49-F238E27FC236}">
                  <a16:creationId xmlns:a16="http://schemas.microsoft.com/office/drawing/2014/main" id="{9655314C-45D5-435B-BD94-BE46FAB2ED5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3286125" y="1428750"/>
              <a:ext cx="0" cy="809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Line 23">
              <a:extLst xmlns:a="http://schemas.openxmlformats.org/drawingml/2006/main">
                <a:ext uri="{FF2B5EF4-FFF2-40B4-BE49-F238E27FC236}">
                  <a16:creationId xmlns:a16="http://schemas.microsoft.com/office/drawing/2014/main" id="{54A58682-A4B0-4786-974A-8DC1034FE5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86125" y="1428750"/>
              <a:ext cx="95250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Line 24">
              <a:extLst xmlns:a="http://schemas.openxmlformats.org/drawingml/2006/main">
                <a:ext uri="{FF2B5EF4-FFF2-40B4-BE49-F238E27FC236}">
                  <a16:creationId xmlns:a16="http://schemas.microsoft.com/office/drawing/2014/main" id="{82898BE3-AD06-4A83-BE0D-A87E68E8A57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11125" y="1428750"/>
              <a:ext cx="0" cy="809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3C808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Line 25">
              <a:extLst xmlns:a="http://schemas.openxmlformats.org/drawingml/2006/main">
                <a:ext uri="{FF2B5EF4-FFF2-40B4-BE49-F238E27FC236}">
                  <a16:creationId xmlns:a16="http://schemas.microsoft.com/office/drawing/2014/main" id="{328CE424-BB0A-48C4-9E1A-EC6D14FEF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11125" y="8334375"/>
              <a:ext cx="0" cy="6953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Line 26">
              <a:extLst xmlns:a="http://schemas.openxmlformats.org/drawingml/2006/main">
                <a:ext uri="{FF2B5EF4-FFF2-40B4-BE49-F238E27FC236}">
                  <a16:creationId xmlns:a16="http://schemas.microsoft.com/office/drawing/2014/main" id="{73D249A2-740D-4C40-922F-5E58587B57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1" flipV="0">
              <a:off x="3286125" y="9029700"/>
              <a:ext cx="95250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Line 27">
              <a:extLst xmlns:a="http://schemas.openxmlformats.org/drawingml/2006/main">
                <a:ext uri="{FF2B5EF4-FFF2-40B4-BE49-F238E27FC236}">
                  <a16:creationId xmlns:a16="http://schemas.microsoft.com/office/drawing/2014/main" id="{D2E3DE1B-B0DC-42D6-A715-71B50D1059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1">
              <a:off x="3286125" y="8334375"/>
              <a:ext cx="0" cy="6953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A79CF"/>
              </a:solidFill>
              <a:prstDash val="dash"/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TextBox 28">
              <a:extLst xmlns:a="http://schemas.openxmlformats.org/drawingml/2006/main">
                <a:ext uri="{FF2B5EF4-FFF2-40B4-BE49-F238E27FC236}">
                  <a16:creationId xmlns:a16="http://schemas.microsoft.com/office/drawing/2014/main" id="{9B7FEA43-D95F-455A-B9DC-5987F0536F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34125" y="1028700"/>
              <a:ext cx="4000500" cy="4286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80" i="1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Time-Series Agent construction</a:t>
              </a:r>
              <a:endParaRPr sz="1380"/>
            </a:p>
          </p:txBody>
        </p:sp>
        <p:sp>
          <p:nvSpPr>
            <p:cNvPr id="29" name="TextBox 29">
              <a:extLst xmlns:a="http://schemas.openxmlformats.org/drawingml/2006/main">
                <a:ext uri="{FF2B5EF4-FFF2-40B4-BE49-F238E27FC236}">
                  <a16:creationId xmlns:a16="http://schemas.microsoft.com/office/drawing/2014/main" id="{635448E4-B446-4810-85DE-7AEFE16AC7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715000" y="1628775"/>
              <a:ext cx="571500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>
                  <a:solidFill>
                    <a:srgbClr val="347D83"/>
                  </a:solidFill>
                  <a:latin typeface="Cambria"/>
                  <a:ea typeface="Cambria"/>
                  <a:cs typeface="Cambria"/>
                </a:rPr>
                <a:t>Modules compose across tasks</a:t>
              </a:r>
              <a:endParaRPr sz="1900"/>
            </a:p>
          </p:txBody>
        </p:sp>
        <p:sp>
          <p:nvSpPr>
            <p:cNvPr id="30" name="TextBox 30">
              <a:extLst xmlns:a="http://schemas.openxmlformats.org/drawingml/2006/main">
                <a:ext uri="{FF2B5EF4-FFF2-40B4-BE49-F238E27FC236}">
                  <a16:creationId xmlns:a16="http://schemas.microsoft.com/office/drawing/2014/main" id="{5557D7C7-0A63-4FF4-8DFA-58B1E9B738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6002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Time-Series Agent</a:t>
              </a:r>
              <a:endParaRPr sz="2500"/>
            </a:p>
          </p:txBody>
        </p:sp>
        <p:sp>
          <p:nvSpPr>
            <p:cNvPr id="31" name="TextBox 31">
              <a:extLst xmlns:a="http://schemas.openxmlformats.org/drawingml/2006/main">
                <a:ext uri="{FF2B5EF4-FFF2-40B4-BE49-F238E27FC236}">
                  <a16:creationId xmlns:a16="http://schemas.microsoft.com/office/drawing/2014/main" id="{5EDA7FD3-7C76-4476-AF7B-C01A7EDF56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7621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LLM + harness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and temporal data</a:t>
              </a:r>
              <a:endParaRPr sz="1900"/>
            </a:p>
          </p:txBody>
        </p:sp>
        <p:sp>
          <p:nvSpPr>
            <p:cNvPr id="32" name="TextBox 32">
              <a:extLst xmlns:a="http://schemas.openxmlformats.org/drawingml/2006/main">
                <a:ext uri="{FF2B5EF4-FFF2-40B4-BE49-F238E27FC236}">
                  <a16:creationId xmlns:a16="http://schemas.microsoft.com/office/drawing/2014/main" id="{2B956CC6-84B2-42D8-86D5-B884194AB3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627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Paper cards</a:t>
              </a:r>
              <a:endParaRPr sz="2500"/>
            </a:p>
          </p:txBody>
        </p:sp>
        <p:sp>
          <p:nvSpPr>
            <p:cNvPr id="33" name="TextBox 33">
              <a:extLst xmlns:a="http://schemas.openxmlformats.org/drawingml/2006/main">
                <a:ext uri="{FF2B5EF4-FFF2-40B4-BE49-F238E27FC236}">
                  <a16:creationId xmlns:a16="http://schemas.microsoft.com/office/drawing/2014/main" id="{96488D2D-644F-4B5C-BA06-C728A60DAE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246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claims, evidence,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module tags</a:t>
              </a:r>
              <a:endParaRPr sz="1900"/>
            </a:p>
          </p:txBody>
        </p:sp>
        <p:sp>
          <p:nvSpPr>
            <p:cNvPr id="34" name="TextBox 34">
              <a:extLst xmlns:a="http://schemas.openxmlformats.org/drawingml/2006/main">
                <a:ext uri="{FF2B5EF4-FFF2-40B4-BE49-F238E27FC236}">
                  <a16:creationId xmlns:a16="http://schemas.microsoft.com/office/drawing/2014/main" id="{52814D69-94A9-4D43-AD20-3F5103561C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25200" y="328612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New task agent</a:t>
              </a:r>
              <a:endParaRPr sz="1600"/>
            </a:p>
          </p:txBody>
        </p:sp>
        <p:sp>
          <p:nvSpPr>
            <p:cNvPr id="35" name="TextBox 35">
              <a:extLst xmlns:a="http://schemas.openxmlformats.org/drawingml/2006/main">
                <a:ext uri="{FF2B5EF4-FFF2-40B4-BE49-F238E27FC236}">
                  <a16:creationId xmlns:a16="http://schemas.microsoft.com/office/drawing/2014/main" id="{B0441189-B0F2-4FBC-91E2-D61027D731A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287125" y="381000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Reusable harness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configuration</a:t>
              </a:r>
              <a:endParaRPr sz="1900"/>
            </a:p>
          </p:txBody>
        </p:sp>
        <p:sp>
          <p:nvSpPr>
            <p:cNvPr id="36" name="TextBox 36">
              <a:extLst xmlns:a="http://schemas.openxmlformats.org/drawingml/2006/main">
                <a:ext uri="{FF2B5EF4-FFF2-40B4-BE49-F238E27FC236}">
                  <a16:creationId xmlns:a16="http://schemas.microsoft.com/office/drawing/2014/main" id="{B5A778F0-B4B3-445F-88BD-60003076B9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6002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General Harness</a:t>
              </a:r>
              <a:endParaRPr sz="1600"/>
            </a:p>
          </p:txBody>
        </p:sp>
        <p:sp>
          <p:nvSpPr>
            <p:cNvPr id="37" name="TextBox 37">
              <a:extLst xmlns:a="http://schemas.openxmlformats.org/drawingml/2006/main">
                <a:ext uri="{FF2B5EF4-FFF2-40B4-BE49-F238E27FC236}">
                  <a16:creationId xmlns:a16="http://schemas.microsoft.com/office/drawing/2014/main" id="{8135804A-7E79-422B-803C-737B28FECD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7621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tools, memory,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control, planning</a:t>
              </a:r>
              <a:endParaRPr sz="1900"/>
            </a:p>
          </p:txBody>
        </p:sp>
        <p:sp>
          <p:nvSpPr>
            <p:cNvPr id="38" name="TextBox 38">
              <a:extLst xmlns:a="http://schemas.openxmlformats.org/drawingml/2006/main">
                <a:ext uri="{FF2B5EF4-FFF2-40B4-BE49-F238E27FC236}">
                  <a16:creationId xmlns:a16="http://schemas.microsoft.com/office/drawing/2014/main" id="{E792D0D1-82B0-4965-B721-AA2F5D06CD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3627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Time-Series Harness</a:t>
              </a:r>
              <a:endParaRPr sz="2500"/>
            </a:p>
          </p:txBody>
        </p:sp>
        <p:sp>
          <p:nvSpPr>
            <p:cNvPr id="39" name="TextBox 39">
              <a:extLst xmlns:a="http://schemas.openxmlformats.org/drawingml/2006/main">
                <a:ext uri="{FF2B5EF4-FFF2-40B4-BE49-F238E27FC236}">
                  <a16:creationId xmlns:a16="http://schemas.microsoft.com/office/drawing/2014/main" id="{C2D3E767-259E-4AB8-B39F-E91EB3531D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246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temporal state,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operations, validation</a:t>
              </a:r>
              <a:endParaRPr sz="1900"/>
            </a:p>
          </p:txBody>
        </p:sp>
        <p:sp>
          <p:nvSpPr>
            <p:cNvPr id="40" name="TextBox 40">
              <a:extLst xmlns:a="http://schemas.openxmlformats.org/drawingml/2006/main">
                <a:ext uri="{FF2B5EF4-FFF2-40B4-BE49-F238E27FC236}">
                  <a16:creationId xmlns:a16="http://schemas.microsoft.com/office/drawing/2014/main" id="{FADC864B-75CC-4906-9AC4-ED6EC912C0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25200" y="7000875"/>
              <a:ext cx="337185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00" b="1">
                  <a:solidFill>
                    <a:srgbClr val="141414"/>
                  </a:solidFill>
                  <a:latin typeface="Cambria"/>
                  <a:ea typeface="Cambria"/>
                  <a:cs typeface="Cambria"/>
                </a:rPr>
                <a:t>Task contract</a:t>
              </a:r>
              <a:endParaRPr sz="2500"/>
            </a:p>
          </p:txBody>
        </p:sp>
        <p:sp>
          <p:nvSpPr>
            <p:cNvPr id="41" name="TextBox 41">
              <a:extLst xmlns:a="http://schemas.openxmlformats.org/drawingml/2006/main">
                <a:ext uri="{FF2B5EF4-FFF2-40B4-BE49-F238E27FC236}">
                  <a16:creationId xmlns:a16="http://schemas.microsoft.com/office/drawing/2014/main" id="{69234603-5CF0-4FDC-AA66-BA3DBAC8DE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287125" y="7524750"/>
              <a:ext cx="3048000" cy="619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forecasting, anomaly,</a:t>
              </a:r>
              <a:endParaRPr sz="1900"/>
            </a:p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D6E67"/>
                  </a:solidFill>
                  <a:latin typeface="Cambria"/>
                  <a:ea typeface="Cambria"/>
                  <a:cs typeface="Cambria"/>
                </a:rPr>
                <a:t>augmentation, decisions</a:t>
              </a:r>
              <a:endParaRPr sz="1900"/>
            </a:p>
          </p:txBody>
        </p:sp>
        <p:sp>
          <p:nvSpPr>
            <p:cNvPr id="42" name="TextBox 42">
              <a:extLst xmlns:a="http://schemas.openxmlformats.org/drawingml/2006/main">
                <a:ext uri="{FF2B5EF4-FFF2-40B4-BE49-F238E27FC236}">
                  <a16:creationId xmlns:a16="http://schemas.microsoft.com/office/drawing/2014/main" id="{1CE96C91-6BF6-4691-B6D7-E5EB5E5D6D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3095625"/>
              <a:ext cx="904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08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instantiate</a:t>
              </a:r>
              <a:endParaRPr sz="1080"/>
            </a:p>
          </p:txBody>
        </p:sp>
        <p:sp>
          <p:nvSpPr>
            <p:cNvPr id="43" name="TextBox 43">
              <a:extLst xmlns:a="http://schemas.openxmlformats.org/drawingml/2006/main">
                <a:ext uri="{FF2B5EF4-FFF2-40B4-BE49-F238E27FC236}">
                  <a16:creationId xmlns:a16="http://schemas.microsoft.com/office/drawing/2014/main" id="{EDE3FDC2-CE52-460D-9D1C-005430F627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952750" y="4762500"/>
              <a:ext cx="12382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observe</a:t>
              </a:r>
              <a:endParaRPr sz="1900"/>
            </a:p>
          </p:txBody>
        </p:sp>
        <p:sp>
          <p:nvSpPr>
            <p:cNvPr id="44" name="TextBox 44">
              <a:extLst xmlns:a="http://schemas.openxmlformats.org/drawingml/2006/main">
                <a:ext uri="{FF2B5EF4-FFF2-40B4-BE49-F238E27FC236}">
                  <a16:creationId xmlns:a16="http://schemas.microsoft.com/office/drawing/2014/main" id="{9367D18F-EEF8-4469-BDF5-7611931EFD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5029200"/>
              <a:ext cx="12858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00" i="1">
                  <a:solidFill>
                    <a:srgbClr val="397C63"/>
                  </a:solidFill>
                  <a:latin typeface="Cambria"/>
                  <a:ea typeface="Cambria"/>
                  <a:cs typeface="Cambria"/>
                </a:rPr>
                <a:t>evaluate</a:t>
              </a:r>
              <a:endParaRPr sz="2100"/>
            </a:p>
          </p:txBody>
        </p:sp>
        <p:sp>
          <p:nvSpPr>
            <p:cNvPr id="45" name="TextBox 45">
              <a:extLst xmlns:a="http://schemas.openxmlformats.org/drawingml/2006/main">
                <a:ext uri="{FF2B5EF4-FFF2-40B4-BE49-F238E27FC236}">
                  <a16:creationId xmlns:a16="http://schemas.microsoft.com/office/drawing/2014/main" id="{3B218B9E-1A38-4440-B01F-F776592BFD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9700" y="6762750"/>
              <a:ext cx="100012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adapt</a:t>
              </a:r>
              <a:endParaRPr sz="2000"/>
            </a:p>
          </p:txBody>
        </p:sp>
        <p:sp>
          <p:nvSpPr>
            <p:cNvPr id="46" name="TextBox 46">
              <a:extLst xmlns:a="http://schemas.openxmlformats.org/drawingml/2006/main">
                <a:ext uri="{FF2B5EF4-FFF2-40B4-BE49-F238E27FC236}">
                  <a16:creationId xmlns:a16="http://schemas.microsoft.com/office/drawing/2014/main" id="{C800D007-8885-4CE3-A2BB-C41C28DE3C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191750" y="6762750"/>
              <a:ext cx="6667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6645D"/>
                  </a:solidFill>
                  <a:latin typeface="Cambria"/>
                  <a:ea typeface="Cambria"/>
                  <a:cs typeface="Cambria"/>
                </a:rPr>
                <a:t>benchmark</a:t>
              </a:r>
              <a:endParaRPr sz="2000"/>
            </a:p>
          </p:txBody>
        </p:sp>
        <p:sp>
          <p:nvSpPr>
            <p:cNvPr id="47" name="TextBox 47">
              <a:extLst xmlns:a="http://schemas.openxmlformats.org/drawingml/2006/main">
                <a:ext uri="{FF2B5EF4-FFF2-40B4-BE49-F238E27FC236}">
                  <a16:creationId xmlns:a16="http://schemas.microsoft.com/office/drawing/2014/main" id="{95E9BF51-1D89-4615-9E4F-054ECC4D0C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58625" y="4762500"/>
              <a:ext cx="18097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i="1">
                  <a:solidFill>
                    <a:srgbClr val="357D83"/>
                  </a:solidFill>
                  <a:latin typeface="Cambria"/>
                  <a:ea typeface="Cambria"/>
                  <a:cs typeface="Cambria"/>
                </a:rPr>
                <a:t>select module</a:t>
              </a:r>
              <a:endParaRPr sz="1900"/>
            </a:p>
          </p:txBody>
        </p:sp>
        <p:sp>
          <p:nvSpPr>
            <p:cNvPr id="48" name="TextBox 48">
              <a:extLst xmlns:a="http://schemas.openxmlformats.org/drawingml/2006/main">
                <a:ext uri="{FF2B5EF4-FFF2-40B4-BE49-F238E27FC236}">
                  <a16:creationId xmlns:a16="http://schemas.microsoft.com/office/drawing/2014/main" id="{E3C20A67-4095-49BA-BFB5-FD2794241F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5500" y="9096375"/>
              <a:ext cx="49530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70" i="1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Module-level paper card</a:t>
              </a:r>
              <a:endParaRPr sz="1170"/>
            </a:p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A5195BDD-DB93-4AF4-ABFD-EC0FF9D75B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95750" y="9601200"/>
              <a:ext cx="8334375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>
                  <a:solidFill>
                    <a:srgbClr val="7776CC"/>
                  </a:solidFill>
                  <a:latin typeface="Cambria"/>
                  <a:ea typeface="Cambria"/>
                  <a:cs typeface="Cambria"/>
                </a:rPr>
                <a:t>One paper may contribute several modules</a:t>
              </a:r>
              <a:endParaRPr sz="190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3293197A-0C08-4983-863F-C62021D98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76500" y="10210800"/>
              <a:ext cx="111442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800" b="1">
                  <a:solidFill>
                    <a:srgbClr val="6C706C"/>
                  </a:solidFill>
                  <a:latin typeface="Cambria"/>
                  <a:ea typeface="Cambria"/>
                  <a:cs typeface="Cambria"/>
                </a:rPr>
                <a:t>Task semantics and benchmark protocols remain explicit</a:t>
              </a:r>
              <a:endParaRPr sz="180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8735695C-344B-4EDE-8ECD-E6D1302BE4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85875" y="323850"/>
              <a:ext cx="56197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31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Time-Series Agent system</a:t>
              </a:r>
              <a:endParaRPr sz="310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2B57A965-3E3D-427C-B3D8-9F357133BD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477625" y="409575"/>
              <a:ext cx="3381375" cy="4762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r">
                <a:buNone/>
              </a:pPr>
              <a:r>
                <a:rPr sz="1540" i="1">
                  <a:solidFill>
                    <a:srgbClr val="66716D"/>
                  </a:solidFill>
                  <a:latin typeface="Cambria"/>
                  <a:ea typeface="Cambria"/>
                  <a:cs typeface="Cambria"/>
                </a:rPr>
                <a:t>A module-level construction view</a:t>
              </a:r>
              <a:endParaRPr sz="154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6B720197-D83C-4F5F-96F4-B2D6B9F07C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42875" y="10744200"/>
              <a:ext cx="16287750" cy="1714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t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500"/>
            </a:p>
          </p:txBody>
        </p:sp>
      </p:grpSp>
    </p:spTree>
    <p:extLst>
      <p:ext uri="{BB962C8B-B14F-4D97-AF65-F5344CB8AC3E}">
        <p14:creationId xmlns:p14="http://schemas.microsoft.com/office/powerpoint/2010/main" val="6608840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71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0A3D0D38-47FC-44BB-B1FA-D52AE46629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16697" y="4692728"/>
              <a:ext cx="1975054" cy="1753848"/>
            </a:xfrm>
            <a:prstGeom xmlns:a="http://schemas.openxmlformats.org/drawingml/2006/main" prst="roundRect">
              <a:avLst>
                <a:gd name="adj" fmla="val 8108"/>
              </a:avLst>
            </a:prstGeom>
            <a:solidFill xmlns:a="http://schemas.openxmlformats.org/drawingml/2006/main">
              <a:srgbClr val="CFE9EE"/>
            </a:solidFill>
            <a:ln xmlns:a="http://schemas.openxmlformats.org/drawingml/2006/main" w="25400">
              <a:solidFill>
                <a:srgbClr val="1F2937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8C5C85B8-06BF-4B9F-9D50-9AC7DE11B3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742620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DEC47B3F-F672-4CF3-B466-041FB74C03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1967154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D64BE902-CB9F-4263-9ADA-A99B93980B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3199588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F8F5CB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FAE95982-E0AC-4C6B-939B-4745C2DF67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4424121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4A155900-06CC-4A2B-B3D0-1FF129B6C8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5664455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F9454FDB-CA7D-4DB9-8B9B-025E4E6372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6888989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DDEFD8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D017AD12-D4A5-454B-A342-D8B38831B7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8121422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C9E8EE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B31F1000-340A-4974-B333-070C93A948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9353856"/>
              <a:ext cx="3752603" cy="1106030"/>
            </a:xfrm>
            <a:prstGeom xmlns:a="http://schemas.openxmlformats.org/drawingml/2006/main" prst="roundRect">
              <a:avLst>
                <a:gd name="adj" fmla="val 14286"/>
              </a:avLst>
            </a:prstGeom>
            <a:solidFill xmlns:a="http://schemas.openxmlformats.org/drawingml/2006/main">
              <a:srgbClr val="E5DDF0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CD2E0FEE-7759-43A9-8998-B7308AAC7E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8072" y="10586290"/>
              <a:ext cx="3752603" cy="829523"/>
            </a:xfrm>
            <a:prstGeom xmlns:a="http://schemas.openxmlformats.org/drawingml/2006/main" prst="roundRect">
              <a:avLst>
                <a:gd name="adj" fmla="val 19048"/>
              </a:avLst>
            </a:prstGeom>
            <a:solidFill xmlns:a="http://schemas.openxmlformats.org/drawingml/2006/main">
              <a:srgbClr val="E5DDF0"/>
            </a:solidFill>
            <a:ln xmlns:a="http://schemas.openxmlformats.org/drawingml/2006/main" w="25400">
              <a:solidFill>
                <a:srgbClr val="202020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FC4BCE47-30C5-4247-ACEB-8F2A5F1675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742620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89220662-21BF-4837-9F80-64B6CC73D3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1967154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52514506-723C-4C29-B42C-0F74044E21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3199588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BFBEF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5">
              <a:extLst xmlns:a="http://schemas.openxmlformats.org/drawingml/2006/main">
                <a:ext uri="{FF2B5EF4-FFF2-40B4-BE49-F238E27FC236}">
                  <a16:creationId xmlns:a16="http://schemas.microsoft.com/office/drawing/2014/main" id="{9BACDACE-7947-4AA6-9386-D226436A90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4424121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Roundrect 16">
              <a:extLst xmlns:a="http://schemas.openxmlformats.org/drawingml/2006/main">
                <a:ext uri="{FF2B5EF4-FFF2-40B4-BE49-F238E27FC236}">
                  <a16:creationId xmlns:a16="http://schemas.microsoft.com/office/drawing/2014/main" id="{112D592C-0E27-4968-A9A0-08BF0C7D1F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5664455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Roundrect 17">
              <a:extLst xmlns:a="http://schemas.openxmlformats.org/drawingml/2006/main">
                <a:ext uri="{FF2B5EF4-FFF2-40B4-BE49-F238E27FC236}">
                  <a16:creationId xmlns:a16="http://schemas.microsoft.com/office/drawing/2014/main" id="{66B95DA8-04AB-42E9-9EF5-44048E9F9C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6888989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2F9EE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Roundrect 18">
              <a:extLst xmlns:a="http://schemas.openxmlformats.org/drawingml/2006/main">
                <a:ext uri="{FF2B5EF4-FFF2-40B4-BE49-F238E27FC236}">
                  <a16:creationId xmlns:a16="http://schemas.microsoft.com/office/drawing/2014/main" id="{54EC743D-DC5A-4B1E-9EF8-B84C7DD122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8121422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E7F5F8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Roundrect 19">
              <a:extLst xmlns:a="http://schemas.openxmlformats.org/drawingml/2006/main">
                <a:ext uri="{FF2B5EF4-FFF2-40B4-BE49-F238E27FC236}">
                  <a16:creationId xmlns:a16="http://schemas.microsoft.com/office/drawing/2014/main" id="{F3D19169-4082-415F-847F-6BC79505B8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9353856"/>
              <a:ext cx="5490650" cy="1106030"/>
            </a:xfrm>
            <a:prstGeom xmlns:a="http://schemas.openxmlformats.org/drawingml/2006/main" prst="roundRect">
              <a:avLst>
                <a:gd name="adj" fmla="val 17143"/>
              </a:avLst>
            </a:prstGeom>
            <a:solidFill xmlns:a="http://schemas.openxmlformats.org/drawingml/2006/main">
              <a:srgbClr val="F5F0FA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Roundrect 20">
              <a:extLst xmlns:a="http://schemas.openxmlformats.org/drawingml/2006/main">
                <a:ext uri="{FF2B5EF4-FFF2-40B4-BE49-F238E27FC236}">
                  <a16:creationId xmlns:a16="http://schemas.microsoft.com/office/drawing/2014/main" id="{3A970C13-3960-4C84-9766-C46C2A37E2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79698" y="10586290"/>
              <a:ext cx="5490650" cy="829523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5F0FA"/>
            </a:solidFill>
            <a:ln xmlns:a="http://schemas.openxmlformats.org/drawingml/2006/main" w="25400">
              <a:solidFill>
                <a:srgbClr val="252525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Line 21">
              <a:extLst xmlns:a="http://schemas.openxmlformats.org/drawingml/2006/main">
                <a:ext uri="{FF2B5EF4-FFF2-40B4-BE49-F238E27FC236}">
                  <a16:creationId xmlns:a16="http://schemas.microsoft.com/office/drawing/2014/main" id="{EA7CE87E-EABC-4ED6-B6D5-2CFB715C72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98130"/>
              <a:ext cx="0" cy="109734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9727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Line 22">
              <a:extLst xmlns:a="http://schemas.openxmlformats.org/drawingml/2006/main">
                <a:ext uri="{FF2B5EF4-FFF2-40B4-BE49-F238E27FC236}">
                  <a16:creationId xmlns:a16="http://schemas.microsoft.com/office/drawing/2014/main" id="{2DC6EC90-D975-4986-AAFD-D690FFE7B2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82330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Line 23">
              <a:extLst xmlns:a="http://schemas.openxmlformats.org/drawingml/2006/main">
                <a:ext uri="{FF2B5EF4-FFF2-40B4-BE49-F238E27FC236}">
                  <a16:creationId xmlns:a16="http://schemas.microsoft.com/office/drawing/2014/main" id="{A1856308-AA3B-43CA-993E-5568348490A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2306863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Line 24">
              <a:extLst xmlns:a="http://schemas.openxmlformats.org/drawingml/2006/main">
                <a:ext uri="{FF2B5EF4-FFF2-40B4-BE49-F238E27FC236}">
                  <a16:creationId xmlns:a16="http://schemas.microsoft.com/office/drawing/2014/main" id="{05038BD4-378B-48BC-A9FE-9E59980A0E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3539297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7D815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Line 25">
              <a:extLst xmlns:a="http://schemas.openxmlformats.org/drawingml/2006/main">
                <a:ext uri="{FF2B5EF4-FFF2-40B4-BE49-F238E27FC236}">
                  <a16:creationId xmlns:a16="http://schemas.microsoft.com/office/drawing/2014/main" id="{66DC83AD-44B6-40E0-AFFA-293D89642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4771731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Line 26">
              <a:extLst xmlns:a="http://schemas.openxmlformats.org/drawingml/2006/main">
                <a:ext uri="{FF2B5EF4-FFF2-40B4-BE49-F238E27FC236}">
                  <a16:creationId xmlns:a16="http://schemas.microsoft.com/office/drawing/2014/main" id="{36CF8154-6118-4FA6-9B53-CA9CBAA751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6004164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Line 27">
              <a:extLst xmlns:a="http://schemas.openxmlformats.org/drawingml/2006/main">
                <a:ext uri="{FF2B5EF4-FFF2-40B4-BE49-F238E27FC236}">
                  <a16:creationId xmlns:a16="http://schemas.microsoft.com/office/drawing/2014/main" id="{4F38CBD7-8A95-4E1B-975F-18CE76C3D0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7236598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C866D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Line 28">
              <a:extLst xmlns:a="http://schemas.openxmlformats.org/drawingml/2006/main">
                <a:ext uri="{FF2B5EF4-FFF2-40B4-BE49-F238E27FC236}">
                  <a16:creationId xmlns:a16="http://schemas.microsoft.com/office/drawing/2014/main" id="{79CEC729-7360-471C-AE59-25F5EA30A5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8469032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B91A8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9" name="Line 29">
              <a:extLst xmlns:a="http://schemas.openxmlformats.org/drawingml/2006/main">
                <a:ext uri="{FF2B5EF4-FFF2-40B4-BE49-F238E27FC236}">
                  <a16:creationId xmlns:a16="http://schemas.microsoft.com/office/drawing/2014/main" id="{FDF2C4E9-A504-47D6-B991-AF7655D33B1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9701466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0" name="Line 30">
              <a:extLst xmlns:a="http://schemas.openxmlformats.org/drawingml/2006/main">
                <a:ext uri="{FF2B5EF4-FFF2-40B4-BE49-F238E27FC236}">
                  <a16:creationId xmlns:a16="http://schemas.microsoft.com/office/drawing/2014/main" id="{71C126E5-08A2-4A9B-BAAD-670ABCACFD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63061" y="10941800"/>
              <a:ext cx="395011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264A3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1" name="Line 31">
              <a:extLst xmlns:a="http://schemas.openxmlformats.org/drawingml/2006/main">
                <a:ext uri="{FF2B5EF4-FFF2-40B4-BE49-F238E27FC236}">
                  <a16:creationId xmlns:a16="http://schemas.microsoft.com/office/drawing/2014/main" id="{1E5FE03B-A6AC-4453-BCF6-075F79E868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1153432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2" name="Line 32">
              <a:extLst xmlns:a="http://schemas.openxmlformats.org/drawingml/2006/main">
                <a:ext uri="{FF2B5EF4-FFF2-40B4-BE49-F238E27FC236}">
                  <a16:creationId xmlns:a16="http://schemas.microsoft.com/office/drawing/2014/main" id="{B04B91D8-7304-4743-9093-187DF4A40A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2520169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3" name="Line 33">
              <a:extLst xmlns:a="http://schemas.openxmlformats.org/drawingml/2006/main">
                <a:ext uri="{FF2B5EF4-FFF2-40B4-BE49-F238E27FC236}">
                  <a16:creationId xmlns:a16="http://schemas.microsoft.com/office/drawing/2014/main" id="{426829A0-D871-4EA5-8B43-AB70146ADE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3752603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6E7A5B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4" name="Line 34">
              <a:extLst xmlns:a="http://schemas.openxmlformats.org/drawingml/2006/main">
                <a:ext uri="{FF2B5EF4-FFF2-40B4-BE49-F238E27FC236}">
                  <a16:creationId xmlns:a16="http://schemas.microsoft.com/office/drawing/2014/main" id="{0B09B58E-9D83-4D05-BD12-B9B9600E39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4834932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5" name="Line 35">
              <a:extLst xmlns:a="http://schemas.openxmlformats.org/drawingml/2006/main">
                <a:ext uri="{FF2B5EF4-FFF2-40B4-BE49-F238E27FC236}">
                  <a16:creationId xmlns:a16="http://schemas.microsoft.com/office/drawing/2014/main" id="{32F8FCBA-EF25-45BB-906D-A253832B88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6217470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6" name="Line 36">
              <a:extLst xmlns:a="http://schemas.openxmlformats.org/drawingml/2006/main">
                <a:ext uri="{FF2B5EF4-FFF2-40B4-BE49-F238E27FC236}">
                  <a16:creationId xmlns:a16="http://schemas.microsoft.com/office/drawing/2014/main" id="{3F45FAD1-E8EC-4882-A259-2590DF395E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7442004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4D8F76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7" name="Line 37">
              <a:extLst xmlns:a="http://schemas.openxmlformats.org/drawingml/2006/main">
                <a:ext uri="{FF2B5EF4-FFF2-40B4-BE49-F238E27FC236}">
                  <a16:creationId xmlns:a16="http://schemas.microsoft.com/office/drawing/2014/main" id="{4126B9EC-78E7-41EB-B021-2A8443548A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8674438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5793A5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8" name="Line 38">
              <a:extLst xmlns:a="http://schemas.openxmlformats.org/drawingml/2006/main">
                <a:ext uri="{FF2B5EF4-FFF2-40B4-BE49-F238E27FC236}">
                  <a16:creationId xmlns:a16="http://schemas.microsoft.com/office/drawing/2014/main" id="{58080B09-FE8C-4C2E-93E6-1CAB937825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9906871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9" name="Line 39">
              <a:extLst xmlns:a="http://schemas.openxmlformats.org/drawingml/2006/main">
                <a:ext uri="{FF2B5EF4-FFF2-40B4-BE49-F238E27FC236}">
                  <a16:creationId xmlns:a16="http://schemas.microsoft.com/office/drawing/2014/main" id="{DA3FAA57-3311-4F6A-9BFB-05481E045B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10674" y="10997101"/>
              <a:ext cx="8690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solidFill>
                <a:srgbClr val="8068A1"/>
              </a:solidFill>
              <a:prstDash val="solid"/>
              <a:headEnd type="none"/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0" name="Ellipse 40">
              <a:extLst xmlns:a="http://schemas.openxmlformats.org/drawingml/2006/main">
                <a:ext uri="{FF2B5EF4-FFF2-40B4-BE49-F238E27FC236}">
                  <a16:creationId xmlns:a16="http://schemas.microsoft.com/office/drawing/2014/main" id="{37FBE542-10DE-4411-B941-02264D11238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1003327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1" name="Ellipse 41">
              <a:extLst xmlns:a="http://schemas.openxmlformats.org/drawingml/2006/main">
                <a:ext uri="{FF2B5EF4-FFF2-40B4-BE49-F238E27FC236}">
                  <a16:creationId xmlns:a16="http://schemas.microsoft.com/office/drawing/2014/main" id="{E908D23C-23CA-40BE-9A76-9C98B8089F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2227861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2" name="Ellipse 42">
              <a:extLst xmlns:a="http://schemas.openxmlformats.org/drawingml/2006/main">
                <a:ext uri="{FF2B5EF4-FFF2-40B4-BE49-F238E27FC236}">
                  <a16:creationId xmlns:a16="http://schemas.microsoft.com/office/drawing/2014/main" id="{374D86A1-11AF-40A7-A3D6-067CCC6515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3460295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F1D7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3" name="Ellipse 43">
              <a:extLst xmlns:a="http://schemas.openxmlformats.org/drawingml/2006/main">
                <a:ext uri="{FF2B5EF4-FFF2-40B4-BE49-F238E27FC236}">
                  <a16:creationId xmlns:a16="http://schemas.microsoft.com/office/drawing/2014/main" id="{8918EC1D-F97B-430F-A7FB-DB20F5753B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4692728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4" name="Ellipse 44">
              <a:extLst xmlns:a="http://schemas.openxmlformats.org/drawingml/2006/main">
                <a:ext uri="{FF2B5EF4-FFF2-40B4-BE49-F238E27FC236}">
                  <a16:creationId xmlns:a16="http://schemas.microsoft.com/office/drawing/2014/main" id="{5F78B2C5-6D4F-48BF-8ACF-096317EC3E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5925162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5" name="Ellipse 45">
              <a:extLst xmlns:a="http://schemas.openxmlformats.org/drawingml/2006/main">
                <a:ext uri="{FF2B5EF4-FFF2-40B4-BE49-F238E27FC236}">
                  <a16:creationId xmlns:a16="http://schemas.microsoft.com/office/drawing/2014/main" id="{6B841A32-AEFC-4046-83CE-3373F37A37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7157596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7F3E8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6" name="Ellipse 46">
              <a:extLst xmlns:a="http://schemas.openxmlformats.org/drawingml/2006/main">
                <a:ext uri="{FF2B5EF4-FFF2-40B4-BE49-F238E27FC236}">
                  <a16:creationId xmlns:a16="http://schemas.microsoft.com/office/drawing/2014/main" id="{EBFE40B9-CA6A-40E4-8DA1-336266F35C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8390030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D6EEF3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7" name="Ellipse 47">
              <a:extLst xmlns:a="http://schemas.openxmlformats.org/drawingml/2006/main">
                <a:ext uri="{FF2B5EF4-FFF2-40B4-BE49-F238E27FC236}">
                  <a16:creationId xmlns:a16="http://schemas.microsoft.com/office/drawing/2014/main" id="{D095759D-9372-40E2-BC15-7D00D97560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9622463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9DFF0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8" name="Ellipse 48">
              <a:extLst xmlns:a="http://schemas.openxmlformats.org/drawingml/2006/main">
                <a:ext uri="{FF2B5EF4-FFF2-40B4-BE49-F238E27FC236}">
                  <a16:creationId xmlns:a16="http://schemas.microsoft.com/office/drawing/2014/main" id="{E7F5B5EE-1697-46BF-AC25-7BD2158D7F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084059" y="10862797"/>
              <a:ext cx="158004" cy="158004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9DFF0"/>
            </a:solidFill>
            <a:ln xmlns:a="http://schemas.openxmlformats.org/drawingml/2006/main" w="25400">
              <a:solidFill>
                <a:srgbClr val="55606B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9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D81EF437-2A24-47E5-A07C-754416FAEE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177616" y="142204"/>
              <a:ext cx="1422039" cy="5135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4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Survey organization</a:t>
              </a:r>
              <a:endParaRPr sz="2540"/>
            </a:p>
          </p:txBody>
        </p:sp>
        <p:sp>
          <p:nvSpPr>
            <p:cNvPr id="50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56A6678B-794A-439F-B696-84A30D10A5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154752" y="142204"/>
              <a:ext cx="1738048" cy="51351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50" i="1">
                  <a:solidFill>
                    <a:srgbClr val="707070"/>
                  </a:solidFill>
                  <a:latin typeface="Cambria"/>
                  <a:ea typeface="Cambria"/>
                  <a:cs typeface="Cambria"/>
                </a:rPr>
                <a:t>Sections</a:t>
              </a:r>
              <a:endParaRPr sz="2350"/>
            </a:p>
          </p:txBody>
        </p:sp>
        <p:sp>
          <p:nvSpPr>
            <p:cNvPr id="51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2EDE01EB-343C-4029-BFDE-852D0E8B69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974701" y="4937635"/>
              <a:ext cx="1659045" cy="82952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Time-Series</a:t>
              </a:r>
              <a:endParaRPr sz="2680"/>
            </a:p>
            <a:p xmlns:a="http://schemas.openxmlformats.org/drawingml/2006/main">
              <a:pPr algn="ctr">
                <a:buNone/>
              </a:pPr>
              <a:r>
                <a:rPr sz="2680" b="1">
                  <a:solidFill>
                    <a:srgbClr val="101828"/>
                  </a:solidFill>
                  <a:latin typeface="Cambria"/>
                  <a:ea typeface="Cambria"/>
                  <a:cs typeface="Cambria"/>
                </a:rPr>
                <a:t>Agent</a:t>
              </a:r>
              <a:endParaRPr sz="2680"/>
            </a:p>
          </p:txBody>
        </p:sp>
        <p:sp>
          <p:nvSpPr>
            <p:cNvPr id="52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074160DC-92D4-46DC-BDBA-F789EE3831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974701" y="5877761"/>
              <a:ext cx="1659045" cy="35551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80" i="1">
                  <a:solidFill>
                    <a:srgbClr val="6B7280"/>
                  </a:solidFill>
                  <a:latin typeface="Cambria"/>
                  <a:ea typeface="Cambria"/>
                  <a:cs typeface="Cambria"/>
                </a:rPr>
                <a:t>Reader’s guide</a:t>
              </a:r>
              <a:endParaRPr sz="1680"/>
            </a:p>
          </p:txBody>
        </p:sp>
        <p:sp>
          <p:nvSpPr>
            <p:cNvPr id="53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645CDC35-51B5-4026-B049-880E4DCDEB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805822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1    Introduction</a:t>
              </a:r>
              <a:endParaRPr sz="2850"/>
            </a:p>
          </p:txBody>
        </p:sp>
        <p:sp>
          <p:nvSpPr>
            <p:cNvPr id="54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333720CC-1901-4A32-A650-EB3CB1DA7EB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2030356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2    What Is a</a:t>
              </a:r>
              <a:endParaRPr sz="2410"/>
            </a:p>
            <a:p xmlns:a="http://schemas.openxmlformats.org/drawingml/2006/main">
              <a:pPr algn="ctr">
                <a:buNone/>
              </a:pPr>
              <a:r>
                <a:rPr sz="24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Time-Series Agent?</a:t>
              </a:r>
              <a:endParaRPr sz="2410"/>
            </a:p>
          </p:txBody>
        </p:sp>
        <p:sp>
          <p:nvSpPr>
            <p:cNvPr id="55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D7ECB67E-68AE-44FB-96CA-14187B3B2B0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3262789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3    LLM-Side</a:t>
              </a:r>
              <a:endParaRPr sz="2480"/>
            </a:p>
            <a:p xmlns:a="http://schemas.openxmlformats.org/drawingml/2006/main">
              <a:pPr algn="ctr">
                <a:buNone/>
              </a:pPr>
              <a:r>
                <a:rPr sz="24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Contributions</a:t>
              </a:r>
              <a:endParaRPr sz="2480"/>
            </a:p>
          </p:txBody>
        </p:sp>
        <p:sp>
          <p:nvSpPr>
            <p:cNvPr id="56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C0FC43D4-686E-40E3-9D59-004BF930E8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4487323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54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4    General</a:t>
              </a:r>
              <a:endParaRPr sz="2540"/>
            </a:p>
            <a:p xmlns:a="http://schemas.openxmlformats.org/drawingml/2006/main">
              <a:pPr algn="ctr">
                <a:buNone/>
              </a:pPr>
              <a:r>
                <a:rPr sz="254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540"/>
            </a:p>
          </p:txBody>
        </p:sp>
        <p:sp>
          <p:nvSpPr>
            <p:cNvPr id="57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0CC18A36-E59D-4E6D-A86F-A12BC70F57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5727657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5    General Time-Series</a:t>
              </a:r>
              <a:endParaRPr sz="2110"/>
            </a:p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110"/>
            </a:p>
          </p:txBody>
        </p:sp>
        <p:sp>
          <p:nvSpPr>
            <p:cNvPr id="58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470BDABB-D852-412E-B461-4E6952FCC7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6952190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6    Task-Specific</a:t>
              </a:r>
              <a:endParaRPr sz="2110"/>
            </a:p>
            <a:p xmlns:a="http://schemas.openxmlformats.org/drawingml/2006/main">
              <a:pPr algn="ctr">
                <a:buNone/>
              </a:pPr>
              <a:r>
                <a:rPr sz="21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Harness</a:t>
              </a:r>
              <a:endParaRPr sz="2110"/>
            </a:p>
          </p:txBody>
        </p:sp>
        <p:sp>
          <p:nvSpPr>
            <p:cNvPr id="59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39DC99BB-1B76-497F-891D-B310F32F82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8184624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7    Infrastructure and</a:t>
              </a:r>
              <a:endParaRPr sz="2610"/>
            </a:p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Benchmarks</a:t>
              </a:r>
              <a:endParaRPr sz="2610"/>
            </a:p>
          </p:txBody>
        </p:sp>
        <p:sp>
          <p:nvSpPr>
            <p:cNvPr id="60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17933CB9-3A8D-46F3-B0FF-DD21613BE5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9417058"/>
              <a:ext cx="3476095" cy="97962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8    Open Problems</a:t>
              </a:r>
              <a:endParaRPr sz="2610"/>
            </a:p>
            <a:p xmlns:a="http://schemas.openxmlformats.org/drawingml/2006/main">
              <a:pPr algn="ctr">
                <a:buNone/>
              </a:pPr>
              <a:r>
                <a:rPr sz="261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and System Analyses</a:t>
              </a:r>
              <a:endParaRPr sz="2610"/>
            </a:p>
          </p:txBody>
        </p:sp>
        <p:sp>
          <p:nvSpPr>
            <p:cNvPr id="61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317574F8-F8A3-4C9F-9210-FEC21510A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92375" y="10649492"/>
              <a:ext cx="3476095" cy="703119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32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§ 9    Conclusion</a:t>
              </a:r>
              <a:endParaRPr sz="3220"/>
            </a:p>
          </p:txBody>
        </p:sp>
        <p:sp>
          <p:nvSpPr>
            <p:cNvPr id="62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E80BEADC-3F2A-4C85-887C-0E15C420C8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790022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Motivation and scope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Construction questions</a:t>
              </a:r>
              <a:endParaRPr sz="2370"/>
            </a:p>
          </p:txBody>
        </p:sp>
        <p:sp>
          <p:nvSpPr>
            <p:cNvPr id="63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B2946089-CC82-4883-8A6E-E5790B032C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2014555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Agent interaction loop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Tasks and module reuse</a:t>
              </a:r>
              <a:endParaRPr sz="2370"/>
            </a:p>
          </p:txBody>
        </p:sp>
        <p:sp>
          <p:nvSpPr>
            <p:cNvPr id="64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4BBBEBF4-F1AB-46E5-8D29-2FE52072A7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3246989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Model interfaces</a:t>
              </a:r>
              <a:endParaRPr sz="2180"/>
            </a:p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Temporal adaptation</a:t>
              </a:r>
              <a:endParaRPr sz="2180"/>
            </a:p>
            <a:p xmlns:a="http://schemas.openxmlformats.org/drawingml/2006/main">
              <a:pPr algn="l">
                <a:buNone/>
              </a:pPr>
              <a:r>
                <a:rPr sz="218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Workflow policies</a:t>
              </a:r>
              <a:endParaRPr sz="2180"/>
            </a:p>
          </p:txBody>
        </p:sp>
        <p:sp>
          <p:nvSpPr>
            <p:cNvPr id="65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9A37DBF7-E12D-43B7-9BC8-E930F963D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4471522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Interfaces, tools, memory</a:t>
              </a:r>
              <a:endParaRPr sz="2160"/>
            </a:p>
            <a:p xmlns:a="http://schemas.openxmlformats.org/drawingml/2006/main">
              <a:pPr algn="l">
                <a:buNone/>
              </a:pPr>
              <a:r>
                <a:rPr sz="216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Control, plans, learning, roles</a:t>
              </a:r>
              <a:endParaRPr sz="2160"/>
            </a:p>
          </p:txBody>
        </p:sp>
        <p:sp>
          <p:nvSpPr>
            <p:cNvPr id="66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1BA24F56-726F-41DC-81CC-AB6F3CEADA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5711856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Data management         Temporal processing</a:t>
              </a:r>
              <a:endParaRPr sz="2000"/>
            </a:p>
            <a:p xmlns:a="http://schemas.openxmlformats.org/drawingml/2006/main">
              <a:pPr algn="l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Context and memory      Temporal validation</a:t>
              </a:r>
              <a:endParaRPr sz="2000"/>
            </a:p>
          </p:txBody>
        </p:sp>
        <p:sp>
          <p:nvSpPr>
            <p:cNvPr id="67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B6E31246-0790-4B91-998C-73D25F5F27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6936390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Forecasting                Augmentation</a:t>
              </a:r>
              <a:endParaRPr sz="1889"/>
            </a:p>
            <a:p xmlns:a="http://schemas.openxmlformats.org/drawingml/2006/main">
              <a:pPr algn="l">
                <a:buNone/>
              </a:pPr>
              <a:r>
                <a:rPr sz="1889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Anomaly diagnosis          Decision support</a:t>
              </a:r>
              <a:endParaRPr sz="1889"/>
            </a:p>
          </p:txBody>
        </p:sp>
        <p:sp>
          <p:nvSpPr>
            <p:cNvPr id="68" name="TextBox 68">
              <a:extLst xmlns:a="http://schemas.openxmlformats.org/drawingml/2006/main">
                <a:ext uri="{FF2B5EF4-FFF2-40B4-BE49-F238E27FC236}">
                  <a16:creationId xmlns:a16="http://schemas.microsoft.com/office/drawing/2014/main" id="{219681E6-35A9-4F2D-A244-4B3141F5A6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8168824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ModernTSF                  TimeSeriesGym</a:t>
              </a:r>
              <a:endParaRPr sz="1870"/>
            </a:p>
            <a:p xmlns:a="http://schemas.openxmlformats.org/drawingml/2006/main">
              <a:pPr algn="l">
                <a:buNone/>
              </a:pPr>
              <a:r>
                <a:rPr sz="18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Traces and episodes      Evaluation</a:t>
              </a:r>
              <a:endParaRPr sz="1870"/>
            </a:p>
          </p:txBody>
        </p:sp>
        <p:sp>
          <p:nvSpPr>
            <p:cNvPr id="69" name="TextBox 69">
              <a:extLst xmlns:a="http://schemas.openxmlformats.org/drawingml/2006/main">
                <a:ext uri="{FF2B5EF4-FFF2-40B4-BE49-F238E27FC236}">
                  <a16:creationId xmlns:a16="http://schemas.microsoft.com/office/drawing/2014/main" id="{95D6F2E5-1072-4082-A3AF-A3429A89D8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9401257"/>
              <a:ext cx="5135141" cy="101122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Transfer and memory      Evidence quality</a:t>
              </a:r>
              <a:endParaRPr sz="1850"/>
            </a:p>
            <a:p xmlns:a="http://schemas.openxmlformats.org/drawingml/2006/main">
              <a:pPr algn="l">
                <a:buNone/>
              </a:pPr>
              <a:r>
                <a:rPr sz="185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Decision feedback        Design implications</a:t>
              </a:r>
              <a:endParaRPr sz="1850"/>
            </a:p>
          </p:txBody>
        </p:sp>
        <p:sp>
          <p:nvSpPr>
            <p:cNvPr id="70" name="TextBox 70">
              <a:extLst xmlns:a="http://schemas.openxmlformats.org/drawingml/2006/main">
                <a:ext uri="{FF2B5EF4-FFF2-40B4-BE49-F238E27FC236}">
                  <a16:creationId xmlns:a16="http://schemas.microsoft.com/office/drawing/2014/main" id="{6F899B69-AE09-4863-9B2D-8D460EA42E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361403" y="10633691"/>
              <a:ext cx="5135141" cy="73472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Construction choices</a:t>
              </a:r>
              <a:endParaRPr sz="2370"/>
            </a:p>
            <a:p xmlns:a="http://schemas.openxmlformats.org/drawingml/2006/main">
              <a:pPr algn="l">
                <a:buNone/>
              </a:pPr>
              <a:r>
                <a:rPr sz="237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Evaluation and reuse</a:t>
              </a:r>
              <a:endParaRPr sz="2370"/>
            </a:p>
          </p:txBody>
        </p:sp>
      </p:grpSp>
    </p:spTree>
    <p:extLst>
      <p:ext uri="{BB962C8B-B14F-4D97-AF65-F5344CB8AC3E}">
        <p14:creationId xmlns:p14="http://schemas.microsoft.com/office/powerpoint/2010/main" val="101668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cxnSp>
          <p:nvCxn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B55ED298-24C4-4B33-A3D6-6D4524122699}"/>
                </a:ext>
              </a:extLst>
            </p:cNvPr>
            <p:cNvCxnSpPr>
              <a:stCxn xmlns:a="http://schemas.openxmlformats.org/drawingml/2006/main" id="17" idx="3"/>
              <a:endCxn xmlns:a="http://schemas.openxmlformats.org/drawingml/2006/main" id="21" idx="1"/>
            </p:cNvCxnSpPr>
            <p:nvPr/>
          </p:nvCxnSpPr>
          <p:spPr>
            <a:xfrm xmlns:a="http://schemas.openxmlformats.org/drawingml/2006/main" flipV="1">
              <a:off x="8667750" y="4857750"/>
              <a:ext cx="2571750" cy="952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4F8F89"/>
              </a:solidFill>
              <a:prstDash val="solid"/>
              <a:headEnd type="arrow" w="sm" len="sm"/>
            </a:ln>
          </p:spPr>
        </p:cxnSp>
        <p:cxnSp>
          <p:nvCxn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E96A5CA2-8414-40C7-8D47-AF32CCF905E5}"/>
                </a:ext>
              </a:extLst>
            </p:cNvPr>
            <p:cNvCxnSpPr>
              <a:stCxn xmlns:a="http://schemas.openxmlformats.org/drawingml/2006/main" id="14" idx="2"/>
              <a:endCxn xmlns:a="http://schemas.openxmlformats.org/drawingml/2006/main" id="17" idx="0"/>
            </p:cNvCxnSpPr>
            <p:nvPr/>
          </p:nvCxnSpPr>
          <p:spPr>
            <a:xfrm xmlns:a="http://schemas.openxmlformats.org/drawingml/2006/main" flipV="1">
              <a:off x="7429500" y="4762500"/>
              <a:ext cx="0" cy="2857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B47B24"/>
              </a:solidFill>
              <a:prstDash val="solid"/>
              <a:headEnd type="arrow" w="sm" len="sm"/>
            </a:ln>
          </p:spPr>
        </p:cxnSp>
        <p:cxnSp>
          <p:nvCxn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E67FC10C-D4EE-4E4B-B2E7-7BCA43A4CEAB}"/>
                </a:ext>
              </a:extLst>
            </p:cNvPr>
            <p:cNvCxnSpPr>
              <a:stCxn xmlns:a="http://schemas.openxmlformats.org/drawingml/2006/main" id="11" idx="2"/>
              <a:endCxn xmlns:a="http://schemas.openxmlformats.org/drawingml/2006/main" id="14" idx="0"/>
            </p:cNvCxnSpPr>
            <p:nvPr/>
          </p:nvCxnSpPr>
          <p:spPr>
            <a:xfrm xmlns:a="http://schemas.openxmlformats.org/drawingml/2006/main" flipV="1">
              <a:off x="7429500" y="3143250"/>
              <a:ext cx="0" cy="53340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4F8F89"/>
              </a:solidFill>
              <a:prstDash val="solid"/>
              <a:headEnd type="arrow" w="sm" len="sm"/>
            </a:ln>
          </p:spPr>
        </p:cxnSp>
        <p:cxnSp>
          <p:nvCxn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6323333D-7D8E-4ED3-B563-B5FA79AE53F0}"/>
                </a:ext>
              </a:extLst>
            </p:cNvPr>
            <p:cNvCxnSpPr>
              <a:stCxn xmlns:a="http://schemas.openxmlformats.org/drawingml/2006/main" id="4" idx="3"/>
              <a:endCxn xmlns:a="http://schemas.openxmlformats.org/drawingml/2006/main" id="11" idx="1"/>
            </p:cNvCxnSpPr>
            <p:nvPr/>
          </p:nvCxnSpPr>
          <p:spPr>
            <a:xfrm xmlns:a="http://schemas.openxmlformats.org/drawingml/2006/main">
              <a:off x="3619500" y="4857750"/>
              <a:ext cx="476250" cy="190500"/>
            </a:xfrm>
            <a:prstGeom xmlns:a="http://schemas.openxmlformats.org/drawingml/2006/main" prst="straightConnector1">
              <a:avLst/>
            </a:prstGeom>
            <a:ln xmlns:a="http://schemas.openxmlformats.org/drawingml/2006/main" w="23813">
              <a:solidFill>
                <a:srgbClr val="6D6396"/>
              </a:solidFill>
              <a:prstDash val="solid"/>
              <a:headEnd type="arrow" w="sm" len="sm"/>
            </a:ln>
          </p:spPr>
        </p:cxn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84A65B5F-2550-4210-ABCE-0AE3692338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66700"/>
              <a:ext cx="1390650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255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Contribution layers in Time-Series Agents</a:t>
              </a:r>
            </a:p>
          </p:txBody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9BC7A756-5F53-4634-A9F9-0E6967D9E3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723900"/>
              <a:ext cx="13906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LLM capabilities combine with three Harness scopes to support temporal tasks.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5196494C-F7A8-4CB4-84F8-094976A763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314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pPr>
              <a:r>
                <a:rPr sz="165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rPr>
                <a:t>LLM side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0798E671-C3ED-41FC-AB44-F929CD9963A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62000" y="1714500"/>
              <a:ext cx="2857500" cy="6286500"/>
            </a:xfrm>
            <a:prstGeom xmlns:a="http://schemas.openxmlformats.org/drawingml/2006/main" prst="roundRect">
              <a:avLst>
                <a:gd name="adj" fmla="val 2667"/>
              </a:avLst>
            </a:prstGeom>
            <a:solidFill xmlns:a="http://schemas.openxmlformats.org/drawingml/2006/main">
              <a:srgbClr val="E8E0F0"/>
            </a:solidFill>
            <a:ln xmlns:a="http://schemas.openxmlformats.org/drawingml/2006/main" w="14288">
              <a:solidFill>
                <a:srgbClr val="6D6396"/>
              </a:solidFill>
              <a:prstDash val="dash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267B41B1-896B-4B1B-BC09-2DBACDB65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" y="2095500"/>
              <a:ext cx="238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6D6396"/>
                  </a:solidFill>
                  <a:latin typeface="Cambria"/>
                  <a:ea typeface="Cambria"/>
                  <a:cs typeface="Cambria"/>
                </a:rPr>
                <a:t>LLM interaction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05124DDF-0B26-446C-8F37-C3255259B7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" y="2781300"/>
              <a:ext cx="2324100" cy="1381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interpret observations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select tool actions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use returned feedback</a:t>
              </a:r>
            </a:p>
            <a:p xmlns:a="http://schemas.openxmlformats.org/drawingml/2006/main">
              <a:pPr>
                <a:def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temporal adaptation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D26855EE-B49C-4CD8-B0C7-C041566A32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0625" y="4810125"/>
              <a:ext cx="2000250" cy="904875"/>
            </a:xfrm>
            <a:prstGeom xmlns:a="http://schemas.openxmlformats.org/drawingml/2006/main" prst="roundRect">
              <a:avLst>
                <a:gd name="adj" fmla="val 8421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6D6396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00AF2F9E-9C01-41BA-9C4A-7D2B2FF95D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3500" y="5010150"/>
              <a:ext cx="1714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Action-selection model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E67C291B-4820-4588-9B62-A00DA29D09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" y="6191250"/>
              <a:ext cx="238125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Model contribution</a:t>
              </a:r>
            </a:p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interfaces and training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53A9C5A2-68D9-40ED-A058-A4BF3002AE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95800" y="1143000"/>
              <a:ext cx="590550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21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Time-Series Agent</a:t>
              </a:r>
            </a:p>
          </p:txBody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76330AE9-43C4-4D19-A843-B80ADEE7FF6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1619250"/>
              <a:ext cx="6667500" cy="6858000"/>
            </a:xfrm>
            <a:prstGeom xmlns:a="http://schemas.openxmlformats.org/drawingml/2006/main" prst="roundRect">
              <a:avLst>
                <a:gd name="adj" fmla="val 1143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F8F89"/>
              </a:solidFill>
              <a:prstDash val="dash"/>
            </a:ln>
          </p:spPr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F2712E49-6679-4BB7-A8D3-BDD66F9E034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1981200"/>
              <a:ext cx="6000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8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General Harness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832BEDEE-6D5E-477F-9A1C-BB87ADAF97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2343150"/>
              <a:ext cx="6000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tools · memory · control · planning · coordination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71B747F3-93A6-415E-8C07-E0858A6A67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095875" y="3143250"/>
              <a:ext cx="4667250" cy="4476750"/>
            </a:xfrm>
            <a:prstGeom xmlns:a="http://schemas.openxmlformats.org/drawingml/2006/main" prst="roundRect">
              <a:avLst>
                <a:gd name="adj" fmla="val 1702"/>
              </a:avLst>
            </a:prstGeom>
            <a:solidFill xmlns:a="http://schemas.openxmlformats.org/drawingml/2006/main">
              <a:srgbClr val="E1EEDC"/>
            </a:solidFill>
            <a:ln xmlns:a="http://schemas.openxmlformats.org/drawingml/2006/main" w="14288">
              <a:solidFill>
                <a:srgbClr val="6B9F80"/>
              </a:solidFill>
              <a:prstDash val="dash"/>
            </a:ln>
          </p:spPr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AF78898E-882F-4483-A48C-78BF86E31F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381625" y="3476625"/>
              <a:ext cx="40957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defRPr>
              </a:pPr>
              <a:r>
                <a:rPr sz="1650" b="1" i="0">
                  <a:solidFill>
                    <a:srgbClr val="6B9F80"/>
                  </a:solidFill>
                  <a:latin typeface="Cambria"/>
                  <a:ea typeface="Cambria"/>
                  <a:cs typeface="Cambria"/>
                </a:rPr>
                <a:t>General Time-Series Harness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0C15CA2F-A8B1-4922-8875-A36B28FF61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429250" y="3857625"/>
              <a:ext cx="400050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temporal state · operations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provenance · validation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811E6EAC-EBC5-43FD-82E3-673A3B70A7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191250" y="4762500"/>
              <a:ext cx="2476500" cy="2095500"/>
            </a:xfrm>
            <a:prstGeom xmlns:a="http://schemas.openxmlformats.org/drawingml/2006/main" prst="roundRect">
              <a:avLst>
                <a:gd name="adj" fmla="val 3636"/>
              </a:avLst>
            </a:prstGeom>
            <a:solidFill xmlns:a="http://schemas.openxmlformats.org/drawingml/2006/main">
              <a:srgbClr val="F5F0CE"/>
            </a:solidFill>
            <a:ln xmlns:a="http://schemas.openxmlformats.org/drawingml/2006/main" w="14288">
              <a:solidFill>
                <a:srgbClr val="B47B24"/>
              </a:solidFill>
              <a:prstDash val="dash"/>
            </a:ln>
          </p:spPr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EEC92D4D-9EA8-47B8-A9A2-F28BEBBF48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381750" y="5048250"/>
              <a:ext cx="2095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defRPr>
              </a:pPr>
              <a:r>
                <a:rPr sz="1350" b="1" i="0">
                  <a:solidFill>
                    <a:srgbClr val="B47B24"/>
                  </a:solidFill>
                  <a:latin typeface="Cambria"/>
                  <a:ea typeface="Cambria"/>
                  <a:cs typeface="Cambria"/>
                </a:rPr>
                <a:t>Task-Specific Harness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2853C845-6533-42B7-8E89-93F0FED5066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57950" y="5524500"/>
              <a:ext cx="194310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forecasting</a:t>
              </a:r>
            </a:p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augmentation</a:t>
              </a:r>
            </a:p>
            <a:p xmlns:a="http://schemas.openxmlformats.org/drawingml/2006/main">
              <a:pPr>
                <a:def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anomaly · decisions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073419DC-0C6A-41E4-BAB3-444F27649F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0" y="1314450"/>
              <a:ext cx="28575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Evaluation and evidence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CB2FFA5C-6291-4A95-B53F-88F0666993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39500" y="1714500"/>
              <a:ext cx="2857500" cy="6286500"/>
            </a:xfrm>
            <a:prstGeom xmlns:a="http://schemas.openxmlformats.org/drawingml/2006/main" prst="roundRect">
              <a:avLst>
                <a:gd name="adj" fmla="val 26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4F8F89"/>
              </a:solidFill>
              <a:prstDash val="dash"/>
            </a:ln>
          </p:spPr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ECA11863-5A0F-4DAF-8067-C9173D7AE7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7625" y="2095500"/>
              <a:ext cx="23812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defRPr>
              </a:pPr>
              <a:r>
                <a:rPr sz="1500" b="1" i="0">
                  <a:solidFill>
                    <a:srgbClr val="4F8F89"/>
                  </a:solidFill>
                  <a:latin typeface="Cambria"/>
                  <a:ea typeface="Cambria"/>
                  <a:cs typeface="Cambria"/>
                </a:rPr>
                <a:t>Benchmark contract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FA2D844B-1B0C-4653-8625-B99023659E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77625" y="2781300"/>
              <a:ext cx="2381250" cy="12001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episodes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chronology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held-out tests</a:t>
              </a:r>
            </a:p>
            <a:p xmlns:a="http://schemas.openxmlformats.org/drawingml/2006/main">
              <a:pPr>
                <a:def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75" b="0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reproducible traces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C48F4159-DD0B-48DE-A827-BE7BE0AA506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0" y="4762500"/>
              <a:ext cx="2095500" cy="952500"/>
            </a:xfrm>
            <a:prstGeom xmlns:a="http://schemas.openxmlformats.org/drawingml/2006/main" prst="roundRect">
              <a:avLst>
                <a:gd name="adj" fmla="val 8000"/>
              </a:avLst>
            </a:prstGeom>
            <a:solidFill xmlns:a="http://schemas.openxmlformats.org/drawingml/2006/main">
              <a:srgbClr val="DCEFF1"/>
            </a:solidFill>
            <a:ln xmlns:a="http://schemas.openxmlformats.org/drawingml/2006/main" w="14288">
              <a:solidFill>
                <a:srgbClr val="4F8F89"/>
              </a:solidFill>
              <a:prstDash val="solid"/>
            </a:ln>
          </p:spPr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7562827F-4A8E-41B1-9FCD-18850D2240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791950" y="4972050"/>
              <a:ext cx="175260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module-level</a:t>
              </a:r>
            </a:p>
            <a:p xmlns:a="http://schemas.openxmlformats.org/drawingml/2006/main">
              <a:pPr>
                <a:def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425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counts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30F025FB-90C9-4A46-A4EE-D665C2A867F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0" y="6191250"/>
              <a:ext cx="2476500" cy="685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Each paper can contribute</a:t>
              </a:r>
            </a:p>
            <a:p xmlns:a="http://schemas.openxmlformats.org/drawingml/2006/main">
              <a:pPr>
                <a:def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defRPr>
              </a:pPr>
              <a:r>
                <a:rPr sz="1125" b="0" i="1">
                  <a:solidFill>
                    <a:srgbClr val="687078"/>
                  </a:solidFill>
                  <a:latin typeface="Cambria"/>
                  <a:ea typeface="Cambria"/>
                  <a:cs typeface="Cambria"/>
                </a:rPr>
                <a:t>several modules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2790A23E-888B-4FCF-8030-17E7A311382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95750" y="8858250"/>
              <a:ext cx="666750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45505A"/>
            </a:solidFill>
            <a:ln xmlns:a="http://schemas.openxmlformats.org/drawingml/2006/main" w="0">
              <a:solidFill>
                <a:srgbClr val="45505A"/>
              </a:solidFill>
              <a:prstDash val="solid"/>
            </a:ln>
          </p:spPr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E4561BFF-9D9A-4258-B397-C1387E9BB9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381500" y="9029700"/>
              <a:ext cx="6096000" cy="247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>
              <a:defPPr>
                <a:def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defPPr>
            </a:lstStyle>
            <a:p xmlns:a="http://schemas.openxmlformats.org/drawingml/2006/main">
              <a:pPr>
                <a:def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defRPr>
              </a:pPr>
              <a:r>
                <a:rPr sz="1200" b="1" i="0">
                  <a:solidFill>
                    <a:srgbClr val="20242B"/>
                  </a:solidFill>
                  <a:latin typeface="Cambria"/>
                  <a:ea typeface="Cambria"/>
                  <a:cs typeface="Cambria"/>
                </a:rPr>
                <a:t>General Harness ⊃ General Time-Series Harness ⊃ Task-Specific Harness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86334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4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" name="Roundrect 2">
              <a:extLst xmlns:a="http://schemas.openxmlformats.org/drawingml/2006/main">
                <a:ext uri="{FF2B5EF4-FFF2-40B4-BE49-F238E27FC236}">
                  <a16:creationId xmlns:a16="http://schemas.microsoft.com/office/drawing/2014/main" id="{3233EA32-85E7-4662-9AA3-0606C802E0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50989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BF5E8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" name="Roundrect 3">
              <a:extLst xmlns:a="http://schemas.openxmlformats.org/drawingml/2006/main">
                <a:ext uri="{FF2B5EF4-FFF2-40B4-BE49-F238E27FC236}">
                  <a16:creationId xmlns:a16="http://schemas.microsoft.com/office/drawing/2014/main" id="{C3919331-5D84-4245-B7FD-094B04E776B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5535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7F1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oundrect 4">
              <a:extLst xmlns:a="http://schemas.openxmlformats.org/drawingml/2006/main">
                <a:ext uri="{FF2B5EF4-FFF2-40B4-BE49-F238E27FC236}">
                  <a16:creationId xmlns:a16="http://schemas.microsoft.com/office/drawing/2014/main" id="{C4B7D85C-560D-41E9-BED3-AE110BCD70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60080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3FA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oundrect 5">
              <a:extLst xmlns:a="http://schemas.openxmlformats.org/drawingml/2006/main">
                <a:ext uri="{FF2B5EF4-FFF2-40B4-BE49-F238E27FC236}">
                  <a16:creationId xmlns:a16="http://schemas.microsoft.com/office/drawing/2014/main" id="{3C20F432-2B5C-4B88-8E16-4391A445D0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14626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9EEEE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oundrect 6">
              <a:extLst xmlns:a="http://schemas.openxmlformats.org/drawingml/2006/main">
                <a:ext uri="{FF2B5EF4-FFF2-40B4-BE49-F238E27FC236}">
                  <a16:creationId xmlns:a16="http://schemas.microsoft.com/office/drawing/2014/main" id="{7C10D64B-0797-4BF1-9D76-FC1F199334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69171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F4EFF8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AB9A8D7F-54F3-4973-B39E-77DBB6F96B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23717" y="856322"/>
              <a:ext cx="1245559" cy="1105434"/>
            </a:xfrm>
            <a:prstGeom xmlns:a="http://schemas.openxmlformats.org/drawingml/2006/main" prst="roundRect">
              <a:avLst>
                <a:gd name="adj" fmla="val 7042"/>
              </a:avLst>
            </a:prstGeom>
            <a:solidFill xmlns:a="http://schemas.openxmlformats.org/drawingml/2006/main">
              <a:srgbClr val="EDF6F6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6FD39D24-71E3-40AB-A632-C672D7DE0F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434218" y="9730930"/>
              <a:ext cx="8096134" cy="560502"/>
            </a:xfrm>
            <a:prstGeom xmlns:a="http://schemas.openxmlformats.org/drawingml/2006/main" prst="roundRect">
              <a:avLst>
                <a:gd name="adj" fmla="val 13889"/>
              </a:avLst>
            </a:prstGeom>
            <a:solidFill xmlns:a="http://schemas.openxmlformats.org/drawingml/2006/main">
              <a:srgbClr val="FBFBFB"/>
            </a:solidFill>
            <a:ln xmlns:a="http://schemas.openxmlformats.org/drawingml/2006/main" w="25400">
              <a:solidFill>
                <a:srgbClr val="283244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83B14A0C-5511-4785-941F-98CC313ABF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4618BD2A-F518-428A-84E6-7BF7501032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45F3B881-B1CA-4E17-A4D8-70CC0F75A9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783EBEBC-455C-44AE-83F1-2B7F9037E8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B38B0811-2462-459F-91D7-25555350C2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83F9FF2C-2DB2-470E-9EE8-97294F3168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5">
              <a:extLst xmlns:a="http://schemas.openxmlformats.org/drawingml/2006/main">
                <a:ext uri="{FF2B5EF4-FFF2-40B4-BE49-F238E27FC236}">
                  <a16:creationId xmlns:a16="http://schemas.microsoft.com/office/drawing/2014/main" id="{A3A337B9-5563-4FBB-B772-BEE32D92FE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Roundrect 16">
              <a:extLst xmlns:a="http://schemas.openxmlformats.org/drawingml/2006/main">
                <a:ext uri="{FF2B5EF4-FFF2-40B4-BE49-F238E27FC236}">
                  <a16:creationId xmlns:a16="http://schemas.microsoft.com/office/drawing/2014/main" id="{55D88945-A448-433E-B50D-7FB8318036F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Roundrect 17">
              <a:extLst xmlns:a="http://schemas.openxmlformats.org/drawingml/2006/main">
                <a:ext uri="{FF2B5EF4-FFF2-40B4-BE49-F238E27FC236}">
                  <a16:creationId xmlns:a16="http://schemas.microsoft.com/office/drawing/2014/main" id="{B03FA411-ABDD-49B0-8FD8-755A447024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928720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Roundrect 18">
              <a:extLst xmlns:a="http://schemas.openxmlformats.org/drawingml/2006/main">
                <a:ext uri="{FF2B5EF4-FFF2-40B4-BE49-F238E27FC236}">
                  <a16:creationId xmlns:a16="http://schemas.microsoft.com/office/drawing/2014/main" id="{D6FF93A4-FAEB-4A42-AC0D-AD57B88B7DD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74344" y="8742268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Roundrect 19">
              <a:extLst xmlns:a="http://schemas.openxmlformats.org/drawingml/2006/main">
                <a:ext uri="{FF2B5EF4-FFF2-40B4-BE49-F238E27FC236}">
                  <a16:creationId xmlns:a16="http://schemas.microsoft.com/office/drawing/2014/main" id="{CF2F75D1-025C-42B6-A90A-8F1BC21E4A1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Roundrect 20">
              <a:extLst xmlns:a="http://schemas.openxmlformats.org/drawingml/2006/main">
                <a:ext uri="{FF2B5EF4-FFF2-40B4-BE49-F238E27FC236}">
                  <a16:creationId xmlns:a16="http://schemas.microsoft.com/office/drawing/2014/main" id="{3614EECF-670A-403E-8AB3-B6FD1FBEC2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Roundrect 21">
              <a:extLst xmlns:a="http://schemas.openxmlformats.org/drawingml/2006/main">
                <a:ext uri="{FF2B5EF4-FFF2-40B4-BE49-F238E27FC236}">
                  <a16:creationId xmlns:a16="http://schemas.microsoft.com/office/drawing/2014/main" id="{31B32DD5-8C40-4B34-82E2-F08F917470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2" name="Roundrect 22">
              <a:extLst xmlns:a="http://schemas.openxmlformats.org/drawingml/2006/main">
                <a:ext uri="{FF2B5EF4-FFF2-40B4-BE49-F238E27FC236}">
                  <a16:creationId xmlns:a16="http://schemas.microsoft.com/office/drawing/2014/main" id="{01AC7B4E-84AB-46CC-A047-0723807B4E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28889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3" name="Roundrect 23">
              <a:extLst xmlns:a="http://schemas.openxmlformats.org/drawingml/2006/main">
                <a:ext uri="{FF2B5EF4-FFF2-40B4-BE49-F238E27FC236}">
                  <a16:creationId xmlns:a16="http://schemas.microsoft.com/office/drawing/2014/main" id="{66D2E466-7846-4F11-95C1-04B8795ADA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4" name="Roundrect 24">
              <a:extLst xmlns:a="http://schemas.openxmlformats.org/drawingml/2006/main">
                <a:ext uri="{FF2B5EF4-FFF2-40B4-BE49-F238E27FC236}">
                  <a16:creationId xmlns:a16="http://schemas.microsoft.com/office/drawing/2014/main" id="{BF9B040A-12D2-488C-B943-886D7ABB0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5" name="Roundrect 25">
              <a:extLst xmlns:a="http://schemas.openxmlformats.org/drawingml/2006/main">
                <a:ext uri="{FF2B5EF4-FFF2-40B4-BE49-F238E27FC236}">
                  <a16:creationId xmlns:a16="http://schemas.microsoft.com/office/drawing/2014/main" id="{E93DC402-3C34-41C0-A56C-A7F74AC444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6" name="Roundrect 26">
              <a:extLst xmlns:a="http://schemas.openxmlformats.org/drawingml/2006/main">
                <a:ext uri="{FF2B5EF4-FFF2-40B4-BE49-F238E27FC236}">
                  <a16:creationId xmlns:a16="http://schemas.microsoft.com/office/drawing/2014/main" id="{4DE2DAC1-C6E7-4AEA-8D8A-03B357E7640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7" name="Roundrect 27">
              <a:extLst xmlns:a="http://schemas.openxmlformats.org/drawingml/2006/main">
                <a:ext uri="{FF2B5EF4-FFF2-40B4-BE49-F238E27FC236}">
                  <a16:creationId xmlns:a16="http://schemas.microsoft.com/office/drawing/2014/main" id="{F81542F6-97CF-4608-A896-37D8F085E5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8" name="Roundrect 28">
              <a:extLst xmlns:a="http://schemas.openxmlformats.org/drawingml/2006/main">
                <a:ext uri="{FF2B5EF4-FFF2-40B4-BE49-F238E27FC236}">
                  <a16:creationId xmlns:a16="http://schemas.microsoft.com/office/drawing/2014/main" id="{2DE18B02-AC1C-4CB4-8F04-E3323E6882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283435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9" name="Roundrect 29">
              <a:extLst xmlns:a="http://schemas.openxmlformats.org/drawingml/2006/main">
                <a:ext uri="{FF2B5EF4-FFF2-40B4-BE49-F238E27FC236}">
                  <a16:creationId xmlns:a16="http://schemas.microsoft.com/office/drawing/2014/main" id="{323085DE-F74D-4DE0-8D53-4DC63666A2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0" name="Roundrect 30">
              <a:extLst xmlns:a="http://schemas.openxmlformats.org/drawingml/2006/main">
                <a:ext uri="{FF2B5EF4-FFF2-40B4-BE49-F238E27FC236}">
                  <a16:creationId xmlns:a16="http://schemas.microsoft.com/office/drawing/2014/main" id="{265640A4-4072-4AC6-8B01-81AB666715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1" name="Roundrect 31">
              <a:extLst xmlns:a="http://schemas.openxmlformats.org/drawingml/2006/main">
                <a:ext uri="{FF2B5EF4-FFF2-40B4-BE49-F238E27FC236}">
                  <a16:creationId xmlns:a16="http://schemas.microsoft.com/office/drawing/2014/main" id="{07B3B5B4-923B-4E45-83D6-7F342DE5DA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414926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2" name="Roundrect 32">
              <a:extLst xmlns:a="http://schemas.openxmlformats.org/drawingml/2006/main">
                <a:ext uri="{FF2B5EF4-FFF2-40B4-BE49-F238E27FC236}">
                  <a16:creationId xmlns:a16="http://schemas.microsoft.com/office/drawing/2014/main" id="{AF6358CE-1C08-4C4B-B72D-67B94EC19C2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3" name="Roundrect 33">
              <a:extLst xmlns:a="http://schemas.openxmlformats.org/drawingml/2006/main">
                <a:ext uri="{FF2B5EF4-FFF2-40B4-BE49-F238E27FC236}">
                  <a16:creationId xmlns:a16="http://schemas.microsoft.com/office/drawing/2014/main" id="{7238974E-AE77-4669-9D20-1FCA49FC3F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4" name="Roundrect 34">
              <a:extLst xmlns:a="http://schemas.openxmlformats.org/drawingml/2006/main">
                <a:ext uri="{FF2B5EF4-FFF2-40B4-BE49-F238E27FC236}">
                  <a16:creationId xmlns:a16="http://schemas.microsoft.com/office/drawing/2014/main" id="{9C5DF1DF-9A34-4F2D-B8B7-F4855D71178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5" name="Roundrect 35">
              <a:extLst xmlns:a="http://schemas.openxmlformats.org/drawingml/2006/main">
                <a:ext uri="{FF2B5EF4-FFF2-40B4-BE49-F238E27FC236}">
                  <a16:creationId xmlns:a16="http://schemas.microsoft.com/office/drawing/2014/main" id="{4E7FF5A3-17D3-4B8B-B376-E634FD5EA7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6" name="Roundrect 36">
              <a:extLst xmlns:a="http://schemas.openxmlformats.org/drawingml/2006/main">
                <a:ext uri="{FF2B5EF4-FFF2-40B4-BE49-F238E27FC236}">
                  <a16:creationId xmlns:a16="http://schemas.microsoft.com/office/drawing/2014/main" id="{A0A2A876-3B9C-4060-8EBC-620A5CE0BE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7" name="Roundrect 37">
              <a:extLst xmlns:a="http://schemas.openxmlformats.org/drawingml/2006/main">
                <a:ext uri="{FF2B5EF4-FFF2-40B4-BE49-F238E27FC236}">
                  <a16:creationId xmlns:a16="http://schemas.microsoft.com/office/drawing/2014/main" id="{FDD2EF93-BC4A-4A24-A730-AEA6CE114F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7980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8" name="Roundrect 38">
              <a:extLst xmlns:a="http://schemas.openxmlformats.org/drawingml/2006/main">
                <a:ext uri="{FF2B5EF4-FFF2-40B4-BE49-F238E27FC236}">
                  <a16:creationId xmlns:a16="http://schemas.microsoft.com/office/drawing/2014/main" id="{172BFCFE-165B-4BDD-A44D-C700309659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39" name="Roundrect 39">
              <a:extLst xmlns:a="http://schemas.openxmlformats.org/drawingml/2006/main">
                <a:ext uri="{FF2B5EF4-FFF2-40B4-BE49-F238E27FC236}">
                  <a16:creationId xmlns:a16="http://schemas.microsoft.com/office/drawing/2014/main" id="{631A3826-DC99-4D65-985F-65793F77899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0" name="Roundrect 40">
              <a:extLst xmlns:a="http://schemas.openxmlformats.org/drawingml/2006/main">
                <a:ext uri="{FF2B5EF4-FFF2-40B4-BE49-F238E27FC236}">
                  <a16:creationId xmlns:a16="http://schemas.microsoft.com/office/drawing/2014/main" id="{427699D1-9DAC-4B13-88A4-C308BFF3518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1" name="Roundrect 41">
              <a:extLst xmlns:a="http://schemas.openxmlformats.org/drawingml/2006/main">
                <a:ext uri="{FF2B5EF4-FFF2-40B4-BE49-F238E27FC236}">
                  <a16:creationId xmlns:a16="http://schemas.microsoft.com/office/drawing/2014/main" id="{3D267B24-7FD7-4B54-9C07-DB8D7628AA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31698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2" name="Roundrect 42">
              <a:extLst xmlns:a="http://schemas.openxmlformats.org/drawingml/2006/main">
                <a:ext uri="{FF2B5EF4-FFF2-40B4-BE49-F238E27FC236}">
                  <a16:creationId xmlns:a16="http://schemas.microsoft.com/office/drawing/2014/main" id="{7D739899-0DD6-4037-AE63-AED8730995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558944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3" name="Roundrect 43">
              <a:extLst xmlns:a="http://schemas.openxmlformats.org/drawingml/2006/main">
                <a:ext uri="{FF2B5EF4-FFF2-40B4-BE49-F238E27FC236}">
                  <a16:creationId xmlns:a16="http://schemas.microsoft.com/office/drawing/2014/main" id="{6C09FE3B-8D6A-4716-BB1F-9389F7B1BA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7574556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4" name="Roundrect 44">
              <a:extLst xmlns:a="http://schemas.openxmlformats.org/drawingml/2006/main">
                <a:ext uri="{FF2B5EF4-FFF2-40B4-BE49-F238E27FC236}">
                  <a16:creationId xmlns:a16="http://schemas.microsoft.com/office/drawing/2014/main" id="{6CA94553-77D7-45F8-AD9D-F382101DA2E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92526" y="8742268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5" name="Roundrect 45">
              <a:extLst xmlns:a="http://schemas.openxmlformats.org/drawingml/2006/main">
                <a:ext uri="{FF2B5EF4-FFF2-40B4-BE49-F238E27FC236}">
                  <a16:creationId xmlns:a16="http://schemas.microsoft.com/office/drawing/2014/main" id="{D5766E79-E8B0-4928-A42B-931A07061D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189169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6" name="Roundrect 46">
              <a:extLst xmlns:a="http://schemas.openxmlformats.org/drawingml/2006/main">
                <a:ext uri="{FF2B5EF4-FFF2-40B4-BE49-F238E27FC236}">
                  <a16:creationId xmlns:a16="http://schemas.microsoft.com/office/drawing/2014/main" id="{7FED352E-E4B1-4E19-9457-B2C7408AC3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2164159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7" name="Roundrect 47">
              <a:extLst xmlns:a="http://schemas.openxmlformats.org/drawingml/2006/main">
                <a:ext uri="{FF2B5EF4-FFF2-40B4-BE49-F238E27FC236}">
                  <a16:creationId xmlns:a16="http://schemas.microsoft.com/office/drawing/2014/main" id="{5E3DB370-5EAA-4A41-8080-922876F326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2436625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8" name="Roundrect 48">
              <a:extLst xmlns:a="http://schemas.openxmlformats.org/drawingml/2006/main">
                <a:ext uri="{FF2B5EF4-FFF2-40B4-BE49-F238E27FC236}">
                  <a16:creationId xmlns:a16="http://schemas.microsoft.com/office/drawing/2014/main" id="{A985B0EA-8E46-4DE6-991A-A65604D95E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3604337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9" name="Roundrect 49">
              <a:extLst xmlns:a="http://schemas.openxmlformats.org/drawingml/2006/main">
                <a:ext uri="{FF2B5EF4-FFF2-40B4-BE49-F238E27FC236}">
                  <a16:creationId xmlns:a16="http://schemas.microsoft.com/office/drawing/2014/main" id="{A3CA271F-0962-4947-82FE-F8C7AA4210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3876803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0" name="Roundrect 50">
              <a:extLst xmlns:a="http://schemas.openxmlformats.org/drawingml/2006/main">
                <a:ext uri="{FF2B5EF4-FFF2-40B4-BE49-F238E27FC236}">
                  <a16:creationId xmlns:a16="http://schemas.microsoft.com/office/drawing/2014/main" id="{E419ADF4-E4EF-46D9-B9BF-B9B2CEC2B3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5861912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1" name="Roundrect 51">
              <a:extLst xmlns:a="http://schemas.openxmlformats.org/drawingml/2006/main">
                <a:ext uri="{FF2B5EF4-FFF2-40B4-BE49-F238E27FC236}">
                  <a16:creationId xmlns:a16="http://schemas.microsoft.com/office/drawing/2014/main" id="{0BB0CF29-91D9-4F60-A3F9-BCD3E35335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7029624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2" name="Roundrect 52">
              <a:extLst xmlns:a="http://schemas.openxmlformats.org/drawingml/2006/main">
                <a:ext uri="{FF2B5EF4-FFF2-40B4-BE49-F238E27FC236}">
                  <a16:creationId xmlns:a16="http://schemas.microsoft.com/office/drawing/2014/main" id="{301C4D08-2B94-46FE-96E3-15FB0CDD28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47071" y="7302090"/>
              <a:ext cx="1276698" cy="350313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3" name="Line 53">
              <a:extLst xmlns:a="http://schemas.openxmlformats.org/drawingml/2006/main">
                <a:ext uri="{FF2B5EF4-FFF2-40B4-BE49-F238E27FC236}">
                  <a16:creationId xmlns:a16="http://schemas.microsoft.com/office/drawing/2014/main" id="{2FBBD4C3-04A2-4EBB-9198-9E2E52C382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138398" y="2179728"/>
              <a:ext cx="0" cy="720088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5400">
              <a:solidFill>
                <a:srgbClr val="707783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4" name="Line 54">
              <a:extLst xmlns:a="http://schemas.openxmlformats.org/drawingml/2006/main">
                <a:ext uri="{FF2B5EF4-FFF2-40B4-BE49-F238E27FC236}">
                  <a16:creationId xmlns:a16="http://schemas.microsoft.com/office/drawing/2014/main" id="{EC851C19-9B3E-4210-908C-04E646D1383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2335423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5" name="Line 55">
              <a:extLst xmlns:a="http://schemas.openxmlformats.org/drawingml/2006/main">
                <a:ext uri="{FF2B5EF4-FFF2-40B4-BE49-F238E27FC236}">
                  <a16:creationId xmlns:a16="http://schemas.microsoft.com/office/drawing/2014/main" id="{7C8C186B-BFAE-4332-AC2E-9237AB18F7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4048067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6" name="Line 56">
              <a:extLst xmlns:a="http://schemas.openxmlformats.org/drawingml/2006/main">
                <a:ext uri="{FF2B5EF4-FFF2-40B4-BE49-F238E27FC236}">
                  <a16:creationId xmlns:a16="http://schemas.microsoft.com/office/drawing/2014/main" id="{16E0C929-6E12-447C-8EB2-30C5513D7B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5760711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7" name="Line 57">
              <a:extLst xmlns:a="http://schemas.openxmlformats.org/drawingml/2006/main">
                <a:ext uri="{FF2B5EF4-FFF2-40B4-BE49-F238E27FC236}">
                  <a16:creationId xmlns:a16="http://schemas.microsoft.com/office/drawing/2014/main" id="{F67F3063-9651-4BA6-A4F1-B90E3E9F3D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7473354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8" name="Line 58">
              <a:extLst xmlns:a="http://schemas.openxmlformats.org/drawingml/2006/main">
                <a:ext uri="{FF2B5EF4-FFF2-40B4-BE49-F238E27FC236}">
                  <a16:creationId xmlns:a16="http://schemas.microsoft.com/office/drawing/2014/main" id="{F722CEA4-851A-4A1A-A085-8E861F35FB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278523" y="9185998"/>
              <a:ext cx="8407524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2700">
              <a:solidFill>
                <a:srgbClr val="D8DCE3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9" name="Line 59">
              <a:extLst xmlns:a="http://schemas.openxmlformats.org/drawingml/2006/main">
                <a:ext uri="{FF2B5EF4-FFF2-40B4-BE49-F238E27FC236}">
                  <a16:creationId xmlns:a16="http://schemas.microsoft.com/office/drawing/2014/main" id="{6F9A7B05-5983-400B-9B36-460BF6DECD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12693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0" name="Line 60">
              <a:extLst xmlns:a="http://schemas.openxmlformats.org/drawingml/2006/main">
                <a:ext uri="{FF2B5EF4-FFF2-40B4-BE49-F238E27FC236}">
                  <a16:creationId xmlns:a16="http://schemas.microsoft.com/office/drawing/2014/main" id="{980FF436-BADD-4165-8B5E-D36B8E6E7C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567238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1" name="Line 61">
              <a:extLst xmlns:a="http://schemas.openxmlformats.org/drawingml/2006/main">
                <a:ext uri="{FF2B5EF4-FFF2-40B4-BE49-F238E27FC236}">
                  <a16:creationId xmlns:a16="http://schemas.microsoft.com/office/drawing/2014/main" id="{33994690-51E0-43A2-B644-6329223544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921784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2" name="Line 62">
              <a:extLst xmlns:a="http://schemas.openxmlformats.org/drawingml/2006/main">
                <a:ext uri="{FF2B5EF4-FFF2-40B4-BE49-F238E27FC236}">
                  <a16:creationId xmlns:a16="http://schemas.microsoft.com/office/drawing/2014/main" id="{1979CBA7-F52E-4316-94CE-58A3771014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276329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3" name="Line 63">
              <a:extLst xmlns:a="http://schemas.openxmlformats.org/drawingml/2006/main">
                <a:ext uri="{FF2B5EF4-FFF2-40B4-BE49-F238E27FC236}">
                  <a16:creationId xmlns:a16="http://schemas.microsoft.com/office/drawing/2014/main" id="{3948C1BE-3AE6-49C3-AE3E-3A66C1F165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630875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4" name="Line 64">
              <a:extLst xmlns:a="http://schemas.openxmlformats.org/drawingml/2006/main">
                <a:ext uri="{FF2B5EF4-FFF2-40B4-BE49-F238E27FC236}">
                  <a16:creationId xmlns:a16="http://schemas.microsoft.com/office/drawing/2014/main" id="{B692A7D9-4EBE-4BF2-8DEB-84DEAB27F76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985420" y="2117450"/>
              <a:ext cx="0" cy="734879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635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5" name="Ellipse 65">
              <a:extLst xmlns:a="http://schemas.openxmlformats.org/drawingml/2006/main">
                <a:ext uri="{FF2B5EF4-FFF2-40B4-BE49-F238E27FC236}">
                  <a16:creationId xmlns:a16="http://schemas.microsoft.com/office/drawing/2014/main" id="{FEA53A3A-77F1-43A1-98CC-7F5DB8625D5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095921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B9832E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6" name="Ellipse 66">
              <a:extLst xmlns:a="http://schemas.openxmlformats.org/drawingml/2006/main">
                <a:ext uri="{FF2B5EF4-FFF2-40B4-BE49-F238E27FC236}">
                  <a16:creationId xmlns:a16="http://schemas.microsoft.com/office/drawing/2014/main" id="{BF05276B-585C-4AD1-8795-40F1CBA5832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450467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C8D76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7" name="Ellipse 67">
              <a:extLst xmlns:a="http://schemas.openxmlformats.org/drawingml/2006/main">
                <a:ext uri="{FF2B5EF4-FFF2-40B4-BE49-F238E27FC236}">
                  <a16:creationId xmlns:a16="http://schemas.microsoft.com/office/drawing/2014/main" id="{FFEC77B2-4D73-48D9-B202-9AC61944E9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805012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F7BAD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8" name="Ellipse 68">
              <a:extLst xmlns:a="http://schemas.openxmlformats.org/drawingml/2006/main">
                <a:ext uri="{FF2B5EF4-FFF2-40B4-BE49-F238E27FC236}">
                  <a16:creationId xmlns:a16="http://schemas.microsoft.com/office/drawing/2014/main" id="{6EBD3B65-5794-4C9A-B4A6-05980BD907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159558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C16A58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9" name="Ellipse 69">
              <a:extLst xmlns:a="http://schemas.openxmlformats.org/drawingml/2006/main">
                <a:ext uri="{FF2B5EF4-FFF2-40B4-BE49-F238E27FC236}">
                  <a16:creationId xmlns:a16="http://schemas.microsoft.com/office/drawing/2014/main" id="{30157108-6F9A-4951-8149-A71D5AB6D1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514103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8561A3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0" name="Ellipse 70">
              <a:extLst xmlns:a="http://schemas.openxmlformats.org/drawingml/2006/main">
                <a:ext uri="{FF2B5EF4-FFF2-40B4-BE49-F238E27FC236}">
                  <a16:creationId xmlns:a16="http://schemas.microsoft.com/office/drawing/2014/main" id="{D9925127-51A4-4AB7-B0A6-A929DAD7B7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8649" y="879676"/>
              <a:ext cx="155695" cy="155695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FFFFF"/>
            </a:solidFill>
            <a:ln xmlns:a="http://schemas.openxmlformats.org/drawingml/2006/main" w="25400">
              <a:solidFill>
                <a:srgbClr val="3B8791"/>
              </a:solidFill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1" name="TextBox 71">
              <a:extLst xmlns:a="http://schemas.openxmlformats.org/drawingml/2006/main">
                <a:ext uri="{FF2B5EF4-FFF2-40B4-BE49-F238E27FC236}">
                  <a16:creationId xmlns:a16="http://schemas.microsoft.com/office/drawing/2014/main" id="{62688785-2AF0-47BB-8723-FDA2E7E401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89286" y="171264"/>
              <a:ext cx="7006270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12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Research routes in Time-Series Agent systems</a:t>
              </a:r>
              <a:endParaRPr sz="2120"/>
            </a:p>
          </p:txBody>
        </p:sp>
        <p:sp>
          <p:nvSpPr>
            <p:cNvPr id="72" name="TextBox 72">
              <a:extLst xmlns:a="http://schemas.openxmlformats.org/drawingml/2006/main">
                <a:ext uri="{FF2B5EF4-FFF2-40B4-BE49-F238E27FC236}">
                  <a16:creationId xmlns:a16="http://schemas.microsoft.com/office/drawing/2014/main" id="{F490F487-E131-4D0B-B006-BB55A98BB8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904856" y="560502"/>
              <a:ext cx="7629049" cy="28025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320" b="1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Representative module contributions by first public year | LLM and Harness layers</a:t>
              </a:r>
              <a:endParaRPr sz="1320"/>
            </a:p>
          </p:txBody>
        </p:sp>
        <p:sp>
          <p:nvSpPr>
            <p:cNvPr id="73" name="TextBox 73">
              <a:extLst xmlns:a="http://schemas.openxmlformats.org/drawingml/2006/main">
                <a:ext uri="{FF2B5EF4-FFF2-40B4-BE49-F238E27FC236}">
                  <a16:creationId xmlns:a16="http://schemas.microsoft.com/office/drawing/2014/main" id="{73734FB9-6864-4961-8D4F-2E9E9C4101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B9832E"/>
                  </a:solidFill>
                  <a:latin typeface="PingFang SC"/>
                  <a:ea typeface="PingFang SC"/>
                  <a:cs typeface="PingFang SC"/>
                </a:rPr>
                <a:t>LLM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B9832E"/>
                  </a:solidFill>
                  <a:latin typeface="PingFang SC"/>
                  <a:ea typeface="PingFang SC"/>
                  <a:cs typeface="PingFang SC"/>
                </a:rPr>
                <a:t>side</a:t>
              </a:r>
              <a:endParaRPr sz="1310"/>
            </a:p>
          </p:txBody>
        </p:sp>
        <p:sp>
          <p:nvSpPr>
            <p:cNvPr id="74" name="TextBox 74">
              <a:extLst xmlns:a="http://schemas.openxmlformats.org/drawingml/2006/main">
                <a:ext uri="{FF2B5EF4-FFF2-40B4-BE49-F238E27FC236}">
                  <a16:creationId xmlns:a16="http://schemas.microsoft.com/office/drawing/2014/main" id="{2CA921D6-481A-4474-B4DA-46FA53A661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Representation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Alignment</a:t>
              </a:r>
              <a:endParaRPr sz="910"/>
            </a:p>
          </p:txBody>
        </p:sp>
        <p:sp>
          <p:nvSpPr>
            <p:cNvPr id="75" name="TextBox 75">
              <a:extLst xmlns:a="http://schemas.openxmlformats.org/drawingml/2006/main">
                <a:ext uri="{FF2B5EF4-FFF2-40B4-BE49-F238E27FC236}">
                  <a16:creationId xmlns:a16="http://schemas.microsoft.com/office/drawing/2014/main" id="{7AFA6504-3757-4530-B3F7-EDC9689810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C8D76"/>
                  </a:solidFill>
                  <a:latin typeface="PingFang SC"/>
                  <a:ea typeface="PingFang SC"/>
                  <a:cs typeface="PingFang SC"/>
                </a:rPr>
                <a:t>General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C8D76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76" name="TextBox 76">
              <a:extLst xmlns:a="http://schemas.openxmlformats.org/drawingml/2006/main">
                <a:ext uri="{FF2B5EF4-FFF2-40B4-BE49-F238E27FC236}">
                  <a16:creationId xmlns:a16="http://schemas.microsoft.com/office/drawing/2014/main" id="{66F5115B-347A-46A2-8354-D3F48D9856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19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Tools and memory</a:t>
              </a:r>
              <a:endParaRPr sz="819"/>
            </a:p>
            <a:p xmlns:a="http://schemas.openxmlformats.org/drawingml/2006/main">
              <a:pPr algn="ctr">
                <a:buNone/>
              </a:pPr>
              <a:r>
                <a:rPr sz="819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Control and planning</a:t>
              </a:r>
              <a:endParaRPr sz="819"/>
            </a:p>
          </p:txBody>
        </p:sp>
        <p:sp>
          <p:nvSpPr>
            <p:cNvPr id="77" name="TextBox 77">
              <a:extLst xmlns:a="http://schemas.openxmlformats.org/drawingml/2006/main">
                <a:ext uri="{FF2B5EF4-FFF2-40B4-BE49-F238E27FC236}">
                  <a16:creationId xmlns:a16="http://schemas.microsoft.com/office/drawing/2014/main" id="{AB7C656C-76B1-4A1C-8D8C-A0E0CC1EA3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F7BAD"/>
                  </a:solidFill>
                  <a:latin typeface="PingFang SC"/>
                  <a:ea typeface="PingFang SC"/>
                  <a:cs typeface="PingFang SC"/>
                </a:rPr>
                <a:t>General Time-Series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F7BAD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78" name="TextBox 78">
              <a:extLst xmlns:a="http://schemas.openxmlformats.org/drawingml/2006/main">
                <a:ext uri="{FF2B5EF4-FFF2-40B4-BE49-F238E27FC236}">
                  <a16:creationId xmlns:a16="http://schemas.microsoft.com/office/drawing/2014/main" id="{F3373007-8BA2-4605-97BC-5AAB30BCEE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Temporal state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Operations and grounding</a:t>
              </a:r>
              <a:endParaRPr sz="910"/>
            </a:p>
          </p:txBody>
        </p:sp>
        <p:sp>
          <p:nvSpPr>
            <p:cNvPr id="79" name="TextBox 79">
              <a:extLst xmlns:a="http://schemas.openxmlformats.org/drawingml/2006/main">
                <a:ext uri="{FF2B5EF4-FFF2-40B4-BE49-F238E27FC236}">
                  <a16:creationId xmlns:a16="http://schemas.microsoft.com/office/drawing/2014/main" id="{3A10B682-CC47-42EC-A72A-0C5A2446A8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C16A58"/>
                  </a:solidFill>
                  <a:latin typeface="PingFang SC"/>
                  <a:ea typeface="PingFang SC"/>
                  <a:cs typeface="PingFang SC"/>
                </a:rPr>
                <a:t>Task-Specific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C16A58"/>
                  </a:solidFill>
                  <a:latin typeface="PingFang SC"/>
                  <a:ea typeface="PingFang SC"/>
                  <a:cs typeface="PingFang SC"/>
                </a:rPr>
                <a:t>Harness</a:t>
              </a:r>
              <a:endParaRPr sz="1310"/>
            </a:p>
          </p:txBody>
        </p:sp>
        <p:sp>
          <p:nvSpPr>
            <p:cNvPr id="80" name="TextBox 80">
              <a:extLst xmlns:a="http://schemas.openxmlformats.org/drawingml/2006/main">
                <a:ext uri="{FF2B5EF4-FFF2-40B4-BE49-F238E27FC236}">
                  <a16:creationId xmlns:a16="http://schemas.microsoft.com/office/drawing/2014/main" id="{67B5FBF0-B1EB-41BA-AC70-89EDF9DD79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Forecasting and prediction</a:t>
              </a:r>
              <a:endParaRPr sz="860"/>
            </a:p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Anomaly and diagnosis</a:t>
              </a:r>
              <a:endParaRPr sz="860"/>
            </a:p>
          </p:txBody>
        </p:sp>
        <p:sp>
          <p:nvSpPr>
            <p:cNvPr id="81" name="TextBox 81">
              <a:extLst xmlns:a="http://schemas.openxmlformats.org/drawingml/2006/main">
                <a:ext uri="{FF2B5EF4-FFF2-40B4-BE49-F238E27FC236}">
                  <a16:creationId xmlns:a16="http://schemas.microsoft.com/office/drawing/2014/main" id="{432A2365-650D-40E2-A728-95AB088591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8561A3"/>
                  </a:solidFill>
                  <a:latin typeface="PingFang SC"/>
                  <a:ea typeface="PingFang SC"/>
                  <a:cs typeface="PingFang SC"/>
                </a:rPr>
                <a:t>Infrastructure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8561A3"/>
                  </a:solidFill>
                  <a:latin typeface="PingFang SC"/>
                  <a:ea typeface="PingFang SC"/>
                  <a:cs typeface="PingFang SC"/>
                </a:rPr>
                <a:t>and benchmarks</a:t>
              </a:r>
              <a:endParaRPr sz="1310"/>
            </a:p>
          </p:txBody>
        </p:sp>
        <p:sp>
          <p:nvSpPr>
            <p:cNvPr id="82" name="TextBox 82">
              <a:extLst xmlns:a="http://schemas.openxmlformats.org/drawingml/2006/main">
                <a:ext uri="{FF2B5EF4-FFF2-40B4-BE49-F238E27FC236}">
                  <a16:creationId xmlns:a16="http://schemas.microsoft.com/office/drawing/2014/main" id="{1EB9309C-5EA0-4BD3-91EA-F3EE832502D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Episodes, traces</a:t>
              </a:r>
              <a:endParaRPr sz="910"/>
            </a:p>
            <a:p xmlns:a="http://schemas.openxmlformats.org/drawingml/2006/main">
              <a:pPr algn="ctr">
                <a:buNone/>
              </a:pPr>
              <a:r>
                <a:rPr sz="91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TimeSeriesGym and ModernTSF</a:t>
              </a:r>
              <a:endParaRPr sz="910"/>
            </a:p>
          </p:txBody>
        </p:sp>
        <p:sp>
          <p:nvSpPr>
            <p:cNvPr id="83" name="TextBox 83">
              <a:extLst xmlns:a="http://schemas.openxmlformats.org/drawingml/2006/main">
                <a:ext uri="{FF2B5EF4-FFF2-40B4-BE49-F238E27FC236}">
                  <a16:creationId xmlns:a16="http://schemas.microsoft.com/office/drawing/2014/main" id="{F7F9056D-4A27-4327-8FCD-FBE01944BC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949739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B8791"/>
                  </a:solidFill>
                  <a:latin typeface="PingFang SC"/>
                  <a:ea typeface="PingFang SC"/>
                  <a:cs typeface="PingFang SC"/>
                </a:rPr>
                <a:t>Paper-card</a:t>
              </a:r>
              <a:endParaRPr sz="1310"/>
            </a:p>
            <a:p xmlns:a="http://schemas.openxmlformats.org/drawingml/2006/main">
              <a:pPr algn="ctr">
                <a:buNone/>
              </a:pPr>
              <a:r>
                <a:rPr sz="1310" b="1">
                  <a:solidFill>
                    <a:srgbClr val="3B8791"/>
                  </a:solidFill>
                  <a:latin typeface="PingFang SC"/>
                  <a:ea typeface="PingFang SC"/>
                  <a:cs typeface="PingFang SC"/>
                </a:rPr>
                <a:t>database</a:t>
              </a:r>
              <a:endParaRPr sz="1310"/>
            </a:p>
          </p:txBody>
        </p:sp>
        <p:sp>
          <p:nvSpPr>
            <p:cNvPr id="84" name="TextBox 84">
              <a:extLst xmlns:a="http://schemas.openxmlformats.org/drawingml/2006/main">
                <a:ext uri="{FF2B5EF4-FFF2-40B4-BE49-F238E27FC236}">
                  <a16:creationId xmlns:a16="http://schemas.microsoft.com/office/drawing/2014/main" id="{95A12204-A31D-4544-A395-B083E24811B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1401254"/>
              <a:ext cx="1121003" cy="40480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Claim, evidence</a:t>
              </a:r>
              <a:endParaRPr sz="860"/>
            </a:p>
            <a:p xmlns:a="http://schemas.openxmlformats.org/drawingml/2006/main">
              <a:pPr algn="ctr">
                <a:buNone/>
              </a:pPr>
              <a:r>
                <a:rPr sz="86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module-level counts</a:t>
              </a:r>
              <a:endParaRPr sz="860"/>
            </a:p>
          </p:txBody>
        </p:sp>
        <p:sp>
          <p:nvSpPr>
            <p:cNvPr id="85" name="TextBox 85">
              <a:extLst xmlns:a="http://schemas.openxmlformats.org/drawingml/2006/main">
                <a:ext uri="{FF2B5EF4-FFF2-40B4-BE49-F238E27FC236}">
                  <a16:creationId xmlns:a16="http://schemas.microsoft.com/office/drawing/2014/main" id="{53D195EF-EA51-4279-9ED5-DB2152B3E30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2242006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2026</a:t>
              </a:r>
              <a:endParaRPr sz="1400"/>
            </a:p>
          </p:txBody>
        </p:sp>
        <p:sp>
          <p:nvSpPr>
            <p:cNvPr id="86" name="TextBox 86">
              <a:extLst xmlns:a="http://schemas.openxmlformats.org/drawingml/2006/main">
                <a:ext uri="{FF2B5EF4-FFF2-40B4-BE49-F238E27FC236}">
                  <a16:creationId xmlns:a16="http://schemas.microsoft.com/office/drawing/2014/main" id="{B511CEE4-CB1C-4271-8180-BC281D886B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3954650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2025</a:t>
              </a:r>
              <a:endParaRPr sz="1400"/>
            </a:p>
          </p:txBody>
        </p:sp>
        <p:sp>
          <p:nvSpPr>
            <p:cNvPr id="87" name="TextBox 87">
              <a:extLst xmlns:a="http://schemas.openxmlformats.org/drawingml/2006/main">
                <a:ext uri="{FF2B5EF4-FFF2-40B4-BE49-F238E27FC236}">
                  <a16:creationId xmlns:a16="http://schemas.microsoft.com/office/drawing/2014/main" id="{FDFD7EA4-A851-4DAD-9D39-F44A3D3EC4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5667294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2024</a:t>
              </a:r>
              <a:endParaRPr sz="1400"/>
            </a:p>
          </p:txBody>
        </p:sp>
        <p:sp>
          <p:nvSpPr>
            <p:cNvPr id="88" name="TextBox 88">
              <a:extLst xmlns:a="http://schemas.openxmlformats.org/drawingml/2006/main">
                <a:ext uri="{FF2B5EF4-FFF2-40B4-BE49-F238E27FC236}">
                  <a16:creationId xmlns:a16="http://schemas.microsoft.com/office/drawing/2014/main" id="{031E5418-85A1-433F-8FFC-14C36FF6C6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7379938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2023</a:t>
              </a:r>
              <a:endParaRPr sz="1400"/>
            </a:p>
          </p:txBody>
        </p:sp>
        <p:sp>
          <p:nvSpPr>
            <p:cNvPr id="89" name="TextBox 89">
              <a:extLst xmlns:a="http://schemas.openxmlformats.org/drawingml/2006/main">
                <a:ext uri="{FF2B5EF4-FFF2-40B4-BE49-F238E27FC236}">
                  <a16:creationId xmlns:a16="http://schemas.microsoft.com/office/drawing/2014/main" id="{D5AAA9EF-59E9-48CB-AA40-F03A5C875E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58147" y="9092581"/>
              <a:ext cx="544932" cy="23354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400" b="1">
                  <a:solidFill>
                    <a:srgbClr val="424B5B"/>
                  </a:solidFill>
                  <a:latin typeface="PingFang SC"/>
                  <a:ea typeface="PingFang SC"/>
                  <a:cs typeface="PingFang SC"/>
                </a:rPr>
                <a:t>2022</a:t>
              </a:r>
              <a:endParaRPr sz="1400"/>
            </a:p>
          </p:txBody>
        </p:sp>
        <p:sp>
          <p:nvSpPr>
            <p:cNvPr id="90" name="TextBox 90">
              <a:extLst xmlns:a="http://schemas.openxmlformats.org/drawingml/2006/main">
                <a:ext uri="{FF2B5EF4-FFF2-40B4-BE49-F238E27FC236}">
                  <a16:creationId xmlns:a16="http://schemas.microsoft.com/office/drawing/2014/main" id="{FB5865C0-B8F3-4AF4-A1CD-F6F7949A0B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ChatTS</a:t>
              </a:r>
              <a:endParaRPr sz="1100"/>
            </a:p>
          </p:txBody>
        </p:sp>
        <p:sp>
          <p:nvSpPr>
            <p:cNvPr id="91" name="TextBox 91">
              <a:extLst xmlns:a="http://schemas.openxmlformats.org/drawingml/2006/main">
                <a:ext uri="{FF2B5EF4-FFF2-40B4-BE49-F238E27FC236}">
                  <a16:creationId xmlns:a16="http://schemas.microsoft.com/office/drawing/2014/main" id="{41477BF9-2E68-4F66-9508-36759BA033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Time-LLM</a:t>
              </a:r>
              <a:endParaRPr sz="1100"/>
            </a:p>
          </p:txBody>
        </p:sp>
        <p:sp>
          <p:nvSpPr>
            <p:cNvPr id="92" name="TextBox 92">
              <a:extLst xmlns:a="http://schemas.openxmlformats.org/drawingml/2006/main">
                <a:ext uri="{FF2B5EF4-FFF2-40B4-BE49-F238E27FC236}">
                  <a16:creationId xmlns:a16="http://schemas.microsoft.com/office/drawing/2014/main" id="{2C12E7FB-5314-4C9E-A683-2893B923AE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LLM4TS</a:t>
              </a:r>
              <a:endParaRPr sz="1100"/>
            </a:p>
          </p:txBody>
        </p:sp>
        <p:sp>
          <p:nvSpPr>
            <p:cNvPr id="93" name="TextBox 93">
              <a:extLst xmlns:a="http://schemas.openxmlformats.org/drawingml/2006/main">
                <a:ext uri="{FF2B5EF4-FFF2-40B4-BE49-F238E27FC236}">
                  <a16:creationId xmlns:a16="http://schemas.microsoft.com/office/drawing/2014/main" id="{D6DAFDDF-279E-4393-AF65-1FB5C03F05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TimeMaster</a:t>
              </a:r>
              <a:endParaRPr sz="1100"/>
            </a:p>
          </p:txBody>
        </p:sp>
        <p:sp>
          <p:nvSpPr>
            <p:cNvPr id="94" name="TextBox 94">
              <a:extLst xmlns:a="http://schemas.openxmlformats.org/drawingml/2006/main">
                <a:ext uri="{FF2B5EF4-FFF2-40B4-BE49-F238E27FC236}">
                  <a16:creationId xmlns:a16="http://schemas.microsoft.com/office/drawing/2014/main" id="{02661C4D-4D80-45FB-B52D-21A3269CA9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TS-Agent</a:t>
              </a:r>
              <a:endParaRPr sz="1100"/>
            </a:p>
          </p:txBody>
        </p:sp>
        <p:sp>
          <p:nvSpPr>
            <p:cNvPr id="95" name="TextBox 95">
              <a:extLst xmlns:a="http://schemas.openxmlformats.org/drawingml/2006/main">
                <a:ext uri="{FF2B5EF4-FFF2-40B4-BE49-F238E27FC236}">
                  <a16:creationId xmlns:a16="http://schemas.microsoft.com/office/drawing/2014/main" id="{D9909291-D0B2-4AD6-9BF9-81F8465EE9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TimeART</a:t>
              </a:r>
              <a:endParaRPr sz="1100"/>
            </a:p>
          </p:txBody>
        </p:sp>
        <p:sp>
          <p:nvSpPr>
            <p:cNvPr id="96" name="TextBox 96">
              <a:extLst xmlns:a="http://schemas.openxmlformats.org/drawingml/2006/main">
                <a:ext uri="{FF2B5EF4-FFF2-40B4-BE49-F238E27FC236}">
                  <a16:creationId xmlns:a16="http://schemas.microsoft.com/office/drawing/2014/main" id="{BCA06ACE-F9C5-4029-B5CC-F256ECF171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AION</a:t>
              </a:r>
              <a:endParaRPr sz="1100"/>
            </a:p>
          </p:txBody>
        </p:sp>
        <p:sp>
          <p:nvSpPr>
            <p:cNvPr id="97" name="TextBox 97">
              <a:extLst xmlns:a="http://schemas.openxmlformats.org/drawingml/2006/main">
                <a:ext uri="{FF2B5EF4-FFF2-40B4-BE49-F238E27FC236}">
                  <a16:creationId xmlns:a16="http://schemas.microsoft.com/office/drawing/2014/main" id="{5EC276AA-6D94-49F1-9608-4DFF8882D4C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TimeClaw</a:t>
              </a:r>
              <a:endParaRPr sz="1100"/>
            </a:p>
          </p:txBody>
        </p:sp>
        <p:sp>
          <p:nvSpPr>
            <p:cNvPr id="98" name="TextBox 98">
              <a:extLst xmlns:a="http://schemas.openxmlformats.org/drawingml/2006/main">
                <a:ext uri="{FF2B5EF4-FFF2-40B4-BE49-F238E27FC236}">
                  <a16:creationId xmlns:a16="http://schemas.microsoft.com/office/drawing/2014/main" id="{89C9515D-0274-41E3-95BF-D8B519793B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932612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Memory Bank</a:t>
              </a:r>
              <a:endParaRPr sz="1100"/>
            </a:p>
          </p:txBody>
        </p:sp>
        <p:sp>
          <p:nvSpPr>
            <p:cNvPr id="99" name="TextBox 99">
              <a:extLst xmlns:a="http://schemas.openxmlformats.org/drawingml/2006/main">
                <a:ext uri="{FF2B5EF4-FFF2-40B4-BE49-F238E27FC236}">
                  <a16:creationId xmlns:a16="http://schemas.microsoft.com/office/drawing/2014/main" id="{673C6DC0-C51A-420A-8E82-749341C6B7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613267" y="8781191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Reflection</a:t>
              </a:r>
              <a:endParaRPr sz="1100"/>
            </a:p>
          </p:txBody>
        </p:sp>
        <p:sp>
          <p:nvSpPr>
            <p:cNvPr id="100" name="TextBox 100">
              <a:extLst xmlns:a="http://schemas.openxmlformats.org/drawingml/2006/main">
                <a:ext uri="{FF2B5EF4-FFF2-40B4-BE49-F238E27FC236}">
                  <a16:creationId xmlns:a16="http://schemas.microsoft.com/office/drawing/2014/main" id="{903EA025-2FD5-4501-A492-3C5357EB28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TimeCAP</a:t>
              </a:r>
              <a:endParaRPr sz="1100"/>
            </a:p>
          </p:txBody>
        </p:sp>
        <p:sp>
          <p:nvSpPr>
            <p:cNvPr id="101" name="TextBox 101">
              <a:extLst xmlns:a="http://schemas.openxmlformats.org/drawingml/2006/main">
                <a:ext uri="{FF2B5EF4-FFF2-40B4-BE49-F238E27FC236}">
                  <a16:creationId xmlns:a16="http://schemas.microsoft.com/office/drawing/2014/main" id="{0CE36E83-1C49-417F-9456-A08FE728BD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Temporal grounding</a:t>
              </a:r>
              <a:endParaRPr sz="1100"/>
            </a:p>
          </p:txBody>
        </p:sp>
        <p:sp>
          <p:nvSpPr>
            <p:cNvPr id="102" name="TextBox 102">
              <a:extLst xmlns:a="http://schemas.openxmlformats.org/drawingml/2006/main">
                <a:ext uri="{FF2B5EF4-FFF2-40B4-BE49-F238E27FC236}">
                  <a16:creationId xmlns:a16="http://schemas.microsoft.com/office/drawing/2014/main" id="{02DB28E9-A407-4FAC-B867-DACAB35A1C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Forecasting</a:t>
              </a:r>
              <a:endParaRPr sz="1100"/>
            </a:p>
          </p:txBody>
        </p:sp>
        <p:sp>
          <p:nvSpPr>
            <p:cNvPr id="103" name="TextBox 103">
              <a:extLst xmlns:a="http://schemas.openxmlformats.org/drawingml/2006/main">
                <a:ext uri="{FF2B5EF4-FFF2-40B4-BE49-F238E27FC236}">
                  <a16:creationId xmlns:a16="http://schemas.microsoft.com/office/drawing/2014/main" id="{380BDF00-6EF4-4E50-A58D-99A601146A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67813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Anomaly diagnosis</a:t>
              </a:r>
              <a:endParaRPr sz="1100"/>
            </a:p>
          </p:txBody>
        </p:sp>
        <p:sp>
          <p:nvSpPr>
            <p:cNvPr id="104" name="TextBox 104">
              <a:extLst xmlns:a="http://schemas.openxmlformats.org/drawingml/2006/main">
                <a:ext uri="{FF2B5EF4-FFF2-40B4-BE49-F238E27FC236}">
                  <a16:creationId xmlns:a16="http://schemas.microsoft.com/office/drawing/2014/main" id="{5762953A-4419-4DD7-9127-591311AFA5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Augmentation</a:t>
              </a:r>
              <a:endParaRPr sz="1100"/>
            </a:p>
          </p:txBody>
        </p:sp>
        <p:sp>
          <p:nvSpPr>
            <p:cNvPr id="105" name="TextBox 105">
              <a:extLst xmlns:a="http://schemas.openxmlformats.org/drawingml/2006/main">
                <a:ext uri="{FF2B5EF4-FFF2-40B4-BE49-F238E27FC236}">
                  <a16:creationId xmlns:a16="http://schemas.microsoft.com/office/drawing/2014/main" id="{62BB6FBB-5E50-4A8A-A5EC-1D1AA2B992D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8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Decision support</a:t>
              </a:r>
              <a:endParaRPr sz="980"/>
            </a:p>
          </p:txBody>
        </p:sp>
        <p:sp>
          <p:nvSpPr>
            <p:cNvPr id="106" name="TextBox 106">
              <a:extLst xmlns:a="http://schemas.openxmlformats.org/drawingml/2006/main">
                <a:ext uri="{FF2B5EF4-FFF2-40B4-BE49-F238E27FC236}">
                  <a16:creationId xmlns:a16="http://schemas.microsoft.com/office/drawing/2014/main" id="{E57873F2-B233-4EC5-93D7-29E640B886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ModernTSF</a:t>
              </a:r>
              <a:endParaRPr sz="1100"/>
            </a:p>
          </p:txBody>
        </p:sp>
        <p:sp>
          <p:nvSpPr>
            <p:cNvPr id="107" name="TextBox 107">
              <a:extLst xmlns:a="http://schemas.openxmlformats.org/drawingml/2006/main">
                <a:ext uri="{FF2B5EF4-FFF2-40B4-BE49-F238E27FC236}">
                  <a16:creationId xmlns:a16="http://schemas.microsoft.com/office/drawing/2014/main" id="{57630B4E-054A-4A5B-BD9E-93249D81594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TimeSeriesGym</a:t>
              </a:r>
              <a:endParaRPr sz="1100"/>
            </a:p>
          </p:txBody>
        </p:sp>
        <p:sp>
          <p:nvSpPr>
            <p:cNvPr id="108" name="TextBox 108">
              <a:extLst xmlns:a="http://schemas.openxmlformats.org/drawingml/2006/main">
                <a:ext uri="{FF2B5EF4-FFF2-40B4-BE49-F238E27FC236}">
                  <a16:creationId xmlns:a16="http://schemas.microsoft.com/office/drawing/2014/main" id="{4DA774D1-5316-4292-8091-0042BD92A8D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TFRBench</a:t>
              </a:r>
              <a:endParaRPr sz="1100"/>
            </a:p>
          </p:txBody>
        </p:sp>
        <p:sp>
          <p:nvSpPr>
            <p:cNvPr id="109" name="TextBox 109">
              <a:extLst xmlns:a="http://schemas.openxmlformats.org/drawingml/2006/main">
                <a:ext uri="{FF2B5EF4-FFF2-40B4-BE49-F238E27FC236}">
                  <a16:creationId xmlns:a16="http://schemas.microsoft.com/office/drawing/2014/main" id="{E9B4E654-ADA3-4F7C-AFCF-82388AAB12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322358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TSQBench</a:t>
              </a:r>
              <a:endParaRPr sz="1100"/>
            </a:p>
          </p:txBody>
        </p:sp>
        <p:sp>
          <p:nvSpPr>
            <p:cNvPr id="110" name="TextBox 110">
              <a:extLst xmlns:a="http://schemas.openxmlformats.org/drawingml/2006/main">
                <a:ext uri="{FF2B5EF4-FFF2-40B4-BE49-F238E27FC236}">
                  <a16:creationId xmlns:a16="http://schemas.microsoft.com/office/drawing/2014/main" id="{3B20284E-2CEA-4B8E-BA46-7E21048FD3F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TS-Agent</a:t>
              </a:r>
              <a:endParaRPr sz="1100"/>
            </a:p>
          </p:txBody>
        </p:sp>
        <p:sp>
          <p:nvSpPr>
            <p:cNvPr id="111" name="TextBox 111">
              <a:extLst xmlns:a="http://schemas.openxmlformats.org/drawingml/2006/main">
                <a:ext uri="{FF2B5EF4-FFF2-40B4-BE49-F238E27FC236}">
                  <a16:creationId xmlns:a16="http://schemas.microsoft.com/office/drawing/2014/main" id="{D0F6FE6A-A326-4855-88D4-9090B62C20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TimeART</a:t>
              </a:r>
              <a:endParaRPr sz="1100"/>
            </a:p>
          </p:txBody>
        </p:sp>
        <p:sp>
          <p:nvSpPr>
            <p:cNvPr id="112" name="TextBox 112">
              <a:extLst xmlns:a="http://schemas.openxmlformats.org/drawingml/2006/main">
                <a:ext uri="{FF2B5EF4-FFF2-40B4-BE49-F238E27FC236}">
                  <a16:creationId xmlns:a16="http://schemas.microsoft.com/office/drawing/2014/main" id="{A3AF18BC-0961-4C27-8173-B4BD5071F0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4188192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AION</a:t>
              </a:r>
              <a:endParaRPr sz="1100"/>
            </a:p>
          </p:txBody>
        </p:sp>
        <p:sp>
          <p:nvSpPr>
            <p:cNvPr id="113" name="TextBox 113">
              <a:extLst xmlns:a="http://schemas.openxmlformats.org/drawingml/2006/main">
                <a:ext uri="{FF2B5EF4-FFF2-40B4-BE49-F238E27FC236}">
                  <a16:creationId xmlns:a16="http://schemas.microsoft.com/office/drawing/2014/main" id="{E9EF3A40-35AB-4D71-B3C3-BEB5B5B0AA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TimeClaw</a:t>
              </a:r>
              <a:endParaRPr sz="1100"/>
            </a:p>
          </p:txBody>
        </p:sp>
        <p:sp>
          <p:nvSpPr>
            <p:cNvPr id="114" name="TextBox 114">
              <a:extLst xmlns:a="http://schemas.openxmlformats.org/drawingml/2006/main">
                <a:ext uri="{FF2B5EF4-FFF2-40B4-BE49-F238E27FC236}">
                  <a16:creationId xmlns:a16="http://schemas.microsoft.com/office/drawing/2014/main" id="{3FEBB70D-D48C-466E-A4F0-64BEEA8839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TimeCAP</a:t>
              </a:r>
              <a:endParaRPr sz="1100"/>
            </a:p>
          </p:txBody>
        </p:sp>
        <p:sp>
          <p:nvSpPr>
            <p:cNvPr id="115" name="TextBox 115">
              <a:extLst xmlns:a="http://schemas.openxmlformats.org/drawingml/2006/main">
                <a:ext uri="{FF2B5EF4-FFF2-40B4-BE49-F238E27FC236}">
                  <a16:creationId xmlns:a16="http://schemas.microsoft.com/office/drawing/2014/main" id="{CF27F92F-A646-457D-A4F3-822348886F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TFRBench</a:t>
              </a:r>
              <a:endParaRPr sz="1100"/>
            </a:p>
          </p:txBody>
        </p:sp>
        <p:sp>
          <p:nvSpPr>
            <p:cNvPr id="116" name="TextBox 116">
              <a:extLst xmlns:a="http://schemas.openxmlformats.org/drawingml/2006/main">
                <a:ext uri="{FF2B5EF4-FFF2-40B4-BE49-F238E27FC236}">
                  <a16:creationId xmlns:a16="http://schemas.microsoft.com/office/drawing/2014/main" id="{3F35B3C3-6BBB-4D15-92EC-C3CBFEEB58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TSQBench</a:t>
              </a:r>
              <a:endParaRPr sz="1100"/>
            </a:p>
          </p:txBody>
        </p:sp>
        <p:sp>
          <p:nvSpPr>
            <p:cNvPr id="117" name="TextBox 117">
              <a:extLst xmlns:a="http://schemas.openxmlformats.org/drawingml/2006/main">
                <a:ext uri="{FF2B5EF4-FFF2-40B4-BE49-F238E27FC236}">
                  <a16:creationId xmlns:a16="http://schemas.microsoft.com/office/drawing/2014/main" id="{B4461641-1342-4F11-B78C-D1ACA39DF3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ModernTSF</a:t>
              </a:r>
              <a:endParaRPr sz="1100"/>
            </a:p>
          </p:txBody>
        </p:sp>
        <p:sp>
          <p:nvSpPr>
            <p:cNvPr id="118" name="TextBox 118">
              <a:extLst xmlns:a="http://schemas.openxmlformats.org/drawingml/2006/main">
                <a:ext uri="{FF2B5EF4-FFF2-40B4-BE49-F238E27FC236}">
                  <a16:creationId xmlns:a16="http://schemas.microsoft.com/office/drawing/2014/main" id="{CC0C3D5B-5F96-4097-8557-72F99C3DA9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76904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TimeSeriesGym</a:t>
              </a:r>
              <a:endParaRPr sz="1100"/>
            </a:p>
          </p:txBody>
        </p:sp>
        <p:sp>
          <p:nvSpPr>
            <p:cNvPr id="119" name="TextBox 119">
              <a:extLst xmlns:a="http://schemas.openxmlformats.org/drawingml/2006/main">
                <a:ext uri="{FF2B5EF4-FFF2-40B4-BE49-F238E27FC236}">
                  <a16:creationId xmlns:a16="http://schemas.microsoft.com/office/drawing/2014/main" id="{D9004EF9-897D-4309-9D8F-4D5FA2EB46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TraceBench</a:t>
              </a:r>
              <a:endParaRPr sz="800"/>
            </a:p>
          </p:txBody>
        </p:sp>
        <p:sp>
          <p:nvSpPr>
            <p:cNvPr id="120" name="TextBox 120">
              <a:extLst xmlns:a="http://schemas.openxmlformats.org/drawingml/2006/main">
                <a:ext uri="{FF2B5EF4-FFF2-40B4-BE49-F238E27FC236}">
                  <a16:creationId xmlns:a16="http://schemas.microsoft.com/office/drawing/2014/main" id="{044A6B8D-67C5-4E72-AB03-73D07D97E9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1100"/>
            </a:p>
          </p:txBody>
        </p:sp>
        <p:sp>
          <p:nvSpPr>
            <p:cNvPr id="121" name="TextBox 121">
              <a:extLst xmlns:a="http://schemas.openxmlformats.org/drawingml/2006/main">
                <a:ext uri="{FF2B5EF4-FFF2-40B4-BE49-F238E27FC236}">
                  <a16:creationId xmlns:a16="http://schemas.microsoft.com/office/drawing/2014/main" id="{12E2F925-EF5B-4CAA-AF04-2FE46D95FB8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Verify</a:t>
              </a:r>
              <a:endParaRPr sz="800"/>
            </a:p>
          </p:txBody>
        </p:sp>
        <p:sp>
          <p:nvSpPr>
            <p:cNvPr id="122" name="TextBox 122">
              <a:extLst xmlns:a="http://schemas.openxmlformats.org/drawingml/2006/main">
                <a:ext uri="{FF2B5EF4-FFF2-40B4-BE49-F238E27FC236}">
                  <a16:creationId xmlns:a16="http://schemas.microsoft.com/office/drawing/2014/main" id="{7F21DE9F-639F-4989-AB73-3856D1AEA8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35590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Calib.</a:t>
              </a:r>
              <a:endParaRPr sz="1100"/>
            </a:p>
          </p:txBody>
        </p:sp>
        <p:sp>
          <p:nvSpPr>
            <p:cNvPr id="123" name="TextBox 123">
              <a:extLst xmlns:a="http://schemas.openxmlformats.org/drawingml/2006/main">
                <a:ext uri="{FF2B5EF4-FFF2-40B4-BE49-F238E27FC236}">
                  <a16:creationId xmlns:a16="http://schemas.microsoft.com/office/drawing/2014/main" id="{6E20A2CE-6642-4FBB-AA86-6D0567D2ED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562837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1100"/>
            </a:p>
          </p:txBody>
        </p:sp>
        <p:sp>
          <p:nvSpPr>
            <p:cNvPr id="124" name="TextBox 124">
              <a:extLst xmlns:a="http://schemas.openxmlformats.org/drawingml/2006/main">
                <a:ext uri="{FF2B5EF4-FFF2-40B4-BE49-F238E27FC236}">
                  <a16:creationId xmlns:a16="http://schemas.microsoft.com/office/drawing/2014/main" id="{E84283EE-B8AE-42F2-AD8D-BBCE865330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761348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Audit</a:t>
              </a:r>
              <a:endParaRPr sz="1100"/>
            </a:p>
          </p:txBody>
        </p:sp>
        <p:sp>
          <p:nvSpPr>
            <p:cNvPr id="125" name="TextBox 125">
              <a:extLst xmlns:a="http://schemas.openxmlformats.org/drawingml/2006/main">
                <a:ext uri="{FF2B5EF4-FFF2-40B4-BE49-F238E27FC236}">
                  <a16:creationId xmlns:a16="http://schemas.microsoft.com/office/drawing/2014/main" id="{513D88DF-0F99-4084-8CF1-66D48FB603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1449" y="8781191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04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Reproducibility</a:t>
              </a:r>
              <a:endParaRPr sz="1040"/>
            </a:p>
          </p:txBody>
        </p:sp>
        <p:sp>
          <p:nvSpPr>
            <p:cNvPr id="126" name="TextBox 126">
              <a:extLst xmlns:a="http://schemas.openxmlformats.org/drawingml/2006/main">
                <a:ext uri="{FF2B5EF4-FFF2-40B4-BE49-F238E27FC236}">
                  <a16:creationId xmlns:a16="http://schemas.microsoft.com/office/drawing/2014/main" id="{6A0FB4A3-8BE1-4540-8C31-FE9C2DBE99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1930617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Paper card</a:t>
              </a:r>
              <a:endParaRPr sz="1100"/>
            </a:p>
          </p:txBody>
        </p:sp>
        <p:sp>
          <p:nvSpPr>
            <p:cNvPr id="127" name="TextBox 127">
              <a:extLst xmlns:a="http://schemas.openxmlformats.org/drawingml/2006/main">
                <a:ext uri="{FF2B5EF4-FFF2-40B4-BE49-F238E27FC236}">
                  <a16:creationId xmlns:a16="http://schemas.microsoft.com/office/drawing/2014/main" id="{EF2A7941-FB1C-4E54-BBD3-C121562833D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2203083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88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Ledger</a:t>
              </a:r>
              <a:endParaRPr sz="880"/>
            </a:p>
          </p:txBody>
        </p:sp>
        <p:sp>
          <p:nvSpPr>
            <p:cNvPr id="128" name="TextBox 128">
              <a:extLst xmlns:a="http://schemas.openxmlformats.org/drawingml/2006/main">
                <a:ext uri="{FF2B5EF4-FFF2-40B4-BE49-F238E27FC236}">
                  <a16:creationId xmlns:a16="http://schemas.microsoft.com/office/drawing/2014/main" id="{6EEB361D-EE9D-43F8-87A7-F2F5248E3D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2475549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Module tags</a:t>
              </a:r>
              <a:endParaRPr sz="1100"/>
            </a:p>
          </p:txBody>
        </p:sp>
        <p:sp>
          <p:nvSpPr>
            <p:cNvPr id="129" name="TextBox 129">
              <a:extLst xmlns:a="http://schemas.openxmlformats.org/drawingml/2006/main">
                <a:ext uri="{FF2B5EF4-FFF2-40B4-BE49-F238E27FC236}">
                  <a16:creationId xmlns:a16="http://schemas.microsoft.com/office/drawing/2014/main" id="{E3F709F2-16B7-4F97-B6D4-2F974C5808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3643260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Open tasks</a:t>
              </a:r>
              <a:endParaRPr sz="1100"/>
            </a:p>
          </p:txBody>
        </p:sp>
        <p:sp>
          <p:nvSpPr>
            <p:cNvPr id="130" name="TextBox 130">
              <a:extLst xmlns:a="http://schemas.openxmlformats.org/drawingml/2006/main">
                <a:ext uri="{FF2B5EF4-FFF2-40B4-BE49-F238E27FC236}">
                  <a16:creationId xmlns:a16="http://schemas.microsoft.com/office/drawing/2014/main" id="{D026DA87-0C0B-4CB9-BE35-84C6B3D41F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391572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Case studies</a:t>
              </a:r>
              <a:endParaRPr sz="1100"/>
            </a:p>
          </p:txBody>
        </p:sp>
        <p:sp>
          <p:nvSpPr>
            <p:cNvPr id="131" name="TextBox 131">
              <a:extLst xmlns:a="http://schemas.openxmlformats.org/drawingml/2006/main">
                <a:ext uri="{FF2B5EF4-FFF2-40B4-BE49-F238E27FC236}">
                  <a16:creationId xmlns:a16="http://schemas.microsoft.com/office/drawing/2014/main" id="{C30120B1-30CE-49C2-98F7-9C1C909ED1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5900836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Surveys</a:t>
              </a:r>
              <a:endParaRPr sz="1100"/>
            </a:p>
          </p:txBody>
        </p:sp>
        <p:sp>
          <p:nvSpPr>
            <p:cNvPr id="132" name="TextBox 132">
              <a:extLst xmlns:a="http://schemas.openxmlformats.org/drawingml/2006/main">
                <a:ext uri="{FF2B5EF4-FFF2-40B4-BE49-F238E27FC236}">
                  <a16:creationId xmlns:a16="http://schemas.microsoft.com/office/drawing/2014/main" id="{8F309167-67F5-4BAB-BABF-0DFF5295E5A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7068548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BibTeX</a:t>
              </a:r>
              <a:endParaRPr sz="1100"/>
            </a:p>
          </p:txBody>
        </p:sp>
        <p:sp>
          <p:nvSpPr>
            <p:cNvPr id="133" name="TextBox 133">
              <a:extLst xmlns:a="http://schemas.openxmlformats.org/drawingml/2006/main">
                <a:ext uri="{FF2B5EF4-FFF2-40B4-BE49-F238E27FC236}">
                  <a16:creationId xmlns:a16="http://schemas.microsoft.com/office/drawing/2014/main" id="{C545A0DC-0529-42DF-8937-69E6F11B4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385995" y="7341014"/>
              <a:ext cx="1198851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Claims</a:t>
              </a:r>
              <a:endParaRPr sz="1100"/>
            </a:p>
          </p:txBody>
        </p:sp>
        <p:sp>
          <p:nvSpPr>
            <p:cNvPr id="134" name="TextBox 134">
              <a:extLst xmlns:a="http://schemas.openxmlformats.org/drawingml/2006/main">
                <a:ext uri="{FF2B5EF4-FFF2-40B4-BE49-F238E27FC236}">
                  <a16:creationId xmlns:a16="http://schemas.microsoft.com/office/drawing/2014/main" id="{39A71BBA-86BD-41C2-85C5-6C941E80F7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4589913" y="9808778"/>
              <a:ext cx="2335423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◫   2003 | Gödel Machine</a:t>
              </a:r>
              <a:endParaRPr sz="1100"/>
            </a:p>
          </p:txBody>
        </p:sp>
        <p:sp>
          <p:nvSpPr>
            <p:cNvPr id="135" name="TextBox 135">
              <a:extLst xmlns:a="http://schemas.openxmlformats.org/drawingml/2006/main">
                <a:ext uri="{FF2B5EF4-FFF2-40B4-BE49-F238E27FC236}">
                  <a16:creationId xmlns:a16="http://schemas.microsoft.com/office/drawing/2014/main" id="{BA243D8A-647E-42F8-9FDB-B67D7BF79F5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081031" y="9808778"/>
              <a:ext cx="2568966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◉   2016 | Learned optimizers</a:t>
              </a:r>
              <a:endParaRPr sz="1100"/>
            </a:p>
          </p:txBody>
        </p:sp>
        <p:sp>
          <p:nvSpPr>
            <p:cNvPr id="136" name="TextBox 136">
              <a:extLst xmlns:a="http://schemas.openxmlformats.org/drawingml/2006/main">
                <a:ext uri="{FF2B5EF4-FFF2-40B4-BE49-F238E27FC236}">
                  <a16:creationId xmlns:a16="http://schemas.microsoft.com/office/drawing/2014/main" id="{B92DEF2A-1084-48F2-9128-20818C3174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039234" y="9808778"/>
              <a:ext cx="1946186" cy="18683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100" b="1">
                  <a:solidFill>
                    <a:srgbClr val="283244"/>
                  </a:solidFill>
                  <a:latin typeface="PingFang SC"/>
                  <a:ea typeface="PingFang SC"/>
                  <a:cs typeface="PingFang SC"/>
                </a:rPr>
                <a:t>▣   2019 | POET</a:t>
              </a:r>
              <a:endParaRPr sz="1100"/>
            </a:p>
          </p:txBody>
        </p:sp>
        <p:sp>
          <p:nvSpPr>
            <p:cNvPr id="137" name="TextBox 137">
              <a:extLst xmlns:a="http://schemas.openxmlformats.org/drawingml/2006/main">
                <a:ext uri="{FF2B5EF4-FFF2-40B4-BE49-F238E27FC236}">
                  <a16:creationId xmlns:a16="http://schemas.microsoft.com/office/drawing/2014/main" id="{71453261-3DAD-459A-94E2-0F1D049498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34845" y="10042320"/>
              <a:ext cx="6383490" cy="17126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900">
                  <a:solidFill>
                    <a:srgbClr val="5E6878"/>
                  </a:solidFill>
                  <a:latin typeface="PingFang SC"/>
                  <a:ea typeface="PingFang SC"/>
                  <a:cs typeface="PingFang SC"/>
                </a:rPr>
                <a:t>Marks: selected affiliations | Branches: research routes, not technical ancestry</a:t>
              </a:r>
              <a:endParaRPr sz="900"/>
            </a:p>
          </p:txBody>
        </p:sp>
        <p:sp>
          <p:nvSpPr>
            <p:cNvPr id="138" name="TextBox 138">
              <a:extLst xmlns:a="http://schemas.openxmlformats.org/drawingml/2006/main">
                <a:ext uri="{FF2B5EF4-FFF2-40B4-BE49-F238E27FC236}">
                  <a16:creationId xmlns:a16="http://schemas.microsoft.com/office/drawing/2014/main" id="{99B1A1F5-648F-4099-AFBE-0AF94DC298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0742947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750" b="1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750"/>
            </a:p>
          </p:txBody>
        </p:sp>
        <p:sp>
          <p:nvSpPr>
            <p:cNvPr id="139" name="TextBox 139">
              <a:extLst xmlns:a="http://schemas.openxmlformats.org/drawingml/2006/main">
                <a:ext uri="{FF2B5EF4-FFF2-40B4-BE49-F238E27FC236}">
                  <a16:creationId xmlns:a16="http://schemas.microsoft.com/office/drawing/2014/main" id="{DAB11706-B5CA-4B40-8927-829B8AACB2D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046552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8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80"/>
            </a:p>
          </p:txBody>
        </p:sp>
        <p:sp>
          <p:nvSpPr>
            <p:cNvPr id="140" name="TextBox 140">
              <a:extLst xmlns:a="http://schemas.openxmlformats.org/drawingml/2006/main">
                <a:ext uri="{FF2B5EF4-FFF2-40B4-BE49-F238E27FC236}">
                  <a16:creationId xmlns:a16="http://schemas.microsoft.com/office/drawing/2014/main" id="{417D2A5A-9E13-4C35-9FA9-178308D01CF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350157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19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19"/>
            </a:p>
          </p:txBody>
        </p:sp>
        <p:sp>
          <p:nvSpPr>
            <p:cNvPr id="141" name="TextBox 141">
              <a:extLst xmlns:a="http://schemas.openxmlformats.org/drawingml/2006/main">
                <a:ext uri="{FF2B5EF4-FFF2-40B4-BE49-F238E27FC236}">
                  <a16:creationId xmlns:a16="http://schemas.microsoft.com/office/drawing/2014/main" id="{DCDF5064-B574-40FC-94F4-EC64F860D6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686883" y="11653762"/>
              <a:ext cx="9263846" cy="264681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non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840">
                  <a:solidFill>
                    <a:srgbClr val="111111"/>
                  </a:solidFill>
                  <a:latin typeface="PingFang SC"/>
                  <a:ea typeface="PingFang SC"/>
                  <a:cs typeface="PingFang SC"/>
                </a:rPr>
                <a:t/>
              </a:r>
              <a:endParaRPr sz="840"/>
            </a:p>
          </p:txBody>
        </p:sp>
      </p:grpSp>
    </p:spTree>
    <p:extLst>
      <p:ext uri="{BB962C8B-B14F-4D97-AF65-F5344CB8AC3E}">
        <p14:creationId xmlns:p14="http://schemas.microsoft.com/office/powerpoint/2010/main" val="1253979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2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Rect 2">
              <a:extLst xmlns:a="http://schemas.openxmlformats.org/drawingml/2006/main">
                <a:ext uri="{FF2B5EF4-FFF2-40B4-BE49-F238E27FC236}">
                  <a16:creationId xmlns:a16="http://schemas.microsoft.com/office/drawing/2014/main" id="{5A166B07-2A31-421F-8463-790F388097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4F4D9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4" name="Rect 3">
              <a:extLst xmlns:a="http://schemas.openxmlformats.org/drawingml/2006/main">
                <a:ext uri="{FF2B5EF4-FFF2-40B4-BE49-F238E27FC236}">
                  <a16:creationId xmlns:a16="http://schemas.microsoft.com/office/drawing/2014/main" id="{8E0752FD-64D8-4090-98D3-C36898FD494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101641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1F1DF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5" name="Rect 4">
              <a:extLst xmlns:a="http://schemas.openxmlformats.org/drawingml/2006/main">
                <a:ext uri="{FF2B5EF4-FFF2-40B4-BE49-F238E27FC236}">
                  <a16:creationId xmlns:a16="http://schemas.microsoft.com/office/drawing/2014/main" id="{F7D23FA3-6161-4925-BEA9-8D5FD5BA7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334375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D8F0F2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6" name="Rect 5">
              <a:extLst xmlns:a="http://schemas.openxmlformats.org/drawingml/2006/main">
                <a:ext uri="{FF2B5EF4-FFF2-40B4-BE49-F238E27FC236}">
                  <a16:creationId xmlns:a16="http://schemas.microsoft.com/office/drawing/2014/main" id="{9DC3D657-5657-46EF-8EB1-B9B4A1CCAF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567109" y="307375"/>
              <a:ext cx="3232734" cy="839451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9E3F1"/>
            </a:solidFill>
            <a:ln xmlns:a="http://schemas.openxmlformats.org/drawingml/2006/main">
              <a:noFill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7" name="Line 6">
              <a:extLst xmlns:a="http://schemas.openxmlformats.org/drawingml/2006/main">
                <a:ext uri="{FF2B5EF4-FFF2-40B4-BE49-F238E27FC236}">
                  <a16:creationId xmlns:a16="http://schemas.microsoft.com/office/drawing/2014/main" id="{50862E29-BC28-4ECF-9A5E-86898093AF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879505" y="5066384"/>
              <a:ext cx="1290974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C8C8C8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8" name="Roundrect 7">
              <a:extLst xmlns:a="http://schemas.openxmlformats.org/drawingml/2006/main">
                <a:ext uri="{FF2B5EF4-FFF2-40B4-BE49-F238E27FC236}">
                  <a16:creationId xmlns:a16="http://schemas.microsoft.com/office/drawing/2014/main" id="{0D9125CF-B332-4708-BE2D-4409192519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9" name="Roundrect 8">
              <a:extLst xmlns:a="http://schemas.openxmlformats.org/drawingml/2006/main">
                <a:ext uri="{FF2B5EF4-FFF2-40B4-BE49-F238E27FC236}">
                  <a16:creationId xmlns:a16="http://schemas.microsoft.com/office/drawing/2014/main" id="{0261AEC8-175C-48F6-8CE3-17BE69A62B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70290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" name="Roundrect 9">
              <a:extLst xmlns:a="http://schemas.openxmlformats.org/drawingml/2006/main">
                <a:ext uri="{FF2B5EF4-FFF2-40B4-BE49-F238E27FC236}">
                  <a16:creationId xmlns:a16="http://schemas.microsoft.com/office/drawing/2014/main" id="{49FB8E61-2E93-4D21-B86F-58F0456AF1C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1" name="Roundrect 10">
              <a:extLst xmlns:a="http://schemas.openxmlformats.org/drawingml/2006/main">
                <a:ext uri="{FF2B5EF4-FFF2-40B4-BE49-F238E27FC236}">
                  <a16:creationId xmlns:a16="http://schemas.microsoft.com/office/drawing/2014/main" id="{A0E607FA-E1C5-48BB-AAED-982FED646BB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292425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2" name="Roundrect 11">
              <a:extLst xmlns:a="http://schemas.openxmlformats.org/drawingml/2006/main">
                <a:ext uri="{FF2B5EF4-FFF2-40B4-BE49-F238E27FC236}">
                  <a16:creationId xmlns:a16="http://schemas.microsoft.com/office/drawing/2014/main" id="{D3E75581-5C67-4C68-AD26-FCBAFD29819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3" name="Roundrect 12">
              <a:extLst xmlns:a="http://schemas.openxmlformats.org/drawingml/2006/main">
                <a:ext uri="{FF2B5EF4-FFF2-40B4-BE49-F238E27FC236}">
                  <a16:creationId xmlns:a16="http://schemas.microsoft.com/office/drawing/2014/main" id="{31F60344-3FF5-4357-A2DC-C268FE870D8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525159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4" name="Roundrect 13">
              <a:extLst xmlns:a="http://schemas.openxmlformats.org/drawingml/2006/main">
                <a:ext uri="{FF2B5EF4-FFF2-40B4-BE49-F238E27FC236}">
                  <a16:creationId xmlns:a16="http://schemas.microsoft.com/office/drawing/2014/main" id="{76BCB369-706F-4F6C-A2AA-42C1BE67CD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51155"/>
              <a:ext cx="2851166" cy="3762691"/>
            </a:xfrm>
            <a:prstGeom xmlns:a="http://schemas.openxmlformats.org/drawingml/2006/main" prst="roundRect">
              <a:avLst>
                <a:gd name="adj" fmla="val 7435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5" name="Roundrect 14">
              <a:extLst xmlns:a="http://schemas.openxmlformats.org/drawingml/2006/main">
                <a:ext uri="{FF2B5EF4-FFF2-40B4-BE49-F238E27FC236}">
                  <a16:creationId xmlns:a16="http://schemas.microsoft.com/office/drawing/2014/main" id="{3F8937E9-47C8-4C6D-BD1D-6A55F0B9B0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757894" y="5670534"/>
              <a:ext cx="2851166" cy="1886645"/>
            </a:xfrm>
            <a:prstGeom xmlns:a="http://schemas.openxmlformats.org/drawingml/2006/main" prst="roundRect">
              <a:avLst>
                <a:gd name="adj" fmla="val 11236"/>
              </a:avLst>
            </a:prstGeom>
            <a:noFill xmlns:a="http://schemas.openxmlformats.org/drawingml/2006/main"/>
            <a:ln xmlns:a="http://schemas.openxmlformats.org/drawingml/2006/main" w="25400">
              <a:solidFill>
                <a:srgbClr val="222222"/>
              </a:solidFill>
              <a:prstDash val="dash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6" name="Line 15">
              <a:extLst xmlns:a="http://schemas.openxmlformats.org/drawingml/2006/main">
                <a:ext uri="{FF2B5EF4-FFF2-40B4-BE49-F238E27FC236}">
                  <a16:creationId xmlns:a16="http://schemas.microsoft.com/office/drawing/2014/main" id="{99516FAC-8327-41E0-B618-0E177BF5091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490573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7" name="Line 16">
              <a:extLst xmlns:a="http://schemas.openxmlformats.org/drawingml/2006/main">
                <a:ext uri="{FF2B5EF4-FFF2-40B4-BE49-F238E27FC236}">
                  <a16:creationId xmlns:a16="http://schemas.microsoft.com/office/drawing/2014/main" id="{221D4FAB-20AF-40FA-82B2-1B6629018F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6723307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8" name="Line 17">
              <a:extLst xmlns:a="http://schemas.openxmlformats.org/drawingml/2006/main">
                <a:ext uri="{FF2B5EF4-FFF2-40B4-BE49-F238E27FC236}">
                  <a16:creationId xmlns:a16="http://schemas.microsoft.com/office/drawing/2014/main" id="{526BC9E9-EDB7-4A44-B670-5E7A013AE68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9956042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D18D2F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9" name="Line 18">
              <a:extLst xmlns:a="http://schemas.openxmlformats.org/drawingml/2006/main">
                <a:ext uri="{FF2B5EF4-FFF2-40B4-BE49-F238E27FC236}">
                  <a16:creationId xmlns:a16="http://schemas.microsoft.com/office/drawing/2014/main" id="{1E0B2CC9-61DF-4598-A5E3-805F4E3A34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3188776" y="4345643"/>
              <a:ext cx="0" cy="125069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7070B5"/>
              </a:solidFill>
              <a:tailEnd type="triangl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0" name="Line 19">
              <a:extLst xmlns:a="http://schemas.openxmlformats.org/drawingml/2006/main">
                <a:ext uri="{FF2B5EF4-FFF2-40B4-BE49-F238E27FC236}">
                  <a16:creationId xmlns:a16="http://schemas.microsoft.com/office/drawing/2014/main" id="{8618E515-12A8-4277-8384-D167E2BB90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501172" y="4324445"/>
              <a:ext cx="0" cy="124009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50800">
              <a:solidFill>
                <a:srgbClr val="555555"/>
              </a:solidFill>
              <a:tailEnd type="none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21" name="TextBox 28">
              <a:extLst xmlns:a="http://schemas.openxmlformats.org/drawingml/2006/main">
                <a:ext uri="{FF2B5EF4-FFF2-40B4-BE49-F238E27FC236}">
                  <a16:creationId xmlns:a16="http://schemas.microsoft.com/office/drawing/2014/main" id="{38DC6013-B653-4650-B823-505722C8E7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580000"/>
              <a:ext cx="2596787" cy="67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Forecasting</a:t>
              </a:r>
              <a:endParaRPr sz="3100"/>
            </a:p>
          </p:txBody>
        </p:sp>
        <p:sp>
          <p:nvSpPr>
            <p:cNvPr id="22" name="TextBox 29">
              <a:extLst xmlns:a="http://schemas.openxmlformats.org/drawingml/2006/main">
                <a:ext uri="{FF2B5EF4-FFF2-40B4-BE49-F238E27FC236}">
                  <a16:creationId xmlns:a16="http://schemas.microsoft.com/office/drawing/2014/main" id="{804B3A42-CA43-424C-BE98-79636EA2A1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1350000"/>
              <a:ext cx="2596787" cy="42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origin, horizon,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calibration</a:t>
              </a:r>
              <a:endParaRPr sz="1300"/>
            </a:p>
          </p:txBody>
        </p:sp>
        <p:sp>
          <p:nvSpPr>
            <p:cNvPr id="23" name="TextBox 30">
              <a:extLst xmlns:a="http://schemas.openxmlformats.org/drawingml/2006/main">
                <a:ext uri="{FF2B5EF4-FFF2-40B4-BE49-F238E27FC236}">
                  <a16:creationId xmlns:a16="http://schemas.microsoft.com/office/drawing/2014/main" id="{5895AB9E-482E-4800-9A6E-68D0D1FE87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580000"/>
              <a:ext cx="2596787" cy="67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Augmentation</a:t>
              </a:r>
              <a:endParaRPr sz="3100"/>
            </a:p>
          </p:txBody>
        </p:sp>
        <p:sp>
          <p:nvSpPr>
            <p:cNvPr id="24" name="TextBox 31">
              <a:extLst xmlns:a="http://schemas.openxmlformats.org/drawingml/2006/main">
                <a:ext uri="{FF2B5EF4-FFF2-40B4-BE49-F238E27FC236}">
                  <a16:creationId xmlns:a16="http://schemas.microsoft.com/office/drawing/2014/main" id="{CCC6B642-49D2-4270-B08E-AEB9A71964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98416" y="1350000"/>
              <a:ext cx="2596787" cy="42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fidelity, diversity,</a:t>
              </a:r>
              <a:endParaRPr sz="1800"/>
            </a:p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utility</a:t>
              </a:r>
              <a:endParaRPr sz="1800"/>
            </a:p>
          </p:txBody>
        </p:sp>
        <p:sp>
          <p:nvSpPr>
            <p:cNvPr id="25" name="TextBox 32">
              <a:extLst xmlns:a="http://schemas.openxmlformats.org/drawingml/2006/main">
                <a:ext uri="{FF2B5EF4-FFF2-40B4-BE49-F238E27FC236}">
                  <a16:creationId xmlns:a16="http://schemas.microsoft.com/office/drawing/2014/main" id="{9FF294C6-C834-4131-95D3-F327331F58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580000"/>
              <a:ext cx="2596787" cy="67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Anomaly diagnosis</a:t>
              </a:r>
              <a:endParaRPr sz="3100"/>
            </a:p>
          </p:txBody>
        </p:sp>
        <p:sp>
          <p:nvSpPr>
            <p:cNvPr id="26" name="TextBox 33">
              <a:extLst xmlns:a="http://schemas.openxmlformats.org/drawingml/2006/main">
                <a:ext uri="{FF2B5EF4-FFF2-40B4-BE49-F238E27FC236}">
                  <a16:creationId xmlns:a16="http://schemas.microsoft.com/office/drawing/2014/main" id="{12527545-BA87-4974-B137-BFFB485D9D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31151" y="1350000"/>
              <a:ext cx="2596787" cy="42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event, window,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cause</a:t>
              </a:r>
              <a:endParaRPr sz="1300"/>
            </a:p>
          </p:txBody>
        </p:sp>
        <p:sp>
          <p:nvSpPr>
            <p:cNvPr id="27" name="TextBox 34">
              <a:extLst xmlns:a="http://schemas.openxmlformats.org/drawingml/2006/main">
                <a:ext uri="{FF2B5EF4-FFF2-40B4-BE49-F238E27FC236}">
                  <a16:creationId xmlns:a16="http://schemas.microsoft.com/office/drawing/2014/main" id="{F0C14BFD-AF40-4F14-8A1D-8C42530A51C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580000"/>
              <a:ext cx="2596787" cy="67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Decision support</a:t>
              </a:r>
              <a:endParaRPr sz="3100"/>
            </a:p>
          </p:txBody>
        </p:sp>
        <p:sp>
          <p:nvSpPr>
            <p:cNvPr id="28" name="TextBox 35">
              <a:extLst xmlns:a="http://schemas.openxmlformats.org/drawingml/2006/main">
                <a:ext uri="{FF2B5EF4-FFF2-40B4-BE49-F238E27FC236}">
                  <a16:creationId xmlns:a16="http://schemas.microsoft.com/office/drawing/2014/main" id="{DC85EFCC-FCD6-418B-AC37-6648C21D5EB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63885" y="1350000"/>
              <a:ext cx="2596787" cy="420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action, cost,</a:t>
              </a:r>
              <a:endParaRPr sz="1300"/>
            </a:p>
            <a:p xmlns:a="http://schemas.openxmlformats.org/drawingml/2006/main">
              <a:pPr algn="l">
                <a:buNone/>
              </a:pPr>
              <a:r>
                <a:rPr sz="1400" i="1">
                  <a:solidFill>
                    <a:srgbClr val="6B6B6B"/>
                  </a:solidFill>
                  <a:latin typeface="Cambria"/>
                  <a:ea typeface="Cambria"/>
                  <a:cs typeface="Cambria"/>
                </a:rPr>
                <a:t>uncertainty</a:t>
              </a:r>
              <a:endParaRPr sz="1300"/>
            </a:p>
          </p:txBody>
        </p:sp>
        <p:sp>
          <p:nvSpPr>
            <p:cNvPr id="29" name="TextBox 36">
              <a:extLst xmlns:a="http://schemas.openxmlformats.org/drawingml/2006/main">
                <a:ext uri="{FF2B5EF4-FFF2-40B4-BE49-F238E27FC236}">
                  <a16:creationId xmlns:a16="http://schemas.microsoft.com/office/drawing/2014/main" id="{EFF893D6-585A-4082-90DE-FF082F6E8E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3150000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input</a:t>
              </a:r>
              <a:endParaRPr sz="2300"/>
            </a:p>
          </p:txBody>
        </p:sp>
        <p:sp>
          <p:nvSpPr>
            <p:cNvPr id="30" name="TextBox 37">
              <a:extLst xmlns:a="http://schemas.openxmlformats.org/drawingml/2006/main">
                <a:ext uri="{FF2B5EF4-FFF2-40B4-BE49-F238E27FC236}">
                  <a16:creationId xmlns:a16="http://schemas.microsoft.com/office/drawing/2014/main" id="{6421D593-DB06-4147-B7FE-7BBBC34CAB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882741" y="3150000"/>
              <a:ext cx="1059913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6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prediction</a:t>
              </a:r>
              <a:endParaRPr sz="1160"/>
            </a:p>
          </p:txBody>
        </p:sp>
        <p:sp>
          <p:nvSpPr>
            <p:cNvPr id="31" name="TextBox 38">
              <a:extLst xmlns:a="http://schemas.openxmlformats.org/drawingml/2006/main">
                <a:ext uri="{FF2B5EF4-FFF2-40B4-BE49-F238E27FC236}">
                  <a16:creationId xmlns:a16="http://schemas.microsoft.com/office/drawing/2014/main" id="{45BB36E8-4EE2-4448-BCB4-4A946612A3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494255" y="3603704"/>
              <a:ext cx="2172822" cy="339172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900" b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check → revise</a:t>
              </a:r>
              <a:endParaRPr sz="1900"/>
            </a:p>
          </p:txBody>
        </p:sp>
        <p:sp>
          <p:nvSpPr>
            <p:cNvPr id="32" name="TextBox 39">
              <a:extLst xmlns:a="http://schemas.openxmlformats.org/drawingml/2006/main">
                <a:ext uri="{FF2B5EF4-FFF2-40B4-BE49-F238E27FC236}">
                  <a16:creationId xmlns:a16="http://schemas.microsoft.com/office/drawing/2014/main" id="{63E2CE3D-2B7C-4C6D-917B-F89BFB687E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250475" y="5776525"/>
              <a:ext cx="2596787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forecast</a:t>
              </a:r>
              <a:endParaRPr sz="2200"/>
            </a:p>
          </p:txBody>
        </p:sp>
        <p:sp>
          <p:nvSpPr>
            <p:cNvPr id="33" name="TextBox 40">
              <a:extLst xmlns:a="http://schemas.openxmlformats.org/drawingml/2006/main">
                <a:ext uri="{FF2B5EF4-FFF2-40B4-BE49-F238E27FC236}">
                  <a16:creationId xmlns:a16="http://schemas.microsoft.com/office/drawing/2014/main" id="{89744D25-D8A9-4033-BED8-7E66F708C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303470" y="7143813"/>
              <a:ext cx="2490795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96969"/>
                  </a:solidFill>
                  <a:latin typeface="Cambria"/>
                  <a:ea typeface="Cambria"/>
                  <a:cs typeface="Cambria"/>
                </a:rPr>
                <a:t>future horizon</a:t>
              </a:r>
              <a:endParaRPr sz="1700"/>
            </a:p>
          </p:txBody>
        </p:sp>
        <p:sp>
          <p:nvSpPr>
            <p:cNvPr id="34" name="TextBox 41">
              <a:extLst xmlns:a="http://schemas.openxmlformats.org/drawingml/2006/main">
                <a:ext uri="{FF2B5EF4-FFF2-40B4-BE49-F238E27FC236}">
                  <a16:creationId xmlns:a16="http://schemas.microsoft.com/office/drawing/2014/main" id="{F8A1CD47-5B1F-4E0E-8607-2132F45A5C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97479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(a) Forecasting</a:t>
              </a:r>
              <a:endParaRPr sz="2120"/>
            </a:p>
          </p:txBody>
        </p:sp>
        <p:sp>
          <p:nvSpPr>
            <p:cNvPr id="35" name="TextBox 42">
              <a:extLst xmlns:a="http://schemas.openxmlformats.org/drawingml/2006/main">
                <a:ext uri="{FF2B5EF4-FFF2-40B4-BE49-F238E27FC236}">
                  <a16:creationId xmlns:a16="http://schemas.microsoft.com/office/drawing/2014/main" id="{E6D705B2-581C-4031-89C7-F7CACF96B6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40813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(b) Augmentation</a:t>
              </a:r>
              <a:endParaRPr sz="2120"/>
            </a:p>
          </p:txBody>
        </p:sp>
        <p:sp>
          <p:nvSpPr>
            <p:cNvPr id="36" name="TextBox 43">
              <a:extLst xmlns:a="http://schemas.openxmlformats.org/drawingml/2006/main">
                <a:ext uri="{FF2B5EF4-FFF2-40B4-BE49-F238E27FC236}">
                  <a16:creationId xmlns:a16="http://schemas.microsoft.com/office/drawing/2014/main" id="{6107071B-3A71-4AAF-BDB5-585D870ABE3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715944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(c) Anomaly diagnosis</a:t>
              </a:r>
              <a:endParaRPr sz="2120"/>
            </a:p>
          </p:txBody>
        </p:sp>
        <p:sp>
          <p:nvSpPr>
            <p:cNvPr id="37" name="TextBox 44">
              <a:extLst xmlns:a="http://schemas.openxmlformats.org/drawingml/2006/main">
                <a:ext uri="{FF2B5EF4-FFF2-40B4-BE49-F238E27FC236}">
                  <a16:creationId xmlns:a16="http://schemas.microsoft.com/office/drawing/2014/main" id="{97B0DD3D-FF2E-4878-8A04-8148BD0D98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948678" y="7578377"/>
              <a:ext cx="2649782" cy="65714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12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(d) Decision support</a:t>
              </a:r>
              <a:endParaRPr sz="2120"/>
            </a:p>
          </p:txBody>
        </p:sp>
        <p:sp>
          <p:nvSpPr>
            <p:cNvPr id="38" name="TextBox 45">
              <a:extLst xmlns:a="http://schemas.openxmlformats.org/drawingml/2006/main">
                <a:ext uri="{FF2B5EF4-FFF2-40B4-BE49-F238E27FC236}">
                  <a16:creationId xmlns:a16="http://schemas.microsoft.com/office/drawing/2014/main" id="{B666113C-3DE4-4B12-9E7B-877A770FE5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430214" y="3700000"/>
              <a:ext cx="2543791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656565"/>
                  </a:solidFill>
                  <a:latin typeface="Cambria"/>
                  <a:ea typeface="Cambria"/>
                  <a:cs typeface="Cambria"/>
                </a:rPr>
                <a:t>transform</a:t>
              </a:r>
              <a:endParaRPr sz="2300"/>
            </a:p>
          </p:txBody>
        </p:sp>
        <p:sp>
          <p:nvSpPr>
            <p:cNvPr id="39" name="TextBox 46">
              <a:extLst xmlns:a="http://schemas.openxmlformats.org/drawingml/2006/main">
                <a:ext uri="{FF2B5EF4-FFF2-40B4-BE49-F238E27FC236}">
                  <a16:creationId xmlns:a16="http://schemas.microsoft.com/office/drawing/2014/main" id="{603DB104-7707-49B1-90A8-A0A7E766B2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377218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training views</a:t>
              </a:r>
              <a:endParaRPr sz="2200"/>
            </a:p>
          </p:txBody>
        </p:sp>
        <p:sp>
          <p:nvSpPr>
            <p:cNvPr id="40" name="TextBox 47">
              <a:extLst xmlns:a="http://schemas.openxmlformats.org/drawingml/2006/main">
                <a:ext uri="{FF2B5EF4-FFF2-40B4-BE49-F238E27FC236}">
                  <a16:creationId xmlns:a16="http://schemas.microsoft.com/office/drawing/2014/main" id="{8766B3E4-EB04-4E69-AE5E-ABC51A021A1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5907174" y="7048421"/>
              <a:ext cx="180185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utility</a:t>
              </a:r>
              <a:endParaRPr sz="2300"/>
            </a:p>
          </p:txBody>
        </p:sp>
        <p:sp>
          <p:nvSpPr>
            <p:cNvPr id="41" name="TextBox 48">
              <a:extLst xmlns:a="http://schemas.openxmlformats.org/drawingml/2006/main">
                <a:ext uri="{FF2B5EF4-FFF2-40B4-BE49-F238E27FC236}">
                  <a16:creationId xmlns:a16="http://schemas.microsoft.com/office/drawing/2014/main" id="{EE924DA1-1AC5-47D0-A0E4-A18E05593A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874931" y="3700000"/>
              <a:ext cx="2649782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evidence</a:t>
              </a:r>
              <a:endParaRPr sz="2300"/>
            </a:p>
          </p:txBody>
        </p:sp>
        <p:sp>
          <p:nvSpPr>
            <p:cNvPr id="42" name="TextBox 49">
              <a:extLst xmlns:a="http://schemas.openxmlformats.org/drawingml/2006/main">
                <a:ext uri="{FF2B5EF4-FFF2-40B4-BE49-F238E27FC236}">
                  <a16:creationId xmlns:a16="http://schemas.microsoft.com/office/drawing/2014/main" id="{A8744081-E079-4E37-B6BA-8F8BB184D5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609952" y="5776525"/>
              <a:ext cx="264978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2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diagnosis</a:t>
              </a:r>
              <a:endParaRPr sz="2200"/>
            </a:p>
          </p:txBody>
        </p:sp>
        <p:sp>
          <p:nvSpPr>
            <p:cNvPr id="43" name="TextBox 50">
              <a:extLst xmlns:a="http://schemas.openxmlformats.org/drawingml/2006/main">
                <a:ext uri="{FF2B5EF4-FFF2-40B4-BE49-F238E27FC236}">
                  <a16:creationId xmlns:a16="http://schemas.microsoft.com/office/drawing/2014/main" id="{A2CAFC65-A212-4814-A3E7-FAA4806290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8770000" y="7048421"/>
              <a:ext cx="2600000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event interval</a:t>
              </a:r>
              <a:endParaRPr sz="2300"/>
            </a:p>
          </p:txBody>
        </p:sp>
        <p:sp>
          <p:nvSpPr>
            <p:cNvPr id="44" name="TextBox 51">
              <a:extLst xmlns:a="http://schemas.openxmlformats.org/drawingml/2006/main">
                <a:ext uri="{FF2B5EF4-FFF2-40B4-BE49-F238E27FC236}">
                  <a16:creationId xmlns:a16="http://schemas.microsoft.com/office/drawing/2014/main" id="{668A8CCC-C327-4057-A67D-DCBCAF56485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842687" y="3150000"/>
              <a:ext cx="741939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2300" i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risk</a:t>
              </a:r>
              <a:endParaRPr sz="2300"/>
            </a:p>
          </p:txBody>
        </p:sp>
        <p:sp>
          <p:nvSpPr>
            <p:cNvPr id="45" name="TextBox 52">
              <a:extLst xmlns:a="http://schemas.openxmlformats.org/drawingml/2006/main">
                <a:ext uri="{FF2B5EF4-FFF2-40B4-BE49-F238E27FC236}">
                  <a16:creationId xmlns:a16="http://schemas.microsoft.com/office/drawing/2014/main" id="{7E8F5060-C3D2-4835-8864-16A70EFC34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902600" y="3150000"/>
              <a:ext cx="1589869" cy="508758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800" i="1">
                  <a:solidFill>
                    <a:srgbClr val="606060"/>
                  </a:solidFill>
                  <a:latin typeface="Cambria"/>
                  <a:ea typeface="Cambria"/>
                  <a:cs typeface="Cambria"/>
                </a:rPr>
                <a:t>plan / verify</a:t>
              </a:r>
              <a:endParaRPr sz="1800"/>
            </a:p>
          </p:txBody>
        </p:sp>
        <p:sp>
          <p:nvSpPr>
            <p:cNvPr id="46" name="TextBox 53">
              <a:extLst xmlns:a="http://schemas.openxmlformats.org/drawingml/2006/main">
                <a:ext uri="{FF2B5EF4-FFF2-40B4-BE49-F238E27FC236}">
                  <a16:creationId xmlns:a16="http://schemas.microsoft.com/office/drawing/2014/main" id="{EA50E358-F446-4D86-BDF8-DC5E073098A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1683700" y="5776525"/>
              <a:ext cx="2967756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>selected action</a:t>
              </a:r>
              <a:endParaRPr sz="2000"/>
            </a:p>
          </p:txBody>
        </p:sp>
        <p:sp>
          <p:nvSpPr>
            <p:cNvPr id="47" name="TextBox 54">
              <a:extLst xmlns:a="http://schemas.openxmlformats.org/drawingml/2006/main">
                <a:ext uri="{FF2B5EF4-FFF2-40B4-BE49-F238E27FC236}">
                  <a16:creationId xmlns:a16="http://schemas.microsoft.com/office/drawing/2014/main" id="{F5855610-5DA9-4E46-855D-332EE695061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2213656" y="7048421"/>
              <a:ext cx="2119826" cy="3603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600" i="1">
                  <a:solidFill>
                    <a:srgbClr val="555555"/>
                  </a:solidFill>
                  <a:latin typeface="Cambria"/>
                  <a:ea typeface="Cambria"/>
                  <a:cs typeface="Cambria"/>
                </a:rPr>
                <a:t>outcome feedback</a:t>
              </a:r>
              <a:endParaRPr sz="1160"/>
            </a:p>
          </p:txBody>
        </p:sp>
        <p:sp>
          <p:nvSpPr>
            <p:cNvPr id="48" name="TextBox 55">
              <a:extLst xmlns:a="http://schemas.openxmlformats.org/drawingml/2006/main">
                <a:ext uri="{FF2B5EF4-FFF2-40B4-BE49-F238E27FC236}">
                  <a16:creationId xmlns:a16="http://schemas.microsoft.com/office/drawing/2014/main" id="{27678E7C-E9A8-4F09-BD63-BC992296E5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707307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review</a:t>
              </a:r>
              <a:endParaRPr sz="1700"/>
            </a:p>
          </p:txBody>
        </p:sp>
        <p:sp>
          <p:nvSpPr>
            <p:cNvPr id="49" name="TextBox 56">
              <a:extLst xmlns:a="http://schemas.openxmlformats.org/drawingml/2006/main">
                <a:ext uri="{FF2B5EF4-FFF2-40B4-BE49-F238E27FC236}">
                  <a16:creationId xmlns:a16="http://schemas.microsoft.com/office/drawing/2014/main" id="{EE52EB24-6097-4986-96DE-01031EF8E4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10358809" y="4451634"/>
              <a:ext cx="847930" cy="275577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review</a:t>
              </a:r>
              <a:endParaRPr sz="1700"/>
            </a:p>
          </p:txBody>
        </p:sp>
        <p:sp>
          <p:nvSpPr>
            <p:cNvPr id="50" name="TextBox 57">
              <a:extLst xmlns:a="http://schemas.openxmlformats.org/drawingml/2006/main">
                <a:ext uri="{FF2B5EF4-FFF2-40B4-BE49-F238E27FC236}">
                  <a16:creationId xmlns:a16="http://schemas.microsoft.com/office/drawing/2014/main" id="{D629858E-FB13-47A5-97D6-AB08E58B90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3204396" y="4557626"/>
              <a:ext cx="1801852" cy="37097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ctr">
                <a:buNone/>
              </a:pPr>
              <a:r>
                <a:rPr sz="20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forecast</a:t>
              </a:r>
              <a:endParaRPr sz="2000"/>
            </a:p>
          </p:txBody>
        </p:sp>
        <p:sp>
          <p:nvSpPr>
            <p:cNvPr id="51" name="TextBox 58">
              <a:extLst xmlns:a="http://schemas.openxmlformats.org/drawingml/2006/main">
                <a:ext uri="{FF2B5EF4-FFF2-40B4-BE49-F238E27FC236}">
                  <a16:creationId xmlns:a16="http://schemas.microsoft.com/office/drawing/2014/main" id="{B371695D-7E57-4EE2-9D4F-37E91C5EDC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176281" y="5257168"/>
              <a:ext cx="1377887" cy="296776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700" i="1">
                  <a:solidFill>
                    <a:srgbClr val="676767"/>
                  </a:solidFill>
                  <a:latin typeface="Cambria"/>
                  <a:ea typeface="Cambria"/>
                  <a:cs typeface="Cambria"/>
                </a:rPr>
                <a:t>validate</a:t>
              </a:r>
              <a:endParaRPr sz="1700"/>
            </a:p>
          </p:txBody>
        </p:sp>
        <p:sp>
          <p:nvSpPr>
            <p:cNvPr id="52" name="TextBox 59">
              <a:extLst xmlns:a="http://schemas.openxmlformats.org/drawingml/2006/main">
                <a:ext uri="{FF2B5EF4-FFF2-40B4-BE49-F238E27FC236}">
                  <a16:creationId xmlns:a16="http://schemas.microsoft.com/office/drawing/2014/main" id="{57D98FDA-0589-4FDE-9D30-A5EFEB2DE1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8903269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500" b="1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500"/>
            </a:p>
          </p:txBody>
        </p:sp>
        <p:sp>
          <p:nvSpPr>
            <p:cNvPr id="53" name="TextBox 60">
              <a:extLst xmlns:a="http://schemas.openxmlformats.org/drawingml/2006/main">
                <a:ext uri="{FF2B5EF4-FFF2-40B4-BE49-F238E27FC236}">
                  <a16:creationId xmlns:a16="http://schemas.microsoft.com/office/drawing/2014/main" id="{6067EF63-8AE3-48C0-B87C-EF32F3582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231842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54" name="TextBox 61">
              <a:extLst xmlns:a="http://schemas.openxmlformats.org/drawingml/2006/main">
                <a:ext uri="{FF2B5EF4-FFF2-40B4-BE49-F238E27FC236}">
                  <a16:creationId xmlns:a16="http://schemas.microsoft.com/office/drawing/2014/main" id="{020E7366-2561-440D-8002-1C10A4B8D7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560415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55" name="TextBox 62">
              <a:extLst xmlns:a="http://schemas.openxmlformats.org/drawingml/2006/main">
                <a:ext uri="{FF2B5EF4-FFF2-40B4-BE49-F238E27FC236}">
                  <a16:creationId xmlns:a16="http://schemas.microsoft.com/office/drawing/2014/main" id="{92E6B0AD-BFA7-472F-B2BF-51599FC2131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9888988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56" name="TextBox 63">
              <a:extLst xmlns:a="http://schemas.openxmlformats.org/drawingml/2006/main">
                <a:ext uri="{FF2B5EF4-FFF2-40B4-BE49-F238E27FC236}">
                  <a16:creationId xmlns:a16="http://schemas.microsoft.com/office/drawing/2014/main" id="{0F1C4ED2-332A-4E97-889F-0DD91227E0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217561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57" name="TextBox 64">
              <a:extLst xmlns:a="http://schemas.openxmlformats.org/drawingml/2006/main">
                <a:ext uri="{FF2B5EF4-FFF2-40B4-BE49-F238E27FC236}">
                  <a16:creationId xmlns:a16="http://schemas.microsoft.com/office/drawing/2014/main" id="{53646A9D-7025-4432-BCF1-5EF9A00A32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546134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58" name="TextBox 65">
              <a:extLst xmlns:a="http://schemas.openxmlformats.org/drawingml/2006/main">
                <a:ext uri="{FF2B5EF4-FFF2-40B4-BE49-F238E27FC236}">
                  <a16:creationId xmlns:a16="http://schemas.microsoft.com/office/drawing/2014/main" id="{FF191263-542E-437A-860F-CC8A92AD8E5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0874707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59" name="TextBox 66">
              <a:extLst xmlns:a="http://schemas.openxmlformats.org/drawingml/2006/main">
                <a:ext uri="{FF2B5EF4-FFF2-40B4-BE49-F238E27FC236}">
                  <a16:creationId xmlns:a16="http://schemas.microsoft.com/office/drawing/2014/main" id="{B5744C7E-9726-4DF2-BCD3-D16F7DB59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203280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sp>
          <p:nvSpPr>
            <p:cNvPr id="60" name="TextBox 67">
              <a:extLst xmlns:a="http://schemas.openxmlformats.org/drawingml/2006/main">
                <a:ext uri="{FF2B5EF4-FFF2-40B4-BE49-F238E27FC236}">
                  <a16:creationId xmlns:a16="http://schemas.microsoft.com/office/drawing/2014/main" id="{F2C06AE6-4A31-4F25-83C3-7D203DA6D47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rot="0" flipH="0" flipV="0">
              <a:off x="2027893" y="11531853"/>
              <a:ext cx="12634162" cy="317974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>
              <a:noFill/>
            </a:ln>
          </p:spPr>
          <p:txBody>
            <a:bodyPr xmlns:a="http://schemas.openxmlformats.org/drawingml/2006/main" wrap="square" lIns="0" tIns="0" rIns="0" bIns="0" anchor="ctr">
              <a:noAutofit/>
            </a:bodyPr>
            <a:lstStyle xmlns:a="http://schemas.openxmlformats.org/drawingml/2006/main"/>
            <a:p xmlns:a="http://schemas.openxmlformats.org/drawingml/2006/main">
              <a:pPr algn="l">
                <a:buNone/>
              </a:pPr>
              <a:r>
                <a:rPr sz="1400">
                  <a:solidFill>
                    <a:srgbClr val="111111"/>
                  </a:solidFill>
                  <a:latin typeface="Cambria"/>
                  <a:ea typeface="Cambria"/>
                  <a:cs typeface="Cambria"/>
                </a:rPr>
                <a:t/>
              </a:r>
              <a:endParaRPr sz="1400"/>
            </a:p>
          </p:txBody>
        </p:sp>
        <p:cxnSp>
          <p:nvCxnSpPr>
            <p:cNvPr id="61" name="">
              <a:extLst xmlns:a="http://schemas.openxmlformats.org/drawingml/2006/main">
                <a:ext uri="{FF2B5EF4-FFF2-40B4-BE49-F238E27FC236}">
                  <a16:creationId xmlns:a16="http://schemas.microsoft.com/office/drawing/2014/main" id="{4BC60A2B-26B1-4AF4-919E-170D9EB93BDB}"/>
                </a:ext>
              </a:extLst>
            </p:cNvPr>
            <p:cNvCxnSpPr>
              <a:stCxn xmlns:a="http://schemas.openxmlformats.org/drawingml/2006/main" id="107" idx="3"/>
              <a:endCxn xmlns:a="http://schemas.openxmlformats.org/drawingml/2006/main" id="109" idx="1"/>
            </p:cNvCxnSpPr>
            <p:nvPr/>
          </p:nvCxnSpPr>
          <p:spPr>
            <a:xfrm xmlns:a="http://schemas.openxmlformats.org/drawingml/2006/main">
              <a:off x="12782550" y="2333625"/>
              <a:ext cx="647700" cy="442913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6E65A0"/>
              </a:solidFill>
              <a:headEnd type="none" w="med" len="med"/>
            </a:ln>
          </p:spPr>
        </p:cxnSp>
        <p:cxnSp>
          <p:nvCxnSpPr>
            <p:cNvPr id="62" name="">
              <a:extLst xmlns:a="http://schemas.openxmlformats.org/drawingml/2006/main">
                <a:ext uri="{FF2B5EF4-FFF2-40B4-BE49-F238E27FC236}">
                  <a16:creationId xmlns:a16="http://schemas.microsoft.com/office/drawing/2014/main" id="{B03ABC04-EF60-47FC-8F8B-EDE2B31339F0}"/>
                </a:ext>
              </a:extLst>
            </p:cNvPr>
            <p:cNvCxnSpPr>
              <a:stCxn xmlns:a="http://schemas.openxmlformats.org/drawingml/2006/main" id="107" idx="3"/>
              <a:endCxn xmlns:a="http://schemas.openxmlformats.org/drawingml/2006/main" id="108" idx="1"/>
            </p:cNvCxnSpPr>
            <p:nvPr/>
          </p:nvCxnSpPr>
          <p:spPr>
            <a:xfrm xmlns:a="http://schemas.openxmlformats.org/drawingml/2006/main" flipV="1">
              <a:off x="12782550" y="2147888"/>
              <a:ext cx="647700" cy="185738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6E65A0"/>
              </a:solidFill>
              <a:headEnd type="none" w="med" len="med"/>
            </a:ln>
          </p:spPr>
        </p:cxnSp>
        <p:sp>
          <p:nvSpPr>
            <p:cNvPr id="63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B4FD6AB2-0AC6-4C2D-BC74-4341ADF322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2809875" y="2143125"/>
              <a:ext cx="95" cy="7620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64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45E6F77F-A755-4166-8E8D-4E89A79C60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2809875" y="2905125"/>
              <a:ext cx="1666875" cy="9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65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2873F1F8-A440-4716-8A92-505374BA3A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809875" y="2600325"/>
              <a:ext cx="238125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66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D354883A-3068-4021-AA9C-CD43ED82B7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3048000" y="2600325"/>
              <a:ext cx="238125" cy="1143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67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51C93D15-480F-4DE2-8253-8FE2D63029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286125" y="2638425"/>
              <a:ext cx="238125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68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3786C98A-6566-41E6-9605-5E8D8CA968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524250" y="2524125"/>
              <a:ext cx="238125" cy="1143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69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8313D765-F0A6-4F75-9A4A-24A565704B2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3762375" y="2524125"/>
              <a:ext cx="238125" cy="381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70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7CDDCA5E-8BFA-466D-A2F9-283F6352696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000500" y="2409825"/>
              <a:ext cx="238125" cy="1524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71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30FD24E8-06B3-4628-9C17-800497EAA69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4238625" y="2409825"/>
              <a:ext cx="238125" cy="381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5F75"/>
              </a:solidFill>
            </a:ln>
          </p:spPr>
        </p:sp>
        <p:sp>
          <p:nvSpPr>
            <p:cNvPr id="72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7282CA0C-25D7-4790-83F7-04E7B4F69DE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4476750" y="2143125"/>
              <a:ext cx="95" cy="7620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949494"/>
              </a:solidFill>
            </a:ln>
          </p:spPr>
        </p:sp>
        <p:sp>
          <p:nvSpPr>
            <p:cNvPr id="73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E46F6D56-0AF0-4282-96DD-15107CEDCFE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476750" y="2295525"/>
              <a:ext cx="142875" cy="1524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C79138"/>
              </a:solidFill>
            </a:ln>
          </p:spPr>
        </p:sp>
        <p:sp>
          <p:nvSpPr>
            <p:cNvPr id="74" name="forecast-input">
              <a:extLst xmlns:a="http://schemas.openxmlformats.org/drawingml/2006/main">
                <a:ext uri="{FF2B5EF4-FFF2-40B4-BE49-F238E27FC236}">
                  <a16:creationId xmlns:a16="http://schemas.microsoft.com/office/drawing/2014/main" id="{4FB0308B-56CC-4F0C-A5B5-D3FBC8FC27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4619625" y="2295525"/>
              <a:ext cx="142875" cy="762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C79138"/>
              </a:solidFill>
            </a:ln>
          </p:spPr>
        </p:sp>
        <p:sp>
          <p:nvSpPr>
            <p:cNvPr id="75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23B2BDED-E01E-4815-AFFD-E521256B09F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953125" y="2331244"/>
              <a:ext cx="217714" cy="500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76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B34FC5F4-803E-4385-A601-FF9728E80F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170839" y="2181225"/>
              <a:ext cx="217714" cy="15001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77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CE1B71BC-73E1-4201-8E9B-D8577A259C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388554" y="2181225"/>
              <a:ext cx="217714" cy="500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78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CE35E525-4C8C-49F6-8721-688DEB94F7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606268" y="2231231"/>
              <a:ext cx="217714" cy="116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79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DD67B9D0-B68D-4A3B-8A10-8BB2C299CD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823982" y="2314575"/>
              <a:ext cx="217714" cy="333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0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6BDB605C-3831-48A9-9DEA-83C25F4543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041696" y="2197894"/>
              <a:ext cx="217714" cy="116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1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C20ED5DD-394D-4F6D-BE1B-F76FD7C4C5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259411" y="2197894"/>
              <a:ext cx="217714" cy="666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2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F7B829A9-D799-4492-B5CE-A779E3E333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953125" y="2569369"/>
              <a:ext cx="217714" cy="500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3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56FACFC8-7134-477A-A038-A627B03664B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170839" y="2419350"/>
              <a:ext cx="217714" cy="15001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4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6AD172A3-B015-4CB2-8941-164114079F1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388554" y="2419350"/>
              <a:ext cx="217714" cy="500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5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E51F2109-ECAE-423E-9882-86DB7261E5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606268" y="2469356"/>
              <a:ext cx="217714" cy="116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6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7861BE26-E59F-4801-9EE0-631D29FCB52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823982" y="2552700"/>
              <a:ext cx="217714" cy="333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7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F6B7251B-21EE-4264-8EB6-DA6E1A2794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041696" y="2436019"/>
              <a:ext cx="217714" cy="116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8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8D9E4B2C-2031-4C80-86C5-6C93F5DBF1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259411" y="2436019"/>
              <a:ext cx="217714" cy="666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89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56C6E68A-C130-4BDE-9735-EE33F1C1DB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5953125" y="2807494"/>
              <a:ext cx="217714" cy="500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0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7E9C3792-C4D8-4DA6-B57B-7BF621556B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170839" y="2657475"/>
              <a:ext cx="217714" cy="150019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1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8C2ACB5A-4DCC-4DD9-B51E-BFF50A196C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388554" y="2657475"/>
              <a:ext cx="217714" cy="5000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2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D3AEE8F0-0A18-482D-A646-7E5D7FC346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606268" y="2707481"/>
              <a:ext cx="217714" cy="116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3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C4F1616D-1592-4F94-A93C-929CFD22B9B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823982" y="2790825"/>
              <a:ext cx="217714" cy="333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4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AB4D628D-77E9-45C8-9219-D475BA9AC4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7041696" y="2674144"/>
              <a:ext cx="217714" cy="116681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5" name="synthesis-input">
              <a:extLst xmlns:a="http://schemas.openxmlformats.org/drawingml/2006/main">
                <a:ext uri="{FF2B5EF4-FFF2-40B4-BE49-F238E27FC236}">
                  <a16:creationId xmlns:a16="http://schemas.microsoft.com/office/drawing/2014/main" id="{EB59B12E-2709-48CE-AA89-8338F298A4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259411" y="2674144"/>
              <a:ext cx="217714" cy="666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96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314E43CB-E92D-4FF7-B23F-D49EB01A90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0" y="2095500"/>
              <a:ext cx="361950" cy="8763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BFBD"/>
            </a:solidFill>
            <a:ln xmlns:a="http://schemas.openxmlformats.org/drawingml/2006/main" w="19050">
              <a:noFill/>
            </a:ln>
          </p:spPr>
        </p:sp>
        <p:sp>
          <p:nvSpPr>
            <p:cNvPr id="97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A4125F42-B0CE-4F2B-AE23-37110F8A6A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048750" y="2143125"/>
              <a:ext cx="95" cy="7620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98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AFB5DB4B-6820-48AA-B37C-5D8DAD8436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048750" y="2905125"/>
              <a:ext cx="1762125" cy="9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99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2386E5B2-4400-4F1A-91EE-A8D0DE56A5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048750" y="2638425"/>
              <a:ext cx="220266" cy="381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0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0EDA2729-1E4F-4547-9B21-CF36469DE8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269016" y="2638425"/>
              <a:ext cx="220266" cy="2286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1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ABB2C6AD-F98B-4EC8-93E0-7504B27FC2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489281" y="2630805"/>
              <a:ext cx="220266" cy="3048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2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CC2B877C-1FE7-487F-A309-2B7F0D8D84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709547" y="2196465"/>
              <a:ext cx="220266" cy="43434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3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957975A7-94BD-4ED1-969D-00DD599DD2C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929813" y="2196465"/>
              <a:ext cx="220266" cy="47244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4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1C4C75BC-3F00-4E44-8CE0-E9C2DAB288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0150078" y="2668905"/>
              <a:ext cx="220266" cy="2286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5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16F25ACA-821E-43BA-A6A8-1AD65C01BB4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370344" y="2646045"/>
              <a:ext cx="220266" cy="4572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6" name="anomaly-input">
              <a:extLst xmlns:a="http://schemas.openxmlformats.org/drawingml/2006/main">
                <a:ext uri="{FF2B5EF4-FFF2-40B4-BE49-F238E27FC236}">
                  <a16:creationId xmlns:a16="http://schemas.microsoft.com/office/drawing/2014/main" id="{43E2414E-B16D-4188-8AFD-37F12548BD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0590609" y="2646045"/>
              <a:ext cx="220266" cy="3048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07" name="decision-input">
              <a:extLst xmlns:a="http://schemas.openxmlformats.org/drawingml/2006/main">
                <a:ext uri="{FF2B5EF4-FFF2-40B4-BE49-F238E27FC236}">
                  <a16:creationId xmlns:a16="http://schemas.microsoft.com/office/drawing/2014/main" id="{C42D30E3-5550-4C95-ACA9-115C023A8C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92000" y="2143125"/>
              <a:ext cx="590550" cy="381000"/>
            </a:xfrm>
            <a:prstGeom xmlns:a="http://schemas.openxmlformats.org/drawingml/2006/main" prst="roundRect">
              <a:avLst>
                <a:gd name="adj" fmla="val 2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6E65A0"/>
              </a:solidFill>
            </a:ln>
          </p:spPr>
          <p:txBody>
            <a:bodyPr xmlns:a="http://schemas.openxmlformats.org/drawingml/2006/main" lIns="9525" tIns="9525" rIns="9525" bIns="9525"/>
            <a:lstStyle xmlns:a="http://schemas.openxmlformats.org/drawingml/2006/main">
              <a:defPPr algn="ctr">
                <a:defRPr sz="1125">
                  <a:solidFill>
                    <a:srgbClr val="302850"/>
                  </a:solidFill>
                </a:defRPr>
              </a:defPPr>
            </a:lstStyle>
            <a:p xmlns:a="http://schemas.openxmlformats.org/drawingml/2006/main">
              <a:pPr algn="ctr">
                <a:defRPr sz="1125">
                  <a:solidFill>
                    <a:srgbClr val="302850"/>
                  </a:solidFill>
                </a:defRPr>
              </a:pPr>
              <a:r>
                <a:rPr sz="1125">
                  <a:solidFill>
                    <a:srgbClr val="302850"/>
                  </a:solidFill>
                </a:rPr>
                <a:t>state</a:t>
              </a:r>
            </a:p>
          </p:txBody>
        </p:sp>
        <p:sp>
          <p:nvSpPr>
            <p:cNvPr id="108" name="decision-input">
              <a:extLst xmlns:a="http://schemas.openxmlformats.org/drawingml/2006/main">
                <a:ext uri="{FF2B5EF4-FFF2-40B4-BE49-F238E27FC236}">
                  <a16:creationId xmlns:a16="http://schemas.microsoft.com/office/drawing/2014/main" id="{10E8AEA5-D233-4A90-BBB4-0A0E91DDC0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430250" y="1981200"/>
              <a:ext cx="59055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6E65A0"/>
              </a:solidFill>
            </a:ln>
          </p:spPr>
          <p:txBody>
            <a:bodyPr xmlns:a="http://schemas.openxmlformats.org/drawingml/2006/main" lIns="9525" tIns="9525" rIns="9525" bIns="9525"/>
            <a:lstStyle xmlns:a="http://schemas.openxmlformats.org/drawingml/2006/main">
              <a:defPPr algn="ctr">
                <a:defRPr sz="1125">
                  <a:solidFill>
                    <a:srgbClr val="302850"/>
                  </a:solidFill>
                </a:defRPr>
              </a:defPPr>
            </a:lstStyle>
            <a:p xmlns:a="http://schemas.openxmlformats.org/drawingml/2006/main">
              <a:pPr algn="ctr">
                <a:defRPr sz="1125">
                  <a:solidFill>
                    <a:srgbClr val="302850"/>
                  </a:solidFill>
                </a:defRPr>
              </a:pPr>
              <a:r>
                <a:rPr sz="1050">
                  <a:solidFill>
                    <a:srgbClr val="302850"/>
                  </a:solidFill>
                </a:rPr>
                <a:t>action A</a:t>
              </a:r>
            </a:p>
          </p:txBody>
        </p:sp>
        <p:sp>
          <p:nvSpPr>
            <p:cNvPr id="109" name="decision-input">
              <a:extLst xmlns:a="http://schemas.openxmlformats.org/drawingml/2006/main">
                <a:ext uri="{FF2B5EF4-FFF2-40B4-BE49-F238E27FC236}">
                  <a16:creationId xmlns:a16="http://schemas.microsoft.com/office/drawing/2014/main" id="{F5CF1C6F-3E8A-4C17-8A6F-7A8C2B7FE2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430250" y="2609850"/>
              <a:ext cx="590550" cy="333375"/>
            </a:xfrm>
            <a:prstGeom xmlns:a="http://schemas.openxmlformats.org/drawingml/2006/main" prst="roundRect">
              <a:avLst>
                <a:gd name="adj" fmla="val 22857"/>
              </a:avLst>
            </a:prstGeom>
            <a:solidFill xmlns:a="http://schemas.openxmlformats.org/drawingml/2006/main">
              <a:srgbClr val="D8D1E9"/>
            </a:solidFill>
            <a:ln xmlns:a="http://schemas.openxmlformats.org/drawingml/2006/main" w="19050">
              <a:solidFill>
                <a:srgbClr val="6E65A0"/>
              </a:solidFill>
            </a:ln>
          </p:spPr>
          <p:txBody>
            <a:bodyPr xmlns:a="http://schemas.openxmlformats.org/drawingml/2006/main" lIns="9525" tIns="9525" rIns="9525" bIns="9525"/>
            <a:lstStyle xmlns:a="http://schemas.openxmlformats.org/drawingml/2006/main">
              <a:defPPr algn="ctr">
                <a:defRPr sz="1125">
                  <a:solidFill>
                    <a:srgbClr val="302850"/>
                  </a:solidFill>
                </a:defRPr>
              </a:defPPr>
            </a:lstStyle>
            <a:p xmlns:a="http://schemas.openxmlformats.org/drawingml/2006/main">
              <a:pPr algn="ctr">
                <a:defRPr sz="1125">
                  <a:solidFill>
                    <a:srgbClr val="302850"/>
                  </a:solidFill>
                </a:defRPr>
              </a:pPr>
              <a:r>
                <a:rPr sz="1050">
                  <a:solidFill>
                    <a:srgbClr val="302850"/>
                  </a:solidFill>
                </a:rPr>
                <a:t>action B</a:t>
              </a:r>
            </a:p>
          </p:txBody>
        </p:sp>
        <p:sp>
          <p:nvSpPr>
            <p:cNvPr id="110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98025D42-C0C0-4A75-9D84-EF656F93B9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2857500" y="6296025"/>
              <a:ext cx="95" cy="571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111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C78A74AA-A2CF-487E-9FFA-853D9841AE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2857500" y="6867525"/>
              <a:ext cx="1714500" cy="9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112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7D2BF5FE-34D6-41AD-9BFB-95D1372BB1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2857500" y="6684645"/>
              <a:ext cx="244929" cy="5715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3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7CCCBB98-670C-4C65-8A27-F3235FD540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102429" y="6593205"/>
              <a:ext cx="244929" cy="9144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4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4BF4AD4A-A158-4CFC-9B6E-49236455B61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3347357" y="6593205"/>
              <a:ext cx="244929" cy="285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5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56575FB9-04BF-437A-9B93-B14BBCF069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592286" y="6513195"/>
              <a:ext cx="244929" cy="10858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6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64AB02E7-2360-4A30-9B98-65AD647142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3837214" y="6467475"/>
              <a:ext cx="244929" cy="4572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7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B8FAB61B-939D-4CBB-B728-C3225C6255F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4082143" y="6467475"/>
              <a:ext cx="244929" cy="285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8" name="forecast-output">
              <a:extLst xmlns:a="http://schemas.openxmlformats.org/drawingml/2006/main">
                <a:ext uri="{FF2B5EF4-FFF2-40B4-BE49-F238E27FC236}">
                  <a16:creationId xmlns:a16="http://schemas.microsoft.com/office/drawing/2014/main" id="{1173B59A-F2EF-49C5-921B-3CB607677E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4327071" y="6393180"/>
              <a:ext cx="244929" cy="10287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B17E2C"/>
              </a:solidFill>
            </a:ln>
          </p:spPr>
        </p:sp>
        <p:sp>
          <p:nvSpPr>
            <p:cNvPr id="119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8D3C7AA8-2E3B-4F6A-98BC-B05DDCFC12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000750" y="6391275"/>
              <a:ext cx="190500" cy="47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0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A0EB7F50-CE09-4510-A670-5BAB765F052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191250" y="6319838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1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63F83D01-13A2-4913-A76B-5FC9A24213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381750" y="6319838"/>
              <a:ext cx="190500" cy="238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2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6498977C-20C7-46F2-8334-E138C88B0FB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572250" y="6343650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3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2E9BABBC-AAD8-45FD-A590-79F57A2F772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762750" y="6367463"/>
              <a:ext cx="190500" cy="47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4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CE68C995-1DC5-4214-B4F0-3C0D4318A4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953250" y="6296025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5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908D539D-2C68-4BC3-A0E4-45BDCDD7A07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143750" y="6296025"/>
              <a:ext cx="190500" cy="238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6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7EA97E5B-C3C4-4BF4-890F-B4EDFD4D33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000750" y="6591300"/>
              <a:ext cx="190500" cy="47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7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7BE21651-276D-45BC-A703-20CC7D15F5B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191250" y="6519863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8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86214577-5CBE-4B40-B676-638C641A272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381750" y="6519863"/>
              <a:ext cx="190500" cy="238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29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106F7CB0-75AC-41D5-896E-5AFB6D6CDE3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572250" y="6543675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0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AAEAF657-7AA5-4A47-BED0-6F81DA7CBEC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762750" y="6567488"/>
              <a:ext cx="190500" cy="47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1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A252CE65-D5E8-49A0-B2E1-CD86A736BF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953250" y="6496050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2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E11343DB-1A32-454A-98E5-F33DBFBA12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143750" y="6496050"/>
              <a:ext cx="190500" cy="238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3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A410787A-A4A3-466A-94CA-EF0D7BBFF42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000750" y="6791325"/>
              <a:ext cx="190500" cy="47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4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87AD1851-FBA1-4799-88C7-EE9BB865D8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191250" y="6719888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5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2D0B949F-E5C1-4267-B733-923F609CFF1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381750" y="6719888"/>
              <a:ext cx="190500" cy="238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6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F499FE74-0C66-4F85-9264-6163C138BD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6572250" y="6743700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7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E9F694FB-482B-49E8-9AB1-7BC8F83314F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762750" y="6767513"/>
              <a:ext cx="190500" cy="476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8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CCAB66BA-611F-42A3-8927-DC4B061A4F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6953250" y="6696075"/>
              <a:ext cx="190500" cy="71438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39" name="synthesis-output">
              <a:extLst xmlns:a="http://schemas.openxmlformats.org/drawingml/2006/main">
                <a:ext uri="{FF2B5EF4-FFF2-40B4-BE49-F238E27FC236}">
                  <a16:creationId xmlns:a16="http://schemas.microsoft.com/office/drawing/2014/main" id="{F58B963F-2421-4FC2-B796-8B11DB2DE5E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7143750" y="6696075"/>
              <a:ext cx="190500" cy="23813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D896D"/>
              </a:solidFill>
            </a:ln>
          </p:spPr>
        </p:sp>
        <p:sp>
          <p:nvSpPr>
            <p:cNvPr id="140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54BE89CA-CE69-40B4-9553-D2CD63FC2C9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8350" y="6238875"/>
              <a:ext cx="342900" cy="619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EFBFBD"/>
            </a:solidFill>
            <a:ln xmlns:a="http://schemas.openxmlformats.org/drawingml/2006/main" w="19050">
              <a:noFill/>
            </a:ln>
          </p:spPr>
        </p:sp>
        <p:sp>
          <p:nvSpPr>
            <p:cNvPr id="141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C6F85EC7-85C2-4DB9-ABEE-ECB249661B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172575" y="6238875"/>
              <a:ext cx="95" cy="6191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142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F0090B22-05BD-432D-A857-0B2C171B916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172575" y="6858000"/>
              <a:ext cx="1476375" cy="9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747B80"/>
              </a:solidFill>
            </a:ln>
          </p:spPr>
        </p:sp>
        <p:sp>
          <p:nvSpPr>
            <p:cNvPr id="143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D8EFBBD2-C108-495D-B7BA-4E9A9D19D13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172575" y="6659880"/>
              <a:ext cx="246063" cy="12382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44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56BBE4D2-5BF8-4043-9808-9A72A5EF2FC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418638" y="6659880"/>
              <a:ext cx="246062" cy="2476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45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2355E832-E103-4142-871E-DC59A69195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9664700" y="6300788"/>
              <a:ext cx="246063" cy="383857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46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6D56C7A7-3D95-499D-825B-AA1890D707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9910763" y="6300788"/>
              <a:ext cx="246062" cy="3714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47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5E2D6D17-3C03-4773-A197-C75A642D7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1">
              <a:off x="10156825" y="6641306"/>
              <a:ext cx="246063" cy="30956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48" name="anomaly-output">
              <a:extLst xmlns:a="http://schemas.openxmlformats.org/drawingml/2006/main">
                <a:ext uri="{FF2B5EF4-FFF2-40B4-BE49-F238E27FC236}">
                  <a16:creationId xmlns:a16="http://schemas.microsoft.com/office/drawing/2014/main" id="{4838E51B-B00B-4AF6-BFBA-B86BB1E85B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0402888" y="6641306"/>
              <a:ext cx="246062" cy="2476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24765">
              <a:solidFill>
                <a:srgbClr val="356F84"/>
              </a:solidFill>
            </a:ln>
          </p:spPr>
        </p:sp>
        <p:sp>
          <p:nvSpPr>
            <p:cNvPr id="149" name="decision-output">
              <a:extLst xmlns:a="http://schemas.openxmlformats.org/drawingml/2006/main">
                <a:ext uri="{FF2B5EF4-FFF2-40B4-BE49-F238E27FC236}">
                  <a16:creationId xmlns:a16="http://schemas.microsoft.com/office/drawing/2014/main" id="{AF0C6682-AAED-43E8-B475-1B1D0DD76D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53925" y="6524625"/>
              <a:ext cx="238125" cy="2381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C1DE"/>
            </a:solidFill>
            <a:ln xmlns:a="http://schemas.openxmlformats.org/drawingml/2006/main" w="19050">
              <a:solidFill>
                <a:srgbClr val="6E65A0"/>
              </a:solidFill>
            </a:ln>
          </p:spPr>
        </p:sp>
        <p:sp>
          <p:nvSpPr>
            <p:cNvPr id="150" name="decision-output">
              <a:extLst xmlns:a="http://schemas.openxmlformats.org/drawingml/2006/main">
                <a:ext uri="{FF2B5EF4-FFF2-40B4-BE49-F238E27FC236}">
                  <a16:creationId xmlns:a16="http://schemas.microsoft.com/office/drawing/2014/main" id="{79128A21-4B44-4858-91A6-70C5F855D30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830175" y="6229350"/>
              <a:ext cx="238125" cy="5334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6E65A0"/>
            </a:solidFill>
            <a:ln xmlns:a="http://schemas.openxmlformats.org/drawingml/2006/main" w="19050">
              <a:solidFill>
                <a:srgbClr val="6E65A0"/>
              </a:solidFill>
            </a:ln>
          </p:spPr>
        </p:sp>
        <p:sp>
          <p:nvSpPr>
            <p:cNvPr id="151" name="decision-output">
              <a:extLst xmlns:a="http://schemas.openxmlformats.org/drawingml/2006/main">
                <a:ext uri="{FF2B5EF4-FFF2-40B4-BE49-F238E27FC236}">
                  <a16:creationId xmlns:a16="http://schemas.microsoft.com/office/drawing/2014/main" id="{FCA28951-5D2D-4C6D-91F6-38E2CBC140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3306425" y="6381750"/>
              <a:ext cx="238125" cy="3810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C9C1DE"/>
            </a:solidFill>
            <a:ln xmlns:a="http://schemas.openxmlformats.org/drawingml/2006/main" w="19050">
              <a:solidFill>
                <a:srgbClr val="6E65A0"/>
              </a:solidFill>
            </a:ln>
          </p:spPr>
        </p:sp>
        <p:sp>
          <p:nvSpPr>
            <p:cNvPr id="152" name="decision-output">
              <a:extLst xmlns:a="http://schemas.openxmlformats.org/drawingml/2006/main">
                <a:ext uri="{FF2B5EF4-FFF2-40B4-BE49-F238E27FC236}">
                  <a16:creationId xmlns:a16="http://schemas.microsoft.com/office/drawing/2014/main" id="{DD86A683-7269-444C-BA13-265AC72E3D1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V="0">
              <a:off x="12268200" y="6781800"/>
              <a:ext cx="1485900" cy="9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4288">
              <a:solidFill>
                <a:srgbClr val="6E65A0"/>
              </a:solidFill>
            </a:ln>
          </p:spPr>
        </p:sp>
      </p:grpSp>
    </p:spTree>
    <p:extLst>
      <p:ext uri="{BB962C8B-B14F-4D97-AF65-F5344CB8AC3E}">
        <p14:creationId xmlns:p14="http://schemas.microsoft.com/office/powerpoint/2010/main" val="1479159831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2026-10-08T15:10:13.3920000Z</dcterms:created>
  <dcterms:modified xsi:type="dcterms:W3CDTF">2026-10-08T15:10:13.3920000Z</dcterms:modified>
</coreProperties>
</file>