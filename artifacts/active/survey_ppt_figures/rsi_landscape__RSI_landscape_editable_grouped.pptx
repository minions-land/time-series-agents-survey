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4"/>
  </p:sldIdLst>
  <p:sldSz cx="16668750" cy="12782550" type="custom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-remaining-components"/>
          <p:cNvGrpSpPr/>
          <p:nvPr/>
        </p:nvGrpSpPr>
        <p:grpSpPr>
          <a:xfrm>
            <a:off x="0" y="0"/>
            <a:ext cx="15240000" cy="8572500"/>
            <a:chOff x="0" y="0"/>
            <a:chExt cx="15240000" cy="8572500"/>
          </a:xfrm>
        </p:grpSpPr>
        <p:pic>
          <p:nvPicPr>
            <p:cNvPr id="2" name="Complex radial landscape chart body; source-faithful rasterized visual region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157531" y="1329669"/>
              <a:ext cx="10460062" cy="7942555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3201853" y="496410"/>
              <a:ext cx="6559700" cy="638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2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The landscape of recursive self-improvement</a:t>
              </a:r>
              <a:endParaRPr lang="zh-CN" sz="28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01853" y="1028277"/>
              <a:ext cx="6736989" cy="425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80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Foundations, enabling mechanisms and emerging systems</a:t>
              </a:r>
              <a:endParaRPr lang="zh-CN" sz="18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865004" y="10637351"/>
              <a:ext cx="10938743" cy="3368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Figure 3. Landscape of mechanisms relevant to recursive self-improvement. The map connects update targets</a:t>
              </a:r>
              <a:endParaRPr lang="zh-CN" sz="175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865004" y="11009658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in the inner band, improvement mechanisms in the middle band, and representative studies in the outer band.</a:t>
              </a:r>
              <a:endParaRPr lang="zh-CN" sz="175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865004" y="11346508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The six sectors cover weights, tasks, memory, programs, feedback, and the improvement process. A work may</a:t>
              </a:r>
              <a:endParaRPr lang="zh-CN" sz="175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865004" y="11683357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involve several targets; its placement highlights one connection. The map includes historical foundations, enabling</a:t>
              </a:r>
              <a:endParaRPr lang="zh-CN" sz="175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65004" y="12020207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methods, and RSI-oriented systems. Logos denote selected author or work-done affiliations, rather than base</a:t>
              </a:r>
              <a:endParaRPr lang="zh-CN" sz="175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65004" y="12357056"/>
              <a:ext cx="10938743" cy="301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l"/>
              <a:r>
                <a:rPr lang="zh-CN" sz="175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>models; other collaborating institutions may be omitted. The accompanying source register records each selection.</a:t>
              </a:r>
              <a:endParaRPr lang="zh-CN" sz="175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5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