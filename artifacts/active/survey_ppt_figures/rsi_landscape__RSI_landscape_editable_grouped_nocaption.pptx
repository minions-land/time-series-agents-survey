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4"/>
  </p:sldIdLst>
  <p:sldSz cx="16668750" cy="12782550" type="custom"/>
  <p:notesSz cx="6858000" cy="9144000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-remaining-components"/>
          <p:cNvGrpSpPr/>
          <p:nvPr/>
        </p:nvGrpSpPr>
        <p:grpSpPr>
          <a:xfrm>
            <a:off x="0" y="0"/>
            <a:ext cx="15240000" cy="8572500"/>
            <a:chOff x="0" y="0"/>
            <a:chExt cx="15240000" cy="8572500"/>
          </a:xfrm>
        </p:grpSpPr>
        <p:pic>
          <p:nvPicPr>
            <p:cNvPr id="2" name="Complex radial landscape chart body; source-faithful rasterized visual region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157531" y="1329669"/>
              <a:ext cx="10460062" cy="7942555"/>
            </a:xfrm>
            <a:prstGeom prst="rect">
              <a:avLst/>
            </a:prstGeom>
          </p:spPr>
        </p:pic>
        <p:sp>
          <p:nvSpPr>
            <p:cNvPr id="3" name="TextBox 3"/>
            <p:cNvSpPr txBox="1"/>
            <p:nvPr/>
          </p:nvSpPr>
          <p:spPr>
            <a:xfrm>
              <a:off x="3201853" y="496410"/>
              <a:ext cx="6559700" cy="638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28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The landscape of recursive self-improvement</a:t>
              </a:r>
              <a:endParaRPr lang="zh-CN" sz="28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201853" y="1028277"/>
              <a:ext cx="6736989" cy="425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800" b="1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Foundations, enabling mechanisms and emerging systems</a:t>
              </a:r>
              <a:endParaRPr lang="zh-CN" sz="180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5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