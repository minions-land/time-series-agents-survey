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784023e04a451e" /><Relationship Type="http://schemas.openxmlformats.org/officeDocument/2006/relationships/extended-properties" Target="/docProps/app.xml" Id="Reb4123275c4c4745" /><Relationship Type="http://schemas.openxmlformats.org/officeDocument/2006/relationships/officeDocument" Target="/ppt/presentation.xml" Id="Rf0ce2a38e42f42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b885dc477b4b4b"/>
  </p:sldMasterIdLst>
  <p:notesMasterIdLst>
    <p:notesMasterId xmlns:r="http://schemas.openxmlformats.org/officeDocument/2006/relationships" r:id="R3057d2ddd8a74048"/>
  </p:notesMasterIdLst>
  <p:sldIdLst>
    <p:sldId xmlns:r="http://schemas.openxmlformats.org/officeDocument/2006/relationships" id="256" r:id="R54915f8901d443b8"/>
    <p:sldId xmlns:r="http://schemas.openxmlformats.org/officeDocument/2006/relationships" id="257" r:id="R6aa49fdddf3b4460"/>
    <p:sldId xmlns:r="http://schemas.openxmlformats.org/officeDocument/2006/relationships" id="258" r:id="R902aab6081964fb3"/>
    <p:sldId xmlns:r="http://schemas.openxmlformats.org/officeDocument/2006/relationships" id="259" r:id="R295e926074ca4850"/>
    <p:sldId xmlns:r="http://schemas.openxmlformats.org/officeDocument/2006/relationships" id="260" r:id="Rb133d938fb00488e"/>
    <p:sldId xmlns:r="http://schemas.openxmlformats.org/officeDocument/2006/relationships" id="261" r:id="R907ab7b78eea41e1"/>
    <p:sldId xmlns:r="http://schemas.openxmlformats.org/officeDocument/2006/relationships" id="262" r:id="Rca86d54576664d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70973d64ed4496" /><Relationship Type="http://schemas.openxmlformats.org/officeDocument/2006/relationships/slideMaster" Target="/ppt/slideMasters/slideMaster1.xml" Id="Rf6b885dc477b4b4b" /><Relationship Type="http://schemas.openxmlformats.org/officeDocument/2006/relationships/notesMaster" Target="/ppt/notesMasters/notesMaster1.xml" Id="R3057d2ddd8a74048" /><Relationship Type="http://schemas.openxmlformats.org/officeDocument/2006/relationships/presProps" Target="/ppt/presProps.xml" Id="R96037460a2744a7e" /><Relationship Type="http://schemas.openxmlformats.org/officeDocument/2006/relationships/tableStyles" Target="/ppt/tableStyles.xml" Id="Rebc202c8e2c54268" /><Relationship Type="http://schemas.openxmlformats.org/officeDocument/2006/relationships/slide" Target="/ppt/slides/slide1.xml" Id="R54915f8901d443b8" /><Relationship Type="http://schemas.openxmlformats.org/officeDocument/2006/relationships/slide" Target="/ppt/slides/slide2.xml" Id="R6aa49fdddf3b4460" /><Relationship Type="http://schemas.openxmlformats.org/officeDocument/2006/relationships/slide" Target="/ppt/slides/slide3.xml" Id="R902aab6081964fb3" /><Relationship Type="http://schemas.openxmlformats.org/officeDocument/2006/relationships/slide" Target="/ppt/slides/slide4.xml" Id="R295e926074ca4850" /><Relationship Type="http://schemas.openxmlformats.org/officeDocument/2006/relationships/slide" Target="/ppt/slides/slide5.xml" Id="Rb133d938fb00488e" /><Relationship Type="http://schemas.openxmlformats.org/officeDocument/2006/relationships/slide" Target="/ppt/slides/slide6.xml" Id="R907ab7b78eea41e1" /><Relationship Type="http://schemas.openxmlformats.org/officeDocument/2006/relationships/slide" Target="/ppt/slides/slide7.xml" Id="Rca86d54576664d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5a3cd93dbb459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ee830d0ccc4397" /><Relationship Type="http://schemas.openxmlformats.org/officeDocument/2006/relationships/notesMaster" Target="/ppt/notesMasters/notesMaster1.xml" Id="R04c57a0243a04d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37e7857c4b4509" /><Relationship Type="http://schemas.openxmlformats.org/officeDocument/2006/relationships/notesMaster" Target="/ppt/notesMasters/notesMaster1.xml" Id="R7bd14335ca0a4a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96685cbc104568" /><Relationship Type="http://schemas.openxmlformats.org/officeDocument/2006/relationships/notesMaster" Target="/ppt/notesMasters/notesMaster1.xml" Id="R9f78db03d7d04f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d955034bd14466" /><Relationship Type="http://schemas.openxmlformats.org/officeDocument/2006/relationships/notesMaster" Target="/ppt/notesMasters/notesMaster1.xml" Id="R1abcb708d85545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e0a96bf51b495e" /><Relationship Type="http://schemas.openxmlformats.org/officeDocument/2006/relationships/notesMaster" Target="/ppt/notesMasters/notesMaster1.xml" Id="Re7de0e24d8d149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18685ad74e4e2f" /><Relationship Type="http://schemas.openxmlformats.org/officeDocument/2006/relationships/notesMaster" Target="/ppt/notesMasters/notesMaster1.xml" Id="R1c9fffde7abc4b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d4fb6041704cbe" /><Relationship Type="http://schemas.openxmlformats.org/officeDocument/2006/relationships/notesMaster" Target="/ppt/notesMasters/notesMaster1.xml" Id="R7fd49c8f8afb49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ChatTS,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AION,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MERIT,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AnomaMind,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TIMECLAW,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TimeSeriesGym,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TS-Agent,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8c680c6efd4b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4c2e13b8834b06" /><Relationship Type="http://schemas.openxmlformats.org/officeDocument/2006/relationships/slideLayout" Target="/ppt/slideLayouts/slideLayout1.xml" Id="R22619ecc912b46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619ecc912b46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81980895e41c3" /><Relationship Type="http://schemas.openxmlformats.org/officeDocument/2006/relationships/notesSlide" Target="/ppt/notesSlides/notesSlide1.xml" Id="R484ca769fe2848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0c344bc254f3d" /><Relationship Type="http://schemas.openxmlformats.org/officeDocument/2006/relationships/notesSlide" Target="/ppt/notesSlides/notesSlide2.xml" Id="R349e970aa90148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954a361c449f1" /><Relationship Type="http://schemas.openxmlformats.org/officeDocument/2006/relationships/notesSlide" Target="/ppt/notesSlides/notesSlide3.xml" Id="Reb97953297a7416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d5696b01341d3" /><Relationship Type="http://schemas.openxmlformats.org/officeDocument/2006/relationships/notesSlide" Target="/ppt/notesSlides/notesSlide4.xml" Id="Rb4fcd4002b96498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f1f10098c4f1b" /><Relationship Type="http://schemas.openxmlformats.org/officeDocument/2006/relationships/notesSlide" Target="/ppt/notesSlides/notesSlide5.xml" Id="R4c16d645d2cd4a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502dd0bfe4094" /><Relationship Type="http://schemas.openxmlformats.org/officeDocument/2006/relationships/notesSlide" Target="/ppt/notesSlides/notesSlide6.xml" Id="R062f66a01e294a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0ca34047e4c7e" /><Relationship Type="http://schemas.openxmlformats.org/officeDocument/2006/relationships/notesSlide" Target="/ppt/notesSlides/notesSlide7.xml" Id="Ref4d66a35d7042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CF2C89CE-66B0-49DA-9A77-4E18D23055A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667000"/>
              <a:ext cx="1714500" cy="685800"/>
            </a:xfrm>
            <a:prstGeom xmlns:a="http://schemas.openxmlformats.org/drawingml/2006/main" prst="roundRect">
              <a:avLst>
                <a:gd name="adj" fmla="val 11111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E061C27B-6B60-49BE-BD9C-FF4A518F75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2762250"/>
              <a:ext cx="1524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Attribute selector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D7AE1AAE-6DEA-46F6-98B0-C33C4388EA7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" y="3067050"/>
              <a:ext cx="1485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selects temporal attributes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8CF9884F-6AC9-4561-8A28-901988FBF5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38500" y="1666875"/>
              <a:ext cx="21907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D616D2BF-919F-4B5C-8E1F-654F525AE9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1762125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Attribute-based generator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22BDD841-E115-4A60-94CB-C257CA9D38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52800" y="2066925"/>
              <a:ext cx="19621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series with selected attributes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776DC2D5-2AB5-4808-8FDB-15EBAFA13F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38500" y="3714750"/>
              <a:ext cx="21907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50E9D9D8-A9B5-4D9F-8753-74F9626A84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38100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Time-series evol-instruct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B47E9688-1A56-4DDA-9502-67D6705F3B8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52800" y="4114800"/>
              <a:ext cx="19621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temporal instruction text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51C962D4-03E0-4E9A-9FE9-02C6E033A56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72250" y="2667000"/>
              <a:ext cx="209550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21C92E4B-2F9A-4512-90FF-0041352FCAB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0" y="27622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Generated training data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B3372F32-5209-4F01-A38F-E317D3C22DD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86550" y="3067050"/>
              <a:ext cx="186690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series + language supervision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4556E85D-FE74-4E05-83E2-B044BE6ADC4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10750" y="2667000"/>
              <a:ext cx="16192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73031705-A295-40F6-B115-84E8F4C158A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06000" y="27622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Model training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32560D73-9E0F-4247-A7CF-591968B01DD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25050" y="3067050"/>
              <a:ext cx="13906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temporal alignment</a:t>
              </a:r>
            </a:p>
          </p:txBody>
        </p:sp>
        <p:cxnSp>
          <p:nvCxnSpPr>
            <p:cNvPr id="37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 flipV="1">
              <a:off x="2381250" y="2143125"/>
              <a:ext cx="857250" cy="8667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1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2381250" y="3009900"/>
              <a:ext cx="857250" cy="118110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9" name=""/>
            <p:cNvCxnSpPr>
              <a:stCxn xmlns:a="http://schemas.openxmlformats.org/drawingml/2006/main" id="4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5429250" y="2143125"/>
              <a:ext cx="1143000" cy="10001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40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 flipV="1">
              <a:off x="5429250" y="3143250"/>
              <a:ext cx="1143000" cy="10477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1" name=""/>
            <p:cNvCxnSpPr>
              <a:stCxn xmlns:a="http://schemas.openxmlformats.org/drawingml/2006/main" id="10" idx="3"/>
              <a:endCxn xmlns:a="http://schemas.openxmlformats.org/drawingml/2006/main" id="13" idx="1"/>
            </p:cNvCxnSpPr>
            <p:nvPr/>
          </p:nvCxnSpPr>
          <p:spPr>
            <a:xfrm xmlns:a="http://schemas.openxmlformats.org/drawingml/2006/main">
              <a:off x="8667750" y="3143250"/>
              <a:ext cx="1143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E2055AAA-072A-49BB-BA14-FA9B26DD1E4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857500" y="1238250"/>
              <a:ext cx="619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model-side representation and reasoning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6589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1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36" name="">
              <a:extLst xmlns:a="http://schemas.openxmlformats.org/drawingml/2006/main">
                <a:ext uri="{FF2B5EF4-FFF2-40B4-BE49-F238E27FC236}">
                  <a16:creationId xmlns:a16="http://schemas.microsoft.com/office/drawing/2014/main" id="{B902403A-11EC-4563-A764-C6F6D30F418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4288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0E239C36-9177-4B18-A0F6-5966ABDFB7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0962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Temporal grounding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A8393DF7-7AF6-4FF9-91C2-0B70E72C5A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80DFACD8-291B-4C81-A912-9B488CD5A6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Task specification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A5874F61-2DE4-43B9-A341-6ABC16D3EB9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F0723F81-71CE-44A1-A6CA-64B0570F2D3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0E8E91A0-539B-4A6A-8AF2-3893A169BF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Data interface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E4BD99E5-3031-4564-B48B-4614914867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A1336FF4-EA86-43CB-ACE7-AC123B17950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50B202AF-3E8E-4210-B1BD-6A26753C134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Visual analysis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A7563641-E1B9-41F5-8DD2-7A28F76E5AA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0C61E171-EF0D-410B-A301-01629738B8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38150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4288">
              <a:solidFill>
                <a:srgbClr val="438B86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8634280A-B6A9-4EF4-9F57-8F514873124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52437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Knowledge-grounded reasoning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0CCCF1F0-9E14-413D-9EFB-ECFA9DF2DE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063FC457-20BF-47CA-9C4F-137DA10D643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Strong knowledge dependence</a:t>
              </a:r>
            </a:p>
          </p:txBody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10DD1824-3345-4B6A-861F-1E3C9C77A8E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6C2D1814-2874-4FD4-AE58-0A152F7E01C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EB1205E0-EF01-4967-9233-A442F237BA2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Temporal hypothesis expansion</a:t>
              </a:r>
            </a:p>
          </p:txBody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F2ECE531-2779-4463-A02D-8940C2FAE5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37289A46-85E4-4EBC-B360-9E396E00DC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1D50324E-4E01-4D77-90D7-20EABDFCA0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Rules-aware reasoning</a:t>
              </a:r>
            </a:p>
          </p:txBody>
        </p: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9F06E8A1-5F9E-4222-A234-ADEB0EC1592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6F45A647-2F60-4834-89AF-E218861DB0D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09625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4288">
              <a:solidFill>
                <a:srgbClr val="B77F2B"/>
              </a:solidFill>
              <a:prstDash val="solid"/>
            </a:ln>
          </p:spPr>
        </p:sp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641854E1-BABB-445E-99C7-A750AC3D00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23912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Reliability mechanisms</a:t>
              </a:r>
            </a:p>
          </p:txBody>
        </p:sp>
        <p:sp>
          <p:nvSpPr>
            <p:cNvPr id="25" name="">
              <a:extLst xmlns:a="http://schemas.openxmlformats.org/drawingml/2006/main">
                <a:ext uri="{FF2B5EF4-FFF2-40B4-BE49-F238E27FC236}">
                  <a16:creationId xmlns:a16="http://schemas.microsoft.com/office/drawing/2014/main" id="{FE2B76AB-4737-4C01-BC5A-96504D21962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26" name="">
              <a:extLst xmlns:a="http://schemas.openxmlformats.org/drawingml/2006/main">
                <a:ext uri="{FF2B5EF4-FFF2-40B4-BE49-F238E27FC236}">
                  <a16:creationId xmlns:a16="http://schemas.microsoft.com/office/drawing/2014/main" id="{19D4868A-225F-4388-8261-0F42E76785E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Post-experiment analysis</a:t>
              </a:r>
            </a:p>
          </p:txBody>
        </p:sp>
        <p:sp>
          <p:nvSpPr>
            <p:cNvPr id="27" name="">
              <a:extLst xmlns:a="http://schemas.openxmlformats.org/drawingml/2006/main">
                <a:ext uri="{FF2B5EF4-FFF2-40B4-BE49-F238E27FC236}">
                  <a16:creationId xmlns:a16="http://schemas.microsoft.com/office/drawing/2014/main" id="{96BE124A-CAA2-4B95-8E29-C19615F7C0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28" name="">
              <a:extLst xmlns:a="http://schemas.openxmlformats.org/drawingml/2006/main">
                <a:ext uri="{FF2B5EF4-FFF2-40B4-BE49-F238E27FC236}">
                  <a16:creationId xmlns:a16="http://schemas.microsoft.com/office/drawing/2014/main" id="{66BE1AFE-92D8-4AA7-BBB7-6E3FB20527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29" name="">
              <a:extLst xmlns:a="http://schemas.openxmlformats.org/drawingml/2006/main">
                <a:ext uri="{FF2B5EF4-FFF2-40B4-BE49-F238E27FC236}">
                  <a16:creationId xmlns:a16="http://schemas.microsoft.com/office/drawing/2014/main" id="{15AF28E6-1521-4304-A394-87A34EEED1C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Event-aware reasoning</a:t>
              </a:r>
            </a:p>
          </p:txBody>
        </p:sp>
        <p:sp>
          <p:nvSpPr>
            <p:cNvPr id="30" name="">
              <a:extLst xmlns:a="http://schemas.openxmlformats.org/drawingml/2006/main">
                <a:ext uri="{FF2B5EF4-FFF2-40B4-BE49-F238E27FC236}">
                  <a16:creationId xmlns:a16="http://schemas.microsoft.com/office/drawing/2014/main" id="{97465288-51DD-40BC-A7F9-29F223B1E87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31" name="">
              <a:extLst xmlns:a="http://schemas.openxmlformats.org/drawingml/2006/main">
                <a:ext uri="{FF2B5EF4-FFF2-40B4-BE49-F238E27FC236}">
                  <a16:creationId xmlns:a16="http://schemas.microsoft.com/office/drawing/2014/main" id="{A845D30B-A0C0-4703-81D1-21B14097DF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32" name="">
              <a:extLst xmlns:a="http://schemas.openxmlformats.org/drawingml/2006/main">
                <a:ext uri="{FF2B5EF4-FFF2-40B4-BE49-F238E27FC236}">
                  <a16:creationId xmlns:a16="http://schemas.microsoft.com/office/drawing/2014/main" id="{4F355F29-A788-4491-AB32-C2BCE2BA36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Layered review</a:t>
              </a:r>
            </a:p>
          </p:txBody>
        </p:sp>
        <p:sp>
          <p:nvSpPr>
            <p:cNvPr id="33" name="">
              <a:extLst xmlns:a="http://schemas.openxmlformats.org/drawingml/2006/main">
                <a:ext uri="{FF2B5EF4-FFF2-40B4-BE49-F238E27FC236}">
                  <a16:creationId xmlns:a16="http://schemas.microsoft.com/office/drawing/2014/main" id="{F5136418-5375-449D-B4D4-EE91E7D225E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cxnSp>
          <p:nvCxnSpPr>
            <p:cNvPr id="69" name=""/>
            <p:cNvCxnSpPr>
              <a:stCxn xmlns:a="http://schemas.openxmlformats.org/drawingml/2006/main" id="1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3905250" y="3429000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70" name=""/>
            <p:cNvCxnSpPr>
              <a:stCxn xmlns:a="http://schemas.openxmlformats.org/drawingml/2006/main" id="12" idx="3"/>
              <a:endCxn xmlns:a="http://schemas.openxmlformats.org/drawingml/2006/main" id="23" idx="1"/>
            </p:cNvCxnSpPr>
            <p:nvPr/>
          </p:nvCxnSpPr>
          <p:spPr>
            <a:xfrm xmlns:a="http://schemas.openxmlformats.org/drawingml/2006/main">
              <a:off x="7620000" y="3429000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10396534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5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B19D1328-A266-45F2-93ED-7FEE1A354B1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ED41BC84-DEF8-4828-A22F-4A7D5674FC2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5725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Retrieval agent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DDC16A42-BE3B-43E0-B610-F48AC84091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7630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finds similar temporal samples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D2768537-3B1E-49A7-BC1D-FA34482B20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57625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FEE4111A-FEFD-434F-BD85-C0AE413445B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952875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Augmentation agent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5A7BD6D4-F657-4221-905C-AD5D73B6641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971925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a conditioned sample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BC35CF88-5244-4303-A02D-C0537BFBBE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95325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E8FCF032-60EB-4BD6-99B7-DFACD49B560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04850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Review agent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1894E27-57D3-47D8-A1DE-827A8DF1E9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06755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checks fidelity and utility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B969227C-5486-4FB7-A652-50DF8F8FD60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667875" y="2381250"/>
              <a:ext cx="16192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5375CEE7-3CA5-483F-87ED-9834C7A049B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63125" y="247650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Accepted set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B3B84A4A-B0CD-4F4F-AE42-F1B8BFE84F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82175" y="2781300"/>
              <a:ext cx="13906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keeps usable data</a:t>
              </a:r>
            </a:p>
          </p:txBody>
        </p:sp>
        <p:cxnSp>
          <p:nvCxnSpPr>
            <p:cNvPr id="31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952750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2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6048375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3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9144000" y="2881313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4" name=""/>
            <p:cNvCxnSpPr>
              <a:stCxn xmlns:a="http://schemas.openxmlformats.org/drawingml/2006/main" id="7" idx="3"/>
              <a:endCxn xmlns:a="http://schemas.openxmlformats.org/drawingml/2006/main" id="1" idx="1"/>
            </p:cNvCxnSpPr>
            <p:nvPr/>
          </p:nvCxnSpPr>
          <p:spPr>
            <a:xfrm xmlns:a="http://schemas.openxmlformats.org/drawingml/2006/main" flipH="1">
              <a:off x="762000" y="2881313"/>
              <a:ext cx="838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F3E2DE"/>
              </a:solidFill>
              <a:prstDash val="dash"/>
              <a:headEnd type="arrow" w="sm" len="sm"/>
            </a:ln>
          </p:spPr>
        </p:cxn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06ED2271-112A-45C7-8FA8-C0D5F2D03E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619250" y="1524000"/>
              <a:ext cx="88582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retrieval  →  generation  →  review  →  downstream use</a:t>
              </a:r>
            </a:p>
          </p:txBody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221246F0-B37A-4182-B1B1-2F9503A1753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04875" y="4000500"/>
              <a:ext cx="1019175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Temporal fidelity: dependence, missingness, distribution  |  Utility: downstream task performance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71704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5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FEF69D22-4DA9-4F85-A9F5-CA4B993EE7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7AA180A0-1412-437F-9CD6-A0517A50EF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acquisition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0BDBACBF-9000-431A-9E70-553FF712D7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retrieve signals and context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59039F02-9D19-4BCC-A33B-3ABA2A627F4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B072089-7363-4F16-B170-DD3F5F1840A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construction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94BD43F2-B306-46BA-813E-82844392F2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4805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align and summarize evidence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9DC32BD0-DF1E-4736-B568-C38251B848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0960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0B2D05D2-E533-4A70-9139-A004B578320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Anomaly detection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77169F1-06CD-4C21-A59B-02C726176CD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2103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score candidate events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E07E7F93-A204-49FC-BEAD-91DC6192EBE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8582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3335">
              <a:solidFill>
                <a:srgbClr val="B86659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3C44ED09-291E-4CEF-80CE-1FEFAF7C4F4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95350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Diagnosis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EF429A76-4B27-43B8-A278-89A4FB920E7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97255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identify cause and confidence</a:t>
              </a:r>
            </a:p>
          </p:txBody>
        </p:sp>
        <p:cxnSp>
          <p:nvCxnSpPr>
            <p:cNvPr id="32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8575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3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561975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4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83820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F2541FA1-FA0D-45A2-8399-FDD39A39992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238250" y="1428750"/>
              <a:ext cx="9715500" cy="57150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1430">
              <a:solidFill>
                <a:srgbClr val="78639F"/>
              </a:solidFill>
              <a:prstDash val="dash"/>
            </a:ln>
          </p:spPr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9AC80899-19F7-46D4-BA3A-2450ABF92BC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428750" y="1543050"/>
              <a:ext cx="933450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training and feedback update the detector, diagnostic tools, and review policy</a:t>
              </a:r>
            </a:p>
          </p:txBody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B4E583EF-1057-44B0-8634-1631416F13E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619250" y="4333875"/>
              <a:ext cx="8572500" cy="666750"/>
            </a:xfrm>
            <a:prstGeom xmlns:a="http://schemas.openxmlformats.org/drawingml/2006/main" prst="roundRect">
              <a:avLst>
                <a:gd name="adj" fmla="val 11429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2383">
              <a:solidFill>
                <a:srgbClr val="24324A"/>
              </a:solidFill>
              <a:prstDash val="solid"/>
            </a:ln>
          </p:spPr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83B8AADD-668D-47DB-A0DD-910EFBCC89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857375" y="4476750"/>
              <a:ext cx="809625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toolkit: time-series memory · numerical diagnostics · event labels · evaluator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63921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7E3E8B66-042B-4CFA-8850-A61F440F19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476500"/>
              <a:ext cx="2095500" cy="1143000"/>
            </a:xfrm>
            <a:prstGeom xmlns:a="http://schemas.openxmlformats.org/drawingml/2006/main" prst="roundRect">
              <a:avLst>
                <a:gd name="adj" fmla="val 6667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12B9592D-FE39-4FDB-9E99-731923F7D09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5717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Contextual series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32B129F9-C702-4C21-8E50-B47DC8969B6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876550"/>
              <a:ext cx="1866900" cy="666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values, events, metadata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F405D135-BC56-46E8-9BA5-6CED331F16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190750"/>
              <a:ext cx="238125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8A7430C1-C621-40F2-A238-5D5294026C2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24250" y="2286000"/>
              <a:ext cx="2190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Time-series runtime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87709E80-B4B3-4FDB-B219-345D8F63A2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43300" y="2590800"/>
              <a:ext cx="215265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server-side numerical execution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state and tools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17FE899B-0F4B-4E17-B900-392544DFDE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19875" y="2190750"/>
              <a:ext cx="238125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2688A27F-337F-44E5-ACA6-DD44BCA2FC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715125" y="2286000"/>
              <a:ext cx="2190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Capability evolution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753A4C31-CEBD-4FEA-A5D8-5781AD9B08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734175" y="2590800"/>
              <a:ext cx="215265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evaluate, update, retain, release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33A6CD89-C6BB-4907-A19E-757097C5657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10750" y="2476500"/>
              <a:ext cx="1809750" cy="1143000"/>
            </a:xfrm>
            <a:prstGeom xmlns:a="http://schemas.openxmlformats.org/drawingml/2006/main" prst="roundRect">
              <a:avLst>
                <a:gd name="adj" fmla="val 6667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E15E6FE6-0E20-46AB-A523-4232292E71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06000" y="2571750"/>
              <a:ext cx="1619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Multimodal memory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4B0E1199-CE92-4406-AA69-106C61F33A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25050" y="2876550"/>
              <a:ext cx="1581150" cy="666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retrieve and reuse</a:t>
              </a:r>
            </a:p>
          </p:txBody>
        </p:sp>
        <p:cxnSp>
          <p:nvCxnSpPr>
            <p:cNvPr id="30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 flipV="1">
              <a:off x="2667000" y="3000375"/>
              <a:ext cx="762000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1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5810250" y="3000375"/>
              <a:ext cx="80962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2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9001125" y="3000375"/>
              <a:ext cx="809625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3" name=""/>
            <p:cNvCxnSpPr>
              <a:stCxn xmlns:a="http://schemas.openxmlformats.org/drawingml/2006/main" id="10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 flipH="1" flipV="1">
              <a:off x="3429000" y="3000375"/>
              <a:ext cx="8191500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dash"/>
              <a:headEnd type="arrow" w="sm" len="sm"/>
            </a:ln>
          </p:spPr>
        </p:cxn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4E37E07C-6CBD-4DE1-9912-E76AFFFAE5D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048000" y="1428750"/>
              <a:ext cx="619125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3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auditable trajectories close the loop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543611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0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01E3925D-2343-4F18-94F9-649C16D02FF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381250"/>
              <a:ext cx="20955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21B84866-6B80-49D2-8F59-BA9BF543F54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4765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Multiple sources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796DB8BB-B211-462D-B3B9-449C58FCA57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781300"/>
              <a:ext cx="18669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Kaggle · GitHub · data resources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CD8F752F-0598-4D0C-B1DD-872C3390BE6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095500"/>
              <a:ext cx="2286000" cy="190500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DB230261-61E5-4378-94B4-6E85C9D799E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24250" y="2190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Challenges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107D0D12-4E06-4946-A650-54DAF9024D2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43300" y="2495550"/>
              <a:ext cx="2057400" cy="1428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descriptions · resources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skill simulators · code improvement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964F9075-E740-4942-89E6-B2A1EF45F4B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477000" y="2381250"/>
              <a:ext cx="19050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1E791F58-10FC-437F-B0AD-E798C4B6C9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72250" y="2476500"/>
              <a:ext cx="1714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Agent-agnostic design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ABC9B9D7-5A69-47DB-A5AE-D224D4B8A5D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91300" y="2781300"/>
              <a:ext cx="16764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same contract for different Agents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FAB79318-F741-4DD9-80BC-AF76A8B6B9B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144000" y="171450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2A88BC4A-3758-4CD8-909F-6497714F0ED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39250" y="18097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Quantitative grader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BCB2A8EF-54BB-4BBD-ADC3-E837B9FAAF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58300" y="211455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accuracy, error, runtime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A974B927-FCC6-4FAD-AB4A-F8A4ED214F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144000" y="333375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FBA1C4F0-0C66-4ECE-99A6-FBB6A788DED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39250" y="34290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Qualitative grader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98B50628-216A-443F-9B3A-38DC139831E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58300" y="373380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trace and artifact review</a:t>
              </a:r>
            </a:p>
          </p:txBody>
        </p:sp>
        <p:cxnSp>
          <p:nvCxnSpPr>
            <p:cNvPr id="36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667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7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5715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 flipV="1">
              <a:off x="8382000" y="2143125"/>
              <a:ext cx="762000" cy="9048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9" name=""/>
            <p:cNvCxnSpPr>
              <a:stCxn xmlns:a="http://schemas.openxmlformats.org/drawingml/2006/main" id="7" idx="3"/>
              <a:endCxn xmlns:a="http://schemas.openxmlformats.org/drawingml/2006/main" id="13" idx="1"/>
            </p:cNvCxnSpPr>
            <p:nvPr/>
          </p:nvCxnSpPr>
          <p:spPr>
            <a:xfrm xmlns:a="http://schemas.openxmlformats.org/drawingml/2006/main">
              <a:off x="8382000" y="3048000"/>
              <a:ext cx="762000" cy="7143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B5A76C03-8FF2-4D10-BBAC-C74B39C904D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810625" y="4762500"/>
              <a:ext cx="26670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multimodal outputs</a:t>
              </a:r>
            </a:p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files · models ·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562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2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BFEEC2A0-665D-4D75-865B-DE4A27BA77B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23875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79A21EFE-E32B-45C5-9B9B-2968A23C7F5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Time-series data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E5B374E5-13F3-455A-ABF0-3AAE3017553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8175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observations</a:t>
              </a:r>
            </a:p>
          </p:txBody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0FA0031C-29C5-4139-B260-7475D0F5EF8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667000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ADC859DC-1FA4-4DE4-B13C-4ECC013F2F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762250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log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5BD0BC69-5A35-4C64-997B-AF68219BE1C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781300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provenance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27D9B795-DB2A-451C-8A78-5D11E8DBFAA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810125" y="2190750"/>
              <a:ext cx="228600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38FFE31E-F153-440D-A9C6-269BE6AB147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905375" y="228600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Temporal tools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7C240EB-EE81-410A-95E5-371BFA061E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924425" y="2590800"/>
              <a:ext cx="205740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trend · anomaly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correlation · forecast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371DB098-0DAE-47B5-93F0-DEEE4200E00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0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DC4E97D1-E286-41E6-8BB1-65B21E37A61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715250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LLM critic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1F082071-FE1A-457E-BD2C-147FFCFBE24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734300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check and revise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6BA83F5D-8727-422F-BB86-42BA929C3C3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63125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3335">
              <a:solidFill>
                <a:srgbClr val="B86659"/>
              </a:solidFill>
              <a:prstDash val="solid"/>
            </a:ln>
          </p:spPr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273F7764-0007-4A4E-AA4C-64A559484C6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58375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Final answer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2FDB27E7-BFB8-4B73-9E62-24FB3C887BC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77425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evidence-backed</a:t>
              </a:r>
            </a:p>
          </p:txBody>
        </p:sp>
        <p:cxnSp>
          <p:nvCxnSpPr>
            <p:cNvPr id="37" name=""/>
            <p:cNvCxnSpPr>
              <a:stCxn xmlns:a="http://schemas.openxmlformats.org/drawingml/2006/main" id="1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>
              <a:off x="2143125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4" idx="3"/>
              <a:endCxn xmlns:a="http://schemas.openxmlformats.org/drawingml/2006/main" id="7" idx="1"/>
            </p:cNvCxnSpPr>
            <p:nvPr/>
          </p:nvCxnSpPr>
          <p:spPr>
            <a:xfrm xmlns:a="http://schemas.openxmlformats.org/drawingml/2006/main">
              <a:off x="4286250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9" name=""/>
            <p:cNvCxnSpPr>
              <a:stCxn xmlns:a="http://schemas.openxmlformats.org/drawingml/2006/main" id="7" idx="3"/>
              <a:endCxn xmlns:a="http://schemas.openxmlformats.org/drawingml/2006/main" id="10" idx="1"/>
            </p:cNvCxnSpPr>
            <p:nvPr/>
          </p:nvCxnSpPr>
          <p:spPr>
            <a:xfrm xmlns:a="http://schemas.openxmlformats.org/drawingml/2006/main">
              <a:off x="7096125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40" name=""/>
            <p:cNvCxnSpPr>
              <a:stCxn xmlns:a="http://schemas.openxmlformats.org/drawingml/2006/main" id="10" idx="3"/>
              <a:endCxn xmlns:a="http://schemas.openxmlformats.org/drawingml/2006/main" id="13" idx="1"/>
            </p:cNvCxnSpPr>
            <p:nvPr/>
          </p:nvCxnSpPr>
          <p:spPr>
            <a:xfrm xmlns:a="http://schemas.openxmlformats.org/drawingml/2006/main">
              <a:off x="9239250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1" name=""/>
            <p:cNvCxnSpPr>
              <a:stCxn xmlns:a="http://schemas.openxmlformats.org/drawingml/2006/main" id="10" idx="3"/>
              <a:endCxn xmlns:a="http://schemas.openxmlformats.org/drawingml/2006/main" id="4" idx="1"/>
            </p:cNvCxnSpPr>
            <p:nvPr/>
          </p:nvCxnSpPr>
          <p:spPr>
            <a:xfrm xmlns:a="http://schemas.openxmlformats.org/drawingml/2006/main" flipH="1">
              <a:off x="2667000" y="3000375"/>
              <a:ext cx="6572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dash"/>
              <a:headEnd type="arrow" w="sm" len="sm"/>
            </a:ln>
          </p:spPr>
        </p:cxn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2011238D-80BC-4BEA-9BD9-7B472C1D57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190750" y="1428750"/>
              <a:ext cx="714375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observe  →  execute  →  critique  →  verify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749154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2026-10-07T12:43:58.1160000Z</dcterms:created>
  <dcterms:modified xsi:type="dcterms:W3CDTF">2026-10-07T12:43:58.1160000Z</dcterms:modified>
</coreProperties>
</file>