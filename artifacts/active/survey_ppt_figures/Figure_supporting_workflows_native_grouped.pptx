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276092a8224663" /><Relationship Type="http://schemas.openxmlformats.org/officeDocument/2006/relationships/extended-properties" Target="/docProps/app.xml" Id="Re9eb7bb00f704407" /><Relationship Type="http://schemas.openxmlformats.org/officeDocument/2006/relationships/officeDocument" Target="/ppt/presentation.xml" Id="R49d9d626c7b243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f3cffce5743a9"/>
  </p:sldMasterIdLst>
  <p:notesMasterIdLst>
    <p:notesMasterId xmlns:r="http://schemas.openxmlformats.org/officeDocument/2006/relationships" r:id="R548f3c0593b9421c"/>
  </p:notesMasterIdLst>
  <p:sldIdLst>
    <p:sldId xmlns:r="http://schemas.openxmlformats.org/officeDocument/2006/relationships" id="256" r:id="R315c46d56a31483d"/>
    <p:sldId xmlns:r="http://schemas.openxmlformats.org/officeDocument/2006/relationships" id="257" r:id="Rf20877b65fd54653"/>
    <p:sldId xmlns:r="http://schemas.openxmlformats.org/officeDocument/2006/relationships" id="258" r:id="Ra4f97209bcd44441"/>
    <p:sldId xmlns:r="http://schemas.openxmlformats.org/officeDocument/2006/relationships" id="259" r:id="Rca21eae5e9a544cc"/>
    <p:sldId xmlns:r="http://schemas.openxmlformats.org/officeDocument/2006/relationships" id="260" r:id="Re373dc0f140449f9"/>
    <p:sldId xmlns:r="http://schemas.openxmlformats.org/officeDocument/2006/relationships" id="261" r:id="Rf7ca6c0528f14295"/>
    <p:sldId xmlns:r="http://schemas.openxmlformats.org/officeDocument/2006/relationships" id="262" r:id="Rca81a2d91edc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ca09c20bd45f1" /><Relationship Type="http://schemas.openxmlformats.org/officeDocument/2006/relationships/slideMaster" Target="/ppt/slideMasters/slideMaster1.xml" Id="Rb74f3cffce5743a9" /><Relationship Type="http://schemas.openxmlformats.org/officeDocument/2006/relationships/notesMaster" Target="/ppt/notesMasters/notesMaster1.xml" Id="R548f3c0593b9421c" /><Relationship Type="http://schemas.openxmlformats.org/officeDocument/2006/relationships/presProps" Target="/ppt/presProps.xml" Id="Rfb102f6c0eea4f74" /><Relationship Type="http://schemas.openxmlformats.org/officeDocument/2006/relationships/tableStyles" Target="/ppt/tableStyles.xml" Id="Rc112f3fc2d504d43" /><Relationship Type="http://schemas.openxmlformats.org/officeDocument/2006/relationships/slide" Target="/ppt/slides/slide1.xml" Id="R315c46d56a31483d" /><Relationship Type="http://schemas.openxmlformats.org/officeDocument/2006/relationships/slide" Target="/ppt/slides/slide2.xml" Id="Rf20877b65fd54653" /><Relationship Type="http://schemas.openxmlformats.org/officeDocument/2006/relationships/slide" Target="/ppt/slides/slide3.xml" Id="Ra4f97209bcd44441" /><Relationship Type="http://schemas.openxmlformats.org/officeDocument/2006/relationships/slide" Target="/ppt/slides/slide4.xml" Id="Rca21eae5e9a544cc" /><Relationship Type="http://schemas.openxmlformats.org/officeDocument/2006/relationships/slide" Target="/ppt/slides/slide5.xml" Id="Re373dc0f140449f9" /><Relationship Type="http://schemas.openxmlformats.org/officeDocument/2006/relationships/slide" Target="/ppt/slides/slide6.xml" Id="Rf7ca6c0528f14295" /><Relationship Type="http://schemas.openxmlformats.org/officeDocument/2006/relationships/slide" Target="/ppt/slides/slide7.xml" Id="Rca81a2d91edc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0b9582e2743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89dbd36db24a68" /><Relationship Type="http://schemas.openxmlformats.org/officeDocument/2006/relationships/notesMaster" Target="/ppt/notesMasters/notesMaster1.xml" Id="R043a3249045548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84c2c11f584aff" /><Relationship Type="http://schemas.openxmlformats.org/officeDocument/2006/relationships/notesMaster" Target="/ppt/notesMasters/notesMaster1.xml" Id="Rdb1ae7bee1bb48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70a5c2eef4828" /><Relationship Type="http://schemas.openxmlformats.org/officeDocument/2006/relationships/notesMaster" Target="/ppt/notesMasters/notesMaster1.xml" Id="R3e4de3526c60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92239264084fa5" /><Relationship Type="http://schemas.openxmlformats.org/officeDocument/2006/relationships/notesMaster" Target="/ppt/notesMasters/notesMaster1.xml" Id="R8528decceba942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42b35edfe44bb5" /><Relationship Type="http://schemas.openxmlformats.org/officeDocument/2006/relationships/notesMaster" Target="/ppt/notesMasters/notesMaster1.xml" Id="R7840142ea5c843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814efe13254df2" /><Relationship Type="http://schemas.openxmlformats.org/officeDocument/2006/relationships/notesMaster" Target="/ppt/notesMasters/notesMaster1.xml" Id="R8c9a3b6f709e47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20d668c9fb4486" /><Relationship Type="http://schemas.openxmlformats.org/officeDocument/2006/relationships/notesMaster" Target="/ppt/notesMasters/notesMaster1.xml" Id="Rf587f042c9d6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ChatTS,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AION,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MERIT,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AnomaMind,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TIMECLAW,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TimeSeriesGym, Fig. 1.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TS-Agent, Fig. 3.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1675b81634b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d949f8f9b145e8" /><Relationship Type="http://schemas.openxmlformats.org/officeDocument/2006/relationships/slideLayout" Target="/ppt/slideLayouts/slideLayout1.xml" Id="R3e9359e44b52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359e44b52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3aeb9e11843ec" /><Relationship Type="http://schemas.openxmlformats.org/officeDocument/2006/relationships/notesSlide" Target="/ppt/notesSlides/notesSlide1.xml" Id="Ra4ff8746a770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73a990c0c459e" /><Relationship Type="http://schemas.openxmlformats.org/officeDocument/2006/relationships/notesSlide" Target="/ppt/notesSlides/notesSlide2.xml" Id="R0016c72abde346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b62647db64ec7" /><Relationship Type="http://schemas.openxmlformats.org/officeDocument/2006/relationships/notesSlide" Target="/ppt/notesSlides/notesSlide3.xml" Id="R0e19279865bb4c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480844bac41c8" /><Relationship Type="http://schemas.openxmlformats.org/officeDocument/2006/relationships/notesSlide" Target="/ppt/notesSlides/notesSlide4.xml" Id="Rd3c7d4e0ab0e4a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aee5c823b45e9" /><Relationship Type="http://schemas.openxmlformats.org/officeDocument/2006/relationships/notesSlide" Target="/ppt/notesSlides/notesSlide5.xml" Id="R2433a97310b346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fd51eab864935" /><Relationship Type="http://schemas.openxmlformats.org/officeDocument/2006/relationships/notesSlide" Target="/ppt/notesSlides/notesSlide6.xml" Id="R669b17bc0dc041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fc8b2739043b0" /><Relationship Type="http://schemas.openxmlformats.org/officeDocument/2006/relationships/notesSlide" Target="/ppt/notesSlides/notesSlide7.xml" Id="Rf9e0096ab65540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6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F414397-18C3-4221-A8B8-7B42199FC0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228600"/>
              <a:ext cx="112395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Temporal alignment and instruction data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B252E9EA-C573-44BC-BBAC-142531AA13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647700"/>
              <a:ext cx="112395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LLM-side contribution: numerical series enter language-model training through two complementary data paths.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75BEFAC4-03DD-45A9-BB02-265418C3AB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0"/>
              <a:ext cx="1714500" cy="685800"/>
            </a:xfrm>
            <a:prstGeom xmlns:a="http://schemas.openxmlformats.org/drawingml/2006/main" prst="roundRect">
              <a:avLst>
                <a:gd name="adj" fmla="val 11111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7FB58162-44A1-4FFD-8B85-D781E9DFC8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762250"/>
              <a:ext cx="1524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Attribute selector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1B8A0FA6-39E6-491B-89F9-8EE118C141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3067050"/>
              <a:ext cx="14859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temporal attributes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B99EEDD1-12D4-4B6F-ADD1-EF0E27F3C2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1666875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A9F8A8AE-30B5-4778-876D-85F5569EC6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1762125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Attribute-based generator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B8AEBF65-79BC-4EFF-B802-B9DB1CAAD9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2066925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series with selected attributes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A08D1B2-27E4-4430-8312-4704577BF8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38500" y="3714750"/>
              <a:ext cx="21907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4C29B719-DF70-45AB-AD28-955E37CF4A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33750" y="38100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Time-series evol-instruct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0F53FC2F-3399-474F-B357-6B726E176F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352800" y="4114800"/>
              <a:ext cx="19621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generates temporal instruction text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C281477E-4E93-4F5C-8941-93AB1473C4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6670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C8C9E39D-2E02-4DE6-91A6-04B1A63A72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0" y="27622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Generated training data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504D7A5F-F4FD-423D-8459-EAD986F70D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86550" y="3067050"/>
              <a:ext cx="186690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series + language supervision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2625F8B6-E4D5-47A0-B4D8-2FD287F487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667000"/>
              <a:ext cx="161925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7C215C4A-CBAB-461D-A6E4-E8F5C88A8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7622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Model training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7C9C07AC-86D1-4558-85D6-54716F8212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3067050"/>
              <a:ext cx="1390650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alignment</a:t>
              </a:r>
            </a:p>
          </p:txBody>
        </p:sp>
        <p:cxnSp>
          <p:nvCxnSpPr>
            <p:cNvPr id="41" name=""/>
            <p:cNvCxnSpPr>
              <a:stCxn xmlns:a="http://schemas.openxmlformats.org/drawingml/2006/main" id="3" idx="3"/>
              <a:endCxn xmlns:a="http://schemas.openxmlformats.org/drawingml/2006/main" id="6" idx="1"/>
            </p:cNvCxnSpPr>
            <p:nvPr/>
          </p:nvCxnSpPr>
          <p:spPr>
            <a:xfrm xmlns:a="http://schemas.openxmlformats.org/drawingml/2006/main" flipV="1">
              <a:off x="2381250" y="2143125"/>
              <a:ext cx="857250" cy="8667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42" name=""/>
            <p:cNvCxnSpPr>
              <a:stCxn xmlns:a="http://schemas.openxmlformats.org/drawingml/2006/main" id="3" idx="3"/>
              <a:endCxn xmlns:a="http://schemas.openxmlformats.org/drawingml/2006/main" id="9" idx="1"/>
            </p:cNvCxnSpPr>
            <p:nvPr/>
          </p:nvCxnSpPr>
          <p:spPr>
            <a:xfrm xmlns:a="http://schemas.openxmlformats.org/drawingml/2006/main">
              <a:off x="2381250" y="3009900"/>
              <a:ext cx="857250" cy="118110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3" name=""/>
            <p:cNvCxnSpPr>
              <a:stCxn xmlns:a="http://schemas.openxmlformats.org/drawingml/2006/main" id="6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>
              <a:off x="5429250" y="2143125"/>
              <a:ext cx="1143000" cy="10001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4" name=""/>
            <p:cNvCxnSpPr>
              <a:stCxn xmlns:a="http://schemas.openxmlformats.org/drawingml/2006/main" id="9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 flipV="1">
              <a:off x="5429250" y="3143250"/>
              <a:ext cx="1143000" cy="104775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5" name=""/>
            <p:cNvCxnSpPr>
              <a:stCxn xmlns:a="http://schemas.openxmlformats.org/drawingml/2006/main" id="12" idx="3"/>
              <a:endCxn xmlns:a="http://schemas.openxmlformats.org/drawingml/2006/main" id="15" idx="1"/>
            </p:cNvCxnSpPr>
            <p:nvPr/>
          </p:nvCxnSpPr>
          <p:spPr>
            <a:xfrm xmlns:a="http://schemas.openxmlformats.org/drawingml/2006/main">
              <a:off x="8667750" y="3143250"/>
              <a:ext cx="1143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8B09C7BA-B825-46C7-BBD3-C3D50FB4CA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57500" y="1238250"/>
              <a:ext cx="619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model-side representation and reasoning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789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0902E96A-D154-4579-8F80-962C119713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228600"/>
              <a:ext cx="112395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Three principles for a reliable time-series Agent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A4F35704-3E4C-4950-B130-909CC385C8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647700"/>
              <a:ext cx="112395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The temporal contract couples grounding, knowledge use, and reliability checks.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00C0DCB4-DDB3-4297-8E4F-302A4CA6BE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310BEBD3-6DA5-46E2-8454-FEF993E8BB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Temporal grounding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5A304BA0-65D4-4924-8561-1C4DEC5F58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651C6BBF-459F-4562-93F8-3251C9B33A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 specification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039607D0-FFDD-4816-8449-B55AC52A62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145D1A70-38A9-4B3E-A33E-A4597F0FD8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A99019C5-C093-4E9D-8FC8-C04E567300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Data interface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464BB7DF-26F0-44D8-AAFD-4192304F97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5DB07A8D-F36C-4BD1-9382-3A72AC1B2F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D5EE226C-D4B7-4664-BC22-DD5BE4AA97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Visual analysis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A04894F4-3A6A-4607-AD8B-0F851922A4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68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53BE244D-A4D7-499A-8EF9-775ECE5BB2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4288">
              <a:solidFill>
                <a:srgbClr val="438B86"/>
              </a:solidFill>
              <a:prstDash val="solid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E17099B8-2D21-49FF-B2CD-F3C3739C2C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2437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Knowledge-grounded reasoning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43993E95-4F36-4111-A2D6-09296EE078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EC9AB778-D35B-4AEF-AAD9-E80B964ACE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Strong knowledge dependence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D16198F9-4738-4F36-B09A-985A69D853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D954327-0E49-47A7-9078-471A098995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4DCCC323-E0B5-4944-9421-9EAD60106A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Temporal hypothesis expansion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633A0E6A-E782-404C-A536-F9969A5F30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07126816-FB4F-44A1-A606-1EC4620C2CB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6725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38B86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40ED3B10-43DC-42ED-9E24-F6D0FB9B20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Rules-aware reasoning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EB36292F-D319-4696-A34C-28D604B1FE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8155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B98DDFE6-B4F3-4A23-984B-59F1241845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96250" y="1428750"/>
              <a:ext cx="3238500" cy="4000500"/>
            </a:xfrm>
            <a:prstGeom xmlns:a="http://schemas.openxmlformats.org/drawingml/2006/main" prst="roundRect">
              <a:avLst>
                <a:gd name="adj" fmla="val 2353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4288">
              <a:solidFill>
                <a:srgbClr val="B77F2B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5FF4CA6D-30B3-48EF-B6A2-DCBADCDE7B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39125" y="1619250"/>
              <a:ext cx="29527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Reliability mechanisms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D79C3E49-9360-46A8-B0F2-2FBC1CC0C6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22383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78A422F3-2D47-4C51-B3A1-680755AB4F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3241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Post-experiment analysis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81589182-55E2-4B4E-AD03-8247E67573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25717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declares the task contract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AF4FF808-B00D-4083-BC89-8604DC9C17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09562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71420549-0F60-49C6-9C4A-CF228D41CA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18135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Event-aware reasoning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D4CC9047-2ABB-4DB1-923E-9A93F9125E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342900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ABB5D5A2-A8AE-4FBD-AFBE-5D7994581A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82000" y="3952875"/>
              <a:ext cx="2667000" cy="590550"/>
            </a:xfrm>
            <a:prstGeom xmlns:a="http://schemas.openxmlformats.org/drawingml/2006/main" prst="roundRect">
              <a:avLst>
                <a:gd name="adj" fmla="val 1290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7F2B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490C89D2-29BF-4DD6-B804-A83BDE2829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038600"/>
              <a:ext cx="24384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Layered review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B39FA41E-5AB0-4B64-8F76-73EED9B5CF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300" y="4286250"/>
              <a:ext cx="24384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0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adds an inspectable check</a:t>
              </a:r>
            </a:p>
          </p:txBody>
        </p:sp>
        <p:cxnSp>
          <p:nvCxnSpPr>
            <p:cNvPr id="73" name=""/>
            <p:cNvCxnSpPr>
              <a:stCxn xmlns:a="http://schemas.openxmlformats.org/drawingml/2006/main" id="3" idx="3"/>
              <a:endCxn xmlns:a="http://schemas.openxmlformats.org/drawingml/2006/main" id="14" idx="1"/>
            </p:cNvCxnSpPr>
            <p:nvPr/>
          </p:nvCxnSpPr>
          <p:spPr>
            <a:xfrm xmlns:a="http://schemas.openxmlformats.org/drawingml/2006/main">
              <a:off x="390525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74" name=""/>
            <p:cNvCxnSpPr>
              <a:stCxn xmlns:a="http://schemas.openxmlformats.org/drawingml/2006/main" id="14" idx="3"/>
              <a:endCxn xmlns:a="http://schemas.openxmlformats.org/drawingml/2006/main" id="25" idx="1"/>
            </p:cNvCxnSpPr>
            <p:nvPr/>
          </p:nvCxnSpPr>
          <p:spPr>
            <a:xfrm xmlns:a="http://schemas.openxmlformats.org/drawingml/2006/main">
              <a:off x="7620000" y="3429000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8242680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B19D1328-A266-45F2-93ED-7FEE1A354B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00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ED41BC84-DEF8-4828-A22F-4A7D5674FC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725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Retrieval agent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DC16A42-BE3B-43E0-B610-F48AC84091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finds similar temporal samples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D2768537-3B1E-49A7-BC1D-FA34482B20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7625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FEE4111A-FEFD-434F-BD85-C0AE413445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52875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Augmentation agent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5A7BD6D4-F657-4221-905C-AD5D73B664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71925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selects suitable augmentation strategies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BC35CF88-5244-4303-A02D-C0537BFBBE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0" y="2381250"/>
              <a:ext cx="21907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E8FCF032-60EB-4BD6-99B7-DFACD49B56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0" y="2476500"/>
              <a:ext cx="2000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Review agent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1894E27-57D3-47D8-A1DE-827A8DF1E9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67550" y="2781300"/>
              <a:ext cx="19621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semantic quality of positive views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B969227C-5486-4FB7-A652-50DF8F8FD6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67875" y="2381250"/>
              <a:ext cx="1619250" cy="1000125"/>
            </a:xfrm>
            <a:prstGeom xmlns:a="http://schemas.openxmlformats.org/drawingml/2006/main" prst="roundRect">
              <a:avLst>
                <a:gd name="adj" fmla="val 7619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5375CEE7-3CA5-483F-87ED-9834C7A049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63125" y="247650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Accepted set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B3B84A4A-B0CD-4F4F-AE42-F1B8BFE84F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82175" y="2781300"/>
              <a:ext cx="1390650" cy="523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positive views for contrastive learning</a:t>
              </a:r>
            </a:p>
          </p:txBody>
        </p:sp>
        <p:cxnSp>
          <p:nvCxnSpPr>
            <p:cNvPr id="31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952750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6048375" y="2881313"/>
              <a:ext cx="904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144000" y="2881313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tailEnd type="arrow" w="sm" len="sm"/>
            </a:ln>
          </p:spPr>
        </p:cxnSp>
        <p:sp>
          <p:nvSpPr>
            <p:cNvPr id="34" name=""/>
            <p:cNvSpPr/>
            <p:nvPr/>
          </p:nvSpPr>
          <p:spPr>
            <a:xfrm xmlns:a="http://schemas.openxmlformats.org/drawingml/2006/main">
              <a:off x="1857375" y="3381375"/>
              <a:ext cx="6191250" cy="571500"/>
            </a:xfrm>
            <ns0:custGeom xmlns:ns0="http://schemas.openxmlformats.org/drawingml/2006/main">
              <ns0:avLst/>
              <ns0:gdLst/>
              <ns0:ahLst/>
              <ns0:cxnLst/>
              <ns0:pathLst>
                <ns0:path w="6191250" h="571500" fill="none" stroke="1">
                  <ns0:moveTo>
                    <ns0:pt x="6191250" y="0"/>
                  </ns0:moveTo>
                  <ns0:lnTo>
                    <ns0:pt x="6191250" y="571500"/>
                  </ns0:lnTo>
                  <ns0:lnTo>
                    <ns0:pt x="0" y="571500"/>
                  </ns0:lnTo>
                  <ns0:lnTo>
                    <ns0:pt x="0" y="0"/>
                  </ns0:lnTo>
                </ns0:path>
              </ns0:pathLst>
            </ns0:custGeom>
            <a:ln xmlns:a="http://schemas.openxmlformats.org/drawingml/2006/main" w="19050">
              <a:solidFill>
                <a:srgbClr val="B77F2B"/>
              </a:solidFill>
              <a:prstDash val="dash"/>
              <a:tailEnd type="arrow" w="sm" len="sm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6ED2271-112A-45C7-8FA8-C0D5F2D03E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1524000"/>
              <a:ext cx="885825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221246F0-B37A-4182-B1B1-2F9503A175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4875" y="4000500"/>
              <a:ext cx="10191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7170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5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FEF69D22-4DA9-4F85-A9F5-CA4B993EE7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15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7AA180A0-1412-437F-9CD6-A0517A50EF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67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acquisition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0BDBACBF-9000-431A-9E70-553FF712D7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signals and context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59039F02-9D19-4BCC-A33B-3ABA2A627F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37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B072089-7363-4F16-B170-DD3F5F1840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29000" y="2571750"/>
              <a:ext cx="2095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Adaptive evidence construction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94BD43F2-B306-46BA-813E-82844392F2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48050" y="3124200"/>
              <a:ext cx="2057400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construct diagnostic evidence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9DC32BD0-DF1E-4736-B568-C38251B848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B2D05D2-E533-4A70-9139-A004B57832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Anomaly detection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F77169F1-06CD-4C21-A59B-02C726176C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030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score candidate events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E07E7F93-A204-49FC-BEAD-91DC6192EB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58250" y="2476500"/>
              <a:ext cx="2286000" cy="1095375"/>
            </a:xfrm>
            <a:prstGeom xmlns:a="http://schemas.openxmlformats.org/drawingml/2006/main" prst="roundRect">
              <a:avLst>
                <a:gd name="adj" fmla="val 6957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3C44ED09-291E-4CEF-80CE-1FEFAF7C4F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53500" y="2571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Iterative refinement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EF429A76-4B27-43B8-A278-89A4FB920E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72550" y="2876550"/>
              <a:ext cx="20574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refine anomaly intervals</a:t>
              </a:r>
            </a:p>
          </p:txBody>
        </p:sp>
        <p:cxnSp>
          <p:nvCxnSpPr>
            <p:cNvPr id="32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>
              <a:off x="28575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61975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tailEnd type="arrow" w="sm" len="sm"/>
            </a:ln>
          </p:spPr>
        </p:cxnSp>
        <p:cxnSp>
          <p:nvCxnSpPr>
            <p:cNvPr id="34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8382000" y="3024188"/>
              <a:ext cx="476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tailEnd type="arrow" w="sm" len="sm"/>
            </a:ln>
          </p:spPr>
        </p:cxn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F2541FA1-FA0D-45A2-8399-FDD39A3999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38250" y="1428750"/>
              <a:ext cx="9715500" cy="571500"/>
            </a:xfrm>
            <a:prstGeom xmlns:a="http://schemas.openxmlformats.org/drawingml/2006/main" prst="roundRect">
              <a:avLst>
                <a:gd name="adj" fmla="val 1333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1430">
              <a:solidFill>
                <a:srgbClr val="78639F"/>
              </a:solidFill>
              <a:prstDash val="dash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9AC80899-19F7-46D4-BA3A-2450ABF92B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8750" y="1543050"/>
              <a:ext cx="93345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Detector training with rule-based rewards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B4E583EF-1057-44B0-8634-1631416F13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9250" y="4333875"/>
              <a:ext cx="8572500" cy="666750"/>
            </a:xfrm>
            <a:prstGeom xmlns:a="http://schemas.openxmlformats.org/drawingml/2006/main" prst="roundRect">
              <a:avLst>
                <a:gd name="adj" fmla="val 11429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2383">
              <a:solidFill>
                <a:srgbClr val="24324A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83B8AADD-668D-47DB-A0DD-910EFBCC89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7375" y="4476750"/>
              <a:ext cx="809625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Toolkit: knowledge memory and numerical diagnostics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392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B42221A5-52D1-4464-B664-75DF606132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228600"/>
              <a:ext cx="112395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A time-series-native runtime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C05A0255-BD1F-4545-89D6-2B4BF4E20D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647700"/>
              <a:ext cx="112395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Numerical execution, capability evolution, and multimodal memory remain connected through auditable trajectories.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DDE6C56C-8087-402F-BCF7-BE7676D99D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476500"/>
              <a:ext cx="209550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50B5430-9CEC-4EBC-908C-7903E7FFE0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571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Contextual series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D9B5610A-8724-4FA3-9B48-E51D303661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876550"/>
              <a:ext cx="18669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values, events, metadata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38C23684-6FC7-4FDA-A6AC-0406924E52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4A743DFF-DD5B-415B-B46A-B1AFF6AF6F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runtime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9E542B28-3BF9-4A70-A268-19F8634DC5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server-side numerical execution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state and tools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2FC4B636-9E0C-48A4-A7EC-127537B18D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19875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273D5E8C-DC8E-4067-9C2B-1359D4CA0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Capability evolution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64712E49-F9ED-4120-901F-97BACA98D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34175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evaluate, update, retain, release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370B626-E7B8-4A25-B819-4B8656059D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476500"/>
              <a:ext cx="180975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124130E2-27AD-41F1-909A-9F613BC5DA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571750"/>
              <a:ext cx="1619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Multimodal memory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9F19876-61CE-40BC-8298-A01C8F2EEE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2876550"/>
              <a:ext cx="15811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and reuse</a:t>
              </a:r>
            </a:p>
          </p:txBody>
        </p:sp>
        <p:cxnSp>
          <p:nvCxnSpPr>
            <p:cNvPr id="34" name=""/>
            <p:cNvCxnSpPr>
              <a:stCxn xmlns:a="http://schemas.openxmlformats.org/drawingml/2006/main" id="3" idx="3"/>
              <a:endCxn xmlns:a="http://schemas.openxmlformats.org/drawingml/2006/main" id="6" idx="1"/>
            </p:cNvCxnSpPr>
            <p:nvPr/>
          </p:nvCxnSpPr>
          <p:spPr>
            <a:xfrm xmlns:a="http://schemas.openxmlformats.org/drawingml/2006/main" flipV="1">
              <a:off x="2667000" y="3000375"/>
              <a:ext cx="7620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5" name=""/>
            <p:cNvCxnSpPr>
              <a:stCxn xmlns:a="http://schemas.openxmlformats.org/drawingml/2006/main" id="6" idx="3"/>
              <a:endCxn xmlns:a="http://schemas.openxmlformats.org/drawingml/2006/main" id="9" idx="1"/>
            </p:cNvCxnSpPr>
            <p:nvPr/>
          </p:nvCxnSpPr>
          <p:spPr>
            <a:xfrm xmlns:a="http://schemas.openxmlformats.org/drawingml/2006/main">
              <a:off x="5810250" y="3000375"/>
              <a:ext cx="8096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6" name=""/>
            <p:cNvCxnSpPr>
              <a:stCxn xmlns:a="http://schemas.openxmlformats.org/drawingml/2006/main" id="9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>
              <a:off x="9001125" y="3000375"/>
              <a:ext cx="809625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7" name=""/>
            <p:cNvCxnSpPr>
              <a:stCxn xmlns:a="http://schemas.openxmlformats.org/drawingml/2006/main" id="12" idx="3"/>
              <a:endCxn xmlns:a="http://schemas.openxmlformats.org/drawingml/2006/main" id="6" idx="1"/>
            </p:cNvCxnSpPr>
            <p:nvPr/>
          </p:nvCxnSpPr>
          <p:spPr>
            <a:xfrm xmlns:a="http://schemas.openxmlformats.org/drawingml/2006/main" flipH="1" flipV="1">
              <a:off x="3429000" y="3000375"/>
              <a:ext cx="81915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369A839F-4E74-4DFB-A533-305328E20D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428750"/>
              <a:ext cx="61912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auditable trajectories close the loop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16750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5EC47B4-4A9D-4ECD-A428-5673B763EB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228600"/>
              <a:ext cx="112395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Benchmark infrastructure for executable agents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84E26663-07AA-4296-B0D4-241185917A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647700"/>
              <a:ext cx="112395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 benchmark combines heterogeneous sources, ML-engineering challenges, skill simulators, graders, and multimodal outputs.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F574130A-20D4-4D6E-9882-66FCC5B674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381250"/>
              <a:ext cx="20955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F5304BDE-7D01-4943-9B2F-CE0C670E9E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4765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Multiple sources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8C4AC166-2A35-4526-A9C0-29537C47F8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781300"/>
              <a:ext cx="18669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Kaggle · GitHub · data resources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6AF9A6BC-971E-483B-960E-B6A6601AF4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095500"/>
              <a:ext cx="2286000" cy="1905000"/>
            </a:xfrm>
            <a:prstGeom xmlns:a="http://schemas.openxmlformats.org/drawingml/2006/main" prst="roundRect">
              <a:avLst>
                <a:gd name="adj" fmla="val 4000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6881BBF4-3E10-4C62-AE24-DE8314F3FE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1907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Challenges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9DC1E4D8-9DB7-441F-86FA-DE39CD673F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495550"/>
              <a:ext cx="2057400" cy="1428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descriptions · resources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skill simulators · code improvement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69433461-C210-4C39-8214-9521BB59B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0" y="2381250"/>
              <a:ext cx="1905000" cy="1333500"/>
            </a:xfrm>
            <a:prstGeom xmlns:a="http://schemas.openxmlformats.org/drawingml/2006/main" prst="roundRect">
              <a:avLst>
                <a:gd name="adj" fmla="val 5714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13A6FE5E-953F-4DFD-9C95-6B9248D2C0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2476500"/>
              <a:ext cx="1714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Agent-agnostic design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DB90A40E-124E-4ED6-AC2D-F9B72B7A45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91300" y="2781300"/>
              <a:ext cx="16764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same contract for different Agents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8EF32853-921A-4B23-B214-F38885236F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171450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353F05DE-2C29-49DD-ADA4-4B143BC5D2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1809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Quantitative grader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3D581AD7-B877-44A9-840F-985F326EC6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211455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accuracy, error, runtime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A94832F5-4559-4698-A150-D7705B38C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44000" y="3333750"/>
              <a:ext cx="2095500" cy="857250"/>
            </a:xfrm>
            <a:prstGeom xmlns:a="http://schemas.openxmlformats.org/drawingml/2006/main" prst="roundRect">
              <a:avLst>
                <a:gd name="adj" fmla="val 8889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C7D61CD1-5291-4D46-8415-9255877B5A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39250" y="342900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Qualitative grader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554BE100-2B81-40A3-A7BE-ABC534D457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58300" y="3733800"/>
              <a:ext cx="18669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task-specific artifact checks</a:t>
              </a:r>
            </a:p>
          </p:txBody>
        </p:sp>
        <p:cxnSp>
          <p:nvCxnSpPr>
            <p:cNvPr id="40" name=""/>
            <p:cNvCxnSpPr>
              <a:stCxn xmlns:a="http://schemas.openxmlformats.org/drawingml/2006/main" id="3" idx="3"/>
              <a:endCxn xmlns:a="http://schemas.openxmlformats.org/drawingml/2006/main" id="6" idx="1"/>
            </p:cNvCxnSpPr>
            <p:nvPr/>
          </p:nvCxnSpPr>
          <p:spPr>
            <a:xfrm xmlns:a="http://schemas.openxmlformats.org/drawingml/2006/main">
              <a:off x="2667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41" name=""/>
            <p:cNvCxnSpPr>
              <a:stCxn xmlns:a="http://schemas.openxmlformats.org/drawingml/2006/main" id="6" idx="3"/>
              <a:endCxn xmlns:a="http://schemas.openxmlformats.org/drawingml/2006/main" id="9" idx="1"/>
            </p:cNvCxnSpPr>
            <p:nvPr/>
          </p:nvCxnSpPr>
          <p:spPr>
            <a:xfrm xmlns:a="http://schemas.openxmlformats.org/drawingml/2006/main">
              <a:off x="5715000" y="3048000"/>
              <a:ext cx="76200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2" name=""/>
            <p:cNvCxnSpPr>
              <a:stCxn xmlns:a="http://schemas.openxmlformats.org/drawingml/2006/main" id="9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 flipV="1">
              <a:off x="8382000" y="2143125"/>
              <a:ext cx="762000" cy="9048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3" name=""/>
            <p:cNvCxnSpPr>
              <a:stCxn xmlns:a="http://schemas.openxmlformats.org/drawingml/2006/main" id="9" idx="3"/>
              <a:endCxn xmlns:a="http://schemas.openxmlformats.org/drawingml/2006/main" id="15" idx="1"/>
            </p:cNvCxnSpPr>
            <p:nvPr/>
          </p:nvCxnSpPr>
          <p:spPr>
            <a:xfrm xmlns:a="http://schemas.openxmlformats.org/drawingml/2006/main">
              <a:off x="8382000" y="3048000"/>
              <a:ext cx="762000" cy="71437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5903D45B-F47A-434D-A8F3-EB89864C0E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4762500"/>
              <a:ext cx="26670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multimodal outputs</a:t>
              </a:r>
            </a:p>
            <a:p xmlns:a="http://schemas.openxmlformats.org/drawingml/2006/main">
              <a:pPr>
                <a:def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files · models ·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359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46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019FA390-60DD-4AAC-9B0D-0C96684DA1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228600"/>
              <a:ext cx="1123950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Tool-using temporal reasoning trace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8DD48DBE-DFD4-43B2-9351-165019745B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250" y="647700"/>
              <a:ext cx="11239500" cy="238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87386"/>
                  </a:solidFill>
                  <a:latin typeface="Times New Roman"/>
                  <a:ea typeface="Times New Roman"/>
                  <a:cs typeface="Times New Roman"/>
                </a:rPr>
                <a:t>A General Harness loop exposes evidence, tool calls, critique, and a verified answer.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4A7265D3-90CC-4643-8F74-54D0FF0878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87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198D9C73-7F0F-4189-81AE-774EFD1A434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data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84DA0963-B5ED-4683-80C4-1605BA2120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observations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F4BA6DB0-E314-4FBB-A22C-357DADE03C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67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160135A4-31FE-45B9-9B81-A346E46D95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62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Evidence log</a:t>
              </a:r>
            </a:p>
          </p:txBody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470A1F81-0739-491A-8928-F0CFCB63E1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81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provenance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9D76548E-4C79-4D47-B63C-C57D804D4A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10125" y="2190750"/>
              <a:ext cx="228600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24AC5EB7-C2D3-462B-BF94-663687065A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05375" y="228600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Temporal tools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34FD9216-CBCA-47C0-A82F-FB6A99DFAB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24425" y="2590800"/>
              <a:ext cx="205740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trend · anomaly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correlation · forecast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1C1840D9-B3E7-408E-9C84-4F68760B13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0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AD24FE95-C73B-4F68-9B78-7DEFC81F40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15250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LLM critic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6F8619BA-55EF-4EAA-9366-19D331174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34300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check and revise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F56108A2-4966-4D51-A5A1-C62DBDAB71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63125" y="2476500"/>
              <a:ext cx="1619250" cy="1047750"/>
            </a:xfrm>
            <a:prstGeom xmlns:a="http://schemas.openxmlformats.org/drawingml/2006/main" prst="roundRect">
              <a:avLst>
                <a:gd name="adj" fmla="val 7273"/>
              </a:avLst>
            </a:prstGeom>
            <a:solidFill xmlns:a="http://schemas.openxmlformats.org/drawingml/2006/main">
              <a:srgbClr val="F3E2DE"/>
            </a:solidFill>
            <a:ln xmlns:a="http://schemas.openxmlformats.org/drawingml/2006/main" w="13335">
              <a:solidFill>
                <a:srgbClr val="B86659"/>
              </a:solidFill>
              <a:prstDash val="solid"/>
            </a:ln>
          </p:spPr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88D43180-4E21-4824-BB48-F7A5A9896E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58375" y="2571750"/>
              <a:ext cx="1428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86659"/>
                  </a:solidFill>
                  <a:latin typeface="Times New Roman"/>
                  <a:ea typeface="Times New Roman"/>
                  <a:cs typeface="Times New Roman"/>
                </a:rPr>
                <a:t>Final answer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9A3CA583-8D80-433E-9AAA-C5560EEBF9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7425" y="2876550"/>
              <a:ext cx="139065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evidence-backed</a:t>
              </a:r>
            </a:p>
          </p:txBody>
        </p:sp>
        <p:cxnSp>
          <p:nvCxnSpPr>
            <p:cNvPr id="41" name=""/>
            <p:cNvCxnSpPr>
              <a:stCxn xmlns:a="http://schemas.openxmlformats.org/drawingml/2006/main" id="3" idx="3"/>
              <a:endCxn xmlns:a="http://schemas.openxmlformats.org/drawingml/2006/main" id="6" idx="1"/>
            </p:cNvCxnSpPr>
            <p:nvPr/>
          </p:nvCxnSpPr>
          <p:spPr>
            <a:xfrm xmlns:a="http://schemas.openxmlformats.org/drawingml/2006/main">
              <a:off x="2143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42" name=""/>
            <p:cNvCxnSpPr>
              <a:stCxn xmlns:a="http://schemas.openxmlformats.org/drawingml/2006/main" id="6" idx="3"/>
              <a:endCxn xmlns:a="http://schemas.openxmlformats.org/drawingml/2006/main" id="9" idx="1"/>
            </p:cNvCxnSpPr>
            <p:nvPr/>
          </p:nvCxnSpPr>
          <p:spPr>
            <a:xfrm xmlns:a="http://schemas.openxmlformats.org/drawingml/2006/main">
              <a:off x="4286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43" name=""/>
            <p:cNvCxnSpPr>
              <a:stCxn xmlns:a="http://schemas.openxmlformats.org/drawingml/2006/main" id="9" idx="3"/>
              <a:endCxn xmlns:a="http://schemas.openxmlformats.org/drawingml/2006/main" id="12" idx="1"/>
            </p:cNvCxnSpPr>
            <p:nvPr/>
          </p:nvCxnSpPr>
          <p:spPr>
            <a:xfrm xmlns:a="http://schemas.openxmlformats.org/drawingml/2006/main">
              <a:off x="7096125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44" name=""/>
            <p:cNvCxnSpPr>
              <a:stCxn xmlns:a="http://schemas.openxmlformats.org/drawingml/2006/main" id="12" idx="3"/>
              <a:endCxn xmlns:a="http://schemas.openxmlformats.org/drawingml/2006/main" id="15" idx="1"/>
            </p:cNvCxnSpPr>
            <p:nvPr/>
          </p:nvCxnSpPr>
          <p:spPr>
            <a:xfrm xmlns:a="http://schemas.openxmlformats.org/drawingml/2006/main">
              <a:off x="9239250" y="3000375"/>
              <a:ext cx="52387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45" name=""/>
            <p:cNvCxnSpPr>
              <a:stCxn xmlns:a="http://schemas.openxmlformats.org/drawingml/2006/main" id="12" idx="3"/>
              <a:endCxn xmlns:a="http://schemas.openxmlformats.org/drawingml/2006/main" id="6" idx="1"/>
            </p:cNvCxnSpPr>
            <p:nvPr/>
          </p:nvCxnSpPr>
          <p:spPr>
            <a:xfrm xmlns:a="http://schemas.openxmlformats.org/drawingml/2006/main" flipH="1">
              <a:off x="2667000" y="3000375"/>
              <a:ext cx="6572250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DF70E8C5-34B4-486E-A488-5B08E2D299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90750" y="1428750"/>
              <a:ext cx="71437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observe  →  execute  →  critique  →  verify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452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2026-10-02T09:05:59.4440000Z</dcterms:created>
  <dcterms:modified xsi:type="dcterms:W3CDTF">2026-10-02T09:05:59.4440000Z</dcterms:modified>
</coreProperties>
</file>