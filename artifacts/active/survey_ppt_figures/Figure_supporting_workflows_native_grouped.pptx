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9276092a8224663" /><Relationship Type="http://schemas.openxmlformats.org/officeDocument/2006/relationships/extended-properties" Target="/docProps/app.xml" Id="Re9eb7bb00f704407" /><Relationship Type="http://schemas.openxmlformats.org/officeDocument/2006/relationships/officeDocument" Target="/ppt/presentation.xml" Id="R49d9d626c7b243c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74f3cffce5743a9"/>
  </p:sldMasterIdLst>
  <p:notesMasterIdLst>
    <p:notesMasterId xmlns:r="http://schemas.openxmlformats.org/officeDocument/2006/relationships" r:id="R548f3c0593b9421c"/>
  </p:notesMasterIdLst>
  <p:sldIdLst>
    <p:sldId xmlns:r="http://schemas.openxmlformats.org/officeDocument/2006/relationships" id="256" r:id="R315c46d56a31483d"/>
    <p:sldId xmlns:r="http://schemas.openxmlformats.org/officeDocument/2006/relationships" id="257" r:id="Rf20877b65fd54653"/>
    <p:sldId xmlns:r="http://schemas.openxmlformats.org/officeDocument/2006/relationships" id="258" r:id="Ra4f97209bcd44441"/>
    <p:sldId xmlns:r="http://schemas.openxmlformats.org/officeDocument/2006/relationships" id="259" r:id="Rca21eae5e9a544cc"/>
    <p:sldId xmlns:r="http://schemas.openxmlformats.org/officeDocument/2006/relationships" id="260" r:id="Re373dc0f140449f9"/>
    <p:sldId xmlns:r="http://schemas.openxmlformats.org/officeDocument/2006/relationships" id="261" r:id="Rf7ca6c0528f14295"/>
    <p:sldId xmlns:r="http://schemas.openxmlformats.org/officeDocument/2006/relationships" id="262" r:id="Rca81a2d91edc4d4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3bca09c20bd45f1" /><Relationship Type="http://schemas.openxmlformats.org/officeDocument/2006/relationships/slideMaster" Target="/ppt/slideMasters/slideMaster1.xml" Id="Rb74f3cffce5743a9" /><Relationship Type="http://schemas.openxmlformats.org/officeDocument/2006/relationships/notesMaster" Target="/ppt/notesMasters/notesMaster1.xml" Id="R548f3c0593b9421c" /><Relationship Type="http://schemas.openxmlformats.org/officeDocument/2006/relationships/presProps" Target="/ppt/presProps.xml" Id="Rfb102f6c0eea4f74" /><Relationship Type="http://schemas.openxmlformats.org/officeDocument/2006/relationships/tableStyles" Target="/ppt/tableStyles.xml" Id="Rc112f3fc2d504d43" /><Relationship Type="http://schemas.openxmlformats.org/officeDocument/2006/relationships/slide" Target="/ppt/slides/slide1.xml" Id="R315c46d56a31483d" /><Relationship Type="http://schemas.openxmlformats.org/officeDocument/2006/relationships/slide" Target="/ppt/slides/slide2.xml" Id="Rf20877b65fd54653" /><Relationship Type="http://schemas.openxmlformats.org/officeDocument/2006/relationships/slide" Target="/ppt/slides/slide3.xml" Id="Ra4f97209bcd44441" /><Relationship Type="http://schemas.openxmlformats.org/officeDocument/2006/relationships/slide" Target="/ppt/slides/slide4.xml" Id="Rca21eae5e9a544cc" /><Relationship Type="http://schemas.openxmlformats.org/officeDocument/2006/relationships/slide" Target="/ppt/slides/slide5.xml" Id="Re373dc0f140449f9" /><Relationship Type="http://schemas.openxmlformats.org/officeDocument/2006/relationships/slide" Target="/ppt/slides/slide6.xml" Id="Rf7ca6c0528f14295" /><Relationship Type="http://schemas.openxmlformats.org/officeDocument/2006/relationships/slide" Target="/ppt/slides/slide7.xml" Id="Rca81a2d91edc4d4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690b9582e2743f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689dbd36db24a68" /><Relationship Type="http://schemas.openxmlformats.org/officeDocument/2006/relationships/notesMaster" Target="/ppt/notesMasters/notesMaster1.xml" Id="R043a32490455488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684c2c11f584aff" /><Relationship Type="http://schemas.openxmlformats.org/officeDocument/2006/relationships/notesMaster" Target="/ppt/notesMasters/notesMaster1.xml" Id="Rdb1ae7bee1bb489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8f70a5c2eef4828" /><Relationship Type="http://schemas.openxmlformats.org/officeDocument/2006/relationships/notesMaster" Target="/ppt/notesMasters/notesMaster1.xml" Id="R3e4de3526c6042a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992239264084fa5" /><Relationship Type="http://schemas.openxmlformats.org/officeDocument/2006/relationships/notesMaster" Target="/ppt/notesMasters/notesMaster1.xml" Id="R8528decceba9424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442b35edfe44bb5" /><Relationship Type="http://schemas.openxmlformats.org/officeDocument/2006/relationships/notesMaster" Target="/ppt/notesMasters/notesMaster1.xml" Id="R7840142ea5c843b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f814efe13254df2" /><Relationship Type="http://schemas.openxmlformats.org/officeDocument/2006/relationships/notesMaster" Target="/ppt/notesMasters/notesMaster1.xml" Id="R8c9a3b6f709e476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320d668c9fb4486" /><Relationship Type="http://schemas.openxmlformats.org/officeDocument/2006/relationships/notesMaster" Target="/ppt/notesMasters/notesMaster1.xml" Id="Rf587f042c9d6427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Redrawn schematic adapted from ChatTS, Fig. 3. Labels and geometry are normalized for this survey; the original paper remains the source of the mechanism.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Redrawn schematic adapted from AION, Fig. 2. Labels and geometry are normalized for this survey; the original paper remains the source of the mechanism.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Redrawn schematic adapted from MERIT, Fig. 2. Labels and geometry are normalized for this survey; the original paper remains the source of the mechanism.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Redrawn schematic adapted from AnomaMind, Fig. 1. Labels and geometry are normalized for this survey; the original paper remains the source of the mechanism.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Redrawn schematic adapted from TIMECLAW, Fig. 2. Labels and geometry are normalized for this survey; the original paper remains the source of the mechanism.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Redrawn schematic adapted from TimeSeriesGym, Fig. 1. Labels and geometry are normalized for this survey; the original paper remains the source of the mechanism.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Redrawn schematic adapted from TS-Agent, Fig. 3. Labels and geometry are normalized for this survey; the original paper remains the source of the mechanism.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71675b81634b8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ad949f8f9b145e8" /><Relationship Type="http://schemas.openxmlformats.org/officeDocument/2006/relationships/slideLayout" Target="/ppt/slideLayouts/slideLayout1.xml" Id="R3e9359e44b52430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e9359e44b52430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83aeb9e11843ec" /><Relationship Type="http://schemas.openxmlformats.org/officeDocument/2006/relationships/notesSlide" Target="/ppt/notesSlides/notesSlide1.xml" Id="Ra4ff8746a7704fe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f73a990c0c459e" /><Relationship Type="http://schemas.openxmlformats.org/officeDocument/2006/relationships/notesSlide" Target="/ppt/notesSlides/notesSlide2.xml" Id="R0016c72abde3467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eb62647db64ec7" /><Relationship Type="http://schemas.openxmlformats.org/officeDocument/2006/relationships/notesSlide" Target="/ppt/notesSlides/notesSlide3.xml" Id="R0e19279865bb4cc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6480844bac41c8" /><Relationship Type="http://schemas.openxmlformats.org/officeDocument/2006/relationships/notesSlide" Target="/ppt/notesSlides/notesSlide4.xml" Id="Rd3c7d4e0ab0e4ad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6aee5c823b45e9" /><Relationship Type="http://schemas.openxmlformats.org/officeDocument/2006/relationships/notesSlide" Target="/ppt/notesSlides/notesSlide5.xml" Id="R2433a97310b3463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9fd51eab864935" /><Relationship Type="http://schemas.openxmlformats.org/officeDocument/2006/relationships/notesSlide" Target="/ppt/notesSlides/notesSlide6.xml" Id="R669b17bc0dc0418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7fc8b2739043b0" /><Relationship Type="http://schemas.openxmlformats.org/officeDocument/2006/relationships/notesSlide" Target="/ppt/notesSlides/notesSlide7.xml" Id="Rf9e0096ab655409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46" name="group-remaining-components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24" name="">
              <a:extLst xmlns:a="http://schemas.openxmlformats.org/drawingml/2006/main">
                <a:ext uri="{FF2B5EF4-FFF2-40B4-BE49-F238E27FC236}">
                  <a16:creationId xmlns:a16="http://schemas.microsoft.com/office/drawing/2014/main" id="{CF414397-18C3-4221-A8B8-7B42199FC06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76250" y="228600"/>
              <a:ext cx="11239500" cy="3810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2400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2400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Temporal alignment and instruction data</a:t>
              </a:r>
            </a:p>
          </p:txBody>
        </p:sp>
        <p:sp>
          <p:nvSpPr>
            <p:cNvPr id="2" name="">
              <a:extLst xmlns:a="http://schemas.openxmlformats.org/drawingml/2006/main">
                <a:ext uri="{FF2B5EF4-FFF2-40B4-BE49-F238E27FC236}">
                  <a16:creationId xmlns:a16="http://schemas.microsoft.com/office/drawing/2014/main" id="{B252E9EA-C573-44BC-BBAC-142531AA13B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76250" y="647700"/>
              <a:ext cx="11239500" cy="238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125" b="0" i="1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125" b="0" i="1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rPr>
                <a:t>LLM-side contribution: numerical series enter language-model training through two complementary data paths.</a:t>
              </a:r>
            </a:p>
          </p:txBody>
        </p:sp>
        <p:sp>
          <p:nvSpPr>
            <p:cNvPr id="3" name="">
              <a:extLst xmlns:a="http://schemas.openxmlformats.org/drawingml/2006/main">
                <a:ext uri="{FF2B5EF4-FFF2-40B4-BE49-F238E27FC236}">
                  <a16:creationId xmlns:a16="http://schemas.microsoft.com/office/drawing/2014/main" id="{75BEFAC4-03DD-45A9-BB02-265418C3AB8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66750" y="2667000"/>
              <a:ext cx="1714500" cy="685800"/>
            </a:xfrm>
            <a:prstGeom xmlns:a="http://schemas.openxmlformats.org/drawingml/2006/main" prst="roundRect">
              <a:avLst>
                <a:gd name="adj" fmla="val 11111"/>
              </a:avLst>
            </a:prstGeom>
            <a:solidFill xmlns:a="http://schemas.openxmlformats.org/drawingml/2006/main">
              <a:srgbClr val="D9EEF0"/>
            </a:solidFill>
            <a:ln xmlns:a="http://schemas.openxmlformats.org/drawingml/2006/main" w="13335">
              <a:solidFill>
                <a:srgbClr val="438B86"/>
              </a:solidFill>
              <a:prstDash val="solid"/>
            </a:ln>
          </p:spPr>
        </p:sp>
        <p:sp>
          <p:nvSpPr>
            <p:cNvPr id="4" name="">
              <a:extLst xmlns:a="http://schemas.openxmlformats.org/drawingml/2006/main">
                <a:ext uri="{FF2B5EF4-FFF2-40B4-BE49-F238E27FC236}">
                  <a16:creationId xmlns:a16="http://schemas.microsoft.com/office/drawing/2014/main" id="{7FB58162-44A1-4FFD-8B85-D781E9DFC8F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62000" y="2762250"/>
              <a:ext cx="15240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Attribute selector</a:t>
              </a:r>
            </a:p>
          </p:txBody>
        </p:sp>
        <p:sp>
          <p:nvSpPr>
            <p:cNvPr id="5" name="">
              <a:extLst xmlns:a="http://schemas.openxmlformats.org/drawingml/2006/main">
                <a:ext uri="{FF2B5EF4-FFF2-40B4-BE49-F238E27FC236}">
                  <a16:creationId xmlns:a16="http://schemas.microsoft.com/office/drawing/2014/main" id="{1B8A0FA6-39E6-491B-89F9-8EE118C1415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81050" y="3067050"/>
              <a:ext cx="1485900" cy="2095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selects temporal attributes</a:t>
              </a:r>
            </a:p>
          </p:txBody>
        </p:sp>
        <p:sp>
          <p:nvSpPr>
            <p:cNvPr id="6" name="">
              <a:extLst xmlns:a="http://schemas.openxmlformats.org/drawingml/2006/main">
                <a:ext uri="{FF2B5EF4-FFF2-40B4-BE49-F238E27FC236}">
                  <a16:creationId xmlns:a16="http://schemas.microsoft.com/office/drawing/2014/main" id="{B99EEDD1-12D4-4B6F-ADD1-EF0E27F3C27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238500" y="1666875"/>
              <a:ext cx="2190750" cy="952500"/>
            </a:xfrm>
            <a:prstGeom xmlns:a="http://schemas.openxmlformats.org/drawingml/2006/main" prst="roundRect">
              <a:avLst>
                <a:gd name="adj" fmla="val 8000"/>
              </a:avLst>
            </a:prstGeom>
            <a:solidFill xmlns:a="http://schemas.openxmlformats.org/drawingml/2006/main">
              <a:srgbClr val="F4F0C9"/>
            </a:solidFill>
            <a:ln xmlns:a="http://schemas.openxmlformats.org/drawingml/2006/main" w="13335">
              <a:solidFill>
                <a:srgbClr val="B77F2B"/>
              </a:solidFill>
              <a:prstDash val="solid"/>
            </a:ln>
          </p:spPr>
        </p:sp>
        <p:sp>
          <p:nvSpPr>
            <p:cNvPr id="7" name="">
              <a:extLst xmlns:a="http://schemas.openxmlformats.org/drawingml/2006/main">
                <a:ext uri="{FF2B5EF4-FFF2-40B4-BE49-F238E27FC236}">
                  <a16:creationId xmlns:a16="http://schemas.microsoft.com/office/drawing/2014/main" id="{A9F8A8AE-30B5-4778-876D-85F5569EC63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333750" y="1762125"/>
              <a:ext cx="20002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B77F2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B77F2B"/>
                  </a:solidFill>
                  <a:latin typeface="Times New Roman"/>
                  <a:ea typeface="Times New Roman"/>
                  <a:cs typeface="Times New Roman"/>
                </a:rPr>
                <a:t>Attribute-based generator</a:t>
              </a:r>
            </a:p>
          </p:txBody>
        </p:sp>
        <p:sp>
          <p:nvSpPr>
            <p:cNvPr id="8" name="">
              <a:extLst xmlns:a="http://schemas.openxmlformats.org/drawingml/2006/main">
                <a:ext uri="{FF2B5EF4-FFF2-40B4-BE49-F238E27FC236}">
                  <a16:creationId xmlns:a16="http://schemas.microsoft.com/office/drawing/2014/main" id="{B8AEBF65-79BC-4EFF-B802-B9DB1CAAD99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352800" y="2066925"/>
              <a:ext cx="1962150" cy="4762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generates series with selected attributes</a:t>
              </a:r>
            </a:p>
          </p:txBody>
        </p:sp>
        <p:sp>
          <p:nvSpPr>
            <p:cNvPr id="9" name="">
              <a:extLst xmlns:a="http://schemas.openxmlformats.org/drawingml/2006/main">
                <a:ext uri="{FF2B5EF4-FFF2-40B4-BE49-F238E27FC236}">
                  <a16:creationId xmlns:a16="http://schemas.microsoft.com/office/drawing/2014/main" id="{AA08D1B2-27E4-4430-8312-4704577BF89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238500" y="3714750"/>
              <a:ext cx="2190750" cy="952500"/>
            </a:xfrm>
            <a:prstGeom xmlns:a="http://schemas.openxmlformats.org/drawingml/2006/main" prst="roundRect">
              <a:avLst>
                <a:gd name="adj" fmla="val 8000"/>
              </a:avLst>
            </a:prstGeom>
            <a:solidFill xmlns:a="http://schemas.openxmlformats.org/drawingml/2006/main">
              <a:srgbClr val="E6E0F2"/>
            </a:solidFill>
            <a:ln xmlns:a="http://schemas.openxmlformats.org/drawingml/2006/main" w="13335">
              <a:solidFill>
                <a:srgbClr val="78639F"/>
              </a:solidFill>
              <a:prstDash val="solid"/>
            </a:ln>
          </p:spPr>
        </p:sp>
        <p:sp>
          <p:nvSpPr>
            <p:cNvPr id="10" name="">
              <a:extLst xmlns:a="http://schemas.openxmlformats.org/drawingml/2006/main">
                <a:ext uri="{FF2B5EF4-FFF2-40B4-BE49-F238E27FC236}">
                  <a16:creationId xmlns:a16="http://schemas.microsoft.com/office/drawing/2014/main" id="{4C29B719-DF70-45AB-AD28-955E37CF4A1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333750" y="3810000"/>
              <a:ext cx="20002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rPr>
                <a:t>Time-series evol-instruct</a:t>
              </a:r>
            </a:p>
          </p:txBody>
        </p:sp>
        <p:sp>
          <p:nvSpPr>
            <p:cNvPr id="11" name="">
              <a:extLst xmlns:a="http://schemas.openxmlformats.org/drawingml/2006/main">
                <a:ext uri="{FF2B5EF4-FFF2-40B4-BE49-F238E27FC236}">
                  <a16:creationId xmlns:a16="http://schemas.microsoft.com/office/drawing/2014/main" id="{0F53FC2F-3399-474F-B357-6B726E176FF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352800" y="4114800"/>
              <a:ext cx="1962150" cy="4762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generates temporal instruction text</a:t>
              </a:r>
            </a:p>
          </p:txBody>
        </p:sp>
        <p:sp>
          <p:nvSpPr>
            <p:cNvPr id="12" name="">
              <a:extLst xmlns:a="http://schemas.openxmlformats.org/drawingml/2006/main">
                <a:ext uri="{FF2B5EF4-FFF2-40B4-BE49-F238E27FC236}">
                  <a16:creationId xmlns:a16="http://schemas.microsoft.com/office/drawing/2014/main" id="{C281477E-4E93-4F5C-8941-93AB1473C45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572250" y="2667000"/>
              <a:ext cx="2095500" cy="952500"/>
            </a:xfrm>
            <a:prstGeom xmlns:a="http://schemas.openxmlformats.org/drawingml/2006/main" prst="roundRect">
              <a:avLst>
                <a:gd name="adj" fmla="val 8000"/>
              </a:avLst>
            </a:prstGeom>
            <a:solidFill xmlns:a="http://schemas.openxmlformats.org/drawingml/2006/main">
              <a:srgbClr val="DDEEDC"/>
            </a:solidFill>
            <a:ln xmlns:a="http://schemas.openxmlformats.org/drawingml/2006/main" w="13335">
              <a:solidFill>
                <a:srgbClr val="438B86"/>
              </a:solidFill>
              <a:prstDash val="solid"/>
            </a:ln>
          </p:spPr>
        </p:sp>
        <p:sp>
          <p:nvSpPr>
            <p:cNvPr id="13" name="">
              <a:extLst xmlns:a="http://schemas.openxmlformats.org/drawingml/2006/main">
                <a:ext uri="{FF2B5EF4-FFF2-40B4-BE49-F238E27FC236}">
                  <a16:creationId xmlns:a16="http://schemas.microsoft.com/office/drawing/2014/main" id="{C8C9E39D-2E02-4DE6-91A6-04B1A63A726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667500" y="2762250"/>
              <a:ext cx="19050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Generated training data</a:t>
              </a:r>
            </a:p>
          </p:txBody>
        </p:sp>
        <p:sp>
          <p:nvSpPr>
            <p:cNvPr id="14" name="">
              <a:extLst xmlns:a="http://schemas.openxmlformats.org/drawingml/2006/main">
                <a:ext uri="{FF2B5EF4-FFF2-40B4-BE49-F238E27FC236}">
                  <a16:creationId xmlns:a16="http://schemas.microsoft.com/office/drawing/2014/main" id="{504D7A5F-F4FD-423D-8459-EAD986F70D7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686550" y="3067050"/>
              <a:ext cx="1866900" cy="4762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series + language supervision</a:t>
              </a:r>
            </a:p>
          </p:txBody>
        </p:sp>
        <p:sp>
          <p:nvSpPr>
            <p:cNvPr id="15" name="">
              <a:extLst xmlns:a="http://schemas.openxmlformats.org/drawingml/2006/main">
                <a:ext uri="{FF2B5EF4-FFF2-40B4-BE49-F238E27FC236}">
                  <a16:creationId xmlns:a16="http://schemas.microsoft.com/office/drawing/2014/main" id="{2625F8B6-E4D5-47A0-B4D8-2FD287F487D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810750" y="2667000"/>
              <a:ext cx="1619250" cy="952500"/>
            </a:xfrm>
            <a:prstGeom xmlns:a="http://schemas.openxmlformats.org/drawingml/2006/main" prst="roundRect">
              <a:avLst>
                <a:gd name="adj" fmla="val 8000"/>
              </a:avLst>
            </a:prstGeom>
            <a:solidFill xmlns:a="http://schemas.openxmlformats.org/drawingml/2006/main">
              <a:srgbClr val="D9EEF0"/>
            </a:solidFill>
            <a:ln xmlns:a="http://schemas.openxmlformats.org/drawingml/2006/main" w="13335">
              <a:solidFill>
                <a:srgbClr val="438B86"/>
              </a:solidFill>
              <a:prstDash val="solid"/>
            </a:ln>
          </p:spPr>
        </p:sp>
        <p:sp>
          <p:nvSpPr>
            <p:cNvPr id="16" name="">
              <a:extLst xmlns:a="http://schemas.openxmlformats.org/drawingml/2006/main">
                <a:ext uri="{FF2B5EF4-FFF2-40B4-BE49-F238E27FC236}">
                  <a16:creationId xmlns:a16="http://schemas.microsoft.com/office/drawing/2014/main" id="{7C215C4A-CBAB-461D-A6E4-E8F5C88A85D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906000" y="2762250"/>
              <a:ext cx="14287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Model training</a:t>
              </a:r>
            </a:p>
          </p:txBody>
        </p:sp>
        <p:sp>
          <p:nvSpPr>
            <p:cNvPr id="17" name="">
              <a:extLst xmlns:a="http://schemas.openxmlformats.org/drawingml/2006/main">
                <a:ext uri="{FF2B5EF4-FFF2-40B4-BE49-F238E27FC236}">
                  <a16:creationId xmlns:a16="http://schemas.microsoft.com/office/drawing/2014/main" id="{7C9C07AC-86D1-4558-85D6-54716F82126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925050" y="3067050"/>
              <a:ext cx="1390650" cy="4762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temporal alignment</a:t>
              </a:r>
            </a:p>
          </p:txBody>
        </p:sp>
        <p:cxnSp>
          <p:nvCxnSpPr>
            <p:cNvPr id="41" name=""/>
            <p:cNvCxnSpPr>
              <a:stCxn xmlns:a="http://schemas.openxmlformats.org/drawingml/2006/main" id="3" idx="3"/>
              <a:endCxn xmlns:a="http://schemas.openxmlformats.org/drawingml/2006/main" id="6" idx="1"/>
            </p:cNvCxnSpPr>
            <p:nvPr/>
          </p:nvCxnSpPr>
          <p:spPr>
            <a:xfrm xmlns:a="http://schemas.openxmlformats.org/drawingml/2006/main" flipV="1">
              <a:off x="2381250" y="2143125"/>
              <a:ext cx="857250" cy="866775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438B86"/>
              </a:solidFill>
              <a:prstDash val="solid"/>
              <a:headEnd type="arrow" w="sm" len="sm"/>
            </a:ln>
          </p:spPr>
        </p:cxnSp>
        <p:cxnSp>
          <p:nvCxnSpPr>
            <p:cNvPr id="42" name=""/>
            <p:cNvCxnSpPr>
              <a:stCxn xmlns:a="http://schemas.openxmlformats.org/drawingml/2006/main" id="3" idx="3"/>
              <a:endCxn xmlns:a="http://schemas.openxmlformats.org/drawingml/2006/main" id="9" idx="1"/>
            </p:cNvCxnSpPr>
            <p:nvPr/>
          </p:nvCxnSpPr>
          <p:spPr>
            <a:xfrm xmlns:a="http://schemas.openxmlformats.org/drawingml/2006/main">
              <a:off x="2381250" y="3009900"/>
              <a:ext cx="857250" cy="118110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78639F"/>
              </a:solidFill>
              <a:prstDash val="solid"/>
              <a:headEnd type="arrow" w="sm" len="sm"/>
            </a:ln>
          </p:spPr>
        </p:cxnSp>
        <p:cxnSp>
          <p:nvCxnSpPr>
            <p:cNvPr id="43" name=""/>
            <p:cNvCxnSpPr>
              <a:stCxn xmlns:a="http://schemas.openxmlformats.org/drawingml/2006/main" id="6" idx="3"/>
              <a:endCxn xmlns:a="http://schemas.openxmlformats.org/drawingml/2006/main" id="12" idx="1"/>
            </p:cNvCxnSpPr>
            <p:nvPr/>
          </p:nvCxnSpPr>
          <p:spPr>
            <a:xfrm xmlns:a="http://schemas.openxmlformats.org/drawingml/2006/main">
              <a:off x="5429250" y="2143125"/>
              <a:ext cx="1143000" cy="1000125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B77F2B"/>
              </a:solidFill>
              <a:prstDash val="solid"/>
              <a:headEnd type="arrow" w="sm" len="sm"/>
            </a:ln>
          </p:spPr>
        </p:cxnSp>
        <p:cxnSp>
          <p:nvCxnSpPr>
            <p:cNvPr id="44" name=""/>
            <p:cNvCxnSpPr>
              <a:stCxn xmlns:a="http://schemas.openxmlformats.org/drawingml/2006/main" id="9" idx="3"/>
              <a:endCxn xmlns:a="http://schemas.openxmlformats.org/drawingml/2006/main" id="12" idx="1"/>
            </p:cNvCxnSpPr>
            <p:nvPr/>
          </p:nvCxnSpPr>
          <p:spPr>
            <a:xfrm xmlns:a="http://schemas.openxmlformats.org/drawingml/2006/main" flipV="1">
              <a:off x="5429250" y="3143250"/>
              <a:ext cx="1143000" cy="104775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78639F"/>
              </a:solidFill>
              <a:prstDash val="solid"/>
              <a:headEnd type="arrow" w="sm" len="sm"/>
            </a:ln>
          </p:spPr>
        </p:cxnSp>
        <p:cxnSp>
          <p:nvCxnSpPr>
            <p:cNvPr id="45" name=""/>
            <p:cNvCxnSpPr>
              <a:stCxn xmlns:a="http://schemas.openxmlformats.org/drawingml/2006/main" id="12" idx="3"/>
              <a:endCxn xmlns:a="http://schemas.openxmlformats.org/drawingml/2006/main" id="15" idx="1"/>
            </p:cNvCxnSpPr>
            <p:nvPr/>
          </p:nvCxnSpPr>
          <p:spPr>
            <a:xfrm xmlns:a="http://schemas.openxmlformats.org/drawingml/2006/main">
              <a:off x="8667750" y="3143250"/>
              <a:ext cx="1143000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438B86"/>
              </a:solidFill>
              <a:prstDash val="solid"/>
              <a:headEnd type="arrow" w="sm" len="sm"/>
            </a:ln>
          </p:spPr>
        </p:cxnSp>
        <p:sp>
          <p:nvSpPr>
            <p:cNvPr id="23" name="">
              <a:extLst xmlns:a="http://schemas.openxmlformats.org/drawingml/2006/main">
                <a:ext uri="{FF2B5EF4-FFF2-40B4-BE49-F238E27FC236}">
                  <a16:creationId xmlns:a16="http://schemas.microsoft.com/office/drawing/2014/main" id="{8B09C7BA-B825-46C7-BBD3-C3D50FB4CA8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2857500" y="1238250"/>
              <a:ext cx="6191250" cy="2857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00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00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model-side representation and reasoning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78935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75" name="group-remaining-components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38" name="">
              <a:extLst xmlns:a="http://schemas.openxmlformats.org/drawingml/2006/main">
                <a:ext uri="{FF2B5EF4-FFF2-40B4-BE49-F238E27FC236}">
                  <a16:creationId xmlns:a16="http://schemas.microsoft.com/office/drawing/2014/main" id="{0902E96A-D154-4579-8F80-962C1197132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76250" y="228600"/>
              <a:ext cx="11239500" cy="3810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2400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2400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Three principles for a reliable time-series Agent</a:t>
              </a:r>
            </a:p>
          </p:txBody>
        </p:sp>
        <p:sp>
          <p:nvSpPr>
            <p:cNvPr id="2" name="">
              <a:extLst xmlns:a="http://schemas.openxmlformats.org/drawingml/2006/main">
                <a:ext uri="{FF2B5EF4-FFF2-40B4-BE49-F238E27FC236}">
                  <a16:creationId xmlns:a16="http://schemas.microsoft.com/office/drawing/2014/main" id="{A4F35704-3E4C-4950-B130-909CC385C85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76250" y="647700"/>
              <a:ext cx="11239500" cy="238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125" b="0" i="1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125" b="0" i="1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rPr>
                <a:t>The temporal contract couples grounding, knowledge use, and reliability checks.</a:t>
              </a:r>
            </a:p>
          </p:txBody>
        </p:sp>
        <p:sp>
          <p:nvSpPr>
            <p:cNvPr id="3" name="">
              <a:extLst xmlns:a="http://schemas.openxmlformats.org/drawingml/2006/main">
                <a:ext uri="{FF2B5EF4-FFF2-40B4-BE49-F238E27FC236}">
                  <a16:creationId xmlns:a16="http://schemas.microsoft.com/office/drawing/2014/main" id="{00C0DCB4-DDB3-4297-8E4F-302A4CA6BE6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66750" y="1428750"/>
              <a:ext cx="3238500" cy="4000500"/>
            </a:xfrm>
            <a:prstGeom xmlns:a="http://schemas.openxmlformats.org/drawingml/2006/main" prst="roundRect">
              <a:avLst>
                <a:gd name="adj" fmla="val 2353"/>
              </a:avLst>
            </a:prstGeom>
            <a:solidFill xmlns:a="http://schemas.openxmlformats.org/drawingml/2006/main">
              <a:srgbClr val="D9EEF0"/>
            </a:solidFill>
            <a:ln xmlns:a="http://schemas.openxmlformats.org/drawingml/2006/main" w="14288">
              <a:solidFill>
                <a:srgbClr val="438B86"/>
              </a:solidFill>
              <a:prstDash val="solid"/>
            </a:ln>
          </p:spPr>
        </p:sp>
        <p:sp>
          <p:nvSpPr>
            <p:cNvPr id="4" name="">
              <a:extLst xmlns:a="http://schemas.openxmlformats.org/drawingml/2006/main">
                <a:ext uri="{FF2B5EF4-FFF2-40B4-BE49-F238E27FC236}">
                  <a16:creationId xmlns:a16="http://schemas.microsoft.com/office/drawing/2014/main" id="{310BEBD3-6DA5-46E2-8454-FEF993E8BB0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09625" y="1619250"/>
              <a:ext cx="2952750" cy="3238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500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500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Temporal grounding</a:t>
              </a:r>
            </a:p>
          </p:txBody>
        </p:sp>
        <p:sp>
          <p:nvSpPr>
            <p:cNvPr id="5" name="">
              <a:extLst xmlns:a="http://schemas.openxmlformats.org/drawingml/2006/main">
                <a:ext uri="{FF2B5EF4-FFF2-40B4-BE49-F238E27FC236}">
                  <a16:creationId xmlns:a16="http://schemas.microsoft.com/office/drawing/2014/main" id="{5A304BA0-65D4-4924-8561-1C4DEC5F58F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52500" y="2238375"/>
              <a:ext cx="2667000" cy="590550"/>
            </a:xfrm>
            <a:prstGeom xmlns:a="http://schemas.openxmlformats.org/drawingml/2006/main" prst="roundRect">
              <a:avLst>
                <a:gd name="adj" fmla="val 12903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9525">
              <a:solidFill>
                <a:srgbClr val="438B86"/>
              </a:solidFill>
              <a:prstDash val="solid"/>
            </a:ln>
          </p:spPr>
        </p:sp>
        <p:sp>
          <p:nvSpPr>
            <p:cNvPr id="6" name="">
              <a:extLst xmlns:a="http://schemas.openxmlformats.org/drawingml/2006/main">
                <a:ext uri="{FF2B5EF4-FFF2-40B4-BE49-F238E27FC236}">
                  <a16:creationId xmlns:a16="http://schemas.microsoft.com/office/drawing/2014/main" id="{651C6BBF-459F-4562-93F8-3251C9B33AA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066800" y="2324100"/>
              <a:ext cx="2438400" cy="2095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050" b="1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050" b="1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Task specification</a:t>
              </a:r>
            </a:p>
          </p:txBody>
        </p:sp>
        <p:sp>
          <p:nvSpPr>
            <p:cNvPr id="7" name="">
              <a:extLst xmlns:a="http://schemas.openxmlformats.org/drawingml/2006/main">
                <a:ext uri="{FF2B5EF4-FFF2-40B4-BE49-F238E27FC236}">
                  <a16:creationId xmlns:a16="http://schemas.microsoft.com/office/drawing/2014/main" id="{039607D0-FFDD-4816-8449-B55AC52A624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066800" y="2571750"/>
              <a:ext cx="2438400" cy="1714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750" b="0" i="0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750" b="0" i="0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rPr>
                <a:t>declares the task contract</a:t>
              </a:r>
            </a:p>
          </p:txBody>
        </p:sp>
        <p:sp>
          <p:nvSpPr>
            <p:cNvPr id="8" name="">
              <a:extLst xmlns:a="http://schemas.openxmlformats.org/drawingml/2006/main">
                <a:ext uri="{FF2B5EF4-FFF2-40B4-BE49-F238E27FC236}">
                  <a16:creationId xmlns:a16="http://schemas.microsoft.com/office/drawing/2014/main" id="{145D1A70-38A9-4B3E-A33E-A4597F0FD84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52500" y="3095625"/>
              <a:ext cx="2667000" cy="590550"/>
            </a:xfrm>
            <a:prstGeom xmlns:a="http://schemas.openxmlformats.org/drawingml/2006/main" prst="roundRect">
              <a:avLst>
                <a:gd name="adj" fmla="val 12903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9525">
              <a:solidFill>
                <a:srgbClr val="438B86"/>
              </a:solidFill>
              <a:prstDash val="solid"/>
            </a:ln>
          </p:spPr>
        </p:sp>
        <p:sp>
          <p:nvSpPr>
            <p:cNvPr id="9" name="">
              <a:extLst xmlns:a="http://schemas.openxmlformats.org/drawingml/2006/main">
                <a:ext uri="{FF2B5EF4-FFF2-40B4-BE49-F238E27FC236}">
                  <a16:creationId xmlns:a16="http://schemas.microsoft.com/office/drawing/2014/main" id="{A99019C5-C093-4E9D-8FC8-C04E5673009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066800" y="3181350"/>
              <a:ext cx="2438400" cy="2095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050" b="1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050" b="1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Data interface</a:t>
              </a:r>
            </a:p>
          </p:txBody>
        </p:sp>
        <p:sp>
          <p:nvSpPr>
            <p:cNvPr id="10" name="">
              <a:extLst xmlns:a="http://schemas.openxmlformats.org/drawingml/2006/main">
                <a:ext uri="{FF2B5EF4-FFF2-40B4-BE49-F238E27FC236}">
                  <a16:creationId xmlns:a16="http://schemas.microsoft.com/office/drawing/2014/main" id="{464BB7DF-26F0-44D8-AAFD-4192304F97E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066800" y="3429000"/>
              <a:ext cx="2438400" cy="1714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750" b="0" i="0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750" b="0" i="0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rPr>
                <a:t>adds an inspectable check</a:t>
              </a:r>
            </a:p>
          </p:txBody>
        </p:sp>
        <p:sp>
          <p:nvSpPr>
            <p:cNvPr id="11" name="">
              <a:extLst xmlns:a="http://schemas.openxmlformats.org/drawingml/2006/main">
                <a:ext uri="{FF2B5EF4-FFF2-40B4-BE49-F238E27FC236}">
                  <a16:creationId xmlns:a16="http://schemas.microsoft.com/office/drawing/2014/main" id="{5DB07A8D-F36C-4BD1-9382-3A72AC1B2FA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52500" y="3952875"/>
              <a:ext cx="2667000" cy="590550"/>
            </a:xfrm>
            <a:prstGeom xmlns:a="http://schemas.openxmlformats.org/drawingml/2006/main" prst="roundRect">
              <a:avLst>
                <a:gd name="adj" fmla="val 12903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9525">
              <a:solidFill>
                <a:srgbClr val="438B86"/>
              </a:solidFill>
              <a:prstDash val="solid"/>
            </a:ln>
          </p:spPr>
        </p:sp>
        <p:sp>
          <p:nvSpPr>
            <p:cNvPr id="12" name="">
              <a:extLst xmlns:a="http://schemas.openxmlformats.org/drawingml/2006/main">
                <a:ext uri="{FF2B5EF4-FFF2-40B4-BE49-F238E27FC236}">
                  <a16:creationId xmlns:a16="http://schemas.microsoft.com/office/drawing/2014/main" id="{D5EE226C-D4B7-4664-BC22-DD5BE4AA97B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066800" y="4038600"/>
              <a:ext cx="2438400" cy="2095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050" b="1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050" b="1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Visual analysis</a:t>
              </a:r>
            </a:p>
          </p:txBody>
        </p:sp>
        <p:sp>
          <p:nvSpPr>
            <p:cNvPr id="13" name="">
              <a:extLst xmlns:a="http://schemas.openxmlformats.org/drawingml/2006/main">
                <a:ext uri="{FF2B5EF4-FFF2-40B4-BE49-F238E27FC236}">
                  <a16:creationId xmlns:a16="http://schemas.microsoft.com/office/drawing/2014/main" id="{A04894F4-3A6A-4607-AD8B-0F851922A4E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066800" y="4286250"/>
              <a:ext cx="2438400" cy="1714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750" b="0" i="0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750" b="0" i="0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rPr>
                <a:t>adds an inspectable check</a:t>
              </a:r>
            </a:p>
          </p:txBody>
        </p:sp>
        <p:sp>
          <p:nvSpPr>
            <p:cNvPr id="14" name="">
              <a:extLst xmlns:a="http://schemas.openxmlformats.org/drawingml/2006/main">
                <a:ext uri="{FF2B5EF4-FFF2-40B4-BE49-F238E27FC236}">
                  <a16:creationId xmlns:a16="http://schemas.microsoft.com/office/drawing/2014/main" id="{53BE244D-A4D7-499A-8EF9-775ECE5BB2B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381500" y="1428750"/>
              <a:ext cx="3238500" cy="4000500"/>
            </a:xfrm>
            <a:prstGeom xmlns:a="http://schemas.openxmlformats.org/drawingml/2006/main" prst="roundRect">
              <a:avLst>
                <a:gd name="adj" fmla="val 2353"/>
              </a:avLst>
            </a:prstGeom>
            <a:solidFill xmlns:a="http://schemas.openxmlformats.org/drawingml/2006/main">
              <a:srgbClr val="DDEEDC"/>
            </a:solidFill>
            <a:ln xmlns:a="http://schemas.openxmlformats.org/drawingml/2006/main" w="14288">
              <a:solidFill>
                <a:srgbClr val="438B86"/>
              </a:solidFill>
              <a:prstDash val="solid"/>
            </a:ln>
          </p:spPr>
        </p:sp>
        <p:sp>
          <p:nvSpPr>
            <p:cNvPr id="15" name="">
              <a:extLst xmlns:a="http://schemas.openxmlformats.org/drawingml/2006/main">
                <a:ext uri="{FF2B5EF4-FFF2-40B4-BE49-F238E27FC236}">
                  <a16:creationId xmlns:a16="http://schemas.microsoft.com/office/drawing/2014/main" id="{E17099B8-2D21-49FF-B2CD-F3C3739C2CF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524375" y="1619250"/>
              <a:ext cx="2952750" cy="3238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500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500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Knowledge-grounded reasoning</a:t>
              </a:r>
            </a:p>
          </p:txBody>
        </p:sp>
        <p:sp>
          <p:nvSpPr>
            <p:cNvPr id="16" name="">
              <a:extLst xmlns:a="http://schemas.openxmlformats.org/drawingml/2006/main">
                <a:ext uri="{FF2B5EF4-FFF2-40B4-BE49-F238E27FC236}">
                  <a16:creationId xmlns:a16="http://schemas.microsoft.com/office/drawing/2014/main" id="{43993E95-4F36-4111-A2D6-09296EE0787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667250" y="2238375"/>
              <a:ext cx="2667000" cy="590550"/>
            </a:xfrm>
            <a:prstGeom xmlns:a="http://schemas.openxmlformats.org/drawingml/2006/main" prst="roundRect">
              <a:avLst>
                <a:gd name="adj" fmla="val 12903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9525">
              <a:solidFill>
                <a:srgbClr val="438B86"/>
              </a:solidFill>
              <a:prstDash val="solid"/>
            </a:ln>
          </p:spPr>
        </p:sp>
        <p:sp>
          <p:nvSpPr>
            <p:cNvPr id="17" name="">
              <a:extLst xmlns:a="http://schemas.openxmlformats.org/drawingml/2006/main">
                <a:ext uri="{FF2B5EF4-FFF2-40B4-BE49-F238E27FC236}">
                  <a16:creationId xmlns:a16="http://schemas.microsoft.com/office/drawing/2014/main" id="{EC9AB778-D35B-4AEF-AAD9-E80B964ACE6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781550" y="2324100"/>
              <a:ext cx="2438400" cy="2095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050" b="1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050" b="1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Strong knowledge dependence</a:t>
              </a:r>
            </a:p>
          </p:txBody>
        </p:sp>
        <p:sp>
          <p:nvSpPr>
            <p:cNvPr id="18" name="">
              <a:extLst xmlns:a="http://schemas.openxmlformats.org/drawingml/2006/main">
                <a:ext uri="{FF2B5EF4-FFF2-40B4-BE49-F238E27FC236}">
                  <a16:creationId xmlns:a16="http://schemas.microsoft.com/office/drawing/2014/main" id="{D16198F9-4738-4F36-B09A-985A69D853D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781550" y="2571750"/>
              <a:ext cx="2438400" cy="1714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750" b="0" i="0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750" b="0" i="0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rPr>
                <a:t>declares the task contract</a:t>
              </a:r>
            </a:p>
          </p:txBody>
        </p:sp>
        <p:sp>
          <p:nvSpPr>
            <p:cNvPr id="19" name="">
              <a:extLst xmlns:a="http://schemas.openxmlformats.org/drawingml/2006/main">
                <a:ext uri="{FF2B5EF4-FFF2-40B4-BE49-F238E27FC236}">
                  <a16:creationId xmlns:a16="http://schemas.microsoft.com/office/drawing/2014/main" id="{2D954327-0E49-47A7-9078-471A0989953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667250" y="3095625"/>
              <a:ext cx="2667000" cy="590550"/>
            </a:xfrm>
            <a:prstGeom xmlns:a="http://schemas.openxmlformats.org/drawingml/2006/main" prst="roundRect">
              <a:avLst>
                <a:gd name="adj" fmla="val 12903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9525">
              <a:solidFill>
                <a:srgbClr val="438B86"/>
              </a:solidFill>
              <a:prstDash val="solid"/>
            </a:ln>
          </p:spPr>
        </p:sp>
        <p:sp>
          <p:nvSpPr>
            <p:cNvPr id="20" name="">
              <a:extLst xmlns:a="http://schemas.openxmlformats.org/drawingml/2006/main">
                <a:ext uri="{FF2B5EF4-FFF2-40B4-BE49-F238E27FC236}">
                  <a16:creationId xmlns:a16="http://schemas.microsoft.com/office/drawing/2014/main" id="{4DCCC323-E0B5-4944-9421-9EAD60106AC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781550" y="3181350"/>
              <a:ext cx="2438400" cy="2095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050" b="1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050" b="1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Temporal hypothesis expansion</a:t>
              </a:r>
            </a:p>
          </p:txBody>
        </p:sp>
        <p:sp>
          <p:nvSpPr>
            <p:cNvPr id="21" name="">
              <a:extLst xmlns:a="http://schemas.openxmlformats.org/drawingml/2006/main">
                <a:ext uri="{FF2B5EF4-FFF2-40B4-BE49-F238E27FC236}">
                  <a16:creationId xmlns:a16="http://schemas.microsoft.com/office/drawing/2014/main" id="{633A0E6A-E782-404C-A536-F9969A5F30B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781550" y="3429000"/>
              <a:ext cx="2438400" cy="1714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750" b="0" i="0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750" b="0" i="0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rPr>
                <a:t>adds an inspectable check</a:t>
              </a:r>
            </a:p>
          </p:txBody>
        </p:sp>
        <p:sp>
          <p:nvSpPr>
            <p:cNvPr id="22" name="">
              <a:extLst xmlns:a="http://schemas.openxmlformats.org/drawingml/2006/main">
                <a:ext uri="{FF2B5EF4-FFF2-40B4-BE49-F238E27FC236}">
                  <a16:creationId xmlns:a16="http://schemas.microsoft.com/office/drawing/2014/main" id="{07126816-FB4F-44A1-A606-1EC4620C2CB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667250" y="3952875"/>
              <a:ext cx="2667000" cy="590550"/>
            </a:xfrm>
            <a:prstGeom xmlns:a="http://schemas.openxmlformats.org/drawingml/2006/main" prst="roundRect">
              <a:avLst>
                <a:gd name="adj" fmla="val 12903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9525">
              <a:solidFill>
                <a:srgbClr val="438B86"/>
              </a:solidFill>
              <a:prstDash val="solid"/>
            </a:ln>
          </p:spPr>
        </p:sp>
        <p:sp>
          <p:nvSpPr>
            <p:cNvPr id="23" name="">
              <a:extLst xmlns:a="http://schemas.openxmlformats.org/drawingml/2006/main">
                <a:ext uri="{FF2B5EF4-FFF2-40B4-BE49-F238E27FC236}">
                  <a16:creationId xmlns:a16="http://schemas.microsoft.com/office/drawing/2014/main" id="{40ED3B10-43DC-42ED-9E24-F6D0FB9B20D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781550" y="4038600"/>
              <a:ext cx="2438400" cy="2095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050" b="1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050" b="1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Rules-aware reasoning</a:t>
              </a:r>
            </a:p>
          </p:txBody>
        </p:sp>
        <p:sp>
          <p:nvSpPr>
            <p:cNvPr id="24" name="">
              <a:extLst xmlns:a="http://schemas.openxmlformats.org/drawingml/2006/main">
                <a:ext uri="{FF2B5EF4-FFF2-40B4-BE49-F238E27FC236}">
                  <a16:creationId xmlns:a16="http://schemas.microsoft.com/office/drawing/2014/main" id="{EB36292F-D319-4696-A34C-28D604B1FEC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781550" y="4286250"/>
              <a:ext cx="2438400" cy="1714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750" b="0" i="0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750" b="0" i="0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rPr>
                <a:t>adds an inspectable check</a:t>
              </a:r>
            </a:p>
          </p:txBody>
        </p:sp>
        <p:sp>
          <p:nvSpPr>
            <p:cNvPr id="25" name="">
              <a:extLst xmlns:a="http://schemas.openxmlformats.org/drawingml/2006/main">
                <a:ext uri="{FF2B5EF4-FFF2-40B4-BE49-F238E27FC236}">
                  <a16:creationId xmlns:a16="http://schemas.microsoft.com/office/drawing/2014/main" id="{B98DDFE6-B4F3-4A23-984B-59F1241845C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096250" y="1428750"/>
              <a:ext cx="3238500" cy="4000500"/>
            </a:xfrm>
            <a:prstGeom xmlns:a="http://schemas.openxmlformats.org/drawingml/2006/main" prst="roundRect">
              <a:avLst>
                <a:gd name="adj" fmla="val 2353"/>
              </a:avLst>
            </a:prstGeom>
            <a:solidFill xmlns:a="http://schemas.openxmlformats.org/drawingml/2006/main">
              <a:srgbClr val="F4F0C9"/>
            </a:solidFill>
            <a:ln xmlns:a="http://schemas.openxmlformats.org/drawingml/2006/main" w="14288">
              <a:solidFill>
                <a:srgbClr val="B77F2B"/>
              </a:solidFill>
              <a:prstDash val="solid"/>
            </a:ln>
          </p:spPr>
        </p:sp>
        <p:sp>
          <p:nvSpPr>
            <p:cNvPr id="26" name="">
              <a:extLst xmlns:a="http://schemas.openxmlformats.org/drawingml/2006/main">
                <a:ext uri="{FF2B5EF4-FFF2-40B4-BE49-F238E27FC236}">
                  <a16:creationId xmlns:a16="http://schemas.microsoft.com/office/drawing/2014/main" id="{5FF4CA6D-30B3-48EF-B6A2-DCBADCDE7BD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239125" y="1619250"/>
              <a:ext cx="2952750" cy="3238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500" b="1" i="0">
                  <a:solidFill>
                    <a:srgbClr val="B77F2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500" b="1" i="0">
                  <a:solidFill>
                    <a:srgbClr val="B77F2B"/>
                  </a:solidFill>
                  <a:latin typeface="Times New Roman"/>
                  <a:ea typeface="Times New Roman"/>
                  <a:cs typeface="Times New Roman"/>
                </a:rPr>
                <a:t>Reliability mechanisms</a:t>
              </a:r>
            </a:p>
          </p:txBody>
        </p:sp>
        <p:sp>
          <p:nvSpPr>
            <p:cNvPr id="27" name="">
              <a:extLst xmlns:a="http://schemas.openxmlformats.org/drawingml/2006/main">
                <a:ext uri="{FF2B5EF4-FFF2-40B4-BE49-F238E27FC236}">
                  <a16:creationId xmlns:a16="http://schemas.microsoft.com/office/drawing/2014/main" id="{D79C3E49-9360-46A8-B0F2-2FBC1CC0C62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382000" y="2238375"/>
              <a:ext cx="2667000" cy="590550"/>
            </a:xfrm>
            <a:prstGeom xmlns:a="http://schemas.openxmlformats.org/drawingml/2006/main" prst="roundRect">
              <a:avLst>
                <a:gd name="adj" fmla="val 12903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9525">
              <a:solidFill>
                <a:srgbClr val="B77F2B"/>
              </a:solidFill>
              <a:prstDash val="solid"/>
            </a:ln>
          </p:spPr>
        </p:sp>
        <p:sp>
          <p:nvSpPr>
            <p:cNvPr id="28" name="">
              <a:extLst xmlns:a="http://schemas.openxmlformats.org/drawingml/2006/main">
                <a:ext uri="{FF2B5EF4-FFF2-40B4-BE49-F238E27FC236}">
                  <a16:creationId xmlns:a16="http://schemas.microsoft.com/office/drawing/2014/main" id="{78A422F3-2D47-4C51-B3A1-680755AB4F5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496300" y="2324100"/>
              <a:ext cx="2438400" cy="2095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050" b="1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050" b="1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Post-experiment analysis</a:t>
              </a:r>
            </a:p>
          </p:txBody>
        </p:sp>
        <p:sp>
          <p:nvSpPr>
            <p:cNvPr id="29" name="">
              <a:extLst xmlns:a="http://schemas.openxmlformats.org/drawingml/2006/main">
                <a:ext uri="{FF2B5EF4-FFF2-40B4-BE49-F238E27FC236}">
                  <a16:creationId xmlns:a16="http://schemas.microsoft.com/office/drawing/2014/main" id="{81589182-55E2-4B4E-AD03-8247E67573B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496300" y="2571750"/>
              <a:ext cx="2438400" cy="1714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750" b="0" i="0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750" b="0" i="0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rPr>
                <a:t>declares the task contract</a:t>
              </a:r>
            </a:p>
          </p:txBody>
        </p:sp>
        <p:sp>
          <p:nvSpPr>
            <p:cNvPr id="30" name="">
              <a:extLst xmlns:a="http://schemas.openxmlformats.org/drawingml/2006/main">
                <a:ext uri="{FF2B5EF4-FFF2-40B4-BE49-F238E27FC236}">
                  <a16:creationId xmlns:a16="http://schemas.microsoft.com/office/drawing/2014/main" id="{AF4FF808-B00D-4083-BC89-8604DC9C174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382000" y="3095625"/>
              <a:ext cx="2667000" cy="590550"/>
            </a:xfrm>
            <a:prstGeom xmlns:a="http://schemas.openxmlformats.org/drawingml/2006/main" prst="roundRect">
              <a:avLst>
                <a:gd name="adj" fmla="val 12903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9525">
              <a:solidFill>
                <a:srgbClr val="B77F2B"/>
              </a:solidFill>
              <a:prstDash val="solid"/>
            </a:ln>
          </p:spPr>
        </p:sp>
        <p:sp>
          <p:nvSpPr>
            <p:cNvPr id="31" name="">
              <a:extLst xmlns:a="http://schemas.openxmlformats.org/drawingml/2006/main">
                <a:ext uri="{FF2B5EF4-FFF2-40B4-BE49-F238E27FC236}">
                  <a16:creationId xmlns:a16="http://schemas.microsoft.com/office/drawing/2014/main" id="{71420549-0F60-49C6-9C4A-CF228D41CA4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496300" y="3181350"/>
              <a:ext cx="2438400" cy="2095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050" b="1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050" b="1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Event-aware reasoning</a:t>
              </a:r>
            </a:p>
          </p:txBody>
        </p:sp>
        <p:sp>
          <p:nvSpPr>
            <p:cNvPr id="32" name="">
              <a:extLst xmlns:a="http://schemas.openxmlformats.org/drawingml/2006/main">
                <a:ext uri="{FF2B5EF4-FFF2-40B4-BE49-F238E27FC236}">
                  <a16:creationId xmlns:a16="http://schemas.microsoft.com/office/drawing/2014/main" id="{D4CC9047-2ABB-4DB1-923E-9A93F9125E6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496300" y="3429000"/>
              <a:ext cx="2438400" cy="1714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750" b="0" i="0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750" b="0" i="0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rPr>
                <a:t>adds an inspectable check</a:t>
              </a:r>
            </a:p>
          </p:txBody>
        </p:sp>
        <p:sp>
          <p:nvSpPr>
            <p:cNvPr id="33" name="">
              <a:extLst xmlns:a="http://schemas.openxmlformats.org/drawingml/2006/main">
                <a:ext uri="{FF2B5EF4-FFF2-40B4-BE49-F238E27FC236}">
                  <a16:creationId xmlns:a16="http://schemas.microsoft.com/office/drawing/2014/main" id="{ABB5D5A2-A8AE-4FBD-AFBE-5D7994581AF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382000" y="3952875"/>
              <a:ext cx="2667000" cy="590550"/>
            </a:xfrm>
            <a:prstGeom xmlns:a="http://schemas.openxmlformats.org/drawingml/2006/main" prst="roundRect">
              <a:avLst>
                <a:gd name="adj" fmla="val 12903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9525">
              <a:solidFill>
                <a:srgbClr val="B77F2B"/>
              </a:solidFill>
              <a:prstDash val="solid"/>
            </a:ln>
          </p:spPr>
        </p:sp>
        <p:sp>
          <p:nvSpPr>
            <p:cNvPr id="34" name="">
              <a:extLst xmlns:a="http://schemas.openxmlformats.org/drawingml/2006/main">
                <a:ext uri="{FF2B5EF4-FFF2-40B4-BE49-F238E27FC236}">
                  <a16:creationId xmlns:a16="http://schemas.microsoft.com/office/drawing/2014/main" id="{490C89D2-29BF-4DD6-B804-A83BDE2829E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496300" y="4038600"/>
              <a:ext cx="2438400" cy="2095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050" b="1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050" b="1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Layered review</a:t>
              </a:r>
            </a:p>
          </p:txBody>
        </p:sp>
        <p:sp>
          <p:nvSpPr>
            <p:cNvPr id="35" name="">
              <a:extLst xmlns:a="http://schemas.openxmlformats.org/drawingml/2006/main">
                <a:ext uri="{FF2B5EF4-FFF2-40B4-BE49-F238E27FC236}">
                  <a16:creationId xmlns:a16="http://schemas.microsoft.com/office/drawing/2014/main" id="{B39FA41E-5AB0-4B64-8F76-73EED9B5CF8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496300" y="4286250"/>
              <a:ext cx="2438400" cy="1714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750" b="0" i="0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750" b="0" i="0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rPr>
                <a:t>adds an inspectable check</a:t>
              </a:r>
            </a:p>
          </p:txBody>
        </p:sp>
        <p:cxnSp>
          <p:nvCxnSpPr>
            <p:cNvPr id="73" name=""/>
            <p:cNvCxnSpPr>
              <a:stCxn xmlns:a="http://schemas.openxmlformats.org/drawingml/2006/main" id="3" idx="3"/>
              <a:endCxn xmlns:a="http://schemas.openxmlformats.org/drawingml/2006/main" id="14" idx="1"/>
            </p:cNvCxnSpPr>
            <p:nvPr/>
          </p:nvCxnSpPr>
          <p:spPr>
            <a:xfrm xmlns:a="http://schemas.openxmlformats.org/drawingml/2006/main">
              <a:off x="3905250" y="3429000"/>
              <a:ext cx="476250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438B86"/>
              </a:solidFill>
              <a:prstDash val="solid"/>
              <a:headEnd type="arrow" w="sm" len="sm"/>
            </a:ln>
          </p:spPr>
        </p:cxnSp>
        <p:cxnSp>
          <p:nvCxnSpPr>
            <p:cNvPr id="74" name=""/>
            <p:cNvCxnSpPr>
              <a:stCxn xmlns:a="http://schemas.openxmlformats.org/drawingml/2006/main" id="14" idx="3"/>
              <a:endCxn xmlns:a="http://schemas.openxmlformats.org/drawingml/2006/main" id="25" idx="1"/>
            </p:cNvCxnSpPr>
            <p:nvPr/>
          </p:nvCxnSpPr>
          <p:spPr>
            <a:xfrm xmlns:a="http://schemas.openxmlformats.org/drawingml/2006/main">
              <a:off x="7620000" y="3429000"/>
              <a:ext cx="476250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B77F2B"/>
              </a:solidFill>
              <a:prstDash val="solid"/>
              <a:headEnd type="arrow" w="sm" len="sm"/>
            </a:ln>
          </p:spPr>
        </p:cxnSp>
      </p:grpSp>
    </p:spTree>
    <p:extLst>
      <p:ext uri="{BB962C8B-B14F-4D97-AF65-F5344CB8AC3E}">
        <p14:creationId xmlns:p14="http://schemas.microsoft.com/office/powerpoint/2010/main" val="18242680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39" name="group-remaining-components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21" name="">
              <a:extLst xmlns:a="http://schemas.openxmlformats.org/drawingml/2006/main">
                <a:ext uri="{FF2B5EF4-FFF2-40B4-BE49-F238E27FC236}">
                  <a16:creationId xmlns:a16="http://schemas.microsoft.com/office/drawing/2014/main" id="{F0004500-C3B8-497D-A1D1-B32E4BB4736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76250" y="228600"/>
              <a:ext cx="11239500" cy="3810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2400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2400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Retrieval, augmentation, and review</a:t>
              </a:r>
            </a:p>
          </p:txBody>
        </p:sp>
        <p:sp>
          <p:nvSpPr>
            <p:cNvPr id="2" name="">
              <a:extLst xmlns:a="http://schemas.openxmlformats.org/drawingml/2006/main">
                <a:ext uri="{FF2B5EF4-FFF2-40B4-BE49-F238E27FC236}">
                  <a16:creationId xmlns:a16="http://schemas.microsoft.com/office/drawing/2014/main" id="{8BF1E4AF-BD1D-43D2-97E1-CC1DB552FC5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76250" y="647700"/>
              <a:ext cx="11239500" cy="238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125" b="0" i="1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125" b="0" i="1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rPr>
                <a:t>A task-specific synthesis loop couples candidate generation to fidelity and utility checks.</a:t>
              </a:r>
            </a:p>
          </p:txBody>
        </p:sp>
        <p:sp>
          <p:nvSpPr>
            <p:cNvPr id="3" name="">
              <a:extLst xmlns:a="http://schemas.openxmlformats.org/drawingml/2006/main">
                <a:ext uri="{FF2B5EF4-FFF2-40B4-BE49-F238E27FC236}">
                  <a16:creationId xmlns:a16="http://schemas.microsoft.com/office/drawing/2014/main" id="{2FAD87D0-35AE-47D8-88F7-5438491743E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62000" y="2381250"/>
              <a:ext cx="2190750" cy="1000125"/>
            </a:xfrm>
            <a:prstGeom xmlns:a="http://schemas.openxmlformats.org/drawingml/2006/main" prst="roundRect">
              <a:avLst>
                <a:gd name="adj" fmla="val 7619"/>
              </a:avLst>
            </a:prstGeom>
            <a:solidFill xmlns:a="http://schemas.openxmlformats.org/drawingml/2006/main">
              <a:srgbClr val="D9EEF0"/>
            </a:solidFill>
            <a:ln xmlns:a="http://schemas.openxmlformats.org/drawingml/2006/main" w="13335">
              <a:solidFill>
                <a:srgbClr val="438B86"/>
              </a:solidFill>
              <a:prstDash val="solid"/>
            </a:ln>
          </p:spPr>
        </p:sp>
        <p:sp>
          <p:nvSpPr>
            <p:cNvPr id="4" name="">
              <a:extLst xmlns:a="http://schemas.openxmlformats.org/drawingml/2006/main">
                <a:ext uri="{FF2B5EF4-FFF2-40B4-BE49-F238E27FC236}">
                  <a16:creationId xmlns:a16="http://schemas.microsoft.com/office/drawing/2014/main" id="{DE31AE0A-8C7F-41A5-B918-5A389C45E9F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57250" y="2476500"/>
              <a:ext cx="20002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Retrieval agent</a:t>
              </a:r>
            </a:p>
          </p:txBody>
        </p:sp>
        <p:sp>
          <p:nvSpPr>
            <p:cNvPr id="5" name="">
              <a:extLst xmlns:a="http://schemas.openxmlformats.org/drawingml/2006/main">
                <a:ext uri="{FF2B5EF4-FFF2-40B4-BE49-F238E27FC236}">
                  <a16:creationId xmlns:a16="http://schemas.microsoft.com/office/drawing/2014/main" id="{1D2664DE-66FD-430F-AEF1-EBA80EC5A2E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76300" y="2781300"/>
              <a:ext cx="1962150" cy="5238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finds similar temporal samples</a:t>
              </a:r>
            </a:p>
          </p:txBody>
        </p:sp>
        <p:sp>
          <p:nvSpPr>
            <p:cNvPr id="6" name="">
              <a:extLst xmlns:a="http://schemas.openxmlformats.org/drawingml/2006/main">
                <a:ext uri="{FF2B5EF4-FFF2-40B4-BE49-F238E27FC236}">
                  <a16:creationId xmlns:a16="http://schemas.microsoft.com/office/drawing/2014/main" id="{A3AB5FCE-7199-402F-A845-0CB117B511E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857625" y="2381250"/>
              <a:ext cx="2190750" cy="1000125"/>
            </a:xfrm>
            <a:prstGeom xmlns:a="http://schemas.openxmlformats.org/drawingml/2006/main" prst="roundRect">
              <a:avLst>
                <a:gd name="adj" fmla="val 7619"/>
              </a:avLst>
            </a:prstGeom>
            <a:solidFill xmlns:a="http://schemas.openxmlformats.org/drawingml/2006/main">
              <a:srgbClr val="DDEEDC"/>
            </a:solidFill>
            <a:ln xmlns:a="http://schemas.openxmlformats.org/drawingml/2006/main" w="13335">
              <a:solidFill>
                <a:srgbClr val="438B86"/>
              </a:solidFill>
              <a:prstDash val="solid"/>
            </a:ln>
          </p:spPr>
        </p:sp>
        <p:sp>
          <p:nvSpPr>
            <p:cNvPr id="7" name="">
              <a:extLst xmlns:a="http://schemas.openxmlformats.org/drawingml/2006/main">
                <a:ext uri="{FF2B5EF4-FFF2-40B4-BE49-F238E27FC236}">
                  <a16:creationId xmlns:a16="http://schemas.microsoft.com/office/drawing/2014/main" id="{22F97C9B-E5CB-4A63-997D-088E6D2B805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952875" y="2476500"/>
              <a:ext cx="20002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Augmentation agent</a:t>
              </a:r>
            </a:p>
          </p:txBody>
        </p:sp>
        <p:sp>
          <p:nvSpPr>
            <p:cNvPr id="8" name="">
              <a:extLst xmlns:a="http://schemas.openxmlformats.org/drawingml/2006/main">
                <a:ext uri="{FF2B5EF4-FFF2-40B4-BE49-F238E27FC236}">
                  <a16:creationId xmlns:a16="http://schemas.microsoft.com/office/drawing/2014/main" id="{17F6B243-C763-48E3-B6FD-E59DA9EE639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971925" y="2781300"/>
              <a:ext cx="1962150" cy="5238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generates a conditioned sample</a:t>
              </a:r>
            </a:p>
          </p:txBody>
        </p:sp>
        <p:sp>
          <p:nvSpPr>
            <p:cNvPr id="9" name="">
              <a:extLst xmlns:a="http://schemas.openxmlformats.org/drawingml/2006/main">
                <a:ext uri="{FF2B5EF4-FFF2-40B4-BE49-F238E27FC236}">
                  <a16:creationId xmlns:a16="http://schemas.microsoft.com/office/drawing/2014/main" id="{F98CB867-9EEB-4868-A32F-680402268DD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953250" y="2381250"/>
              <a:ext cx="2190750" cy="1000125"/>
            </a:xfrm>
            <a:prstGeom xmlns:a="http://schemas.openxmlformats.org/drawingml/2006/main" prst="roundRect">
              <a:avLst>
                <a:gd name="adj" fmla="val 7619"/>
              </a:avLst>
            </a:prstGeom>
            <a:solidFill xmlns:a="http://schemas.openxmlformats.org/drawingml/2006/main">
              <a:srgbClr val="F4F0C9"/>
            </a:solidFill>
            <a:ln xmlns:a="http://schemas.openxmlformats.org/drawingml/2006/main" w="13335">
              <a:solidFill>
                <a:srgbClr val="B77F2B"/>
              </a:solidFill>
              <a:prstDash val="solid"/>
            </a:ln>
          </p:spPr>
        </p:sp>
        <p:sp>
          <p:nvSpPr>
            <p:cNvPr id="10" name="">
              <a:extLst xmlns:a="http://schemas.openxmlformats.org/drawingml/2006/main">
                <a:ext uri="{FF2B5EF4-FFF2-40B4-BE49-F238E27FC236}">
                  <a16:creationId xmlns:a16="http://schemas.microsoft.com/office/drawing/2014/main" id="{66431B8D-C0C3-47DA-86F0-6619366BC83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048500" y="2476500"/>
              <a:ext cx="20002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B77F2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B77F2B"/>
                  </a:solidFill>
                  <a:latin typeface="Times New Roman"/>
                  <a:ea typeface="Times New Roman"/>
                  <a:cs typeface="Times New Roman"/>
                </a:rPr>
                <a:t>Review agent</a:t>
              </a:r>
            </a:p>
          </p:txBody>
        </p:sp>
        <p:sp>
          <p:nvSpPr>
            <p:cNvPr id="11" name="">
              <a:extLst xmlns:a="http://schemas.openxmlformats.org/drawingml/2006/main">
                <a:ext uri="{FF2B5EF4-FFF2-40B4-BE49-F238E27FC236}">
                  <a16:creationId xmlns:a16="http://schemas.microsoft.com/office/drawing/2014/main" id="{45D8BB23-BE62-4CC2-9974-FD6975D8CB7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067550" y="2781300"/>
              <a:ext cx="1962150" cy="5238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checks fidelity and utility</a:t>
              </a:r>
            </a:p>
          </p:txBody>
        </p:sp>
        <p:sp>
          <p:nvSpPr>
            <p:cNvPr id="12" name="">
              <a:extLst xmlns:a="http://schemas.openxmlformats.org/drawingml/2006/main">
                <a:ext uri="{FF2B5EF4-FFF2-40B4-BE49-F238E27FC236}">
                  <a16:creationId xmlns:a16="http://schemas.microsoft.com/office/drawing/2014/main" id="{32E9F4D4-F9EC-4BDA-982D-AE7477A5ACB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667875" y="2381250"/>
              <a:ext cx="1619250" cy="1000125"/>
            </a:xfrm>
            <a:prstGeom xmlns:a="http://schemas.openxmlformats.org/drawingml/2006/main" prst="roundRect">
              <a:avLst>
                <a:gd name="adj" fmla="val 7619"/>
              </a:avLst>
            </a:prstGeom>
            <a:solidFill xmlns:a="http://schemas.openxmlformats.org/drawingml/2006/main">
              <a:srgbClr val="E6E0F2"/>
            </a:solidFill>
            <a:ln xmlns:a="http://schemas.openxmlformats.org/drawingml/2006/main" w="13335">
              <a:solidFill>
                <a:srgbClr val="78639F"/>
              </a:solidFill>
              <a:prstDash val="solid"/>
            </a:ln>
          </p:spPr>
        </p:sp>
        <p:sp>
          <p:nvSpPr>
            <p:cNvPr id="13" name="">
              <a:extLst xmlns:a="http://schemas.openxmlformats.org/drawingml/2006/main">
                <a:ext uri="{FF2B5EF4-FFF2-40B4-BE49-F238E27FC236}">
                  <a16:creationId xmlns:a16="http://schemas.microsoft.com/office/drawing/2014/main" id="{CDEA864E-5470-43CA-BF29-A516B775849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763125" y="2476500"/>
              <a:ext cx="14287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rPr>
                <a:t>Accepted set</a:t>
              </a:r>
            </a:p>
          </p:txBody>
        </p:sp>
        <p:sp>
          <p:nvSpPr>
            <p:cNvPr id="14" name="">
              <a:extLst xmlns:a="http://schemas.openxmlformats.org/drawingml/2006/main">
                <a:ext uri="{FF2B5EF4-FFF2-40B4-BE49-F238E27FC236}">
                  <a16:creationId xmlns:a16="http://schemas.microsoft.com/office/drawing/2014/main" id="{0BD3A53F-6E41-4E09-AEE9-B1DB856B22F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782175" y="2781300"/>
              <a:ext cx="1390650" cy="52387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keeps usable data</a:t>
              </a:r>
            </a:p>
          </p:txBody>
        </p:sp>
        <p:cxnSp>
          <p:nvCxnSpPr>
            <p:cNvPr id="35" name=""/>
            <p:cNvCxnSpPr>
              <a:stCxn xmlns:a="http://schemas.openxmlformats.org/drawingml/2006/main" id="3" idx="3"/>
              <a:endCxn xmlns:a="http://schemas.openxmlformats.org/drawingml/2006/main" id="6" idx="1"/>
            </p:cNvCxnSpPr>
            <p:nvPr/>
          </p:nvCxnSpPr>
          <p:spPr>
            <a:xfrm xmlns:a="http://schemas.openxmlformats.org/drawingml/2006/main">
              <a:off x="2952750" y="2881313"/>
              <a:ext cx="904875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438B86"/>
              </a:solidFill>
              <a:prstDash val="solid"/>
              <a:headEnd type="arrow" w="sm" len="sm"/>
            </a:ln>
          </p:spPr>
        </p:cxnSp>
        <p:cxnSp>
          <p:nvCxnSpPr>
            <p:cNvPr id="36" name=""/>
            <p:cNvCxnSpPr>
              <a:stCxn xmlns:a="http://schemas.openxmlformats.org/drawingml/2006/main" id="6" idx="3"/>
              <a:endCxn xmlns:a="http://schemas.openxmlformats.org/drawingml/2006/main" id="9" idx="1"/>
            </p:cNvCxnSpPr>
            <p:nvPr/>
          </p:nvCxnSpPr>
          <p:spPr>
            <a:xfrm xmlns:a="http://schemas.openxmlformats.org/drawingml/2006/main">
              <a:off x="6048375" y="2881313"/>
              <a:ext cx="904875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B77F2B"/>
              </a:solidFill>
              <a:prstDash val="solid"/>
              <a:headEnd type="arrow" w="sm" len="sm"/>
            </a:ln>
          </p:spPr>
        </p:cxnSp>
        <p:cxnSp>
          <p:nvCxnSpPr>
            <p:cNvPr id="37" name=""/>
            <p:cNvCxnSpPr>
              <a:stCxn xmlns:a="http://schemas.openxmlformats.org/drawingml/2006/main" id="9" idx="3"/>
              <a:endCxn xmlns:a="http://schemas.openxmlformats.org/drawingml/2006/main" id="12" idx="1"/>
            </p:cNvCxnSpPr>
            <p:nvPr/>
          </p:nvCxnSpPr>
          <p:spPr>
            <a:xfrm xmlns:a="http://schemas.openxmlformats.org/drawingml/2006/main">
              <a:off x="9144000" y="2881313"/>
              <a:ext cx="523875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78639F"/>
              </a:solidFill>
              <a:prstDash val="solid"/>
              <a:headEnd type="arrow" w="sm" len="sm"/>
            </a:ln>
          </p:spPr>
        </p:cxnSp>
        <p:cxnSp>
          <p:nvCxnSpPr>
            <p:cNvPr id="38" name=""/>
            <p:cNvCxnSpPr>
              <a:stCxn xmlns:a="http://schemas.openxmlformats.org/drawingml/2006/main" id="9" idx="3"/>
              <a:endCxn xmlns:a="http://schemas.openxmlformats.org/drawingml/2006/main" id="3" idx="1"/>
            </p:cNvCxnSpPr>
            <p:nvPr/>
          </p:nvCxnSpPr>
          <p:spPr>
            <a:xfrm xmlns:a="http://schemas.openxmlformats.org/drawingml/2006/main" flipH="1">
              <a:off x="762000" y="2881313"/>
              <a:ext cx="8382000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F3E2DE"/>
              </a:solidFill>
              <a:prstDash val="dash"/>
              <a:headEnd type="arrow" w="sm" len="sm"/>
            </a:ln>
          </p:spPr>
        </p:cxnSp>
        <p:sp>
          <p:nvSpPr>
            <p:cNvPr id="19" name="">
              <a:extLst xmlns:a="http://schemas.openxmlformats.org/drawingml/2006/main">
                <a:ext uri="{FF2B5EF4-FFF2-40B4-BE49-F238E27FC236}">
                  <a16:creationId xmlns:a16="http://schemas.microsoft.com/office/drawing/2014/main" id="{A7F0EBBD-3BB2-4540-B084-2F3314C64CD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619250" y="1524000"/>
              <a:ext cx="8858250" cy="3429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425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425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retrieval  →  generation  →  review  →  downstream use</a:t>
              </a:r>
            </a:p>
          </p:txBody>
        </p:sp>
        <p:sp>
          <p:nvSpPr>
            <p:cNvPr id="20" name="">
              <a:extLst xmlns:a="http://schemas.openxmlformats.org/drawingml/2006/main">
                <a:ext uri="{FF2B5EF4-FFF2-40B4-BE49-F238E27FC236}">
                  <a16:creationId xmlns:a16="http://schemas.microsoft.com/office/drawing/2014/main" id="{F4691BE5-7073-4BB8-A4EC-CB6F0A2D19C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04875" y="4000500"/>
              <a:ext cx="10191750" cy="3810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050" b="0" i="1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050" b="0" i="1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rPr>
                <a:t>Temporal fidelity: dependence, missingness, distribution  |  Utility: downstream task performance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482708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39" name="group-remaining-components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22" name="">
              <a:extLst xmlns:a="http://schemas.openxmlformats.org/drawingml/2006/main">
                <a:ext uri="{FF2B5EF4-FFF2-40B4-BE49-F238E27FC236}">
                  <a16:creationId xmlns:a16="http://schemas.microsoft.com/office/drawing/2014/main" id="{0C9D3564-270E-4AB5-92F7-70D570EC65E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76250" y="228600"/>
              <a:ext cx="11239500" cy="3810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2400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2400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Coarse-to-fine anomaly diagnosis</a:t>
              </a:r>
            </a:p>
          </p:txBody>
        </p:sp>
        <p:sp>
          <p:nvSpPr>
            <p:cNvPr id="2" name="">
              <a:extLst xmlns:a="http://schemas.openxmlformats.org/drawingml/2006/main">
                <a:ext uri="{FF2B5EF4-FFF2-40B4-BE49-F238E27FC236}">
                  <a16:creationId xmlns:a16="http://schemas.microsoft.com/office/drawing/2014/main" id="{60C9A613-C954-4126-99DA-F00F97211D8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76250" y="647700"/>
              <a:ext cx="11239500" cy="238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125" b="0" i="1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125" b="0" i="1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rPr>
                <a:t>Evidence acquisition and iterative refinement connect detection to a diagnosis and a final alert.</a:t>
              </a:r>
            </a:p>
          </p:txBody>
        </p:sp>
        <p:sp>
          <p:nvSpPr>
            <p:cNvPr id="3" name="">
              <a:extLst xmlns:a="http://schemas.openxmlformats.org/drawingml/2006/main">
                <a:ext uri="{FF2B5EF4-FFF2-40B4-BE49-F238E27FC236}">
                  <a16:creationId xmlns:a16="http://schemas.microsoft.com/office/drawing/2014/main" id="{822224C6-F3DE-44B6-91D0-DD3208164D9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571500" y="2476500"/>
              <a:ext cx="2286000" cy="1095375"/>
            </a:xfrm>
            <a:prstGeom xmlns:a="http://schemas.openxmlformats.org/drawingml/2006/main" prst="roundRect">
              <a:avLst>
                <a:gd name="adj" fmla="val 6957"/>
              </a:avLst>
            </a:prstGeom>
            <a:solidFill xmlns:a="http://schemas.openxmlformats.org/drawingml/2006/main">
              <a:srgbClr val="D9EEF0"/>
            </a:solidFill>
            <a:ln xmlns:a="http://schemas.openxmlformats.org/drawingml/2006/main" w="13335">
              <a:solidFill>
                <a:srgbClr val="438B86"/>
              </a:solidFill>
              <a:prstDash val="solid"/>
            </a:ln>
          </p:spPr>
        </p:sp>
        <p:sp>
          <p:nvSpPr>
            <p:cNvPr id="4" name="">
              <a:extLst xmlns:a="http://schemas.openxmlformats.org/drawingml/2006/main">
                <a:ext uri="{FF2B5EF4-FFF2-40B4-BE49-F238E27FC236}">
                  <a16:creationId xmlns:a16="http://schemas.microsoft.com/office/drawing/2014/main" id="{8C80698B-985B-4CFD-BD23-53B864C4E05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66750" y="2571750"/>
              <a:ext cx="20955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Evidence acquisition</a:t>
              </a:r>
            </a:p>
          </p:txBody>
        </p:sp>
        <p:sp>
          <p:nvSpPr>
            <p:cNvPr id="5" name="">
              <a:extLst xmlns:a="http://schemas.openxmlformats.org/drawingml/2006/main">
                <a:ext uri="{FF2B5EF4-FFF2-40B4-BE49-F238E27FC236}">
                  <a16:creationId xmlns:a16="http://schemas.microsoft.com/office/drawing/2014/main" id="{26B4E1AE-C756-4849-AC5D-3C17933DCC1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85800" y="2876550"/>
              <a:ext cx="2057400" cy="619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retrieve signals and context</a:t>
              </a:r>
            </a:p>
          </p:txBody>
        </p:sp>
        <p:sp>
          <p:nvSpPr>
            <p:cNvPr id="6" name="">
              <a:extLst xmlns:a="http://schemas.openxmlformats.org/drawingml/2006/main">
                <a:ext uri="{FF2B5EF4-FFF2-40B4-BE49-F238E27FC236}">
                  <a16:creationId xmlns:a16="http://schemas.microsoft.com/office/drawing/2014/main" id="{6F1692A9-4962-4C6B-976A-140BDBD701C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333750" y="2476500"/>
              <a:ext cx="2286000" cy="1095375"/>
            </a:xfrm>
            <a:prstGeom xmlns:a="http://schemas.openxmlformats.org/drawingml/2006/main" prst="roundRect">
              <a:avLst>
                <a:gd name="adj" fmla="val 6957"/>
              </a:avLst>
            </a:prstGeom>
            <a:solidFill xmlns:a="http://schemas.openxmlformats.org/drawingml/2006/main">
              <a:srgbClr val="DDEEDC"/>
            </a:solidFill>
            <a:ln xmlns:a="http://schemas.openxmlformats.org/drawingml/2006/main" w="13335">
              <a:solidFill>
                <a:srgbClr val="438B86"/>
              </a:solidFill>
              <a:prstDash val="solid"/>
            </a:ln>
          </p:spPr>
        </p:sp>
        <p:sp>
          <p:nvSpPr>
            <p:cNvPr id="7" name="">
              <a:extLst xmlns:a="http://schemas.openxmlformats.org/drawingml/2006/main">
                <a:ext uri="{FF2B5EF4-FFF2-40B4-BE49-F238E27FC236}">
                  <a16:creationId xmlns:a16="http://schemas.microsoft.com/office/drawing/2014/main" id="{40084019-0D6B-4DE5-AC76-D4ACCD82A6D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429000" y="2571750"/>
              <a:ext cx="20955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Evidence construction</a:t>
              </a:r>
            </a:p>
          </p:txBody>
        </p:sp>
        <p:sp>
          <p:nvSpPr>
            <p:cNvPr id="8" name="">
              <a:extLst xmlns:a="http://schemas.openxmlformats.org/drawingml/2006/main">
                <a:ext uri="{FF2B5EF4-FFF2-40B4-BE49-F238E27FC236}">
                  <a16:creationId xmlns:a16="http://schemas.microsoft.com/office/drawing/2014/main" id="{B5D80B73-D20B-459E-9C44-04C65C7CF41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448050" y="2876550"/>
              <a:ext cx="2057400" cy="619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align and summarize evidence</a:t>
              </a:r>
            </a:p>
          </p:txBody>
        </p:sp>
        <p:sp>
          <p:nvSpPr>
            <p:cNvPr id="9" name="">
              <a:extLst xmlns:a="http://schemas.openxmlformats.org/drawingml/2006/main">
                <a:ext uri="{FF2B5EF4-FFF2-40B4-BE49-F238E27FC236}">
                  <a16:creationId xmlns:a16="http://schemas.microsoft.com/office/drawing/2014/main" id="{EFD31150-9CAF-48B2-AE52-326F35DD337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096000" y="2476500"/>
              <a:ext cx="2286000" cy="1095375"/>
            </a:xfrm>
            <a:prstGeom xmlns:a="http://schemas.openxmlformats.org/drawingml/2006/main" prst="roundRect">
              <a:avLst>
                <a:gd name="adj" fmla="val 6957"/>
              </a:avLst>
            </a:prstGeom>
            <a:solidFill xmlns:a="http://schemas.openxmlformats.org/drawingml/2006/main">
              <a:srgbClr val="F4F0C9"/>
            </a:solidFill>
            <a:ln xmlns:a="http://schemas.openxmlformats.org/drawingml/2006/main" w="13335">
              <a:solidFill>
                <a:srgbClr val="B77F2B"/>
              </a:solidFill>
              <a:prstDash val="solid"/>
            </a:ln>
          </p:spPr>
        </p:sp>
        <p:sp>
          <p:nvSpPr>
            <p:cNvPr id="10" name="">
              <a:extLst xmlns:a="http://schemas.openxmlformats.org/drawingml/2006/main">
                <a:ext uri="{FF2B5EF4-FFF2-40B4-BE49-F238E27FC236}">
                  <a16:creationId xmlns:a16="http://schemas.microsoft.com/office/drawing/2014/main" id="{3718C8FF-B5AA-42E8-9E56-3DBDFBF7348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191250" y="2571750"/>
              <a:ext cx="20955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B77F2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B77F2B"/>
                  </a:solidFill>
                  <a:latin typeface="Times New Roman"/>
                  <a:ea typeface="Times New Roman"/>
                  <a:cs typeface="Times New Roman"/>
                </a:rPr>
                <a:t>Anomaly detection</a:t>
              </a:r>
            </a:p>
          </p:txBody>
        </p:sp>
        <p:sp>
          <p:nvSpPr>
            <p:cNvPr id="11" name="">
              <a:extLst xmlns:a="http://schemas.openxmlformats.org/drawingml/2006/main">
                <a:ext uri="{FF2B5EF4-FFF2-40B4-BE49-F238E27FC236}">
                  <a16:creationId xmlns:a16="http://schemas.microsoft.com/office/drawing/2014/main" id="{6FC3EB7E-3A1A-413A-BC70-E75EA23C7C3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210300" y="2876550"/>
              <a:ext cx="2057400" cy="619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score candidate events</a:t>
              </a:r>
            </a:p>
          </p:txBody>
        </p:sp>
        <p:sp>
          <p:nvSpPr>
            <p:cNvPr id="12" name="">
              <a:extLst xmlns:a="http://schemas.openxmlformats.org/drawingml/2006/main">
                <a:ext uri="{FF2B5EF4-FFF2-40B4-BE49-F238E27FC236}">
                  <a16:creationId xmlns:a16="http://schemas.microsoft.com/office/drawing/2014/main" id="{95466483-917A-4E50-A464-756828DAEB1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858250" y="2476500"/>
              <a:ext cx="2286000" cy="1095375"/>
            </a:xfrm>
            <a:prstGeom xmlns:a="http://schemas.openxmlformats.org/drawingml/2006/main" prst="roundRect">
              <a:avLst>
                <a:gd name="adj" fmla="val 6957"/>
              </a:avLst>
            </a:prstGeom>
            <a:solidFill xmlns:a="http://schemas.openxmlformats.org/drawingml/2006/main">
              <a:srgbClr val="F3E2DE"/>
            </a:solidFill>
            <a:ln xmlns:a="http://schemas.openxmlformats.org/drawingml/2006/main" w="13335">
              <a:solidFill>
                <a:srgbClr val="B86659"/>
              </a:solidFill>
              <a:prstDash val="solid"/>
            </a:ln>
          </p:spPr>
        </p:sp>
        <p:sp>
          <p:nvSpPr>
            <p:cNvPr id="13" name="">
              <a:extLst xmlns:a="http://schemas.openxmlformats.org/drawingml/2006/main">
                <a:ext uri="{FF2B5EF4-FFF2-40B4-BE49-F238E27FC236}">
                  <a16:creationId xmlns:a16="http://schemas.microsoft.com/office/drawing/2014/main" id="{B63BFA5D-1406-4249-B41B-BB446F7D08B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953500" y="2571750"/>
              <a:ext cx="20955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B86659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B86659"/>
                  </a:solidFill>
                  <a:latin typeface="Times New Roman"/>
                  <a:ea typeface="Times New Roman"/>
                  <a:cs typeface="Times New Roman"/>
                </a:rPr>
                <a:t>Diagnosis</a:t>
              </a:r>
            </a:p>
          </p:txBody>
        </p:sp>
        <p:sp>
          <p:nvSpPr>
            <p:cNvPr id="14" name="">
              <a:extLst xmlns:a="http://schemas.openxmlformats.org/drawingml/2006/main">
                <a:ext uri="{FF2B5EF4-FFF2-40B4-BE49-F238E27FC236}">
                  <a16:creationId xmlns:a16="http://schemas.microsoft.com/office/drawing/2014/main" id="{4A6DDA81-9187-41FC-9DE5-9B894D464A6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972550" y="2876550"/>
              <a:ext cx="2057400" cy="619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identify cause and confidence</a:t>
              </a:r>
            </a:p>
          </p:txBody>
        </p:sp>
        <p:cxnSp>
          <p:nvCxnSpPr>
            <p:cNvPr id="36" name=""/>
            <p:cNvCxnSpPr>
              <a:stCxn xmlns:a="http://schemas.openxmlformats.org/drawingml/2006/main" id="3" idx="3"/>
              <a:endCxn xmlns:a="http://schemas.openxmlformats.org/drawingml/2006/main" id="6" idx="1"/>
            </p:cNvCxnSpPr>
            <p:nvPr/>
          </p:nvCxnSpPr>
          <p:spPr>
            <a:xfrm xmlns:a="http://schemas.openxmlformats.org/drawingml/2006/main">
              <a:off x="2857500" y="3024188"/>
              <a:ext cx="476250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438B86"/>
              </a:solidFill>
              <a:prstDash val="solid"/>
              <a:headEnd type="arrow" w="sm" len="sm"/>
            </a:ln>
          </p:spPr>
        </p:cxnSp>
        <p:cxnSp>
          <p:nvCxnSpPr>
            <p:cNvPr id="37" name=""/>
            <p:cNvCxnSpPr>
              <a:stCxn xmlns:a="http://schemas.openxmlformats.org/drawingml/2006/main" id="6" idx="3"/>
              <a:endCxn xmlns:a="http://schemas.openxmlformats.org/drawingml/2006/main" id="9" idx="1"/>
            </p:cNvCxnSpPr>
            <p:nvPr/>
          </p:nvCxnSpPr>
          <p:spPr>
            <a:xfrm xmlns:a="http://schemas.openxmlformats.org/drawingml/2006/main">
              <a:off x="5619750" y="3024188"/>
              <a:ext cx="476250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438B86"/>
              </a:solidFill>
              <a:prstDash val="solid"/>
              <a:headEnd type="arrow" w="sm" len="sm"/>
            </a:ln>
          </p:spPr>
        </p:cxnSp>
        <p:cxnSp>
          <p:nvCxnSpPr>
            <p:cNvPr id="38" name=""/>
            <p:cNvCxnSpPr>
              <a:stCxn xmlns:a="http://schemas.openxmlformats.org/drawingml/2006/main" id="9" idx="3"/>
              <a:endCxn xmlns:a="http://schemas.openxmlformats.org/drawingml/2006/main" id="12" idx="1"/>
            </p:cNvCxnSpPr>
            <p:nvPr/>
          </p:nvCxnSpPr>
          <p:spPr>
            <a:xfrm xmlns:a="http://schemas.openxmlformats.org/drawingml/2006/main">
              <a:off x="8382000" y="3024188"/>
              <a:ext cx="476250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B77F2B"/>
              </a:solidFill>
              <a:prstDash val="solid"/>
              <a:headEnd type="arrow" w="sm" len="sm"/>
            </a:ln>
          </p:spPr>
        </p:cxnSp>
        <p:sp>
          <p:nvSpPr>
            <p:cNvPr id="18" name="">
              <a:extLst xmlns:a="http://schemas.openxmlformats.org/drawingml/2006/main">
                <a:ext uri="{FF2B5EF4-FFF2-40B4-BE49-F238E27FC236}">
                  <a16:creationId xmlns:a16="http://schemas.microsoft.com/office/drawing/2014/main" id="{5E1C884F-607C-4037-AC69-D0F07BFFAFE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238250" y="1428750"/>
              <a:ext cx="9715500" cy="571500"/>
            </a:xfrm>
            <a:prstGeom xmlns:a="http://schemas.openxmlformats.org/drawingml/2006/main" prst="roundRect">
              <a:avLst>
                <a:gd name="adj" fmla="val 13333"/>
              </a:avLst>
            </a:prstGeom>
            <a:solidFill xmlns:a="http://schemas.openxmlformats.org/drawingml/2006/main">
              <a:srgbClr val="E6E0F2"/>
            </a:solidFill>
            <a:ln xmlns:a="http://schemas.openxmlformats.org/drawingml/2006/main" w="11430">
              <a:solidFill>
                <a:srgbClr val="78639F"/>
              </a:solidFill>
              <a:prstDash val="dash"/>
            </a:ln>
          </p:spPr>
        </p:sp>
        <p:sp>
          <p:nvSpPr>
            <p:cNvPr id="19" name="">
              <a:extLst xmlns:a="http://schemas.openxmlformats.org/drawingml/2006/main">
                <a:ext uri="{FF2B5EF4-FFF2-40B4-BE49-F238E27FC236}">
                  <a16:creationId xmlns:a16="http://schemas.microsoft.com/office/drawing/2014/main" id="{57394A6E-ABF2-424C-ABF5-BE732626531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428750" y="1543050"/>
              <a:ext cx="9334500" cy="2857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00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00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rPr>
                <a:t>training and feedback update the detector, diagnostic tools, and review policy</a:t>
              </a:r>
            </a:p>
          </p:txBody>
        </p:sp>
        <p:sp>
          <p:nvSpPr>
            <p:cNvPr id="20" name="">
              <a:extLst xmlns:a="http://schemas.openxmlformats.org/drawingml/2006/main">
                <a:ext uri="{FF2B5EF4-FFF2-40B4-BE49-F238E27FC236}">
                  <a16:creationId xmlns:a16="http://schemas.microsoft.com/office/drawing/2014/main" id="{398109DF-428A-4E7F-986E-C00E3605E2F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619250" y="4333875"/>
              <a:ext cx="8572500" cy="666750"/>
            </a:xfrm>
            <a:prstGeom xmlns:a="http://schemas.openxmlformats.org/drawingml/2006/main" prst="roundRect">
              <a:avLst>
                <a:gd name="adj" fmla="val 11429"/>
              </a:avLst>
            </a:prstGeom>
            <a:solidFill xmlns:a="http://schemas.openxmlformats.org/drawingml/2006/main">
              <a:srgbClr val="FFFFFF"/>
            </a:solidFill>
            <a:ln xmlns:a="http://schemas.openxmlformats.org/drawingml/2006/main" w="12383">
              <a:solidFill>
                <a:srgbClr val="24324A"/>
              </a:solidFill>
              <a:prstDash val="solid"/>
            </a:ln>
          </p:spPr>
        </p:sp>
        <p:sp>
          <p:nvSpPr>
            <p:cNvPr id="21" name="">
              <a:extLst xmlns:a="http://schemas.openxmlformats.org/drawingml/2006/main">
                <a:ext uri="{FF2B5EF4-FFF2-40B4-BE49-F238E27FC236}">
                  <a16:creationId xmlns:a16="http://schemas.microsoft.com/office/drawing/2014/main" id="{026714D6-96D0-4861-89A8-AF1ED7792FA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1857375" y="4476750"/>
              <a:ext cx="8096250" cy="238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050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050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toolkit: time-series memory · numerical diagnostics · event labels · evaluator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160981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38" name="group-remaining-components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20" name="">
              <a:extLst xmlns:a="http://schemas.openxmlformats.org/drawingml/2006/main">
                <a:ext uri="{FF2B5EF4-FFF2-40B4-BE49-F238E27FC236}">
                  <a16:creationId xmlns:a16="http://schemas.microsoft.com/office/drawing/2014/main" id="{B42221A5-52D1-4464-B664-75DF6061329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76250" y="228600"/>
              <a:ext cx="11239500" cy="3810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2400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2400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A time-series-native runtime</a:t>
              </a:r>
            </a:p>
          </p:txBody>
        </p:sp>
        <p:sp>
          <p:nvSpPr>
            <p:cNvPr id="2" name="">
              <a:extLst xmlns:a="http://schemas.openxmlformats.org/drawingml/2006/main">
                <a:ext uri="{FF2B5EF4-FFF2-40B4-BE49-F238E27FC236}">
                  <a16:creationId xmlns:a16="http://schemas.microsoft.com/office/drawing/2014/main" id="{C05A0255-BD1F-4545-89D6-2B4BF4E20D8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76250" y="647700"/>
              <a:ext cx="11239500" cy="238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125" b="0" i="1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125" b="0" i="1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rPr>
                <a:t>Numerical execution, capability evolution, and multimodal memory remain connected through auditable trajectories.</a:t>
              </a:r>
            </a:p>
          </p:txBody>
        </p:sp>
        <p:sp>
          <p:nvSpPr>
            <p:cNvPr id="3" name="">
              <a:extLst xmlns:a="http://schemas.openxmlformats.org/drawingml/2006/main">
                <a:ext uri="{FF2B5EF4-FFF2-40B4-BE49-F238E27FC236}">
                  <a16:creationId xmlns:a16="http://schemas.microsoft.com/office/drawing/2014/main" id="{DDE6C56C-8087-402F-BCF7-BE7676D99D9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571500" y="2476500"/>
              <a:ext cx="2095500" cy="1143000"/>
            </a:xfrm>
            <a:prstGeom xmlns:a="http://schemas.openxmlformats.org/drawingml/2006/main" prst="roundRect">
              <a:avLst>
                <a:gd name="adj" fmla="val 6667"/>
              </a:avLst>
            </a:prstGeom>
            <a:solidFill xmlns:a="http://schemas.openxmlformats.org/drawingml/2006/main">
              <a:srgbClr val="D9EEF0"/>
            </a:solidFill>
            <a:ln xmlns:a="http://schemas.openxmlformats.org/drawingml/2006/main" w="13335">
              <a:solidFill>
                <a:srgbClr val="438B86"/>
              </a:solidFill>
              <a:prstDash val="solid"/>
            </a:ln>
          </p:spPr>
        </p:sp>
        <p:sp>
          <p:nvSpPr>
            <p:cNvPr id="4" name="">
              <a:extLst xmlns:a="http://schemas.openxmlformats.org/drawingml/2006/main">
                <a:ext uri="{FF2B5EF4-FFF2-40B4-BE49-F238E27FC236}">
                  <a16:creationId xmlns:a16="http://schemas.microsoft.com/office/drawing/2014/main" id="{050B5430-9CEC-4EBC-908C-7903E7FFE01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66750" y="2571750"/>
              <a:ext cx="19050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Contextual series</a:t>
              </a:r>
            </a:p>
          </p:txBody>
        </p:sp>
        <p:sp>
          <p:nvSpPr>
            <p:cNvPr id="5" name="">
              <a:extLst xmlns:a="http://schemas.openxmlformats.org/drawingml/2006/main">
                <a:ext uri="{FF2B5EF4-FFF2-40B4-BE49-F238E27FC236}">
                  <a16:creationId xmlns:a16="http://schemas.microsoft.com/office/drawing/2014/main" id="{D9B5610A-8724-4FA3-9B48-E51D303661C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85800" y="2876550"/>
              <a:ext cx="1866900" cy="6667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values, events, metadata</a:t>
              </a:r>
            </a:p>
          </p:txBody>
        </p:sp>
        <p:sp>
          <p:nvSpPr>
            <p:cNvPr id="6" name="">
              <a:extLst xmlns:a="http://schemas.openxmlformats.org/drawingml/2006/main">
                <a:ext uri="{FF2B5EF4-FFF2-40B4-BE49-F238E27FC236}">
                  <a16:creationId xmlns:a16="http://schemas.microsoft.com/office/drawing/2014/main" id="{38C23684-6FC7-4FDA-A6AC-0406924E52C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429000" y="2190750"/>
              <a:ext cx="2381250" cy="1619250"/>
            </a:xfrm>
            <a:prstGeom xmlns:a="http://schemas.openxmlformats.org/drawingml/2006/main" prst="roundRect">
              <a:avLst>
                <a:gd name="adj" fmla="val 4706"/>
              </a:avLst>
            </a:prstGeom>
            <a:solidFill xmlns:a="http://schemas.openxmlformats.org/drawingml/2006/main">
              <a:srgbClr val="DDEEDC"/>
            </a:solidFill>
            <a:ln xmlns:a="http://schemas.openxmlformats.org/drawingml/2006/main" w="13335">
              <a:solidFill>
                <a:srgbClr val="438B86"/>
              </a:solidFill>
              <a:prstDash val="solid"/>
            </a:ln>
          </p:spPr>
        </p:sp>
        <p:sp>
          <p:nvSpPr>
            <p:cNvPr id="7" name="">
              <a:extLst xmlns:a="http://schemas.openxmlformats.org/drawingml/2006/main">
                <a:ext uri="{FF2B5EF4-FFF2-40B4-BE49-F238E27FC236}">
                  <a16:creationId xmlns:a16="http://schemas.microsoft.com/office/drawing/2014/main" id="{4A743DFF-DD5B-415B-B46A-B1AFF6AF6FD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524250" y="2286000"/>
              <a:ext cx="21907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Time-series runtime</a:t>
              </a:r>
            </a:p>
          </p:txBody>
        </p:sp>
        <p:sp>
          <p:nvSpPr>
            <p:cNvPr id="8" name="">
              <a:extLst xmlns:a="http://schemas.openxmlformats.org/drawingml/2006/main">
                <a:ext uri="{FF2B5EF4-FFF2-40B4-BE49-F238E27FC236}">
                  <a16:creationId xmlns:a16="http://schemas.microsoft.com/office/drawing/2014/main" id="{9E542B28-3BF9-4A70-A268-19F8634DC54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543300" y="2590800"/>
              <a:ext cx="2152650" cy="11430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server-side numerical execution</a:t>
              </a:r>
            </a:p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state and tools</a:t>
              </a:r>
            </a:p>
          </p:txBody>
        </p:sp>
        <p:sp>
          <p:nvSpPr>
            <p:cNvPr id="9" name="">
              <a:extLst xmlns:a="http://schemas.openxmlformats.org/drawingml/2006/main">
                <a:ext uri="{FF2B5EF4-FFF2-40B4-BE49-F238E27FC236}">
                  <a16:creationId xmlns:a16="http://schemas.microsoft.com/office/drawing/2014/main" id="{2FC4B636-9E0C-48A4-A7EC-127537B18DD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619875" y="2190750"/>
              <a:ext cx="2381250" cy="1619250"/>
            </a:xfrm>
            <a:prstGeom xmlns:a="http://schemas.openxmlformats.org/drawingml/2006/main" prst="roundRect">
              <a:avLst>
                <a:gd name="adj" fmla="val 4706"/>
              </a:avLst>
            </a:prstGeom>
            <a:solidFill xmlns:a="http://schemas.openxmlformats.org/drawingml/2006/main">
              <a:srgbClr val="F4F0C9"/>
            </a:solidFill>
            <a:ln xmlns:a="http://schemas.openxmlformats.org/drawingml/2006/main" w="13335">
              <a:solidFill>
                <a:srgbClr val="B77F2B"/>
              </a:solidFill>
              <a:prstDash val="solid"/>
            </a:ln>
          </p:spPr>
        </p:sp>
        <p:sp>
          <p:nvSpPr>
            <p:cNvPr id="10" name="">
              <a:extLst xmlns:a="http://schemas.openxmlformats.org/drawingml/2006/main">
                <a:ext uri="{FF2B5EF4-FFF2-40B4-BE49-F238E27FC236}">
                  <a16:creationId xmlns:a16="http://schemas.microsoft.com/office/drawing/2014/main" id="{273D5E8C-DC8E-4067-9C2B-1359D4CA0F8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715125" y="2286000"/>
              <a:ext cx="21907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B77F2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B77F2B"/>
                  </a:solidFill>
                  <a:latin typeface="Times New Roman"/>
                  <a:ea typeface="Times New Roman"/>
                  <a:cs typeface="Times New Roman"/>
                </a:rPr>
                <a:t>Capability evolution</a:t>
              </a:r>
            </a:p>
          </p:txBody>
        </p:sp>
        <p:sp>
          <p:nvSpPr>
            <p:cNvPr id="11" name="">
              <a:extLst xmlns:a="http://schemas.openxmlformats.org/drawingml/2006/main">
                <a:ext uri="{FF2B5EF4-FFF2-40B4-BE49-F238E27FC236}">
                  <a16:creationId xmlns:a16="http://schemas.microsoft.com/office/drawing/2014/main" id="{64712E49-F9ED-4120-901F-97BACA98D59E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734175" y="2590800"/>
              <a:ext cx="2152650" cy="11430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evaluate, update, retain, release</a:t>
              </a:r>
            </a:p>
          </p:txBody>
        </p:sp>
        <p:sp>
          <p:nvSpPr>
            <p:cNvPr id="12" name="">
              <a:extLst xmlns:a="http://schemas.openxmlformats.org/drawingml/2006/main">
                <a:ext uri="{FF2B5EF4-FFF2-40B4-BE49-F238E27FC236}">
                  <a16:creationId xmlns:a16="http://schemas.microsoft.com/office/drawing/2014/main" id="{0370B626-E7B8-4A25-B819-4B8656059D7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810750" y="2476500"/>
              <a:ext cx="1809750" cy="1143000"/>
            </a:xfrm>
            <a:prstGeom xmlns:a="http://schemas.openxmlformats.org/drawingml/2006/main" prst="roundRect">
              <a:avLst>
                <a:gd name="adj" fmla="val 6667"/>
              </a:avLst>
            </a:prstGeom>
            <a:solidFill xmlns:a="http://schemas.openxmlformats.org/drawingml/2006/main">
              <a:srgbClr val="E6E0F2"/>
            </a:solidFill>
            <a:ln xmlns:a="http://schemas.openxmlformats.org/drawingml/2006/main" w="13335">
              <a:solidFill>
                <a:srgbClr val="78639F"/>
              </a:solidFill>
              <a:prstDash val="solid"/>
            </a:ln>
          </p:spPr>
        </p:sp>
        <p:sp>
          <p:nvSpPr>
            <p:cNvPr id="13" name="">
              <a:extLst xmlns:a="http://schemas.openxmlformats.org/drawingml/2006/main">
                <a:ext uri="{FF2B5EF4-FFF2-40B4-BE49-F238E27FC236}">
                  <a16:creationId xmlns:a16="http://schemas.microsoft.com/office/drawing/2014/main" id="{124130E2-27AD-41F1-909A-9F613BC5DA1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906000" y="2571750"/>
              <a:ext cx="16192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rPr>
                <a:t>Multimodal memory</a:t>
              </a:r>
            </a:p>
          </p:txBody>
        </p:sp>
        <p:sp>
          <p:nvSpPr>
            <p:cNvPr id="14" name="">
              <a:extLst xmlns:a="http://schemas.openxmlformats.org/drawingml/2006/main">
                <a:ext uri="{FF2B5EF4-FFF2-40B4-BE49-F238E27FC236}">
                  <a16:creationId xmlns:a16="http://schemas.microsoft.com/office/drawing/2014/main" id="{79F19876-61CE-40BC-8298-A01C8F2EEE3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925050" y="2876550"/>
              <a:ext cx="1581150" cy="6667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retrieve and reuse</a:t>
              </a:r>
            </a:p>
          </p:txBody>
        </p:sp>
        <p:cxnSp>
          <p:nvCxnSpPr>
            <p:cNvPr id="34" name=""/>
            <p:cNvCxnSpPr>
              <a:stCxn xmlns:a="http://schemas.openxmlformats.org/drawingml/2006/main" id="3" idx="3"/>
              <a:endCxn xmlns:a="http://schemas.openxmlformats.org/drawingml/2006/main" id="6" idx="1"/>
            </p:cNvCxnSpPr>
            <p:nvPr/>
          </p:nvCxnSpPr>
          <p:spPr>
            <a:xfrm xmlns:a="http://schemas.openxmlformats.org/drawingml/2006/main" flipV="1">
              <a:off x="2667000" y="3000375"/>
              <a:ext cx="762000" cy="47625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438B86"/>
              </a:solidFill>
              <a:prstDash val="solid"/>
              <a:headEnd type="arrow" w="sm" len="sm"/>
            </a:ln>
          </p:spPr>
        </p:cxnSp>
        <p:cxnSp>
          <p:nvCxnSpPr>
            <p:cNvPr id="35" name=""/>
            <p:cNvCxnSpPr>
              <a:stCxn xmlns:a="http://schemas.openxmlformats.org/drawingml/2006/main" id="6" idx="3"/>
              <a:endCxn xmlns:a="http://schemas.openxmlformats.org/drawingml/2006/main" id="9" idx="1"/>
            </p:cNvCxnSpPr>
            <p:nvPr/>
          </p:nvCxnSpPr>
          <p:spPr>
            <a:xfrm xmlns:a="http://schemas.openxmlformats.org/drawingml/2006/main">
              <a:off x="5810250" y="3000375"/>
              <a:ext cx="809625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B77F2B"/>
              </a:solidFill>
              <a:prstDash val="solid"/>
              <a:headEnd type="arrow" w="sm" len="sm"/>
            </a:ln>
          </p:spPr>
        </p:cxnSp>
        <p:cxnSp>
          <p:nvCxnSpPr>
            <p:cNvPr id="36" name=""/>
            <p:cNvCxnSpPr>
              <a:stCxn xmlns:a="http://schemas.openxmlformats.org/drawingml/2006/main" id="9" idx="3"/>
              <a:endCxn xmlns:a="http://schemas.openxmlformats.org/drawingml/2006/main" id="12" idx="1"/>
            </p:cNvCxnSpPr>
            <p:nvPr/>
          </p:nvCxnSpPr>
          <p:spPr>
            <a:xfrm xmlns:a="http://schemas.openxmlformats.org/drawingml/2006/main">
              <a:off x="9001125" y="3000375"/>
              <a:ext cx="809625" cy="47625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78639F"/>
              </a:solidFill>
              <a:prstDash val="solid"/>
              <a:headEnd type="arrow" w="sm" len="sm"/>
            </a:ln>
          </p:spPr>
        </p:cxnSp>
        <p:cxnSp>
          <p:nvCxnSpPr>
            <p:cNvPr id="37" name=""/>
            <p:cNvCxnSpPr>
              <a:stCxn xmlns:a="http://schemas.openxmlformats.org/drawingml/2006/main" id="12" idx="3"/>
              <a:endCxn xmlns:a="http://schemas.openxmlformats.org/drawingml/2006/main" id="6" idx="1"/>
            </p:cNvCxnSpPr>
            <p:nvPr/>
          </p:nvCxnSpPr>
          <p:spPr>
            <a:xfrm xmlns:a="http://schemas.openxmlformats.org/drawingml/2006/main" flipH="1" flipV="1">
              <a:off x="3429000" y="3000375"/>
              <a:ext cx="8191500" cy="47625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78639F"/>
              </a:solidFill>
              <a:prstDash val="dash"/>
              <a:headEnd type="arrow" w="sm" len="sm"/>
            </a:ln>
          </p:spPr>
        </p:cxnSp>
        <p:sp>
          <p:nvSpPr>
            <p:cNvPr id="19" name="">
              <a:extLst xmlns:a="http://schemas.openxmlformats.org/drawingml/2006/main">
                <a:ext uri="{FF2B5EF4-FFF2-40B4-BE49-F238E27FC236}">
                  <a16:creationId xmlns:a16="http://schemas.microsoft.com/office/drawing/2014/main" id="{369A839F-4E74-4DFB-A533-305328E20D3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048000" y="1428750"/>
              <a:ext cx="6191250" cy="3048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350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350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auditable trajectories close the loop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3167505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44" name="group-remaining-components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23" name="">
              <a:extLst xmlns:a="http://schemas.openxmlformats.org/drawingml/2006/main">
                <a:ext uri="{FF2B5EF4-FFF2-40B4-BE49-F238E27FC236}">
                  <a16:creationId xmlns:a16="http://schemas.microsoft.com/office/drawing/2014/main" id="{F5EC47B4-4A9D-4ECD-A428-5673B763EB8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76250" y="228600"/>
              <a:ext cx="11239500" cy="3810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2400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2400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Benchmark infrastructure for executable agents</a:t>
              </a:r>
            </a:p>
          </p:txBody>
        </p:sp>
        <p:sp>
          <p:nvSpPr>
            <p:cNvPr id="2" name="">
              <a:extLst xmlns:a="http://schemas.openxmlformats.org/drawingml/2006/main">
                <a:ext uri="{FF2B5EF4-FFF2-40B4-BE49-F238E27FC236}">
                  <a16:creationId xmlns:a16="http://schemas.microsoft.com/office/drawing/2014/main" id="{84E26663-07AA-4296-B0D4-241185917A7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76250" y="647700"/>
              <a:ext cx="11239500" cy="238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125" b="0" i="1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125" b="0" i="1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rPr>
                <a:t>A benchmark combines heterogeneous sources, ML-engineering challenges, skill simulators, graders, and multimodal outputs.</a:t>
              </a:r>
            </a:p>
          </p:txBody>
        </p:sp>
        <p:sp>
          <p:nvSpPr>
            <p:cNvPr id="3" name="">
              <a:extLst xmlns:a="http://schemas.openxmlformats.org/drawingml/2006/main">
                <a:ext uri="{FF2B5EF4-FFF2-40B4-BE49-F238E27FC236}">
                  <a16:creationId xmlns:a16="http://schemas.microsoft.com/office/drawing/2014/main" id="{F574130A-20D4-4D6E-9882-66FCC5B674C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571500" y="2381250"/>
              <a:ext cx="2095500" cy="1333500"/>
            </a:xfrm>
            <a:prstGeom xmlns:a="http://schemas.openxmlformats.org/drawingml/2006/main" prst="roundRect">
              <a:avLst>
                <a:gd name="adj" fmla="val 5714"/>
              </a:avLst>
            </a:prstGeom>
            <a:solidFill xmlns:a="http://schemas.openxmlformats.org/drawingml/2006/main">
              <a:srgbClr val="D9EEF0"/>
            </a:solidFill>
            <a:ln xmlns:a="http://schemas.openxmlformats.org/drawingml/2006/main" w="13335">
              <a:solidFill>
                <a:srgbClr val="438B86"/>
              </a:solidFill>
              <a:prstDash val="solid"/>
            </a:ln>
          </p:spPr>
        </p:sp>
        <p:sp>
          <p:nvSpPr>
            <p:cNvPr id="4" name="">
              <a:extLst xmlns:a="http://schemas.openxmlformats.org/drawingml/2006/main">
                <a:ext uri="{FF2B5EF4-FFF2-40B4-BE49-F238E27FC236}">
                  <a16:creationId xmlns:a16="http://schemas.microsoft.com/office/drawing/2014/main" id="{F5304BDE-7D01-4943-9B2F-CE0C670E9EB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66750" y="2476500"/>
              <a:ext cx="19050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Multiple sources</a:t>
              </a:r>
            </a:p>
          </p:txBody>
        </p:sp>
        <p:sp>
          <p:nvSpPr>
            <p:cNvPr id="5" name="">
              <a:extLst xmlns:a="http://schemas.openxmlformats.org/drawingml/2006/main">
                <a:ext uri="{FF2B5EF4-FFF2-40B4-BE49-F238E27FC236}">
                  <a16:creationId xmlns:a16="http://schemas.microsoft.com/office/drawing/2014/main" id="{8C4AC166-2A35-4526-A9C0-29537C47F87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85800" y="2781300"/>
              <a:ext cx="1866900" cy="8572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Kaggle · GitHub · data resources</a:t>
              </a:r>
            </a:p>
          </p:txBody>
        </p:sp>
        <p:sp>
          <p:nvSpPr>
            <p:cNvPr id="6" name="">
              <a:extLst xmlns:a="http://schemas.openxmlformats.org/drawingml/2006/main">
                <a:ext uri="{FF2B5EF4-FFF2-40B4-BE49-F238E27FC236}">
                  <a16:creationId xmlns:a16="http://schemas.microsoft.com/office/drawing/2014/main" id="{6AF9A6BC-971E-483B-960E-B6A6601AF44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429000" y="2095500"/>
              <a:ext cx="2286000" cy="1905000"/>
            </a:xfrm>
            <a:prstGeom xmlns:a="http://schemas.openxmlformats.org/drawingml/2006/main" prst="roundRect">
              <a:avLst>
                <a:gd name="adj" fmla="val 4000"/>
              </a:avLst>
            </a:prstGeom>
            <a:solidFill xmlns:a="http://schemas.openxmlformats.org/drawingml/2006/main">
              <a:srgbClr val="E6E0F2"/>
            </a:solidFill>
            <a:ln xmlns:a="http://schemas.openxmlformats.org/drawingml/2006/main" w="13335">
              <a:solidFill>
                <a:srgbClr val="78639F"/>
              </a:solidFill>
              <a:prstDash val="solid"/>
            </a:ln>
          </p:spPr>
        </p:sp>
        <p:sp>
          <p:nvSpPr>
            <p:cNvPr id="7" name="">
              <a:extLst xmlns:a="http://schemas.openxmlformats.org/drawingml/2006/main">
                <a:ext uri="{FF2B5EF4-FFF2-40B4-BE49-F238E27FC236}">
                  <a16:creationId xmlns:a16="http://schemas.microsoft.com/office/drawing/2014/main" id="{6881BBF4-3E10-4C62-AE24-DE8314F3FEF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524250" y="2190750"/>
              <a:ext cx="20955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rPr>
                <a:t>Challenges</a:t>
              </a:r>
            </a:p>
          </p:txBody>
        </p:sp>
        <p:sp>
          <p:nvSpPr>
            <p:cNvPr id="8" name="">
              <a:extLst xmlns:a="http://schemas.openxmlformats.org/drawingml/2006/main">
                <a:ext uri="{FF2B5EF4-FFF2-40B4-BE49-F238E27FC236}">
                  <a16:creationId xmlns:a16="http://schemas.microsoft.com/office/drawing/2014/main" id="{9DC1E4D8-9DB7-441F-86FA-DE39CD673F1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3543300" y="2495550"/>
              <a:ext cx="2057400" cy="14287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descriptions · resources</a:t>
              </a:r>
            </a:p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skill simulators · code improvement</a:t>
              </a:r>
            </a:p>
          </p:txBody>
        </p:sp>
        <p:sp>
          <p:nvSpPr>
            <p:cNvPr id="9" name="">
              <a:extLst xmlns:a="http://schemas.openxmlformats.org/drawingml/2006/main">
                <a:ext uri="{FF2B5EF4-FFF2-40B4-BE49-F238E27FC236}">
                  <a16:creationId xmlns:a16="http://schemas.microsoft.com/office/drawing/2014/main" id="{69433461-C210-4C39-8214-9521BB59B26C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477000" y="2381250"/>
              <a:ext cx="1905000" cy="1333500"/>
            </a:xfrm>
            <a:prstGeom xmlns:a="http://schemas.openxmlformats.org/drawingml/2006/main" prst="roundRect">
              <a:avLst>
                <a:gd name="adj" fmla="val 5714"/>
              </a:avLst>
            </a:prstGeom>
            <a:solidFill xmlns:a="http://schemas.openxmlformats.org/drawingml/2006/main">
              <a:srgbClr val="F4F0C9"/>
            </a:solidFill>
            <a:ln xmlns:a="http://schemas.openxmlformats.org/drawingml/2006/main" w="13335">
              <a:solidFill>
                <a:srgbClr val="B77F2B"/>
              </a:solidFill>
              <a:prstDash val="solid"/>
            </a:ln>
          </p:spPr>
        </p:sp>
        <p:sp>
          <p:nvSpPr>
            <p:cNvPr id="10" name="">
              <a:extLst xmlns:a="http://schemas.openxmlformats.org/drawingml/2006/main">
                <a:ext uri="{FF2B5EF4-FFF2-40B4-BE49-F238E27FC236}">
                  <a16:creationId xmlns:a16="http://schemas.microsoft.com/office/drawing/2014/main" id="{13A6FE5E-953F-4DFD-9C95-6B9248D2C0E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572250" y="2476500"/>
              <a:ext cx="17145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B77F2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B77F2B"/>
                  </a:solidFill>
                  <a:latin typeface="Times New Roman"/>
                  <a:ea typeface="Times New Roman"/>
                  <a:cs typeface="Times New Roman"/>
                </a:rPr>
                <a:t>Agent-agnostic design</a:t>
              </a:r>
            </a:p>
          </p:txBody>
        </p:sp>
        <p:sp>
          <p:nvSpPr>
            <p:cNvPr id="11" name="">
              <a:extLst xmlns:a="http://schemas.openxmlformats.org/drawingml/2006/main">
                <a:ext uri="{FF2B5EF4-FFF2-40B4-BE49-F238E27FC236}">
                  <a16:creationId xmlns:a16="http://schemas.microsoft.com/office/drawing/2014/main" id="{DB90A40E-124E-4ED6-AC2D-F9B72B7A45F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591300" y="2781300"/>
              <a:ext cx="1676400" cy="85725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same contract for different Agents</a:t>
              </a:r>
            </a:p>
          </p:txBody>
        </p:sp>
        <p:sp>
          <p:nvSpPr>
            <p:cNvPr id="12" name="">
              <a:extLst xmlns:a="http://schemas.openxmlformats.org/drawingml/2006/main">
                <a:ext uri="{FF2B5EF4-FFF2-40B4-BE49-F238E27FC236}">
                  <a16:creationId xmlns:a16="http://schemas.microsoft.com/office/drawing/2014/main" id="{8EF32853-921A-4B23-B214-F38885236FB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144000" y="1714500"/>
              <a:ext cx="2095500" cy="857250"/>
            </a:xfrm>
            <a:prstGeom xmlns:a="http://schemas.openxmlformats.org/drawingml/2006/main" prst="roundRect">
              <a:avLst>
                <a:gd name="adj" fmla="val 8889"/>
              </a:avLst>
            </a:prstGeom>
            <a:solidFill xmlns:a="http://schemas.openxmlformats.org/drawingml/2006/main">
              <a:srgbClr val="DDEEDC"/>
            </a:solidFill>
            <a:ln xmlns:a="http://schemas.openxmlformats.org/drawingml/2006/main" w="13335">
              <a:solidFill>
                <a:srgbClr val="438B86"/>
              </a:solidFill>
              <a:prstDash val="solid"/>
            </a:ln>
          </p:spPr>
        </p:sp>
        <p:sp>
          <p:nvSpPr>
            <p:cNvPr id="13" name="">
              <a:extLst xmlns:a="http://schemas.openxmlformats.org/drawingml/2006/main">
                <a:ext uri="{FF2B5EF4-FFF2-40B4-BE49-F238E27FC236}">
                  <a16:creationId xmlns:a16="http://schemas.microsoft.com/office/drawing/2014/main" id="{353F05DE-2C29-49DD-ADA4-4B143BC5D23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239250" y="1809750"/>
              <a:ext cx="19050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Quantitative grader</a:t>
              </a:r>
            </a:p>
          </p:txBody>
        </p:sp>
        <p:sp>
          <p:nvSpPr>
            <p:cNvPr id="14" name="">
              <a:extLst xmlns:a="http://schemas.openxmlformats.org/drawingml/2006/main">
                <a:ext uri="{FF2B5EF4-FFF2-40B4-BE49-F238E27FC236}">
                  <a16:creationId xmlns:a16="http://schemas.microsoft.com/office/drawing/2014/main" id="{3D581AD7-B877-44A9-840F-985F326EC6D6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258300" y="2114550"/>
              <a:ext cx="1866900" cy="3810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accuracy, error, runtime</a:t>
              </a:r>
            </a:p>
          </p:txBody>
        </p:sp>
        <p:sp>
          <p:nvSpPr>
            <p:cNvPr id="15" name="">
              <a:extLst xmlns:a="http://schemas.openxmlformats.org/drawingml/2006/main">
                <a:ext uri="{FF2B5EF4-FFF2-40B4-BE49-F238E27FC236}">
                  <a16:creationId xmlns:a16="http://schemas.microsoft.com/office/drawing/2014/main" id="{A94832F5-4559-4698-A150-D7705B38C0A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144000" y="3333750"/>
              <a:ext cx="2095500" cy="857250"/>
            </a:xfrm>
            <a:prstGeom xmlns:a="http://schemas.openxmlformats.org/drawingml/2006/main" prst="roundRect">
              <a:avLst>
                <a:gd name="adj" fmla="val 8889"/>
              </a:avLst>
            </a:prstGeom>
            <a:solidFill xmlns:a="http://schemas.openxmlformats.org/drawingml/2006/main">
              <a:srgbClr val="DDEEDC"/>
            </a:solidFill>
            <a:ln xmlns:a="http://schemas.openxmlformats.org/drawingml/2006/main" w="13335">
              <a:solidFill>
                <a:srgbClr val="438B86"/>
              </a:solidFill>
              <a:prstDash val="solid"/>
            </a:ln>
          </p:spPr>
        </p:sp>
        <p:sp>
          <p:nvSpPr>
            <p:cNvPr id="16" name="">
              <a:extLst xmlns:a="http://schemas.openxmlformats.org/drawingml/2006/main">
                <a:ext uri="{FF2B5EF4-FFF2-40B4-BE49-F238E27FC236}">
                  <a16:creationId xmlns:a16="http://schemas.microsoft.com/office/drawing/2014/main" id="{C7D61CD1-5291-4D46-8415-9255877B5A8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239250" y="3429000"/>
              <a:ext cx="19050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Qualitative grader</a:t>
              </a:r>
            </a:p>
          </p:txBody>
        </p:sp>
        <p:sp>
          <p:nvSpPr>
            <p:cNvPr id="17" name="">
              <a:extLst xmlns:a="http://schemas.openxmlformats.org/drawingml/2006/main">
                <a:ext uri="{FF2B5EF4-FFF2-40B4-BE49-F238E27FC236}">
                  <a16:creationId xmlns:a16="http://schemas.microsoft.com/office/drawing/2014/main" id="{554BE100-2B81-40A3-A7BE-ABC534D45701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258300" y="3733800"/>
              <a:ext cx="1866900" cy="3810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trace and artifact review</a:t>
              </a:r>
            </a:p>
          </p:txBody>
        </p:sp>
        <p:cxnSp>
          <p:nvCxnSpPr>
            <p:cNvPr id="40" name=""/>
            <p:cNvCxnSpPr>
              <a:stCxn xmlns:a="http://schemas.openxmlformats.org/drawingml/2006/main" id="3" idx="3"/>
              <a:endCxn xmlns:a="http://schemas.openxmlformats.org/drawingml/2006/main" id="6" idx="1"/>
            </p:cNvCxnSpPr>
            <p:nvPr/>
          </p:nvCxnSpPr>
          <p:spPr>
            <a:xfrm xmlns:a="http://schemas.openxmlformats.org/drawingml/2006/main">
              <a:off x="2667000" y="3048000"/>
              <a:ext cx="762000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438B86"/>
              </a:solidFill>
              <a:prstDash val="solid"/>
              <a:headEnd type="arrow" w="sm" len="sm"/>
            </a:ln>
          </p:spPr>
        </p:cxnSp>
        <p:cxnSp>
          <p:nvCxnSpPr>
            <p:cNvPr id="41" name=""/>
            <p:cNvCxnSpPr>
              <a:stCxn xmlns:a="http://schemas.openxmlformats.org/drawingml/2006/main" id="6" idx="3"/>
              <a:endCxn xmlns:a="http://schemas.openxmlformats.org/drawingml/2006/main" id="9" idx="1"/>
            </p:cNvCxnSpPr>
            <p:nvPr/>
          </p:nvCxnSpPr>
          <p:spPr>
            <a:xfrm xmlns:a="http://schemas.openxmlformats.org/drawingml/2006/main">
              <a:off x="5715000" y="3048000"/>
              <a:ext cx="762000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78639F"/>
              </a:solidFill>
              <a:prstDash val="solid"/>
              <a:headEnd type="arrow" w="sm" len="sm"/>
            </a:ln>
          </p:spPr>
        </p:cxnSp>
        <p:cxnSp>
          <p:nvCxnSpPr>
            <p:cNvPr id="42" name=""/>
            <p:cNvCxnSpPr>
              <a:stCxn xmlns:a="http://schemas.openxmlformats.org/drawingml/2006/main" id="9" idx="3"/>
              <a:endCxn xmlns:a="http://schemas.openxmlformats.org/drawingml/2006/main" id="12" idx="1"/>
            </p:cNvCxnSpPr>
            <p:nvPr/>
          </p:nvCxnSpPr>
          <p:spPr>
            <a:xfrm xmlns:a="http://schemas.openxmlformats.org/drawingml/2006/main" flipV="1">
              <a:off x="8382000" y="2143125"/>
              <a:ext cx="762000" cy="904875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B77F2B"/>
              </a:solidFill>
              <a:prstDash val="solid"/>
              <a:headEnd type="arrow" w="sm" len="sm"/>
            </a:ln>
          </p:spPr>
        </p:cxnSp>
        <p:cxnSp>
          <p:nvCxnSpPr>
            <p:cNvPr id="43" name=""/>
            <p:cNvCxnSpPr>
              <a:stCxn xmlns:a="http://schemas.openxmlformats.org/drawingml/2006/main" id="9" idx="3"/>
              <a:endCxn xmlns:a="http://schemas.openxmlformats.org/drawingml/2006/main" id="15" idx="1"/>
            </p:cNvCxnSpPr>
            <p:nvPr/>
          </p:nvCxnSpPr>
          <p:spPr>
            <a:xfrm xmlns:a="http://schemas.openxmlformats.org/drawingml/2006/main">
              <a:off x="8382000" y="3048000"/>
              <a:ext cx="762000" cy="714375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B77F2B"/>
              </a:solidFill>
              <a:prstDash val="solid"/>
              <a:headEnd type="arrow" w="sm" len="sm"/>
            </a:ln>
          </p:spPr>
        </p:cxnSp>
        <p:sp>
          <p:nvSpPr>
            <p:cNvPr id="22" name="">
              <a:extLst xmlns:a="http://schemas.openxmlformats.org/drawingml/2006/main">
                <a:ext uri="{FF2B5EF4-FFF2-40B4-BE49-F238E27FC236}">
                  <a16:creationId xmlns:a16="http://schemas.microsoft.com/office/drawing/2014/main" id="{5903D45B-F47A-434D-A8F3-EB89864C0E2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8810625" y="4762500"/>
              <a:ext cx="2667000" cy="3810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125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125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multimodal outputs</a:t>
              </a:r>
            </a:p>
            <a:p xmlns:a="http://schemas.openxmlformats.org/drawingml/2006/main">
              <a:pPr>
                <a:defRPr sz="1125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125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files · models · code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93595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46" name="group-remaining-components"/>
          <p:cNvGrpSpPr/>
          <p:nvPr/>
        </p:nvGrpSpPr>
        <p:grpSpPr>
          <ns1:xfrm xmlns:ns1="http://schemas.openxmlformats.org/drawingml/2006/main">
            <ns1:off x="0" y="0"/>
            <ns1:ext cx="15240000" cy="8572500"/>
            <ns1:chOff x="0" y="0"/>
            <ns1:chExt cx="15240000" cy="8572500"/>
          </ns1:xfrm>
        </p:grpSpPr>
        <p:sp>
          <p:nvSpPr>
            <p:cNvPr id="24" name="">
              <a:extLst xmlns:a="http://schemas.openxmlformats.org/drawingml/2006/main">
                <a:ext uri="{FF2B5EF4-FFF2-40B4-BE49-F238E27FC236}">
                  <a16:creationId xmlns:a16="http://schemas.microsoft.com/office/drawing/2014/main" id="{019FA390-60DD-4AAC-9B0D-0C96684DA1D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76250" y="228600"/>
              <a:ext cx="11239500" cy="3810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2400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2400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Tool-using temporal reasoning trace</a:t>
              </a:r>
            </a:p>
          </p:txBody>
        </p:sp>
        <p:sp>
          <p:nvSpPr>
            <p:cNvPr id="2" name="">
              <a:extLst xmlns:a="http://schemas.openxmlformats.org/drawingml/2006/main">
                <a:ext uri="{FF2B5EF4-FFF2-40B4-BE49-F238E27FC236}">
                  <a16:creationId xmlns:a16="http://schemas.microsoft.com/office/drawing/2014/main" id="{8DD48DBE-DFD4-43B2-9351-165019745B4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76250" y="647700"/>
              <a:ext cx="11239500" cy="238125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125" b="0" i="1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125" b="0" i="1">
                  <a:solidFill>
                    <a:srgbClr val="687386"/>
                  </a:solidFill>
                  <a:latin typeface="Times New Roman"/>
                  <a:ea typeface="Times New Roman"/>
                  <a:cs typeface="Times New Roman"/>
                </a:rPr>
                <a:t>A General Harness loop exposes evidence, tool calls, critique, and a verified answer.</a:t>
              </a:r>
            </a:p>
          </p:txBody>
        </p:sp>
        <p:sp>
          <p:nvSpPr>
            <p:cNvPr id="3" name="">
              <a:extLst xmlns:a="http://schemas.openxmlformats.org/drawingml/2006/main">
                <a:ext uri="{FF2B5EF4-FFF2-40B4-BE49-F238E27FC236}">
                  <a16:creationId xmlns:a16="http://schemas.microsoft.com/office/drawing/2014/main" id="{4A7265D3-90CC-4643-8F74-54D0FF08785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523875" y="2476500"/>
              <a:ext cx="1619250" cy="1047750"/>
            </a:xfrm>
            <a:prstGeom xmlns:a="http://schemas.openxmlformats.org/drawingml/2006/main" prst="roundRect">
              <a:avLst>
                <a:gd name="adj" fmla="val 7273"/>
              </a:avLst>
            </a:prstGeom>
            <a:solidFill xmlns:a="http://schemas.openxmlformats.org/drawingml/2006/main">
              <a:srgbClr val="D9EEF0"/>
            </a:solidFill>
            <a:ln xmlns:a="http://schemas.openxmlformats.org/drawingml/2006/main" w="13335">
              <a:solidFill>
                <a:srgbClr val="438B86"/>
              </a:solidFill>
              <a:prstDash val="solid"/>
            </a:ln>
          </p:spPr>
        </p:sp>
        <p:sp>
          <p:nvSpPr>
            <p:cNvPr id="4" name="">
              <a:extLst xmlns:a="http://schemas.openxmlformats.org/drawingml/2006/main">
                <a:ext uri="{FF2B5EF4-FFF2-40B4-BE49-F238E27FC236}">
                  <a16:creationId xmlns:a16="http://schemas.microsoft.com/office/drawing/2014/main" id="{198D9C73-7F0F-4189-81AE-774EFD1A434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19125" y="2571750"/>
              <a:ext cx="14287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Time-series data</a:t>
              </a:r>
            </a:p>
          </p:txBody>
        </p:sp>
        <p:sp>
          <p:nvSpPr>
            <p:cNvPr id="5" name="">
              <a:extLst xmlns:a="http://schemas.openxmlformats.org/drawingml/2006/main">
                <a:ext uri="{FF2B5EF4-FFF2-40B4-BE49-F238E27FC236}">
                  <a16:creationId xmlns:a16="http://schemas.microsoft.com/office/drawing/2014/main" id="{84DA0963-B5ED-4683-80C4-1605BA21207B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638175" y="2876550"/>
              <a:ext cx="1390650" cy="5715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observations</a:t>
              </a:r>
            </a:p>
          </p:txBody>
        </p:sp>
        <p:sp>
          <p:nvSpPr>
            <p:cNvPr id="6" name="">
              <a:extLst xmlns:a="http://schemas.openxmlformats.org/drawingml/2006/main">
                <a:ext uri="{FF2B5EF4-FFF2-40B4-BE49-F238E27FC236}">
                  <a16:creationId xmlns:a16="http://schemas.microsoft.com/office/drawing/2014/main" id="{F4BA6DB0-E314-4FBB-A22C-357DADE03C75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2667000" y="2476500"/>
              <a:ext cx="1619250" cy="1047750"/>
            </a:xfrm>
            <a:prstGeom xmlns:a="http://schemas.openxmlformats.org/drawingml/2006/main" prst="roundRect">
              <a:avLst>
                <a:gd name="adj" fmla="val 7273"/>
              </a:avLst>
            </a:prstGeom>
            <a:solidFill xmlns:a="http://schemas.openxmlformats.org/drawingml/2006/main">
              <a:srgbClr val="DDEEDC"/>
            </a:solidFill>
            <a:ln xmlns:a="http://schemas.openxmlformats.org/drawingml/2006/main" w="13335">
              <a:solidFill>
                <a:srgbClr val="438B86"/>
              </a:solidFill>
              <a:prstDash val="solid"/>
            </a:ln>
          </p:spPr>
        </p:sp>
        <p:sp>
          <p:nvSpPr>
            <p:cNvPr id="7" name="">
              <a:extLst xmlns:a="http://schemas.openxmlformats.org/drawingml/2006/main">
                <a:ext uri="{FF2B5EF4-FFF2-40B4-BE49-F238E27FC236}">
                  <a16:creationId xmlns:a16="http://schemas.microsoft.com/office/drawing/2014/main" id="{160135A4-31FE-45B9-9B81-A346E46D958D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2762250" y="2571750"/>
              <a:ext cx="14287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438B86"/>
                  </a:solidFill>
                  <a:latin typeface="Times New Roman"/>
                  <a:ea typeface="Times New Roman"/>
                  <a:cs typeface="Times New Roman"/>
                </a:rPr>
                <a:t>Evidence log</a:t>
              </a:r>
            </a:p>
          </p:txBody>
        </p:sp>
        <p:sp>
          <p:nvSpPr>
            <p:cNvPr id="8" name="">
              <a:extLst xmlns:a="http://schemas.openxmlformats.org/drawingml/2006/main">
                <a:ext uri="{FF2B5EF4-FFF2-40B4-BE49-F238E27FC236}">
                  <a16:creationId xmlns:a16="http://schemas.microsoft.com/office/drawing/2014/main" id="{470A1F81-0739-491A-8928-F0CFCB63E1A2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2781300" y="2876550"/>
              <a:ext cx="1390650" cy="5715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provenance</a:t>
              </a:r>
            </a:p>
          </p:txBody>
        </p:sp>
        <p:sp>
          <p:nvSpPr>
            <p:cNvPr id="9" name="">
              <a:extLst xmlns:a="http://schemas.openxmlformats.org/drawingml/2006/main">
                <a:ext uri="{FF2B5EF4-FFF2-40B4-BE49-F238E27FC236}">
                  <a16:creationId xmlns:a16="http://schemas.microsoft.com/office/drawing/2014/main" id="{9D76548E-4C79-4D47-B63C-C57D804D4A68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810125" y="2190750"/>
              <a:ext cx="2286000" cy="1619250"/>
            </a:xfrm>
            <a:prstGeom xmlns:a="http://schemas.openxmlformats.org/drawingml/2006/main" prst="roundRect">
              <a:avLst>
                <a:gd name="adj" fmla="val 4706"/>
              </a:avLst>
            </a:prstGeom>
            <a:solidFill xmlns:a="http://schemas.openxmlformats.org/drawingml/2006/main">
              <a:srgbClr val="F4F0C9"/>
            </a:solidFill>
            <a:ln xmlns:a="http://schemas.openxmlformats.org/drawingml/2006/main" w="13335">
              <a:solidFill>
                <a:srgbClr val="B77F2B"/>
              </a:solidFill>
              <a:prstDash val="solid"/>
            </a:ln>
          </p:spPr>
        </p:sp>
        <p:sp>
          <p:nvSpPr>
            <p:cNvPr id="10" name="">
              <a:extLst xmlns:a="http://schemas.openxmlformats.org/drawingml/2006/main">
                <a:ext uri="{FF2B5EF4-FFF2-40B4-BE49-F238E27FC236}">
                  <a16:creationId xmlns:a16="http://schemas.microsoft.com/office/drawing/2014/main" id="{24AC5EB7-C2D3-462B-BF94-663687065AA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905375" y="2286000"/>
              <a:ext cx="209550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B77F2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B77F2B"/>
                  </a:solidFill>
                  <a:latin typeface="Times New Roman"/>
                  <a:ea typeface="Times New Roman"/>
                  <a:cs typeface="Times New Roman"/>
                </a:rPr>
                <a:t>Temporal tools</a:t>
              </a:r>
            </a:p>
          </p:txBody>
        </p:sp>
        <p:sp>
          <p:nvSpPr>
            <p:cNvPr id="11" name="">
              <a:extLst xmlns:a="http://schemas.openxmlformats.org/drawingml/2006/main">
                <a:ext uri="{FF2B5EF4-FFF2-40B4-BE49-F238E27FC236}">
                  <a16:creationId xmlns:a16="http://schemas.microsoft.com/office/drawing/2014/main" id="{34FD9216-CBCA-47C0-A82F-FB6A99DFAB27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4924425" y="2590800"/>
              <a:ext cx="2057400" cy="11430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trend · anomaly</a:t>
              </a:r>
            </a:p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correlation · forecast</a:t>
              </a:r>
            </a:p>
          </p:txBody>
        </p:sp>
        <p:sp>
          <p:nvSpPr>
            <p:cNvPr id="12" name="">
              <a:extLst xmlns:a="http://schemas.openxmlformats.org/drawingml/2006/main">
                <a:ext uri="{FF2B5EF4-FFF2-40B4-BE49-F238E27FC236}">
                  <a16:creationId xmlns:a16="http://schemas.microsoft.com/office/drawing/2014/main" id="{1C1840D9-B3E7-408E-9C84-4F68760B13FF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620000" y="2476500"/>
              <a:ext cx="1619250" cy="1047750"/>
            </a:xfrm>
            <a:prstGeom xmlns:a="http://schemas.openxmlformats.org/drawingml/2006/main" prst="roundRect">
              <a:avLst>
                <a:gd name="adj" fmla="val 7273"/>
              </a:avLst>
            </a:prstGeom>
            <a:solidFill xmlns:a="http://schemas.openxmlformats.org/drawingml/2006/main">
              <a:srgbClr val="E6E0F2"/>
            </a:solidFill>
            <a:ln xmlns:a="http://schemas.openxmlformats.org/drawingml/2006/main" w="13335">
              <a:solidFill>
                <a:srgbClr val="78639F"/>
              </a:solidFill>
              <a:prstDash val="solid"/>
            </a:ln>
          </p:spPr>
        </p:sp>
        <p:sp>
          <p:nvSpPr>
            <p:cNvPr id="13" name="">
              <a:extLst xmlns:a="http://schemas.openxmlformats.org/drawingml/2006/main">
                <a:ext uri="{FF2B5EF4-FFF2-40B4-BE49-F238E27FC236}">
                  <a16:creationId xmlns:a16="http://schemas.microsoft.com/office/drawing/2014/main" id="{AD24FE95-C73B-4F68-9B78-7DEFC81F403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715250" y="2571750"/>
              <a:ext cx="14287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78639F"/>
                  </a:solidFill>
                  <a:latin typeface="Times New Roman"/>
                  <a:ea typeface="Times New Roman"/>
                  <a:cs typeface="Times New Roman"/>
                </a:rPr>
                <a:t>LLM critic</a:t>
              </a:r>
            </a:p>
          </p:txBody>
        </p:sp>
        <p:sp>
          <p:nvSpPr>
            <p:cNvPr id="14" name="">
              <a:extLst xmlns:a="http://schemas.openxmlformats.org/drawingml/2006/main">
                <a:ext uri="{FF2B5EF4-FFF2-40B4-BE49-F238E27FC236}">
                  <a16:creationId xmlns:a16="http://schemas.microsoft.com/office/drawing/2014/main" id="{6F8619BA-55EF-4EAA-9366-19D331174A99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7734300" y="2876550"/>
              <a:ext cx="1390650" cy="5715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check and revise</a:t>
              </a:r>
            </a:p>
          </p:txBody>
        </p:sp>
        <p:sp>
          <p:nvSpPr>
            <p:cNvPr id="15" name="">
              <a:extLst xmlns:a="http://schemas.openxmlformats.org/drawingml/2006/main">
                <a:ext uri="{FF2B5EF4-FFF2-40B4-BE49-F238E27FC236}">
                  <a16:creationId xmlns:a16="http://schemas.microsoft.com/office/drawing/2014/main" id="{F56108A2-4966-4D51-A5A1-C62DBDAB7170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763125" y="2476500"/>
              <a:ext cx="1619250" cy="1047750"/>
            </a:xfrm>
            <a:prstGeom xmlns:a="http://schemas.openxmlformats.org/drawingml/2006/main" prst="roundRect">
              <a:avLst>
                <a:gd name="adj" fmla="val 7273"/>
              </a:avLst>
            </a:prstGeom>
            <a:solidFill xmlns:a="http://schemas.openxmlformats.org/drawingml/2006/main">
              <a:srgbClr val="F3E2DE"/>
            </a:solidFill>
            <a:ln xmlns:a="http://schemas.openxmlformats.org/drawingml/2006/main" w="13335">
              <a:solidFill>
                <a:srgbClr val="B86659"/>
              </a:solidFill>
              <a:prstDash val="solid"/>
            </a:ln>
          </p:spPr>
        </p:sp>
        <p:sp>
          <p:nvSpPr>
            <p:cNvPr id="16" name="">
              <a:extLst xmlns:a="http://schemas.openxmlformats.org/drawingml/2006/main">
                <a:ext uri="{FF2B5EF4-FFF2-40B4-BE49-F238E27FC236}">
                  <a16:creationId xmlns:a16="http://schemas.microsoft.com/office/drawing/2014/main" id="{88D43180-4E21-4824-BB48-F7A5A9896EAA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858375" y="2571750"/>
              <a:ext cx="1428750" cy="2667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275" b="1" i="0">
                  <a:solidFill>
                    <a:srgbClr val="B86659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275" b="1" i="0">
                  <a:solidFill>
                    <a:srgbClr val="B86659"/>
                  </a:solidFill>
                  <a:latin typeface="Times New Roman"/>
                  <a:ea typeface="Times New Roman"/>
                  <a:cs typeface="Times New Roman"/>
                </a:rPr>
                <a:t>Final answer</a:t>
              </a:r>
            </a:p>
          </p:txBody>
        </p:sp>
        <p:sp>
          <p:nvSpPr>
            <p:cNvPr id="17" name="">
              <a:extLst xmlns:a="http://schemas.openxmlformats.org/drawingml/2006/main">
                <a:ext uri="{FF2B5EF4-FFF2-40B4-BE49-F238E27FC236}">
                  <a16:creationId xmlns:a16="http://schemas.microsoft.com/office/drawing/2014/main" id="{9A3CA583-8D80-433E-9AAA-C5560EEBF903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9877425" y="2876550"/>
              <a:ext cx="1390650" cy="5715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900" b="0" i="0">
                  <a:solidFill>
                    <a:srgbClr val="303A4B"/>
                  </a:solidFill>
                  <a:latin typeface="Times New Roman"/>
                  <a:ea typeface="Times New Roman"/>
                  <a:cs typeface="Times New Roman"/>
                </a:rPr>
                <a:t>evidence-backed</a:t>
              </a:r>
            </a:p>
          </p:txBody>
        </p:sp>
        <p:cxnSp>
          <p:nvCxnSpPr>
            <p:cNvPr id="41" name=""/>
            <p:cNvCxnSpPr>
              <a:stCxn xmlns:a="http://schemas.openxmlformats.org/drawingml/2006/main" id="3" idx="3"/>
              <a:endCxn xmlns:a="http://schemas.openxmlformats.org/drawingml/2006/main" id="6" idx="1"/>
            </p:cNvCxnSpPr>
            <p:nvPr/>
          </p:nvCxnSpPr>
          <p:spPr>
            <a:xfrm xmlns:a="http://schemas.openxmlformats.org/drawingml/2006/main">
              <a:off x="2143125" y="3000375"/>
              <a:ext cx="523875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438B86"/>
              </a:solidFill>
              <a:prstDash val="solid"/>
              <a:headEnd type="arrow" w="sm" len="sm"/>
            </a:ln>
          </p:spPr>
        </p:cxnSp>
        <p:cxnSp>
          <p:nvCxnSpPr>
            <p:cNvPr id="42" name=""/>
            <p:cNvCxnSpPr>
              <a:stCxn xmlns:a="http://schemas.openxmlformats.org/drawingml/2006/main" id="6" idx="3"/>
              <a:endCxn xmlns:a="http://schemas.openxmlformats.org/drawingml/2006/main" id="9" idx="1"/>
            </p:cNvCxnSpPr>
            <p:nvPr/>
          </p:nvCxnSpPr>
          <p:spPr>
            <a:xfrm xmlns:a="http://schemas.openxmlformats.org/drawingml/2006/main">
              <a:off x="4286250" y="3000375"/>
              <a:ext cx="523875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438B86"/>
              </a:solidFill>
              <a:prstDash val="solid"/>
              <a:headEnd type="arrow" w="sm" len="sm"/>
            </a:ln>
          </p:spPr>
        </p:cxnSp>
        <p:cxnSp>
          <p:nvCxnSpPr>
            <p:cNvPr id="43" name=""/>
            <p:cNvCxnSpPr>
              <a:stCxn xmlns:a="http://schemas.openxmlformats.org/drawingml/2006/main" id="9" idx="3"/>
              <a:endCxn xmlns:a="http://schemas.openxmlformats.org/drawingml/2006/main" id="12" idx="1"/>
            </p:cNvCxnSpPr>
            <p:nvPr/>
          </p:nvCxnSpPr>
          <p:spPr>
            <a:xfrm xmlns:a="http://schemas.openxmlformats.org/drawingml/2006/main">
              <a:off x="7096125" y="3000375"/>
              <a:ext cx="523875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B77F2B"/>
              </a:solidFill>
              <a:prstDash val="solid"/>
              <a:headEnd type="arrow" w="sm" len="sm"/>
            </a:ln>
          </p:spPr>
        </p:cxnSp>
        <p:cxnSp>
          <p:nvCxnSpPr>
            <p:cNvPr id="44" name=""/>
            <p:cNvCxnSpPr>
              <a:stCxn xmlns:a="http://schemas.openxmlformats.org/drawingml/2006/main" id="12" idx="3"/>
              <a:endCxn xmlns:a="http://schemas.openxmlformats.org/drawingml/2006/main" id="15" idx="1"/>
            </p:cNvCxnSpPr>
            <p:nvPr/>
          </p:nvCxnSpPr>
          <p:spPr>
            <a:xfrm xmlns:a="http://schemas.openxmlformats.org/drawingml/2006/main">
              <a:off x="9239250" y="3000375"/>
              <a:ext cx="523875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78639F"/>
              </a:solidFill>
              <a:prstDash val="solid"/>
              <a:headEnd type="arrow" w="sm" len="sm"/>
            </a:ln>
          </p:spPr>
        </p:cxnSp>
        <p:cxnSp>
          <p:nvCxnSpPr>
            <p:cNvPr id="45" name=""/>
            <p:cNvCxnSpPr>
              <a:stCxn xmlns:a="http://schemas.openxmlformats.org/drawingml/2006/main" id="12" idx="3"/>
              <a:endCxn xmlns:a="http://schemas.openxmlformats.org/drawingml/2006/main" id="6" idx="1"/>
            </p:cNvCxnSpPr>
            <p:nvPr/>
          </p:nvCxnSpPr>
          <p:spPr>
            <a:xfrm xmlns:a="http://schemas.openxmlformats.org/drawingml/2006/main" flipH="1">
              <a:off x="2667000" y="3000375"/>
              <a:ext cx="6572250" cy="0"/>
            </a:xfrm>
            <a:prstGeom xmlns:a="http://schemas.openxmlformats.org/drawingml/2006/main" prst="straightConnector1">
              <a:avLst/>
            </a:prstGeom>
            <a:ln xmlns:a="http://schemas.openxmlformats.org/drawingml/2006/main" w="19050">
              <a:solidFill>
                <a:srgbClr val="78639F"/>
              </a:solidFill>
              <a:prstDash val="dash"/>
              <a:headEnd type="arrow" w="sm" len="sm"/>
            </a:ln>
          </p:spPr>
        </p:cxnSp>
        <p:sp>
          <p:nvSpPr>
            <p:cNvPr id="23" name="">
              <a:extLst xmlns:a="http://schemas.openxmlformats.org/drawingml/2006/main">
                <a:ext uri="{FF2B5EF4-FFF2-40B4-BE49-F238E27FC236}">
                  <a16:creationId xmlns:a16="http://schemas.microsoft.com/office/drawing/2014/main" id="{DF70E8C5-34B4-486E-A488-5B08E2D299E4}"/>
                </a:ext>
              </a:extLst>
            </p:cNvPr>
            <p:cNvSpPr>
              <a:spLocks xmlns:a="http://schemas.openxmlformats.org/drawingml/2006/main" noGrp="1"/>
            </p:cNvSpPr>
            <p:nvPr/>
          </p:nvSpPr>
          <p:spPr>
            <a:xfrm xmlns:a="http://schemas.openxmlformats.org/drawingml/2006/main">
              <a:off x="2190750" y="1428750"/>
              <a:ext cx="7143750" cy="304800"/>
            </a:xfrm>
            <a:prstGeom xmlns:a="http://schemas.openxmlformats.org/drawingml/2006/main" prst="rect">
              <a:avLst/>
            </a:prstGeom>
            <a:noFill xmlns:a="http://schemas.openxmlformats.org/drawingml/2006/main"/>
            <a:ln xmlns:a="http://schemas.openxmlformats.org/drawingml/2006/main" w="0">
              <a:noFill/>
              <a:prstDash val="solid"/>
            </a:ln>
          </p:spPr>
          <p:txBody>
            <a:bodyPr xmlns:a="http://schemas.openxmlformats.org/drawingml/2006/main"/>
            <a:lstStyle xmlns:a="http://schemas.openxmlformats.org/drawingml/2006/main"/>
            <a:p xmlns:a="http://schemas.openxmlformats.org/drawingml/2006/main">
              <a:pPr>
                <a:defRPr sz="1425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defRPr>
              </a:pPr>
              <a:r>
                <a:rPr sz="1425" b="1" i="0">
                  <a:solidFill>
                    <a:srgbClr val="24324A"/>
                  </a:solidFill>
                  <a:latin typeface="Times New Roman"/>
                  <a:ea typeface="Times New Roman"/>
                  <a:cs typeface="Times New Roman"/>
                </a:rPr>
                <a:t>observe  →  execute  →  critique  →  verify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544529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2026-10-02T09:05:59.4440000Z</dcterms:created>
  <dcterms:modified xsi:type="dcterms:W3CDTF">2026-10-02T09:05:59.4440000Z</dcterms:modified>
</coreProperties>
</file>