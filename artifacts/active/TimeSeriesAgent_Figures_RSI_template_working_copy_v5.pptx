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5a818b3f614f13" /><Relationship Type="http://schemas.openxmlformats.org/officeDocument/2006/relationships/extended-properties" Target="/docProps/app.xml" Id="Rc66a756134d240fe" /><Relationship Type="http://schemas.openxmlformats.org/officeDocument/2006/relationships/officeDocument" Target="/ppt/presentation.xml" Id="R4e3f61dd1a9943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ca6be63bfe4878"/>
  </p:sldMasterIdLst>
  <p:notesMasterIdLst>
    <p:notesMasterId xmlns:r="http://schemas.openxmlformats.org/officeDocument/2006/relationships" r:id="R1de803f614734e99"/>
  </p:notesMasterIdLst>
  <p:sldIdLst>
    <p:sldId xmlns:r="http://schemas.openxmlformats.org/officeDocument/2006/relationships" id="256" r:id="Rcddfa42aafde4088"/>
    <p:sldId xmlns:r="http://schemas.openxmlformats.org/officeDocument/2006/relationships" id="257" r:id="R19adc9eda35048a0"/>
    <p:sldId xmlns:r="http://schemas.openxmlformats.org/officeDocument/2006/relationships" id="258" r:id="R2dbc295daa3642b0"/>
    <p:sldId xmlns:r="http://schemas.openxmlformats.org/officeDocument/2006/relationships" id="259" r:id="R6790b5eb315a4a02"/>
    <p:sldId xmlns:r="http://schemas.openxmlformats.org/officeDocument/2006/relationships" id="260" r:id="R8569f0ba2ac04a2f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c6948f46d4120" /><Relationship Type="http://schemas.openxmlformats.org/officeDocument/2006/relationships/slideMaster" Target="/ppt/slideMasters/slideMaster1.xml" Id="Redca6be63bfe4878" /><Relationship Type="http://schemas.openxmlformats.org/officeDocument/2006/relationships/notesMaster" Target="/ppt/notesMasters/notesMaster1.xml" Id="R1de803f614734e99" /><Relationship Type="http://schemas.openxmlformats.org/officeDocument/2006/relationships/presProps" Target="/ppt/presProps.xml" Id="R20342c1e87b04051" /><Relationship Type="http://schemas.openxmlformats.org/officeDocument/2006/relationships/tableStyles" Target="/ppt/tableStyles.xml" Id="R744a0f962524469f" /><Relationship Type="http://schemas.openxmlformats.org/officeDocument/2006/relationships/slide" Target="/ppt/slides/slide1.xml" Id="Rcddfa42aafde4088" /><Relationship Type="http://schemas.openxmlformats.org/officeDocument/2006/relationships/slide" Target="/ppt/slides/slide2.xml" Id="R19adc9eda35048a0" /><Relationship Type="http://schemas.openxmlformats.org/officeDocument/2006/relationships/slide" Target="/ppt/slides/slide3.xml" Id="R2dbc295daa3642b0" /><Relationship Type="http://schemas.openxmlformats.org/officeDocument/2006/relationships/slide" Target="/ppt/slides/slide4.xml" Id="R6790b5eb315a4a02" /><Relationship Type="http://schemas.openxmlformats.org/officeDocument/2006/relationships/slide" Target="/ppt/slides/slide5.xml" Id="R8569f0ba2ac04a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db767df5742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d9f70f72f6426f" /><Relationship Type="http://schemas.openxmlformats.org/officeDocument/2006/relationships/notesMaster" Target="/ppt/notesMasters/notesMaster1.xml" Id="Rb913dd064b4846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99fe1034b44d9e" /><Relationship Type="http://schemas.openxmlformats.org/officeDocument/2006/relationships/notesMaster" Target="/ppt/notesMasters/notesMaster1.xml" Id="R7c063517e63648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1d42e4d8684493" /><Relationship Type="http://schemas.openxmlformats.org/officeDocument/2006/relationships/notesMaster" Target="/ppt/notesMasters/notesMaster1.xml" Id="R8584bbcd6d934e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3d3f71e76f4ec5" /><Relationship Type="http://schemas.openxmlformats.org/officeDocument/2006/relationships/notesMaster" Target="/ppt/notesMasters/notesMaster1.xml" Id="Rdb78f15d50ca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617e9858d44d1c" /><Relationship Type="http://schemas.openxmlformats.org/officeDocument/2006/relationships/notesMaster" Target="/ppt/notesMasters/notesMaster1.xml" Id="R2b50212f90b042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c3b3a7e8a4ac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b54969c7594c24" /><Relationship Type="http://schemas.openxmlformats.org/officeDocument/2006/relationships/slideLayout" Target="/ppt/slideLayouts/slideLayout1.xml" Id="R93389361515149d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89361515149dd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19c32bb6b4761" /><Relationship Type="http://schemas.openxmlformats.org/officeDocument/2006/relationships/image" Target="/ppt/media/image.png" Id="R4996842eb3f740c6" /><Relationship Type="http://schemas.openxmlformats.org/officeDocument/2006/relationships/image" Target="/ppt/media/image2.png" Id="Rfdf87d9df2364fc4" /><Relationship Type="http://schemas.openxmlformats.org/officeDocument/2006/relationships/image" Target="/ppt/media/image3.png" Id="R0e11eaeaaff94587" /><Relationship Type="http://schemas.openxmlformats.org/officeDocument/2006/relationships/image" Target="/ppt/media/image4.png" Id="R4b5dcfe0776d4ff7" /><Relationship Type="http://schemas.openxmlformats.org/officeDocument/2006/relationships/image" Target="/ppt/media/image5.png" Id="R4d3d8a43354b4f50" /><Relationship Type="http://schemas.openxmlformats.org/officeDocument/2006/relationships/image" Target="/ppt/media/image6.png" Id="Rf6bce24754194f6f" /><Relationship Type="http://schemas.openxmlformats.org/officeDocument/2006/relationships/notesSlide" Target="/ppt/notesSlides/notesSlide1.xml" Id="R46b93624ab78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7658c7afe4cb0" /><Relationship Type="http://schemas.openxmlformats.org/officeDocument/2006/relationships/notesSlide" Target="/ppt/notesSlides/notesSlide2.xml" Id="R7d0ebc6223b948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5bb99fcd94a4b" /><Relationship Type="http://schemas.openxmlformats.org/officeDocument/2006/relationships/notesSlide" Target="/ppt/notesSlides/notesSlide3.xml" Id="Rfe496517ad12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a21d825f54c39" /><Relationship Type="http://schemas.openxmlformats.org/officeDocument/2006/relationships/notesSlide" Target="/ppt/notesSlides/notesSlide4.xml" Id="R7d1269b6651e44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25404207b4c63" /><Relationship Type="http://schemas.openxmlformats.org/officeDocument/2006/relationships/image" Target="/ppt/media/image7.png" Id="R8507163baac64f5d" /><Relationship Type="http://schemas.openxmlformats.org/officeDocument/2006/relationships/image" Target="/ppt/media/image8.png" Id="R8171bfd60f5c4e92" /><Relationship Type="http://schemas.openxmlformats.org/officeDocument/2006/relationships/image" Target="/ppt/media/image9.png" Id="Ra7921f737efb406e" /><Relationship Type="http://schemas.openxmlformats.org/officeDocument/2006/relationships/image" Target="/ppt/media/image10.png" Id="R697f9ad4761a4ed5" /><Relationship Type="http://schemas.openxmlformats.org/officeDocument/2006/relationships/image" Target="/ppt/media/image11.png" Id="R3e10bfdf1eb94dbf" /><Relationship Type="http://schemas.openxmlformats.org/officeDocument/2006/relationships/image" Target="/ppt/media/image12.png" Id="Rd2bd45b258094b7e" /><Relationship Type="http://schemas.openxmlformats.org/officeDocument/2006/relationships/image" Target="/ppt/media/image13.png" Id="R1a67c974fb094d07" /><Relationship Type="http://schemas.openxmlformats.org/officeDocument/2006/relationships/image" Target="/ppt/media/image14.png" Id="Ra4d912427e4743f6" /><Relationship Type="http://schemas.openxmlformats.org/officeDocument/2006/relationships/notesSlide" Target="/ppt/notesSlides/notesSlide5.xml" Id="R9eb9d4a4037048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1B899EFC-3A50-43E5-9252-BDB9979B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E5833DAB-42A4-4A76-9073-E850374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F3E3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24518285-D6B4-48E5-AE9D-52B793E0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287D2D28-38F7-4E5C-8B82-CB29EFA5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5E2F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064F32D2-B99C-4085-92EC-6EC77D0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EF0E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82EF180E-7F4F-40F2-B34D-EAA90EF9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9CF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9F1446C4-63AB-4C43-B9E7-74A4E8B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10096500"/>
            <a:ext cx="132397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2F3EE"/>
          </a:solidFill>
          <a:ln xmlns:a="http://schemas.openxmlformats.org/drawingml/2006/main" w="38100">
            <a:solidFill>
              <a:srgbClr val="2C2D2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monitor">
            <a:extLst xmlns:a="http://schemas.openxmlformats.org/drawingml/2006/main">
              <a:ext uri="{FF2B5EF4-FFF2-40B4-BE49-F238E27FC236}">
                <a16:creationId xmlns:a16="http://schemas.microsoft.com/office/drawing/2014/main" id="{41565E37-1CA7-45C3-8338-4CDEDD2208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6842eb3f740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0" name="document">
            <a:extLst xmlns:a="http://schemas.openxmlformats.org/drawingml/2006/main">
              <a:ext uri="{FF2B5EF4-FFF2-40B4-BE49-F238E27FC236}">
                <a16:creationId xmlns:a16="http://schemas.microsoft.com/office/drawing/2014/main" id="{53ECA95C-A9FA-4A18-8C9C-BCD3E77BC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87d9df2364f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1" name="checked-document">
            <a:extLst xmlns:a="http://schemas.openxmlformats.org/drawingml/2006/main">
              <a:ext uri="{FF2B5EF4-FFF2-40B4-BE49-F238E27FC236}">
                <a16:creationId xmlns:a16="http://schemas.microsoft.com/office/drawing/2014/main" id="{C1D5BDB3-AECB-4149-BD27-C640EE229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1eaeaaff94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2" name="code-files">
            <a:extLst xmlns:a="http://schemas.openxmlformats.org/drawingml/2006/main">
              <a:ext uri="{FF2B5EF4-FFF2-40B4-BE49-F238E27FC236}">
                <a16:creationId xmlns:a16="http://schemas.microsoft.com/office/drawing/2014/main" id="{C7CBDEFF-8762-4F97-B34B-8679BDF59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dcfe0776d4f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3" name="documents">
            <a:extLst xmlns:a="http://schemas.openxmlformats.org/drawingml/2006/main">
              <a:ext uri="{FF2B5EF4-FFF2-40B4-BE49-F238E27FC236}">
                <a16:creationId xmlns:a16="http://schemas.microsoft.com/office/drawing/2014/main" id="{64D51E4B-FCDF-47F0-A77B-D4002A47E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d8a43354b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14" name="shield-check">
            <a:extLst xmlns:a="http://schemas.openxmlformats.org/drawingml/2006/main">
              <a:ext uri="{FF2B5EF4-FFF2-40B4-BE49-F238E27FC236}">
                <a16:creationId xmlns:a16="http://schemas.microsoft.com/office/drawing/2014/main" id="{70295062-5322-45FB-AC4C-18BA474956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ce24754194f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6162675"/>
            <a:ext cx="1238250" cy="952500"/>
          </a:xfrm>
          <a:prstGeom xmlns:a="http://schemas.openxmlformats.org/drawingml/2006/main" prst="rect">
            <a:avLst/>
          </a:prstGeom>
        </p:spPr>
      </p:pic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50E9E7D0-DFDB-4629-AC9D-4DBECF9A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D8D2C637-BFB8-4F46-A957-495E916A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E4715F39-E92E-42F2-A64B-099F8129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0224B715-DF6E-4FFE-A8C4-DE582E9B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58000" y="4619625"/>
            <a:ext cx="1190625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7D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21791244-FE47-465B-848E-8CED50CD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B3AF22F4-8A90-44F9-B136-18B4E09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307C9908-5B3F-41A0-8536-872E853B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811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AE0F04F3-7E1F-4604-87A4-8D69D9E0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5C0951EF-D7F9-442F-AAA8-BA239D2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1428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500D3CBC-E3B7-4180-AF0A-EC9874C4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757115DB-E867-4012-866D-267EB86C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511C2E1B-C167-4311-80E6-FCF8706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286125" y="9029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DF9423EC-C969-4259-B012-18C74647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05E5B27-D679-4241-B486-A182207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5" y="10287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80" i="1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Time-Series Agent construction</a:t>
            </a:r>
            <a:endParaRPr sz="138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E24B47FE-A86F-468C-80CE-D1D5A654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16287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Modules compose across tasks</a:t>
            </a:r>
            <a:endParaRPr sz="19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5966721-64FC-412E-8A89-8540B1DF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Agent</a:t>
            </a:r>
            <a:endParaRPr sz="25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B44174C-32CA-4A86-AEAF-5E0D9796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LLM +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and temporal data</a:t>
            </a:r>
            <a:endParaRPr sz="19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8DDC9615-9C81-460F-9304-21981C8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Paper cards</a:t>
            </a:r>
            <a:endParaRPr sz="25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E58115C8-7467-42F0-81BE-0530317C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claims, evidence,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module tags</a:t>
            </a:r>
            <a:endParaRPr sz="19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551F09-181B-4AD6-801F-24CF88E8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New task agent</a:t>
            </a:r>
            <a:endParaRPr sz="16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418B1BF9-3BC2-4E91-A1B5-AA559A20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Reusable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configuration</a:t>
            </a:r>
            <a:endParaRPr sz="19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A4C7FFA-8CEE-42FF-9BF8-18FD0909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General Harness</a:t>
            </a:r>
            <a:endParaRPr sz="16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D8817E69-C40D-443C-9EBD-D90900F2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tools, memory,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control, planning</a:t>
            </a:r>
            <a:endParaRPr sz="190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7A031548-B472-41BD-ADCD-00EEA08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Harness</a:t>
            </a:r>
            <a:endParaRPr sz="25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DE3BBC26-91F0-4676-B13E-0738F226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temporal state,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operations, validation</a:t>
            </a:r>
            <a:endParaRPr sz="19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90B00E6F-6313-4212-8839-AD2AE209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Task contract</a:t>
            </a:r>
            <a:endParaRPr sz="25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A9A65B62-B82D-4114-8804-80DABB6B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forecasting, anomaly,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augmentation, decisions</a:t>
            </a:r>
            <a:endParaRPr sz="190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73A5976-AFCB-43D3-8141-7BA5565D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309562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8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instantiate</a:t>
            </a:r>
            <a:endParaRPr sz="108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805A1BA5-A231-4CB9-AA3A-B5CFB464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762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observe</a:t>
            </a:r>
            <a:endParaRPr sz="190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D652416B-1891-4E12-960A-41E1D8F4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5029200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i="1">
                <a:solidFill>
                  <a:srgbClr val="397C63"/>
                </a:solidFill>
                <a:latin typeface="Cambria"/>
                <a:ea typeface="Cambria"/>
                <a:cs typeface="Cambria"/>
              </a:rPr>
              <a:t>evaluate</a:t>
            </a:r>
            <a:endParaRPr sz="210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491ED2F9-9753-40E5-971D-8823050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67627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adapt</a:t>
            </a:r>
            <a:endParaRPr sz="20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E7F8E02D-8C2B-4EB7-9BDB-82B94236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6762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benchmark</a:t>
            </a:r>
            <a:endParaRPr sz="20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143893E2-01DA-4B7F-B712-AED8DCBF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8625" y="4762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select module</a:t>
            </a:r>
            <a:endParaRPr sz="19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3415F85-D04B-4B0B-A066-81C4A63B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909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70" i="1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Module-level paper card</a:t>
            </a:r>
            <a:endParaRPr sz="117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659472D5-35E3-415A-B10D-86B6ACC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9601200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One paper may contribute several modules</a:t>
            </a:r>
            <a:endParaRPr sz="19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E4FB7C54-6B91-4714-B8CC-04C0AA6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6500" y="102108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C706C"/>
                </a:solidFill>
                <a:latin typeface="Cambria"/>
                <a:ea typeface="Cambria"/>
                <a:cs typeface="Cambria"/>
              </a:rPr>
              <a:t>Task semantics and benchmark protocols remain explicit</a:t>
            </a:r>
            <a:endParaRPr sz="18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1B4B2964-1D42-473F-BE16-447AA7DC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5875" y="3238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 system</a:t>
            </a:r>
            <a:endParaRPr sz="31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AB8D65EE-8FBA-492A-B4D3-6782A3E4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25" y="4095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40" i="1">
                <a:solidFill>
                  <a:srgbClr val="66716D"/>
                </a:solidFill>
                <a:latin typeface="Cambria"/>
                <a:ea typeface="Cambria"/>
                <a:cs typeface="Cambria"/>
              </a:rPr>
              <a:t>A module-level construction view</a:t>
            </a:r>
            <a:endParaRPr sz="154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70BB13D2-1922-4649-85AE-12E792B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" y="10744200"/>
            <a:ext cx="1628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271926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C7E53965-EABA-4779-88BC-8DF35DFE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97" y="4692728"/>
            <a:ext cx="1975054" cy="1753848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CFE9EE"/>
          </a:solidFill>
          <a:ln xmlns:a="http://schemas.openxmlformats.org/drawingml/2006/main" w="25400">
            <a:solidFill>
              <a:srgbClr val="1F293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E9A321A0-9539-4FDD-930A-E7881371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74262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7429E2D1-B147-4CEA-8BFC-2A0CC3B2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967154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D49E6F8C-B5E4-4D1A-ABD0-401B021D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3199588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6AC89DB8-4D4A-4C0D-AC0F-C583F5AA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4424121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0DA3085B-AA27-4C2E-9E67-8D1FE1F1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5664455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D159D21F-3407-4FD2-B930-59878DA6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6888989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F68149D5-E961-4387-BEE9-1D6C8F44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8121422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9E8EE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81A7BE4F-45B3-4D4D-AE22-53582914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9353856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40C81C88-616C-40D4-AD27-C783035D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058629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E7CB5AA3-2141-4950-8696-3FF2DB4E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74262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89A6C783-5D7B-4954-88E7-02D07891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967154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0EE8D888-37C7-4AFA-812F-831C1338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3199588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FEF704B7-05BC-4CA3-ACBE-A7D1322F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4424121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0E011510-2CD5-40BB-A366-DE71749B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5664455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CA3AC570-8EFF-447F-9F2F-295C734E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6888989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5DD62DA7-9FE4-4596-B0AD-AEC6474C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8121422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73D910B9-499A-4E86-9A1D-8F2D290D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9353856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23E383C0-1393-45DC-AFA0-A1B2DB88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058629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23B999DD-3373-484B-BD80-79370898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8130"/>
            <a:ext cx="0" cy="1097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727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507C9514-64F0-4555-BB0A-5563C9EC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8233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B607F72A-E6D7-46FF-A622-9C9D0310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2306863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BC00B35F-F2E1-4A3C-B4FE-67E15E84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3539297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0B0A08CB-70F5-48AF-9124-B99425C9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4771731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888F1D25-09E1-4F90-A78B-B9744C2E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6004164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E13D2CB5-DE80-484C-ABC2-1817A20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7236598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9A0620D4-33D6-4627-A992-1ECBB88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8469032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91A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Line 29">
            <a:extLst xmlns:a="http://schemas.openxmlformats.org/drawingml/2006/main">
              <a:ext uri="{FF2B5EF4-FFF2-40B4-BE49-F238E27FC236}">
                <a16:creationId xmlns:a16="http://schemas.microsoft.com/office/drawing/2014/main" id="{DAB6E227-CC01-4095-9807-A8B501E8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9701466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Line 30">
            <a:extLst xmlns:a="http://schemas.openxmlformats.org/drawingml/2006/main">
              <a:ext uri="{FF2B5EF4-FFF2-40B4-BE49-F238E27FC236}">
                <a16:creationId xmlns:a16="http://schemas.microsoft.com/office/drawing/2014/main" id="{80DE75BC-D16A-46D8-9167-8BAFCCFE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4180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C6AB3218-6621-4DFE-9C7A-01A37E4A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1534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ABA6766B-8BEF-4C4C-A2ED-763A6D3E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2520169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Line 33">
            <a:extLst xmlns:a="http://schemas.openxmlformats.org/drawingml/2006/main">
              <a:ext uri="{FF2B5EF4-FFF2-40B4-BE49-F238E27FC236}">
                <a16:creationId xmlns:a16="http://schemas.microsoft.com/office/drawing/2014/main" id="{621A33D9-7BDE-4A06-9CD0-D89B8EF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3752603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100434C4-051B-4339-BE11-B2C2B43F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48349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Line 35">
            <a:extLst xmlns:a="http://schemas.openxmlformats.org/drawingml/2006/main">
              <a:ext uri="{FF2B5EF4-FFF2-40B4-BE49-F238E27FC236}">
                <a16:creationId xmlns:a16="http://schemas.microsoft.com/office/drawing/2014/main" id="{E62BC0E7-6F68-4565-BE73-EE984029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6217470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Line 36">
            <a:extLst xmlns:a="http://schemas.openxmlformats.org/drawingml/2006/main">
              <a:ext uri="{FF2B5EF4-FFF2-40B4-BE49-F238E27FC236}">
                <a16:creationId xmlns:a16="http://schemas.microsoft.com/office/drawing/2014/main" id="{0B27569D-3418-4C2F-A47A-9C580C5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7442004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5317B6FE-E73A-40CC-A96A-C98553D6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8674438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793A5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Line 38">
            <a:extLst xmlns:a="http://schemas.openxmlformats.org/drawingml/2006/main">
              <a:ext uri="{FF2B5EF4-FFF2-40B4-BE49-F238E27FC236}">
                <a16:creationId xmlns:a16="http://schemas.microsoft.com/office/drawing/2014/main" id="{664F0216-5F79-42A4-8BB4-BDE21AC9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990687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Line 39">
            <a:extLst xmlns:a="http://schemas.openxmlformats.org/drawingml/2006/main">
              <a:ext uri="{FF2B5EF4-FFF2-40B4-BE49-F238E27FC236}">
                <a16:creationId xmlns:a16="http://schemas.microsoft.com/office/drawing/2014/main" id="{4F5ADE81-6F58-442D-905A-7540C56D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099710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58419440-D865-4DE6-9EFE-9B526DF4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0332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Ellipse 41">
            <a:extLst xmlns:a="http://schemas.openxmlformats.org/drawingml/2006/main">
              <a:ext uri="{FF2B5EF4-FFF2-40B4-BE49-F238E27FC236}">
                <a16:creationId xmlns:a16="http://schemas.microsoft.com/office/drawing/2014/main" id="{A98ADE81-81E5-461B-ACD0-AAC15C15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2227861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D6C245B1-6F5F-41E6-8BE6-2FDE1CF6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3460295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Ellipse 43">
            <a:extLst xmlns:a="http://schemas.openxmlformats.org/drawingml/2006/main">
              <a:ext uri="{FF2B5EF4-FFF2-40B4-BE49-F238E27FC236}">
                <a16:creationId xmlns:a16="http://schemas.microsoft.com/office/drawing/2014/main" id="{B490F241-D93A-4E05-9818-3A245DB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4692728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Ellipse 44">
            <a:extLst xmlns:a="http://schemas.openxmlformats.org/drawingml/2006/main">
              <a:ext uri="{FF2B5EF4-FFF2-40B4-BE49-F238E27FC236}">
                <a16:creationId xmlns:a16="http://schemas.microsoft.com/office/drawing/2014/main" id="{CDCCEDF3-F06F-48D0-81AC-6DE3CA22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5925162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Ellipse 45">
            <a:extLst xmlns:a="http://schemas.openxmlformats.org/drawingml/2006/main">
              <a:ext uri="{FF2B5EF4-FFF2-40B4-BE49-F238E27FC236}">
                <a16:creationId xmlns:a16="http://schemas.microsoft.com/office/drawing/2014/main" id="{1BFD5A81-087F-472C-A955-A2A17135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7157596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F4C3E163-6A86-4F9F-9504-BF7E86CC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8390030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EF3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Ellipse 47">
            <a:extLst xmlns:a="http://schemas.openxmlformats.org/drawingml/2006/main">
              <a:ext uri="{FF2B5EF4-FFF2-40B4-BE49-F238E27FC236}">
                <a16:creationId xmlns:a16="http://schemas.microsoft.com/office/drawing/2014/main" id="{7230CEC2-C58A-4B33-94D8-3FD235C5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9622463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D7D8BF6F-ED52-4B51-9F18-3A82B6DF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86279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50304E72-743B-487F-B38C-9FC2BFC4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616" y="142204"/>
            <a:ext cx="1422039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Survey organization</a:t>
            </a:r>
            <a:endParaRPr sz="254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51F6CAE8-6C0A-46F3-939A-B319BE0E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54752" y="142204"/>
            <a:ext cx="1738048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5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Sections</a:t>
            </a:r>
            <a:endParaRPr sz="235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16A195E2-070B-4E43-9F64-93255F05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4937635"/>
            <a:ext cx="1659045" cy="829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Time-Series</a:t>
            </a:r>
            <a:endParaRPr sz="2680"/>
          </a:p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Agent</a:t>
            </a:r>
            <a:endParaRPr sz="268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B8BBF3F6-0182-472E-874E-ED8CAB3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5877761"/>
            <a:ext cx="1659045" cy="355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80" i="1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Reader’s guide</a:t>
            </a:r>
            <a:endParaRPr sz="168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E9789246-DA8D-4060-AD6F-A4659376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0582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1    Introduction</a:t>
            </a:r>
            <a:endParaRPr sz="285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748DC3A0-0FED-4347-AFE9-CF3C3316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2030356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2    What Is a</a:t>
            </a:r>
            <a:endParaRPr sz="2410"/>
          </a:p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Agent?</a:t>
            </a:r>
            <a:endParaRPr sz="241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6841FD0B-F0BD-430E-B73B-3E264389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3262789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3    LLM-Side</a:t>
            </a:r>
            <a:endParaRPr sz="2480"/>
          </a:p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Contributions</a:t>
            </a:r>
            <a:endParaRPr sz="248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52996CD3-0E00-44E8-A6DD-D3377086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4487323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4    General</a:t>
            </a:r>
            <a:endParaRPr sz="2540"/>
          </a:p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54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4C776058-2AC0-4A3A-86F8-0B1DBA02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5727657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5    General Time-Series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EFF7BCBB-CA80-437A-ACF5-0B6A17C0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6952190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6    Task-Specific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F89CB6CD-0977-4C02-AA0F-A7026228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184624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7    Infrastructure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Benchmarks</a:t>
            </a:r>
            <a:endParaRPr sz="261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16DFAF0F-4B07-4348-9BB9-8309D060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9417058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8    Open Problems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Case Studies</a:t>
            </a:r>
            <a:endParaRPr sz="261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210E19B1-04AF-4C38-A2FE-69988E8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1064949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9    Conclusion</a:t>
            </a:r>
            <a:endParaRPr sz="322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F98AABDE-FC0B-4175-A938-F57E0DAD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790022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definition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Construction questions</a:t>
            </a:r>
            <a:endParaRPr sz="237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6C2D7E13-2A70-43F3-9081-27229173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2014555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Review scope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evidence</a:t>
            </a:r>
            <a:endParaRPr sz="237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75747550-C538-4E33-8472-BF42268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3246989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representation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Alignment and reasoning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LLM-side methods</a:t>
            </a:r>
            <a:endParaRPr sz="218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C0FE528E-A8C3-4387-867A-12DF7B75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4471522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Tools and memory          Control and execution</a:t>
            </a:r>
            <a:endParaRPr sz="2160"/>
          </a:p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state             Provenance and validation</a:t>
            </a:r>
            <a:endParaRPr sz="216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E493AD33-5D3F-41D4-8B51-3F4C6230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5711856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harnesses     Reusable modules</a:t>
            </a:r>
            <a:endParaRPr sz="2000"/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contracts             Benchmark protocols</a:t>
            </a:r>
            <a:endParaRPr sz="20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1E10F054-6892-4034-9DFB-E7D4ECC3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6936390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               Augmentation</a:t>
            </a:r>
            <a:endParaRPr sz="1889"/>
          </a:p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          Decision support</a:t>
            </a:r>
            <a:endParaRPr sz="1889"/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8A775375-D818-4703-BC0C-8B7802AD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8168824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ModernTSF                  TimeSeriesGym</a:t>
            </a:r>
            <a:endParaRPr sz="1870"/>
          </a:p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Traces and episodes        Reproducible evaluation</a:t>
            </a:r>
            <a:endParaRPr sz="1870"/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107BAB3A-E3FF-419F-AA88-236287FA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9401257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database        Module-level counts</a:t>
            </a:r>
            <a:endParaRPr sz="1850"/>
          </a:p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tasks                 Evidence gaps</a:t>
            </a:r>
            <a:endParaRPr sz="1850"/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3AF1856B-CE66-40AF-BE31-E467D713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10633691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map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problems</a:t>
            </a:r>
            <a:endParaRPr sz="2370"/>
          </a:p>
        </p:txBody>
      </p:sp>
    </p:spTree>
    <p:extLst>
      <p:ext uri="{BB962C8B-B14F-4D97-AF65-F5344CB8AC3E}">
        <p14:creationId xmlns:p14="http://schemas.microsoft.com/office/powerpoint/2010/main" val="1084123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4326DC-4B9C-46CD-B964-49D84E85288E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8667750" y="4857750"/>
            <a:ext cx="25717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39E9F-0625-4ADD-AC1F-260B041C21C6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V="1">
            <a:off x="7429500" y="4762500"/>
            <a:ext cx="0" cy="2857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7B24"/>
            </a:solidFill>
            <a:prstDash val="solid"/>
            <a:headEnd type="arrow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4151F-3064-4C28-AEA9-A71AD4BF18E5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V="1">
            <a:off x="7429500" y="3143250"/>
            <a:ext cx="0" cy="5334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F8F89"/>
            </a:solidFill>
            <a:prstDash val="solid"/>
            <a:head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270AC3-A0AC-4E28-BF27-9B32C1F1ED5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4857750"/>
            <a:ext cx="47625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D6396"/>
            </a:solidFill>
            <a:prstDash val="solid"/>
            <a:head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CBE057-C0A3-4330-BE02-43617522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"/>
            <a:ext cx="1390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Contribution layers in Time-Series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7A661-C873-46C5-9B97-B3D29EAE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200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cards record module-level contributions across the LLM, Harness, temporal, task, and evaluation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AF250-C3FD-47A4-B5DB-C97A0F22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LLM side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A2224-5AC9-43E2-A09C-416E6BD4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14288">
            <a:solidFill>
              <a:srgbClr val="6D6396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6C9C2-CC1A-47E3-931E-CA2D8E9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6D6396"/>
                </a:solidFill>
                <a:latin typeface="Cambria"/>
                <a:ea typeface="Cambria"/>
                <a:cs typeface="Cambria"/>
              </a:rPr>
              <a:t>Language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C8022-8FA4-45D4-8FB9-4666BA31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3241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representation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alignment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reasoning</a:t>
            </a:r>
          </a:p>
          <a:p xmlns:a="http://schemas.openxmlformats.org/drawingml/2006/main">
            <a:pPr>
              <a:def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35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ChatTS lineage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15045-FB8B-4D07-845C-69BE8DC2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2000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D63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95BB4-B29E-449B-B63B-AE607459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LLM component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EB4F-A8B6-474C-908E-7D19438D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Paper card fields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claim · evidence · BibTeX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956ED-16D3-49A6-8E3B-41A7B62C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43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21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Time-Series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77E9E-D32A-4820-A016-BCD5CCB3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6667500" cy="685800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0BB9C-7C02-415A-B535-B0E26D6B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8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General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9879F-B7A5-4A9F-BE25-809DBE2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tools · memory · control · planning ·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48F06-1B3D-4E2D-9D54-09F6656C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4667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1EEDC"/>
          </a:solidFill>
          <a:ln xmlns:a="http://schemas.openxmlformats.org/drawingml/2006/main" w="14288">
            <a:solidFill>
              <a:srgbClr val="6B9F80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D3608-0261-4801-B6EC-A129CBAE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6B9F80"/>
                </a:solidFill>
                <a:latin typeface="Cambria"/>
                <a:ea typeface="Cambria"/>
                <a:cs typeface="Cambria"/>
              </a:rPr>
              <a:t>General Time-Series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A29FC-19A7-4D53-981D-708CB79A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temporal state · operations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provenance ·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E7493-05D0-4C2A-9181-22ACC273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0CE"/>
          </a:solidFill>
          <a:ln xmlns:a="http://schemas.openxmlformats.org/drawingml/2006/main" w="14288">
            <a:solidFill>
              <a:srgbClr val="B47B24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7905A-C074-43B6-AA08-EA093FE3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B47B24"/>
                </a:solidFill>
                <a:latin typeface="Cambria"/>
                <a:ea typeface="Cambria"/>
                <a:cs typeface="Cambria"/>
              </a:rPr>
              <a:t>Task-Specific Harness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3A00E-A133-450F-B586-BC934929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194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forecasting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augmentation</a:t>
            </a:r>
          </a:p>
          <a:p xmlns:a="http://schemas.openxmlformats.org/drawingml/2006/main">
            <a:pPr>
              <a:def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anomaly ·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D4A74-BEB6-451C-A6FD-4504CC89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1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Evaluation and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A42D5-FB05-4097-B17F-6F219F81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0"/>
            <a:ext cx="2857500" cy="6286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F8F89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81E46-327B-48BC-9732-5EB0C1DA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4F8F89"/>
                </a:solidFill>
                <a:latin typeface="Cambria"/>
                <a:ea typeface="Cambria"/>
                <a:cs typeface="Cambria"/>
              </a:rPr>
              <a:t>Benchmark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77D93-F0B6-407D-9397-9B8CB00D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781300"/>
            <a:ext cx="238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episodes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chronology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held-out tests</a:t>
            </a:r>
          </a:p>
          <a:p xmlns:a="http://schemas.openxmlformats.org/drawingml/2006/main">
            <a:pPr>
              <a:def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75" b="0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reproducible traces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2C924-3D87-444A-8A43-8662F77B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14288">
            <a:solidFill>
              <a:srgbClr val="4F8F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44E28-AC41-4014-B223-BF12A229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7205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module-level</a:t>
            </a:r>
          </a:p>
          <a:p xmlns:a="http://schemas.openxmlformats.org/drawingml/2006/main">
            <a:pPr>
              <a:def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counts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D03BD-485C-4FB8-B2B4-41263684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Each paper can contribute</a:t>
            </a:r>
          </a:p>
          <a:p xmlns:a="http://schemas.openxmlformats.org/drawingml/2006/main">
            <a:pPr>
              <a:def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defRPr>
            </a:pPr>
            <a:r>
              <a:rPr sz="1125" b="0" i="1">
                <a:solidFill>
                  <a:srgbClr val="687078"/>
                </a:solidFill>
                <a:latin typeface="Cambria"/>
                <a:ea typeface="Cambria"/>
                <a:cs typeface="Cambria"/>
              </a:rPr>
              <a:t>several modules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BFE48-D4F9-4A90-9C90-72E6F4E5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8582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05A"/>
          </a:solidFill>
          <a:ln xmlns:a="http://schemas.openxmlformats.org/drawingml/2006/main" w="0">
            <a:solidFill>
              <a:srgbClr val="4550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24348C-8EF9-4973-B919-B8FE6EBA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0297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defRPr>
            </a:pPr>
            <a:r>
              <a:rPr sz="1200" b="1" i="0">
                <a:solidFill>
                  <a:srgbClr val="20242B"/>
                </a:solidFill>
                <a:latin typeface="Cambria"/>
                <a:ea typeface="Cambria"/>
                <a:cs typeface="Cambria"/>
              </a:rPr>
              <a:t>General Harness ⊃ General Time-Series Harness ⊃ Task-Specific Harness</a:t>
            </a:r>
          </a:p>
        </p:txBody>
      </p:sp>
    </p:spTree>
    <p:extLst>
      <p:ext uri="{BB962C8B-B14F-4D97-AF65-F5344CB8AC3E}">
        <p14:creationId xmlns:p14="http://schemas.microsoft.com/office/powerpoint/2010/main" val="1745488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9CDD86DC-FCF8-4884-89C6-CE429CFC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0989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BF5E8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7D704DEA-C61E-4A44-9F2C-32188679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35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5FC75D04-77FD-4B3F-A2F3-6180E610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0080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78A66231-03F3-4606-AB98-A3E3A223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4626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B3D042A1-3FD7-4F68-8B68-D1C09E41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9171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4EFF8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E25E3F97-171D-4D1B-A5A0-C7ECAD97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3717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6F6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6A1F8D9E-4CA0-415A-9E04-50EC912D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4218" y="9730930"/>
            <a:ext cx="8096134" cy="560502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25400">
            <a:solidFill>
              <a:srgbClr val="2832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F06E9421-4286-4672-A74B-D1DCCF8D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7710EB73-5F23-4EDD-A89E-AA1241A9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9C7908F3-9654-4E0D-9CE3-933464E6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899F6758-1CD3-4C6A-B69D-BB2AB0D3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A45632D4-A62F-48E3-9640-7CF9B53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54570F6C-6863-443F-AD98-FCF5897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66154C1D-6508-43AF-975A-5E47E021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19E12C54-6092-499B-BC9A-505CDF7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F51E1FB7-5036-4C03-86B7-3E877453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928720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AEF87817-0B8A-4638-9FC2-F925D2CE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B1585E53-F989-438D-8539-C9E5922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AD90E1DA-ABDC-4D71-B25A-44C7B3CF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oundrect 21">
            <a:extLst xmlns:a="http://schemas.openxmlformats.org/drawingml/2006/main">
              <a:ext uri="{FF2B5EF4-FFF2-40B4-BE49-F238E27FC236}">
                <a16:creationId xmlns:a16="http://schemas.microsoft.com/office/drawing/2014/main" id="{D28F550F-F2BA-45F7-8E12-18D86940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rect 22">
            <a:extLst xmlns:a="http://schemas.openxmlformats.org/drawingml/2006/main">
              <a:ext uri="{FF2B5EF4-FFF2-40B4-BE49-F238E27FC236}">
                <a16:creationId xmlns:a16="http://schemas.microsoft.com/office/drawing/2014/main" id="{1065EFA3-2FAE-4009-9C87-1669A99B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rect 23">
            <a:extLst xmlns:a="http://schemas.openxmlformats.org/drawingml/2006/main">
              <a:ext uri="{FF2B5EF4-FFF2-40B4-BE49-F238E27FC236}">
                <a16:creationId xmlns:a16="http://schemas.microsoft.com/office/drawing/2014/main" id="{61099AAE-953C-45F2-89B9-473C4480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oundrect 24">
            <a:extLst xmlns:a="http://schemas.openxmlformats.org/drawingml/2006/main">
              <a:ext uri="{FF2B5EF4-FFF2-40B4-BE49-F238E27FC236}">
                <a16:creationId xmlns:a16="http://schemas.microsoft.com/office/drawing/2014/main" id="{C9EA93FB-6BFD-46DC-8DF4-BE6A0740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oundrect 25">
            <a:extLst xmlns:a="http://schemas.openxmlformats.org/drawingml/2006/main">
              <a:ext uri="{FF2B5EF4-FFF2-40B4-BE49-F238E27FC236}">
                <a16:creationId xmlns:a16="http://schemas.microsoft.com/office/drawing/2014/main" id="{FEF528B5-469B-4439-AE4D-74302F5E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oundrect 26">
            <a:extLst xmlns:a="http://schemas.openxmlformats.org/drawingml/2006/main">
              <a:ext uri="{FF2B5EF4-FFF2-40B4-BE49-F238E27FC236}">
                <a16:creationId xmlns:a16="http://schemas.microsoft.com/office/drawing/2014/main" id="{6301C77C-4685-404D-9A49-88D248E9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oundrect 27">
            <a:extLst xmlns:a="http://schemas.openxmlformats.org/drawingml/2006/main">
              <a:ext uri="{FF2B5EF4-FFF2-40B4-BE49-F238E27FC236}">
                <a16:creationId xmlns:a16="http://schemas.microsoft.com/office/drawing/2014/main" id="{192E68CE-197E-4B15-BB76-FE224571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rect 28">
            <a:extLst xmlns:a="http://schemas.openxmlformats.org/drawingml/2006/main">
              <a:ext uri="{FF2B5EF4-FFF2-40B4-BE49-F238E27FC236}">
                <a16:creationId xmlns:a16="http://schemas.microsoft.com/office/drawing/2014/main" id="{75FF6432-5839-4358-AA27-BDEAFADA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rect 29">
            <a:extLst xmlns:a="http://schemas.openxmlformats.org/drawingml/2006/main">
              <a:ext uri="{FF2B5EF4-FFF2-40B4-BE49-F238E27FC236}">
                <a16:creationId xmlns:a16="http://schemas.microsoft.com/office/drawing/2014/main" id="{3462AF6C-56D0-4049-8681-EE5929E5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oundrect 30">
            <a:extLst xmlns:a="http://schemas.openxmlformats.org/drawingml/2006/main">
              <a:ext uri="{FF2B5EF4-FFF2-40B4-BE49-F238E27FC236}">
                <a16:creationId xmlns:a16="http://schemas.microsoft.com/office/drawing/2014/main" id="{DF174B9E-42E1-479A-BE9C-BC2A79B5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oundrect 31">
            <a:extLst xmlns:a="http://schemas.openxmlformats.org/drawingml/2006/main">
              <a:ext uri="{FF2B5EF4-FFF2-40B4-BE49-F238E27FC236}">
                <a16:creationId xmlns:a16="http://schemas.microsoft.com/office/drawing/2014/main" id="{FB7E262F-5A91-4837-B56D-9D2F165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oundrect 32">
            <a:extLst xmlns:a="http://schemas.openxmlformats.org/drawingml/2006/main">
              <a:ext uri="{FF2B5EF4-FFF2-40B4-BE49-F238E27FC236}">
                <a16:creationId xmlns:a16="http://schemas.microsoft.com/office/drawing/2014/main" id="{195548BA-0380-4407-BD43-DDE6ECCF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oundrect 33">
            <a:extLst xmlns:a="http://schemas.openxmlformats.org/drawingml/2006/main">
              <a:ext uri="{FF2B5EF4-FFF2-40B4-BE49-F238E27FC236}">
                <a16:creationId xmlns:a16="http://schemas.microsoft.com/office/drawing/2014/main" id="{43C37C23-2F11-4C5C-A43F-E5B6DA93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oundrect 34">
            <a:extLst xmlns:a="http://schemas.openxmlformats.org/drawingml/2006/main">
              <a:ext uri="{FF2B5EF4-FFF2-40B4-BE49-F238E27FC236}">
                <a16:creationId xmlns:a16="http://schemas.microsoft.com/office/drawing/2014/main" id="{28BCC59A-66DB-4734-835C-36244241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oundrect 35">
            <a:extLst xmlns:a="http://schemas.openxmlformats.org/drawingml/2006/main">
              <a:ext uri="{FF2B5EF4-FFF2-40B4-BE49-F238E27FC236}">
                <a16:creationId xmlns:a16="http://schemas.microsoft.com/office/drawing/2014/main" id="{CC3F6E27-6911-4D91-A530-6231289C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oundrect 36">
            <a:extLst xmlns:a="http://schemas.openxmlformats.org/drawingml/2006/main">
              <a:ext uri="{FF2B5EF4-FFF2-40B4-BE49-F238E27FC236}">
                <a16:creationId xmlns:a16="http://schemas.microsoft.com/office/drawing/2014/main" id="{EED898A5-FA76-4441-AAC2-BF6AA4AE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oundrect 37">
            <a:extLst xmlns:a="http://schemas.openxmlformats.org/drawingml/2006/main">
              <a:ext uri="{FF2B5EF4-FFF2-40B4-BE49-F238E27FC236}">
                <a16:creationId xmlns:a16="http://schemas.microsoft.com/office/drawing/2014/main" id="{6D759512-AAE8-4AD8-81F7-C934946D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oundrect 38">
            <a:extLst xmlns:a="http://schemas.openxmlformats.org/drawingml/2006/main">
              <a:ext uri="{FF2B5EF4-FFF2-40B4-BE49-F238E27FC236}">
                <a16:creationId xmlns:a16="http://schemas.microsoft.com/office/drawing/2014/main" id="{6969DB6D-4F16-4740-A75E-0033507B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oundrect 39">
            <a:extLst xmlns:a="http://schemas.openxmlformats.org/drawingml/2006/main">
              <a:ext uri="{FF2B5EF4-FFF2-40B4-BE49-F238E27FC236}">
                <a16:creationId xmlns:a16="http://schemas.microsoft.com/office/drawing/2014/main" id="{DB5F8125-7828-402C-AE57-A2FC39D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oundrect 40">
            <a:extLst xmlns:a="http://schemas.openxmlformats.org/drawingml/2006/main">
              <a:ext uri="{FF2B5EF4-FFF2-40B4-BE49-F238E27FC236}">
                <a16:creationId xmlns:a16="http://schemas.microsoft.com/office/drawing/2014/main" id="{7B9CF03C-3559-4291-A737-4C84D1AB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oundrect 41">
            <a:extLst xmlns:a="http://schemas.openxmlformats.org/drawingml/2006/main">
              <a:ext uri="{FF2B5EF4-FFF2-40B4-BE49-F238E27FC236}">
                <a16:creationId xmlns:a16="http://schemas.microsoft.com/office/drawing/2014/main" id="{F83E9FD8-9058-465E-86C7-56935E52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Roundrect 42">
            <a:extLst xmlns:a="http://schemas.openxmlformats.org/drawingml/2006/main">
              <a:ext uri="{FF2B5EF4-FFF2-40B4-BE49-F238E27FC236}">
                <a16:creationId xmlns:a16="http://schemas.microsoft.com/office/drawing/2014/main" id="{738D31BF-7B7F-464B-98C1-1D08B3A5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Roundrect 43">
            <a:extLst xmlns:a="http://schemas.openxmlformats.org/drawingml/2006/main">
              <a:ext uri="{FF2B5EF4-FFF2-40B4-BE49-F238E27FC236}">
                <a16:creationId xmlns:a16="http://schemas.microsoft.com/office/drawing/2014/main" id="{B3235D38-263D-4F44-A2DA-0C8E3AF2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oundrect 44">
            <a:extLst xmlns:a="http://schemas.openxmlformats.org/drawingml/2006/main">
              <a:ext uri="{FF2B5EF4-FFF2-40B4-BE49-F238E27FC236}">
                <a16:creationId xmlns:a16="http://schemas.microsoft.com/office/drawing/2014/main" id="{A30CD4C4-A33F-4956-AD2B-4486AE7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oundrect 45">
            <a:extLst xmlns:a="http://schemas.openxmlformats.org/drawingml/2006/main">
              <a:ext uri="{FF2B5EF4-FFF2-40B4-BE49-F238E27FC236}">
                <a16:creationId xmlns:a16="http://schemas.microsoft.com/office/drawing/2014/main" id="{1D3A59B7-1FF6-4CF9-AA99-62457128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oundrect 46">
            <a:extLst xmlns:a="http://schemas.openxmlformats.org/drawingml/2006/main">
              <a:ext uri="{FF2B5EF4-FFF2-40B4-BE49-F238E27FC236}">
                <a16:creationId xmlns:a16="http://schemas.microsoft.com/office/drawing/2014/main" id="{1F79B3AE-BE82-4187-8996-F3121422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16415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Roundrect 47">
            <a:extLst xmlns:a="http://schemas.openxmlformats.org/drawingml/2006/main">
              <a:ext uri="{FF2B5EF4-FFF2-40B4-BE49-F238E27FC236}">
                <a16:creationId xmlns:a16="http://schemas.microsoft.com/office/drawing/2014/main" id="{A5DFC704-07E7-4761-8593-1A16605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436625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Roundrect 48">
            <a:extLst xmlns:a="http://schemas.openxmlformats.org/drawingml/2006/main">
              <a:ext uri="{FF2B5EF4-FFF2-40B4-BE49-F238E27FC236}">
                <a16:creationId xmlns:a16="http://schemas.microsoft.com/office/drawing/2014/main" id="{9412D2BB-2E28-46A8-B106-FECEA618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Roundrect 49">
            <a:extLst xmlns:a="http://schemas.openxmlformats.org/drawingml/2006/main">
              <a:ext uri="{FF2B5EF4-FFF2-40B4-BE49-F238E27FC236}">
                <a16:creationId xmlns:a16="http://schemas.microsoft.com/office/drawing/2014/main" id="{569253CD-99FC-42BE-9092-CA62BF14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oundrect 50">
            <a:extLst xmlns:a="http://schemas.openxmlformats.org/drawingml/2006/main">
              <a:ext uri="{FF2B5EF4-FFF2-40B4-BE49-F238E27FC236}">
                <a16:creationId xmlns:a16="http://schemas.microsoft.com/office/drawing/2014/main" id="{31193EB7-A4C8-49D0-B4AD-F323172E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oundrect 51">
            <a:extLst xmlns:a="http://schemas.openxmlformats.org/drawingml/2006/main">
              <a:ext uri="{FF2B5EF4-FFF2-40B4-BE49-F238E27FC236}">
                <a16:creationId xmlns:a16="http://schemas.microsoft.com/office/drawing/2014/main" id="{AA79971A-9A31-40F2-B574-237BBFEF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Roundrect 52">
            <a:extLst xmlns:a="http://schemas.openxmlformats.org/drawingml/2006/main">
              <a:ext uri="{FF2B5EF4-FFF2-40B4-BE49-F238E27FC236}">
                <a16:creationId xmlns:a16="http://schemas.microsoft.com/office/drawing/2014/main" id="{80641C2D-41BF-4676-930E-B4F0C5C6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Line 53">
            <a:extLst xmlns:a="http://schemas.openxmlformats.org/drawingml/2006/main">
              <a:ext uri="{FF2B5EF4-FFF2-40B4-BE49-F238E27FC236}">
                <a16:creationId xmlns:a16="http://schemas.microsoft.com/office/drawing/2014/main" id="{EAAC5FBD-DFF8-4104-B0E8-170DC83B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8398" y="2179728"/>
            <a:ext cx="0" cy="7200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77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Line 54">
            <a:extLst xmlns:a="http://schemas.openxmlformats.org/drawingml/2006/main">
              <a:ext uri="{FF2B5EF4-FFF2-40B4-BE49-F238E27FC236}">
                <a16:creationId xmlns:a16="http://schemas.microsoft.com/office/drawing/2014/main" id="{39F983C6-1336-4228-A65F-296BBC2C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2335423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Line 55">
            <a:extLst xmlns:a="http://schemas.openxmlformats.org/drawingml/2006/main">
              <a:ext uri="{FF2B5EF4-FFF2-40B4-BE49-F238E27FC236}">
                <a16:creationId xmlns:a16="http://schemas.microsoft.com/office/drawing/2014/main" id="{A0002D18-8A61-4F27-8EDC-5BE53C5D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4048067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Line 56">
            <a:extLst xmlns:a="http://schemas.openxmlformats.org/drawingml/2006/main">
              <a:ext uri="{FF2B5EF4-FFF2-40B4-BE49-F238E27FC236}">
                <a16:creationId xmlns:a16="http://schemas.microsoft.com/office/drawing/2014/main" id="{10E85771-05B6-48AB-BE7A-245DADCB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5760711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Line 57">
            <a:extLst xmlns:a="http://schemas.openxmlformats.org/drawingml/2006/main">
              <a:ext uri="{FF2B5EF4-FFF2-40B4-BE49-F238E27FC236}">
                <a16:creationId xmlns:a16="http://schemas.microsoft.com/office/drawing/2014/main" id="{102C520C-A4CC-49DF-BEFC-8420A07A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7473354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Line 58">
            <a:extLst xmlns:a="http://schemas.openxmlformats.org/drawingml/2006/main">
              <a:ext uri="{FF2B5EF4-FFF2-40B4-BE49-F238E27FC236}">
                <a16:creationId xmlns:a16="http://schemas.microsoft.com/office/drawing/2014/main" id="{89B4FADA-487E-4B78-98ED-FAB6B301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9185998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Line 59">
            <a:extLst xmlns:a="http://schemas.openxmlformats.org/drawingml/2006/main">
              <a:ext uri="{FF2B5EF4-FFF2-40B4-BE49-F238E27FC236}">
                <a16:creationId xmlns:a16="http://schemas.microsoft.com/office/drawing/2014/main" id="{3190B587-571D-4374-A3E0-B32D3083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693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Line 60">
            <a:extLst xmlns:a="http://schemas.openxmlformats.org/drawingml/2006/main">
              <a:ext uri="{FF2B5EF4-FFF2-40B4-BE49-F238E27FC236}">
                <a16:creationId xmlns:a16="http://schemas.microsoft.com/office/drawing/2014/main" id="{6C46D364-9D83-447F-B232-D31F6A4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238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Line 61">
            <a:extLst xmlns:a="http://schemas.openxmlformats.org/drawingml/2006/main">
              <a:ext uri="{FF2B5EF4-FFF2-40B4-BE49-F238E27FC236}">
                <a16:creationId xmlns:a16="http://schemas.microsoft.com/office/drawing/2014/main" id="{9BDFA4F1-83C6-4AF4-95A8-CBFBB7B9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1784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Line 62">
            <a:extLst xmlns:a="http://schemas.openxmlformats.org/drawingml/2006/main">
              <a:ext uri="{FF2B5EF4-FFF2-40B4-BE49-F238E27FC236}">
                <a16:creationId xmlns:a16="http://schemas.microsoft.com/office/drawing/2014/main" id="{D830A6F3-67A0-468D-B545-FE57FA6E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6329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Line 63">
            <a:extLst xmlns:a="http://schemas.openxmlformats.org/drawingml/2006/main">
              <a:ext uri="{FF2B5EF4-FFF2-40B4-BE49-F238E27FC236}">
                <a16:creationId xmlns:a16="http://schemas.microsoft.com/office/drawing/2014/main" id="{DD0543F9-BD47-4EAA-9E7A-C5275E8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30875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Line 64">
            <a:extLst xmlns:a="http://schemas.openxmlformats.org/drawingml/2006/main">
              <a:ext uri="{FF2B5EF4-FFF2-40B4-BE49-F238E27FC236}">
                <a16:creationId xmlns:a16="http://schemas.microsoft.com/office/drawing/2014/main" id="{2A7807D4-3BE2-4B6D-8ADD-538869BB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5420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Ellipse 65">
            <a:extLst xmlns:a="http://schemas.openxmlformats.org/drawingml/2006/main">
              <a:ext uri="{FF2B5EF4-FFF2-40B4-BE49-F238E27FC236}">
                <a16:creationId xmlns:a16="http://schemas.microsoft.com/office/drawing/2014/main" id="{87ADE0BA-E771-4816-87F5-9FA086B3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5921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Ellipse 66">
            <a:extLst xmlns:a="http://schemas.openxmlformats.org/drawingml/2006/main">
              <a:ext uri="{FF2B5EF4-FFF2-40B4-BE49-F238E27FC236}">
                <a16:creationId xmlns:a16="http://schemas.microsoft.com/office/drawing/2014/main" id="{D42535FB-F10D-4BB7-ACE1-6370F752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0467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Ellipse 67">
            <a:extLst xmlns:a="http://schemas.openxmlformats.org/drawingml/2006/main">
              <a:ext uri="{FF2B5EF4-FFF2-40B4-BE49-F238E27FC236}">
                <a16:creationId xmlns:a16="http://schemas.microsoft.com/office/drawing/2014/main" id="{DA83BD96-614F-48D8-9899-3CA8B59E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5012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Ellipse 68">
            <a:extLst xmlns:a="http://schemas.openxmlformats.org/drawingml/2006/main">
              <a:ext uri="{FF2B5EF4-FFF2-40B4-BE49-F238E27FC236}">
                <a16:creationId xmlns:a16="http://schemas.microsoft.com/office/drawing/2014/main" id="{A1DCD600-29C6-4D6F-8ABB-F3CB9B78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9558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Ellipse 69">
            <a:extLst xmlns:a="http://schemas.openxmlformats.org/drawingml/2006/main">
              <a:ext uri="{FF2B5EF4-FFF2-40B4-BE49-F238E27FC236}">
                <a16:creationId xmlns:a16="http://schemas.microsoft.com/office/drawing/2014/main" id="{5A5988F2-E6F3-4F3B-9520-3D7EE792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4103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Ellipse 70">
            <a:extLst xmlns:a="http://schemas.openxmlformats.org/drawingml/2006/main">
              <a:ext uri="{FF2B5EF4-FFF2-40B4-BE49-F238E27FC236}">
                <a16:creationId xmlns:a16="http://schemas.microsoft.com/office/drawing/2014/main" id="{ED298645-8E18-46CB-A269-9E1E504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8649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90230E22-212B-4135-A572-CFE4016E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9286" y="171264"/>
            <a:ext cx="7006270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2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Research routes in Time-Series Agent systems</a:t>
            </a:r>
            <a:endParaRPr sz="2120"/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6A557E2D-2A4E-4FFC-B179-3E681F86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856" y="560502"/>
            <a:ext cx="7629049" cy="280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20" b="1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Representative module contributions by first public year | LLM and Harness layers</a:t>
            </a:r>
            <a:endParaRPr sz="1320"/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72240188-D014-41AC-9EB1-40BFAA54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LLM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side</a:t>
            </a:r>
            <a:endParaRPr sz="1310"/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712B0D51-33F6-45D6-B0E4-F52049F2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Representation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Alignment</a:t>
            </a:r>
            <a:endParaRPr sz="910"/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156B039E-6C96-49D5-980A-A69052F5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General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7191C9AF-23A8-4CC7-8459-D2AE9E92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Tools and memory</a:t>
            </a:r>
            <a:endParaRPr sz="819"/>
          </a:p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Control and planning</a:t>
            </a:r>
            <a:endParaRPr sz="819"/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30EEDD09-09A1-4711-9805-22C7D11E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General Time-Series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EDB5D8E2-7B48-46CD-A806-836ECC68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Temporal state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Operations and grounding</a:t>
            </a:r>
            <a:endParaRPr sz="910"/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ECCAB1BF-2C4E-40E7-83D9-13CC519E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Task-Specific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717B5D60-2F1B-4943-963E-CF1EC9D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Forecasting and prediction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Anomaly and diagnosis</a:t>
            </a:r>
            <a:endParaRPr sz="860"/>
          </a:p>
        </p:txBody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D6E38A12-7D32-455C-BF01-7FE6B32E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Infrastructure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and benchmarks</a:t>
            </a:r>
            <a:endParaRPr sz="1310"/>
          </a:p>
        </p:txBody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9168166E-0652-4CA5-93B3-B6D8A67B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Episodes, traces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TimeSeriesGym and ModernTSF</a:t>
            </a:r>
            <a:endParaRPr sz="910"/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ABA2C25A-FED8-4B9E-8BDF-073D279D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Paper-card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database</a:t>
            </a:r>
            <a:endParaRPr sz="1310"/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65BA669D-B105-4BFE-9CBA-96CD8E92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Claim, evidence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module-level counts</a:t>
            </a:r>
            <a:endParaRPr sz="860"/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2B629AF3-020C-4B30-9B1D-CE5A0248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2242006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2026</a:t>
            </a:r>
            <a:endParaRPr sz="1400"/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795DF39C-6BD9-4C0D-9D14-8A13846F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3954650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2025</a:t>
            </a:r>
            <a:endParaRPr sz="1400"/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7A35FE96-D740-47C6-BF1A-4597CC44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5667294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2024</a:t>
            </a:r>
            <a:endParaRPr sz="1400"/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0A577051-DFC8-402D-8349-E4464BD5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7379938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2023</a:t>
            </a:r>
            <a:endParaRPr sz="1400"/>
          </a:p>
        </p:txBody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A277283F-07BB-4642-B123-3AA9CB7D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9092581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2022</a:t>
            </a:r>
            <a:endParaRPr sz="1400"/>
          </a:p>
        </p:txBody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B9271E91-D161-4830-A5BF-039320A0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ChatTS</a:t>
            </a:r>
            <a:endParaRPr sz="1100"/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2659FC9E-9CE6-4FAF-BF82-3DE7EC2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Time-LLM</a:t>
            </a:r>
            <a:endParaRPr sz="1100"/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EA69971C-EB4A-4711-8102-D2F421E1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LLM4TS</a:t>
            </a:r>
            <a:endParaRPr sz="1100"/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BF483C6E-A89D-40E2-890C-247D9DEF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TimeMaster</a:t>
            </a:r>
            <a:endParaRPr sz="1100"/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01E5E7EA-E9FA-4D09-9AF8-4E92EA61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83C2625C-35F2-4B9C-BF58-DC1AE96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AE4EF287-9D92-4B83-A83D-AA7ADFCE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9E729D18-C9CA-4103-86E0-F1903018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F2219591-1BD2-46C6-ABAD-735D53CD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32612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Memory Bank</a:t>
            </a:r>
            <a:endParaRPr sz="1100"/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D03B809E-7F0E-4FD1-8F3F-73E3585D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Reflection</a:t>
            </a:r>
            <a:endParaRPr sz="1100"/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1F847B21-8EB5-4345-A3D5-A96028F2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FF20F77D-1EED-4CFB-806B-E0F00D1D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Temporal grounding</a:t>
            </a:r>
            <a:endParaRPr sz="1100"/>
          </a:p>
        </p:txBody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F243A0CA-C8B2-41D0-8970-E9E5ABCF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Forecasting</a:t>
            </a:r>
            <a:endParaRPr sz="1100"/>
          </a:p>
        </p:txBody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9B952375-3A53-4B4E-8552-DED673D3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Anomaly diagnosis</a:t>
            </a:r>
            <a:endParaRPr sz="1100"/>
          </a:p>
        </p:txBody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1B5B515F-100B-4F66-9D24-56FB340C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Augmentation</a:t>
            </a:r>
            <a:endParaRPr sz="1100"/>
          </a:p>
        </p:txBody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97EC3110-E288-40D9-A023-83DBF587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Decision support</a:t>
            </a:r>
            <a:endParaRPr sz="980"/>
          </a:p>
        </p:txBody>
      </p:sp>
      <p:sp>
        <p:nvSpPr>
          <p:cNvPr id="106" name="TextBox 106">
            <a:extLst xmlns:a="http://schemas.openxmlformats.org/drawingml/2006/main">
              <a:ext uri="{FF2B5EF4-FFF2-40B4-BE49-F238E27FC236}">
                <a16:creationId xmlns:a16="http://schemas.microsoft.com/office/drawing/2014/main" id="{E0FFF806-AAAB-4B40-B9A5-9C81D431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61CEF974-D841-4CB2-85B2-17E2B379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413416D8-A306-4ED2-B887-FE0EEEA7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A00DE15C-100A-4D92-AD06-E1536E6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2EC2048A-14A9-496F-89C8-D52581C4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111" name="TextBox 111">
            <a:extLst xmlns:a="http://schemas.openxmlformats.org/drawingml/2006/main">
              <a:ext uri="{FF2B5EF4-FFF2-40B4-BE49-F238E27FC236}">
                <a16:creationId xmlns:a16="http://schemas.microsoft.com/office/drawing/2014/main" id="{8AD5C291-4D74-4013-AA44-4CFA4BC5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2644C90A-1F06-41D4-B7DD-388A5810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D07DEF61-01BB-46E6-85F8-E215A267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11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7E71C7BD-5AC4-4438-AB68-A88200E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1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1F43F590-0764-4DE7-ADE5-723D6B9B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BEFD31C9-1900-4DB7-83E9-C2ECE153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7" name="TextBox 117">
            <a:extLst xmlns:a="http://schemas.openxmlformats.org/drawingml/2006/main">
              <a:ext uri="{FF2B5EF4-FFF2-40B4-BE49-F238E27FC236}">
                <a16:creationId xmlns:a16="http://schemas.microsoft.com/office/drawing/2014/main" id="{34743B94-69FE-4938-93D0-435F022D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18" name="TextBox 118">
            <a:extLst xmlns:a="http://schemas.openxmlformats.org/drawingml/2006/main">
              <a:ext uri="{FF2B5EF4-FFF2-40B4-BE49-F238E27FC236}">
                <a16:creationId xmlns:a16="http://schemas.microsoft.com/office/drawing/2014/main" id="{400A5B71-E231-44EB-9FDB-1D07340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25179CFD-EA00-42DA-8549-1506230A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TraceBench</a:t>
            </a:r>
            <a:endParaRPr sz="800"/>
          </a:p>
        </p:txBody>
      </p:sp>
      <p:sp>
        <p:nvSpPr>
          <p:cNvPr id="120" name="TextBox 120">
            <a:extLst xmlns:a="http://schemas.openxmlformats.org/drawingml/2006/main">
              <a:ext uri="{FF2B5EF4-FFF2-40B4-BE49-F238E27FC236}">
                <a16:creationId xmlns:a16="http://schemas.microsoft.com/office/drawing/2014/main" id="{9FF93883-AA61-4355-B652-C9AB972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Bench</a:t>
            </a:r>
            <a:endParaRPr sz="1100"/>
          </a:p>
        </p:txBody>
      </p:sp>
      <p:sp>
        <p:nvSpPr>
          <p:cNvPr id="121" name="TextBox 121">
            <a:extLst xmlns:a="http://schemas.openxmlformats.org/drawingml/2006/main">
              <a:ext uri="{FF2B5EF4-FFF2-40B4-BE49-F238E27FC236}">
                <a16:creationId xmlns:a16="http://schemas.microsoft.com/office/drawing/2014/main" id="{62999255-C53F-4587-B464-F4A9EC5D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Verify</a:t>
            </a:r>
            <a:endParaRPr sz="800"/>
          </a:p>
        </p:txBody>
      </p:sp>
      <p:sp>
        <p:nvSpPr>
          <p:cNvPr id="122" name="TextBox 122">
            <a:extLst xmlns:a="http://schemas.openxmlformats.org/drawingml/2006/main">
              <a:ext uri="{FF2B5EF4-FFF2-40B4-BE49-F238E27FC236}">
                <a16:creationId xmlns:a16="http://schemas.microsoft.com/office/drawing/2014/main" id="{FAE1412F-7706-4B28-A93D-4696C851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Calib.</a:t>
            </a:r>
            <a:endParaRPr sz="1100"/>
          </a:p>
        </p:txBody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9B5DFC48-B373-4587-A4A9-A4397B65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Audit</a:t>
            </a:r>
            <a:endParaRPr sz="1100"/>
          </a:p>
        </p:txBody>
      </p:sp>
      <p:sp>
        <p:nvSpPr>
          <p:cNvPr id="124" name="TextBox 124">
            <a:extLst xmlns:a="http://schemas.openxmlformats.org/drawingml/2006/main">
              <a:ext uri="{FF2B5EF4-FFF2-40B4-BE49-F238E27FC236}">
                <a16:creationId xmlns:a16="http://schemas.microsoft.com/office/drawing/2014/main" id="{5E67EFB9-CE85-4B01-9015-454D4854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Audit</a:t>
            </a:r>
            <a:endParaRPr sz="1100"/>
          </a:p>
        </p:txBody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DE0DDAA7-A406-4B7D-BCA6-AD23F98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Reproducibility</a:t>
            </a:r>
            <a:endParaRPr sz="1040"/>
          </a:p>
        </p:txBody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39520D56-464A-453A-B6FC-A7ADFFCA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Paper card</a:t>
            </a:r>
            <a:endParaRPr sz="1100"/>
          </a:p>
        </p:txBody>
      </p:sp>
      <p:sp>
        <p:nvSpPr>
          <p:cNvPr id="127" name="TextBox 127">
            <a:extLst xmlns:a="http://schemas.openxmlformats.org/drawingml/2006/main">
              <a:ext uri="{FF2B5EF4-FFF2-40B4-BE49-F238E27FC236}">
                <a16:creationId xmlns:a16="http://schemas.microsoft.com/office/drawing/2014/main" id="{85E57A1C-F225-4F7F-BBEB-A94DD63D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203083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Ledger</a:t>
            </a:r>
            <a:endParaRPr sz="880"/>
          </a:p>
        </p:txBody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8FB72DF4-8B23-440C-8133-18E9E8C0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475549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Module tags</a:t>
            </a:r>
            <a:endParaRPr sz="1100"/>
          </a:p>
        </p:txBody>
      </p:sp>
      <p:sp>
        <p:nvSpPr>
          <p:cNvPr id="129" name="TextBox 129">
            <a:extLst xmlns:a="http://schemas.openxmlformats.org/drawingml/2006/main">
              <a:ext uri="{FF2B5EF4-FFF2-40B4-BE49-F238E27FC236}">
                <a16:creationId xmlns:a16="http://schemas.microsoft.com/office/drawing/2014/main" id="{FC7C1CC2-7E5D-4016-B813-4F68589B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Open tasks</a:t>
            </a:r>
            <a:endParaRPr sz="1100"/>
          </a:p>
        </p:txBody>
      </p:sp>
      <p:sp>
        <p:nvSpPr>
          <p:cNvPr id="130" name="TextBox 130">
            <a:extLst xmlns:a="http://schemas.openxmlformats.org/drawingml/2006/main">
              <a:ext uri="{FF2B5EF4-FFF2-40B4-BE49-F238E27FC236}">
                <a16:creationId xmlns:a16="http://schemas.microsoft.com/office/drawing/2014/main" id="{5C5070AA-53EB-4CF2-8227-7DA73355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Case studies</a:t>
            </a:r>
            <a:endParaRPr sz="1100"/>
          </a:p>
        </p:txBody>
      </p:sp>
      <p:sp>
        <p:nvSpPr>
          <p:cNvPr id="131" name="TextBox 131">
            <a:extLst xmlns:a="http://schemas.openxmlformats.org/drawingml/2006/main">
              <a:ext uri="{FF2B5EF4-FFF2-40B4-BE49-F238E27FC236}">
                <a16:creationId xmlns:a16="http://schemas.microsoft.com/office/drawing/2014/main" id="{482D7A51-340A-43F6-9B35-0ABC560E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Surveys</a:t>
            </a:r>
            <a:endParaRPr sz="1100"/>
          </a:p>
        </p:txBody>
      </p:sp>
      <p:sp>
        <p:nvSpPr>
          <p:cNvPr id="132" name="TextBox 132">
            <a:extLst xmlns:a="http://schemas.openxmlformats.org/drawingml/2006/main">
              <a:ext uri="{FF2B5EF4-FFF2-40B4-BE49-F238E27FC236}">
                <a16:creationId xmlns:a16="http://schemas.microsoft.com/office/drawing/2014/main" id="{22334210-1A82-4665-B986-4C7153F2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BibTeX</a:t>
            </a:r>
            <a:endParaRPr sz="1100"/>
          </a:p>
        </p:txBody>
      </p:sp>
      <p:sp>
        <p:nvSpPr>
          <p:cNvPr id="133" name="TextBox 133">
            <a:extLst xmlns:a="http://schemas.openxmlformats.org/drawingml/2006/main">
              <a:ext uri="{FF2B5EF4-FFF2-40B4-BE49-F238E27FC236}">
                <a16:creationId xmlns:a16="http://schemas.microsoft.com/office/drawing/2014/main" id="{21AE03D6-DC14-44E0-AFC5-660108E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Claims</a:t>
            </a:r>
            <a:endParaRPr sz="1100"/>
          </a:p>
        </p:txBody>
      </p:sp>
      <p:sp>
        <p:nvSpPr>
          <p:cNvPr id="134" name="TextBox 134">
            <a:extLst xmlns:a="http://schemas.openxmlformats.org/drawingml/2006/main">
              <a:ext uri="{FF2B5EF4-FFF2-40B4-BE49-F238E27FC236}">
                <a16:creationId xmlns:a16="http://schemas.microsoft.com/office/drawing/2014/main" id="{5B722010-6863-4232-8C61-AB552866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913" y="9808778"/>
            <a:ext cx="2335423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◫   2003 | Gödel Machine</a:t>
            </a:r>
            <a:endParaRPr sz="1100"/>
          </a:p>
        </p:txBody>
      </p:sp>
      <p:sp>
        <p:nvSpPr>
          <p:cNvPr id="135" name="TextBox 135">
            <a:extLst xmlns:a="http://schemas.openxmlformats.org/drawingml/2006/main">
              <a:ext uri="{FF2B5EF4-FFF2-40B4-BE49-F238E27FC236}">
                <a16:creationId xmlns:a16="http://schemas.microsoft.com/office/drawing/2014/main" id="{04A6E7A5-21E1-49A2-AA29-E349F8C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1031" y="9808778"/>
            <a:ext cx="256896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◉   2016 | Learned optimizers</a:t>
            </a:r>
            <a:endParaRPr sz="1100"/>
          </a:p>
        </p:txBody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2009B9B8-83AB-4A63-9E74-A7E2077F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9234" y="9808778"/>
            <a:ext cx="194618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▣   2019 | POET</a:t>
            </a:r>
            <a:endParaRPr sz="1100"/>
          </a:p>
        </p:txBody>
      </p:sp>
      <p:sp>
        <p:nvSpPr>
          <p:cNvPr id="137" name="TextBox 137">
            <a:extLst xmlns:a="http://schemas.openxmlformats.org/drawingml/2006/main">
              <a:ext uri="{FF2B5EF4-FFF2-40B4-BE49-F238E27FC236}">
                <a16:creationId xmlns:a16="http://schemas.microsoft.com/office/drawing/2014/main" id="{9C4F8554-B481-4EFC-976B-E3B95B2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4845" y="10042320"/>
            <a:ext cx="6383490" cy="171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Marks: selected affiliations | Branches: research routes, not technical ancestry</a:t>
            </a:r>
            <a:endParaRPr sz="900"/>
          </a:p>
        </p:txBody>
      </p:sp>
      <p:sp>
        <p:nvSpPr>
          <p:cNvPr id="138" name="TextBox 138">
            <a:extLst xmlns:a="http://schemas.openxmlformats.org/drawingml/2006/main">
              <a:ext uri="{FF2B5EF4-FFF2-40B4-BE49-F238E27FC236}">
                <a16:creationId xmlns:a16="http://schemas.microsoft.com/office/drawing/2014/main" id="{A8C79982-13C1-4EC5-AF11-1263225D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074294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Figure 4. Research routes toward recursive self-improvement. Forty-five representative method papers are grouped into six research routes, with three historical anchors shown separately.</a:t>
            </a:r>
            <a:endParaRPr sz="750"/>
          </a:p>
        </p:txBody>
      </p:sp>
      <p:sp>
        <p:nvSpPr>
          <p:cNvPr id="139" name="TextBox 139">
            <a:extLst xmlns:a="http://schemas.openxmlformats.org/drawingml/2006/main">
              <a:ext uri="{FF2B5EF4-FFF2-40B4-BE49-F238E27FC236}">
                <a16:creationId xmlns:a16="http://schemas.microsoft.com/office/drawing/2014/main" id="{4503A69D-1A0F-4DF8-9A0F-B73C2A98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04655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Year bands use the first public dates in the checked source records; spacing within each band is adjusted for legibility. Branch lines denote research families.</a:t>
            </a:r>
            <a:endParaRPr sz="880"/>
          </a:p>
        </p:txBody>
      </p:sp>
      <p:sp>
        <p:nvSpPr>
          <p:cNvPr id="140" name="TextBox 140">
            <a:extLst xmlns:a="http://schemas.openxmlformats.org/drawingml/2006/main">
              <a:ext uri="{FF2B5EF4-FFF2-40B4-BE49-F238E27FC236}">
                <a16:creationId xmlns:a16="http://schemas.microsoft.com/office/drawing/2014/main" id="{B8E62A78-9B46-4C24-8BB0-2217A753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35015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Technical ancestry, cross-route transfer, and sustained recursive gains require separate evidence. The selection reflects the literature search through September 12, 2026.</a:t>
            </a:r>
            <a:endParaRPr sz="819"/>
          </a:p>
        </p:txBody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029B4149-6B05-4CAA-96D6-952C8C83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65376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Logos identify one selected author or work-done affiliation per study; “Ind.” denotes independent researchers. Affiliation and logo sources are documented separately.</a:t>
            </a:r>
            <a:endParaRPr sz="840"/>
          </a:p>
        </p:txBody>
      </p:sp>
    </p:spTree>
    <p:extLst>
      <p:ext uri="{BB962C8B-B14F-4D97-AF65-F5344CB8AC3E}">
        <p14:creationId xmlns:p14="http://schemas.microsoft.com/office/powerpoint/2010/main" val="1921906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 2">
            <a:extLst xmlns:a="http://schemas.openxmlformats.org/drawingml/2006/main">
              <a:ext uri="{FF2B5EF4-FFF2-40B4-BE49-F238E27FC236}">
                <a16:creationId xmlns:a16="http://schemas.microsoft.com/office/drawing/2014/main" id="{6D922EF4-B063-490D-8903-72C54354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D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 3">
            <a:extLst xmlns:a="http://schemas.openxmlformats.org/drawingml/2006/main">
              <a:ext uri="{FF2B5EF4-FFF2-40B4-BE49-F238E27FC236}">
                <a16:creationId xmlns:a16="http://schemas.microsoft.com/office/drawing/2014/main" id="{30E7032C-0AB5-48F4-8033-713D0C2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1641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D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 4">
            <a:extLst xmlns:a="http://schemas.openxmlformats.org/drawingml/2006/main">
              <a:ext uri="{FF2B5EF4-FFF2-40B4-BE49-F238E27FC236}">
                <a16:creationId xmlns:a16="http://schemas.microsoft.com/office/drawing/2014/main" id="{ADC370D1-EF3F-4C23-BDEC-01972BFF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37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 5">
            <a:extLst xmlns:a="http://schemas.openxmlformats.org/drawingml/2006/main">
              <a:ext uri="{FF2B5EF4-FFF2-40B4-BE49-F238E27FC236}">
                <a16:creationId xmlns:a16="http://schemas.microsoft.com/office/drawing/2014/main" id="{4D88240D-E6C1-4F0B-8880-2DE0484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09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F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4A6DADBD-9471-4436-A58A-D10A2CA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5066384"/>
            <a:ext cx="12909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8C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A7C59F45-833A-46F7-8B0A-0191A495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837E534D-10D9-4143-B6DC-5AA8F17D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2F3B81C9-7C9E-4FA6-B907-35A13A87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B6C8BD44-A532-4F61-8E42-12674F86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17AC2DAD-79FC-4F46-8A6B-5F47678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FD6CB028-8AEA-49EB-90D9-466523C5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BF77EFF9-65FB-4143-B82E-9A184BC9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72B26779-BD7D-4AC0-A640-DAC3D14E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D97FEC17-F9D9-42D0-AC84-0B347099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0573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B5483F6A-E085-4D18-AF40-CDD3A16D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3307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AC6619AB-E776-40A4-AD14-B9D65427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6042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D18D2F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2AEB32AF-BAC9-4520-A19C-8D416C67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8776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070B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AA2E2FBA-FD1B-46F6-B9FF-6D8DDBED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1172" y="4324445"/>
            <a:ext cx="0" cy="124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answer document revision icon">
            <a:extLst xmlns:a="http://schemas.openxmlformats.org/drawingml/2006/main">
              <a:ext uri="{FF2B5EF4-FFF2-40B4-BE49-F238E27FC236}">
                <a16:creationId xmlns:a16="http://schemas.microsoft.com/office/drawing/2014/main" id="{D0ACA4D4-12A0-47BA-87A1-3769C40E01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7163baac64f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06237" y="1695861"/>
            <a:ext cx="2035033" cy="1187102"/>
          </a:xfrm>
          <a:prstGeom xmlns:a="http://schemas.openxmlformats.org/drawingml/2006/main" prst="rect">
            <a:avLst/>
          </a:prstGeom>
        </p:spPr>
      </p:pic>
      <p:pic>
        <p:nvPicPr>
          <p:cNvPr id="21" name="memory document stack icon">
            <a:extLst xmlns:a="http://schemas.openxmlformats.org/drawingml/2006/main">
              <a:ext uri="{FF2B5EF4-FFF2-40B4-BE49-F238E27FC236}">
                <a16:creationId xmlns:a16="http://schemas.microsoft.com/office/drawing/2014/main" id="{4145B661-9A55-4294-875D-3ED7FE640C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1bfd60f5c4e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48187" y="1589869"/>
            <a:ext cx="1801852" cy="1536874"/>
          </a:xfrm>
          <a:prstGeom xmlns:a="http://schemas.openxmlformats.org/drawingml/2006/main" prst="rect">
            <a:avLst/>
          </a:prstGeom>
        </p:spPr>
      </p:pic>
      <p:pic>
        <p:nvPicPr>
          <p:cNvPr id="22" name="parameter neural network icon">
            <a:extLst xmlns:a="http://schemas.openxmlformats.org/drawingml/2006/main">
              <a:ext uri="{FF2B5EF4-FFF2-40B4-BE49-F238E27FC236}">
                <a16:creationId xmlns:a16="http://schemas.microsoft.com/office/drawing/2014/main" id="{3605B52F-E73D-42EA-86B4-5EBF63DDD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21f737efb40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949125" y="1579270"/>
            <a:ext cx="2268214" cy="1293094"/>
          </a:xfrm>
          <a:prstGeom xmlns:a="http://schemas.openxmlformats.org/drawingml/2006/main" prst="rect">
            <a:avLst/>
          </a:prstGeom>
        </p:spPr>
      </p:pic>
      <p:pic>
        <p:nvPicPr>
          <p:cNvPr id="23" name="improver procedure graph icon">
            <a:extLst xmlns:a="http://schemas.openxmlformats.org/drawingml/2006/main">
              <a:ext uri="{FF2B5EF4-FFF2-40B4-BE49-F238E27FC236}">
                <a16:creationId xmlns:a16="http://schemas.microsoft.com/office/drawing/2014/main" id="{96318641-317D-411B-A449-B4B41F187B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f9ad4761a4e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60661" y="1642865"/>
            <a:ext cx="1854848" cy="1165904"/>
          </a:xfrm>
          <a:prstGeom xmlns:a="http://schemas.openxmlformats.org/drawingml/2006/main" prst="rect">
            <a:avLst/>
          </a:prstGeom>
        </p:spPr>
      </p:pic>
      <p:pic>
        <p:nvPicPr>
          <p:cNvPr id="24" name="solver network icon">
            <a:extLst xmlns:a="http://schemas.openxmlformats.org/drawingml/2006/main">
              <a:ext uri="{FF2B5EF4-FFF2-40B4-BE49-F238E27FC236}">
                <a16:creationId xmlns:a16="http://schemas.microsoft.com/office/drawing/2014/main" id="{C8FAC2E8-81DE-438D-9672-CDCE23CED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0bfdf1eb94d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74440" y="6147495"/>
            <a:ext cx="1801852" cy="826732"/>
          </a:xfrm>
          <a:prstGeom xmlns:a="http://schemas.openxmlformats.org/drawingml/2006/main" prst="rect">
            <a:avLst/>
          </a:prstGeom>
        </p:spPr>
      </p:pic>
      <p:pic>
        <p:nvPicPr>
          <p:cNvPr id="25" name="solver plus memory icon">
            <a:extLst xmlns:a="http://schemas.openxmlformats.org/drawingml/2006/main">
              <a:ext uri="{FF2B5EF4-FFF2-40B4-BE49-F238E27FC236}">
                <a16:creationId xmlns:a16="http://schemas.microsoft.com/office/drawing/2014/main" id="{D7A8F1AF-B949-4AA0-9666-B10B8B9608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d45b258094b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22381" y="6105099"/>
            <a:ext cx="1695861" cy="826732"/>
          </a:xfrm>
          <a:prstGeom xmlns:a="http://schemas.openxmlformats.org/drawingml/2006/main" prst="rect">
            <a:avLst/>
          </a:prstGeom>
        </p:spPr>
      </p:pic>
      <p:pic>
        <p:nvPicPr>
          <p:cNvPr id="26" name="updated parameter matrix icon">
            <a:extLst xmlns:a="http://schemas.openxmlformats.org/drawingml/2006/main">
              <a:ext uri="{FF2B5EF4-FFF2-40B4-BE49-F238E27FC236}">
                <a16:creationId xmlns:a16="http://schemas.microsoft.com/office/drawing/2014/main" id="{7A75236A-1D38-4523-B7E1-20FE9C449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7c974fb09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076314" y="6083900"/>
            <a:ext cx="1907843" cy="953922"/>
          </a:xfrm>
          <a:prstGeom xmlns:a="http://schemas.openxmlformats.org/drawingml/2006/main" prst="rect">
            <a:avLst/>
          </a:prstGeom>
        </p:spPr>
      </p:pic>
      <p:pic>
        <p:nvPicPr>
          <p:cNvPr id="27" name="next update process icon">
            <a:extLst xmlns:a="http://schemas.openxmlformats.org/drawingml/2006/main">
              <a:ext uri="{FF2B5EF4-FFF2-40B4-BE49-F238E27FC236}">
                <a16:creationId xmlns:a16="http://schemas.microsoft.com/office/drawing/2014/main" id="{279EA6A3-1214-44E0-99AB-60597EC6BB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912427e4743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39462" y="6083900"/>
            <a:ext cx="1748856" cy="84793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44A9B83-0BFF-4C4E-A3E9-BB8C8D7D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</a:t>
            </a:r>
            <a:endParaRPr sz="310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2FA1F6D7-183E-4044-B49C-76518979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origin, horizon,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calibration</a:t>
            </a:r>
            <a:endParaRPr sz="13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6241C72B-69A9-46A5-9BE4-64576D92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Augmentation</a:t>
            </a:r>
            <a:endParaRPr sz="31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E33C890-F36C-4FB3-87D3-954E7275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fidelity, diversity,</a:t>
            </a:r>
            <a:endParaRPr sz="1800"/>
          </a:p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utility</a:t>
            </a:r>
            <a:endParaRPr sz="18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01BBB1-25DA-48B9-AFC9-89EEAE38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</a:t>
            </a:r>
            <a:endParaRPr sz="31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0C977FC-217F-4489-A1BE-27D5308D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event, window,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cause</a:t>
            </a:r>
            <a:endParaRPr sz="13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604283E6-D37A-41A1-8E64-3ADB2713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Decision support</a:t>
            </a:r>
            <a:endParaRPr sz="31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196BA067-F1CA-4CE6-9F42-6DC60D7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action, cost,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uncertainty</a:t>
            </a:r>
            <a:endParaRPr sz="13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A4838C91-3970-4B4C-B08D-88B32E89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2702778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y_t</a:t>
            </a:r>
            <a:endParaRPr sz="23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F65E948-C1E4-421E-BB22-291500CD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2741" y="2702778"/>
            <a:ext cx="1059913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y_{t+h}</a:t>
            </a:r>
            <a:endParaRPr sz="116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0E60EA33-5E2A-45E9-946A-81A93C17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3603704"/>
            <a:ext cx="2172822" cy="33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check → revise</a:t>
            </a:r>
            <a:endParaRPr sz="19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1683155-A731-4023-9249-FD544B9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0475" y="5776525"/>
            <a:ext cx="2596787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same harness</a:t>
            </a:r>
            <a:endParaRPr sz="22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38CA9E50-7076-42A2-B413-14D46174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3470" y="7143813"/>
            <a:ext cx="2490795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96969"/>
                </a:solidFill>
                <a:latin typeface="Cambria"/>
                <a:ea typeface="Cambria"/>
                <a:cs typeface="Cambria"/>
              </a:rPr>
              <a:t>new task</a:t>
            </a:r>
            <a:endParaRPr sz="17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62A280E5-A7DA-433D-A2CF-1590230A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7479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(a) Forecasting</a:t>
            </a:r>
            <a:endParaRPr sz="212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486B2DC5-D8A1-430E-8291-E1A67734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813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(b) Augmentation</a:t>
            </a:r>
            <a:endParaRPr sz="212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CCD9F834-35B0-4984-BCBD-CF43D684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5944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(c) Anomaly diagnosis</a:t>
            </a:r>
            <a:endParaRPr sz="212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8EBE4A02-1034-41F8-B2E8-1930707C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8678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(d) Decision support</a:t>
            </a:r>
            <a:endParaRPr sz="212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E6644CB8-4D16-4C11-BCC5-AF41FA1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0214" y="3921678"/>
            <a:ext cx="2543791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656565"/>
                </a:solidFill>
                <a:latin typeface="Cambria"/>
                <a:ea typeface="Cambria"/>
                <a:cs typeface="Cambria"/>
              </a:rPr>
              <a:t>H_t → H_{t+1}</a:t>
            </a:r>
            <a:endParaRPr sz="23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3EFBE2D-E69A-4FE0-9D3D-3E1BA6BF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7218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Agent + temporal state</a:t>
            </a:r>
            <a:endParaRPr sz="22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0D3BFE45-EF5C-4719-BD08-45D74198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7174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memory</a:t>
            </a:r>
            <a:endParaRPr sz="23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04470CCD-E170-4092-B14A-B0580A4E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74931" y="3964074"/>
            <a:ext cx="264978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54720886-9D7F-4B80-B112-893A9351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9952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updated forecast</a:t>
            </a:r>
            <a:endParaRPr sz="22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D36016E-AB9F-4291-A155-9B7F235F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918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66B9A497-99FB-4602-85A4-9696F95B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2687" y="2670981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</a:t>
            </a:r>
            <a:endParaRPr sz="23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B709A735-F166-49E4-82DC-8B6AAB30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2600" y="2861765"/>
            <a:ext cx="1589869" cy="50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i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plan / verify</a:t>
            </a:r>
            <a:endParaRPr sz="180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81BBA5D0-067A-4B1F-81E0-EA4DAE7E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3700" y="5776525"/>
            <a:ext cx="2967756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next task episode</a:t>
            </a:r>
            <a:endParaRPr sz="200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D7038D62-40FE-45E4-866E-CDB98285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3656" y="7048421"/>
            <a:ext cx="2119826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60" i="1">
                <a:solidFill>
                  <a:srgbClr val="555555"/>
                </a:solidFill>
                <a:latin typeface="Cambria"/>
                <a:ea typeface="Cambria"/>
                <a:cs typeface="Cambria"/>
              </a:rPr>
              <a:t>new module record</a:t>
            </a:r>
            <a:endParaRPr sz="116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F8F37BD0-168B-4743-9D59-FDDB807F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07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277FA873-F8BE-4C07-B1AE-A43113E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880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CF6B626C-F79F-4DA1-9B80-91506CF1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4396" y="4557626"/>
            <a:ext cx="180185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task-bound</a:t>
            </a:r>
            <a:endParaRPr sz="200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0ACC99D7-B6EB-484B-A7B9-3F9861AD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5257168"/>
            <a:ext cx="1377887" cy="2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cross-task reuse</a:t>
            </a:r>
            <a:endParaRPr sz="170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634A8D3D-A992-4357-B168-D64CC1FE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8903269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50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BC59C339-71DA-4332-B7CC-7C6348AC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231842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575A9C8-90AE-4811-A803-EBAB7E7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560415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CE2F8A20-3B1B-423F-9B37-8806466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888988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D9EB2C33-DCA6-459B-9A34-7837734C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217561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416139B6-BF7B-4AF8-95BB-6A8AAC2D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546134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8C72763D-75B4-46CA-B7BC-586E523F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874707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0AC8CE72-FE95-4209-87E7-9C51CDBA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203280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7F727D69-708C-44BF-AEA9-8D5853F5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531853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895022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2026-10-08T15:07:20.8750000Z</dcterms:created>
  <dcterms:modified xsi:type="dcterms:W3CDTF">2026-10-08T15:07:20.8750000Z</dcterms:modified>
</coreProperties>
</file>