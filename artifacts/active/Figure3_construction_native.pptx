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1259e556b45ec" /><Relationship Type="http://schemas.openxmlformats.org/officeDocument/2006/relationships/extended-properties" Target="/docProps/app.xml" Id="R03cc496478df47ad" /><Relationship Type="http://schemas.openxmlformats.org/officeDocument/2006/relationships/officeDocument" Target="/ppt/presentation.xml" Id="R254431a1859b44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ce05e624184af1"/>
  </p:sldMasterIdLst>
  <p:notesMasterIdLst>
    <p:notesMasterId xmlns:r="http://schemas.openxmlformats.org/officeDocument/2006/relationships" r:id="R15d9cf2098124098"/>
  </p:notesMasterIdLst>
  <p:sldIdLst>
    <p:sldId xmlns:r="http://schemas.openxmlformats.org/officeDocument/2006/relationships" id="256" r:id="R96705c3b12a1497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f454e78bc14e4b" /><Relationship Type="http://schemas.openxmlformats.org/officeDocument/2006/relationships/slideMaster" Target="/ppt/slideMasters/slideMaster1.xml" Id="R72ce05e624184af1" /><Relationship Type="http://schemas.openxmlformats.org/officeDocument/2006/relationships/notesMaster" Target="/ppt/notesMasters/notesMaster1.xml" Id="R15d9cf2098124098" /><Relationship Type="http://schemas.openxmlformats.org/officeDocument/2006/relationships/presProps" Target="/ppt/presProps.xml" Id="R96ac1da7621d4a26" /><Relationship Type="http://schemas.openxmlformats.org/officeDocument/2006/relationships/tableStyles" Target="/ppt/tableStyles.xml" Id="Rfc954b5a8b6e4327" /><Relationship Type="http://schemas.openxmlformats.org/officeDocument/2006/relationships/slide" Target="/ppt/slides/slide1.xml" Id="R96705c3b12a149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fc7620feeb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d88152409a4ed8" /><Relationship Type="http://schemas.openxmlformats.org/officeDocument/2006/relationships/notesMaster" Target="/ppt/notesMasters/notesMaster1.xml" Id="R85ed9d9272eb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figure for the survey. The visual separates LLM-side contributions from the nested Harness stack and makes the module-level Paper Card the evidence unit. All elements are native editable PowerPoint objects. Colors follow the survey visual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0aaa994374b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1d3bba2b24bd5" /><Relationship Type="http://schemas.openxmlformats.org/officeDocument/2006/relationships/slideLayout" Target="/ppt/slideLayouts/slideLayout1.xml" Id="R5ec34c6d65484c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34c6d6548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734d08b974ad6" /><Relationship Type="http://schemas.openxmlformats.org/officeDocument/2006/relationships/notesSlide" Target="/ppt/notesSlides/notesSlide1.xml" Id="Rdc35a104587548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2A3B32A1-93F0-44B9-B3F3-5F511911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How a Time-Series Agent is constructed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7D2D3179-ED42-4E27-8AFF-29C422D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71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LLM side is independent; Harness modules form a nested stack and are recorded at the module level.</a:t>
            </a:r>
          </a:p>
        </p:txBody>
      </p:sp>
      <p:sp>
        <p:nvSpPr>
          <p:cNvPr id="3" name="llm-side-frame">
            <a:extLst xmlns:a="http://schemas.openxmlformats.org/drawingml/2006/main">
              <a:ext uri="{FF2B5EF4-FFF2-40B4-BE49-F238E27FC236}">
                <a16:creationId xmlns:a16="http://schemas.microsoft.com/office/drawing/2014/main" id="{5EC87A0A-415C-47F0-ACFF-CCB2889F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3429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4" name="llm-side-title">
            <a:extLst xmlns:a="http://schemas.openxmlformats.org/drawingml/2006/main">
              <a:ext uri="{FF2B5EF4-FFF2-40B4-BE49-F238E27FC236}">
                <a16:creationId xmlns:a16="http://schemas.microsoft.com/office/drawing/2014/main" id="{C4832FB8-53DC-42FF-B8DB-543AC632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LLM side</a:t>
            </a:r>
          </a:p>
        </p:txBody>
      </p:sp>
      <p:sp>
        <p:nvSpPr>
          <p:cNvPr id="5" name="llm-representation">
            <a:extLst xmlns:a="http://schemas.openxmlformats.org/drawingml/2006/main">
              <a:ext uri="{FF2B5EF4-FFF2-40B4-BE49-F238E27FC236}">
                <a16:creationId xmlns:a16="http://schemas.microsoft.com/office/drawing/2014/main" id="{19594239-CC4C-4084-970A-62C1B08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representation</a:t>
            </a:r>
          </a:p>
        </p:txBody>
      </p:sp>
      <p:sp>
        <p:nvSpPr>
          <p:cNvPr id="6" name="llm-alignment">
            <a:extLst xmlns:a="http://schemas.openxmlformats.org/drawingml/2006/main">
              <a:ext uri="{FF2B5EF4-FFF2-40B4-BE49-F238E27FC236}">
                <a16:creationId xmlns:a16="http://schemas.microsoft.com/office/drawing/2014/main" id="{ADEB703E-FE25-4E8F-9160-18CD9B2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Alignment and instruction</a:t>
            </a:r>
          </a:p>
        </p:txBody>
      </p:sp>
      <p:sp>
        <p:nvSpPr>
          <p:cNvPr id="7" name="llm-reasoning">
            <a:extLst xmlns:a="http://schemas.openxmlformats.org/drawingml/2006/main">
              <a:ext uri="{FF2B5EF4-FFF2-40B4-BE49-F238E27FC236}">
                <a16:creationId xmlns:a16="http://schemas.microsoft.com/office/drawing/2014/main" id="{C01794D3-CA99-4E29-9B45-30668957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Language reasoning</a:t>
            </a:r>
          </a:p>
        </p:txBody>
      </p:sp>
      <p:sp>
        <p:nvSpPr>
          <p:cNvPr id="8" name="llm-note">
            <a:extLst xmlns:a="http://schemas.openxmlformats.org/drawingml/2006/main">
              <a:ext uri="{FF2B5EF4-FFF2-40B4-BE49-F238E27FC236}">
                <a16:creationId xmlns:a16="http://schemas.microsoft.com/office/drawing/2014/main" id="{DFF07B87-E751-4ABE-A1B9-A0D7498E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ChatTS and related model-side work</a:t>
            </a:r>
          </a:p>
        </p:txBody>
      </p:sp>
      <p:sp>
        <p:nvSpPr>
          <p:cNvPr id="9" name="runtime-frame">
            <a:extLst xmlns:a="http://schemas.openxmlformats.org/drawingml/2006/main">
              <a:ext uri="{FF2B5EF4-FFF2-40B4-BE49-F238E27FC236}">
                <a16:creationId xmlns:a16="http://schemas.microsoft.com/office/drawing/2014/main" id="{9B1490A2-448C-4386-AF78-E0746ED0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10191750" cy="41910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10" name="runtime-title">
            <a:extLst xmlns:a="http://schemas.openxmlformats.org/drawingml/2006/main">
              <a:ext uri="{FF2B5EF4-FFF2-40B4-BE49-F238E27FC236}">
                <a16:creationId xmlns:a16="http://schemas.microsoft.com/office/drawing/2014/main" id="{2649F909-0911-4805-B0A9-31E2F9B6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Time-Series Agent runtime</a:t>
            </a:r>
          </a:p>
        </p:txBody>
      </p:sp>
      <p:sp>
        <p:nvSpPr>
          <p:cNvPr id="11" name="general-harness">
            <a:extLst xmlns:a="http://schemas.openxmlformats.org/drawingml/2006/main">
              <a:ext uri="{FF2B5EF4-FFF2-40B4-BE49-F238E27FC236}">
                <a16:creationId xmlns:a16="http://schemas.microsoft.com/office/drawing/2014/main" id="{471F13EB-9819-489B-B6D2-74A95365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8858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2" name="general-harness-title">
            <a:extLst xmlns:a="http://schemas.openxmlformats.org/drawingml/2006/main">
              <a:ext uri="{FF2B5EF4-FFF2-40B4-BE49-F238E27FC236}">
                <a16:creationId xmlns:a16="http://schemas.microsoft.com/office/drawing/2014/main" id="{01F77A74-69B4-49D6-B787-F53F823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43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13" name="general-harness-modules">
            <a:extLst xmlns:a="http://schemas.openxmlformats.org/drawingml/2006/main">
              <a:ext uri="{FF2B5EF4-FFF2-40B4-BE49-F238E27FC236}">
                <a16:creationId xmlns:a16="http://schemas.microsoft.com/office/drawing/2014/main" id="{5DCD4922-F5C1-44AA-A535-DF13FB0D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24150"/>
            <a:ext cx="782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interface  ·  memory  ·  tools  ·  control  ·  planning  ·  optimization  ·  coordination</a:t>
            </a:r>
          </a:p>
        </p:txBody>
      </p:sp>
      <p:sp>
        <p:nvSpPr>
          <p:cNvPr id="14" name="general-ts-harness">
            <a:extLst xmlns:a="http://schemas.openxmlformats.org/drawingml/2006/main">
              <a:ext uri="{FF2B5EF4-FFF2-40B4-BE49-F238E27FC236}">
                <a16:creationId xmlns:a16="http://schemas.microsoft.com/office/drawing/2014/main" id="{C4839C22-6C86-42ED-806C-75F2F545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7715250" cy="1276350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5" name="general-ts-title">
            <a:extLst xmlns:a="http://schemas.openxmlformats.org/drawingml/2006/main">
              <a:ext uri="{FF2B5EF4-FFF2-40B4-BE49-F238E27FC236}">
                <a16:creationId xmlns:a16="http://schemas.microsoft.com/office/drawing/2014/main" id="{71217041-8332-4EA1-BC2A-9D33EA85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16" name="general-ts-modules">
            <a:extLst xmlns:a="http://schemas.openxmlformats.org/drawingml/2006/main">
              <a:ext uri="{FF2B5EF4-FFF2-40B4-BE49-F238E27FC236}">
                <a16:creationId xmlns:a16="http://schemas.microsoft.com/office/drawing/2014/main" id="{FC77B524-2CAC-426A-AD81-95F81ADD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680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temporal objects  ·  time-aware operations  ·  provenance  ·  evidence  ·  temporal contract</a:t>
            </a:r>
          </a:p>
        </p:txBody>
      </p:sp>
      <p:sp>
        <p:nvSpPr>
          <p:cNvPr id="17" name="task-specific-harness">
            <a:extLst xmlns:a="http://schemas.openxmlformats.org/drawingml/2006/main">
              <a:ext uri="{FF2B5EF4-FFF2-40B4-BE49-F238E27FC236}">
                <a16:creationId xmlns:a16="http://schemas.microsoft.com/office/drawing/2014/main" id="{6AF7EDFC-4908-41DF-B6FB-CE5020F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00600"/>
            <a:ext cx="65722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8" name="task-specific-title">
            <a:extLst xmlns:a="http://schemas.openxmlformats.org/drawingml/2006/main">
              <a:ext uri="{FF2B5EF4-FFF2-40B4-BE49-F238E27FC236}">
                <a16:creationId xmlns:a16="http://schemas.microsoft.com/office/drawing/2014/main" id="{520E9D41-D968-400F-8A03-3A1619C8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149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19" name="task-specific-tasks">
            <a:extLst xmlns:a="http://schemas.openxmlformats.org/drawingml/2006/main">
              <a:ext uri="{FF2B5EF4-FFF2-40B4-BE49-F238E27FC236}">
                <a16:creationId xmlns:a16="http://schemas.microsoft.com/office/drawing/2014/main" id="{6E054BE9-7D28-46D8-8FD0-BDD0662B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625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forecasting  ·  augmentation  ·  anomaly  ·  decision support</a:t>
            </a:r>
          </a:p>
        </p:txBody>
      </p:sp>
      <p:sp>
        <p:nvSpPr>
          <p:cNvPr id="20" name="llm-runtime-link">
            <a:extLst xmlns:a="http://schemas.openxmlformats.org/drawingml/2006/main">
              <a:ext uri="{FF2B5EF4-FFF2-40B4-BE49-F238E27FC236}">
                <a16:creationId xmlns:a16="http://schemas.microsoft.com/office/drawing/2014/main" id="{686DEB12-D5E8-461E-B953-E907E54C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058A6"/>
            </a:solidFill>
            <a:prstDash val="solid"/>
          </a:ln>
        </p:spPr>
      </p:sp>
      <p:sp>
        <p:nvSpPr>
          <p:cNvPr id="21" name="llm-plus">
            <a:extLst xmlns:a="http://schemas.openxmlformats.org/drawingml/2006/main">
              <a:ext uri="{FF2B5EF4-FFF2-40B4-BE49-F238E27FC236}">
                <a16:creationId xmlns:a16="http://schemas.microsoft.com/office/drawing/2014/main" id="{875C8BAC-5DDA-4DA4-B13E-3456E151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2" name="paper-card-frame">
            <a:extLst xmlns:a="http://schemas.openxmlformats.org/drawingml/2006/main">
              <a:ext uri="{FF2B5EF4-FFF2-40B4-BE49-F238E27FC236}">
                <a16:creationId xmlns:a16="http://schemas.microsoft.com/office/drawing/2014/main" id="{44FBD957-3DE8-41B1-BFB5-456008B1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3620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23" name="paper-card-title">
            <a:extLst xmlns:a="http://schemas.openxmlformats.org/drawingml/2006/main">
              <a:ext uri="{FF2B5EF4-FFF2-40B4-BE49-F238E27FC236}">
                <a16:creationId xmlns:a16="http://schemas.microsoft.com/office/drawing/2014/main" id="{81C28436-606C-4A4B-BD64-7B95A5D2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62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rPr>
              <a:t>Paper Card</a:t>
            </a:r>
          </a:p>
        </p:txBody>
      </p:sp>
      <p:sp>
        <p:nvSpPr>
          <p:cNvPr id="24" name="paper-card-fields">
            <a:extLst xmlns:a="http://schemas.openxmlformats.org/drawingml/2006/main">
              <a:ext uri="{FF2B5EF4-FFF2-40B4-BE49-F238E27FC236}">
                <a16:creationId xmlns:a16="http://schemas.microsoft.com/office/drawing/2014/main" id="{9A8D0A3A-1F83-4712-A09C-3B5B7FCC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43700"/>
            <a:ext cx="1276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claim  ·  evidence locator  ·  module layer  ·  task family  ·  BibTeX  ·  evaluation  ·  review status</a:t>
            </a:r>
          </a:p>
        </p:txBody>
      </p:sp>
      <p:sp>
        <p:nvSpPr>
          <p:cNvPr id="25" name="paper-card-note">
            <a:extLst xmlns:a="http://schemas.openxmlformats.org/drawingml/2006/main">
              <a:ext uri="{FF2B5EF4-FFF2-40B4-BE49-F238E27FC236}">
                <a16:creationId xmlns:a16="http://schemas.microsoft.com/office/drawing/2014/main" id="{F28A4A12-974F-4086-85A7-AE9E966A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675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card is the unit of evidence. One paper may contribute several modules, while each module receives its deepest applicable Harness label.</a:t>
            </a:r>
          </a:p>
        </p:txBody>
      </p:sp>
      <p:sp>
        <p:nvSpPr>
          <p:cNvPr id="26" name="nesting-note">
            <a:extLst xmlns:a="http://schemas.openxmlformats.org/drawingml/2006/main">
              <a:ext uri="{FF2B5EF4-FFF2-40B4-BE49-F238E27FC236}">
                <a16:creationId xmlns:a16="http://schemas.microsoft.com/office/drawing/2014/main" id="{84F254E2-8A1E-4107-9998-04097FE6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91200"/>
            <a:ext cx="866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nesting expresses reuse: General Harness ⊃ General Time-Series Harness ⊃ Task-Specific Harness.</a:t>
            </a:r>
          </a:p>
        </p:txBody>
      </p:sp>
    </p:spTree>
    <p:extLst>
      <p:ext uri="{BB962C8B-B14F-4D97-AF65-F5344CB8AC3E}">
        <p14:creationId xmlns:p14="http://schemas.microsoft.com/office/powerpoint/2010/main" val="2044569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2026-10-02T07:54:09.2140000Z</dcterms:created>
  <dcterms:modified xsi:type="dcterms:W3CDTF">2026-10-02T07:54:09.2140000Z</dcterms:modified>
</coreProperties>
</file>