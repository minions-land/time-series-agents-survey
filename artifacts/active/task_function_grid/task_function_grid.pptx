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0f5afa1bf94b20" /><Relationship Type="http://schemas.openxmlformats.org/officeDocument/2006/relationships/extended-properties" Target="/docProps/app.xml" Id="R20cf913eb2a04556" /><Relationship Type="http://schemas.openxmlformats.org/officeDocument/2006/relationships/officeDocument" Target="/ppt/presentation.xml" Id="Ra28ce6c02ab8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d5ece02114612"/>
  </p:sldMasterIdLst>
  <p:notesMasterIdLst>
    <p:notesMasterId xmlns:r="http://schemas.openxmlformats.org/officeDocument/2006/relationships" r:id="Rc8bba750462e49ba"/>
  </p:notesMasterIdLst>
  <p:sldIdLst>
    <p:sldId xmlns:r="http://schemas.openxmlformats.org/officeDocument/2006/relationships" id="256" r:id="R68c6477f7761453b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2d1d6b9ca467a" /><Relationship Type="http://schemas.openxmlformats.org/officeDocument/2006/relationships/slideMaster" Target="/ppt/slideMasters/slideMaster1.xml" Id="R2cdd5ece02114612" /><Relationship Type="http://schemas.openxmlformats.org/officeDocument/2006/relationships/notesMaster" Target="/ppt/notesMasters/notesMaster1.xml" Id="Rc8bba750462e49ba" /><Relationship Type="http://schemas.openxmlformats.org/officeDocument/2006/relationships/presProps" Target="/ppt/presProps.xml" Id="Ra8e47139a64f4620" /><Relationship Type="http://schemas.openxmlformats.org/officeDocument/2006/relationships/tableStyles" Target="/ppt/tableStyles.xml" Id="R87da3c8808414184" /><Relationship Type="http://schemas.openxmlformats.org/officeDocument/2006/relationships/slide" Target="/ppt/slides/slide1.xml" Id="R68c6477f776145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7823f3f35d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8429e5c364b06" /><Relationship Type="http://schemas.openxmlformats.org/officeDocument/2006/relationships/notesMaster" Target="/ppt/notesMasters/notesMaster1.xml" Id="R4d53e43ce0b8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conceptual figure for From General to Specific: A Survey of Time-Series Agent Systems. Panel A cells are design requirements, not a literature coverage count. Selected source examples: TimeSeriesScientist (PDF p.5 Section 3.2); SAGE-AD (PDF p.4 Section 3.2); MERIT (reviewed positive-view module); FinMem (PDF pp.3-6 Section 3). Layer assignments use paper_classification_ledger.json module IDs. Panel B is an illustrative composition, not an implemented combined system. ModernTSF https://github.com/Diaugeia/ModernTSF ; TimeSeriesGym and Dr-CiK source records are in the ledger. Inventory simulator denotes a scenario-specific evaluation to be supplied by the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d912ff2164e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b45ab230649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1c0500a4245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9294c659044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50dfc3c3649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f2a9c707a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B8C54-7EE8-4075-8BFE-EC0014409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FB0001-4F9C-40B9-B14D-499DC24CD8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C5D9A3-EE92-4DA1-B213-942A6501D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6EDA82-D0D0-433E-8ABA-44D631C2D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4B1CE2-8535-4D3A-8305-88695A3AA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C69CAC-FB43-436F-8046-4282C7013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5654D-6E4D-4ACF-8161-5175F5A18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FE88FE-53EF-4A2C-AA44-388B27AFE7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338E0-DD95-4C56-AFEB-53A5CF1C5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A22FCF-9518-4BF2-A878-F2A9D1A3B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aa0564fa94a30" /><Relationship Type="http://schemas.openxmlformats.org/officeDocument/2006/relationships/slideLayout" Target="/ppt/slideLayouts/slideLayout1.xml" Id="R08ca8c3eb3ee466f" /><Relationship Type="http://schemas.openxmlformats.org/officeDocument/2006/relationships/slideLayout" Target="/ppt/slideLayouts/slideLayout2.xml" Id="R8486d0615a64420b" /><Relationship Type="http://schemas.openxmlformats.org/officeDocument/2006/relationships/slideLayout" Target="/ppt/slideLayouts/slideLayout3.xml" Id="Re8c70e74e7304294" /><Relationship Type="http://schemas.openxmlformats.org/officeDocument/2006/relationships/slideLayout" Target="/ppt/slideLayouts/slideLayout4.xml" Id="R42cdfced9a8742d9" /><Relationship Type="http://schemas.openxmlformats.org/officeDocument/2006/relationships/slideLayout" Target="/ppt/slideLayouts/slideLayout5.xml" Id="Rb744c0b297034d27" /><Relationship Type="http://schemas.openxmlformats.org/officeDocument/2006/relationships/slideLayout" Target="/ppt/slideLayouts/slideLayout6.xml" Id="Rb194c04e0b6b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a8c3eb3ee466f"/>
    <p:sldLayoutId xmlns:r="http://schemas.openxmlformats.org/officeDocument/2006/relationships" id="2147483650" r:id="R8486d0615a64420b"/>
    <p:sldLayoutId xmlns:r="http://schemas.openxmlformats.org/officeDocument/2006/relationships" id="2147483651" r:id="Re8c70e74e7304294"/>
    <p:sldLayoutId xmlns:r="http://schemas.openxmlformats.org/officeDocument/2006/relationships" id="2147483652" r:id="R42cdfced9a8742d9"/>
    <p:sldLayoutId xmlns:r="http://schemas.openxmlformats.org/officeDocument/2006/relationships" id="2147483653" r:id="Rb744c0b297034d27"/>
    <p:sldLayoutId xmlns:r="http://schemas.openxmlformats.org/officeDocument/2006/relationships" id="2147483654" r:id="Rb194c04e0b6b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a60eb35dc484a" /><Relationship Type="http://schemas.openxmlformats.org/officeDocument/2006/relationships/notesSlide" Target="/ppt/notesSlides/notesSlide1.xml" Id="R10de369dbca245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5" name="Task-function grid"/>
          <p:cNvGrpSpPr/>
          <p:nvPr/>
        </p:nvGrpSpPr>
        <p:grpSpPr>
          <ns1:xfrm xmlns:ns1="http://schemas.openxmlformats.org/drawingml/2006/main">
            <ns1:off x="238125" y="95250"/>
            <ns1:ext cx="10953750" cy="7591425"/>
            <ns1:chOff x="238125" y="95250"/>
            <ns1:chExt cx="10953750" cy="7591425"/>
          </ns1:xfrm>
        </p:grpSpPr>
        <p:grpSp>
          <p:nvGrpSpPr>
            <p:cNvPr id="89" name="Task-function grid.A"/>
            <p:cNvGrpSpPr/>
            <p:nvPr/>
          </p:nvGrpSpPr>
          <p:grpSpPr>
            <ns1:xfrm xmlns:ns1="http://schemas.openxmlformats.org/drawingml/2006/main">
              <ns1:off x="238125" y="95250"/>
              <ns1:ext cx="10953750" cy="5267325"/>
              <ns1:chOff x="238125" y="95250"/>
              <ns1:chExt cx="10953750" cy="5267325"/>
            </ns1:xfrm>
          </p:grpSpPr>
          <p:sp>
            <p:nvSpPr>
              <p:cNvPr id="63" name="A.title">
                <a:extLst xmlns:a="http://schemas.openxmlformats.org/drawingml/2006/main">
                  <a:ext uri="{FF2B5EF4-FFF2-40B4-BE49-F238E27FC236}">
                    <a16:creationId xmlns:a16="http://schemas.microsoft.com/office/drawing/2014/main" id="{2883A87E-62AF-4741-AA04-A017F92910E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95250"/>
                <a:ext cx="78105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>
                  <a:defRPr sz="232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 xmlns:a="http://schemas.openxmlformats.org/drawingml/2006/main">
                <a:pPr>
                  <a:defRPr sz="232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232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rPr>
                  <a:t>(a) Tasks and temporal functions</a:t>
                </a:r>
              </a:p>
            </p:txBody>
          </p:sp>
          <p:sp>
            <p:nvSpPr>
              <p:cNvPr id="2" name="A.legend">
                <a:extLst xmlns:a="http://schemas.openxmlformats.org/drawingml/2006/main">
                  <a:ext uri="{FF2B5EF4-FFF2-40B4-BE49-F238E27FC236}">
                    <a16:creationId xmlns:a16="http://schemas.microsoft.com/office/drawing/2014/main" id="{37A67B52-83C4-4CE6-9D9F-F1C8873869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715000" y="533400"/>
                <a:ext cx="54768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>
                  <a:defRPr sz="1500" b="0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 xmlns:a="http://schemas.openxmlformats.org/drawingml/2006/main">
                <a:pPr>
                  <a:defRPr sz="1500" b="0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0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rPr>
                  <a:t>Selected examples: blue = GTS   orange = TSK</a:t>
                </a:r>
              </a:p>
            </p:txBody>
          </p:sp>
          <p:grpSp>
            <p:nvGrpSpPr>
              <p:cNvPr id="64" name="Task-function grid.A.headers"/>
              <p:cNvGrpSpPr/>
              <p:nvPr/>
            </p:nvGrpSpPr>
            <p:grpSpPr>
              <ns1:xfrm xmlns:ns1="http://schemas.openxmlformats.org/drawingml/2006/main">
                <ns1:off x="2076450" y="933450"/>
                <ns1:ext cx="8991600" cy="619125"/>
                <ns1:chOff x="2076450" y="933450"/>
                <ns1:chExt cx="8991600" cy="619125"/>
              </ns1:xfrm>
            </p:grpSpPr>
            <p:sp>
              <p:nvSpPr>
                <p:cNvPr id="3" name="A.headers.h0">
                  <a:extLst xmlns:a="http://schemas.openxmlformats.org/drawingml/2006/main">
                    <a:ext uri="{FF2B5EF4-FFF2-40B4-BE49-F238E27FC236}">
                      <a16:creationId xmlns:a16="http://schemas.microsoft.com/office/drawing/2014/main" id="{F4554B0D-251A-4C5F-A048-FEC69210E80A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076450" y="933450"/>
                  <a:ext cx="2190750" cy="6191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AF0F4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4" name="A.headers.t0">
                  <a:extLst xmlns:a="http://schemas.openxmlformats.org/drawingml/2006/main">
                    <a:ext uri="{FF2B5EF4-FFF2-40B4-BE49-F238E27FC236}">
                      <a16:creationId xmlns:a16="http://schemas.microsoft.com/office/drawing/2014/main" id="{02F72E57-EE06-4815-B0EA-4C574F972645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190750" y="971550"/>
                  <a:ext cx="1981200" cy="5334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Forecasting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and prediction</a:t>
                  </a:r>
                </a:p>
              </p:txBody>
            </p:sp>
            <p:sp>
              <p:nvSpPr>
                <p:cNvPr id="5" name="A.headers.h1">
                  <a:extLst xmlns:a="http://schemas.openxmlformats.org/drawingml/2006/main">
                    <a:ext uri="{FF2B5EF4-FFF2-40B4-BE49-F238E27FC236}">
                      <a16:creationId xmlns:a16="http://schemas.microsoft.com/office/drawing/2014/main" id="{72FB284B-F041-4C0B-B3E5-1CC93090B52E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4343400" y="933450"/>
                  <a:ext cx="2190750" cy="6191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AF0F4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6" name="A.headers.t1">
                  <a:extLst xmlns:a="http://schemas.openxmlformats.org/drawingml/2006/main">
                    <a:ext uri="{FF2B5EF4-FFF2-40B4-BE49-F238E27FC236}">
                      <a16:creationId xmlns:a16="http://schemas.microsoft.com/office/drawing/2014/main" id="{313018D4-F658-44D8-93CD-194CB03227E6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4457700" y="971550"/>
                  <a:ext cx="1981200" cy="5334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Augmentation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and synthesis</a:t>
                  </a:r>
                </a:p>
              </p:txBody>
            </p:sp>
            <p:sp>
              <p:nvSpPr>
                <p:cNvPr id="7" name="A.headers.h2">
                  <a:extLst xmlns:a="http://schemas.openxmlformats.org/drawingml/2006/main">
                    <a:ext uri="{FF2B5EF4-FFF2-40B4-BE49-F238E27FC236}">
                      <a16:creationId xmlns:a16="http://schemas.microsoft.com/office/drawing/2014/main" id="{249B7E59-97F7-4DE3-ADC6-1113C0885640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6610350" y="933450"/>
                  <a:ext cx="2190750" cy="6191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AF0F4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8" name="A.headers.t2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F3C80A-7DE7-41DE-84FC-0C9FE8BA5BA9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6724650" y="971550"/>
                  <a:ext cx="1981200" cy="5334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Anomaly detection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and diagnosis</a:t>
                  </a:r>
                </a:p>
              </p:txBody>
            </p:sp>
            <p:sp>
              <p:nvSpPr>
                <p:cNvPr id="9" name="A.headers.h3">
                  <a:extLst xmlns:a="http://schemas.openxmlformats.org/drawingml/2006/main">
                    <a:ext uri="{FF2B5EF4-FFF2-40B4-BE49-F238E27FC236}">
                      <a16:creationId xmlns:a16="http://schemas.microsoft.com/office/drawing/2014/main" id="{D817BEB7-F05C-41BB-8B53-2FFF9A574677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877300" y="933450"/>
                  <a:ext cx="2190750" cy="61912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EAF0F4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10" name="A.headers.t3">
                  <a:extLst xmlns:a="http://schemas.openxmlformats.org/drawingml/2006/main">
                    <a:ext uri="{FF2B5EF4-FFF2-40B4-BE49-F238E27FC236}">
                      <a16:creationId xmlns:a16="http://schemas.microsoft.com/office/drawing/2014/main" id="{7FDBCA91-FB93-422B-9CBE-43FFAE8F9452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991600" y="971550"/>
                  <a:ext cx="1981200" cy="53340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Decision support</a:t>
                  </a:r>
                </a:p>
              </p:txBody>
            </p:sp>
          </p:grpSp>
          <p:grpSp>
            <p:nvGrpSpPr>
              <p:cNvPr id="70" name="Task-function grid.A.row0"/>
              <p:cNvGrpSpPr/>
              <p:nvPr/>
            </p:nvGrpSpPr>
            <p:grpSpPr>
              <ns1:xfrm xmlns:ns1="http://schemas.openxmlformats.org/drawingml/2006/main">
                <ns1:off x="238125" y="1657350"/>
                <ns1:ext cx="10906125" cy="876300"/>
                <ns1:chOff x="238125" y="1657350"/>
                <ns1:chExt cx="10906125" cy="876300"/>
              </ns1:xfrm>
            </p:grpSpPr>
            <p:sp>
              <p:nvSpPr>
                <p:cNvPr id="11" name="A.row0.band">
                  <a:extLst xmlns:a="http://schemas.openxmlformats.org/drawingml/2006/main">
                    <a:ext uri="{FF2B5EF4-FFF2-40B4-BE49-F238E27FC236}">
                      <a16:creationId xmlns:a16="http://schemas.microsoft.com/office/drawing/2014/main" id="{A0E319A7-628A-4167-8875-F4B727DC5ACD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1657350"/>
                  <a:ext cx="10906125" cy="87630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F8FAFB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12" name="A.row0.label">
                  <a:extLst xmlns:a="http://schemas.openxmlformats.org/drawingml/2006/main">
                    <a:ext uri="{FF2B5EF4-FFF2-40B4-BE49-F238E27FC236}">
                      <a16:creationId xmlns:a16="http://schemas.microsoft.com/office/drawing/2014/main" id="{B8FFABC9-3EE1-4AEA-89FD-F26AC33BDA35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52425" y="1743075"/>
                  <a:ext cx="1628775" cy="66675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Data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management</a:t>
                  </a:r>
                </a:p>
              </p:txBody>
            </p:sp>
            <p:grpSp>
              <p:nvGrpSpPr>
                <p:cNvPr id="65" name="Task-function grid.A.row0.cell0"/>
                <p:cNvGrpSpPr/>
                <p:nvPr/>
              </p:nvGrpSpPr>
              <p:grpSpPr>
                <ns1:xfrm xmlns:ns1="http://schemas.openxmlformats.org/drawingml/2006/main">
                  <ns1:off x="2190750" y="1724025"/>
                  <ns1:ext cx="2038350" cy="495300"/>
                  <ns1:chOff x="2190750" y="1724025"/>
                  <ns1:chExt cx="2038350" cy="495300"/>
                </ns1:xfrm>
              </p:grpSpPr>
              <p:sp>
                <p:nvSpPr>
                  <p:cNvPr id="13" name="A.row0.cell0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D3D269BA-A41C-47CA-9F54-61EE6BE4354C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2190750" y="172402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History and known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covariates</a:t>
                    </a:r>
                  </a:p>
                </p:txBody>
              </p:sp>
            </p:grpSp>
            <p:grpSp>
              <p:nvGrpSpPr>
                <p:cNvPr id="66" name="Task-function grid.A.row0.cell1"/>
                <p:cNvGrpSpPr/>
                <p:nvPr/>
              </p:nvGrpSpPr>
              <p:grpSpPr>
                <ns1:xfrm xmlns:ns1="http://schemas.openxmlformats.org/drawingml/2006/main">
                  <ns1:off x="4457700" y="1724025"/>
                  <ns1:ext cx="2038350" cy="495300"/>
                  <ns1:chOff x="4457700" y="1724025"/>
                  <ns1:chExt cx="2038350" cy="495300"/>
                </ns1:xfrm>
              </p:grpSpPr>
              <p:sp>
                <p:nvSpPr>
                  <p:cNvPr id="14" name="A.row0.cell1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E5CA4AF6-3757-45AF-8A48-8721FE83EA9C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4457700" y="172402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Source series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generation conditions</a:t>
                    </a:r>
                  </a:p>
                </p:txBody>
              </p:sp>
            </p:grpSp>
            <p:grpSp>
              <p:nvGrpSpPr>
                <p:cNvPr id="68" name="Task-function grid.A.row0.cell2"/>
                <p:cNvGrpSpPr/>
                <p:nvPr/>
              </p:nvGrpSpPr>
              <p:grpSpPr>
                <ns1:xfrm xmlns:ns1="http://schemas.openxmlformats.org/drawingml/2006/main">
                  <ns1:off x="6724650" y="1724025"/>
                  <ns1:ext cx="2057400" cy="790575"/>
                  <ns1:chOff x="6724650" y="1724025"/>
                  <ns1:chExt cx="2057400" cy="790575"/>
                </ns1:xfrm>
              </p:grpSpPr>
              <p:sp>
                <p:nvSpPr>
                  <p:cNvPr id="15" name="A.row0.cell2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08A8B780-07CA-43E3-81C9-53341FA442AA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6724650" y="172402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Sensor streams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operating records</a:t>
                    </a:r>
                  </a:p>
                </p:txBody>
              </p:sp>
              <p:grpSp>
                <p:nvGrpSpPr>
                  <p:cNvPr id="67" name="Task-function grid.A.row0.cell2.method"/>
                  <p:cNvGrpSpPr/>
                  <p:nvPr/>
                </p:nvGrpSpPr>
                <p:grpSpPr>
                  <ns1:xfrm xmlns:ns1="http://schemas.openxmlformats.org/drawingml/2006/main">
                    <ns1:off x="6724650" y="2266950"/>
                    <ns1:ext cx="2057400" cy="247650"/>
                    <ns1:chOff x="6724650" y="2266950"/>
                    <ns1:chExt cx="2057400" cy="247650"/>
                  </ns1:xfrm>
                </p:grpSpPr>
                <p:sp>
                  <p:nvSpPr>
                    <p:cNvPr id="16" name="A.row0.cell2.method.rule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ED56C3F3-E0EC-4C7D-9756-B487242C8C8C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6724650" y="2314575"/>
                      <a:ext cx="28575" cy="142875"/>
                    </a:xfrm>
                    <a:prstGeom xmlns:a="http://schemas.openxmlformats.org/drawingml/2006/main" prst="rect">
                      <a:avLst/>
                    </a:prstGeom>
                    <a:solidFill xmlns:a="http://schemas.openxmlformats.org/drawingml/2006/main">
                      <a:srgbClr val="2B6985"/>
                    </a:solidFill>
                    <a:ln xmlns:a="http://schemas.openxmlformats.org/drawingml/2006/main" w="0">
                      <a:noFill/>
                      <a:prstDash val="solid"/>
                    </a:ln>
                  </p:spPr>
                </p:sp>
                <p:sp>
                  <p:nvSpPr>
                    <p:cNvPr id="17" name="A.row0.cell2.method.text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E328BF20-6928-4DBD-9D4F-B0A892A0F2BF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6819900" y="2266950"/>
                      <a:ext cx="1962150" cy="247650"/>
                    </a:xfrm>
                    <a:prstGeom xmlns:a="http://schemas.openxmlformats.org/drawingml/2006/main" prst="rect">
                      <a:avLst/>
                    </a:prstGeom>
                    <a:noFill xmlns:a="http://schemas.openxmlformats.org/drawingml/2006/main"/>
                    <a:ln xmlns:a="http://schemas.openxmlformats.org/drawingml/2006/main" w="0">
                      <a:noFill/>
                      <a:prstDash val="solid"/>
                    </a:ln>
                  </p:spPr>
                  <p:txBody>
                    <a:bodyPr xmlns:a="http://schemas.openxmlformats.org/drawingml/2006/main" lIns="0" tIns="0" rIns="0" bIns="0" anchor="ctr"/>
                    <a:lstStyle xmlns:a="http://schemas.openxmlformats.org/drawingml/2006/main">
                      <a:defPPr>
                        <a:def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defPPr>
                    </a:lstStyle>
                    <a:p xmlns:a="http://schemas.openxmlformats.org/drawingml/2006/main">
                      <a:pPr>
                        <a:def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SAGE-AD · GTS</a:t>
                      </a:r>
                    </a:p>
                  </p:txBody>
                </p:sp>
              </p:grpSp>
            </p:grpSp>
            <p:grpSp>
              <p:nvGrpSpPr>
                <p:cNvPr id="69" name="Task-function grid.A.row0.cell3"/>
                <p:cNvGrpSpPr/>
                <p:nvPr/>
              </p:nvGrpSpPr>
              <p:grpSpPr>
                <ns1:xfrm xmlns:ns1="http://schemas.openxmlformats.org/drawingml/2006/main">
                  <ns1:off x="8991600" y="1724025"/>
                  <ns1:ext cx="2038350" cy="495300"/>
                  <ns1:chOff x="8991600" y="1724025"/>
                  <ns1:chExt cx="2038350" cy="495300"/>
                </ns1:xfrm>
              </p:grpSpPr>
              <p:sp>
                <p:nvSpPr>
                  <p:cNvPr id="18" name="A.row0.cell3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D4ABFB2A-DC62-4A5B-A4E3-AA1B592CBB27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8991600" y="172402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Observations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action history</a:t>
                    </a:r>
                  </a:p>
                </p:txBody>
              </p:sp>
            </p:grpSp>
          </p:grpSp>
          <p:grpSp>
            <p:nvGrpSpPr>
              <p:cNvPr id="76" name="Task-function grid.A.row1"/>
              <p:cNvGrpSpPr/>
              <p:nvPr/>
            </p:nvGrpSpPr>
            <p:grpSpPr>
              <ns1:xfrm xmlns:ns1="http://schemas.openxmlformats.org/drawingml/2006/main">
                <ns1:off x="238125" y="2600325"/>
                <ns1:ext cx="10906125" cy="876300"/>
                <ns1:chOff x="238125" y="2600325"/>
                <ns1:chExt cx="10906125" cy="876300"/>
              </ns1:xfrm>
            </p:grpSpPr>
            <p:sp>
              <p:nvSpPr>
                <p:cNvPr id="19" name="A.row1.band">
                  <a:extLst xmlns:a="http://schemas.openxmlformats.org/drawingml/2006/main">
                    <a:ext uri="{FF2B5EF4-FFF2-40B4-BE49-F238E27FC236}">
                      <a16:creationId xmlns:a16="http://schemas.microsoft.com/office/drawing/2014/main" id="{EAFCD644-76CE-4CD1-8F4B-D5613CB574DE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2600325"/>
                  <a:ext cx="10906125" cy="87630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F3F7F8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20" name="A.row1.label">
                  <a:extLst xmlns:a="http://schemas.openxmlformats.org/drawingml/2006/main">
                    <a:ext uri="{FF2B5EF4-FFF2-40B4-BE49-F238E27FC236}">
                      <a16:creationId xmlns:a16="http://schemas.microsoft.com/office/drawing/2014/main" id="{CC4BD2BD-9988-4DAB-A6EE-BD4F28876444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52425" y="2686050"/>
                  <a:ext cx="1628775" cy="66675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Temporal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processing</a:t>
                  </a:r>
                </a:p>
              </p:txBody>
            </p:sp>
            <p:grpSp>
              <p:nvGrpSpPr>
                <p:cNvPr id="72" name="Task-function grid.A.row1.cell0"/>
                <p:cNvGrpSpPr/>
                <p:nvPr/>
              </p:nvGrpSpPr>
              <p:grpSpPr>
                <ns1:xfrm xmlns:ns1="http://schemas.openxmlformats.org/drawingml/2006/main">
                  <ns1:off x="2190750" y="2667000"/>
                  <ns1:ext cx="2057400" cy="790575"/>
                  <ns1:chOff x="2190750" y="2667000"/>
                  <ns1:chExt cx="2057400" cy="790575"/>
                </ns1:xfrm>
              </p:grpSpPr>
              <p:sp>
                <p:nvSpPr>
                  <p:cNvPr id="21" name="A.row1.cell0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23751575-96B4-4646-86AC-56ABF452B52C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2190750" y="266700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Windows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multiscale features</a:t>
                    </a:r>
                  </a:p>
                </p:txBody>
              </p:sp>
              <p:grpSp>
                <p:nvGrpSpPr>
                  <p:cNvPr id="71" name="Task-function grid.A.row1.cell0.method"/>
                  <p:cNvGrpSpPr/>
                  <p:nvPr/>
                </p:nvGrpSpPr>
                <p:grpSpPr>
                  <ns1:xfrm xmlns:ns1="http://schemas.openxmlformats.org/drawingml/2006/main">
                    <ns1:off x="2190750" y="3209925"/>
                    <ns1:ext cx="2057400" cy="247650"/>
                    <ns1:chOff x="2190750" y="3209925"/>
                    <ns1:chExt cx="2057400" cy="247650"/>
                  </ns1:xfrm>
                </p:grpSpPr>
                <p:sp>
                  <p:nvSpPr>
                    <p:cNvPr id="22" name="A.row1.cell0.method.rule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9D7F2C85-5DBF-4EE1-9DB9-907548D27BF7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2190750" y="3257550"/>
                      <a:ext cx="28575" cy="142875"/>
                    </a:xfrm>
                    <a:prstGeom xmlns:a="http://schemas.openxmlformats.org/drawingml/2006/main" prst="rect">
                      <a:avLst/>
                    </a:prstGeom>
                    <a:solidFill xmlns:a="http://schemas.openxmlformats.org/drawingml/2006/main">
                      <a:srgbClr val="2B6985"/>
                    </a:solidFill>
                    <a:ln xmlns:a="http://schemas.openxmlformats.org/drawingml/2006/main" w="0">
                      <a:noFill/>
                      <a:prstDash val="solid"/>
                    </a:ln>
                  </p:spPr>
                </p:sp>
                <p:sp>
                  <p:nvSpPr>
                    <p:cNvPr id="23" name="A.row1.cell0.method.text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4FCAD510-066F-4F73-B0FD-0C775E8C0FA9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2286000" y="3209925"/>
                      <a:ext cx="1962150" cy="247650"/>
                    </a:xfrm>
                    <a:prstGeom xmlns:a="http://schemas.openxmlformats.org/drawingml/2006/main" prst="rect">
                      <a:avLst/>
                    </a:prstGeom>
                    <a:noFill xmlns:a="http://schemas.openxmlformats.org/drawingml/2006/main"/>
                    <a:ln xmlns:a="http://schemas.openxmlformats.org/drawingml/2006/main" w="0">
                      <a:noFill/>
                      <a:prstDash val="solid"/>
                    </a:ln>
                  </p:spPr>
                  <p:txBody>
                    <a:bodyPr xmlns:a="http://schemas.openxmlformats.org/drawingml/2006/main" lIns="0" tIns="0" rIns="0" bIns="0" anchor="ctr"/>
                    <a:lstStyle xmlns:a="http://schemas.openxmlformats.org/drawingml/2006/main">
                      <a:defPPr>
                        <a:def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defPPr>
                    </a:lstStyle>
                    <a:p xmlns:a="http://schemas.openxmlformats.org/drawingml/2006/main">
                      <a:pPr>
                        <a:def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sz="1425" b="1">
                          <a:solidFill>
                            <a:srgbClr val="2B6985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TimeSeriesScientist · GTS</a:t>
                      </a:r>
                    </a:p>
                  </p:txBody>
                </p:sp>
              </p:grpSp>
            </p:grpSp>
            <p:grpSp>
              <p:nvGrpSpPr>
                <p:cNvPr id="73" name="Task-function grid.A.row1.cell1"/>
                <p:cNvGrpSpPr/>
                <p:nvPr/>
              </p:nvGrpSpPr>
              <p:grpSpPr>
                <ns1:xfrm xmlns:ns1="http://schemas.openxmlformats.org/drawingml/2006/main">
                  <ns1:off x="4457700" y="2667000"/>
                  <ns1:ext cx="2038350" cy="495300"/>
                  <ns1:chOff x="4457700" y="2667000"/>
                  <ns1:chExt cx="2038350" cy="495300"/>
                </ns1:xfrm>
              </p:grpSpPr>
              <p:sp>
                <p:nvSpPr>
                  <p:cNvPr id="24" name="A.row1.cell1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AC9887D-E0C8-4C53-AEB6-53E60B25FEAB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4457700" y="266700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Segments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transformations</a:t>
                    </a:r>
                  </a:p>
                </p:txBody>
              </p:sp>
            </p:grpSp>
            <p:grpSp>
              <p:nvGrpSpPr>
                <p:cNvPr id="74" name="Task-function grid.A.row1.cell2"/>
                <p:cNvGrpSpPr/>
                <p:nvPr/>
              </p:nvGrpSpPr>
              <p:grpSpPr>
                <ns1:xfrm xmlns:ns1="http://schemas.openxmlformats.org/drawingml/2006/main">
                  <ns1:off x="6724650" y="2667000"/>
                  <ns1:ext cx="2038350" cy="495300"/>
                  <ns1:chOff x="6724650" y="2667000"/>
                  <ns1:chExt cx="2038350" cy="495300"/>
                </ns1:xfrm>
              </p:grpSpPr>
              <p:sp>
                <p:nvSpPr>
                  <p:cNvPr id="25" name="A.row1.cell2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3EF4BCAF-7629-456F-B67C-388701FC53DA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6724650" y="266700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Local changes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channel relations</a:t>
                    </a:r>
                  </a:p>
                </p:txBody>
              </p:sp>
            </p:grpSp>
            <p:grpSp>
              <p:nvGrpSpPr>
                <p:cNvPr id="75" name="Task-function grid.A.row1.cell3"/>
                <p:cNvGrpSpPr/>
                <p:nvPr/>
              </p:nvGrpSpPr>
              <p:grpSpPr>
                <ns1:xfrm xmlns:ns1="http://schemas.openxmlformats.org/drawingml/2006/main">
                  <ns1:off x="8991600" y="2667000"/>
                  <ns1:ext cx="2038350" cy="495300"/>
                  <ns1:chOff x="8991600" y="2667000"/>
                  <ns1:chExt cx="2038350" cy="495300"/>
                </ns1:xfrm>
              </p:grpSpPr>
              <p:sp>
                <p:nvSpPr>
                  <p:cNvPr id="26" name="A.row1.cell3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276FE9E-7505-482E-A0C9-DD00504D2B14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8991600" y="266700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Decision windows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and state summaries</a:t>
                    </a:r>
                  </a:p>
                </p:txBody>
              </p:sp>
            </p:grpSp>
          </p:grpSp>
          <p:grpSp>
            <p:nvGrpSpPr>
              <p:cNvPr id="83" name="Task-function grid.A.row2"/>
              <p:cNvGrpSpPr/>
              <p:nvPr/>
            </p:nvGrpSpPr>
            <p:grpSpPr>
              <ns1:xfrm xmlns:ns1="http://schemas.openxmlformats.org/drawingml/2006/main">
                <ns1:off x="238125" y="3543300"/>
                <ns1:ext cx="10906125" cy="876300"/>
                <ns1:chOff x="238125" y="3543300"/>
                <ns1:chExt cx="10906125" cy="876300"/>
              </ns1:xfrm>
            </p:grpSpPr>
            <p:sp>
              <p:nvSpPr>
                <p:cNvPr id="27" name="A.row2.band">
                  <a:extLst xmlns:a="http://schemas.openxmlformats.org/drawingml/2006/main">
                    <a:ext uri="{FF2B5EF4-FFF2-40B4-BE49-F238E27FC236}">
                      <a16:creationId xmlns:a16="http://schemas.microsoft.com/office/drawing/2014/main" id="{4180C89E-FCA7-4D81-9692-1E357F8E0294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3543300"/>
                  <a:ext cx="10906125" cy="87630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F8FAFB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28" name="A.row2.label">
                  <a:extLst xmlns:a="http://schemas.openxmlformats.org/drawingml/2006/main">
                    <a:ext uri="{FF2B5EF4-FFF2-40B4-BE49-F238E27FC236}">
                      <a16:creationId xmlns:a16="http://schemas.microsoft.com/office/drawing/2014/main" id="{46BF43BD-197C-4C36-BE08-4084B18AC704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52425" y="3629025"/>
                  <a:ext cx="1628775" cy="66675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Context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and memory</a:t>
                  </a:r>
                </a:p>
              </p:txBody>
            </p:sp>
            <p:grpSp>
              <p:nvGrpSpPr>
                <p:cNvPr id="77" name="Task-function grid.A.row2.cell0"/>
                <p:cNvGrpSpPr/>
                <p:nvPr/>
              </p:nvGrpSpPr>
              <p:grpSpPr>
                <ns1:xfrm xmlns:ns1="http://schemas.openxmlformats.org/drawingml/2006/main">
                  <ns1:off x="2190750" y="3609975"/>
                  <ns1:ext cx="2038350" cy="495300"/>
                  <ns1:chOff x="2190750" y="3609975"/>
                  <ns1:chExt cx="2038350" cy="495300"/>
                </ns1:xfrm>
              </p:grpSpPr>
              <p:sp>
                <p:nvSpPr>
                  <p:cNvPr id="29" name="A.row2.cell0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6BB2476C-B082-4C30-B228-736FA7891F41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2190750" y="360997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Events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historical cases</a:t>
                    </a:r>
                  </a:p>
                </p:txBody>
              </p:sp>
            </p:grpSp>
            <p:grpSp>
              <p:nvGrpSpPr>
                <p:cNvPr id="79" name="Task-function grid.A.row2.cell1"/>
                <p:cNvGrpSpPr/>
                <p:nvPr/>
              </p:nvGrpSpPr>
              <p:grpSpPr>
                <ns1:xfrm xmlns:ns1="http://schemas.openxmlformats.org/drawingml/2006/main">
                  <ns1:off x="4457700" y="3609975"/>
                  <ns1:ext cx="2057400" cy="790575"/>
                  <ns1:chOff x="4457700" y="3609975"/>
                  <ns1:chExt cx="2057400" cy="790575"/>
                </ns1:xfrm>
              </p:grpSpPr>
              <p:sp>
                <p:nvSpPr>
                  <p:cNvPr id="30" name="A.row2.cell1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ABA3580-692B-4156-91A4-1F6FBBAE6D14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4457700" y="360997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Conditions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reference examples</a:t>
                    </a:r>
                  </a:p>
                </p:txBody>
              </p:sp>
              <p:grpSp>
                <p:nvGrpSpPr>
                  <p:cNvPr id="78" name="Task-function grid.A.row2.cell1.method"/>
                  <p:cNvGrpSpPr/>
                  <p:nvPr/>
                </p:nvGrpSpPr>
                <p:grpSpPr>
                  <ns1:xfrm xmlns:ns1="http://schemas.openxmlformats.org/drawingml/2006/main">
                    <ns1:off x="4457700" y="4152900"/>
                    <ns1:ext cx="2057400" cy="247650"/>
                    <ns1:chOff x="4457700" y="4152900"/>
                    <ns1:chExt cx="2057400" cy="247650"/>
                  </ns1:xfrm>
                </p:grpSpPr>
                <p:sp>
                  <p:nvSpPr>
                    <p:cNvPr id="31" name="A.row2.cell1.method.rule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EF4A6082-A8F9-4694-9F7D-E8A4C5CD6419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4457700" y="4200525"/>
                      <a:ext cx="28575" cy="142875"/>
                    </a:xfrm>
                    <a:prstGeom xmlns:a="http://schemas.openxmlformats.org/drawingml/2006/main" prst="rect">
                      <a:avLst/>
                    </a:prstGeom>
                    <a:solidFill xmlns:a="http://schemas.openxmlformats.org/drawingml/2006/main">
                      <a:srgbClr val="A65C27"/>
                    </a:solidFill>
                    <a:ln xmlns:a="http://schemas.openxmlformats.org/drawingml/2006/main" w="0">
                      <a:noFill/>
                      <a:prstDash val="solid"/>
                    </a:ln>
                  </p:spPr>
                </p:sp>
                <p:sp>
                  <p:nvSpPr>
                    <p:cNvPr id="32" name="A.row2.cell1.method.text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69A1C674-992E-42ED-86CA-67884C5F407B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4552950" y="4152900"/>
                      <a:ext cx="1962150" cy="247650"/>
                    </a:xfrm>
                    <a:prstGeom xmlns:a="http://schemas.openxmlformats.org/drawingml/2006/main" prst="rect">
                      <a:avLst/>
                    </a:prstGeom>
                    <a:noFill xmlns:a="http://schemas.openxmlformats.org/drawingml/2006/main"/>
                    <a:ln xmlns:a="http://schemas.openxmlformats.org/drawingml/2006/main" w="0">
                      <a:noFill/>
                      <a:prstDash val="solid"/>
                    </a:ln>
                  </p:spPr>
                  <p:txBody>
                    <a:bodyPr xmlns:a="http://schemas.openxmlformats.org/drawingml/2006/main" lIns="0" tIns="0" rIns="0" bIns="0" anchor="ctr"/>
                    <a:lstStyle xmlns:a="http://schemas.openxmlformats.org/drawingml/2006/main">
                      <a:defPPr>
                        <a:def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defPPr>
                    </a:lstStyle>
                    <a:p xmlns:a="http://schemas.openxmlformats.org/drawingml/2006/main">
                      <a:pPr>
                        <a:def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MERIT · TSK</a:t>
                      </a:r>
                    </a:p>
                  </p:txBody>
                </p:sp>
              </p:grpSp>
            </p:grpSp>
            <p:grpSp>
              <p:nvGrpSpPr>
                <p:cNvPr id="80" name="Task-function grid.A.row2.cell2"/>
                <p:cNvGrpSpPr/>
                <p:nvPr/>
              </p:nvGrpSpPr>
              <p:grpSpPr>
                <ns1:xfrm xmlns:ns1="http://schemas.openxmlformats.org/drawingml/2006/main">
                  <ns1:off x="6724650" y="3609975"/>
                  <ns1:ext cx="2038350" cy="495300"/>
                  <ns1:chOff x="6724650" y="3609975"/>
                  <ns1:chExt cx="2038350" cy="495300"/>
                </ns1:xfrm>
              </p:grpSpPr>
              <p:sp>
                <p:nvSpPr>
                  <p:cNvPr id="33" name="A.row2.cell2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7D3FE4C3-9EF3-4BF1-BA24-6A2C92C87EAA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6724650" y="360997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Incident context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fault history</a:t>
                    </a:r>
                  </a:p>
                </p:txBody>
              </p:sp>
            </p:grpSp>
            <p:grpSp>
              <p:nvGrpSpPr>
                <p:cNvPr id="82" name="Task-function grid.A.row2.cell3"/>
                <p:cNvGrpSpPr/>
                <p:nvPr/>
              </p:nvGrpSpPr>
              <p:grpSpPr>
                <ns1:xfrm xmlns:ns1="http://schemas.openxmlformats.org/drawingml/2006/main">
                  <ns1:off x="8991600" y="3609975"/>
                  <ns1:ext cx="2057400" cy="790575"/>
                  <ns1:chOff x="8991600" y="3609975"/>
                  <ns1:chExt cx="2057400" cy="790575"/>
                </ns1:xfrm>
              </p:grpSpPr>
              <p:sp>
                <p:nvSpPr>
                  <p:cNvPr id="34" name="A.row2.cell3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25D5C2B-8E9D-404B-BEA0-5AB3E77A0DD6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8991600" y="3609975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Past actions and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market information</a:t>
                    </a:r>
                  </a:p>
                </p:txBody>
              </p:sp>
              <p:grpSp>
                <p:nvGrpSpPr>
                  <p:cNvPr id="81" name="Task-function grid.A.row2.cell3.method"/>
                  <p:cNvGrpSpPr/>
                  <p:nvPr/>
                </p:nvGrpSpPr>
                <p:grpSpPr>
                  <ns1:xfrm xmlns:ns1="http://schemas.openxmlformats.org/drawingml/2006/main">
                    <ns1:off x="8991600" y="4152900"/>
                    <ns1:ext cx="2057400" cy="247650"/>
                    <ns1:chOff x="8991600" y="4152900"/>
                    <ns1:chExt cx="2057400" cy="247650"/>
                  </ns1:xfrm>
                </p:grpSpPr>
                <p:sp>
                  <p:nvSpPr>
                    <p:cNvPr id="35" name="A.row2.cell3.method.rule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00C05C10-2C84-4622-B377-5AAD97A5E96E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8991600" y="4200525"/>
                      <a:ext cx="28575" cy="142875"/>
                    </a:xfrm>
                    <a:prstGeom xmlns:a="http://schemas.openxmlformats.org/drawingml/2006/main" prst="rect">
                      <a:avLst/>
                    </a:prstGeom>
                    <a:solidFill xmlns:a="http://schemas.openxmlformats.org/drawingml/2006/main">
                      <a:srgbClr val="A65C27"/>
                    </a:solidFill>
                    <a:ln xmlns:a="http://schemas.openxmlformats.org/drawingml/2006/main" w="0">
                      <a:noFill/>
                      <a:prstDash val="solid"/>
                    </a:ln>
                  </p:spPr>
                </p:sp>
                <p:sp>
                  <p:nvSpPr>
                    <p:cNvPr id="36" name="A.row2.cell3.method.text">
                      <a:extLst xmlns:a="http://schemas.openxmlformats.org/drawingml/2006/main">
                        <a:ext uri="{FF2B5EF4-FFF2-40B4-BE49-F238E27FC236}">
                          <a16:creationId xmlns:a16="http://schemas.microsoft.com/office/drawing/2014/main" id="{95D4A66B-1736-41ED-91CB-D7F7F96B5795}"/>
                        </a:ext>
                      </a:extLst>
                    </p:cNvPr>
                    <p:cNvSpPr>
                      <a:spLocks xmlns:a="http://schemas.openxmlformats.org/drawingml/2006/main" noGrp="1"/>
                    </p:cNvSpPr>
                    <p:nvPr/>
                  </p:nvSpPr>
                  <p:spPr>
                    <a:xfrm xmlns:a="http://schemas.openxmlformats.org/drawingml/2006/main">
                      <a:off x="9086850" y="4152900"/>
                      <a:ext cx="1962150" cy="247650"/>
                    </a:xfrm>
                    <a:prstGeom xmlns:a="http://schemas.openxmlformats.org/drawingml/2006/main" prst="rect">
                      <a:avLst/>
                    </a:prstGeom>
                    <a:noFill xmlns:a="http://schemas.openxmlformats.org/drawingml/2006/main"/>
                    <a:ln xmlns:a="http://schemas.openxmlformats.org/drawingml/2006/main" w="0">
                      <a:noFill/>
                      <a:prstDash val="solid"/>
                    </a:ln>
                  </p:spPr>
                  <p:txBody>
                    <a:bodyPr xmlns:a="http://schemas.openxmlformats.org/drawingml/2006/main" lIns="0" tIns="0" rIns="0" bIns="0" anchor="ctr"/>
                    <a:lstStyle xmlns:a="http://schemas.openxmlformats.org/drawingml/2006/main">
                      <a:defPPr>
                        <a:def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defPPr>
                    </a:lstStyle>
                    <a:p xmlns:a="http://schemas.openxmlformats.org/drawingml/2006/main">
                      <a:pPr>
                        <a:def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sz="1425" b="1">
                          <a:solidFill>
                            <a:srgbClr val="A65C2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FinMem · TSK</a:t>
                      </a:r>
                    </a:p>
                  </p:txBody>
                </p:sp>
              </p:grpSp>
            </p:grpSp>
          </p:grpSp>
          <p:grpSp>
            <p:nvGrpSpPr>
              <p:cNvPr id="88" name="Task-function grid.A.row3"/>
              <p:cNvGrpSpPr/>
              <p:nvPr/>
            </p:nvGrpSpPr>
            <p:grpSpPr>
              <ns1:xfrm xmlns:ns1="http://schemas.openxmlformats.org/drawingml/2006/main">
                <ns1:off x="238125" y="4486275"/>
                <ns1:ext cx="10906125" cy="876300"/>
                <ns1:chOff x="238125" y="4486275"/>
                <ns1:chExt cx="10906125" cy="876300"/>
              </ns1:xfrm>
            </p:grpSpPr>
            <p:sp>
              <p:nvSpPr>
                <p:cNvPr id="37" name="A.row3.band">
                  <a:extLst xmlns:a="http://schemas.openxmlformats.org/drawingml/2006/main">
                    <a:ext uri="{FF2B5EF4-FFF2-40B4-BE49-F238E27FC236}">
                      <a16:creationId xmlns:a16="http://schemas.microsoft.com/office/drawing/2014/main" id="{2E769DE3-E866-4F55-A679-83523C2A4889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4486275"/>
                  <a:ext cx="10906125" cy="876300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F3F7F8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38" name="A.row3.label">
                  <a:extLst xmlns:a="http://schemas.openxmlformats.org/drawingml/2006/main">
                    <a:ext uri="{FF2B5EF4-FFF2-40B4-BE49-F238E27FC236}">
                      <a16:creationId xmlns:a16="http://schemas.microsoft.com/office/drawing/2014/main" id="{17BD91D2-6878-4495-85AD-7EF4C4098133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52425" y="4572000"/>
                  <a:ext cx="1628775" cy="666750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Temporal</a:t>
                  </a:r>
                </a:p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validation</a:t>
                  </a:r>
                </a:p>
              </p:txBody>
            </p:sp>
            <p:grpSp>
              <p:nvGrpSpPr>
                <p:cNvPr id="84" name="Task-function grid.A.row3.cell0"/>
                <p:cNvGrpSpPr/>
                <p:nvPr/>
              </p:nvGrpSpPr>
              <p:grpSpPr>
                <ns1:xfrm xmlns:ns1="http://schemas.openxmlformats.org/drawingml/2006/main">
                  <ns1:off x="2190750" y="4552950"/>
                  <ns1:ext cx="2038350" cy="495300"/>
                  <ns1:chOff x="2190750" y="4552950"/>
                  <ns1:chExt cx="2038350" cy="495300"/>
                </ns1:xfrm>
              </p:grpSpPr>
              <p:sp>
                <p:nvSpPr>
                  <p:cNvPr id="39" name="A.row3.cell0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13908389-32CD-4780-9560-9EB05D37C717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2190750" y="455295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Information cutoff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and time alignment</a:t>
                    </a:r>
                  </a:p>
                </p:txBody>
              </p:sp>
            </p:grpSp>
            <p:grpSp>
              <p:nvGrpSpPr>
                <p:cNvPr id="85" name="Task-function grid.A.row3.cell1"/>
                <p:cNvGrpSpPr/>
                <p:nvPr/>
              </p:nvGrpSpPr>
              <p:grpSpPr>
                <ns1:xfrm xmlns:ns1="http://schemas.openxmlformats.org/drawingml/2006/main">
                  <ns1:off x="4457700" y="4552950"/>
                  <ns1:ext cx="2038350" cy="495300"/>
                  <ns1:chOff x="4457700" y="4552950"/>
                  <ns1:chExt cx="2038350" cy="495300"/>
                </ns1:xfrm>
              </p:grpSpPr>
              <p:sp>
                <p:nvSpPr>
                  <p:cNvPr id="40" name="A.row3.cell1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24AB8F7F-EA6F-4FAB-B1BE-28CACA7C78A5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4457700" y="455295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Temporal structure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and condition fidelity</a:t>
                    </a:r>
                  </a:p>
                </p:txBody>
              </p:sp>
            </p:grpSp>
            <p:grpSp>
              <p:nvGrpSpPr>
                <p:cNvPr id="86" name="Task-function grid.A.row3.cell2"/>
                <p:cNvGrpSpPr/>
                <p:nvPr/>
              </p:nvGrpSpPr>
              <p:grpSpPr>
                <ns1:xfrm xmlns:ns1="http://schemas.openxmlformats.org/drawingml/2006/main">
                  <ns1:off x="6724650" y="4552950"/>
                  <ns1:ext cx="2038350" cy="495300"/>
                  <ns1:chOff x="6724650" y="4552950"/>
                  <ns1:chExt cx="2038350" cy="495300"/>
                </ns1:xfrm>
              </p:grpSpPr>
              <p:sp>
                <p:nvSpPr>
                  <p:cNvPr id="41" name="A.row3.cell2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A3DD0BF2-D3D5-4774-8271-B5F3652719F9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6724650" y="455295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Temporal location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and evidence</a:t>
                    </a:r>
                  </a:p>
                </p:txBody>
              </p:sp>
            </p:grpSp>
            <p:grpSp>
              <p:nvGrpSpPr>
                <p:cNvPr id="87" name="Task-function grid.A.row3.cell3"/>
                <p:cNvGrpSpPr/>
                <p:nvPr/>
              </p:nvGrpSpPr>
              <p:grpSpPr>
                <ns1:xfrm xmlns:ns1="http://schemas.openxmlformats.org/drawingml/2006/main">
                  <ns1:off x="8991600" y="4552950"/>
                  <ns1:ext cx="2038350" cy="495300"/>
                  <ns1:chOff x="8991600" y="4552950"/>
                  <ns1:chExt cx="2038350" cy="495300"/>
                </ns1:xfrm>
              </p:grpSpPr>
              <p:sp>
                <p:nvSpPr>
                  <p:cNvPr id="42" name="A.row3.cell3.body">
                    <a:extLst xmlns:a="http://schemas.openxmlformats.org/drawingml/2006/main">
                      <a:ext uri="{FF2B5EF4-FFF2-40B4-BE49-F238E27FC236}">
                        <a16:creationId xmlns:a16="http://schemas.microsoft.com/office/drawing/2014/main" id="{C82972FA-0EC7-417A-BFB4-CE4311095B94}"/>
                      </a:ext>
                    </a:extLst>
                  </p:cNvPr>
                  <p:cNvSpPr>
                    <a:spLocks xmlns:a="http://schemas.openxmlformats.org/drawingml/2006/main" noGrp="1"/>
                  </p:cNvSpPr>
                  <p:nvPr/>
                </p:nvSpPr>
                <p:spPr>
                  <a:xfrm xmlns:a="http://schemas.openxmlformats.org/drawingml/2006/main">
                    <a:off x="8991600" y="4552950"/>
                    <a:ext cx="2038350" cy="495300"/>
                  </a:xfrm>
                  <a:prstGeom xmlns:a="http://schemas.openxmlformats.org/drawingml/2006/main" prst="rect">
                    <a:avLst/>
                  </a:prstGeom>
                  <a:noFill xmlns:a="http://schemas.openxmlformats.org/drawingml/2006/main"/>
                  <a:ln xmlns:a="http://schemas.openxmlformats.org/drawingml/2006/main" w="0">
                    <a:noFill/>
                    <a:prstDash val="solid"/>
                  </a:ln>
                </p:spPr>
                <p:txBody>
                  <a:bodyPr xmlns:a="http://schemas.openxmlformats.org/drawingml/2006/main" lIns="0" tIns="0" rIns="0" bIns="0" anchor="ctr"/>
                  <a:lstStyle xmlns:a="http://schemas.openxmlformats.org/drawingml/2006/main">
                    <a:def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defPPr>
                  </a:lstStyle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Evidence available</a:t>
                    </a:r>
                  </a:p>
                  <a:p xmlns:a="http://schemas.openxmlformats.org/drawingml/2006/main">
                    <a:pPr>
                      <a:def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defRPr>
                    </a:pPr>
                    <a:r>
                      <a:rPr sz="1725" b="0">
                        <a:solidFill>
                          <a:srgbClr val="193B55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at the action time</a:t>
                    </a:r>
                  </a:p>
                </p:txBody>
              </p:sp>
            </p:grpSp>
          </p:grpSp>
        </p:grpSp>
        <p:grpSp>
          <p:nvGrpSpPr>
            <p:cNvPr id="94" name="Task-function grid.B"/>
            <p:cNvGrpSpPr/>
            <p:nvPr/>
          </p:nvGrpSpPr>
          <p:grpSpPr>
            <ns1:xfrm xmlns:ns1="http://schemas.openxmlformats.org/drawingml/2006/main">
              <ns1:off x="238125" y="5629275"/>
              <ns1:ext cx="10944225" cy="2057400"/>
              <ns1:chOff x="238125" y="5629275"/>
              <ns1:chExt cx="10944225" cy="2057400"/>
            </ns1:xfrm>
          </p:grpSpPr>
          <p:sp>
            <p:nvSpPr>
              <p:cNvPr id="43" name="B.title">
                <a:extLst xmlns:a="http://schemas.openxmlformats.org/drawingml/2006/main">
                  <a:ext uri="{FF2B5EF4-FFF2-40B4-BE49-F238E27FC236}">
                    <a16:creationId xmlns:a16="http://schemas.microsoft.com/office/drawing/2014/main" id="{0B7D66DB-78F2-4365-85B3-172C70A827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8125" y="5629275"/>
                <a:ext cx="10906125" cy="361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>
                  <a:defRPr sz="217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defPPr>
              </a:lstStyle>
              <a:p xmlns:a="http://schemas.openxmlformats.org/drawingml/2006/main">
                <a:pPr>
                  <a:defRPr sz="217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2175" b="1">
                    <a:solidFill>
                      <a:srgbClr val="193B55"/>
                    </a:solidFill>
                    <a:latin typeface="Times New Roman"/>
                    <a:ea typeface="Times New Roman"/>
                    <a:cs typeface="Times New Roman"/>
                  </a:rPr>
                  <a:t>(b) Illustrative path: demand forecasting and inventory decisions</a:t>
                </a:r>
              </a:p>
            </p:txBody>
          </p:sp>
          <p:sp>
            <p:nvSpPr>
              <p:cNvPr id="48" name="B.arrow0">
                <a:extLst xmlns:a="http://schemas.openxmlformats.org/drawingml/2006/main">
                  <a:ext uri="{FF2B5EF4-FFF2-40B4-BE49-F238E27FC236}">
                    <a16:creationId xmlns:a16="http://schemas.microsoft.com/office/drawing/2014/main" id="{96B645AB-E7CD-4D60-9A84-8218E23B3C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19400" y="6610350"/>
                <a:ext cx="171450" cy="1333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899BA5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53" name="B.arrow1">
                <a:extLst xmlns:a="http://schemas.openxmlformats.org/drawingml/2006/main">
                  <a:ext uri="{FF2B5EF4-FFF2-40B4-BE49-F238E27FC236}">
                    <a16:creationId xmlns:a16="http://schemas.microsoft.com/office/drawing/2014/main" id="{1723C776-4E79-4570-9681-418A27C17E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0225" y="6610350"/>
                <a:ext cx="171450" cy="1333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899BA5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58" name="B.arrow2">
                <a:extLst xmlns:a="http://schemas.openxmlformats.org/drawingml/2006/main">
                  <a:ext uri="{FF2B5EF4-FFF2-40B4-BE49-F238E27FC236}">
                    <a16:creationId xmlns:a16="http://schemas.microsoft.com/office/drawing/2014/main" id="{BA1D4CAC-C72F-4BA8-AEFD-7724B0332F3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401050" y="6610350"/>
                <a:ext cx="171450" cy="133350"/>
              </a:xfrm>
              <a:prstGeom xmlns:a="http://schemas.openxmlformats.org/drawingml/2006/main" prst="rightArrow">
                <a:avLst/>
              </a:prstGeom>
              <a:solidFill xmlns:a="http://schemas.openxmlformats.org/drawingml/2006/main">
                <a:srgbClr val="899BA5"/>
              </a:solidFill>
              <a:ln xmlns:a="http://schemas.openxmlformats.org/drawingml/2006/main" w="0">
                <a:noFill/>
                <a:prstDash val="solid"/>
              </a:ln>
            </p:spPr>
          </p:sp>
          <p:grpSp>
            <p:nvGrpSpPr>
              <p:cNvPr id="90" name="Task-function grid.B.stage0"/>
              <p:cNvGrpSpPr/>
              <p:nvPr/>
            </p:nvGrpSpPr>
            <p:grpSpPr>
              <ns1:xfrm xmlns:ns1="http://schemas.openxmlformats.org/drawingml/2006/main">
                <ns1:off x="238125" y="6172200"/>
                <ns1:ext cx="2571750" cy="1514475"/>
                <ns1:chOff x="238125" y="6172200"/>
                <ns1:chExt cx="2571750" cy="1514475"/>
              </ns1:xfrm>
            </p:grpSpPr>
            <p:sp>
              <p:nvSpPr>
                <p:cNvPr id="44" name="B.stage0.top">
                  <a:extLst xmlns:a="http://schemas.openxmlformats.org/drawingml/2006/main">
                    <a:ext uri="{FF2B5EF4-FFF2-40B4-BE49-F238E27FC236}">
                      <a16:creationId xmlns:a16="http://schemas.microsoft.com/office/drawing/2014/main" id="{F26255A3-24B7-4973-BC0E-51FAAE00C157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6172200"/>
                  <a:ext cx="2552700" cy="2857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2B6985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45" name="B.stage0.title">
                  <a:extLst xmlns:a="http://schemas.openxmlformats.org/drawingml/2006/main">
                    <a:ext uri="{FF2B5EF4-FFF2-40B4-BE49-F238E27FC236}">
                      <a16:creationId xmlns:a16="http://schemas.microsoft.com/office/drawing/2014/main" id="{58D085BB-7236-444C-9EAB-DA96E0CF50A0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6286500"/>
                  <a:ext cx="2571750" cy="2762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General execution</a:t>
                  </a:r>
                </a:p>
              </p:txBody>
            </p:sp>
            <p:sp>
              <p:nvSpPr>
                <p:cNvPr id="46" name="B.stage0.body">
                  <a:extLst xmlns:a="http://schemas.openxmlformats.org/drawingml/2006/main">
                    <a:ext uri="{FF2B5EF4-FFF2-40B4-BE49-F238E27FC236}">
                      <a16:creationId xmlns:a16="http://schemas.microsoft.com/office/drawing/2014/main" id="{24CE8142-42CA-4808-8133-CB842C7FBFBE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6629400"/>
                  <a:ext cx="2524125" cy="4286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Run tools; retain artifacts</a:t>
                  </a:r>
                </a:p>
              </p:txBody>
            </p:sp>
            <p:sp>
              <p:nvSpPr>
                <p:cNvPr id="47" name="B.stage0.resource">
                  <a:extLst xmlns:a="http://schemas.openxmlformats.org/drawingml/2006/main">
                    <a:ext uri="{FF2B5EF4-FFF2-40B4-BE49-F238E27FC236}">
                      <a16:creationId xmlns:a16="http://schemas.microsoft.com/office/drawing/2014/main" id="{21475D51-B8B0-43DA-8FA6-D4F140A72E55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238125" y="7200900"/>
                  <a:ext cx="2552700" cy="4857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rPr>
                    <a:t>Artifact test: TimeSeriesGym</a:t>
                  </a:r>
                </a:p>
              </p:txBody>
            </p:sp>
          </p:grpSp>
          <p:grpSp>
            <p:nvGrpSpPr>
              <p:cNvPr id="91" name="Task-function grid.B.stage1"/>
              <p:cNvGrpSpPr/>
              <p:nvPr/>
            </p:nvGrpSpPr>
            <p:grpSpPr>
              <ns1:xfrm xmlns:ns1="http://schemas.openxmlformats.org/drawingml/2006/main">
                <ns1:off x="3028950" y="6172200"/>
                <ns1:ext cx="2571750" cy="1514475"/>
                <ns1:chOff x="3028950" y="6172200"/>
                <ns1:chExt cx="2571750" cy="1514475"/>
              </ns1:xfrm>
            </p:grpSpPr>
            <p:sp>
              <p:nvSpPr>
                <p:cNvPr id="49" name="B.stage1.top">
                  <a:extLst xmlns:a="http://schemas.openxmlformats.org/drawingml/2006/main">
                    <a:ext uri="{FF2B5EF4-FFF2-40B4-BE49-F238E27FC236}">
                      <a16:creationId xmlns:a16="http://schemas.microsoft.com/office/drawing/2014/main" id="{EFCE049C-D43A-4E1A-89B8-1B4EB2B4B8AE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028950" y="6172200"/>
                  <a:ext cx="2552700" cy="2857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2B6985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50" name="B.stage1.title">
                  <a:extLst xmlns:a="http://schemas.openxmlformats.org/drawingml/2006/main">
                    <a:ext uri="{FF2B5EF4-FFF2-40B4-BE49-F238E27FC236}">
                      <a16:creationId xmlns:a16="http://schemas.microsoft.com/office/drawing/2014/main" id="{6BFE5A05-9573-45A7-B7EF-A78E0EE56698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028950" y="6286500"/>
                  <a:ext cx="2571750" cy="2762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2B6985"/>
                      </a:solidFill>
                      <a:latin typeface="Times New Roman"/>
                      <a:ea typeface="Times New Roman"/>
                      <a:cs typeface="Times New Roman"/>
                    </a:rPr>
                    <a:t>Temporal preparation</a:t>
                  </a:r>
                </a:p>
              </p:txBody>
            </p:sp>
            <p:sp>
              <p:nvSpPr>
                <p:cNvPr id="51" name="B.stage1.body">
                  <a:extLst xmlns:a="http://schemas.openxmlformats.org/drawingml/2006/main">
                    <a:ext uri="{FF2B5EF4-FFF2-40B4-BE49-F238E27FC236}">
                      <a16:creationId xmlns:a16="http://schemas.microsoft.com/office/drawing/2014/main" id="{DDAE4671-2DEC-4227-9FDF-250D3BC01384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028950" y="6629400"/>
                  <a:ext cx="2524125" cy="4286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Align data; retrieve context</a:t>
                  </a:r>
                </a:p>
              </p:txBody>
            </p:sp>
            <p:sp>
              <p:nvSpPr>
                <p:cNvPr id="52" name="B.stage1.resource">
                  <a:extLst xmlns:a="http://schemas.openxmlformats.org/drawingml/2006/main">
                    <a:ext uri="{FF2B5EF4-FFF2-40B4-BE49-F238E27FC236}">
                      <a16:creationId xmlns:a16="http://schemas.microsoft.com/office/drawing/2014/main" id="{9512A71E-5252-41B2-ADFD-8DC8FE4287B6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3028950" y="7200900"/>
                  <a:ext cx="2552700" cy="4857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rPr>
                    <a:t>Context test: Dr-CiK</a:t>
                  </a:r>
                </a:p>
              </p:txBody>
            </p:sp>
          </p:grpSp>
          <p:grpSp>
            <p:nvGrpSpPr>
              <p:cNvPr id="92" name="Task-function grid.B.stage2"/>
              <p:cNvGrpSpPr/>
              <p:nvPr/>
            </p:nvGrpSpPr>
            <p:grpSpPr>
              <ns1:xfrm xmlns:ns1="http://schemas.openxmlformats.org/drawingml/2006/main">
                <ns1:off x="5819775" y="6172200"/>
                <ns1:ext cx="2571750" cy="1514475"/>
                <ns1:chOff x="5819775" y="6172200"/>
                <ns1:chExt cx="2571750" cy="1514475"/>
              </ns1:xfrm>
            </p:grpSpPr>
            <p:sp>
              <p:nvSpPr>
                <p:cNvPr id="54" name="B.stage2.top">
                  <a:extLst xmlns:a="http://schemas.openxmlformats.org/drawingml/2006/main">
                    <a:ext uri="{FF2B5EF4-FFF2-40B4-BE49-F238E27FC236}">
                      <a16:creationId xmlns:a16="http://schemas.microsoft.com/office/drawing/2014/main" id="{57B0695A-EA98-4F49-9A34-42D656224441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5819775" y="6172200"/>
                  <a:ext cx="2552700" cy="2857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A65C27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55" name="B.stage2.title">
                  <a:extLst xmlns:a="http://schemas.openxmlformats.org/drawingml/2006/main">
                    <a:ext uri="{FF2B5EF4-FFF2-40B4-BE49-F238E27FC236}">
                      <a16:creationId xmlns:a16="http://schemas.microsoft.com/office/drawing/2014/main" id="{4EE82817-ED86-49A4-81F1-65169F1C6EB5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5819775" y="6286500"/>
                  <a:ext cx="2571750" cy="2762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rPr>
                    <a:t>Forecast procedure</a:t>
                  </a:r>
                </a:p>
              </p:txBody>
            </p:sp>
            <p:sp>
              <p:nvSpPr>
                <p:cNvPr id="56" name="B.stage2.body">
                  <a:extLst xmlns:a="http://schemas.openxmlformats.org/drawingml/2006/main">
                    <a:ext uri="{FF2B5EF4-FFF2-40B4-BE49-F238E27FC236}">
                      <a16:creationId xmlns:a16="http://schemas.microsoft.com/office/drawing/2014/main" id="{D53AFA96-58A5-4DE5-8F4C-032DEF5CC2B9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5819775" y="6629400"/>
                  <a:ext cx="2524125" cy="4286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Select and revise forecasts</a:t>
                  </a:r>
                </a:p>
              </p:txBody>
            </p:sp>
            <p:sp>
              <p:nvSpPr>
                <p:cNvPr id="57" name="B.stage2.resource">
                  <a:extLst xmlns:a="http://schemas.openxmlformats.org/drawingml/2006/main">
                    <a:ext uri="{FF2B5EF4-FFF2-40B4-BE49-F238E27FC236}">
                      <a16:creationId xmlns:a16="http://schemas.microsoft.com/office/drawing/2014/main" id="{721789F2-733F-409B-9F95-24962D473E93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5819775" y="7200900"/>
                  <a:ext cx="2552700" cy="4857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rPr>
                    <a:t>Model resources: ModernTSF</a:t>
                  </a:r>
                </a:p>
              </p:txBody>
            </p:sp>
          </p:grpSp>
          <p:grpSp>
            <p:nvGrpSpPr>
              <p:cNvPr id="93" name="Task-function grid.B.stage3"/>
              <p:cNvGrpSpPr/>
              <p:nvPr/>
            </p:nvGrpSpPr>
            <p:grpSpPr>
              <ns1:xfrm xmlns:ns1="http://schemas.openxmlformats.org/drawingml/2006/main">
                <ns1:off x="8610600" y="6172200"/>
                <ns1:ext cx="2571750" cy="1514475"/>
                <ns1:chOff x="8610600" y="6172200"/>
                <ns1:chExt cx="2571750" cy="1514475"/>
              </ns1:xfrm>
            </p:grpSpPr>
            <p:sp>
              <p:nvSpPr>
                <p:cNvPr id="59" name="B.stage3.top">
                  <a:extLst xmlns:a="http://schemas.openxmlformats.org/drawingml/2006/main">
                    <a:ext uri="{FF2B5EF4-FFF2-40B4-BE49-F238E27FC236}">
                      <a16:creationId xmlns:a16="http://schemas.microsoft.com/office/drawing/2014/main" id="{92CBFE86-FFFF-4644-A7E5-F7FC1500A6BD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610600" y="6172200"/>
                  <a:ext cx="2552700" cy="28575"/>
                </a:xfrm>
                <a:prstGeom xmlns:a="http://schemas.openxmlformats.org/drawingml/2006/main" prst="rect">
                  <a:avLst/>
                </a:prstGeom>
                <a:solidFill xmlns:a="http://schemas.openxmlformats.org/drawingml/2006/main">
                  <a:srgbClr val="A65C27"/>
                </a:solidFill>
                <a:ln xmlns:a="http://schemas.openxmlformats.org/drawingml/2006/main" w="0">
                  <a:noFill/>
                  <a:prstDash val="solid"/>
                </a:ln>
              </p:spPr>
            </p:sp>
            <p:sp>
              <p:nvSpPr>
                <p:cNvPr id="60" name="B.stage3.title">
                  <a:extLst xmlns:a="http://schemas.openxmlformats.org/drawingml/2006/main">
                    <a:ext uri="{FF2B5EF4-FFF2-40B4-BE49-F238E27FC236}">
                      <a16:creationId xmlns:a16="http://schemas.microsoft.com/office/drawing/2014/main" id="{0B0D8E41-A6AC-46A7-A23D-0AAE2347CF1B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610600" y="6286500"/>
                  <a:ext cx="2571750" cy="2762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875" b="1">
                      <a:solidFill>
                        <a:srgbClr val="A65C27"/>
                      </a:solidFill>
                      <a:latin typeface="Times New Roman"/>
                      <a:ea typeface="Times New Roman"/>
                      <a:cs typeface="Times New Roman"/>
                    </a:rPr>
                    <a:t>Inventory decision</a:t>
                  </a:r>
                </a:p>
              </p:txBody>
            </p:sp>
            <p:sp>
              <p:nvSpPr>
                <p:cNvPr id="61" name="B.stage3.body">
                  <a:extLst xmlns:a="http://schemas.openxmlformats.org/drawingml/2006/main">
                    <a:ext uri="{FF2B5EF4-FFF2-40B4-BE49-F238E27FC236}">
                      <a16:creationId xmlns:a16="http://schemas.microsoft.com/office/drawing/2014/main" id="{4556E826-9BEE-4358-980D-4DA5D7769C24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610600" y="6629400"/>
                  <a:ext cx="2524125" cy="42862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650" b="0">
                      <a:solidFill>
                        <a:srgbClr val="193B55"/>
                      </a:solidFill>
                      <a:latin typeface="Times New Roman"/>
                      <a:ea typeface="Times New Roman"/>
                      <a:cs typeface="Times New Roman"/>
                    </a:rPr>
                    <a:t>Choose actions under costs</a:t>
                  </a:r>
                </a:p>
              </p:txBody>
            </p:sp>
            <p:sp>
              <p:nvSpPr>
                <p:cNvPr id="62" name="B.stage3.resource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0A046C-659B-4D5B-9261-99B192CBE3F1}"/>
                    </a:ext>
                  </a:extLst>
                </p:cNvPr>
                <p:cNvSpPr>
                  <a:spLocks xmlns:a="http://schemas.openxmlformats.org/drawingml/2006/main" noGrp="1"/>
                </p:cNvSpPr>
                <p:nvPr/>
              </p:nvSpPr>
              <p:spPr>
                <a:xfrm xmlns:a="http://schemas.openxmlformats.org/drawingml/2006/main">
                  <a:off x="8610600" y="7200900"/>
                  <a:ext cx="2552700" cy="485775"/>
                </a:xfrm>
                <a:prstGeom xmlns:a="http://schemas.openxmlformats.org/drawingml/2006/main" prst="rect">
                  <a:avLst/>
                </a:prstGeom>
                <a:noFill xmlns:a="http://schemas.openxmlformats.org/drawingml/2006/main"/>
                <a:ln xmlns:a="http://schemas.openxmlformats.org/drawingml/2006/main" w="0">
                  <a:noFill/>
                  <a:prstDash val="solid"/>
                </a:ln>
              </p:spPr>
              <p:txBody>
                <a:bodyPr xmlns:a="http://schemas.openxmlformats.org/drawingml/2006/main" lIns="0" tIns="0" rIns="0" bIns="0" anchor="ctr"/>
                <a:lstStyle xmlns:a="http://schemas.openxmlformats.org/drawingml/2006/main">
                  <a:def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defPPr>
                </a:lstStyle>
                <a:p xmlns:a="http://schemas.openxmlformats.org/drawingml/2006/main">
                  <a:pPr>
                    <a:def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r>
                    <a:rPr sz="1575" b="0">
                      <a:solidFill>
                        <a:srgbClr val="435563"/>
                      </a:solidFill>
                      <a:latin typeface="Times New Roman"/>
                      <a:ea typeface="Times New Roman"/>
                      <a:cs typeface="Times New Roman"/>
                    </a:rPr>
                    <a:t>Scenario test: inventory simulator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06854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2026-10-15T15:52:07.1770000Z</dcterms:created>
  <dcterms:modified xsi:type="dcterms:W3CDTF">2026-10-15T15:52:07.1770000Z</dcterms:modified>
</coreProperties>
</file>