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4d6e2b1b2b4c8e" /><Relationship Type="http://schemas.openxmlformats.org/officeDocument/2006/relationships/extended-properties" Target="/docProps/app.xml" Id="R7a3bc27e99474807" /><Relationship Type="http://schemas.openxmlformats.org/officeDocument/2006/relationships/officeDocument" Target="/ppt/presentation.xml" Id="R617a959451a443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1f40272f394435"/>
  </p:sldMasterIdLst>
  <p:notesMasterIdLst>
    <p:notesMasterId xmlns:r="http://schemas.openxmlformats.org/officeDocument/2006/relationships" r:id="Recc1189db638435c"/>
  </p:notesMasterIdLst>
  <p:sldIdLst>
    <p:sldId xmlns:r="http://schemas.openxmlformats.org/officeDocument/2006/relationships" id="256" r:id="R2e0ace4a41a7452c"/>
    <p:sldId xmlns:r="http://schemas.openxmlformats.org/officeDocument/2006/relationships" id="257" r:id="Re598effa61d34d59"/>
    <p:sldId xmlns:r="http://schemas.openxmlformats.org/officeDocument/2006/relationships" id="258" r:id="R85f2e722fde04d7c"/>
    <p:sldId xmlns:r="http://schemas.openxmlformats.org/officeDocument/2006/relationships" id="259" r:id="Ra6ea51f892b945ee"/>
    <p:sldId xmlns:r="http://schemas.openxmlformats.org/officeDocument/2006/relationships" id="260" r:id="R8ec8b509105442b4"/>
  </p:sldIdLst>
  <p:sldSz cx="16668750" cy="127825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20673b7be64083" /><Relationship Type="http://schemas.openxmlformats.org/officeDocument/2006/relationships/slideMaster" Target="/ppt/slideMasters/slideMaster1.xml" Id="R201f40272f394435" /><Relationship Type="http://schemas.openxmlformats.org/officeDocument/2006/relationships/notesMaster" Target="/ppt/notesMasters/notesMaster1.xml" Id="Recc1189db638435c" /><Relationship Type="http://schemas.openxmlformats.org/officeDocument/2006/relationships/presProps" Target="/ppt/presProps.xml" Id="Rd57632f129984635" /><Relationship Type="http://schemas.openxmlformats.org/officeDocument/2006/relationships/tableStyles" Target="/ppt/tableStyles.xml" Id="R5bcb00eae1d54b44" /><Relationship Type="http://schemas.openxmlformats.org/officeDocument/2006/relationships/slide" Target="/ppt/slides/slide1.xml" Id="R2e0ace4a41a7452c" /><Relationship Type="http://schemas.openxmlformats.org/officeDocument/2006/relationships/slide" Target="/ppt/slides/slide2.xml" Id="Re598effa61d34d59" /><Relationship Type="http://schemas.openxmlformats.org/officeDocument/2006/relationships/slide" Target="/ppt/slides/slide3.xml" Id="R85f2e722fde04d7c" /><Relationship Type="http://schemas.openxmlformats.org/officeDocument/2006/relationships/slide" Target="/ppt/slides/slide4.xml" Id="Ra6ea51f892b945ee" /><Relationship Type="http://schemas.openxmlformats.org/officeDocument/2006/relationships/slide" Target="/ppt/slides/slide5.xml" Id="R8ec8b509105442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b674405eb74e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c2745b6e3d4f6d" /><Relationship Type="http://schemas.openxmlformats.org/officeDocument/2006/relationships/notesMaster" Target="/ppt/notesMasters/notesMaster1.xml" Id="Rd3cdab95124848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cfb8672fee44dc" /><Relationship Type="http://schemas.openxmlformats.org/officeDocument/2006/relationships/notesMaster" Target="/ppt/notesMasters/notesMaster1.xml" Id="R5d0bb1b30b2945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bba3570b0a4522" /><Relationship Type="http://schemas.openxmlformats.org/officeDocument/2006/relationships/notesMaster" Target="/ppt/notesMasters/notesMaster1.xml" Id="R95cebba6874041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21c31f2628433d" /><Relationship Type="http://schemas.openxmlformats.org/officeDocument/2006/relationships/notesMaster" Target="/ppt/notesMasters/notesMaster1.xml" Id="R6e0f52ece92146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35bf211019463e" /><Relationship Type="http://schemas.openxmlformats.org/officeDocument/2006/relationships/notesMaster" Target="/ppt/notesMasters/notesMaster1.xml" Id="R0746af58566c47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Time-Series Agent survey figure adapted from the user-supplied RSI visual template. The layout, typography, and visual hierarchy are retained while the content is rewritten for the LLM + General Harness + Time-Series Harness Module framework. Editable PowerPoint objects remain available for later grouping and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Time-Series Agent survey figure adapted from the user-supplied RSI visual template. The layout, typography, and visual hierarchy are retained while the content is rewritten for the LLM + General Harness + Time-Series Harness Module framework. Editable PowerPoint objects remain available for later grouping and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Time-Series Agent survey figure adapted from the user-supplied RSI visual template. The layout, typography, and visual hierarchy are retained while the content is rewritten for the LLM + General Harness + Time-Series Harness Module framework. Editable PowerPoint objects remain available for later grouping and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Time-Series Agent survey figure adapted from the user-supplied RSI visual template. The layout, typography, and visual hierarchy are retained while the content is rewritten for the LLM + General Harness + Time-Series Harness Module framework. Editable PowerPoint objects remain available for later grouping and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Time-Series Agent survey figure adapted from the user-supplied RSI visual template. The layout, typography, and visual hierarchy are retained while the content is rewritten for the LLM + General Harness + Time-Series Harness Module framework. Editable PowerPoint objects remain available for later grouping and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a3598500d24dfd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f031b9f3824a24" /><Relationship Type="http://schemas.openxmlformats.org/officeDocument/2006/relationships/slideLayout" Target="/ppt/slideLayouts/slideLayout1.xml" Id="R140c98990e2a4c5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0c98990e2a4c55"/>
  </p:sldLayoutIdLst>
</p:sldMaster>
</file>

<file path=ppt/slideMasters/theme/theme2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f07ca8938b4ab7" /><Relationship Type="http://schemas.openxmlformats.org/officeDocument/2006/relationships/image" Target="/ppt/media/image.png" Id="Re19ed5c9584244ed" /><Relationship Type="http://schemas.openxmlformats.org/officeDocument/2006/relationships/image" Target="/ppt/media/image2.png" Id="Rd7140c72683d4497" /><Relationship Type="http://schemas.openxmlformats.org/officeDocument/2006/relationships/image" Target="/ppt/media/image3.png" Id="R0dc249edfa9940a7" /><Relationship Type="http://schemas.openxmlformats.org/officeDocument/2006/relationships/image" Target="/ppt/media/image4.png" Id="Rb46179c2ebac4a06" /><Relationship Type="http://schemas.openxmlformats.org/officeDocument/2006/relationships/image" Target="/ppt/media/image5.png" Id="R722463d8b0524f35" /><Relationship Type="http://schemas.openxmlformats.org/officeDocument/2006/relationships/image" Target="/ppt/media/image6.png" Id="R7fb26a2bcf784c73" /><Relationship Type="http://schemas.openxmlformats.org/officeDocument/2006/relationships/notesSlide" Target="/ppt/notesSlides/notesSlide1.xml" Id="R214a01d3050049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4860c02216490b" /><Relationship Type="http://schemas.openxmlformats.org/officeDocument/2006/relationships/notesSlide" Target="/ppt/notesSlides/notesSlide2.xml" Id="Re15cf64ae2114a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6ec26bf8404054" /><Relationship Type="http://schemas.openxmlformats.org/officeDocument/2006/relationships/notesSlide" Target="/ppt/notesSlides/notesSlide3.xml" Id="R6102d4bb139944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8f7c2835a64bcf" /><Relationship Type="http://schemas.openxmlformats.org/officeDocument/2006/relationships/notesSlide" Target="/ppt/notesSlides/notesSlide4.xml" Id="R4a8cb3aafdf24b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833d0de3634845" /><Relationship Type="http://schemas.openxmlformats.org/officeDocument/2006/relationships/image" Target="/ppt/media/image7.png" Id="R843ed17d7b7e41df" /><Relationship Type="http://schemas.openxmlformats.org/officeDocument/2006/relationships/image" Target="/ppt/media/image8.png" Id="R132be69d97c3476a" /><Relationship Type="http://schemas.openxmlformats.org/officeDocument/2006/relationships/image" Target="/ppt/media/image9.png" Id="R3184e6d167a54a79" /><Relationship Type="http://schemas.openxmlformats.org/officeDocument/2006/relationships/image" Target="/ppt/media/image10.png" Id="R54561db6dbfb45c3" /><Relationship Type="http://schemas.openxmlformats.org/officeDocument/2006/relationships/image" Target="/ppt/media/image11.png" Id="Ra46b0078b3764c5a" /><Relationship Type="http://schemas.openxmlformats.org/officeDocument/2006/relationships/image" Target="/ppt/media/image12.png" Id="Rccd1ea46c26d4492" /><Relationship Type="http://schemas.openxmlformats.org/officeDocument/2006/relationships/image" Target="/ppt/media/image13.png" Id="R93f55ff11b0e4415" /><Relationship Type="http://schemas.openxmlformats.org/officeDocument/2006/relationships/image" Target="/ppt/media/image14.png" Id="R0d3acbb160f24d14" /><Relationship Type="http://schemas.openxmlformats.org/officeDocument/2006/relationships/notesSlide" Target="/ppt/notesSlides/notesSlide5.xml" Id="Rbbb2f260d5b147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rect 2">
            <a:extLst xmlns:a="http://schemas.openxmlformats.org/drawingml/2006/main">
              <a:ext uri="{FF2B5EF4-FFF2-40B4-BE49-F238E27FC236}">
                <a16:creationId xmlns:a16="http://schemas.microsoft.com/office/drawing/2014/main" id="{A74C9CCF-4226-451B-A73A-836A5FC3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8750" y="2238375"/>
            <a:ext cx="37147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CAE9EE"/>
          </a:solidFill>
          <a:ln xmlns:a="http://schemas.openxmlformats.org/drawingml/2006/main" w="38100">
            <a:solidFill>
              <a:srgbClr val="3A383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oundrect 3">
            <a:extLst xmlns:a="http://schemas.openxmlformats.org/drawingml/2006/main">
              <a:ext uri="{FF2B5EF4-FFF2-40B4-BE49-F238E27FC236}">
                <a16:creationId xmlns:a16="http://schemas.microsoft.com/office/drawing/2014/main" id="{F1B83AF1-FD82-4BAC-9A10-EB3B02EE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91250" y="2238375"/>
            <a:ext cx="37147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E7F3E3"/>
          </a:solidFill>
          <a:ln xmlns:a="http://schemas.openxmlformats.org/drawingml/2006/main" w="38100">
            <a:solidFill>
              <a:srgbClr val="3A383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oundrect 4">
            <a:extLst xmlns:a="http://schemas.openxmlformats.org/drawingml/2006/main">
              <a:ext uri="{FF2B5EF4-FFF2-40B4-BE49-F238E27FC236}">
                <a16:creationId xmlns:a16="http://schemas.microsoft.com/office/drawing/2014/main" id="{7273A834-8333-4268-B157-40A2DCB0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53750" y="2238375"/>
            <a:ext cx="37147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CAE9EE"/>
          </a:solidFill>
          <a:ln xmlns:a="http://schemas.openxmlformats.org/drawingml/2006/main" w="38100">
            <a:solidFill>
              <a:srgbClr val="3A383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oundrect 5">
            <a:extLst xmlns:a="http://schemas.openxmlformats.org/drawingml/2006/main">
              <a:ext uri="{FF2B5EF4-FFF2-40B4-BE49-F238E27FC236}">
                <a16:creationId xmlns:a16="http://schemas.microsoft.com/office/drawing/2014/main" id="{A47CAF06-CFE6-485F-AC28-71E0AAA6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8750" y="5953125"/>
            <a:ext cx="37147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E5E2FA"/>
          </a:solidFill>
          <a:ln xmlns:a="http://schemas.openxmlformats.org/drawingml/2006/main" w="38100">
            <a:solidFill>
              <a:srgbClr val="3A383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oundrect 6">
            <a:extLst xmlns:a="http://schemas.openxmlformats.org/drawingml/2006/main">
              <a:ext uri="{FF2B5EF4-FFF2-40B4-BE49-F238E27FC236}">
                <a16:creationId xmlns:a16="http://schemas.microsoft.com/office/drawing/2014/main" id="{2809B153-37FB-4BFC-89B8-0AF20F72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91250" y="5953125"/>
            <a:ext cx="37147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EEF0EA"/>
          </a:solidFill>
          <a:ln xmlns:a="http://schemas.openxmlformats.org/drawingml/2006/main" w="38100">
            <a:solidFill>
              <a:srgbClr val="3A383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oundrect 7">
            <a:extLst xmlns:a="http://schemas.openxmlformats.org/drawingml/2006/main">
              <a:ext uri="{FF2B5EF4-FFF2-40B4-BE49-F238E27FC236}">
                <a16:creationId xmlns:a16="http://schemas.microsoft.com/office/drawing/2014/main" id="{EB8C1623-F5F5-43E6-81ED-35CE3D75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53750" y="5953125"/>
            <a:ext cx="37147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9CF"/>
          </a:solidFill>
          <a:ln xmlns:a="http://schemas.openxmlformats.org/drawingml/2006/main" w="38100">
            <a:solidFill>
              <a:srgbClr val="3A383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oundrect 8">
            <a:extLst xmlns:a="http://schemas.openxmlformats.org/drawingml/2006/main">
              <a:ext uri="{FF2B5EF4-FFF2-40B4-BE49-F238E27FC236}">
                <a16:creationId xmlns:a16="http://schemas.microsoft.com/office/drawing/2014/main" id="{DF131352-803B-4782-B294-F7F2202D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8750" y="10096500"/>
            <a:ext cx="132397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2F3EE"/>
          </a:solidFill>
          <a:ln xmlns:a="http://schemas.openxmlformats.org/drawingml/2006/main" w="38100">
            <a:solidFill>
              <a:srgbClr val="2C2D2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monitor">
            <a:extLst xmlns:a="http://schemas.openxmlformats.org/drawingml/2006/main">
              <a:ext uri="{FF2B5EF4-FFF2-40B4-BE49-F238E27FC236}">
                <a16:creationId xmlns:a16="http://schemas.microsoft.com/office/drawing/2014/main" id="{19F7A632-1636-4B91-AE89-AFA5281039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9ed5c9584244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667000" y="2447925"/>
            <a:ext cx="1238250" cy="952500"/>
          </a:xfrm>
          <a:prstGeom xmlns:a="http://schemas.openxmlformats.org/drawingml/2006/main" prst="rect">
            <a:avLst/>
          </a:prstGeom>
        </p:spPr>
      </p:pic>
      <p:pic>
        <p:nvPicPr>
          <p:cNvPr id="10" name="document">
            <a:extLst xmlns:a="http://schemas.openxmlformats.org/drawingml/2006/main">
              <a:ext uri="{FF2B5EF4-FFF2-40B4-BE49-F238E27FC236}">
                <a16:creationId xmlns:a16="http://schemas.microsoft.com/office/drawing/2014/main" id="{8989611D-09F0-4A6A-8C8F-E4B8B1DDA6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140c72683d44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7429500" y="2447925"/>
            <a:ext cx="1238250" cy="952500"/>
          </a:xfrm>
          <a:prstGeom xmlns:a="http://schemas.openxmlformats.org/drawingml/2006/main" prst="rect">
            <a:avLst/>
          </a:prstGeom>
        </p:spPr>
      </p:pic>
      <p:pic>
        <p:nvPicPr>
          <p:cNvPr id="11" name="checked-document">
            <a:extLst xmlns:a="http://schemas.openxmlformats.org/drawingml/2006/main">
              <a:ext uri="{FF2B5EF4-FFF2-40B4-BE49-F238E27FC236}">
                <a16:creationId xmlns:a16="http://schemas.microsoft.com/office/drawing/2014/main" id="{80750F03-5F1E-41C8-8B20-D182761A78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c249edfa9940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2192000" y="2447925"/>
            <a:ext cx="1238250" cy="952500"/>
          </a:xfrm>
          <a:prstGeom xmlns:a="http://schemas.openxmlformats.org/drawingml/2006/main" prst="rect">
            <a:avLst/>
          </a:prstGeom>
        </p:spPr>
      </p:pic>
      <p:pic>
        <p:nvPicPr>
          <p:cNvPr id="12" name="code-files">
            <a:extLst xmlns:a="http://schemas.openxmlformats.org/drawingml/2006/main">
              <a:ext uri="{FF2B5EF4-FFF2-40B4-BE49-F238E27FC236}">
                <a16:creationId xmlns:a16="http://schemas.microsoft.com/office/drawing/2014/main" id="{7560F6DA-902A-4683-B965-EA7B6E364A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6179c2ebac4a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667000" y="6162675"/>
            <a:ext cx="1238250" cy="952500"/>
          </a:xfrm>
          <a:prstGeom xmlns:a="http://schemas.openxmlformats.org/drawingml/2006/main" prst="rect">
            <a:avLst/>
          </a:prstGeom>
        </p:spPr>
      </p:pic>
      <p:pic>
        <p:nvPicPr>
          <p:cNvPr id="13" name="documents">
            <a:extLst xmlns:a="http://schemas.openxmlformats.org/drawingml/2006/main">
              <a:ext uri="{FF2B5EF4-FFF2-40B4-BE49-F238E27FC236}">
                <a16:creationId xmlns:a16="http://schemas.microsoft.com/office/drawing/2014/main" id="{851F5A06-C8B5-4597-8F2A-BDB270A3AC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2463d8b0524f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7429500" y="6162675"/>
            <a:ext cx="1238250" cy="952500"/>
          </a:xfrm>
          <a:prstGeom xmlns:a="http://schemas.openxmlformats.org/drawingml/2006/main" prst="rect">
            <a:avLst/>
          </a:prstGeom>
        </p:spPr>
      </p:pic>
      <p:pic>
        <p:nvPicPr>
          <p:cNvPr id="14" name="shield-check">
            <a:extLst xmlns:a="http://schemas.openxmlformats.org/drawingml/2006/main">
              <a:ext uri="{FF2B5EF4-FFF2-40B4-BE49-F238E27FC236}">
                <a16:creationId xmlns:a16="http://schemas.microsoft.com/office/drawing/2014/main" id="{47DD9597-0A75-49DA-89D4-850C98E1D9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b26a2bcf784c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2192000" y="6162675"/>
            <a:ext cx="1238250" cy="952500"/>
          </a:xfrm>
          <a:prstGeom xmlns:a="http://schemas.openxmlformats.org/drawingml/2006/main" prst="rect">
            <a:avLst/>
          </a:prstGeom>
        </p:spPr>
      </p:pic>
      <p:sp>
        <p:nvSpPr>
          <p:cNvPr id="15" name="Line 15">
            <a:extLst xmlns:a="http://schemas.openxmlformats.org/drawingml/2006/main">
              <a:ext uri="{FF2B5EF4-FFF2-40B4-BE49-F238E27FC236}">
                <a16:creationId xmlns:a16="http://schemas.microsoft.com/office/drawing/2014/main" id="{5D40C4D7-8998-4A67-956C-7FB0888E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43500" y="34290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2222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Line 16">
            <a:extLst xmlns:a="http://schemas.openxmlformats.org/drawingml/2006/main">
              <a:ext uri="{FF2B5EF4-FFF2-40B4-BE49-F238E27FC236}">
                <a16:creationId xmlns:a16="http://schemas.microsoft.com/office/drawing/2014/main" id="{836FE33E-2ADD-4F9E-BEEE-7AC7918F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06000" y="34290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2222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Line 17">
            <a:extLst xmlns:a="http://schemas.openxmlformats.org/drawingml/2006/main">
              <a:ext uri="{FF2B5EF4-FFF2-40B4-BE49-F238E27FC236}">
                <a16:creationId xmlns:a16="http://schemas.microsoft.com/office/drawing/2014/main" id="{ADC59A5B-AB3B-40BA-87B6-F832DA37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86125" y="4619625"/>
            <a:ext cx="0" cy="133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2222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Line 18">
            <a:extLst xmlns:a="http://schemas.openxmlformats.org/drawingml/2006/main">
              <a:ext uri="{FF2B5EF4-FFF2-40B4-BE49-F238E27FC236}">
                <a16:creationId xmlns:a16="http://schemas.microsoft.com/office/drawing/2014/main" id="{97BD7578-C2CC-4391-9050-3DEF2C90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6858000" y="4619625"/>
            <a:ext cx="1190625" cy="133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57D83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Line 19">
            <a:extLst xmlns:a="http://schemas.openxmlformats.org/drawingml/2006/main">
              <a:ext uri="{FF2B5EF4-FFF2-40B4-BE49-F238E27FC236}">
                <a16:creationId xmlns:a16="http://schemas.microsoft.com/office/drawing/2014/main" id="{1FEAD2AC-338E-44A4-BCC6-56BB2253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43500" y="714375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2222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Line 20">
            <a:extLst xmlns:a="http://schemas.openxmlformats.org/drawingml/2006/main">
              <a:ext uri="{FF2B5EF4-FFF2-40B4-BE49-F238E27FC236}">
                <a16:creationId xmlns:a16="http://schemas.microsoft.com/office/drawing/2014/main" id="{821521D2-83F3-4AED-81A6-4F6598E5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06000" y="714375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2222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Line 21">
            <a:extLst xmlns:a="http://schemas.openxmlformats.org/drawingml/2006/main">
              <a:ext uri="{FF2B5EF4-FFF2-40B4-BE49-F238E27FC236}">
                <a16:creationId xmlns:a16="http://schemas.microsoft.com/office/drawing/2014/main" id="{10621B7F-440B-4187-A66E-1EE676D8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12811125" y="4619625"/>
            <a:ext cx="0" cy="133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2222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Line 22">
            <a:extLst xmlns:a="http://schemas.openxmlformats.org/drawingml/2006/main">
              <a:ext uri="{FF2B5EF4-FFF2-40B4-BE49-F238E27FC236}">
                <a16:creationId xmlns:a16="http://schemas.microsoft.com/office/drawing/2014/main" id="{9655314C-45D5-435B-BD94-BE46FAB2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3286125" y="1428750"/>
            <a:ext cx="0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3C808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Line 23">
            <a:extLst xmlns:a="http://schemas.openxmlformats.org/drawingml/2006/main">
              <a:ext uri="{FF2B5EF4-FFF2-40B4-BE49-F238E27FC236}">
                <a16:creationId xmlns:a16="http://schemas.microsoft.com/office/drawing/2014/main" id="{54A58682-A4B0-4786-974A-8DC1034F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86125" y="142875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3C808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Line 24">
            <a:extLst xmlns:a="http://schemas.openxmlformats.org/drawingml/2006/main">
              <a:ext uri="{FF2B5EF4-FFF2-40B4-BE49-F238E27FC236}">
                <a16:creationId xmlns:a16="http://schemas.microsoft.com/office/drawing/2014/main" id="{82898BE3-AD06-4A83-BE0D-A87E68E8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11125" y="1428750"/>
            <a:ext cx="0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3C8085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Line 25">
            <a:extLst xmlns:a="http://schemas.openxmlformats.org/drawingml/2006/main">
              <a:ext uri="{FF2B5EF4-FFF2-40B4-BE49-F238E27FC236}">
                <a16:creationId xmlns:a16="http://schemas.microsoft.com/office/drawing/2014/main" id="{328CE424-BB0A-48C4-9E1A-EC6D14FE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11125" y="8334375"/>
            <a:ext cx="0" cy="695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7A79CF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Line 26">
            <a:extLst xmlns:a="http://schemas.openxmlformats.org/drawingml/2006/main">
              <a:ext uri="{FF2B5EF4-FFF2-40B4-BE49-F238E27FC236}">
                <a16:creationId xmlns:a16="http://schemas.microsoft.com/office/drawing/2014/main" id="{73D249A2-740D-4C40-922F-5E58587B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3286125" y="902970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7A79CF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Line 27">
            <a:extLst xmlns:a="http://schemas.openxmlformats.org/drawingml/2006/main">
              <a:ext uri="{FF2B5EF4-FFF2-40B4-BE49-F238E27FC236}">
                <a16:creationId xmlns:a16="http://schemas.microsoft.com/office/drawing/2014/main" id="{D2E3DE1B-B0DC-42D6-A715-71B50D10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3286125" y="8334375"/>
            <a:ext cx="0" cy="695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7A79CF"/>
            </a:solidFill>
            <a:prstDash val="dash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9B7FEA43-D95F-455A-B9DC-5987F053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34125" y="102870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80" i="1">
                <a:solidFill>
                  <a:srgbClr val="347D83"/>
                </a:solidFill>
                <a:latin typeface="Cambria"/>
                <a:ea typeface="Cambria"/>
                <a:cs typeface="Cambria"/>
              </a:rPr>
              <a:t>Time-Series Agent construction</a:t>
            </a:r>
            <a:endParaRPr sz="1380"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635448E4-B446-4810-85DE-7AEFE16A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15000" y="1628775"/>
            <a:ext cx="571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>
                <a:solidFill>
                  <a:srgbClr val="347D83"/>
                </a:solidFill>
                <a:latin typeface="Cambria"/>
                <a:ea typeface="Cambria"/>
                <a:cs typeface="Cambria"/>
              </a:rPr>
              <a:t>Modules compose across tasks</a:t>
            </a:r>
            <a:endParaRPr sz="1900"/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5557D7C7-0A63-4FF4-8DFA-58B1E9B7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0200" y="3286125"/>
            <a:ext cx="3371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500" b="1">
                <a:solidFill>
                  <a:srgbClr val="141414"/>
                </a:solidFill>
                <a:latin typeface="Cambria"/>
                <a:ea typeface="Cambria"/>
                <a:cs typeface="Cambria"/>
              </a:rPr>
              <a:t>Time-Series Agent</a:t>
            </a:r>
            <a:endParaRPr sz="2500"/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5EDA7FD3-7C76-4476-AF7B-C01A7EDF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62125" y="3810000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LLM + harness</a:t>
            </a:r>
            <a:endParaRPr sz="1900"/>
          </a:p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and temporal data</a:t>
            </a:r>
            <a:endParaRPr sz="1900"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2B956CC6-84B2-42D8-86D5-B884194A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62700" y="3286125"/>
            <a:ext cx="3371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500" b="1">
                <a:solidFill>
                  <a:srgbClr val="141414"/>
                </a:solidFill>
                <a:latin typeface="Cambria"/>
                <a:ea typeface="Cambria"/>
                <a:cs typeface="Cambria"/>
              </a:rPr>
              <a:t>Paper cards</a:t>
            </a:r>
            <a:endParaRPr sz="2500"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96488D2D-644F-4B5C-BA06-C728A60D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24625" y="3810000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claims, evidence,</a:t>
            </a:r>
            <a:endParaRPr sz="1900"/>
          </a:p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module tags</a:t>
            </a:r>
            <a:endParaRPr sz="1900"/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52814D69-94A9-4D43-AD20-3F510356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25200" y="3286125"/>
            <a:ext cx="3371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41414"/>
                </a:solidFill>
                <a:latin typeface="Cambria"/>
                <a:ea typeface="Cambria"/>
                <a:cs typeface="Cambria"/>
              </a:rPr>
              <a:t>New task agent</a:t>
            </a:r>
            <a:endParaRPr sz="1600"/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B0441189-B0F2-4FBC-91E2-D61027D73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87125" y="3810000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Reusable harness</a:t>
            </a:r>
            <a:endParaRPr sz="1900"/>
          </a:p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configuration</a:t>
            </a:r>
            <a:endParaRPr sz="1900"/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B5A778F0-B4B3-445F-88BD-60003076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0200" y="7000875"/>
            <a:ext cx="3371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41414"/>
                </a:solidFill>
                <a:latin typeface="Cambria"/>
                <a:ea typeface="Cambria"/>
                <a:cs typeface="Cambria"/>
              </a:rPr>
              <a:t>General Harness</a:t>
            </a:r>
            <a:endParaRPr sz="1600"/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8135804A-7E79-422B-803C-737B28FE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62125" y="7524750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tools, memory,</a:t>
            </a:r>
            <a:endParaRPr sz="1900"/>
          </a:p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control, planning</a:t>
            </a:r>
            <a:endParaRPr sz="1900"/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E792D0D1-82B0-4965-B721-AA2F5D06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62700" y="7000875"/>
            <a:ext cx="3371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500" b="1">
                <a:solidFill>
                  <a:srgbClr val="141414"/>
                </a:solidFill>
                <a:latin typeface="Cambria"/>
                <a:ea typeface="Cambria"/>
                <a:cs typeface="Cambria"/>
              </a:rPr>
              <a:t>Time-Series Harness</a:t>
            </a:r>
            <a:endParaRPr sz="2500"/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C2D3E767-259E-4AB8-B39F-E91EB353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24625" y="7524750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temporal state,</a:t>
            </a:r>
            <a:endParaRPr sz="1900"/>
          </a:p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operations, validation</a:t>
            </a:r>
            <a:endParaRPr sz="1900"/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FADC864B-75CC-4906-9AC4-ED6EC912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25200" y="7000875"/>
            <a:ext cx="3371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500" b="1">
                <a:solidFill>
                  <a:srgbClr val="141414"/>
                </a:solidFill>
                <a:latin typeface="Cambria"/>
                <a:ea typeface="Cambria"/>
                <a:cs typeface="Cambria"/>
              </a:rPr>
              <a:t>Task contract</a:t>
            </a:r>
            <a:endParaRPr sz="2500"/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69234603-5CF0-4FDC-AA66-BA3DBAC8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87125" y="7524750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forecasting, anomaly,</a:t>
            </a:r>
            <a:endParaRPr sz="1900"/>
          </a:p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augmentation, decisions</a:t>
            </a:r>
            <a:endParaRPr sz="1900"/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1CE96C91-6BF6-4691-B6D7-E5EB5E5D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19700" y="3095625"/>
            <a:ext cx="904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80" i="1">
                <a:solidFill>
                  <a:srgbClr val="66645D"/>
                </a:solidFill>
                <a:latin typeface="Cambria"/>
                <a:ea typeface="Cambria"/>
                <a:cs typeface="Cambria"/>
              </a:rPr>
              <a:t>instantiate</a:t>
            </a:r>
            <a:endParaRPr sz="1080"/>
          </a:p>
        </p:txBody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EDE3FDC2-CE52-460D-9D1C-005430F6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52750" y="4762500"/>
            <a:ext cx="123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i="1">
                <a:solidFill>
                  <a:srgbClr val="357D83"/>
                </a:solidFill>
                <a:latin typeface="Cambria"/>
                <a:ea typeface="Cambria"/>
                <a:cs typeface="Cambria"/>
              </a:rPr>
              <a:t>observe</a:t>
            </a:r>
            <a:endParaRPr sz="1900"/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9367D18F-EEF8-4469-BDF5-7611931E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19700" y="5029200"/>
            <a:ext cx="128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i="1">
                <a:solidFill>
                  <a:srgbClr val="397C63"/>
                </a:solidFill>
                <a:latin typeface="Cambria"/>
                <a:ea typeface="Cambria"/>
                <a:cs typeface="Cambria"/>
              </a:rPr>
              <a:t>evaluate</a:t>
            </a:r>
            <a:endParaRPr sz="2100"/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3B218B9E-1A38-4440-B01F-F776592B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19700" y="6762750"/>
            <a:ext cx="1000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i="1">
                <a:solidFill>
                  <a:srgbClr val="66645D"/>
                </a:solidFill>
                <a:latin typeface="Cambria"/>
                <a:ea typeface="Cambria"/>
                <a:cs typeface="Cambria"/>
              </a:rPr>
              <a:t>adapt</a:t>
            </a:r>
            <a:endParaRPr sz="2000"/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C800D007-8885-4CE3-A2BB-C41C28DE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91750" y="67627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i="1">
                <a:solidFill>
                  <a:srgbClr val="66645D"/>
                </a:solidFill>
                <a:latin typeface="Cambria"/>
                <a:ea typeface="Cambria"/>
                <a:cs typeface="Cambria"/>
              </a:rPr>
              <a:t>benchmark</a:t>
            </a:r>
            <a:endParaRPr sz="2000"/>
          </a:p>
        </p:txBody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95E9BF51-1D89-4615-9E4F-054ECC4D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858625" y="476250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i="1">
                <a:solidFill>
                  <a:srgbClr val="357D83"/>
                </a:solidFill>
                <a:latin typeface="Cambria"/>
                <a:ea typeface="Cambria"/>
                <a:cs typeface="Cambria"/>
              </a:rPr>
              <a:t>select module</a:t>
            </a:r>
            <a:endParaRPr sz="1900"/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E3C20A67-4095-49BA-BFB5-FD279424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5500" y="909637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70" i="1">
                <a:solidFill>
                  <a:srgbClr val="7776CC"/>
                </a:solidFill>
                <a:latin typeface="Cambria"/>
                <a:ea typeface="Cambria"/>
                <a:cs typeface="Cambria"/>
              </a:rPr>
              <a:t>Module-level paper card</a:t>
            </a:r>
            <a:endParaRPr sz="1170"/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A5195BDD-DB93-4AF4-ABFD-EC0FF9D7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95750" y="9601200"/>
            <a:ext cx="8334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>
                <a:solidFill>
                  <a:srgbClr val="7776CC"/>
                </a:solidFill>
                <a:latin typeface="Cambria"/>
                <a:ea typeface="Cambria"/>
                <a:cs typeface="Cambria"/>
              </a:rPr>
              <a:t>One paper may contribute several modules</a:t>
            </a:r>
            <a:endParaRPr sz="1900"/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3293197A-0C08-4983-863F-C62021D9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76500" y="10210800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6C706C"/>
                </a:solidFill>
                <a:latin typeface="Cambria"/>
                <a:ea typeface="Cambria"/>
                <a:cs typeface="Cambria"/>
              </a:rPr>
              <a:t>Task semantics and benchmark protocols remain explicit</a:t>
            </a:r>
            <a:endParaRPr sz="1800"/>
          </a:p>
        </p:txBody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8735695C-344B-4EDE-8ECD-E6D1302B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5875" y="323850"/>
            <a:ext cx="561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Time-Series Agent system</a:t>
            </a:r>
            <a:endParaRPr sz="3100"/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2B57A965-3E3D-427C-B3D8-9F357133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77625" y="409575"/>
            <a:ext cx="338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540" i="1">
                <a:solidFill>
                  <a:srgbClr val="66716D"/>
                </a:solidFill>
                <a:latin typeface="Cambria"/>
                <a:ea typeface="Cambria"/>
                <a:cs typeface="Cambria"/>
              </a:rPr>
              <a:t>A module-level construction view</a:t>
            </a:r>
            <a:endParaRPr sz="1540"/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6B720197-D83C-4F5F-96F4-B2D6B9F0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875" y="10744200"/>
            <a:ext cx="16287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/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66088407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rect 2">
            <a:extLst xmlns:a="http://schemas.openxmlformats.org/drawingml/2006/main">
              <a:ext uri="{FF2B5EF4-FFF2-40B4-BE49-F238E27FC236}">
                <a16:creationId xmlns:a16="http://schemas.microsoft.com/office/drawing/2014/main" id="{0A3D0D38-47FC-44BB-B1FA-D52AE466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16697" y="4692728"/>
            <a:ext cx="1975054" cy="1753848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CFE9EE"/>
          </a:solidFill>
          <a:ln xmlns:a="http://schemas.openxmlformats.org/drawingml/2006/main" w="25400">
            <a:solidFill>
              <a:srgbClr val="1F2937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oundrect 3">
            <a:extLst xmlns:a="http://schemas.openxmlformats.org/drawingml/2006/main">
              <a:ext uri="{FF2B5EF4-FFF2-40B4-BE49-F238E27FC236}">
                <a16:creationId xmlns:a16="http://schemas.microsoft.com/office/drawing/2014/main" id="{8C5C85B8-06BF-4B9F-9D50-9AC7DE11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8072" y="742620"/>
            <a:ext cx="3752603" cy="829523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5CB"/>
          </a:solidFill>
          <a:ln xmlns:a="http://schemas.openxmlformats.org/drawingml/2006/main" w="25400">
            <a:solidFill>
              <a:srgbClr val="202020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oundrect 4">
            <a:extLst xmlns:a="http://schemas.openxmlformats.org/drawingml/2006/main">
              <a:ext uri="{FF2B5EF4-FFF2-40B4-BE49-F238E27FC236}">
                <a16:creationId xmlns:a16="http://schemas.microsoft.com/office/drawing/2014/main" id="{DEC47B3F-F672-4CF3-B466-041FB74C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8072" y="1967154"/>
            <a:ext cx="3752603" cy="110603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F5CB"/>
          </a:solidFill>
          <a:ln xmlns:a="http://schemas.openxmlformats.org/drawingml/2006/main" w="25400">
            <a:solidFill>
              <a:srgbClr val="202020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oundrect 5">
            <a:extLst xmlns:a="http://schemas.openxmlformats.org/drawingml/2006/main">
              <a:ext uri="{FF2B5EF4-FFF2-40B4-BE49-F238E27FC236}">
                <a16:creationId xmlns:a16="http://schemas.microsoft.com/office/drawing/2014/main" id="{D64BE902-CB9F-4263-9ADA-A99B9398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8072" y="3199588"/>
            <a:ext cx="3752603" cy="110603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F5CB"/>
          </a:solidFill>
          <a:ln xmlns:a="http://schemas.openxmlformats.org/drawingml/2006/main" w="25400">
            <a:solidFill>
              <a:srgbClr val="202020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oundrect 6">
            <a:extLst xmlns:a="http://schemas.openxmlformats.org/drawingml/2006/main">
              <a:ext uri="{FF2B5EF4-FFF2-40B4-BE49-F238E27FC236}">
                <a16:creationId xmlns:a16="http://schemas.microsoft.com/office/drawing/2014/main" id="{FAE95982-E0AC-4C6B-939B-4745C2DF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8072" y="4424121"/>
            <a:ext cx="3752603" cy="829523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DEFD8"/>
          </a:solidFill>
          <a:ln xmlns:a="http://schemas.openxmlformats.org/drawingml/2006/main" w="25400">
            <a:solidFill>
              <a:srgbClr val="202020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oundrect 7">
            <a:extLst xmlns:a="http://schemas.openxmlformats.org/drawingml/2006/main">
              <a:ext uri="{FF2B5EF4-FFF2-40B4-BE49-F238E27FC236}">
                <a16:creationId xmlns:a16="http://schemas.microsoft.com/office/drawing/2014/main" id="{4A155900-06CC-4A2B-B3D0-1FF129B6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8072" y="5664455"/>
            <a:ext cx="3752603" cy="110603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DEFD8"/>
          </a:solidFill>
          <a:ln xmlns:a="http://schemas.openxmlformats.org/drawingml/2006/main" w="25400">
            <a:solidFill>
              <a:srgbClr val="202020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oundrect 8">
            <a:extLst xmlns:a="http://schemas.openxmlformats.org/drawingml/2006/main">
              <a:ext uri="{FF2B5EF4-FFF2-40B4-BE49-F238E27FC236}">
                <a16:creationId xmlns:a16="http://schemas.microsoft.com/office/drawing/2014/main" id="{F9454FDB-CA7D-4DB9-8B9B-025E4E63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8072" y="6888989"/>
            <a:ext cx="3752603" cy="110603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DEFD8"/>
          </a:solidFill>
          <a:ln xmlns:a="http://schemas.openxmlformats.org/drawingml/2006/main" w="25400">
            <a:solidFill>
              <a:srgbClr val="202020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oundrect 9">
            <a:extLst xmlns:a="http://schemas.openxmlformats.org/drawingml/2006/main">
              <a:ext uri="{FF2B5EF4-FFF2-40B4-BE49-F238E27FC236}">
                <a16:creationId xmlns:a16="http://schemas.microsoft.com/office/drawing/2014/main" id="{D017AD12-D4A5-454B-A342-D8B38831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8072" y="8121422"/>
            <a:ext cx="3752603" cy="110603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C9E8EE"/>
          </a:solidFill>
          <a:ln xmlns:a="http://schemas.openxmlformats.org/drawingml/2006/main" w="25400">
            <a:solidFill>
              <a:srgbClr val="202020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oundrect 10">
            <a:extLst xmlns:a="http://schemas.openxmlformats.org/drawingml/2006/main">
              <a:ext uri="{FF2B5EF4-FFF2-40B4-BE49-F238E27FC236}">
                <a16:creationId xmlns:a16="http://schemas.microsoft.com/office/drawing/2014/main" id="{B31F1000-340A-4974-B333-070C93A9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8072" y="9353856"/>
            <a:ext cx="3752603" cy="110603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5DDF0"/>
          </a:solidFill>
          <a:ln xmlns:a="http://schemas.openxmlformats.org/drawingml/2006/main" w="25400">
            <a:solidFill>
              <a:srgbClr val="202020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oundrect 11">
            <a:extLst xmlns:a="http://schemas.openxmlformats.org/drawingml/2006/main">
              <a:ext uri="{FF2B5EF4-FFF2-40B4-BE49-F238E27FC236}">
                <a16:creationId xmlns:a16="http://schemas.microsoft.com/office/drawing/2014/main" id="{CD2E0FEE-7759-43A9-8998-B7308AAC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8072" y="10586290"/>
            <a:ext cx="3752603" cy="829523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5DDF0"/>
          </a:solidFill>
          <a:ln xmlns:a="http://schemas.openxmlformats.org/drawingml/2006/main" w="25400">
            <a:solidFill>
              <a:srgbClr val="202020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oundrect 12">
            <a:extLst xmlns:a="http://schemas.openxmlformats.org/drawingml/2006/main">
              <a:ext uri="{FF2B5EF4-FFF2-40B4-BE49-F238E27FC236}">
                <a16:creationId xmlns:a16="http://schemas.microsoft.com/office/drawing/2014/main" id="{FC4BCE47-30C5-4247-ACEB-8F2A5F16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9698" y="742620"/>
            <a:ext cx="5490650" cy="829523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BFBEF"/>
          </a:solidFill>
          <a:ln xmlns:a="http://schemas.openxmlformats.org/drawingml/2006/main" w="25400">
            <a:solidFill>
              <a:srgbClr val="2525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oundrect 13">
            <a:extLst xmlns:a="http://schemas.openxmlformats.org/drawingml/2006/main">
              <a:ext uri="{FF2B5EF4-FFF2-40B4-BE49-F238E27FC236}">
                <a16:creationId xmlns:a16="http://schemas.microsoft.com/office/drawing/2014/main" id="{89220662-21BF-4837-9F80-64B6CC73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9698" y="1967154"/>
            <a:ext cx="5490650" cy="829523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BFBEF"/>
          </a:solidFill>
          <a:ln xmlns:a="http://schemas.openxmlformats.org/drawingml/2006/main" w="25400">
            <a:solidFill>
              <a:srgbClr val="2525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oundrect 14">
            <a:extLst xmlns:a="http://schemas.openxmlformats.org/drawingml/2006/main">
              <a:ext uri="{FF2B5EF4-FFF2-40B4-BE49-F238E27FC236}">
                <a16:creationId xmlns:a16="http://schemas.microsoft.com/office/drawing/2014/main" id="{52514506-723C-4C29-B42C-0F74044E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9698" y="3199588"/>
            <a:ext cx="5490650" cy="110603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BFBEF"/>
          </a:solidFill>
          <a:ln xmlns:a="http://schemas.openxmlformats.org/drawingml/2006/main" w="25400">
            <a:solidFill>
              <a:srgbClr val="2525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oundrect 15">
            <a:extLst xmlns:a="http://schemas.openxmlformats.org/drawingml/2006/main">
              <a:ext uri="{FF2B5EF4-FFF2-40B4-BE49-F238E27FC236}">
                <a16:creationId xmlns:a16="http://schemas.microsoft.com/office/drawing/2014/main" id="{9BACDACE-7947-4AA6-9386-D226436A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9698" y="4424121"/>
            <a:ext cx="5490650" cy="110603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2F9EE"/>
          </a:solidFill>
          <a:ln xmlns:a="http://schemas.openxmlformats.org/drawingml/2006/main" w="25400">
            <a:solidFill>
              <a:srgbClr val="2525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Roundrect 16">
            <a:extLst xmlns:a="http://schemas.openxmlformats.org/drawingml/2006/main">
              <a:ext uri="{FF2B5EF4-FFF2-40B4-BE49-F238E27FC236}">
                <a16:creationId xmlns:a16="http://schemas.microsoft.com/office/drawing/2014/main" id="{112D592C-0E27-4968-A9A0-08BF0C7D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9698" y="5664455"/>
            <a:ext cx="5490650" cy="110603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2F9EE"/>
          </a:solidFill>
          <a:ln xmlns:a="http://schemas.openxmlformats.org/drawingml/2006/main" w="25400">
            <a:solidFill>
              <a:srgbClr val="2525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oundrect 17">
            <a:extLst xmlns:a="http://schemas.openxmlformats.org/drawingml/2006/main">
              <a:ext uri="{FF2B5EF4-FFF2-40B4-BE49-F238E27FC236}">
                <a16:creationId xmlns:a16="http://schemas.microsoft.com/office/drawing/2014/main" id="{66B95DA8-04AB-42E9-9EF5-44048E9F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9698" y="6888989"/>
            <a:ext cx="5490650" cy="110603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2F9EE"/>
          </a:solidFill>
          <a:ln xmlns:a="http://schemas.openxmlformats.org/drawingml/2006/main" w="25400">
            <a:solidFill>
              <a:srgbClr val="2525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Roundrect 18">
            <a:extLst xmlns:a="http://schemas.openxmlformats.org/drawingml/2006/main">
              <a:ext uri="{FF2B5EF4-FFF2-40B4-BE49-F238E27FC236}">
                <a16:creationId xmlns:a16="http://schemas.microsoft.com/office/drawing/2014/main" id="{54EC743D-DC5A-4B1E-9EF8-B84C7DD1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9698" y="8121422"/>
            <a:ext cx="5490650" cy="110603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7F5F8"/>
          </a:solidFill>
          <a:ln xmlns:a="http://schemas.openxmlformats.org/drawingml/2006/main" w="25400">
            <a:solidFill>
              <a:srgbClr val="2525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Roundrect 19">
            <a:extLst xmlns:a="http://schemas.openxmlformats.org/drawingml/2006/main">
              <a:ext uri="{FF2B5EF4-FFF2-40B4-BE49-F238E27FC236}">
                <a16:creationId xmlns:a16="http://schemas.microsoft.com/office/drawing/2014/main" id="{F3D19169-4082-415F-847F-6BC79505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9698" y="9353856"/>
            <a:ext cx="5490650" cy="110603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5F0FA"/>
          </a:solidFill>
          <a:ln xmlns:a="http://schemas.openxmlformats.org/drawingml/2006/main" w="25400">
            <a:solidFill>
              <a:srgbClr val="2525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Roundrect 20">
            <a:extLst xmlns:a="http://schemas.openxmlformats.org/drawingml/2006/main">
              <a:ext uri="{FF2B5EF4-FFF2-40B4-BE49-F238E27FC236}">
                <a16:creationId xmlns:a16="http://schemas.microsoft.com/office/drawing/2014/main" id="{3A970C13-3960-4C84-9766-C46C2A37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9698" y="10586290"/>
            <a:ext cx="5490650" cy="829523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5F0FA"/>
          </a:solidFill>
          <a:ln xmlns:a="http://schemas.openxmlformats.org/drawingml/2006/main" w="25400">
            <a:solidFill>
              <a:srgbClr val="2525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Line 21">
            <a:extLst xmlns:a="http://schemas.openxmlformats.org/drawingml/2006/main">
              <a:ext uri="{FF2B5EF4-FFF2-40B4-BE49-F238E27FC236}">
                <a16:creationId xmlns:a16="http://schemas.microsoft.com/office/drawing/2014/main" id="{EA7CE87E-EABC-4ED6-B6D5-2CFB715C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3061" y="1098130"/>
            <a:ext cx="0" cy="1097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9727B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Line 22">
            <a:extLst xmlns:a="http://schemas.openxmlformats.org/drawingml/2006/main">
              <a:ext uri="{FF2B5EF4-FFF2-40B4-BE49-F238E27FC236}">
                <a16:creationId xmlns:a16="http://schemas.microsoft.com/office/drawing/2014/main" id="{2DC6EC90-D975-4986-AAFD-D690FFE7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3061" y="1082330"/>
            <a:ext cx="3950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D8156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Line 23">
            <a:extLst xmlns:a="http://schemas.openxmlformats.org/drawingml/2006/main">
              <a:ext uri="{FF2B5EF4-FFF2-40B4-BE49-F238E27FC236}">
                <a16:creationId xmlns:a16="http://schemas.microsoft.com/office/drawing/2014/main" id="{A1856308-AA3B-43CA-993E-55683484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3061" y="2306863"/>
            <a:ext cx="3950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D8156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Line 24">
            <a:extLst xmlns:a="http://schemas.openxmlformats.org/drawingml/2006/main">
              <a:ext uri="{FF2B5EF4-FFF2-40B4-BE49-F238E27FC236}">
                <a16:creationId xmlns:a16="http://schemas.microsoft.com/office/drawing/2014/main" id="{05038BD4-378B-48BC-A9FE-9E59980A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3061" y="3539297"/>
            <a:ext cx="3950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D8156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Line 25">
            <a:extLst xmlns:a="http://schemas.openxmlformats.org/drawingml/2006/main">
              <a:ext uri="{FF2B5EF4-FFF2-40B4-BE49-F238E27FC236}">
                <a16:creationId xmlns:a16="http://schemas.microsoft.com/office/drawing/2014/main" id="{66DC83AD-44B6-40E0-AFFA-293D8964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3061" y="4771731"/>
            <a:ext cx="3950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C866D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Line 26">
            <a:extLst xmlns:a="http://schemas.openxmlformats.org/drawingml/2006/main">
              <a:ext uri="{FF2B5EF4-FFF2-40B4-BE49-F238E27FC236}">
                <a16:creationId xmlns:a16="http://schemas.microsoft.com/office/drawing/2014/main" id="{36CF8154-6118-4FA6-9B53-CA9CBAA7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3061" y="6004164"/>
            <a:ext cx="3950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C866D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Line 27">
            <a:extLst xmlns:a="http://schemas.openxmlformats.org/drawingml/2006/main">
              <a:ext uri="{FF2B5EF4-FFF2-40B4-BE49-F238E27FC236}">
                <a16:creationId xmlns:a16="http://schemas.microsoft.com/office/drawing/2014/main" id="{4F38CBD7-8A95-4E1B-975F-18CE76C3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3061" y="7236598"/>
            <a:ext cx="3950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C866D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Line 28">
            <a:extLst xmlns:a="http://schemas.openxmlformats.org/drawingml/2006/main">
              <a:ext uri="{FF2B5EF4-FFF2-40B4-BE49-F238E27FC236}">
                <a16:creationId xmlns:a16="http://schemas.microsoft.com/office/drawing/2014/main" id="{79CEC729-7360-471C-AE59-25F5EA30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3061" y="8469032"/>
            <a:ext cx="3950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B91A8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Line 29">
            <a:extLst xmlns:a="http://schemas.openxmlformats.org/drawingml/2006/main">
              <a:ext uri="{FF2B5EF4-FFF2-40B4-BE49-F238E27FC236}">
                <a16:creationId xmlns:a16="http://schemas.microsoft.com/office/drawing/2014/main" id="{FDF2C4E9-A504-47D6-B991-AF7655D3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3061" y="9701466"/>
            <a:ext cx="3950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264A3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Line 30">
            <a:extLst xmlns:a="http://schemas.openxmlformats.org/drawingml/2006/main">
              <a:ext uri="{FF2B5EF4-FFF2-40B4-BE49-F238E27FC236}">
                <a16:creationId xmlns:a16="http://schemas.microsoft.com/office/drawing/2014/main" id="{71C126E5-08A2-4A9B-BAAD-670ABCAC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3061" y="10941800"/>
            <a:ext cx="3950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264A3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Line 31">
            <a:extLst xmlns:a="http://schemas.openxmlformats.org/drawingml/2006/main">
              <a:ext uri="{FF2B5EF4-FFF2-40B4-BE49-F238E27FC236}">
                <a16:creationId xmlns:a16="http://schemas.microsoft.com/office/drawing/2014/main" id="{1E5FE03B-A6AC-4453-BCF6-075F79E8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0674" y="1153432"/>
            <a:ext cx="869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E7A5B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Line 32">
            <a:extLst xmlns:a="http://schemas.openxmlformats.org/drawingml/2006/main">
              <a:ext uri="{FF2B5EF4-FFF2-40B4-BE49-F238E27FC236}">
                <a16:creationId xmlns:a16="http://schemas.microsoft.com/office/drawing/2014/main" id="{B04B91D8-7304-4743-9093-187DF4A4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0674" y="2520169"/>
            <a:ext cx="869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E7A5B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Line 33">
            <a:extLst xmlns:a="http://schemas.openxmlformats.org/drawingml/2006/main">
              <a:ext uri="{FF2B5EF4-FFF2-40B4-BE49-F238E27FC236}">
                <a16:creationId xmlns:a16="http://schemas.microsoft.com/office/drawing/2014/main" id="{426829A0-D871-4EA5-8B43-AB70146A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0674" y="3752603"/>
            <a:ext cx="869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E7A5B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Line 34">
            <a:extLst xmlns:a="http://schemas.openxmlformats.org/drawingml/2006/main">
              <a:ext uri="{FF2B5EF4-FFF2-40B4-BE49-F238E27FC236}">
                <a16:creationId xmlns:a16="http://schemas.microsoft.com/office/drawing/2014/main" id="{0B09B58E-9D83-4D05-BD12-B9B9600E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0674" y="4834932"/>
            <a:ext cx="869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D8F76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Line 35">
            <a:extLst xmlns:a="http://schemas.openxmlformats.org/drawingml/2006/main">
              <a:ext uri="{FF2B5EF4-FFF2-40B4-BE49-F238E27FC236}">
                <a16:creationId xmlns:a16="http://schemas.microsoft.com/office/drawing/2014/main" id="{32F8FCBA-EF25-45BB-906D-A253832B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0674" y="6217470"/>
            <a:ext cx="869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D8F76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Line 36">
            <a:extLst xmlns:a="http://schemas.openxmlformats.org/drawingml/2006/main">
              <a:ext uri="{FF2B5EF4-FFF2-40B4-BE49-F238E27FC236}">
                <a16:creationId xmlns:a16="http://schemas.microsoft.com/office/drawing/2014/main" id="{3F45FAD1-E8EC-4882-A259-2590DF39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0674" y="7442004"/>
            <a:ext cx="869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D8F76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Line 37">
            <a:extLst xmlns:a="http://schemas.openxmlformats.org/drawingml/2006/main">
              <a:ext uri="{FF2B5EF4-FFF2-40B4-BE49-F238E27FC236}">
                <a16:creationId xmlns:a16="http://schemas.microsoft.com/office/drawing/2014/main" id="{4126B9EC-78E7-41EB-B021-2A844354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0674" y="8674438"/>
            <a:ext cx="869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793A5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Line 38">
            <a:extLst xmlns:a="http://schemas.openxmlformats.org/drawingml/2006/main">
              <a:ext uri="{FF2B5EF4-FFF2-40B4-BE49-F238E27FC236}">
                <a16:creationId xmlns:a16="http://schemas.microsoft.com/office/drawing/2014/main" id="{58080B09-FE8C-4C2E-93E6-1CAB9378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0674" y="9906871"/>
            <a:ext cx="869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068A1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Line 39">
            <a:extLst xmlns:a="http://schemas.openxmlformats.org/drawingml/2006/main">
              <a:ext uri="{FF2B5EF4-FFF2-40B4-BE49-F238E27FC236}">
                <a16:creationId xmlns:a16="http://schemas.microsoft.com/office/drawing/2014/main" id="{DA3FAA57-3311-4F6A-9BFB-05481E04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0674" y="10997101"/>
            <a:ext cx="869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068A1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Ellipse 40">
            <a:extLst xmlns:a="http://schemas.openxmlformats.org/drawingml/2006/main">
              <a:ext uri="{FF2B5EF4-FFF2-40B4-BE49-F238E27FC236}">
                <a16:creationId xmlns:a16="http://schemas.microsoft.com/office/drawing/2014/main" id="{37FBE542-10DE-4411-B941-02264D11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059" y="1003327"/>
            <a:ext cx="158004" cy="158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D7"/>
          </a:solidFill>
          <a:ln xmlns:a="http://schemas.openxmlformats.org/drawingml/2006/main" w="25400">
            <a:solidFill>
              <a:srgbClr val="5560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Ellipse 41">
            <a:extLst xmlns:a="http://schemas.openxmlformats.org/drawingml/2006/main">
              <a:ext uri="{FF2B5EF4-FFF2-40B4-BE49-F238E27FC236}">
                <a16:creationId xmlns:a16="http://schemas.microsoft.com/office/drawing/2014/main" id="{E908D23C-23CA-40BE-9A76-9C98B808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059" y="2227861"/>
            <a:ext cx="158004" cy="158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D7"/>
          </a:solidFill>
          <a:ln xmlns:a="http://schemas.openxmlformats.org/drawingml/2006/main" w="25400">
            <a:solidFill>
              <a:srgbClr val="5560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Ellipse 42">
            <a:extLst xmlns:a="http://schemas.openxmlformats.org/drawingml/2006/main">
              <a:ext uri="{FF2B5EF4-FFF2-40B4-BE49-F238E27FC236}">
                <a16:creationId xmlns:a16="http://schemas.microsoft.com/office/drawing/2014/main" id="{374D86A1-11AF-40A7-A3D6-067CCC65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059" y="3460295"/>
            <a:ext cx="158004" cy="158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D7"/>
          </a:solidFill>
          <a:ln xmlns:a="http://schemas.openxmlformats.org/drawingml/2006/main" w="25400">
            <a:solidFill>
              <a:srgbClr val="5560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Ellipse 43">
            <a:extLst xmlns:a="http://schemas.openxmlformats.org/drawingml/2006/main">
              <a:ext uri="{FF2B5EF4-FFF2-40B4-BE49-F238E27FC236}">
                <a16:creationId xmlns:a16="http://schemas.microsoft.com/office/drawing/2014/main" id="{8918EC1D-F97B-430F-A7FB-DB20F575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059" y="4692728"/>
            <a:ext cx="158004" cy="158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3E8"/>
          </a:solidFill>
          <a:ln xmlns:a="http://schemas.openxmlformats.org/drawingml/2006/main" w="25400">
            <a:solidFill>
              <a:srgbClr val="5560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Ellipse 44">
            <a:extLst xmlns:a="http://schemas.openxmlformats.org/drawingml/2006/main">
              <a:ext uri="{FF2B5EF4-FFF2-40B4-BE49-F238E27FC236}">
                <a16:creationId xmlns:a16="http://schemas.microsoft.com/office/drawing/2014/main" id="{5F78B2C5-6D4F-48BF-8ACF-096317EC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059" y="5925162"/>
            <a:ext cx="158004" cy="158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3E8"/>
          </a:solidFill>
          <a:ln xmlns:a="http://schemas.openxmlformats.org/drawingml/2006/main" w="25400">
            <a:solidFill>
              <a:srgbClr val="5560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Ellipse 45">
            <a:extLst xmlns:a="http://schemas.openxmlformats.org/drawingml/2006/main">
              <a:ext uri="{FF2B5EF4-FFF2-40B4-BE49-F238E27FC236}">
                <a16:creationId xmlns:a16="http://schemas.microsoft.com/office/drawing/2014/main" id="{6B841A32-AEFC-4046-83CE-3373F37A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059" y="7157596"/>
            <a:ext cx="158004" cy="158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3E8"/>
          </a:solidFill>
          <a:ln xmlns:a="http://schemas.openxmlformats.org/drawingml/2006/main" w="25400">
            <a:solidFill>
              <a:srgbClr val="5560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Ellipse 46">
            <a:extLst xmlns:a="http://schemas.openxmlformats.org/drawingml/2006/main">
              <a:ext uri="{FF2B5EF4-FFF2-40B4-BE49-F238E27FC236}">
                <a16:creationId xmlns:a16="http://schemas.microsoft.com/office/drawing/2014/main" id="{EBFE40B9-CA6A-40E4-8DA1-336266F3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059" y="8390030"/>
            <a:ext cx="158004" cy="158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EEF3"/>
          </a:solidFill>
          <a:ln xmlns:a="http://schemas.openxmlformats.org/drawingml/2006/main" w="25400">
            <a:solidFill>
              <a:srgbClr val="5560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Ellipse 47">
            <a:extLst xmlns:a="http://schemas.openxmlformats.org/drawingml/2006/main">
              <a:ext uri="{FF2B5EF4-FFF2-40B4-BE49-F238E27FC236}">
                <a16:creationId xmlns:a16="http://schemas.microsoft.com/office/drawing/2014/main" id="{D095759D-9372-40E2-BC15-7D00D975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059" y="9622463"/>
            <a:ext cx="158004" cy="158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DFF0"/>
          </a:solidFill>
          <a:ln xmlns:a="http://schemas.openxmlformats.org/drawingml/2006/main" w="25400">
            <a:solidFill>
              <a:srgbClr val="5560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Ellipse 48">
            <a:extLst xmlns:a="http://schemas.openxmlformats.org/drawingml/2006/main">
              <a:ext uri="{FF2B5EF4-FFF2-40B4-BE49-F238E27FC236}">
                <a16:creationId xmlns:a16="http://schemas.microsoft.com/office/drawing/2014/main" id="{E7F5B5EE-1697-46BF-AC25-7BD2158D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059" y="10862797"/>
            <a:ext cx="158004" cy="158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DFF0"/>
          </a:solidFill>
          <a:ln xmlns:a="http://schemas.openxmlformats.org/drawingml/2006/main" w="25400">
            <a:solidFill>
              <a:srgbClr val="5560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D81EF437-2A24-47E5-A07C-754416FA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77616" y="142204"/>
            <a:ext cx="1422039" cy="513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540" i="1">
                <a:solidFill>
                  <a:srgbClr val="707070"/>
                </a:solidFill>
                <a:latin typeface="Cambria"/>
                <a:ea typeface="Cambria"/>
                <a:cs typeface="Cambria"/>
              </a:rPr>
              <a:t>Survey organization</a:t>
            </a:r>
            <a:endParaRPr sz="2540"/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56A6678B-794A-439F-B696-84A30D10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54752" y="142204"/>
            <a:ext cx="1738048" cy="513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350" i="1">
                <a:solidFill>
                  <a:srgbClr val="707070"/>
                </a:solidFill>
                <a:latin typeface="Cambria"/>
                <a:ea typeface="Cambria"/>
                <a:cs typeface="Cambria"/>
              </a:rPr>
              <a:t>Sections</a:t>
            </a:r>
            <a:endParaRPr sz="2350"/>
          </a:p>
        </p:txBody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2EDE01EB-343C-4029-BFDE-852D0E8B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74701" y="4937635"/>
            <a:ext cx="1659045" cy="829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80" b="1">
                <a:solidFill>
                  <a:srgbClr val="101828"/>
                </a:solidFill>
                <a:latin typeface="Cambria"/>
                <a:ea typeface="Cambria"/>
                <a:cs typeface="Cambria"/>
              </a:rPr>
              <a:t>Time-Series</a:t>
            </a:r>
            <a:endParaRPr sz="2680"/>
          </a:p>
          <a:p xmlns:a="http://schemas.openxmlformats.org/drawingml/2006/main">
            <a:pPr algn="ctr">
              <a:buNone/>
            </a:pPr>
            <a:r>
              <a:rPr sz="2680" b="1">
                <a:solidFill>
                  <a:srgbClr val="101828"/>
                </a:solidFill>
                <a:latin typeface="Cambria"/>
                <a:ea typeface="Cambria"/>
                <a:cs typeface="Cambria"/>
              </a:rPr>
              <a:t>Agent</a:t>
            </a:r>
            <a:endParaRPr sz="2680"/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074160DC-92D4-46DC-BDBA-F789EE38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74701" y="5877761"/>
            <a:ext cx="1659045" cy="355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80" i="1">
                <a:solidFill>
                  <a:srgbClr val="6B7280"/>
                </a:solidFill>
                <a:latin typeface="Cambria"/>
                <a:ea typeface="Cambria"/>
                <a:cs typeface="Cambria"/>
              </a:rPr>
              <a:t>Reader’s guide</a:t>
            </a:r>
            <a:endParaRPr sz="1680"/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645CDC35-51B5-4026-B049-880E4DCD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2375" y="805822"/>
            <a:ext cx="3476095" cy="703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5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§ 1    Introduction</a:t>
            </a:r>
            <a:endParaRPr sz="2850"/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333720CC-1901-4A32-A650-EB3CB1DA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2375" y="2030356"/>
            <a:ext cx="3476095" cy="979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1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§ 2    What Is a</a:t>
            </a:r>
            <a:endParaRPr sz="2410"/>
          </a:p>
          <a:p xmlns:a="http://schemas.openxmlformats.org/drawingml/2006/main">
            <a:pPr algn="ctr">
              <a:buNone/>
            </a:pPr>
            <a:r>
              <a:rPr sz="241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Time-Series Agent?</a:t>
            </a:r>
            <a:endParaRPr sz="2410"/>
          </a:p>
        </p:txBody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D7ECB67E-68AE-44FB-96CA-14187B3B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2375" y="3262789"/>
            <a:ext cx="3476095" cy="979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8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§ 3    LLM-Side</a:t>
            </a:r>
            <a:endParaRPr sz="2480"/>
          </a:p>
          <a:p xmlns:a="http://schemas.openxmlformats.org/drawingml/2006/main">
            <a:pPr algn="ctr">
              <a:buNone/>
            </a:pPr>
            <a:r>
              <a:rPr sz="248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Contributions</a:t>
            </a:r>
            <a:endParaRPr sz="2480"/>
          </a:p>
        </p:txBody>
      </p:sp>
      <p:sp>
        <p:nvSpPr>
          <p:cNvPr id="56" name="TextBox 56">
            <a:extLst xmlns:a="http://schemas.openxmlformats.org/drawingml/2006/main">
              <a:ext uri="{FF2B5EF4-FFF2-40B4-BE49-F238E27FC236}">
                <a16:creationId xmlns:a16="http://schemas.microsoft.com/office/drawing/2014/main" id="{C0FC43D4-686E-40E3-9D59-004BF930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2375" y="4487323"/>
            <a:ext cx="3476095" cy="703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54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§ 4    General</a:t>
            </a:r>
            <a:endParaRPr sz="2540"/>
          </a:p>
          <a:p xmlns:a="http://schemas.openxmlformats.org/drawingml/2006/main">
            <a:pPr algn="ctr">
              <a:buNone/>
            </a:pPr>
            <a:r>
              <a:rPr sz="254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Harness</a:t>
            </a:r>
            <a:endParaRPr sz="2540"/>
          </a:p>
        </p:txBody>
      </p:sp>
      <p:sp>
        <p:nvSpPr>
          <p:cNvPr id="57" name="TextBox 57">
            <a:extLst xmlns:a="http://schemas.openxmlformats.org/drawingml/2006/main">
              <a:ext uri="{FF2B5EF4-FFF2-40B4-BE49-F238E27FC236}">
                <a16:creationId xmlns:a16="http://schemas.microsoft.com/office/drawing/2014/main" id="{0CC18A36-E59D-4E6D-A86F-A12BC70F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2375" y="5727657"/>
            <a:ext cx="3476095" cy="979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1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§ 5    General Time-Series</a:t>
            </a:r>
            <a:endParaRPr sz="2110"/>
          </a:p>
          <a:p xmlns:a="http://schemas.openxmlformats.org/drawingml/2006/main">
            <a:pPr algn="ctr">
              <a:buNone/>
            </a:pPr>
            <a:r>
              <a:rPr sz="211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Harness</a:t>
            </a:r>
            <a:endParaRPr sz="2110"/>
          </a:p>
        </p:txBody>
      </p:sp>
      <p:sp>
        <p:nvSpPr>
          <p:cNvPr id="58" name="TextBox 58">
            <a:extLst xmlns:a="http://schemas.openxmlformats.org/drawingml/2006/main">
              <a:ext uri="{FF2B5EF4-FFF2-40B4-BE49-F238E27FC236}">
                <a16:creationId xmlns:a16="http://schemas.microsoft.com/office/drawing/2014/main" id="{470BDABB-D852-412E-B461-4E6952FC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2375" y="6952190"/>
            <a:ext cx="3476095" cy="979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1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§ 6    Task-Specific</a:t>
            </a:r>
            <a:endParaRPr sz="2110"/>
          </a:p>
          <a:p xmlns:a="http://schemas.openxmlformats.org/drawingml/2006/main">
            <a:pPr algn="ctr">
              <a:buNone/>
            </a:pPr>
            <a:r>
              <a:rPr sz="211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Harness</a:t>
            </a:r>
            <a:endParaRPr sz="2110"/>
          </a:p>
        </p:txBody>
      </p:sp>
      <p:sp>
        <p:nvSpPr>
          <p:cNvPr id="59" name="TextBox 59">
            <a:extLst xmlns:a="http://schemas.openxmlformats.org/drawingml/2006/main">
              <a:ext uri="{FF2B5EF4-FFF2-40B4-BE49-F238E27FC236}">
                <a16:creationId xmlns:a16="http://schemas.microsoft.com/office/drawing/2014/main" id="{39DC99BB-1B76-497F-891D-B310F32F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2375" y="8184624"/>
            <a:ext cx="3476095" cy="979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1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§ 7    Infrastructure and</a:t>
            </a:r>
            <a:endParaRPr sz="2610"/>
          </a:p>
          <a:p xmlns:a="http://schemas.openxmlformats.org/drawingml/2006/main">
            <a:pPr algn="ctr">
              <a:buNone/>
            </a:pPr>
            <a:r>
              <a:rPr sz="261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Benchmarks</a:t>
            </a:r>
            <a:endParaRPr sz="2610"/>
          </a:p>
        </p:txBody>
      </p:sp>
      <p:sp>
        <p:nvSpPr>
          <p:cNvPr id="60" name="TextBox 60">
            <a:extLst xmlns:a="http://schemas.openxmlformats.org/drawingml/2006/main">
              <a:ext uri="{FF2B5EF4-FFF2-40B4-BE49-F238E27FC236}">
                <a16:creationId xmlns:a16="http://schemas.microsoft.com/office/drawing/2014/main" id="{17933CB9-3A8D-46F3-B0FF-DD21613B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2375" y="9417058"/>
            <a:ext cx="3476095" cy="979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1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§ 8    Open Problems and</a:t>
            </a:r>
            <a:endParaRPr sz="2610"/>
          </a:p>
          <a:p xmlns:a="http://schemas.openxmlformats.org/drawingml/2006/main">
            <a:pPr algn="ctr">
              <a:buNone/>
            </a:pPr>
            <a:r>
              <a:rPr sz="261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Case Studies</a:t>
            </a:r>
            <a:endParaRPr sz="2610"/>
          </a:p>
        </p:txBody>
      </p:sp>
      <p:sp>
        <p:nvSpPr>
          <p:cNvPr id="61" name="TextBox 61">
            <a:extLst xmlns:a="http://schemas.openxmlformats.org/drawingml/2006/main">
              <a:ext uri="{FF2B5EF4-FFF2-40B4-BE49-F238E27FC236}">
                <a16:creationId xmlns:a16="http://schemas.microsoft.com/office/drawing/2014/main" id="{317574F8-F8A3-4C9F-9210-FEC21510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2375" y="10649492"/>
            <a:ext cx="3476095" cy="703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2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§ 9    Conclusion</a:t>
            </a:r>
            <a:endParaRPr sz="3220"/>
          </a:p>
        </p:txBody>
      </p:sp>
      <p:sp>
        <p:nvSpPr>
          <p:cNvPr id="62" name="TextBox 62">
            <a:extLst xmlns:a="http://schemas.openxmlformats.org/drawingml/2006/main">
              <a:ext uri="{FF2B5EF4-FFF2-40B4-BE49-F238E27FC236}">
                <a16:creationId xmlns:a16="http://schemas.microsoft.com/office/drawing/2014/main" id="{E80BEADC-3F2A-4C85-887C-0E15C420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61403" y="790022"/>
            <a:ext cx="5135141" cy="734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7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System definition</a:t>
            </a:r>
            <a:endParaRPr sz="2370"/>
          </a:p>
          <a:p xmlns:a="http://schemas.openxmlformats.org/drawingml/2006/main">
            <a:pPr algn="l">
              <a:buNone/>
            </a:pPr>
            <a:r>
              <a:rPr sz="237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Construction questions</a:t>
            </a:r>
            <a:endParaRPr sz="2370"/>
          </a:p>
        </p:txBody>
      </p:sp>
      <p:sp>
        <p:nvSpPr>
          <p:cNvPr id="63" name="TextBox 63">
            <a:extLst xmlns:a="http://schemas.openxmlformats.org/drawingml/2006/main">
              <a:ext uri="{FF2B5EF4-FFF2-40B4-BE49-F238E27FC236}">
                <a16:creationId xmlns:a16="http://schemas.microsoft.com/office/drawing/2014/main" id="{B2946089-CC82-4883-8A6E-E5790B03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61403" y="2014555"/>
            <a:ext cx="5135141" cy="734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7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Review scope</a:t>
            </a:r>
            <a:endParaRPr sz="2370"/>
          </a:p>
          <a:p xmlns:a="http://schemas.openxmlformats.org/drawingml/2006/main">
            <a:pPr algn="l">
              <a:buNone/>
            </a:pPr>
            <a:r>
              <a:rPr sz="237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Paper-card evidence</a:t>
            </a:r>
            <a:endParaRPr sz="2370"/>
          </a:p>
        </p:txBody>
      </p:sp>
      <p:sp>
        <p:nvSpPr>
          <p:cNvPr id="64" name="TextBox 64">
            <a:extLst xmlns:a="http://schemas.openxmlformats.org/drawingml/2006/main">
              <a:ext uri="{FF2B5EF4-FFF2-40B4-BE49-F238E27FC236}">
                <a16:creationId xmlns:a16="http://schemas.microsoft.com/office/drawing/2014/main" id="{4BBBEBF4-F1AB-46E5-8D29-2FE52072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61403" y="3246989"/>
            <a:ext cx="5135141" cy="1011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8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Temporal representation</a:t>
            </a:r>
            <a:endParaRPr sz="2180"/>
          </a:p>
          <a:p xmlns:a="http://schemas.openxmlformats.org/drawingml/2006/main">
            <a:pPr algn="l">
              <a:buNone/>
            </a:pPr>
            <a:r>
              <a:rPr sz="218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Alignment and reasoning</a:t>
            </a:r>
            <a:endParaRPr sz="2180"/>
          </a:p>
          <a:p xmlns:a="http://schemas.openxmlformats.org/drawingml/2006/main">
            <a:pPr algn="l">
              <a:buNone/>
            </a:pPr>
            <a:r>
              <a:rPr sz="218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LLM-side methods</a:t>
            </a:r>
            <a:endParaRPr sz="2180"/>
          </a:p>
        </p:txBody>
      </p:sp>
      <p:sp>
        <p:nvSpPr>
          <p:cNvPr id="65" name="TextBox 65">
            <a:extLst xmlns:a="http://schemas.openxmlformats.org/drawingml/2006/main">
              <a:ext uri="{FF2B5EF4-FFF2-40B4-BE49-F238E27FC236}">
                <a16:creationId xmlns:a16="http://schemas.microsoft.com/office/drawing/2014/main" id="{9A37DBF7-E12D-43B7-9BC8-E930F963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61403" y="4471522"/>
            <a:ext cx="5135141" cy="1011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6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Tools and memory          Control and execution</a:t>
            </a:r>
            <a:endParaRPr sz="2160"/>
          </a:p>
          <a:p xmlns:a="http://schemas.openxmlformats.org/drawingml/2006/main">
            <a:pPr algn="l">
              <a:buNone/>
            </a:pPr>
            <a:r>
              <a:rPr sz="216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Temporal state             Provenance and validation</a:t>
            </a:r>
            <a:endParaRPr sz="2160"/>
          </a:p>
        </p:txBody>
      </p:sp>
      <p:sp>
        <p:nvSpPr>
          <p:cNvPr id="66" name="TextBox 66">
            <a:extLst xmlns:a="http://schemas.openxmlformats.org/drawingml/2006/main">
              <a:ext uri="{FF2B5EF4-FFF2-40B4-BE49-F238E27FC236}">
                <a16:creationId xmlns:a16="http://schemas.microsoft.com/office/drawing/2014/main" id="{1BA24F56-726F-41DC-81CC-AB6F3CEA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61403" y="5711856"/>
            <a:ext cx="5135141" cy="1011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Time-series harnesses     Reusable modules</a:t>
            </a:r>
            <a:endParaRPr sz="2000"/>
          </a:p>
          <a:p xmlns:a="http://schemas.openxmlformats.org/drawingml/2006/main">
            <a:pPr algn="l">
              <a:buNone/>
            </a:pPr>
            <a:r>
              <a:rPr sz="20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Task contracts             Benchmark protocols</a:t>
            </a:r>
            <a:endParaRPr sz="2000"/>
          </a:p>
        </p:txBody>
      </p:sp>
      <p:sp>
        <p:nvSpPr>
          <p:cNvPr id="67" name="TextBox 67">
            <a:extLst xmlns:a="http://schemas.openxmlformats.org/drawingml/2006/main">
              <a:ext uri="{FF2B5EF4-FFF2-40B4-BE49-F238E27FC236}">
                <a16:creationId xmlns:a16="http://schemas.microsoft.com/office/drawing/2014/main" id="{B6E31246-0790-4B91-998C-73D25F5F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61403" y="6936390"/>
            <a:ext cx="5135141" cy="1011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89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Forecasting                Augmentation</a:t>
            </a:r>
            <a:endParaRPr sz="1889"/>
          </a:p>
          <a:p xmlns:a="http://schemas.openxmlformats.org/drawingml/2006/main">
            <a:pPr algn="l">
              <a:buNone/>
            </a:pPr>
            <a:r>
              <a:rPr sz="1889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Anomaly diagnosis          Decision support</a:t>
            </a:r>
            <a:endParaRPr sz="1889"/>
          </a:p>
        </p:txBody>
      </p:sp>
      <p:sp>
        <p:nvSpPr>
          <p:cNvPr id="68" name="TextBox 68">
            <a:extLst xmlns:a="http://schemas.openxmlformats.org/drawingml/2006/main">
              <a:ext uri="{FF2B5EF4-FFF2-40B4-BE49-F238E27FC236}">
                <a16:creationId xmlns:a16="http://schemas.microsoft.com/office/drawing/2014/main" id="{219681E6-35A9-4F2D-A244-4B3141F5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61403" y="8168824"/>
            <a:ext cx="5135141" cy="1011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7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ModernTSF                  TimeSeriesGym</a:t>
            </a:r>
            <a:endParaRPr sz="1870"/>
          </a:p>
          <a:p xmlns:a="http://schemas.openxmlformats.org/drawingml/2006/main">
            <a:pPr algn="l">
              <a:buNone/>
            </a:pPr>
            <a:r>
              <a:rPr sz="187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Traces and episodes        Reproducible evaluation</a:t>
            </a:r>
            <a:endParaRPr sz="1870"/>
          </a:p>
        </p:txBody>
      </p:sp>
      <p:sp>
        <p:nvSpPr>
          <p:cNvPr id="69" name="TextBox 69">
            <a:extLst xmlns:a="http://schemas.openxmlformats.org/drawingml/2006/main">
              <a:ext uri="{FF2B5EF4-FFF2-40B4-BE49-F238E27FC236}">
                <a16:creationId xmlns:a16="http://schemas.microsoft.com/office/drawing/2014/main" id="{95D6F2E5-1072-4082-A3AF-A3429A89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61403" y="9401257"/>
            <a:ext cx="5135141" cy="1011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5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Paper-card database        Module-level counts</a:t>
            </a:r>
            <a:endParaRPr sz="1850"/>
          </a:p>
          <a:p xmlns:a="http://schemas.openxmlformats.org/drawingml/2006/main">
            <a:pPr algn="l">
              <a:buNone/>
            </a:pPr>
            <a:r>
              <a:rPr sz="185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Open tasks                 Evidence gaps</a:t>
            </a:r>
            <a:endParaRPr sz="1850"/>
          </a:p>
        </p:txBody>
      </p:sp>
      <p:sp>
        <p:nvSpPr>
          <p:cNvPr id="70" name="TextBox 70">
            <a:extLst xmlns:a="http://schemas.openxmlformats.org/drawingml/2006/main">
              <a:ext uri="{FF2B5EF4-FFF2-40B4-BE49-F238E27FC236}">
                <a16:creationId xmlns:a16="http://schemas.microsoft.com/office/drawing/2014/main" id="{6F899B69-AE09-4863-9B2D-8D460EA4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61403" y="10633691"/>
            <a:ext cx="5135141" cy="734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7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System map</a:t>
            </a:r>
            <a:endParaRPr sz="2370"/>
          </a:p>
          <a:p xmlns:a="http://schemas.openxmlformats.org/drawingml/2006/main">
            <a:pPr algn="l">
              <a:buNone/>
            </a:pPr>
            <a:r>
              <a:rPr sz="237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Open problems</a:t>
            </a:r>
            <a:endParaRPr sz="2370"/>
          </a:p>
        </p:txBody>
      </p:sp>
    </p:spTree>
    <p:extLst>
      <p:ext uri="{BB962C8B-B14F-4D97-AF65-F5344CB8AC3E}">
        <p14:creationId xmlns:p14="http://schemas.microsoft.com/office/powerpoint/2010/main" val="1016689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5ED298-24C4-4B33-A3D6-6D4524122699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V="1">
            <a:off x="8667750" y="4857750"/>
            <a:ext cx="257175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F8F89"/>
            </a:solidFill>
            <a:prstDash val="solid"/>
            <a:headEnd type="arrow" w="sm" len="sm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6A5CA2-8414-40C7-8D47-AF32CCF905E5}"/>
              </a:ext>
            </a:extLst>
          </p:cNvPr>
          <p:cNvCxnSpPr>
            <a:stCxn xmlns:a="http://schemas.openxmlformats.org/drawingml/2006/main" id="14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V="1">
            <a:off x="7429500" y="4762500"/>
            <a:ext cx="0" cy="28575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47B24"/>
            </a:solidFill>
            <a:prstDash val="solid"/>
            <a:headEnd type="arrow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7FC10C-D4EE-4E4B-B2E7-7BCA43A4CEAB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V="1">
            <a:off x="7429500" y="3143250"/>
            <a:ext cx="0" cy="53340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F8F89"/>
            </a:solidFill>
            <a:prstDash val="solid"/>
            <a:headEnd type="arrow" w="sm" len="sm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23333D-7D8E-4ED3-B563-B5FA79AE53F0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619500" y="4857750"/>
            <a:ext cx="47625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6D6396"/>
            </a:solidFill>
            <a:prstDash val="solid"/>
            <a:headEnd type="arrow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A65B5F-2550-4210-ABCE-0AE36923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1390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550" b="1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2550" b="1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Contribution layers in Time-Series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C7A756-5F53-4634-A9F9-0E6967D9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390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1">
                <a:solidFill>
                  <a:srgbClr val="687078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200" b="0" i="1">
                <a:solidFill>
                  <a:srgbClr val="687078"/>
                </a:solidFill>
                <a:latin typeface="Cambria"/>
                <a:ea typeface="Cambria"/>
                <a:cs typeface="Cambria"/>
              </a:defRPr>
            </a:pPr>
            <a:r>
              <a:rPr sz="1200" b="0" i="1">
                <a:solidFill>
                  <a:srgbClr val="687078"/>
                </a:solidFill>
                <a:latin typeface="Cambria"/>
                <a:ea typeface="Cambria"/>
                <a:cs typeface="Cambria"/>
              </a:rPr>
              <a:t>Paper cards record module-level contributions across the LLM, Harness, temporal, task, and evaluation layers.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96494C-F7A8-4CB4-84F8-094976A7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14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6D6396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6D6396"/>
                </a:solidFill>
                <a:latin typeface="Cambria"/>
                <a:ea typeface="Cambria"/>
                <a:cs typeface="Cambria"/>
              </a:defRPr>
            </a:pPr>
            <a:r>
              <a:rPr sz="1650" b="1" i="0">
                <a:solidFill>
                  <a:srgbClr val="6D6396"/>
                </a:solidFill>
                <a:latin typeface="Cambria"/>
                <a:ea typeface="Cambria"/>
                <a:cs typeface="Cambria"/>
              </a:rPr>
              <a:t>LLM side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98E671-C3ED-41FC-AB44-F929CD99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2857500" cy="6286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14288">
            <a:solidFill>
              <a:srgbClr val="6D6396"/>
            </a:solidFill>
            <a:prstDash val="dash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7B41B1-896B-4B1B-BC09-2DBACDB6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 i="0">
                <a:solidFill>
                  <a:srgbClr val="6D6396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6D6396"/>
                </a:solidFill>
                <a:latin typeface="Cambria"/>
                <a:ea typeface="Cambria"/>
                <a:cs typeface="Cambria"/>
              </a:defRPr>
            </a:pPr>
            <a:r>
              <a:rPr sz="1500" b="1" i="0">
                <a:solidFill>
                  <a:srgbClr val="6D6396"/>
                </a:solidFill>
                <a:latin typeface="Cambria"/>
                <a:ea typeface="Cambria"/>
                <a:cs typeface="Cambria"/>
              </a:rPr>
              <a:t>Language capability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124DDF-0B26-446C-8F37-C3255259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23241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350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350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representation</a:t>
            </a:r>
          </a:p>
          <a:p xmlns:a="http://schemas.openxmlformats.org/drawingml/2006/main">
            <a:pPr>
              <a:defRPr sz="1350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350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alignment</a:t>
            </a:r>
          </a:p>
          <a:p xmlns:a="http://schemas.openxmlformats.org/drawingml/2006/main">
            <a:pPr>
              <a:defRPr sz="1350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350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temporal reasoning</a:t>
            </a:r>
          </a:p>
          <a:p xmlns:a="http://schemas.openxmlformats.org/drawingml/2006/main">
            <a:pPr>
              <a:defRPr sz="1350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350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ChatTS lineage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6855EE-B49C-4CD8-B0C7-C041566A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10125"/>
            <a:ext cx="2000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D639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AF2F9E-9C01-41BA-9C4A-7D2B2FF9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101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425" b="1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425" b="1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LLM component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7C291B-4820-4588-9B62-A00DA29D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9125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 i="1">
                <a:solidFill>
                  <a:srgbClr val="687078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125" b="0" i="1">
                <a:solidFill>
                  <a:srgbClr val="687078"/>
                </a:solidFill>
                <a:latin typeface="Cambria"/>
                <a:ea typeface="Cambria"/>
                <a:cs typeface="Cambria"/>
              </a:defRPr>
            </a:pPr>
            <a:r>
              <a:rPr sz="1125" b="0" i="1">
                <a:solidFill>
                  <a:srgbClr val="687078"/>
                </a:solidFill>
                <a:latin typeface="Cambria"/>
                <a:ea typeface="Cambria"/>
                <a:cs typeface="Cambria"/>
              </a:rPr>
              <a:t>Paper card fields</a:t>
            </a:r>
          </a:p>
          <a:p xmlns:a="http://schemas.openxmlformats.org/drawingml/2006/main">
            <a:pPr>
              <a:defRPr sz="1125" b="0" i="1">
                <a:solidFill>
                  <a:srgbClr val="687078"/>
                </a:solidFill>
                <a:latin typeface="Cambria"/>
                <a:ea typeface="Cambria"/>
                <a:cs typeface="Cambria"/>
              </a:defRPr>
            </a:pPr>
            <a:r>
              <a:rPr sz="1125" b="0" i="1">
                <a:solidFill>
                  <a:srgbClr val="687078"/>
                </a:solidFill>
                <a:latin typeface="Cambria"/>
                <a:ea typeface="Cambria"/>
                <a:cs typeface="Cambria"/>
              </a:rPr>
              <a:t>claim · evidence · BibTeX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A9C5A2-68D9-40ED-A058-A4BF3002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1430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100" b="1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2100" b="1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Time-Series 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330AE9-43C4-4D19-A843-B80ADEE7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19250"/>
            <a:ext cx="6667500" cy="6858000"/>
          </a:xfrm>
          <a:prstGeom xmlns:a="http://schemas.openxmlformats.org/drawingml/2006/main" prst="roundRect">
            <a:avLst>
              <a:gd name="adj" fmla="val 1143"/>
            </a:avLst>
          </a:prstGeom>
          <a:solidFill xmlns:a="http://schemas.openxmlformats.org/drawingml/2006/main">
            <a:srgbClr val="DCEFF1"/>
          </a:solidFill>
          <a:ln xmlns:a="http://schemas.openxmlformats.org/drawingml/2006/main" w="14288">
            <a:solidFill>
              <a:srgbClr val="4F8F89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712E49-6679-4BB7-A8D3-BDD66F9E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8120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 i="0">
                <a:solidFill>
                  <a:srgbClr val="4F8F89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800" b="1" i="0">
                <a:solidFill>
                  <a:srgbClr val="4F8F89"/>
                </a:solidFill>
                <a:latin typeface="Cambria"/>
                <a:ea typeface="Cambria"/>
                <a:cs typeface="Cambria"/>
              </a:defRPr>
            </a:pPr>
            <a:r>
              <a:rPr sz="1800" b="1" i="0">
                <a:solidFill>
                  <a:srgbClr val="4F8F89"/>
                </a:solidFill>
                <a:latin typeface="Cambria"/>
                <a:ea typeface="Cambria"/>
                <a:cs typeface="Cambria"/>
              </a:rPr>
              <a:t>General Harness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2BEDEE-6D5E-477F-9A1C-BB87ADAF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4315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 i="1">
                <a:solidFill>
                  <a:srgbClr val="687078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125" b="0" i="1">
                <a:solidFill>
                  <a:srgbClr val="687078"/>
                </a:solidFill>
                <a:latin typeface="Cambria"/>
                <a:ea typeface="Cambria"/>
                <a:cs typeface="Cambria"/>
              </a:defRPr>
            </a:pPr>
            <a:r>
              <a:rPr sz="1125" b="0" i="1">
                <a:solidFill>
                  <a:srgbClr val="687078"/>
                </a:solidFill>
                <a:latin typeface="Cambria"/>
                <a:ea typeface="Cambria"/>
                <a:cs typeface="Cambria"/>
              </a:rPr>
              <a:t>tools · memory · control · planning · coordination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B747F3-93A6-415E-8C07-E0858A6A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143250"/>
            <a:ext cx="466725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E1EEDC"/>
          </a:solidFill>
          <a:ln xmlns:a="http://schemas.openxmlformats.org/drawingml/2006/main" w="14288">
            <a:solidFill>
              <a:srgbClr val="6B9F80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78898E-882F-4483-A48C-78BF86E3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4766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6B9F8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6B9F80"/>
                </a:solidFill>
                <a:latin typeface="Cambria"/>
                <a:ea typeface="Cambria"/>
                <a:cs typeface="Cambria"/>
              </a:defRPr>
            </a:pPr>
            <a:r>
              <a:rPr sz="1650" b="1" i="0">
                <a:solidFill>
                  <a:srgbClr val="6B9F80"/>
                </a:solidFill>
                <a:latin typeface="Cambria"/>
                <a:ea typeface="Cambria"/>
                <a:cs typeface="Cambria"/>
              </a:rPr>
              <a:t>General Time-Series Harness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15CA2F-A8B1-4922-8875-A36B28FF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5762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temporal state · operations</a:t>
            </a:r>
          </a:p>
          <a:p xmlns:a="http://schemas.openxmlformats.org/drawingml/2006/main">
            <a:pPr>
              <a:def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provenance · validation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1E6EAC-EBC5-43FD-82E3-673A3B70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62500"/>
            <a:ext cx="2476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5F0CE"/>
          </a:solidFill>
          <a:ln xmlns:a="http://schemas.openxmlformats.org/drawingml/2006/main" w="14288">
            <a:solidFill>
              <a:srgbClr val="B47B24"/>
            </a:solidFill>
            <a:prstDash val="dash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C92D4D-9EA8-47B8-A9A2-F28BEBBF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48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 i="0">
                <a:solidFill>
                  <a:srgbClr val="B47B24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B47B24"/>
                </a:solidFill>
                <a:latin typeface="Cambria"/>
                <a:ea typeface="Cambria"/>
                <a:cs typeface="Cambria"/>
              </a:defRPr>
            </a:pPr>
            <a:r>
              <a:rPr sz="1350" b="1" i="0">
                <a:solidFill>
                  <a:srgbClr val="B47B24"/>
                </a:solidFill>
                <a:latin typeface="Cambria"/>
                <a:ea typeface="Cambria"/>
                <a:cs typeface="Cambria"/>
              </a:rPr>
              <a:t>Task-Specific Harness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53C845-6533-42B7-8E89-93F0FED5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24500"/>
            <a:ext cx="1943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200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forecasting</a:t>
            </a:r>
          </a:p>
          <a:p xmlns:a="http://schemas.openxmlformats.org/drawingml/2006/main">
            <a:pPr>
              <a:defRPr sz="1200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200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augmentation</a:t>
            </a:r>
          </a:p>
          <a:p xmlns:a="http://schemas.openxmlformats.org/drawingml/2006/main">
            <a:pPr>
              <a:defRPr sz="1200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200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anomaly · decisions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3419DC-0C6A-41E4-BAB3-444F2764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314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 i="0">
                <a:solidFill>
                  <a:srgbClr val="4F8F89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4F8F89"/>
                </a:solidFill>
                <a:latin typeface="Cambria"/>
                <a:ea typeface="Cambria"/>
                <a:cs typeface="Cambria"/>
              </a:defRPr>
            </a:pPr>
            <a:r>
              <a:rPr sz="1500" b="1" i="0">
                <a:solidFill>
                  <a:srgbClr val="4F8F89"/>
                </a:solidFill>
                <a:latin typeface="Cambria"/>
                <a:ea typeface="Cambria"/>
                <a:cs typeface="Cambria"/>
              </a:rPr>
              <a:t>Evaluation and ledger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2FFA5C-6291-4A95-B53F-88F06669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714500"/>
            <a:ext cx="2857500" cy="6286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F8F89"/>
            </a:solidFill>
            <a:prstDash val="dash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11863-5A0F-4DAF-8067-C9173D7A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2095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 i="0">
                <a:solidFill>
                  <a:srgbClr val="4F8F89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4F8F89"/>
                </a:solidFill>
                <a:latin typeface="Cambria"/>
                <a:ea typeface="Cambria"/>
                <a:cs typeface="Cambria"/>
              </a:defRPr>
            </a:pPr>
            <a:r>
              <a:rPr sz="1500" b="1" i="0">
                <a:solidFill>
                  <a:srgbClr val="4F8F89"/>
                </a:solidFill>
                <a:latin typeface="Cambria"/>
                <a:ea typeface="Cambria"/>
                <a:cs typeface="Cambria"/>
              </a:rPr>
              <a:t>Benchmark contract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2D844B-1B0C-4653-8625-B9902365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2781300"/>
            <a:ext cx="2381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episodes</a:t>
            </a:r>
          </a:p>
          <a:p xmlns:a="http://schemas.openxmlformats.org/drawingml/2006/main">
            <a:pPr>
              <a:def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chronology</a:t>
            </a:r>
          </a:p>
          <a:p xmlns:a="http://schemas.openxmlformats.org/drawingml/2006/main">
            <a:pPr>
              <a:def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held-out tests</a:t>
            </a:r>
          </a:p>
          <a:p xmlns:a="http://schemas.openxmlformats.org/drawingml/2006/main">
            <a:pPr>
              <a:def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reproducible traces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8F4159-DD0B-48DE-A827-BE7BE0A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62500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CEFF1"/>
          </a:solidFill>
          <a:ln xmlns:a="http://schemas.openxmlformats.org/drawingml/2006/main" w="14288">
            <a:solidFill>
              <a:srgbClr val="4F8F8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62827F-4A8E-41B1-9FCD-18850D22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972050"/>
            <a:ext cx="175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425" b="1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425" b="1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module-level</a:t>
            </a:r>
          </a:p>
          <a:p xmlns:a="http://schemas.openxmlformats.org/drawingml/2006/main">
            <a:pPr>
              <a:defRPr sz="1425" b="1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425" b="1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counts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F025FB-90C9-4A46-A4EE-D665C2A8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19125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 i="1">
                <a:solidFill>
                  <a:srgbClr val="687078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125" b="0" i="1">
                <a:solidFill>
                  <a:srgbClr val="687078"/>
                </a:solidFill>
                <a:latin typeface="Cambria"/>
                <a:ea typeface="Cambria"/>
                <a:cs typeface="Cambria"/>
              </a:defRPr>
            </a:pPr>
            <a:r>
              <a:rPr sz="1125" b="0" i="1">
                <a:solidFill>
                  <a:srgbClr val="687078"/>
                </a:solidFill>
                <a:latin typeface="Cambria"/>
                <a:ea typeface="Cambria"/>
                <a:cs typeface="Cambria"/>
              </a:rPr>
              <a:t>Each paper can contribute</a:t>
            </a:r>
          </a:p>
          <a:p xmlns:a="http://schemas.openxmlformats.org/drawingml/2006/main">
            <a:pPr>
              <a:defRPr sz="1125" b="0" i="1">
                <a:solidFill>
                  <a:srgbClr val="687078"/>
                </a:solidFill>
                <a:latin typeface="Cambria"/>
                <a:ea typeface="Cambria"/>
                <a:cs typeface="Cambria"/>
              </a:defRPr>
            </a:pPr>
            <a:r>
              <a:rPr sz="1125" b="0" i="1">
                <a:solidFill>
                  <a:srgbClr val="687078"/>
                </a:solidFill>
                <a:latin typeface="Cambria"/>
                <a:ea typeface="Cambria"/>
                <a:cs typeface="Cambria"/>
              </a:rPr>
              <a:t>several modules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90A23E-888B-4FCF-8030-17E7A311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8858250"/>
            <a:ext cx="666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505A"/>
          </a:solidFill>
          <a:ln xmlns:a="http://schemas.openxmlformats.org/drawingml/2006/main" w="0">
            <a:solidFill>
              <a:srgbClr val="45505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561BFF-9D9A-4258-B397-C1387E9B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902970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200" b="1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General Harness ⊃ General Time-Series Harness ⊃ Task-Specific Harness</a:t>
            </a:r>
          </a:p>
        </p:txBody>
      </p:sp>
    </p:spTree>
    <p:extLst>
      <p:ext uri="{BB962C8B-B14F-4D97-AF65-F5344CB8AC3E}">
        <p14:creationId xmlns:p14="http://schemas.microsoft.com/office/powerpoint/2010/main" val="13986334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rect 2">
            <a:extLst xmlns:a="http://schemas.openxmlformats.org/drawingml/2006/main">
              <a:ext uri="{FF2B5EF4-FFF2-40B4-BE49-F238E27FC236}">
                <a16:creationId xmlns:a16="http://schemas.microsoft.com/office/drawing/2014/main" id="{3233EA32-85E7-4662-9AA3-0606C802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0989" y="856322"/>
            <a:ext cx="1245559" cy="1105434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FBF5E8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oundrect 3">
            <a:extLst xmlns:a="http://schemas.openxmlformats.org/drawingml/2006/main">
              <a:ext uri="{FF2B5EF4-FFF2-40B4-BE49-F238E27FC236}">
                <a16:creationId xmlns:a16="http://schemas.microsoft.com/office/drawing/2014/main" id="{C3919331-5D84-4245-B7FD-094B04E7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5535" y="856322"/>
            <a:ext cx="1245559" cy="1105434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EDF7F1"/>
          </a:solidFill>
          <a:ln xmlns:a="http://schemas.openxmlformats.org/drawingml/2006/main" w="25400">
            <a:solidFill>
              <a:srgbClr val="3C8D7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oundrect 4">
            <a:extLst xmlns:a="http://schemas.openxmlformats.org/drawingml/2006/main">
              <a:ext uri="{FF2B5EF4-FFF2-40B4-BE49-F238E27FC236}">
                <a16:creationId xmlns:a16="http://schemas.microsoft.com/office/drawing/2014/main" id="{C4B7D85C-560D-41E9-BED3-AE110BCD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60080" y="856322"/>
            <a:ext cx="1245559" cy="1105434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EDF3FA"/>
          </a:solidFill>
          <a:ln xmlns:a="http://schemas.openxmlformats.org/drawingml/2006/main" w="25400">
            <a:solidFill>
              <a:srgbClr val="3F7BA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oundrect 5">
            <a:extLst xmlns:a="http://schemas.openxmlformats.org/drawingml/2006/main">
              <a:ext uri="{FF2B5EF4-FFF2-40B4-BE49-F238E27FC236}">
                <a16:creationId xmlns:a16="http://schemas.microsoft.com/office/drawing/2014/main" id="{3C20F432-2B5C-4B88-8E16-4391A445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14626" y="856322"/>
            <a:ext cx="1245559" cy="1105434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oundrect 6">
            <a:extLst xmlns:a="http://schemas.openxmlformats.org/drawingml/2006/main">
              <a:ext uri="{FF2B5EF4-FFF2-40B4-BE49-F238E27FC236}">
                <a16:creationId xmlns:a16="http://schemas.microsoft.com/office/drawing/2014/main" id="{7C10D64B-0797-4BF1-9D76-FC1F1993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69171" y="856322"/>
            <a:ext cx="1245559" cy="1105434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F4EFF8"/>
          </a:solidFill>
          <a:ln xmlns:a="http://schemas.openxmlformats.org/drawingml/2006/main" w="25400">
            <a:solidFill>
              <a:srgbClr val="8561A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oundrect 7">
            <a:extLst xmlns:a="http://schemas.openxmlformats.org/drawingml/2006/main">
              <a:ext uri="{FF2B5EF4-FFF2-40B4-BE49-F238E27FC236}">
                <a16:creationId xmlns:a16="http://schemas.microsoft.com/office/drawing/2014/main" id="{AB9A8D7F-54F3-4973-B39E-77DBB6F9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23717" y="856322"/>
            <a:ext cx="1245559" cy="1105434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EDF6F6"/>
          </a:solidFill>
          <a:ln xmlns:a="http://schemas.openxmlformats.org/drawingml/2006/main" w="254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oundrect 8">
            <a:extLst xmlns:a="http://schemas.openxmlformats.org/drawingml/2006/main">
              <a:ext uri="{FF2B5EF4-FFF2-40B4-BE49-F238E27FC236}">
                <a16:creationId xmlns:a16="http://schemas.microsoft.com/office/drawing/2014/main" id="{6FD39D24-71E3-40AB-A632-C672D7DE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34218" y="9730930"/>
            <a:ext cx="8096134" cy="560502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25400">
            <a:solidFill>
              <a:srgbClr val="2832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oundrect 9">
            <a:extLst xmlns:a="http://schemas.openxmlformats.org/drawingml/2006/main">
              <a:ext uri="{FF2B5EF4-FFF2-40B4-BE49-F238E27FC236}">
                <a16:creationId xmlns:a16="http://schemas.microsoft.com/office/drawing/2014/main" id="{83B14A0C-5511-4785-941F-98CC313A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44" y="3604337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oundrect 10">
            <a:extLst xmlns:a="http://schemas.openxmlformats.org/drawingml/2006/main">
              <a:ext uri="{FF2B5EF4-FFF2-40B4-BE49-F238E27FC236}">
                <a16:creationId xmlns:a16="http://schemas.microsoft.com/office/drawing/2014/main" id="{4618BD2A-F518-428A-84E6-7BF75010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44" y="3876803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oundrect 11">
            <a:extLst xmlns:a="http://schemas.openxmlformats.org/drawingml/2006/main">
              <a:ext uri="{FF2B5EF4-FFF2-40B4-BE49-F238E27FC236}">
                <a16:creationId xmlns:a16="http://schemas.microsoft.com/office/drawing/2014/main" id="{45F3B881-B1CA-4E17-A4D8-70CC0F75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44" y="5861912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oundrect 12">
            <a:extLst xmlns:a="http://schemas.openxmlformats.org/drawingml/2006/main">
              <a:ext uri="{FF2B5EF4-FFF2-40B4-BE49-F238E27FC236}">
                <a16:creationId xmlns:a16="http://schemas.microsoft.com/office/drawing/2014/main" id="{783EBEBC-455C-44AE-83F1-2B7F9037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44" y="5316980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oundrect 13">
            <a:extLst xmlns:a="http://schemas.openxmlformats.org/drawingml/2006/main">
              <a:ext uri="{FF2B5EF4-FFF2-40B4-BE49-F238E27FC236}">
                <a16:creationId xmlns:a16="http://schemas.microsoft.com/office/drawing/2014/main" id="{B38B0811-2462-459F-91D7-25555350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44" y="5589446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oundrect 14">
            <a:extLst xmlns:a="http://schemas.openxmlformats.org/drawingml/2006/main">
              <a:ext uri="{FF2B5EF4-FFF2-40B4-BE49-F238E27FC236}">
                <a16:creationId xmlns:a16="http://schemas.microsoft.com/office/drawing/2014/main" id="{83F9FF2C-2DB2-470E-9EE8-97294F31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44" y="5861912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oundrect 15">
            <a:extLst xmlns:a="http://schemas.openxmlformats.org/drawingml/2006/main">
              <a:ext uri="{FF2B5EF4-FFF2-40B4-BE49-F238E27FC236}">
                <a16:creationId xmlns:a16="http://schemas.microsoft.com/office/drawing/2014/main" id="{A3A337B9-5563-4FBB-B772-BEE32D92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44" y="7029624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Roundrect 16">
            <a:extLst xmlns:a="http://schemas.openxmlformats.org/drawingml/2006/main">
              <a:ext uri="{FF2B5EF4-FFF2-40B4-BE49-F238E27FC236}">
                <a16:creationId xmlns:a16="http://schemas.microsoft.com/office/drawing/2014/main" id="{55D88945-A448-433E-B50D-7FB831803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44" y="7302090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oundrect 17">
            <a:extLst xmlns:a="http://schemas.openxmlformats.org/drawingml/2006/main">
              <a:ext uri="{FF2B5EF4-FFF2-40B4-BE49-F238E27FC236}">
                <a16:creationId xmlns:a16="http://schemas.microsoft.com/office/drawing/2014/main" id="{B03FA411-ABDD-49B0-8FD8-755A4470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44" y="9287200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Roundrect 18">
            <a:extLst xmlns:a="http://schemas.openxmlformats.org/drawingml/2006/main">
              <a:ext uri="{FF2B5EF4-FFF2-40B4-BE49-F238E27FC236}">
                <a16:creationId xmlns:a16="http://schemas.microsoft.com/office/drawing/2014/main" id="{D6FF93A4-FAEB-4A42-AC0D-AD57B88B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44" y="8742268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Roundrect 19">
            <a:extLst xmlns:a="http://schemas.openxmlformats.org/drawingml/2006/main">
              <a:ext uri="{FF2B5EF4-FFF2-40B4-BE49-F238E27FC236}">
                <a16:creationId xmlns:a16="http://schemas.microsoft.com/office/drawing/2014/main" id="{CF2F75D1-025C-42B6-A90A-8F1BC21E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28889" y="3604337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C8D7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Roundrect 20">
            <a:extLst xmlns:a="http://schemas.openxmlformats.org/drawingml/2006/main">
              <a:ext uri="{FF2B5EF4-FFF2-40B4-BE49-F238E27FC236}">
                <a16:creationId xmlns:a16="http://schemas.microsoft.com/office/drawing/2014/main" id="{3614EECF-670A-403E-8AB3-B6FD1FBE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28889" y="3876803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C8D7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Roundrect 21">
            <a:extLst xmlns:a="http://schemas.openxmlformats.org/drawingml/2006/main">
              <a:ext uri="{FF2B5EF4-FFF2-40B4-BE49-F238E27FC236}">
                <a16:creationId xmlns:a16="http://schemas.microsoft.com/office/drawing/2014/main" id="{31B32DD5-8C40-4B34-82E2-F08F9174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28889" y="4149269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C8D7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Roundrect 22">
            <a:extLst xmlns:a="http://schemas.openxmlformats.org/drawingml/2006/main">
              <a:ext uri="{FF2B5EF4-FFF2-40B4-BE49-F238E27FC236}">
                <a16:creationId xmlns:a16="http://schemas.microsoft.com/office/drawing/2014/main" id="{01AC7B4E-84AB-46CC-A047-0723807B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28889" y="5316980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C8D7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Roundrect 23">
            <a:extLst xmlns:a="http://schemas.openxmlformats.org/drawingml/2006/main">
              <a:ext uri="{FF2B5EF4-FFF2-40B4-BE49-F238E27FC236}">
                <a16:creationId xmlns:a16="http://schemas.microsoft.com/office/drawing/2014/main" id="{66D2E466-7846-4F11-95C1-04B8795A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83435" y="1891693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F7BA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Roundrect 24">
            <a:extLst xmlns:a="http://schemas.openxmlformats.org/drawingml/2006/main">
              <a:ext uri="{FF2B5EF4-FFF2-40B4-BE49-F238E27FC236}">
                <a16:creationId xmlns:a16="http://schemas.microsoft.com/office/drawing/2014/main" id="{BF9B040A-12D2-488C-B943-886D7ABB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83435" y="3876803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F7BA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Roundrect 25">
            <a:extLst xmlns:a="http://schemas.openxmlformats.org/drawingml/2006/main">
              <a:ext uri="{FF2B5EF4-FFF2-40B4-BE49-F238E27FC236}">
                <a16:creationId xmlns:a16="http://schemas.microsoft.com/office/drawing/2014/main" id="{E93DC402-3C34-41C0-A56C-A7F74AC4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83435" y="4149269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F7BA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Roundrect 26">
            <a:extLst xmlns:a="http://schemas.openxmlformats.org/drawingml/2006/main">
              <a:ext uri="{FF2B5EF4-FFF2-40B4-BE49-F238E27FC236}">
                <a16:creationId xmlns:a16="http://schemas.microsoft.com/office/drawing/2014/main" id="{4DE2DAC1-C6E7-4AEA-8D8A-03B357E7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83435" y="7029624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F7BA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Roundrect 27">
            <a:extLst xmlns:a="http://schemas.openxmlformats.org/drawingml/2006/main">
              <a:ext uri="{FF2B5EF4-FFF2-40B4-BE49-F238E27FC236}">
                <a16:creationId xmlns:a16="http://schemas.microsoft.com/office/drawing/2014/main" id="{F81542F6-97CF-4608-A896-37D8F085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83435" y="7302090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F7BA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Roundrect 28">
            <a:extLst xmlns:a="http://schemas.openxmlformats.org/drawingml/2006/main">
              <a:ext uri="{FF2B5EF4-FFF2-40B4-BE49-F238E27FC236}">
                <a16:creationId xmlns:a16="http://schemas.microsoft.com/office/drawing/2014/main" id="{2DE18B02-AC1C-4CB4-8F04-E3323E68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83435" y="7574556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F7BA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Roundrect 29">
            <a:extLst xmlns:a="http://schemas.openxmlformats.org/drawingml/2006/main">
              <a:ext uri="{FF2B5EF4-FFF2-40B4-BE49-F238E27FC236}">
                <a16:creationId xmlns:a16="http://schemas.microsoft.com/office/drawing/2014/main" id="{323085DE-F74D-4DE0-8D53-4DC63666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7980" y="1891693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Roundrect 30">
            <a:extLst xmlns:a="http://schemas.openxmlformats.org/drawingml/2006/main">
              <a:ext uri="{FF2B5EF4-FFF2-40B4-BE49-F238E27FC236}">
                <a16:creationId xmlns:a16="http://schemas.microsoft.com/office/drawing/2014/main" id="{265640A4-4072-4AC6-8B01-81AB6667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7980" y="3876803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Roundrect 31">
            <a:extLst xmlns:a="http://schemas.openxmlformats.org/drawingml/2006/main">
              <a:ext uri="{FF2B5EF4-FFF2-40B4-BE49-F238E27FC236}">
                <a16:creationId xmlns:a16="http://schemas.microsoft.com/office/drawing/2014/main" id="{07B3B5B4-923B-4E45-83D6-7F342DE5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7980" y="4149269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Roundrect 32">
            <a:extLst xmlns:a="http://schemas.openxmlformats.org/drawingml/2006/main">
              <a:ext uri="{FF2B5EF4-FFF2-40B4-BE49-F238E27FC236}">
                <a16:creationId xmlns:a16="http://schemas.microsoft.com/office/drawing/2014/main" id="{AF6358CE-1C08-4C4B-B72D-67B94EC1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7980" y="3604337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Roundrect 33">
            <a:extLst xmlns:a="http://schemas.openxmlformats.org/drawingml/2006/main">
              <a:ext uri="{FF2B5EF4-FFF2-40B4-BE49-F238E27FC236}">
                <a16:creationId xmlns:a16="http://schemas.microsoft.com/office/drawing/2014/main" id="{7238974E-AE77-4669-9D20-1FCA49FC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7980" y="5589446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Roundrect 34">
            <a:extLst xmlns:a="http://schemas.openxmlformats.org/drawingml/2006/main">
              <a:ext uri="{FF2B5EF4-FFF2-40B4-BE49-F238E27FC236}">
                <a16:creationId xmlns:a16="http://schemas.microsoft.com/office/drawing/2014/main" id="{9C5DF1DF-9A34-4F2D-B8B7-F4855D71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7980" y="5861912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Roundrect 35">
            <a:extLst xmlns:a="http://schemas.openxmlformats.org/drawingml/2006/main">
              <a:ext uri="{FF2B5EF4-FFF2-40B4-BE49-F238E27FC236}">
                <a16:creationId xmlns:a16="http://schemas.microsoft.com/office/drawing/2014/main" id="{4E7FF5A3-17D3-4B8B-B376-E634FD5E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7980" y="5316980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Roundrect 36">
            <a:extLst xmlns:a="http://schemas.openxmlformats.org/drawingml/2006/main">
              <a:ext uri="{FF2B5EF4-FFF2-40B4-BE49-F238E27FC236}">
                <a16:creationId xmlns:a16="http://schemas.microsoft.com/office/drawing/2014/main" id="{A0A2A876-3B9C-4060-8EBC-620A5CE0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7980" y="7302090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Roundrect 37">
            <a:extLst xmlns:a="http://schemas.openxmlformats.org/drawingml/2006/main">
              <a:ext uri="{FF2B5EF4-FFF2-40B4-BE49-F238E27FC236}">
                <a16:creationId xmlns:a16="http://schemas.microsoft.com/office/drawing/2014/main" id="{FDD2EF93-BC4A-4A24-A730-AEA6CE11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7980" y="7574556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Roundrect 38">
            <a:extLst xmlns:a="http://schemas.openxmlformats.org/drawingml/2006/main">
              <a:ext uri="{FF2B5EF4-FFF2-40B4-BE49-F238E27FC236}">
                <a16:creationId xmlns:a16="http://schemas.microsoft.com/office/drawing/2014/main" id="{172BFCFE-165B-4BDD-A44D-C7003096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92526" y="3604337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8561A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Roundrect 39">
            <a:extLst xmlns:a="http://schemas.openxmlformats.org/drawingml/2006/main">
              <a:ext uri="{FF2B5EF4-FFF2-40B4-BE49-F238E27FC236}">
                <a16:creationId xmlns:a16="http://schemas.microsoft.com/office/drawing/2014/main" id="{631A3826-DC99-4D65-985F-65793F77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92526" y="5589446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8561A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Roundrect 40">
            <a:extLst xmlns:a="http://schemas.openxmlformats.org/drawingml/2006/main">
              <a:ext uri="{FF2B5EF4-FFF2-40B4-BE49-F238E27FC236}">
                <a16:creationId xmlns:a16="http://schemas.microsoft.com/office/drawing/2014/main" id="{427699D1-9DAC-4B13-88A4-C308BFF3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92526" y="5861912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8561A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Roundrect 41">
            <a:extLst xmlns:a="http://schemas.openxmlformats.org/drawingml/2006/main">
              <a:ext uri="{FF2B5EF4-FFF2-40B4-BE49-F238E27FC236}">
                <a16:creationId xmlns:a16="http://schemas.microsoft.com/office/drawing/2014/main" id="{3D267B24-7FD7-4B54-9C07-DB8D7628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92526" y="5316980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8561A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Roundrect 42">
            <a:extLst xmlns:a="http://schemas.openxmlformats.org/drawingml/2006/main">
              <a:ext uri="{FF2B5EF4-FFF2-40B4-BE49-F238E27FC236}">
                <a16:creationId xmlns:a16="http://schemas.microsoft.com/office/drawing/2014/main" id="{7D739899-0DD6-4037-AE63-AED87309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92526" y="5589446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8561A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Roundrect 43">
            <a:extLst xmlns:a="http://schemas.openxmlformats.org/drawingml/2006/main">
              <a:ext uri="{FF2B5EF4-FFF2-40B4-BE49-F238E27FC236}">
                <a16:creationId xmlns:a16="http://schemas.microsoft.com/office/drawing/2014/main" id="{6C09FE3B-8D6A-4716-BB1F-9389F7B1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92526" y="7574556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8561A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Roundrect 44">
            <a:extLst xmlns:a="http://schemas.openxmlformats.org/drawingml/2006/main">
              <a:ext uri="{FF2B5EF4-FFF2-40B4-BE49-F238E27FC236}">
                <a16:creationId xmlns:a16="http://schemas.microsoft.com/office/drawing/2014/main" id="{6CA94553-77D7-45F8-AD9D-F382101D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92526" y="8742268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8561A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Roundrect 45">
            <a:extLst xmlns:a="http://schemas.openxmlformats.org/drawingml/2006/main">
              <a:ext uri="{FF2B5EF4-FFF2-40B4-BE49-F238E27FC236}">
                <a16:creationId xmlns:a16="http://schemas.microsoft.com/office/drawing/2014/main" id="{D5766E79-E8B0-4928-A42B-931A0706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47071" y="1891693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Roundrect 46">
            <a:extLst xmlns:a="http://schemas.openxmlformats.org/drawingml/2006/main">
              <a:ext uri="{FF2B5EF4-FFF2-40B4-BE49-F238E27FC236}">
                <a16:creationId xmlns:a16="http://schemas.microsoft.com/office/drawing/2014/main" id="{7FED352E-E4B1-4E19-9457-B2C7408A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47071" y="2164159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Roundrect 47">
            <a:extLst xmlns:a="http://schemas.openxmlformats.org/drawingml/2006/main">
              <a:ext uri="{FF2B5EF4-FFF2-40B4-BE49-F238E27FC236}">
                <a16:creationId xmlns:a16="http://schemas.microsoft.com/office/drawing/2014/main" id="{5E3DB370-5EAA-4A41-8080-922876F3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47071" y="2436625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Roundrect 48">
            <a:extLst xmlns:a="http://schemas.openxmlformats.org/drawingml/2006/main">
              <a:ext uri="{FF2B5EF4-FFF2-40B4-BE49-F238E27FC236}">
                <a16:creationId xmlns:a16="http://schemas.microsoft.com/office/drawing/2014/main" id="{A985B0EA-8E46-4DE6-991A-A65604D9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47071" y="3604337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Roundrect 49">
            <a:extLst xmlns:a="http://schemas.openxmlformats.org/drawingml/2006/main">
              <a:ext uri="{FF2B5EF4-FFF2-40B4-BE49-F238E27FC236}">
                <a16:creationId xmlns:a16="http://schemas.microsoft.com/office/drawing/2014/main" id="{A3CA271F-0962-4947-82FE-F8C7AA42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47071" y="3876803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Roundrect 50">
            <a:extLst xmlns:a="http://schemas.openxmlformats.org/drawingml/2006/main">
              <a:ext uri="{FF2B5EF4-FFF2-40B4-BE49-F238E27FC236}">
                <a16:creationId xmlns:a16="http://schemas.microsoft.com/office/drawing/2014/main" id="{E419ADF4-E4EF-46D9-B9BF-B9B2CEC2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47071" y="5861912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Roundrect 51">
            <a:extLst xmlns:a="http://schemas.openxmlformats.org/drawingml/2006/main">
              <a:ext uri="{FF2B5EF4-FFF2-40B4-BE49-F238E27FC236}">
                <a16:creationId xmlns:a16="http://schemas.microsoft.com/office/drawing/2014/main" id="{0BB0CF29-91D9-4F60-A3F9-BCD3E353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47071" y="7029624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2" name="Roundrect 52">
            <a:extLst xmlns:a="http://schemas.openxmlformats.org/drawingml/2006/main">
              <a:ext uri="{FF2B5EF4-FFF2-40B4-BE49-F238E27FC236}">
                <a16:creationId xmlns:a16="http://schemas.microsoft.com/office/drawing/2014/main" id="{301C4D08-2B94-46FE-96E3-15FB0CDD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47071" y="7302090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" name="Line 53">
            <a:extLst xmlns:a="http://schemas.openxmlformats.org/drawingml/2006/main">
              <a:ext uri="{FF2B5EF4-FFF2-40B4-BE49-F238E27FC236}">
                <a16:creationId xmlns:a16="http://schemas.microsoft.com/office/drawing/2014/main" id="{2FBBD4C3-04A2-4EBB-9198-9E2E52C3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38398" y="2179728"/>
            <a:ext cx="0" cy="72008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07783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Line 54">
            <a:extLst xmlns:a="http://schemas.openxmlformats.org/drawingml/2006/main">
              <a:ext uri="{FF2B5EF4-FFF2-40B4-BE49-F238E27FC236}">
                <a16:creationId xmlns:a16="http://schemas.microsoft.com/office/drawing/2014/main" id="{EC851C19-9B3E-4210-908C-04E646D1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78523" y="2335423"/>
            <a:ext cx="84075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DCE3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" name="Line 55">
            <a:extLst xmlns:a="http://schemas.openxmlformats.org/drawingml/2006/main">
              <a:ext uri="{FF2B5EF4-FFF2-40B4-BE49-F238E27FC236}">
                <a16:creationId xmlns:a16="http://schemas.microsoft.com/office/drawing/2014/main" id="{7C8C186B-BFAE-4332-AC2E-9237AB18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78523" y="4048067"/>
            <a:ext cx="84075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DCE3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Line 56">
            <a:extLst xmlns:a="http://schemas.openxmlformats.org/drawingml/2006/main">
              <a:ext uri="{FF2B5EF4-FFF2-40B4-BE49-F238E27FC236}">
                <a16:creationId xmlns:a16="http://schemas.microsoft.com/office/drawing/2014/main" id="{16E0C929-6E12-447C-8EB2-30C5513D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78523" y="5760711"/>
            <a:ext cx="84075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DCE3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7" name="Line 57">
            <a:extLst xmlns:a="http://schemas.openxmlformats.org/drawingml/2006/main">
              <a:ext uri="{FF2B5EF4-FFF2-40B4-BE49-F238E27FC236}">
                <a16:creationId xmlns:a16="http://schemas.microsoft.com/office/drawing/2014/main" id="{F67F3063-9651-4BA6-A4F1-B90E3E9F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78523" y="7473354"/>
            <a:ext cx="84075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DCE3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8" name="Line 58">
            <a:extLst xmlns:a="http://schemas.openxmlformats.org/drawingml/2006/main">
              <a:ext uri="{FF2B5EF4-FFF2-40B4-BE49-F238E27FC236}">
                <a16:creationId xmlns:a16="http://schemas.microsoft.com/office/drawing/2014/main" id="{F722CEA4-851A-4A1A-A085-8E861F35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78523" y="9185998"/>
            <a:ext cx="84075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DCE3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9" name="Line 59">
            <a:extLst xmlns:a="http://schemas.openxmlformats.org/drawingml/2006/main">
              <a:ext uri="{FF2B5EF4-FFF2-40B4-BE49-F238E27FC236}">
                <a16:creationId xmlns:a16="http://schemas.microsoft.com/office/drawing/2014/main" id="{6F9A7B05-5983-400B-9B36-460BF6DE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12693" y="2117450"/>
            <a:ext cx="0" cy="73487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0" name="Line 60">
            <a:extLst xmlns:a="http://schemas.openxmlformats.org/drawingml/2006/main">
              <a:ext uri="{FF2B5EF4-FFF2-40B4-BE49-F238E27FC236}">
                <a16:creationId xmlns:a16="http://schemas.microsoft.com/office/drawing/2014/main" id="{980FF436-BADD-4165-8B5E-D36B8E6E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67238" y="2117450"/>
            <a:ext cx="0" cy="73487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3C8D7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1" name="Line 61">
            <a:extLst xmlns:a="http://schemas.openxmlformats.org/drawingml/2006/main">
              <a:ext uri="{FF2B5EF4-FFF2-40B4-BE49-F238E27FC236}">
                <a16:creationId xmlns:a16="http://schemas.microsoft.com/office/drawing/2014/main" id="{33994690-51E0-43A2-B644-63292235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21784" y="2117450"/>
            <a:ext cx="0" cy="73487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3F7BA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2" name="Line 62">
            <a:extLst xmlns:a="http://schemas.openxmlformats.org/drawingml/2006/main">
              <a:ext uri="{FF2B5EF4-FFF2-40B4-BE49-F238E27FC236}">
                <a16:creationId xmlns:a16="http://schemas.microsoft.com/office/drawing/2014/main" id="{1979CBA7-F52E-4316-94CE-58A37710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76329" y="2117450"/>
            <a:ext cx="0" cy="73487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3" name="Line 63">
            <a:extLst xmlns:a="http://schemas.openxmlformats.org/drawingml/2006/main">
              <a:ext uri="{FF2B5EF4-FFF2-40B4-BE49-F238E27FC236}">
                <a16:creationId xmlns:a16="http://schemas.microsoft.com/office/drawing/2014/main" id="{3948C1BE-3AE6-49C3-AE3E-3A66C1F1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30875" y="2117450"/>
            <a:ext cx="0" cy="73487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8561A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Line 64">
            <a:extLst xmlns:a="http://schemas.openxmlformats.org/drawingml/2006/main">
              <a:ext uri="{FF2B5EF4-FFF2-40B4-BE49-F238E27FC236}">
                <a16:creationId xmlns:a16="http://schemas.microsoft.com/office/drawing/2014/main" id="{B692A7D9-4EBE-4BF2-8DEB-84DEAB27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85420" y="2117450"/>
            <a:ext cx="0" cy="73487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5" name="Ellipse 65">
            <a:extLst xmlns:a="http://schemas.openxmlformats.org/drawingml/2006/main">
              <a:ext uri="{FF2B5EF4-FFF2-40B4-BE49-F238E27FC236}">
                <a16:creationId xmlns:a16="http://schemas.microsoft.com/office/drawing/2014/main" id="{FEA53A3A-77F1-43A1-98CC-7F5DB862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95921" y="879676"/>
            <a:ext cx="155695" cy="1556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6" name="Ellipse 66">
            <a:extLst xmlns:a="http://schemas.openxmlformats.org/drawingml/2006/main">
              <a:ext uri="{FF2B5EF4-FFF2-40B4-BE49-F238E27FC236}">
                <a16:creationId xmlns:a16="http://schemas.microsoft.com/office/drawing/2014/main" id="{BF05276B-585C-4AD1-8795-40F1CBA5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50467" y="879676"/>
            <a:ext cx="155695" cy="1556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C8D7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7" name="Ellipse 67">
            <a:extLst xmlns:a="http://schemas.openxmlformats.org/drawingml/2006/main">
              <a:ext uri="{FF2B5EF4-FFF2-40B4-BE49-F238E27FC236}">
                <a16:creationId xmlns:a16="http://schemas.microsoft.com/office/drawing/2014/main" id="{FFEC77B2-4D73-48D9-B202-9AC61944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05012" y="879676"/>
            <a:ext cx="155695" cy="1556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F7BA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8" name="Ellipse 68">
            <a:extLst xmlns:a="http://schemas.openxmlformats.org/drawingml/2006/main">
              <a:ext uri="{FF2B5EF4-FFF2-40B4-BE49-F238E27FC236}">
                <a16:creationId xmlns:a16="http://schemas.microsoft.com/office/drawing/2014/main" id="{6EBD3B65-5794-4C9A-B4A6-05980BD9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59558" y="879676"/>
            <a:ext cx="155695" cy="1556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9" name="Ellipse 69">
            <a:extLst xmlns:a="http://schemas.openxmlformats.org/drawingml/2006/main">
              <a:ext uri="{FF2B5EF4-FFF2-40B4-BE49-F238E27FC236}">
                <a16:creationId xmlns:a16="http://schemas.microsoft.com/office/drawing/2014/main" id="{30157108-6F9A-4951-8149-A71D5AB6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14103" y="879676"/>
            <a:ext cx="155695" cy="1556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8561A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0" name="Ellipse 70">
            <a:extLst xmlns:a="http://schemas.openxmlformats.org/drawingml/2006/main">
              <a:ext uri="{FF2B5EF4-FFF2-40B4-BE49-F238E27FC236}">
                <a16:creationId xmlns:a16="http://schemas.microsoft.com/office/drawing/2014/main" id="{D9925127-51A4-4AB7-B0A6-A929DAD7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868649" y="879676"/>
            <a:ext cx="155695" cy="1556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1" name="TextBox 71">
            <a:extLst xmlns:a="http://schemas.openxmlformats.org/drawingml/2006/main">
              <a:ext uri="{FF2B5EF4-FFF2-40B4-BE49-F238E27FC236}">
                <a16:creationId xmlns:a16="http://schemas.microsoft.com/office/drawing/2014/main" id="{62688785-2AF0-47BB-8723-FDA2E7E4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89286" y="171264"/>
            <a:ext cx="7006270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2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Research routes in Time-Series Agent systems</a:t>
            </a:r>
            <a:endParaRPr sz="2120"/>
          </a:p>
        </p:txBody>
      </p:sp>
      <p:sp>
        <p:nvSpPr>
          <p:cNvPr id="72" name="TextBox 72">
            <a:extLst xmlns:a="http://schemas.openxmlformats.org/drawingml/2006/main">
              <a:ext uri="{FF2B5EF4-FFF2-40B4-BE49-F238E27FC236}">
                <a16:creationId xmlns:a16="http://schemas.microsoft.com/office/drawing/2014/main" id="{F490F487-E131-4D0B-B006-BB55A98B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04856" y="560502"/>
            <a:ext cx="7629049" cy="2802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20" b="1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Representative module contributions by first public year | LLM and Harness layers</a:t>
            </a:r>
            <a:endParaRPr sz="1320"/>
          </a:p>
        </p:txBody>
      </p:sp>
      <p:sp>
        <p:nvSpPr>
          <p:cNvPr id="73" name="TextBox 73">
            <a:extLst xmlns:a="http://schemas.openxmlformats.org/drawingml/2006/main">
              <a:ext uri="{FF2B5EF4-FFF2-40B4-BE49-F238E27FC236}">
                <a16:creationId xmlns:a16="http://schemas.microsoft.com/office/drawing/2014/main" id="{73734FB9-6864-4961-8D4F-2E9E9C41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949739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B9832E"/>
                </a:solidFill>
                <a:latin typeface="PingFang SC"/>
                <a:ea typeface="PingFang SC"/>
                <a:cs typeface="PingFang SC"/>
              </a:rPr>
              <a:t>LLM</a:t>
            </a:r>
            <a:endParaRPr sz="1310"/>
          </a:p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B9832E"/>
                </a:solidFill>
                <a:latin typeface="PingFang SC"/>
                <a:ea typeface="PingFang SC"/>
                <a:cs typeface="PingFang SC"/>
              </a:rPr>
              <a:t>side</a:t>
            </a:r>
            <a:endParaRPr sz="1310"/>
          </a:p>
        </p:txBody>
      </p:sp>
      <p:sp>
        <p:nvSpPr>
          <p:cNvPr id="74" name="TextBox 74">
            <a:extLst xmlns:a="http://schemas.openxmlformats.org/drawingml/2006/main">
              <a:ext uri="{FF2B5EF4-FFF2-40B4-BE49-F238E27FC236}">
                <a16:creationId xmlns:a16="http://schemas.microsoft.com/office/drawing/2014/main" id="{2CA921D6-481A-4474-B4DA-46FA53A6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1401254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1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Representation</a:t>
            </a:r>
            <a:endParaRPr sz="910"/>
          </a:p>
          <a:p xmlns:a="http://schemas.openxmlformats.org/drawingml/2006/main">
            <a:pPr algn="ctr">
              <a:buNone/>
            </a:pPr>
            <a:r>
              <a:rPr sz="91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Alignment</a:t>
            </a:r>
            <a:endParaRPr sz="910"/>
          </a:p>
        </p:txBody>
      </p:sp>
      <p:sp>
        <p:nvSpPr>
          <p:cNvPr id="75" name="TextBox 75">
            <a:extLst xmlns:a="http://schemas.openxmlformats.org/drawingml/2006/main">
              <a:ext uri="{FF2B5EF4-FFF2-40B4-BE49-F238E27FC236}">
                <a16:creationId xmlns:a16="http://schemas.microsoft.com/office/drawing/2014/main" id="{7AFA6504-3757-4530-B3F7-EDC96898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67813" y="949739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3C8D76"/>
                </a:solidFill>
                <a:latin typeface="PingFang SC"/>
                <a:ea typeface="PingFang SC"/>
                <a:cs typeface="PingFang SC"/>
              </a:rPr>
              <a:t>General</a:t>
            </a:r>
            <a:endParaRPr sz="1310"/>
          </a:p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3C8D76"/>
                </a:solidFill>
                <a:latin typeface="PingFang SC"/>
                <a:ea typeface="PingFang SC"/>
                <a:cs typeface="PingFang SC"/>
              </a:rPr>
              <a:t>Harness</a:t>
            </a:r>
            <a:endParaRPr sz="1310"/>
          </a:p>
        </p:txBody>
      </p:sp>
      <p:sp>
        <p:nvSpPr>
          <p:cNvPr id="76" name="TextBox 76">
            <a:extLst xmlns:a="http://schemas.openxmlformats.org/drawingml/2006/main">
              <a:ext uri="{FF2B5EF4-FFF2-40B4-BE49-F238E27FC236}">
                <a16:creationId xmlns:a16="http://schemas.microsoft.com/office/drawing/2014/main" id="{66F5115B-347A-46A2-8354-D3F48D98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67813" y="1401254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9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Tools and memory</a:t>
            </a:r>
            <a:endParaRPr sz="819"/>
          </a:p>
          <a:p xmlns:a="http://schemas.openxmlformats.org/drawingml/2006/main">
            <a:pPr algn="ctr">
              <a:buNone/>
            </a:pPr>
            <a:r>
              <a:rPr sz="819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Control and planning</a:t>
            </a:r>
            <a:endParaRPr sz="819"/>
          </a:p>
        </p:txBody>
      </p:sp>
      <p:sp>
        <p:nvSpPr>
          <p:cNvPr id="77" name="TextBox 77">
            <a:extLst xmlns:a="http://schemas.openxmlformats.org/drawingml/2006/main">
              <a:ext uri="{FF2B5EF4-FFF2-40B4-BE49-F238E27FC236}">
                <a16:creationId xmlns:a16="http://schemas.microsoft.com/office/drawing/2014/main" id="{AB7C656C-76B1-4A1C-8D8C-A0E0CC1E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2358" y="949739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3F7BAD"/>
                </a:solidFill>
                <a:latin typeface="PingFang SC"/>
                <a:ea typeface="PingFang SC"/>
                <a:cs typeface="PingFang SC"/>
              </a:rPr>
              <a:t>General Time-Series</a:t>
            </a:r>
            <a:endParaRPr sz="1310"/>
          </a:p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3F7BAD"/>
                </a:solidFill>
                <a:latin typeface="PingFang SC"/>
                <a:ea typeface="PingFang SC"/>
                <a:cs typeface="PingFang SC"/>
              </a:rPr>
              <a:t>Harness</a:t>
            </a:r>
            <a:endParaRPr sz="1310"/>
          </a:p>
        </p:txBody>
      </p:sp>
      <p:sp>
        <p:nvSpPr>
          <p:cNvPr id="78" name="TextBox 78">
            <a:extLst xmlns:a="http://schemas.openxmlformats.org/drawingml/2006/main">
              <a:ext uri="{FF2B5EF4-FFF2-40B4-BE49-F238E27FC236}">
                <a16:creationId xmlns:a16="http://schemas.microsoft.com/office/drawing/2014/main" id="{F3373007-8BA2-4605-97BC-5AAB30BC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2358" y="1401254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1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Temporal state</a:t>
            </a:r>
            <a:endParaRPr sz="910"/>
          </a:p>
          <a:p xmlns:a="http://schemas.openxmlformats.org/drawingml/2006/main">
            <a:pPr algn="ctr">
              <a:buNone/>
            </a:pPr>
            <a:r>
              <a:rPr sz="91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Operations and grounding</a:t>
            </a:r>
            <a:endParaRPr sz="910"/>
          </a:p>
        </p:txBody>
      </p:sp>
      <p:sp>
        <p:nvSpPr>
          <p:cNvPr id="79" name="TextBox 79">
            <a:extLst xmlns:a="http://schemas.openxmlformats.org/drawingml/2006/main">
              <a:ext uri="{FF2B5EF4-FFF2-40B4-BE49-F238E27FC236}">
                <a16:creationId xmlns:a16="http://schemas.microsoft.com/office/drawing/2014/main" id="{3A10B682-CC47-42EC-A72A-0C5A2446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949739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C16A58"/>
                </a:solidFill>
                <a:latin typeface="PingFang SC"/>
                <a:ea typeface="PingFang SC"/>
                <a:cs typeface="PingFang SC"/>
              </a:rPr>
              <a:t>Task-Specific</a:t>
            </a:r>
            <a:endParaRPr sz="1310"/>
          </a:p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C16A58"/>
                </a:solidFill>
                <a:latin typeface="PingFang SC"/>
                <a:ea typeface="PingFang SC"/>
                <a:cs typeface="PingFang SC"/>
              </a:rPr>
              <a:t>Harness</a:t>
            </a:r>
            <a:endParaRPr sz="1310"/>
          </a:p>
        </p:txBody>
      </p:sp>
      <p:sp>
        <p:nvSpPr>
          <p:cNvPr id="80" name="TextBox 80">
            <a:extLst xmlns:a="http://schemas.openxmlformats.org/drawingml/2006/main">
              <a:ext uri="{FF2B5EF4-FFF2-40B4-BE49-F238E27FC236}">
                <a16:creationId xmlns:a16="http://schemas.microsoft.com/office/drawing/2014/main" id="{67B5FBF0-B1EB-41BA-AC70-89EDF9DD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1401254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Forecasting and prediction</a:t>
            </a:r>
            <a:endParaRPr sz="860"/>
          </a:p>
          <a:p xmlns:a="http://schemas.openxmlformats.org/drawingml/2006/main">
            <a:pPr algn="ctr">
              <a:buNone/>
            </a:pPr>
            <a:r>
              <a:rPr sz="86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Anomaly and diagnosis</a:t>
            </a:r>
            <a:endParaRPr sz="860"/>
          </a:p>
        </p:txBody>
      </p:sp>
      <p:sp>
        <p:nvSpPr>
          <p:cNvPr id="81" name="TextBox 81">
            <a:extLst xmlns:a="http://schemas.openxmlformats.org/drawingml/2006/main">
              <a:ext uri="{FF2B5EF4-FFF2-40B4-BE49-F238E27FC236}">
                <a16:creationId xmlns:a16="http://schemas.microsoft.com/office/drawing/2014/main" id="{432A2365-650D-40E2-A728-95AB0885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1449" y="949739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8561A3"/>
                </a:solidFill>
                <a:latin typeface="PingFang SC"/>
                <a:ea typeface="PingFang SC"/>
                <a:cs typeface="PingFang SC"/>
              </a:rPr>
              <a:t>Infrastructure</a:t>
            </a:r>
            <a:endParaRPr sz="1310"/>
          </a:p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8561A3"/>
                </a:solidFill>
                <a:latin typeface="PingFang SC"/>
                <a:ea typeface="PingFang SC"/>
                <a:cs typeface="PingFang SC"/>
              </a:rPr>
              <a:t>and benchmarks</a:t>
            </a:r>
            <a:endParaRPr sz="1310"/>
          </a:p>
        </p:txBody>
      </p:sp>
      <p:sp>
        <p:nvSpPr>
          <p:cNvPr id="82" name="TextBox 82">
            <a:extLst xmlns:a="http://schemas.openxmlformats.org/drawingml/2006/main">
              <a:ext uri="{FF2B5EF4-FFF2-40B4-BE49-F238E27FC236}">
                <a16:creationId xmlns:a16="http://schemas.microsoft.com/office/drawing/2014/main" id="{1EB9309C-5EA0-4BD3-91EA-F3EE8325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1449" y="1401254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1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Episodes, traces</a:t>
            </a:r>
            <a:endParaRPr sz="910"/>
          </a:p>
          <a:p xmlns:a="http://schemas.openxmlformats.org/drawingml/2006/main">
            <a:pPr algn="ctr">
              <a:buNone/>
            </a:pPr>
            <a:r>
              <a:rPr sz="91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TimeSeriesGym and ModernTSF</a:t>
            </a:r>
            <a:endParaRPr sz="910"/>
          </a:p>
        </p:txBody>
      </p:sp>
      <p:sp>
        <p:nvSpPr>
          <p:cNvPr id="83" name="TextBox 83">
            <a:extLst xmlns:a="http://schemas.openxmlformats.org/drawingml/2006/main">
              <a:ext uri="{FF2B5EF4-FFF2-40B4-BE49-F238E27FC236}">
                <a16:creationId xmlns:a16="http://schemas.microsoft.com/office/drawing/2014/main" id="{F7F9056D-4A27-4327-8FCD-FBE01944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5995" y="949739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3B8791"/>
                </a:solidFill>
                <a:latin typeface="PingFang SC"/>
                <a:ea typeface="PingFang SC"/>
                <a:cs typeface="PingFang SC"/>
              </a:rPr>
              <a:t>Paper-card</a:t>
            </a:r>
            <a:endParaRPr sz="1310"/>
          </a:p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3B8791"/>
                </a:solidFill>
                <a:latin typeface="PingFang SC"/>
                <a:ea typeface="PingFang SC"/>
                <a:cs typeface="PingFang SC"/>
              </a:rPr>
              <a:t>database</a:t>
            </a:r>
            <a:endParaRPr sz="1310"/>
          </a:p>
        </p:txBody>
      </p:sp>
      <p:sp>
        <p:nvSpPr>
          <p:cNvPr id="84" name="TextBox 84">
            <a:extLst xmlns:a="http://schemas.openxmlformats.org/drawingml/2006/main">
              <a:ext uri="{FF2B5EF4-FFF2-40B4-BE49-F238E27FC236}">
                <a16:creationId xmlns:a16="http://schemas.microsoft.com/office/drawing/2014/main" id="{95A12204-A31D-4544-A395-B083E248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5995" y="1401254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Claim, evidence</a:t>
            </a:r>
            <a:endParaRPr sz="860"/>
          </a:p>
          <a:p xmlns:a="http://schemas.openxmlformats.org/drawingml/2006/main">
            <a:pPr algn="ctr">
              <a:buNone/>
            </a:pPr>
            <a:r>
              <a:rPr sz="86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module-level counts</a:t>
            </a:r>
            <a:endParaRPr sz="860"/>
          </a:p>
        </p:txBody>
      </p:sp>
      <p:sp>
        <p:nvSpPr>
          <p:cNvPr id="85" name="TextBox 85">
            <a:extLst xmlns:a="http://schemas.openxmlformats.org/drawingml/2006/main">
              <a:ext uri="{FF2B5EF4-FFF2-40B4-BE49-F238E27FC236}">
                <a16:creationId xmlns:a16="http://schemas.microsoft.com/office/drawing/2014/main" id="{53D195EF-EA51-4279-9ED5-DB2152B3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58147" y="2242006"/>
            <a:ext cx="544932" cy="233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424B5B"/>
                </a:solidFill>
                <a:latin typeface="PingFang SC"/>
                <a:ea typeface="PingFang SC"/>
                <a:cs typeface="PingFang SC"/>
              </a:rPr>
              <a:t>2026</a:t>
            </a:r>
            <a:endParaRPr sz="1400"/>
          </a:p>
        </p:txBody>
      </p:sp>
      <p:sp>
        <p:nvSpPr>
          <p:cNvPr id="86" name="TextBox 86">
            <a:extLst xmlns:a="http://schemas.openxmlformats.org/drawingml/2006/main">
              <a:ext uri="{FF2B5EF4-FFF2-40B4-BE49-F238E27FC236}">
                <a16:creationId xmlns:a16="http://schemas.microsoft.com/office/drawing/2014/main" id="{B511CEE4-CB1C-4271-8180-BC281D88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58147" y="3954650"/>
            <a:ext cx="544932" cy="233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424B5B"/>
                </a:solidFill>
                <a:latin typeface="PingFang SC"/>
                <a:ea typeface="PingFang SC"/>
                <a:cs typeface="PingFang SC"/>
              </a:rPr>
              <a:t>2025</a:t>
            </a:r>
            <a:endParaRPr sz="1400"/>
          </a:p>
        </p:txBody>
      </p:sp>
      <p:sp>
        <p:nvSpPr>
          <p:cNvPr id="87" name="TextBox 87">
            <a:extLst xmlns:a="http://schemas.openxmlformats.org/drawingml/2006/main">
              <a:ext uri="{FF2B5EF4-FFF2-40B4-BE49-F238E27FC236}">
                <a16:creationId xmlns:a16="http://schemas.microsoft.com/office/drawing/2014/main" id="{FDFD7EA4-A851-4DAD-9D39-F44A3D3E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58147" y="5667294"/>
            <a:ext cx="544932" cy="233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424B5B"/>
                </a:solidFill>
                <a:latin typeface="PingFang SC"/>
                <a:ea typeface="PingFang SC"/>
                <a:cs typeface="PingFang SC"/>
              </a:rPr>
              <a:t>2024</a:t>
            </a:r>
            <a:endParaRPr sz="1400"/>
          </a:p>
        </p:txBody>
      </p:sp>
      <p:sp>
        <p:nvSpPr>
          <p:cNvPr id="88" name="TextBox 88">
            <a:extLst xmlns:a="http://schemas.openxmlformats.org/drawingml/2006/main">
              <a:ext uri="{FF2B5EF4-FFF2-40B4-BE49-F238E27FC236}">
                <a16:creationId xmlns:a16="http://schemas.microsoft.com/office/drawing/2014/main" id="{031E5418-85A1-433F-8FFC-14C36FF6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58147" y="7379938"/>
            <a:ext cx="544932" cy="233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424B5B"/>
                </a:solidFill>
                <a:latin typeface="PingFang SC"/>
                <a:ea typeface="PingFang SC"/>
                <a:cs typeface="PingFang SC"/>
              </a:rPr>
              <a:t>2023</a:t>
            </a:r>
            <a:endParaRPr sz="1400"/>
          </a:p>
        </p:txBody>
      </p:sp>
      <p:sp>
        <p:nvSpPr>
          <p:cNvPr id="89" name="TextBox 89">
            <a:extLst xmlns:a="http://schemas.openxmlformats.org/drawingml/2006/main">
              <a:ext uri="{FF2B5EF4-FFF2-40B4-BE49-F238E27FC236}">
                <a16:creationId xmlns:a16="http://schemas.microsoft.com/office/drawing/2014/main" id="{D5AAA9EF-59E9-48CB-AA40-F03A5C87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58147" y="9092581"/>
            <a:ext cx="544932" cy="233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424B5B"/>
                </a:solidFill>
                <a:latin typeface="PingFang SC"/>
                <a:ea typeface="PingFang SC"/>
                <a:cs typeface="PingFang SC"/>
              </a:rPr>
              <a:t>2022</a:t>
            </a:r>
            <a:endParaRPr sz="1400"/>
          </a:p>
        </p:txBody>
      </p:sp>
      <p:sp>
        <p:nvSpPr>
          <p:cNvPr id="90" name="TextBox 90">
            <a:extLst xmlns:a="http://schemas.openxmlformats.org/drawingml/2006/main">
              <a:ext uri="{FF2B5EF4-FFF2-40B4-BE49-F238E27FC236}">
                <a16:creationId xmlns:a16="http://schemas.microsoft.com/office/drawing/2014/main" id="{FB5865C0-B8F3-4AF4-A1CD-F6F7949A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364326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ChatTS</a:t>
            </a:r>
            <a:endParaRPr sz="1100"/>
          </a:p>
        </p:txBody>
      </p:sp>
      <p:sp>
        <p:nvSpPr>
          <p:cNvPr id="91" name="TextBox 91">
            <a:extLst xmlns:a="http://schemas.openxmlformats.org/drawingml/2006/main">
              <a:ext uri="{FF2B5EF4-FFF2-40B4-BE49-F238E27FC236}">
                <a16:creationId xmlns:a16="http://schemas.microsoft.com/office/drawing/2014/main" id="{41477BF9-2E68-4F66-9508-36759BA0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3915726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Time-LLM</a:t>
            </a:r>
            <a:endParaRPr sz="1100"/>
          </a:p>
        </p:txBody>
      </p:sp>
      <p:sp>
        <p:nvSpPr>
          <p:cNvPr id="92" name="TextBox 92">
            <a:extLst xmlns:a="http://schemas.openxmlformats.org/drawingml/2006/main">
              <a:ext uri="{FF2B5EF4-FFF2-40B4-BE49-F238E27FC236}">
                <a16:creationId xmlns:a16="http://schemas.microsoft.com/office/drawing/2014/main" id="{2C12E7FB-5314-4C9E-A683-2893B923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5900836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LLM4TS</a:t>
            </a:r>
            <a:endParaRPr sz="1100"/>
          </a:p>
        </p:txBody>
      </p:sp>
      <p:sp>
        <p:nvSpPr>
          <p:cNvPr id="93" name="TextBox 93">
            <a:extLst xmlns:a="http://schemas.openxmlformats.org/drawingml/2006/main">
              <a:ext uri="{FF2B5EF4-FFF2-40B4-BE49-F238E27FC236}">
                <a16:creationId xmlns:a16="http://schemas.microsoft.com/office/drawing/2014/main" id="{D6DAFDDF-279E-4393-AF65-1FB5C03F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5355904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TimeMaster</a:t>
            </a:r>
            <a:endParaRPr sz="1100"/>
          </a:p>
        </p:txBody>
      </p:sp>
      <p:sp>
        <p:nvSpPr>
          <p:cNvPr id="94" name="TextBox 94">
            <a:extLst xmlns:a="http://schemas.openxmlformats.org/drawingml/2006/main">
              <a:ext uri="{FF2B5EF4-FFF2-40B4-BE49-F238E27FC236}">
                <a16:creationId xmlns:a16="http://schemas.microsoft.com/office/drawing/2014/main" id="{02661C4D-4D80-45FB-B52D-21A3269C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562837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TS-Agent</a:t>
            </a:r>
            <a:endParaRPr sz="1100"/>
          </a:p>
        </p:txBody>
      </p:sp>
      <p:sp>
        <p:nvSpPr>
          <p:cNvPr id="95" name="TextBox 95">
            <a:extLst xmlns:a="http://schemas.openxmlformats.org/drawingml/2006/main">
              <a:ext uri="{FF2B5EF4-FFF2-40B4-BE49-F238E27FC236}">
                <a16:creationId xmlns:a16="http://schemas.microsoft.com/office/drawing/2014/main" id="{D9909291-D0B2-4AD6-9BF9-81F8465E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5900836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TimeART</a:t>
            </a:r>
            <a:endParaRPr sz="1100"/>
          </a:p>
        </p:txBody>
      </p:sp>
      <p:sp>
        <p:nvSpPr>
          <p:cNvPr id="96" name="TextBox 96">
            <a:extLst xmlns:a="http://schemas.openxmlformats.org/drawingml/2006/main">
              <a:ext uri="{FF2B5EF4-FFF2-40B4-BE49-F238E27FC236}">
                <a16:creationId xmlns:a16="http://schemas.microsoft.com/office/drawing/2014/main" id="{BCA06ACE-F9C5-4029-B5CC-F256ECF1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7068548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AION</a:t>
            </a:r>
            <a:endParaRPr sz="1100"/>
          </a:p>
        </p:txBody>
      </p:sp>
      <p:sp>
        <p:nvSpPr>
          <p:cNvPr id="97" name="TextBox 97">
            <a:extLst xmlns:a="http://schemas.openxmlformats.org/drawingml/2006/main">
              <a:ext uri="{FF2B5EF4-FFF2-40B4-BE49-F238E27FC236}">
                <a16:creationId xmlns:a16="http://schemas.microsoft.com/office/drawing/2014/main" id="{5EC276AA-6D94-49F1-9608-4DFF8882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7341014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TimeClaw</a:t>
            </a:r>
            <a:endParaRPr sz="1100"/>
          </a:p>
        </p:txBody>
      </p:sp>
      <p:sp>
        <p:nvSpPr>
          <p:cNvPr id="98" name="TextBox 98">
            <a:extLst xmlns:a="http://schemas.openxmlformats.org/drawingml/2006/main">
              <a:ext uri="{FF2B5EF4-FFF2-40B4-BE49-F238E27FC236}">
                <a16:creationId xmlns:a16="http://schemas.microsoft.com/office/drawing/2014/main" id="{89C9515D-0274-41E3-95BF-D8B51979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9326124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Memory Bank</a:t>
            </a:r>
            <a:endParaRPr sz="1100"/>
          </a:p>
        </p:txBody>
      </p:sp>
      <p:sp>
        <p:nvSpPr>
          <p:cNvPr id="99" name="TextBox 99">
            <a:extLst xmlns:a="http://schemas.openxmlformats.org/drawingml/2006/main">
              <a:ext uri="{FF2B5EF4-FFF2-40B4-BE49-F238E27FC236}">
                <a16:creationId xmlns:a16="http://schemas.microsoft.com/office/drawing/2014/main" id="{673C6DC0-C51A-420A-8E82-749341C6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8781191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Reflection</a:t>
            </a:r>
            <a:endParaRPr sz="1100"/>
          </a:p>
        </p:txBody>
      </p:sp>
      <p:sp>
        <p:nvSpPr>
          <p:cNvPr id="100" name="TextBox 100">
            <a:extLst xmlns:a="http://schemas.openxmlformats.org/drawingml/2006/main">
              <a:ext uri="{FF2B5EF4-FFF2-40B4-BE49-F238E27FC236}">
                <a16:creationId xmlns:a16="http://schemas.microsoft.com/office/drawing/2014/main" id="{903EA025-2FD5-4501-A492-3C5357EB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67813" y="364326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TimeCAP</a:t>
            </a:r>
            <a:endParaRPr sz="1100"/>
          </a:p>
        </p:txBody>
      </p:sp>
      <p:sp>
        <p:nvSpPr>
          <p:cNvPr id="101" name="TextBox 101">
            <a:extLst xmlns:a="http://schemas.openxmlformats.org/drawingml/2006/main">
              <a:ext uri="{FF2B5EF4-FFF2-40B4-BE49-F238E27FC236}">
                <a16:creationId xmlns:a16="http://schemas.microsoft.com/office/drawing/2014/main" id="{0CE36E83-1C49-417F-9456-A08FE728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67813" y="3915726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Temporal grounding</a:t>
            </a:r>
            <a:endParaRPr sz="1100"/>
          </a:p>
        </p:txBody>
      </p:sp>
      <p:sp>
        <p:nvSpPr>
          <p:cNvPr id="102" name="TextBox 102">
            <a:extLst xmlns:a="http://schemas.openxmlformats.org/drawingml/2006/main">
              <a:ext uri="{FF2B5EF4-FFF2-40B4-BE49-F238E27FC236}">
                <a16:creationId xmlns:a16="http://schemas.microsoft.com/office/drawing/2014/main" id="{02DB28E9-A407-4FAC-B867-DACAB35A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67813" y="4188192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Forecasting</a:t>
            </a:r>
            <a:endParaRPr sz="1100"/>
          </a:p>
        </p:txBody>
      </p:sp>
      <p:sp>
        <p:nvSpPr>
          <p:cNvPr id="103" name="TextBox 103">
            <a:extLst xmlns:a="http://schemas.openxmlformats.org/drawingml/2006/main">
              <a:ext uri="{FF2B5EF4-FFF2-40B4-BE49-F238E27FC236}">
                <a16:creationId xmlns:a16="http://schemas.microsoft.com/office/drawing/2014/main" id="{380BDF00-6EF4-4E50-A58D-99A60114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67813" y="5355904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Anomaly diagnosis</a:t>
            </a:r>
            <a:endParaRPr sz="1100"/>
          </a:p>
        </p:txBody>
      </p:sp>
      <p:sp>
        <p:nvSpPr>
          <p:cNvPr id="104" name="TextBox 104">
            <a:extLst xmlns:a="http://schemas.openxmlformats.org/drawingml/2006/main">
              <a:ext uri="{FF2B5EF4-FFF2-40B4-BE49-F238E27FC236}">
                <a16:creationId xmlns:a16="http://schemas.microsoft.com/office/drawing/2014/main" id="{5762953A-4419-4DD7-9127-591311AF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2358" y="1930617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Augmentation</a:t>
            </a:r>
            <a:endParaRPr sz="1100"/>
          </a:p>
        </p:txBody>
      </p:sp>
      <p:sp>
        <p:nvSpPr>
          <p:cNvPr id="105" name="TextBox 105">
            <a:extLst xmlns:a="http://schemas.openxmlformats.org/drawingml/2006/main">
              <a:ext uri="{FF2B5EF4-FFF2-40B4-BE49-F238E27FC236}">
                <a16:creationId xmlns:a16="http://schemas.microsoft.com/office/drawing/2014/main" id="{62BB6FBB-5E50-4A8A-A5EC-1D1AA2B9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2358" y="3915726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8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Decision support</a:t>
            </a:r>
            <a:endParaRPr sz="980"/>
          </a:p>
        </p:txBody>
      </p:sp>
      <p:sp>
        <p:nvSpPr>
          <p:cNvPr id="106" name="TextBox 106">
            <a:extLst xmlns:a="http://schemas.openxmlformats.org/drawingml/2006/main">
              <a:ext uri="{FF2B5EF4-FFF2-40B4-BE49-F238E27FC236}">
                <a16:creationId xmlns:a16="http://schemas.microsoft.com/office/drawing/2014/main" id="{E57873F2-B233-4EC5-93D7-29E640B8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2358" y="4188192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ModernTSF</a:t>
            </a:r>
            <a:endParaRPr sz="1100"/>
          </a:p>
        </p:txBody>
      </p:sp>
      <p:sp>
        <p:nvSpPr>
          <p:cNvPr id="107" name="TextBox 107">
            <a:extLst xmlns:a="http://schemas.openxmlformats.org/drawingml/2006/main">
              <a:ext uri="{FF2B5EF4-FFF2-40B4-BE49-F238E27FC236}">
                <a16:creationId xmlns:a16="http://schemas.microsoft.com/office/drawing/2014/main" id="{57630B4E-054A-4A5B-BD9E-93249D81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2358" y="7068548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TimeSeriesGym</a:t>
            </a:r>
            <a:endParaRPr sz="1100"/>
          </a:p>
        </p:txBody>
      </p:sp>
      <p:sp>
        <p:nvSpPr>
          <p:cNvPr id="108" name="TextBox 108">
            <a:extLst xmlns:a="http://schemas.openxmlformats.org/drawingml/2006/main">
              <a:ext uri="{FF2B5EF4-FFF2-40B4-BE49-F238E27FC236}">
                <a16:creationId xmlns:a16="http://schemas.microsoft.com/office/drawing/2014/main" id="{4DA774D1-5316-4292-8091-0042BD92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2358" y="7341014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TFRBench</a:t>
            </a:r>
            <a:endParaRPr sz="1100"/>
          </a:p>
        </p:txBody>
      </p:sp>
      <p:sp>
        <p:nvSpPr>
          <p:cNvPr id="109" name="TextBox 109">
            <a:extLst xmlns:a="http://schemas.openxmlformats.org/drawingml/2006/main">
              <a:ext uri="{FF2B5EF4-FFF2-40B4-BE49-F238E27FC236}">
                <a16:creationId xmlns:a16="http://schemas.microsoft.com/office/drawing/2014/main" id="{E9B4E654-ADA3-4F7C-AFCF-82388AAB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2358" y="761348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TSQBench</a:t>
            </a:r>
            <a:endParaRPr sz="1100"/>
          </a:p>
        </p:txBody>
      </p:sp>
      <p:sp>
        <p:nvSpPr>
          <p:cNvPr id="110" name="TextBox 110">
            <a:extLst xmlns:a="http://schemas.openxmlformats.org/drawingml/2006/main">
              <a:ext uri="{FF2B5EF4-FFF2-40B4-BE49-F238E27FC236}">
                <a16:creationId xmlns:a16="http://schemas.microsoft.com/office/drawing/2014/main" id="{3B20284E-2CEA-4B8E-BA46-7E21048F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1930617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TS-Agent</a:t>
            </a:r>
            <a:endParaRPr sz="1100"/>
          </a:p>
        </p:txBody>
      </p:sp>
      <p:sp>
        <p:nvSpPr>
          <p:cNvPr id="111" name="TextBox 111">
            <a:extLst xmlns:a="http://schemas.openxmlformats.org/drawingml/2006/main">
              <a:ext uri="{FF2B5EF4-FFF2-40B4-BE49-F238E27FC236}">
                <a16:creationId xmlns:a16="http://schemas.microsoft.com/office/drawing/2014/main" id="{D0F6FE6A-A326-4855-88D4-9090B62C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3915726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TimeART</a:t>
            </a:r>
            <a:endParaRPr sz="1100"/>
          </a:p>
        </p:txBody>
      </p:sp>
      <p:sp>
        <p:nvSpPr>
          <p:cNvPr id="112" name="TextBox 112">
            <a:extLst xmlns:a="http://schemas.openxmlformats.org/drawingml/2006/main">
              <a:ext uri="{FF2B5EF4-FFF2-40B4-BE49-F238E27FC236}">
                <a16:creationId xmlns:a16="http://schemas.microsoft.com/office/drawing/2014/main" id="{A3AF18BC-0961-4C27-8173-B4BD5071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4188192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AION</a:t>
            </a:r>
            <a:endParaRPr sz="1100"/>
          </a:p>
        </p:txBody>
      </p:sp>
      <p:sp>
        <p:nvSpPr>
          <p:cNvPr id="113" name="TextBox 113">
            <a:extLst xmlns:a="http://schemas.openxmlformats.org/drawingml/2006/main">
              <a:ext uri="{FF2B5EF4-FFF2-40B4-BE49-F238E27FC236}">
                <a16:creationId xmlns:a16="http://schemas.microsoft.com/office/drawing/2014/main" id="{E9EF3A40-35AB-4D71-B3C3-BEB5B5B0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364326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TimeClaw</a:t>
            </a:r>
            <a:endParaRPr sz="1100"/>
          </a:p>
        </p:txBody>
      </p:sp>
      <p:sp>
        <p:nvSpPr>
          <p:cNvPr id="114" name="TextBox 114">
            <a:extLst xmlns:a="http://schemas.openxmlformats.org/drawingml/2006/main">
              <a:ext uri="{FF2B5EF4-FFF2-40B4-BE49-F238E27FC236}">
                <a16:creationId xmlns:a16="http://schemas.microsoft.com/office/drawing/2014/main" id="{3FEBB70D-D48C-466E-A4F0-64BEEA88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562837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TimeCAP</a:t>
            </a:r>
            <a:endParaRPr sz="1100"/>
          </a:p>
        </p:txBody>
      </p:sp>
      <p:sp>
        <p:nvSpPr>
          <p:cNvPr id="115" name="TextBox 115">
            <a:extLst xmlns:a="http://schemas.openxmlformats.org/drawingml/2006/main">
              <a:ext uri="{FF2B5EF4-FFF2-40B4-BE49-F238E27FC236}">
                <a16:creationId xmlns:a16="http://schemas.microsoft.com/office/drawing/2014/main" id="{CF27F92F-A646-457D-A4F3-82234888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5900836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TFRBench</a:t>
            </a:r>
            <a:endParaRPr sz="1100"/>
          </a:p>
        </p:txBody>
      </p:sp>
      <p:sp>
        <p:nvSpPr>
          <p:cNvPr id="116" name="TextBox 116">
            <a:extLst xmlns:a="http://schemas.openxmlformats.org/drawingml/2006/main">
              <a:ext uri="{FF2B5EF4-FFF2-40B4-BE49-F238E27FC236}">
                <a16:creationId xmlns:a16="http://schemas.microsoft.com/office/drawing/2014/main" id="{3F35B3C3-6BBB-4D15-92EC-C3CBFEEB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5355904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TSQBench</a:t>
            </a:r>
            <a:endParaRPr sz="1100"/>
          </a:p>
        </p:txBody>
      </p:sp>
      <p:sp>
        <p:nvSpPr>
          <p:cNvPr id="117" name="TextBox 117">
            <a:extLst xmlns:a="http://schemas.openxmlformats.org/drawingml/2006/main">
              <a:ext uri="{FF2B5EF4-FFF2-40B4-BE49-F238E27FC236}">
                <a16:creationId xmlns:a16="http://schemas.microsoft.com/office/drawing/2014/main" id="{B4461641-1342-4F11-B78C-D1ACA39D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7341014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ModernTSF</a:t>
            </a:r>
            <a:endParaRPr sz="1100"/>
          </a:p>
        </p:txBody>
      </p:sp>
      <p:sp>
        <p:nvSpPr>
          <p:cNvPr id="118" name="TextBox 118">
            <a:extLst xmlns:a="http://schemas.openxmlformats.org/drawingml/2006/main">
              <a:ext uri="{FF2B5EF4-FFF2-40B4-BE49-F238E27FC236}">
                <a16:creationId xmlns:a16="http://schemas.microsoft.com/office/drawing/2014/main" id="{CC0C3D5B-5F96-4097-8557-72F99C3D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761348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TimeSeriesGym</a:t>
            </a:r>
            <a:endParaRPr sz="1100"/>
          </a:p>
        </p:txBody>
      </p:sp>
      <p:sp>
        <p:nvSpPr>
          <p:cNvPr id="119" name="TextBox 119">
            <a:extLst xmlns:a="http://schemas.openxmlformats.org/drawingml/2006/main">
              <a:ext uri="{FF2B5EF4-FFF2-40B4-BE49-F238E27FC236}">
                <a16:creationId xmlns:a16="http://schemas.microsoft.com/office/drawing/2014/main" id="{D9004EF9-897D-4309-9D8F-4D5FA2EB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1449" y="364326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TraceBench</a:t>
            </a:r>
            <a:endParaRPr sz="800"/>
          </a:p>
        </p:txBody>
      </p:sp>
      <p:sp>
        <p:nvSpPr>
          <p:cNvPr id="120" name="TextBox 120">
            <a:extLst xmlns:a="http://schemas.openxmlformats.org/drawingml/2006/main">
              <a:ext uri="{FF2B5EF4-FFF2-40B4-BE49-F238E27FC236}">
                <a16:creationId xmlns:a16="http://schemas.microsoft.com/office/drawing/2014/main" id="{044A6B8D-67C5-4E72-AB03-73D07D97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1449" y="562837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/>
            </a:r>
            <a:endParaRPr sz="1100"/>
          </a:p>
        </p:txBody>
      </p:sp>
      <p:sp>
        <p:nvSpPr>
          <p:cNvPr id="121" name="TextBox 121">
            <a:extLst xmlns:a="http://schemas.openxmlformats.org/drawingml/2006/main">
              <a:ext uri="{FF2B5EF4-FFF2-40B4-BE49-F238E27FC236}">
                <a16:creationId xmlns:a16="http://schemas.microsoft.com/office/drawing/2014/main" id="{12E2F925-EF5B-4CAA-AF04-2FE46D95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1449" y="5900836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Verify</a:t>
            </a:r>
            <a:endParaRPr sz="800"/>
          </a:p>
        </p:txBody>
      </p:sp>
      <p:sp>
        <p:nvSpPr>
          <p:cNvPr id="122" name="TextBox 122">
            <a:extLst xmlns:a="http://schemas.openxmlformats.org/drawingml/2006/main">
              <a:ext uri="{FF2B5EF4-FFF2-40B4-BE49-F238E27FC236}">
                <a16:creationId xmlns:a16="http://schemas.microsoft.com/office/drawing/2014/main" id="{7F21DE9F-639F-4989-AB73-3856D1AE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1449" y="5355904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Calib.</a:t>
            </a:r>
            <a:endParaRPr sz="1100"/>
          </a:p>
        </p:txBody>
      </p:sp>
      <p:sp>
        <p:nvSpPr>
          <p:cNvPr id="123" name="TextBox 123">
            <a:extLst xmlns:a="http://schemas.openxmlformats.org/drawingml/2006/main">
              <a:ext uri="{FF2B5EF4-FFF2-40B4-BE49-F238E27FC236}">
                <a16:creationId xmlns:a16="http://schemas.microsoft.com/office/drawing/2014/main" id="{6E20A2CE-6642-4FBB-AA86-6D0567D2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1449" y="562837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/>
            </a:r>
            <a:endParaRPr sz="1100"/>
          </a:p>
        </p:txBody>
      </p:sp>
      <p:sp>
        <p:nvSpPr>
          <p:cNvPr id="124" name="TextBox 124">
            <a:extLst xmlns:a="http://schemas.openxmlformats.org/drawingml/2006/main">
              <a:ext uri="{FF2B5EF4-FFF2-40B4-BE49-F238E27FC236}">
                <a16:creationId xmlns:a16="http://schemas.microsoft.com/office/drawing/2014/main" id="{E84283EE-B8AE-42F2-AD8D-BBCE8653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1449" y="761348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Audit</a:t>
            </a:r>
            <a:endParaRPr sz="1100"/>
          </a:p>
        </p:txBody>
      </p:sp>
      <p:sp>
        <p:nvSpPr>
          <p:cNvPr id="125" name="TextBox 125">
            <a:extLst xmlns:a="http://schemas.openxmlformats.org/drawingml/2006/main">
              <a:ext uri="{FF2B5EF4-FFF2-40B4-BE49-F238E27FC236}">
                <a16:creationId xmlns:a16="http://schemas.microsoft.com/office/drawing/2014/main" id="{513D88DF-0F99-4084-8CF1-66D48FB6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1449" y="8781191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4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Reproducibility</a:t>
            </a:r>
            <a:endParaRPr sz="1040"/>
          </a:p>
        </p:txBody>
      </p:sp>
      <p:sp>
        <p:nvSpPr>
          <p:cNvPr id="126" name="TextBox 126">
            <a:extLst xmlns:a="http://schemas.openxmlformats.org/drawingml/2006/main">
              <a:ext uri="{FF2B5EF4-FFF2-40B4-BE49-F238E27FC236}">
                <a16:creationId xmlns:a16="http://schemas.microsoft.com/office/drawing/2014/main" id="{6A0FB4A3-8BE1-4540-8C31-FE9C2DBE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5995" y="1930617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Paper card</a:t>
            </a:r>
            <a:endParaRPr sz="1100"/>
          </a:p>
        </p:txBody>
      </p:sp>
      <p:sp>
        <p:nvSpPr>
          <p:cNvPr id="127" name="TextBox 127">
            <a:extLst xmlns:a="http://schemas.openxmlformats.org/drawingml/2006/main">
              <a:ext uri="{FF2B5EF4-FFF2-40B4-BE49-F238E27FC236}">
                <a16:creationId xmlns:a16="http://schemas.microsoft.com/office/drawing/2014/main" id="{EF2A7941-FB1C-4E54-BBD3-C1215628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5995" y="2203083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8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Ledger</a:t>
            </a:r>
            <a:endParaRPr sz="880"/>
          </a:p>
        </p:txBody>
      </p:sp>
      <p:sp>
        <p:nvSpPr>
          <p:cNvPr id="128" name="TextBox 128">
            <a:extLst xmlns:a="http://schemas.openxmlformats.org/drawingml/2006/main">
              <a:ext uri="{FF2B5EF4-FFF2-40B4-BE49-F238E27FC236}">
                <a16:creationId xmlns:a16="http://schemas.microsoft.com/office/drawing/2014/main" id="{6EEB361D-EE9D-43F8-87A7-F2F5248E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5995" y="2475549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Module tags</a:t>
            </a:r>
            <a:endParaRPr sz="1100"/>
          </a:p>
        </p:txBody>
      </p:sp>
      <p:sp>
        <p:nvSpPr>
          <p:cNvPr id="129" name="TextBox 129">
            <a:extLst xmlns:a="http://schemas.openxmlformats.org/drawingml/2006/main">
              <a:ext uri="{FF2B5EF4-FFF2-40B4-BE49-F238E27FC236}">
                <a16:creationId xmlns:a16="http://schemas.microsoft.com/office/drawing/2014/main" id="{E3F709F2-16B7-4F97-B6D4-2F974C58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5995" y="364326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Open tasks</a:t>
            </a:r>
            <a:endParaRPr sz="1100"/>
          </a:p>
        </p:txBody>
      </p:sp>
      <p:sp>
        <p:nvSpPr>
          <p:cNvPr id="130" name="TextBox 130">
            <a:extLst xmlns:a="http://schemas.openxmlformats.org/drawingml/2006/main">
              <a:ext uri="{FF2B5EF4-FFF2-40B4-BE49-F238E27FC236}">
                <a16:creationId xmlns:a16="http://schemas.microsoft.com/office/drawing/2014/main" id="{D026DA87-0C0B-4CB9-BE35-84C6B3D4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5995" y="3915726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Case studies</a:t>
            </a:r>
            <a:endParaRPr sz="1100"/>
          </a:p>
        </p:txBody>
      </p:sp>
      <p:sp>
        <p:nvSpPr>
          <p:cNvPr id="131" name="TextBox 131">
            <a:extLst xmlns:a="http://schemas.openxmlformats.org/drawingml/2006/main">
              <a:ext uri="{FF2B5EF4-FFF2-40B4-BE49-F238E27FC236}">
                <a16:creationId xmlns:a16="http://schemas.microsoft.com/office/drawing/2014/main" id="{C30120B1-30CE-49C2-98F7-9C1C909E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5995" y="5900836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Surveys</a:t>
            </a:r>
            <a:endParaRPr sz="1100"/>
          </a:p>
        </p:txBody>
      </p:sp>
      <p:sp>
        <p:nvSpPr>
          <p:cNvPr id="132" name="TextBox 132">
            <a:extLst xmlns:a="http://schemas.openxmlformats.org/drawingml/2006/main">
              <a:ext uri="{FF2B5EF4-FFF2-40B4-BE49-F238E27FC236}">
                <a16:creationId xmlns:a16="http://schemas.microsoft.com/office/drawing/2014/main" id="{8F309167-67F5-4BAB-BABF-0DFF5295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5995" y="7068548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BibTeX</a:t>
            </a:r>
            <a:endParaRPr sz="1100"/>
          </a:p>
        </p:txBody>
      </p:sp>
      <p:sp>
        <p:nvSpPr>
          <p:cNvPr id="133" name="TextBox 133">
            <a:extLst xmlns:a="http://schemas.openxmlformats.org/drawingml/2006/main">
              <a:ext uri="{FF2B5EF4-FFF2-40B4-BE49-F238E27FC236}">
                <a16:creationId xmlns:a16="http://schemas.microsoft.com/office/drawing/2014/main" id="{C545A0DC-0529-42DF-8937-69E6F11B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5995" y="7341014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Claims</a:t>
            </a:r>
            <a:endParaRPr sz="1100"/>
          </a:p>
        </p:txBody>
      </p:sp>
      <p:sp>
        <p:nvSpPr>
          <p:cNvPr id="134" name="TextBox 134">
            <a:extLst xmlns:a="http://schemas.openxmlformats.org/drawingml/2006/main">
              <a:ext uri="{FF2B5EF4-FFF2-40B4-BE49-F238E27FC236}">
                <a16:creationId xmlns:a16="http://schemas.microsoft.com/office/drawing/2014/main" id="{39A71BBA-86BD-41C2-85C5-6C941E80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89913" y="9808778"/>
            <a:ext cx="2335423" cy="1868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◫   2003 | Gödel Machine</a:t>
            </a:r>
            <a:endParaRPr sz="1100"/>
          </a:p>
        </p:txBody>
      </p:sp>
      <p:sp>
        <p:nvSpPr>
          <p:cNvPr id="135" name="TextBox 135">
            <a:extLst xmlns:a="http://schemas.openxmlformats.org/drawingml/2006/main">
              <a:ext uri="{FF2B5EF4-FFF2-40B4-BE49-F238E27FC236}">
                <a16:creationId xmlns:a16="http://schemas.microsoft.com/office/drawing/2014/main" id="{BA243D8A-647E-42F8-9FDB-B67D7BF7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81031" y="9808778"/>
            <a:ext cx="2568966" cy="1868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◉   2016 | Learned optimizers</a:t>
            </a:r>
            <a:endParaRPr sz="1100"/>
          </a:p>
        </p:txBody>
      </p:sp>
      <p:sp>
        <p:nvSpPr>
          <p:cNvPr id="136" name="TextBox 136">
            <a:extLst xmlns:a="http://schemas.openxmlformats.org/drawingml/2006/main">
              <a:ext uri="{FF2B5EF4-FFF2-40B4-BE49-F238E27FC236}">
                <a16:creationId xmlns:a16="http://schemas.microsoft.com/office/drawing/2014/main" id="{B92DEF2A-1084-48F2-9128-20818C31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9234" y="9808778"/>
            <a:ext cx="1946186" cy="1868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▣   2019 | POET</a:t>
            </a:r>
            <a:endParaRPr sz="1100"/>
          </a:p>
        </p:txBody>
      </p:sp>
      <p:sp>
        <p:nvSpPr>
          <p:cNvPr id="137" name="TextBox 137">
            <a:extLst xmlns:a="http://schemas.openxmlformats.org/drawingml/2006/main">
              <a:ext uri="{FF2B5EF4-FFF2-40B4-BE49-F238E27FC236}">
                <a16:creationId xmlns:a16="http://schemas.microsoft.com/office/drawing/2014/main" id="{71453261-3DAD-459A-94E2-0F1D0494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34845" y="10042320"/>
            <a:ext cx="6383490" cy="171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Marks: selected affiliations | Branches: research routes, not technical ancestry</a:t>
            </a:r>
            <a:endParaRPr sz="900"/>
          </a:p>
        </p:txBody>
      </p:sp>
      <p:sp>
        <p:nvSpPr>
          <p:cNvPr id="138" name="TextBox 138">
            <a:extLst xmlns:a="http://schemas.openxmlformats.org/drawingml/2006/main">
              <a:ext uri="{FF2B5EF4-FFF2-40B4-BE49-F238E27FC236}">
                <a16:creationId xmlns:a16="http://schemas.microsoft.com/office/drawing/2014/main" id="{99B1A1F5-648F-4099-AFBE-0AF94DC2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86883" y="10742947"/>
            <a:ext cx="9263846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/>
            </a:r>
            <a:endParaRPr sz="750"/>
          </a:p>
        </p:txBody>
      </p:sp>
      <p:sp>
        <p:nvSpPr>
          <p:cNvPr id="139" name="TextBox 139">
            <a:extLst xmlns:a="http://schemas.openxmlformats.org/drawingml/2006/main">
              <a:ext uri="{FF2B5EF4-FFF2-40B4-BE49-F238E27FC236}">
                <a16:creationId xmlns:a16="http://schemas.microsoft.com/office/drawing/2014/main" id="{DAB11706-B5CA-4B40-8927-829B8AAC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86883" y="11046552"/>
            <a:ext cx="9263846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8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/>
            </a:r>
            <a:endParaRPr sz="880"/>
          </a:p>
        </p:txBody>
      </p:sp>
      <p:sp>
        <p:nvSpPr>
          <p:cNvPr id="140" name="TextBox 140">
            <a:extLst xmlns:a="http://schemas.openxmlformats.org/drawingml/2006/main">
              <a:ext uri="{FF2B5EF4-FFF2-40B4-BE49-F238E27FC236}">
                <a16:creationId xmlns:a16="http://schemas.microsoft.com/office/drawing/2014/main" id="{417D2A5A-9E13-4C35-9FA9-178308D0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86883" y="11350157"/>
            <a:ext cx="9263846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19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/>
            </a:r>
            <a:endParaRPr sz="819"/>
          </a:p>
        </p:txBody>
      </p:sp>
      <p:sp>
        <p:nvSpPr>
          <p:cNvPr id="141" name="TextBox 141">
            <a:extLst xmlns:a="http://schemas.openxmlformats.org/drawingml/2006/main">
              <a:ext uri="{FF2B5EF4-FFF2-40B4-BE49-F238E27FC236}">
                <a16:creationId xmlns:a16="http://schemas.microsoft.com/office/drawing/2014/main" id="{DCDF5064-B574-40FC-94F4-EC64F860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86883" y="11653762"/>
            <a:ext cx="9263846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4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/>
            </a:r>
            <a:endParaRPr sz="840"/>
          </a:p>
        </p:txBody>
      </p:sp>
    </p:spTree>
    <p:extLst>
      <p:ext uri="{BB962C8B-B14F-4D97-AF65-F5344CB8AC3E}">
        <p14:creationId xmlns:p14="http://schemas.microsoft.com/office/powerpoint/2010/main" val="1253979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 2">
            <a:extLst xmlns:a="http://schemas.openxmlformats.org/drawingml/2006/main">
              <a:ext uri="{FF2B5EF4-FFF2-40B4-BE49-F238E27FC236}">
                <a16:creationId xmlns:a16="http://schemas.microsoft.com/office/drawing/2014/main" id="{5A166B07-2A31-421F-8463-790F3880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79505" y="307375"/>
            <a:ext cx="3232734" cy="8394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D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ect 3">
            <a:extLst xmlns:a="http://schemas.openxmlformats.org/drawingml/2006/main">
              <a:ext uri="{FF2B5EF4-FFF2-40B4-BE49-F238E27FC236}">
                <a16:creationId xmlns:a16="http://schemas.microsoft.com/office/drawing/2014/main" id="{8E0752FD-64D8-4090-98D3-C36898FD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01641" y="307375"/>
            <a:ext cx="3232734" cy="8394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1D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 4">
            <a:extLst xmlns:a="http://schemas.openxmlformats.org/drawingml/2006/main">
              <a:ext uri="{FF2B5EF4-FFF2-40B4-BE49-F238E27FC236}">
                <a16:creationId xmlns:a16="http://schemas.microsoft.com/office/drawing/2014/main" id="{F7D23FA3-6161-4925-BEA9-8D5FD5BA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34375" y="307375"/>
            <a:ext cx="3232734" cy="8394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0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 5">
            <a:extLst xmlns:a="http://schemas.openxmlformats.org/drawingml/2006/main">
              <a:ext uri="{FF2B5EF4-FFF2-40B4-BE49-F238E27FC236}">
                <a16:creationId xmlns:a16="http://schemas.microsoft.com/office/drawing/2014/main" id="{9DC3D657-5657-46EF-8EB1-B9B4A1CC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67109" y="307375"/>
            <a:ext cx="3232734" cy="8394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3F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Line 6">
            <a:extLst xmlns:a="http://schemas.openxmlformats.org/drawingml/2006/main">
              <a:ext uri="{FF2B5EF4-FFF2-40B4-BE49-F238E27FC236}">
                <a16:creationId xmlns:a16="http://schemas.microsoft.com/office/drawing/2014/main" id="{50862E29-BC28-4ECF-9A5E-86898093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79505" y="5066384"/>
            <a:ext cx="129097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C8C8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oundrect 7">
            <a:extLst xmlns:a="http://schemas.openxmlformats.org/drawingml/2006/main">
              <a:ext uri="{FF2B5EF4-FFF2-40B4-BE49-F238E27FC236}">
                <a16:creationId xmlns:a16="http://schemas.microsoft.com/office/drawing/2014/main" id="{0D9125CF-B332-4708-BE2D-44091925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70290" y="551155"/>
            <a:ext cx="2851166" cy="3762691"/>
          </a:xfrm>
          <a:prstGeom xmlns:a="http://schemas.openxmlformats.org/drawingml/2006/main" prst="roundRect">
            <a:avLst>
              <a:gd name="adj" fmla="val 7435"/>
            </a:avLst>
          </a:prstGeom>
          <a:noFill xmlns:a="http://schemas.openxmlformats.org/drawingml/2006/main"/>
          <a:ln xmlns:a="http://schemas.openxmlformats.org/drawingml/2006/main" w="25400">
            <a:solidFill>
              <a:srgbClr val="222222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oundrect 8">
            <a:extLst xmlns:a="http://schemas.openxmlformats.org/drawingml/2006/main">
              <a:ext uri="{FF2B5EF4-FFF2-40B4-BE49-F238E27FC236}">
                <a16:creationId xmlns:a16="http://schemas.microsoft.com/office/drawing/2014/main" id="{0261AEC8-175C-48F6-8CE3-17BE69A6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70290" y="5670534"/>
            <a:ext cx="2851166" cy="1886645"/>
          </a:xfrm>
          <a:prstGeom xmlns:a="http://schemas.openxmlformats.org/drawingml/2006/main" prst="roundRect">
            <a:avLst>
              <a:gd name="adj" fmla="val 11236"/>
            </a:avLst>
          </a:prstGeom>
          <a:noFill xmlns:a="http://schemas.openxmlformats.org/drawingml/2006/main"/>
          <a:ln xmlns:a="http://schemas.openxmlformats.org/drawingml/2006/main" w="25400">
            <a:solidFill>
              <a:srgbClr val="222222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oundrect 9">
            <a:extLst xmlns:a="http://schemas.openxmlformats.org/drawingml/2006/main">
              <a:ext uri="{FF2B5EF4-FFF2-40B4-BE49-F238E27FC236}">
                <a16:creationId xmlns:a16="http://schemas.microsoft.com/office/drawing/2014/main" id="{49FB8E61-2E93-4D21-B86F-58F0456A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2425" y="551155"/>
            <a:ext cx="2851166" cy="3762691"/>
          </a:xfrm>
          <a:prstGeom xmlns:a="http://schemas.openxmlformats.org/drawingml/2006/main" prst="roundRect">
            <a:avLst>
              <a:gd name="adj" fmla="val 7435"/>
            </a:avLst>
          </a:prstGeom>
          <a:noFill xmlns:a="http://schemas.openxmlformats.org/drawingml/2006/main"/>
          <a:ln xmlns:a="http://schemas.openxmlformats.org/drawingml/2006/main" w="25400">
            <a:solidFill>
              <a:srgbClr val="222222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oundrect 10">
            <a:extLst xmlns:a="http://schemas.openxmlformats.org/drawingml/2006/main">
              <a:ext uri="{FF2B5EF4-FFF2-40B4-BE49-F238E27FC236}">
                <a16:creationId xmlns:a16="http://schemas.microsoft.com/office/drawing/2014/main" id="{A0E607FA-E1C5-48BB-AAED-982FED64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2425" y="5670534"/>
            <a:ext cx="2851166" cy="1886645"/>
          </a:xfrm>
          <a:prstGeom xmlns:a="http://schemas.openxmlformats.org/drawingml/2006/main" prst="roundRect">
            <a:avLst>
              <a:gd name="adj" fmla="val 11236"/>
            </a:avLst>
          </a:prstGeom>
          <a:noFill xmlns:a="http://schemas.openxmlformats.org/drawingml/2006/main"/>
          <a:ln xmlns:a="http://schemas.openxmlformats.org/drawingml/2006/main" w="25400">
            <a:solidFill>
              <a:srgbClr val="222222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oundrect 11">
            <a:extLst xmlns:a="http://schemas.openxmlformats.org/drawingml/2006/main">
              <a:ext uri="{FF2B5EF4-FFF2-40B4-BE49-F238E27FC236}">
                <a16:creationId xmlns:a16="http://schemas.microsoft.com/office/drawing/2014/main" id="{D3E75581-5C67-4C68-AD26-FCBAFD29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5159" y="551155"/>
            <a:ext cx="2851166" cy="3762691"/>
          </a:xfrm>
          <a:prstGeom xmlns:a="http://schemas.openxmlformats.org/drawingml/2006/main" prst="roundRect">
            <a:avLst>
              <a:gd name="adj" fmla="val 7435"/>
            </a:avLst>
          </a:prstGeom>
          <a:noFill xmlns:a="http://schemas.openxmlformats.org/drawingml/2006/main"/>
          <a:ln xmlns:a="http://schemas.openxmlformats.org/drawingml/2006/main" w="25400">
            <a:solidFill>
              <a:srgbClr val="222222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oundrect 12">
            <a:extLst xmlns:a="http://schemas.openxmlformats.org/drawingml/2006/main">
              <a:ext uri="{FF2B5EF4-FFF2-40B4-BE49-F238E27FC236}">
                <a16:creationId xmlns:a16="http://schemas.microsoft.com/office/drawing/2014/main" id="{31F60344-3FF5-4357-A2DC-C268FE87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5159" y="5670534"/>
            <a:ext cx="2851166" cy="1886645"/>
          </a:xfrm>
          <a:prstGeom xmlns:a="http://schemas.openxmlformats.org/drawingml/2006/main" prst="roundRect">
            <a:avLst>
              <a:gd name="adj" fmla="val 11236"/>
            </a:avLst>
          </a:prstGeom>
          <a:noFill xmlns:a="http://schemas.openxmlformats.org/drawingml/2006/main"/>
          <a:ln xmlns:a="http://schemas.openxmlformats.org/drawingml/2006/main" w="25400">
            <a:solidFill>
              <a:srgbClr val="222222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oundrect 13">
            <a:extLst xmlns:a="http://schemas.openxmlformats.org/drawingml/2006/main">
              <a:ext uri="{FF2B5EF4-FFF2-40B4-BE49-F238E27FC236}">
                <a16:creationId xmlns:a16="http://schemas.microsoft.com/office/drawing/2014/main" id="{76BCB369-706F-4F6C-A2AA-42C1BE67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57894" y="551155"/>
            <a:ext cx="2851166" cy="3762691"/>
          </a:xfrm>
          <a:prstGeom xmlns:a="http://schemas.openxmlformats.org/drawingml/2006/main" prst="roundRect">
            <a:avLst>
              <a:gd name="adj" fmla="val 7435"/>
            </a:avLst>
          </a:prstGeom>
          <a:noFill xmlns:a="http://schemas.openxmlformats.org/drawingml/2006/main"/>
          <a:ln xmlns:a="http://schemas.openxmlformats.org/drawingml/2006/main" w="25400">
            <a:solidFill>
              <a:srgbClr val="222222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oundrect 14">
            <a:extLst xmlns:a="http://schemas.openxmlformats.org/drawingml/2006/main">
              <a:ext uri="{FF2B5EF4-FFF2-40B4-BE49-F238E27FC236}">
                <a16:creationId xmlns:a16="http://schemas.microsoft.com/office/drawing/2014/main" id="{3F8937E9-47C8-4C6D-BD1D-6A55F0B9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57894" y="5670534"/>
            <a:ext cx="2851166" cy="1886645"/>
          </a:xfrm>
          <a:prstGeom xmlns:a="http://schemas.openxmlformats.org/drawingml/2006/main" prst="roundRect">
            <a:avLst>
              <a:gd name="adj" fmla="val 11236"/>
            </a:avLst>
          </a:prstGeom>
          <a:noFill xmlns:a="http://schemas.openxmlformats.org/drawingml/2006/main"/>
          <a:ln xmlns:a="http://schemas.openxmlformats.org/drawingml/2006/main" w="25400">
            <a:solidFill>
              <a:srgbClr val="222222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Line 15">
            <a:extLst xmlns:a="http://schemas.openxmlformats.org/drawingml/2006/main">
              <a:ext uri="{FF2B5EF4-FFF2-40B4-BE49-F238E27FC236}">
                <a16:creationId xmlns:a16="http://schemas.microsoft.com/office/drawing/2014/main" id="{99516FAC-8327-41E0-B618-0E177BF5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0573" y="4345643"/>
            <a:ext cx="0" cy="12506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555555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Line 16">
            <a:extLst xmlns:a="http://schemas.openxmlformats.org/drawingml/2006/main">
              <a:ext uri="{FF2B5EF4-FFF2-40B4-BE49-F238E27FC236}">
                <a16:creationId xmlns:a16="http://schemas.microsoft.com/office/drawing/2014/main" id="{221D4FAB-20AF-40FA-82B2-1B662901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23307" y="4345643"/>
            <a:ext cx="0" cy="12506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555555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Line 17">
            <a:extLst xmlns:a="http://schemas.openxmlformats.org/drawingml/2006/main">
              <a:ext uri="{FF2B5EF4-FFF2-40B4-BE49-F238E27FC236}">
                <a16:creationId xmlns:a16="http://schemas.microsoft.com/office/drawing/2014/main" id="{526BC9E9-EDB7-4A44-B670-5E7A013A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56042" y="4345643"/>
            <a:ext cx="0" cy="12506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D18D2F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Line 18">
            <a:extLst xmlns:a="http://schemas.openxmlformats.org/drawingml/2006/main">
              <a:ext uri="{FF2B5EF4-FFF2-40B4-BE49-F238E27FC236}">
                <a16:creationId xmlns:a16="http://schemas.microsoft.com/office/drawing/2014/main" id="{1E0B2CC9-61DF-4598-A5E3-805F4E3A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88776" y="4345643"/>
            <a:ext cx="0" cy="12506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7070B5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Line 19">
            <a:extLst xmlns:a="http://schemas.openxmlformats.org/drawingml/2006/main">
              <a:ext uri="{FF2B5EF4-FFF2-40B4-BE49-F238E27FC236}">
                <a16:creationId xmlns:a16="http://schemas.microsoft.com/office/drawing/2014/main" id="{8618E515-12A8-4277-8384-D167E2BB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01172" y="4324445"/>
            <a:ext cx="0" cy="124009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555555"/>
            </a:solidFill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0" name="answer document revision icon">
            <a:extLst xmlns:a="http://schemas.openxmlformats.org/drawingml/2006/main">
              <a:ext uri="{FF2B5EF4-FFF2-40B4-BE49-F238E27FC236}">
                <a16:creationId xmlns:a16="http://schemas.microsoft.com/office/drawing/2014/main" id="{699E2FBC-53A4-4EC8-B6FF-89ABB085A2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3ed17d7b7e41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706237" y="1695861"/>
            <a:ext cx="2035033" cy="1187102"/>
          </a:xfrm>
          <a:prstGeom xmlns:a="http://schemas.openxmlformats.org/drawingml/2006/main" prst="rect">
            <a:avLst/>
          </a:prstGeom>
        </p:spPr>
      </p:pic>
      <p:pic>
        <p:nvPicPr>
          <p:cNvPr id="21" name="memory document stack icon">
            <a:extLst xmlns:a="http://schemas.openxmlformats.org/drawingml/2006/main">
              <a:ext uri="{FF2B5EF4-FFF2-40B4-BE49-F238E27FC236}">
                <a16:creationId xmlns:a16="http://schemas.microsoft.com/office/drawing/2014/main" id="{669A8428-86C0-4F8B-A2FE-B48CD4DF53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2be69d97c347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48187" y="1589869"/>
            <a:ext cx="1801852" cy="1536874"/>
          </a:xfrm>
          <a:prstGeom xmlns:a="http://schemas.openxmlformats.org/drawingml/2006/main" prst="rect">
            <a:avLst/>
          </a:prstGeom>
        </p:spPr>
      </p:pic>
      <p:pic>
        <p:nvPicPr>
          <p:cNvPr id="22" name="parameter neural network icon">
            <a:extLst xmlns:a="http://schemas.openxmlformats.org/drawingml/2006/main">
              <a:ext uri="{FF2B5EF4-FFF2-40B4-BE49-F238E27FC236}">
                <a16:creationId xmlns:a16="http://schemas.microsoft.com/office/drawing/2014/main" id="{962E0259-AFD4-4ADB-A76C-F74F5D37A3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84e6d167a54a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949125" y="1579270"/>
            <a:ext cx="2268214" cy="1293094"/>
          </a:xfrm>
          <a:prstGeom xmlns:a="http://schemas.openxmlformats.org/drawingml/2006/main" prst="rect">
            <a:avLst/>
          </a:prstGeom>
        </p:spPr>
      </p:pic>
      <p:pic>
        <p:nvPicPr>
          <p:cNvPr id="23" name="improver procedure graph icon">
            <a:extLst xmlns:a="http://schemas.openxmlformats.org/drawingml/2006/main">
              <a:ext uri="{FF2B5EF4-FFF2-40B4-BE49-F238E27FC236}">
                <a16:creationId xmlns:a16="http://schemas.microsoft.com/office/drawing/2014/main" id="{D6A4CD9A-10D5-4AF9-82C0-298CD6DD15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561db6dbfb45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2160661" y="1642865"/>
            <a:ext cx="1854848" cy="1165904"/>
          </a:xfrm>
          <a:prstGeom xmlns:a="http://schemas.openxmlformats.org/drawingml/2006/main" prst="rect">
            <a:avLst/>
          </a:prstGeom>
        </p:spPr>
      </p:pic>
      <p:pic>
        <p:nvPicPr>
          <p:cNvPr id="24" name="solver network icon">
            <a:extLst xmlns:a="http://schemas.openxmlformats.org/drawingml/2006/main">
              <a:ext uri="{FF2B5EF4-FFF2-40B4-BE49-F238E27FC236}">
                <a16:creationId xmlns:a16="http://schemas.microsoft.com/office/drawing/2014/main" id="{D2F7935A-7950-4FCA-BAB7-ACC1231A01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6b0078b3764c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674440" y="6147495"/>
            <a:ext cx="1801852" cy="826732"/>
          </a:xfrm>
          <a:prstGeom xmlns:a="http://schemas.openxmlformats.org/drawingml/2006/main" prst="rect">
            <a:avLst/>
          </a:prstGeom>
        </p:spPr>
      </p:pic>
      <p:pic>
        <p:nvPicPr>
          <p:cNvPr id="25" name="solver plus memory icon">
            <a:extLst xmlns:a="http://schemas.openxmlformats.org/drawingml/2006/main">
              <a:ext uri="{FF2B5EF4-FFF2-40B4-BE49-F238E27FC236}">
                <a16:creationId xmlns:a16="http://schemas.microsoft.com/office/drawing/2014/main" id="{0F9F81FC-2E7D-43D6-87E9-42590E56A5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d1ea46c26d44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822381" y="6105099"/>
            <a:ext cx="1695861" cy="826732"/>
          </a:xfrm>
          <a:prstGeom xmlns:a="http://schemas.openxmlformats.org/drawingml/2006/main" prst="rect">
            <a:avLst/>
          </a:prstGeom>
        </p:spPr>
      </p:pic>
      <p:pic>
        <p:nvPicPr>
          <p:cNvPr id="26" name="updated parameter matrix icon">
            <a:extLst xmlns:a="http://schemas.openxmlformats.org/drawingml/2006/main">
              <a:ext uri="{FF2B5EF4-FFF2-40B4-BE49-F238E27FC236}">
                <a16:creationId xmlns:a16="http://schemas.microsoft.com/office/drawing/2014/main" id="{93E2DC27-84F6-4E9D-833E-CE40B32E8F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f55ff11b0e44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9076314" y="6083900"/>
            <a:ext cx="1907843" cy="953922"/>
          </a:xfrm>
          <a:prstGeom xmlns:a="http://schemas.openxmlformats.org/drawingml/2006/main" prst="rect">
            <a:avLst/>
          </a:prstGeom>
        </p:spPr>
      </p:pic>
      <p:pic>
        <p:nvPicPr>
          <p:cNvPr id="27" name="next update process icon">
            <a:extLst xmlns:a="http://schemas.openxmlformats.org/drawingml/2006/main">
              <a:ext uri="{FF2B5EF4-FFF2-40B4-BE49-F238E27FC236}">
                <a16:creationId xmlns:a16="http://schemas.microsoft.com/office/drawing/2014/main" id="{A6A132AE-E1F5-474A-B8D2-DA1C4301EC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3acbb160f24d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2139462" y="6083900"/>
            <a:ext cx="1748856" cy="847930"/>
          </a:xfrm>
          <a:prstGeom xmlns:a="http://schemas.openxmlformats.org/drawingml/2006/main" prst="rect">
            <a:avLst/>
          </a:prstGeom>
        </p:spPr>
      </p:pic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38DC6013-B653-4650-B823-505722C8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76281" y="476961"/>
            <a:ext cx="2596787" cy="582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Forecasting</a:t>
            </a:r>
            <a:endParaRPr sz="3100"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804B3A42-CA43-424C-BE98-79636EA2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76281" y="1123508"/>
            <a:ext cx="2596787" cy="402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i="1">
                <a:solidFill>
                  <a:srgbClr val="6B6B6B"/>
                </a:solidFill>
                <a:latin typeface="Cambria"/>
                <a:ea typeface="Cambria"/>
                <a:cs typeface="Cambria"/>
              </a:rPr>
              <a:t>origin, horizon,</a:t>
            </a:r>
            <a:endParaRPr sz="1300"/>
          </a:p>
          <a:p xmlns:a="http://schemas.openxmlformats.org/drawingml/2006/main">
            <a:pPr algn="l">
              <a:buNone/>
            </a:pPr>
            <a:r>
              <a:rPr sz="1300" i="1">
                <a:solidFill>
                  <a:srgbClr val="6B6B6B"/>
                </a:solidFill>
                <a:latin typeface="Cambria"/>
                <a:ea typeface="Cambria"/>
                <a:cs typeface="Cambria"/>
              </a:rPr>
              <a:t>calibration</a:t>
            </a:r>
            <a:endParaRPr sz="1300"/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5895AB9E-482E-4800-9A6E-68D0D1FE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98416" y="476961"/>
            <a:ext cx="2596787" cy="582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Augmentation</a:t>
            </a:r>
            <a:endParaRPr sz="3100"/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CCC6B642-49D2-4270-B08E-AEB9A719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98416" y="1123508"/>
            <a:ext cx="2596787" cy="402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i="1">
                <a:solidFill>
                  <a:srgbClr val="6B6B6B"/>
                </a:solidFill>
                <a:latin typeface="Cambria"/>
                <a:ea typeface="Cambria"/>
                <a:cs typeface="Cambria"/>
              </a:rPr>
              <a:t>fidelity, diversity,</a:t>
            </a:r>
            <a:endParaRPr sz="1800"/>
          </a:p>
          <a:p xmlns:a="http://schemas.openxmlformats.org/drawingml/2006/main">
            <a:pPr algn="l">
              <a:buNone/>
            </a:pPr>
            <a:r>
              <a:rPr sz="1800" i="1">
                <a:solidFill>
                  <a:srgbClr val="6B6B6B"/>
                </a:solidFill>
                <a:latin typeface="Cambria"/>
                <a:ea typeface="Cambria"/>
                <a:cs typeface="Cambria"/>
              </a:rPr>
              <a:t>utility</a:t>
            </a:r>
            <a:endParaRPr sz="1800"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9FF294C6-C834-4131-95D3-F327331F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1151" y="476961"/>
            <a:ext cx="2596787" cy="582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Anomaly diagnosis</a:t>
            </a:r>
            <a:endParaRPr sz="3100"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12527545-BA87-4974-B137-BFFB485D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1151" y="1123508"/>
            <a:ext cx="2596787" cy="402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i="1">
                <a:solidFill>
                  <a:srgbClr val="6B6B6B"/>
                </a:solidFill>
                <a:latin typeface="Cambria"/>
                <a:ea typeface="Cambria"/>
                <a:cs typeface="Cambria"/>
              </a:rPr>
              <a:t>event, window,</a:t>
            </a:r>
            <a:endParaRPr sz="1300"/>
          </a:p>
          <a:p xmlns:a="http://schemas.openxmlformats.org/drawingml/2006/main">
            <a:pPr algn="l">
              <a:buNone/>
            </a:pPr>
            <a:r>
              <a:rPr sz="1300" i="1">
                <a:solidFill>
                  <a:srgbClr val="6B6B6B"/>
                </a:solidFill>
                <a:latin typeface="Cambria"/>
                <a:ea typeface="Cambria"/>
                <a:cs typeface="Cambria"/>
              </a:rPr>
              <a:t>cause</a:t>
            </a:r>
            <a:endParaRPr sz="1300"/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F0C14BFD-AF40-4F14-8A1D-8C42530A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863885" y="476961"/>
            <a:ext cx="2596787" cy="582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Decision support</a:t>
            </a:r>
            <a:endParaRPr sz="3100"/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DC85EFCC-FCD6-418B-AC37-6648C21D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863885" y="1123508"/>
            <a:ext cx="2596787" cy="402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i="1">
                <a:solidFill>
                  <a:srgbClr val="6B6B6B"/>
                </a:solidFill>
                <a:latin typeface="Cambria"/>
                <a:ea typeface="Cambria"/>
                <a:cs typeface="Cambria"/>
              </a:rPr>
              <a:t>action, cost,</a:t>
            </a:r>
            <a:endParaRPr sz="1300"/>
          </a:p>
          <a:p xmlns:a="http://schemas.openxmlformats.org/drawingml/2006/main">
            <a:pPr algn="l">
              <a:buNone/>
            </a:pPr>
            <a:r>
              <a:rPr sz="1300" i="1">
                <a:solidFill>
                  <a:srgbClr val="6B6B6B"/>
                </a:solidFill>
                <a:latin typeface="Cambria"/>
                <a:ea typeface="Cambria"/>
                <a:cs typeface="Cambria"/>
              </a:rPr>
              <a:t>uncertainty</a:t>
            </a:r>
            <a:endParaRPr sz="1300"/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EFF893D6-585A-4082-90DE-FF082F6E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94255" y="2702778"/>
            <a:ext cx="741939" cy="360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00" i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forecast y_t</a:t>
            </a:r>
            <a:endParaRPr sz="2300"/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421D593-DB06-4147-B7FE-7BBBC34C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82741" y="2702778"/>
            <a:ext cx="1059913" cy="360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60" i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forecast y_{t+h}</a:t>
            </a:r>
            <a:endParaRPr sz="1160"/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5BB36E8-4EE2-4448-BCB4-4A946612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94255" y="3603704"/>
            <a:ext cx="2172822" cy="339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06060"/>
                </a:solidFill>
                <a:latin typeface="Cambria"/>
                <a:ea typeface="Cambria"/>
                <a:cs typeface="Cambria"/>
              </a:rPr>
              <a:t>check → revise</a:t>
            </a:r>
            <a:endParaRPr sz="1900"/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63E2CE3D-2B7C-4C6D-917B-F89BFB68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50475" y="5776525"/>
            <a:ext cx="2596787" cy="370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same harness</a:t>
            </a:r>
            <a:endParaRPr sz="2200"/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89744D25-D8A9-4033-BED8-7E66F708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03470" y="7143813"/>
            <a:ext cx="2490795" cy="317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i="1">
                <a:solidFill>
                  <a:srgbClr val="696969"/>
                </a:solidFill>
                <a:latin typeface="Cambria"/>
                <a:ea typeface="Cambria"/>
                <a:cs typeface="Cambria"/>
              </a:rPr>
              <a:t>new task</a:t>
            </a:r>
            <a:endParaRPr sz="1700"/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F8A1CD47-5B1F-4E0E-8607-2132F45A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97479" y="7578377"/>
            <a:ext cx="2649782" cy="657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2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(a) Forecasting</a:t>
            </a:r>
            <a:endParaRPr sz="2120"/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E6D705B2-581C-4031-89C7-F7CACF96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40813" y="7578377"/>
            <a:ext cx="2649782" cy="657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2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(b) Augmentation</a:t>
            </a:r>
            <a:endParaRPr sz="2120"/>
          </a:p>
        </p:txBody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6107071B-3A71-4AAF-BDB5-585D870A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15944" y="7578377"/>
            <a:ext cx="2649782" cy="657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2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(c) Anomaly diagnosis</a:t>
            </a:r>
            <a:endParaRPr sz="2120"/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97B0DD3D-FF2E-4878-8A04-8148BD0D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48678" y="7578377"/>
            <a:ext cx="2649782" cy="657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2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(d) Decision support</a:t>
            </a:r>
            <a:endParaRPr sz="2120"/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B666113C-3DE4-4B12-9E7B-877A770F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0214" y="3921678"/>
            <a:ext cx="2543791" cy="360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300" i="1">
                <a:solidFill>
                  <a:srgbClr val="656565"/>
                </a:solidFill>
                <a:latin typeface="Cambria"/>
                <a:ea typeface="Cambria"/>
                <a:cs typeface="Cambria"/>
              </a:rPr>
              <a:t>H_t → H_{t+1}</a:t>
            </a:r>
            <a:endParaRPr sz="2300"/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603DB104-7707-49B1-90A8-A0A7E766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77218" y="5776525"/>
            <a:ext cx="2649782" cy="370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Agent + temporal state</a:t>
            </a:r>
            <a:endParaRPr sz="2200"/>
          </a:p>
        </p:txBody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8766B3E4-EB04-4E69-AE5E-ABC51A02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7174" y="7048421"/>
            <a:ext cx="1801852" cy="360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300" i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temporal memory</a:t>
            </a:r>
            <a:endParaRPr sz="2300"/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EE924DA1-1AC5-47D0-A0E4-A18E0559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74931" y="3964074"/>
            <a:ext cx="2649782" cy="360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300" i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task output</a:t>
            </a:r>
            <a:endParaRPr sz="2300"/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A8744081-E079-4E37-B6BA-8F8BB184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09952" y="5776525"/>
            <a:ext cx="2649782" cy="370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updated forecast</a:t>
            </a:r>
            <a:endParaRPr sz="2200"/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A2CAFC65-A212-4814-A3E7-FAA48062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33918" y="7048421"/>
            <a:ext cx="1801852" cy="360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300" i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task output</a:t>
            </a:r>
            <a:endParaRPr sz="2300"/>
          </a:p>
        </p:txBody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668A8CCC-C327-4057-A67D-DCBCAF56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842687" y="2670981"/>
            <a:ext cx="741939" cy="360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00" i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task contract</a:t>
            </a:r>
            <a:endParaRPr sz="2300"/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7E8F5060-C3D2-4835-8864-16A70EFC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02600" y="2861765"/>
            <a:ext cx="1589869" cy="508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i="1">
                <a:solidFill>
                  <a:srgbClr val="606060"/>
                </a:solidFill>
                <a:latin typeface="Cambria"/>
                <a:ea typeface="Cambria"/>
                <a:cs typeface="Cambria"/>
              </a:rPr>
              <a:t>plan / verify</a:t>
            </a:r>
            <a:endParaRPr sz="1800"/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EA50E358-F446-4D86-BDF8-DC5E0730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83700" y="5776525"/>
            <a:ext cx="2967756" cy="370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next task episode</a:t>
            </a:r>
            <a:endParaRPr sz="2000"/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F5855610-5DA9-4E46-855D-332EE695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13656" y="7048421"/>
            <a:ext cx="2119826" cy="360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60" i="1">
                <a:solidFill>
                  <a:srgbClr val="555555"/>
                </a:solidFill>
                <a:latin typeface="Cambria"/>
                <a:ea typeface="Cambria"/>
                <a:cs typeface="Cambria"/>
              </a:rPr>
              <a:t>new module record</a:t>
            </a:r>
            <a:endParaRPr sz="1160"/>
          </a:p>
        </p:txBody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27678E7C-E9A8-4F09-BD63-BC992296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73079" y="4451634"/>
            <a:ext cx="847930" cy="2755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i="1">
                <a:solidFill>
                  <a:srgbClr val="676767"/>
                </a:solidFill>
                <a:latin typeface="Cambria"/>
                <a:ea typeface="Cambria"/>
                <a:cs typeface="Cambria"/>
              </a:rPr>
              <a:t>retain</a:t>
            </a:r>
            <a:endParaRPr sz="1700"/>
          </a:p>
        </p:txBody>
      </p:sp>
      <p:sp>
        <p:nvSpPr>
          <p:cNvPr id="56" name="TextBox 56">
            <a:extLst xmlns:a="http://schemas.openxmlformats.org/drawingml/2006/main">
              <a:ext uri="{FF2B5EF4-FFF2-40B4-BE49-F238E27FC236}">
                <a16:creationId xmlns:a16="http://schemas.microsoft.com/office/drawing/2014/main" id="{EE52EB24-6097-4986-96DE-01031EF8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58809" y="4451634"/>
            <a:ext cx="847930" cy="2755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i="1">
                <a:solidFill>
                  <a:srgbClr val="676767"/>
                </a:solidFill>
                <a:latin typeface="Cambria"/>
                <a:ea typeface="Cambria"/>
                <a:cs typeface="Cambria"/>
              </a:rPr>
              <a:t>retain</a:t>
            </a:r>
            <a:endParaRPr sz="1700"/>
          </a:p>
        </p:txBody>
      </p:sp>
      <p:sp>
        <p:nvSpPr>
          <p:cNvPr id="57" name="TextBox 57">
            <a:extLst xmlns:a="http://schemas.openxmlformats.org/drawingml/2006/main">
              <a:ext uri="{FF2B5EF4-FFF2-40B4-BE49-F238E27FC236}">
                <a16:creationId xmlns:a16="http://schemas.microsoft.com/office/drawing/2014/main" id="{D629858E-FB13-47A5-97D6-AB08E58B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04396" y="4557626"/>
            <a:ext cx="1801852" cy="370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i="1">
                <a:solidFill>
                  <a:srgbClr val="676767"/>
                </a:solidFill>
                <a:latin typeface="Cambria"/>
                <a:ea typeface="Cambria"/>
                <a:cs typeface="Cambria"/>
              </a:rPr>
              <a:t>task-bound</a:t>
            </a:r>
            <a:endParaRPr sz="2000"/>
          </a:p>
        </p:txBody>
      </p:sp>
      <p:sp>
        <p:nvSpPr>
          <p:cNvPr id="58" name="TextBox 58">
            <a:extLst xmlns:a="http://schemas.openxmlformats.org/drawingml/2006/main">
              <a:ext uri="{FF2B5EF4-FFF2-40B4-BE49-F238E27FC236}">
                <a16:creationId xmlns:a16="http://schemas.microsoft.com/office/drawing/2014/main" id="{B371695D-7E57-4EE2-9D4F-37E91C5E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76281" y="5257168"/>
            <a:ext cx="1377887" cy="296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i="1">
                <a:solidFill>
                  <a:srgbClr val="676767"/>
                </a:solidFill>
                <a:latin typeface="Cambria"/>
                <a:ea typeface="Cambria"/>
                <a:cs typeface="Cambria"/>
              </a:rPr>
              <a:t>cross-task reuse</a:t>
            </a:r>
            <a:endParaRPr sz="1700"/>
          </a:p>
        </p:txBody>
      </p:sp>
      <p:sp>
        <p:nvSpPr>
          <p:cNvPr id="59" name="TextBox 59">
            <a:extLst xmlns:a="http://schemas.openxmlformats.org/drawingml/2006/main">
              <a:ext uri="{FF2B5EF4-FFF2-40B4-BE49-F238E27FC236}">
                <a16:creationId xmlns:a16="http://schemas.microsoft.com/office/drawing/2014/main" id="{57D98FDA-0589-4FDE-9D30-A5EFEB2D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7893" y="8903269"/>
            <a:ext cx="12634162" cy="317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/>
            </a:r>
            <a:endParaRPr sz="1500"/>
          </a:p>
        </p:txBody>
      </p:sp>
      <p:sp>
        <p:nvSpPr>
          <p:cNvPr id="60" name="TextBox 60">
            <a:extLst xmlns:a="http://schemas.openxmlformats.org/drawingml/2006/main">
              <a:ext uri="{FF2B5EF4-FFF2-40B4-BE49-F238E27FC236}">
                <a16:creationId xmlns:a16="http://schemas.microsoft.com/office/drawing/2014/main" id="{6067EF63-8AE3-48C0-B87C-EF32F358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7893" y="9231842"/>
            <a:ext cx="12634162" cy="317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/>
            </a:r>
            <a:endParaRPr sz="1400"/>
          </a:p>
        </p:txBody>
      </p:sp>
      <p:sp>
        <p:nvSpPr>
          <p:cNvPr id="61" name="TextBox 61">
            <a:extLst xmlns:a="http://schemas.openxmlformats.org/drawingml/2006/main">
              <a:ext uri="{FF2B5EF4-FFF2-40B4-BE49-F238E27FC236}">
                <a16:creationId xmlns:a16="http://schemas.microsoft.com/office/drawing/2014/main" id="{020E7366-2561-440D-8002-1C10A4B8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7893" y="9560415"/>
            <a:ext cx="12634162" cy="317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/>
            </a:r>
            <a:endParaRPr sz="1400"/>
          </a:p>
        </p:txBody>
      </p:sp>
      <p:sp>
        <p:nvSpPr>
          <p:cNvPr id="62" name="TextBox 62">
            <a:extLst xmlns:a="http://schemas.openxmlformats.org/drawingml/2006/main">
              <a:ext uri="{FF2B5EF4-FFF2-40B4-BE49-F238E27FC236}">
                <a16:creationId xmlns:a16="http://schemas.microsoft.com/office/drawing/2014/main" id="{92E6B0AD-BFA7-472F-B2BF-51599FC2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7893" y="9888988"/>
            <a:ext cx="12634162" cy="317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/>
            </a:r>
            <a:endParaRPr sz="1400"/>
          </a:p>
        </p:txBody>
      </p:sp>
      <p:sp>
        <p:nvSpPr>
          <p:cNvPr id="63" name="TextBox 63">
            <a:extLst xmlns:a="http://schemas.openxmlformats.org/drawingml/2006/main">
              <a:ext uri="{FF2B5EF4-FFF2-40B4-BE49-F238E27FC236}">
                <a16:creationId xmlns:a16="http://schemas.microsoft.com/office/drawing/2014/main" id="{0F1C4ED2-332A-4E97-889F-0DD91227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7893" y="10217561"/>
            <a:ext cx="12634162" cy="317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/>
            </a:r>
            <a:endParaRPr sz="1400"/>
          </a:p>
        </p:txBody>
      </p:sp>
      <p:sp>
        <p:nvSpPr>
          <p:cNvPr id="64" name="TextBox 64">
            <a:extLst xmlns:a="http://schemas.openxmlformats.org/drawingml/2006/main">
              <a:ext uri="{FF2B5EF4-FFF2-40B4-BE49-F238E27FC236}">
                <a16:creationId xmlns:a16="http://schemas.microsoft.com/office/drawing/2014/main" id="{53646A9D-7025-4432-BCF1-5EF9A00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7893" y="10546134"/>
            <a:ext cx="12634162" cy="317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/>
            </a:r>
            <a:endParaRPr sz="1400"/>
          </a:p>
        </p:txBody>
      </p:sp>
      <p:sp>
        <p:nvSpPr>
          <p:cNvPr id="65" name="TextBox 65">
            <a:extLst xmlns:a="http://schemas.openxmlformats.org/drawingml/2006/main">
              <a:ext uri="{FF2B5EF4-FFF2-40B4-BE49-F238E27FC236}">
                <a16:creationId xmlns:a16="http://schemas.microsoft.com/office/drawing/2014/main" id="{FF191263-542E-437A-860F-CC8A92AD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7893" y="10874707"/>
            <a:ext cx="12634162" cy="317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/>
            </a:r>
            <a:endParaRPr sz="1400"/>
          </a:p>
        </p:txBody>
      </p:sp>
      <p:sp>
        <p:nvSpPr>
          <p:cNvPr id="66" name="TextBox 66">
            <a:extLst xmlns:a="http://schemas.openxmlformats.org/drawingml/2006/main">
              <a:ext uri="{FF2B5EF4-FFF2-40B4-BE49-F238E27FC236}">
                <a16:creationId xmlns:a16="http://schemas.microsoft.com/office/drawing/2014/main" id="{B5744C7E-9726-4DF2-BCD3-D16F7DB5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7893" y="11203280"/>
            <a:ext cx="12634162" cy="317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/>
            </a:r>
            <a:endParaRPr sz="1400"/>
          </a:p>
        </p:txBody>
      </p:sp>
      <p:sp>
        <p:nvSpPr>
          <p:cNvPr id="67" name="TextBox 67">
            <a:extLst xmlns:a="http://schemas.openxmlformats.org/drawingml/2006/main">
              <a:ext uri="{FF2B5EF4-FFF2-40B4-BE49-F238E27FC236}">
                <a16:creationId xmlns:a16="http://schemas.microsoft.com/office/drawing/2014/main" id="{F2C06AE6-4A31-4F25-83C3-7D203DA6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7893" y="11531853"/>
            <a:ext cx="12634162" cy="317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/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479159831"/>
      </p:ext>
    </p:extLst>
  </p:cSld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2026-10-08T15:10:13.3920000Z</dcterms:created>
  <dcterms:modified xsi:type="dcterms:W3CDTF">2026-10-08T15:10:13.3920000Z</dcterms:modified>
</coreProperties>
</file>