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03acfef43c44b3" /><Relationship Type="http://schemas.openxmlformats.org/officeDocument/2006/relationships/extended-properties" Target="/docProps/app.xml" Id="Re2d6f654e7f5479b" /><Relationship Type="http://schemas.openxmlformats.org/officeDocument/2006/relationships/officeDocument" Target="/ppt/presentation.xml" Id="R0b46b2ed5d034e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bf4f65f8a44258"/>
  </p:sldMasterIdLst>
  <p:notesMasterIdLst>
    <p:notesMasterId xmlns:r="http://schemas.openxmlformats.org/officeDocument/2006/relationships" r:id="Rd655111e31eb4ef6"/>
  </p:notesMasterIdLst>
  <p:sldIdLst>
    <p:sldId xmlns:r="http://schemas.openxmlformats.org/officeDocument/2006/relationships" id="256" r:id="Rb5959f919079415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9fda8493e84695" /><Relationship Type="http://schemas.openxmlformats.org/officeDocument/2006/relationships/slideMaster" Target="/ppt/slideMasters/slideMaster1.xml" Id="Rbabf4f65f8a44258" /><Relationship Type="http://schemas.openxmlformats.org/officeDocument/2006/relationships/notesMaster" Target="/ppt/notesMasters/notesMaster1.xml" Id="Rd655111e31eb4ef6" /><Relationship Type="http://schemas.openxmlformats.org/officeDocument/2006/relationships/presProps" Target="/ppt/presProps.xml" Id="R76507a05bfc149fe" /><Relationship Type="http://schemas.openxmlformats.org/officeDocument/2006/relationships/tableStyles" Target="/ppt/tableStyles.xml" Id="R9ab18bf8d9c74b44" /><Relationship Type="http://schemas.openxmlformats.org/officeDocument/2006/relationships/slide" Target="/ppt/slides/slide1.xml" Id="Rb5959f91907941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af16a4629c4b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d6e411436443d2" /><Relationship Type="http://schemas.openxmlformats.org/officeDocument/2006/relationships/notesMaster" Target="/ppt/notesMasters/notesMaster1.xml" Id="Ra8ca5edf400b45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Task-specific Harness map. The seven-module lens is shared across the four task families; the task contracts and representative task-bound modules differ. All elements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dab4ab90245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1212b2b8e04a9a" /><Relationship Type="http://schemas.openxmlformats.org/officeDocument/2006/relationships/slideLayout" Target="/ppt/slideLayouts/slideLayout1.xml" Id="R8fa09acf115041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a09acf115041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b0b2d186140de" /><Relationship Type="http://schemas.openxmlformats.org/officeDocument/2006/relationships/notesSlide" Target="/ppt/notesSlides/notesSlide1.xml" Id="Rd9975ca0cafe4a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421A5879-2747-4D83-AA54-3A0F31E1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Task-specific Time-Series Harness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31E202F0-A35D-42EF-8C53-78B8E539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8675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The same seven Harness dimensions are instantiated under different temporal output contracts.</a:t>
            </a:r>
          </a:p>
        </p:txBody>
      </p:sp>
      <p:sp>
        <p:nvSpPr>
          <p:cNvPr id="3" name="shared-lens">
            <a:extLst xmlns:a="http://schemas.openxmlformats.org/drawingml/2006/main">
              <a:ext uri="{FF2B5EF4-FFF2-40B4-BE49-F238E27FC236}">
                <a16:creationId xmlns:a16="http://schemas.microsoft.com/office/drawing/2014/main" id="{2DA3B5C7-045A-4C0F-8942-E1C343E6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2781300" cy="5619750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4" name="shared-lens-title">
            <a:extLst xmlns:a="http://schemas.openxmlformats.org/drawingml/2006/main">
              <a:ext uri="{FF2B5EF4-FFF2-40B4-BE49-F238E27FC236}">
                <a16:creationId xmlns:a16="http://schemas.microsoft.com/office/drawing/2014/main" id="{3B1C04C1-2011-471D-BC79-5122FF8A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Seven-module lens</a:t>
            </a:r>
          </a:p>
        </p:txBody>
      </p:sp>
      <p:sp>
        <p:nvSpPr>
          <p:cNvPr id="5" name="shared-lens-subtitle">
            <a:extLst xmlns:a="http://schemas.openxmlformats.org/drawingml/2006/main">
              <a:ext uri="{FF2B5EF4-FFF2-40B4-BE49-F238E27FC236}">
                <a16:creationId xmlns:a16="http://schemas.microsoft.com/office/drawing/2014/main" id="{1BAF58C5-7734-42AE-A894-7769D824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applied to every task family</a:t>
            </a:r>
          </a:p>
        </p:txBody>
      </p:sp>
      <p:sp>
        <p:nvSpPr>
          <p:cNvPr id="6" name="shared-module-1">
            <a:extLst xmlns:a="http://schemas.openxmlformats.org/drawingml/2006/main">
              <a:ext uri="{FF2B5EF4-FFF2-40B4-BE49-F238E27FC236}">
                <a16:creationId xmlns:a16="http://schemas.microsoft.com/office/drawing/2014/main" id="{ADB378C7-5BFF-45A1-B1D8-76D70CA2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1717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7" name="shared-module-text-1">
            <a:extLst xmlns:a="http://schemas.openxmlformats.org/drawingml/2006/main">
              <a:ext uri="{FF2B5EF4-FFF2-40B4-BE49-F238E27FC236}">
                <a16:creationId xmlns:a16="http://schemas.microsoft.com/office/drawing/2014/main" id="{ED5751B5-47B6-4BB4-9C8E-1EA938E5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Interface</a:t>
            </a:r>
          </a:p>
        </p:txBody>
      </p:sp>
      <p:sp>
        <p:nvSpPr>
          <p:cNvPr id="8" name="shared-module-2">
            <a:extLst xmlns:a="http://schemas.openxmlformats.org/drawingml/2006/main">
              <a:ext uri="{FF2B5EF4-FFF2-40B4-BE49-F238E27FC236}">
                <a16:creationId xmlns:a16="http://schemas.microsoft.com/office/drawing/2014/main" id="{B37B57E2-BB09-49CD-BD9E-4CD51673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1717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9" name="shared-module-text-2">
            <a:extLst xmlns:a="http://schemas.openxmlformats.org/drawingml/2006/main">
              <a:ext uri="{FF2B5EF4-FFF2-40B4-BE49-F238E27FC236}">
                <a16:creationId xmlns:a16="http://schemas.microsoft.com/office/drawing/2014/main" id="{D5617055-548A-4E82-B875-A4BD2ADD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</p:txBody>
      </p:sp>
      <p:sp>
        <p:nvSpPr>
          <p:cNvPr id="10" name="shared-module-3">
            <a:extLst xmlns:a="http://schemas.openxmlformats.org/drawingml/2006/main">
              <a:ext uri="{FF2B5EF4-FFF2-40B4-BE49-F238E27FC236}">
                <a16:creationId xmlns:a16="http://schemas.microsoft.com/office/drawing/2014/main" id="{67F3B29A-C5CB-41E6-B5B1-4B8FBA8D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1717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11" name="shared-module-text-3">
            <a:extLst xmlns:a="http://schemas.openxmlformats.org/drawingml/2006/main">
              <a:ext uri="{FF2B5EF4-FFF2-40B4-BE49-F238E27FC236}">
                <a16:creationId xmlns:a16="http://schemas.microsoft.com/office/drawing/2014/main" id="{78568720-A149-4404-A89E-D7991037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Tools</a:t>
            </a:r>
          </a:p>
        </p:txBody>
      </p:sp>
      <p:sp>
        <p:nvSpPr>
          <p:cNvPr id="12" name="shared-module-4">
            <a:extLst xmlns:a="http://schemas.openxmlformats.org/drawingml/2006/main">
              <a:ext uri="{FF2B5EF4-FFF2-40B4-BE49-F238E27FC236}">
                <a16:creationId xmlns:a16="http://schemas.microsoft.com/office/drawing/2014/main" id="{3E3B0F4D-F070-4BB7-895B-45AECE98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21717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13" name="shared-module-text-4">
            <a:extLst xmlns:a="http://schemas.openxmlformats.org/drawingml/2006/main">
              <a:ext uri="{FF2B5EF4-FFF2-40B4-BE49-F238E27FC236}">
                <a16:creationId xmlns:a16="http://schemas.microsoft.com/office/drawing/2014/main" id="{CE2EC1AE-AF81-469A-BD9F-AA6084C7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910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Control and verification</a:t>
            </a:r>
          </a:p>
        </p:txBody>
      </p:sp>
      <p:sp>
        <p:nvSpPr>
          <p:cNvPr id="14" name="shared-module-5">
            <a:extLst xmlns:a="http://schemas.openxmlformats.org/drawingml/2006/main">
              <a:ext uri="{FF2B5EF4-FFF2-40B4-BE49-F238E27FC236}">
                <a16:creationId xmlns:a16="http://schemas.microsoft.com/office/drawing/2014/main" id="{D654DB76-3381-44D5-8E33-B6E2BD7E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21717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15" name="shared-module-text-5">
            <a:extLst xmlns:a="http://schemas.openxmlformats.org/drawingml/2006/main">
              <a:ext uri="{FF2B5EF4-FFF2-40B4-BE49-F238E27FC236}">
                <a16:creationId xmlns:a16="http://schemas.microsoft.com/office/drawing/2014/main" id="{9D50F776-BEE0-4CCE-89DB-C327E5A0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4347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Planning</a:t>
            </a:r>
          </a:p>
        </p:txBody>
      </p:sp>
      <p:sp>
        <p:nvSpPr>
          <p:cNvPr id="16" name="shared-module-6">
            <a:extLst xmlns:a="http://schemas.openxmlformats.org/drawingml/2006/main">
              <a:ext uri="{FF2B5EF4-FFF2-40B4-BE49-F238E27FC236}">
                <a16:creationId xmlns:a16="http://schemas.microsoft.com/office/drawing/2014/main" id="{17B1DFD6-2FE9-473E-A971-58138AE2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21717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17" name="shared-module-text-6">
            <a:extLst xmlns:a="http://schemas.openxmlformats.org/drawingml/2006/main">
              <a:ext uri="{FF2B5EF4-FFF2-40B4-BE49-F238E27FC236}">
                <a16:creationId xmlns:a16="http://schemas.microsoft.com/office/drawing/2014/main" id="{4CF50C1D-D172-49A9-BE18-AE45EBE1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959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Optimization</a:t>
            </a:r>
          </a:p>
        </p:txBody>
      </p:sp>
      <p:sp>
        <p:nvSpPr>
          <p:cNvPr id="18" name="shared-module-7">
            <a:extLst xmlns:a="http://schemas.openxmlformats.org/drawingml/2006/main">
              <a:ext uri="{FF2B5EF4-FFF2-40B4-BE49-F238E27FC236}">
                <a16:creationId xmlns:a16="http://schemas.microsoft.com/office/drawing/2014/main" id="{91A0D751-7B17-4B43-9938-A900EDFC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2171700" cy="361950"/>
          </a:xfrm>
          <a:prstGeom xmlns:a="http://schemas.openxmlformats.org/drawingml/2006/main" prst="roundRect">
            <a:avLst>
              <a:gd name="adj" fmla="val 28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19" name="shared-module-text-7">
            <a:extLst xmlns:a="http://schemas.openxmlformats.org/drawingml/2006/main">
              <a:ext uri="{FF2B5EF4-FFF2-40B4-BE49-F238E27FC236}">
                <a16:creationId xmlns:a16="http://schemas.microsoft.com/office/drawing/2014/main" id="{8C651E12-F96D-4A8C-9039-2F03D495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4837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Coordination</a:t>
            </a:r>
          </a:p>
        </p:txBody>
      </p:sp>
      <p:sp>
        <p:nvSpPr>
          <p:cNvPr id="20" name="shared-lens-rail">
            <a:extLst xmlns:a="http://schemas.openxmlformats.org/drawingml/2006/main">
              <a:ext uri="{FF2B5EF4-FFF2-40B4-BE49-F238E27FC236}">
                <a16:creationId xmlns:a16="http://schemas.microsoft.com/office/drawing/2014/main" id="{A609D333-13B9-4528-9072-A0D2948D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1333500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21" name="task-frame-1">
            <a:extLst xmlns:a="http://schemas.openxmlformats.org/drawingml/2006/main">
              <a:ext uri="{FF2B5EF4-FFF2-40B4-BE49-F238E27FC236}">
                <a16:creationId xmlns:a16="http://schemas.microsoft.com/office/drawing/2014/main" id="{BC0543D3-B4BF-4450-A891-B9640FAB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24000"/>
            <a:ext cx="2428875" cy="561975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22" name="shared-rail-drop-1">
            <a:extLst xmlns:a="http://schemas.openxmlformats.org/drawingml/2006/main">
              <a:ext uri="{FF2B5EF4-FFF2-40B4-BE49-F238E27FC236}">
                <a16:creationId xmlns:a16="http://schemas.microsoft.com/office/drawing/2014/main" id="{2074C0D0-BBBA-406D-AEE6-ACE1F2D3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14925" y="133350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23" name="task-header-1">
            <a:extLst xmlns:a="http://schemas.openxmlformats.org/drawingml/2006/main">
              <a:ext uri="{FF2B5EF4-FFF2-40B4-BE49-F238E27FC236}">
                <a16:creationId xmlns:a16="http://schemas.microsoft.com/office/drawing/2014/main" id="{B84DB72A-A59B-4DF9-B482-8998CEF0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90700"/>
            <a:ext cx="2085975" cy="8382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4288">
            <a:solidFill>
              <a:srgbClr val="B78324"/>
            </a:solidFill>
            <a:prstDash val="solid"/>
          </a:ln>
        </p:spPr>
      </p:sp>
      <p:sp>
        <p:nvSpPr>
          <p:cNvPr id="24" name="task-title-1">
            <a:extLst xmlns:a="http://schemas.openxmlformats.org/drawingml/2006/main">
              <a:ext uri="{FF2B5EF4-FFF2-40B4-BE49-F238E27FC236}">
                <a16:creationId xmlns:a16="http://schemas.microsoft.com/office/drawing/2014/main" id="{658D89B3-288E-439A-9364-DD5EF742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716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rPr>
              <a:t>Forecasting</a:t>
            </a:r>
          </a:p>
        </p:txBody>
      </p:sp>
      <p:sp>
        <p:nvSpPr>
          <p:cNvPr id="25" name="task-contract-1">
            <a:extLst xmlns:a="http://schemas.openxmlformats.org/drawingml/2006/main">
              <a:ext uri="{FF2B5EF4-FFF2-40B4-BE49-F238E27FC236}">
                <a16:creationId xmlns:a16="http://schemas.microsoft.com/office/drawing/2014/main" id="{1B3E8DDF-DF20-4D91-8762-D8896014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origin · horizon · calibration</a:t>
            </a:r>
          </a:p>
        </p:txBody>
      </p:sp>
      <p:sp>
        <p:nvSpPr>
          <p:cNvPr id="26" name="task-contract-label-1">
            <a:extLst xmlns:a="http://schemas.openxmlformats.org/drawingml/2006/main">
              <a:ext uri="{FF2B5EF4-FFF2-40B4-BE49-F238E27FC236}">
                <a16:creationId xmlns:a16="http://schemas.microsoft.com/office/drawing/2014/main" id="{65F4C3D4-94D8-455F-986D-61E0A34E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71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 contract</a:t>
            </a:r>
          </a:p>
        </p:txBody>
      </p:sp>
      <p:sp>
        <p:nvSpPr>
          <p:cNvPr id="27" name="task-item-1-1">
            <a:extLst xmlns:a="http://schemas.openxmlformats.org/drawingml/2006/main">
              <a:ext uri="{FF2B5EF4-FFF2-40B4-BE49-F238E27FC236}">
                <a16:creationId xmlns:a16="http://schemas.microsoft.com/office/drawing/2014/main" id="{740564D8-3410-4339-9C4D-F944F1B3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337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28" name="task-item-text-1-1">
            <a:extLst xmlns:a="http://schemas.openxmlformats.org/drawingml/2006/main">
              <a:ext uri="{FF2B5EF4-FFF2-40B4-BE49-F238E27FC236}">
                <a16:creationId xmlns:a16="http://schemas.microsoft.com/office/drawing/2014/main" id="{5A11A300-490B-46A9-A68A-23F94A86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horizon and origin</a:t>
            </a:r>
          </a:p>
        </p:txBody>
      </p:sp>
      <p:sp>
        <p:nvSpPr>
          <p:cNvPr id="29" name="task-item-1-2">
            <a:extLst xmlns:a="http://schemas.openxmlformats.org/drawingml/2006/main">
              <a:ext uri="{FF2B5EF4-FFF2-40B4-BE49-F238E27FC236}">
                <a16:creationId xmlns:a16="http://schemas.microsoft.com/office/drawing/2014/main" id="{AE194CBE-3D2E-4D8D-AC39-8CF024EB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433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30" name="task-item-text-1-2">
            <a:extLst xmlns:a="http://schemas.openxmlformats.org/drawingml/2006/main">
              <a:ext uri="{FF2B5EF4-FFF2-40B4-BE49-F238E27FC236}">
                <a16:creationId xmlns:a16="http://schemas.microsoft.com/office/drawing/2014/main" id="{42A0F357-9CFE-49D5-84E6-BFDD4F67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386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model selection</a:t>
            </a:r>
          </a:p>
        </p:txBody>
      </p:sp>
      <p:sp>
        <p:nvSpPr>
          <p:cNvPr id="31" name="task-item-1-3">
            <a:extLst xmlns:a="http://schemas.openxmlformats.org/drawingml/2006/main">
              <a:ext uri="{FF2B5EF4-FFF2-40B4-BE49-F238E27FC236}">
                <a16:creationId xmlns:a16="http://schemas.microsoft.com/office/drawing/2014/main" id="{A632BEDB-1094-4F70-B951-3830035C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32" name="task-item-text-1-3">
            <a:extLst xmlns:a="http://schemas.openxmlformats.org/drawingml/2006/main">
              <a:ext uri="{FF2B5EF4-FFF2-40B4-BE49-F238E27FC236}">
                <a16:creationId xmlns:a16="http://schemas.microsoft.com/office/drawing/2014/main" id="{3AA2DDC7-E1BE-44BD-9430-C76DDCA5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482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probabilistic output</a:t>
            </a:r>
          </a:p>
        </p:txBody>
      </p:sp>
      <p:sp>
        <p:nvSpPr>
          <p:cNvPr id="33" name="task-item-1-4">
            <a:extLst xmlns:a="http://schemas.openxmlformats.org/drawingml/2006/main">
              <a:ext uri="{FF2B5EF4-FFF2-40B4-BE49-F238E27FC236}">
                <a16:creationId xmlns:a16="http://schemas.microsoft.com/office/drawing/2014/main" id="{7674A4C0-D8CD-4DBE-A560-E334AB2C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625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34" name="task-item-text-1-4">
            <a:extLst xmlns:a="http://schemas.openxmlformats.org/drawingml/2006/main">
              <a:ext uri="{FF2B5EF4-FFF2-40B4-BE49-F238E27FC236}">
                <a16:creationId xmlns:a16="http://schemas.microsoft.com/office/drawing/2014/main" id="{575CFF34-C13F-4D58-AA1E-D3C05E61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578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revision</a:t>
            </a:r>
          </a:p>
        </p:txBody>
      </p:sp>
      <p:sp>
        <p:nvSpPr>
          <p:cNvPr id="35" name="task-frame-2">
            <a:extLst xmlns:a="http://schemas.openxmlformats.org/drawingml/2006/main">
              <a:ext uri="{FF2B5EF4-FFF2-40B4-BE49-F238E27FC236}">
                <a16:creationId xmlns:a16="http://schemas.microsoft.com/office/drawing/2014/main" id="{7E09D51D-675C-40E2-AF36-CA4C7B99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524000"/>
            <a:ext cx="2428875" cy="561975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36" name="shared-rail-drop-2">
            <a:extLst xmlns:a="http://schemas.openxmlformats.org/drawingml/2006/main">
              <a:ext uri="{FF2B5EF4-FFF2-40B4-BE49-F238E27FC236}">
                <a16:creationId xmlns:a16="http://schemas.microsoft.com/office/drawing/2014/main" id="{65AAABBA-5D0A-458E-BF24-F299C6FC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10500" y="133350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37" name="task-header-2">
            <a:extLst xmlns:a="http://schemas.openxmlformats.org/drawingml/2006/main">
              <a:ext uri="{FF2B5EF4-FFF2-40B4-BE49-F238E27FC236}">
                <a16:creationId xmlns:a16="http://schemas.microsoft.com/office/drawing/2014/main" id="{B2318E05-A895-433D-856F-15B107E5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790700"/>
            <a:ext cx="2085975" cy="8382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4288">
            <a:solidFill>
              <a:srgbClr val="B78324"/>
            </a:solidFill>
            <a:prstDash val="solid"/>
          </a:ln>
        </p:spPr>
      </p:sp>
      <p:sp>
        <p:nvSpPr>
          <p:cNvPr id="38" name="task-title-2">
            <a:extLst xmlns:a="http://schemas.openxmlformats.org/drawingml/2006/main">
              <a:ext uri="{FF2B5EF4-FFF2-40B4-BE49-F238E27FC236}">
                <a16:creationId xmlns:a16="http://schemas.microsoft.com/office/drawing/2014/main" id="{B463AABB-D386-4ED1-907B-DE79C7D6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716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rPr>
              <a:t>Augmentation</a:t>
            </a:r>
          </a:p>
        </p:txBody>
      </p:sp>
      <p:sp>
        <p:nvSpPr>
          <p:cNvPr id="39" name="task-contract-2">
            <a:extLst xmlns:a="http://schemas.openxmlformats.org/drawingml/2006/main">
              <a:ext uri="{FF2B5EF4-FFF2-40B4-BE49-F238E27FC236}">
                <a16:creationId xmlns:a16="http://schemas.microsoft.com/office/drawing/2014/main" id="{FC97A926-52F3-4A74-A860-FD8F3BF4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050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fidelity · diversity · utility</a:t>
            </a:r>
          </a:p>
        </p:txBody>
      </p:sp>
      <p:sp>
        <p:nvSpPr>
          <p:cNvPr id="40" name="task-contract-label-2">
            <a:extLst xmlns:a="http://schemas.openxmlformats.org/drawingml/2006/main">
              <a:ext uri="{FF2B5EF4-FFF2-40B4-BE49-F238E27FC236}">
                <a16:creationId xmlns:a16="http://schemas.microsoft.com/office/drawing/2014/main" id="{F64021D5-A34A-48BA-A771-FC9F382B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 contract</a:t>
            </a:r>
          </a:p>
        </p:txBody>
      </p:sp>
      <p:sp>
        <p:nvSpPr>
          <p:cNvPr id="41" name="task-item-2-1">
            <a:extLst xmlns:a="http://schemas.openxmlformats.org/drawingml/2006/main">
              <a:ext uri="{FF2B5EF4-FFF2-40B4-BE49-F238E27FC236}">
                <a16:creationId xmlns:a16="http://schemas.microsoft.com/office/drawing/2014/main" id="{9DE3E5D5-4FA1-4016-BF54-76E55173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3337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42" name="task-item-text-2-1">
            <a:extLst xmlns:a="http://schemas.openxmlformats.org/drawingml/2006/main">
              <a:ext uri="{FF2B5EF4-FFF2-40B4-BE49-F238E27FC236}">
                <a16:creationId xmlns:a16="http://schemas.microsoft.com/office/drawing/2014/main" id="{C7735248-3393-4A35-B6FE-34145827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4290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generator and retrieval</a:t>
            </a:r>
          </a:p>
        </p:txBody>
      </p:sp>
      <p:sp>
        <p:nvSpPr>
          <p:cNvPr id="43" name="task-item-2-2">
            <a:extLst xmlns:a="http://schemas.openxmlformats.org/drawingml/2006/main">
              <a:ext uri="{FF2B5EF4-FFF2-40B4-BE49-F238E27FC236}">
                <a16:creationId xmlns:a16="http://schemas.microsoft.com/office/drawing/2014/main" id="{089EC6D8-94A4-4DB5-9A3D-BB7B6CD4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9433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44" name="task-item-text-2-2">
            <a:extLst xmlns:a="http://schemas.openxmlformats.org/drawingml/2006/main">
              <a:ext uri="{FF2B5EF4-FFF2-40B4-BE49-F238E27FC236}">
                <a16:creationId xmlns:a16="http://schemas.microsoft.com/office/drawing/2014/main" id="{90FEA28A-6588-4FCE-A57E-0FB2B67B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386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context conditioning</a:t>
            </a:r>
          </a:p>
        </p:txBody>
      </p:sp>
      <p:sp>
        <p:nvSpPr>
          <p:cNvPr id="45" name="task-item-2-3">
            <a:extLst xmlns:a="http://schemas.openxmlformats.org/drawingml/2006/main">
              <a:ext uri="{FF2B5EF4-FFF2-40B4-BE49-F238E27FC236}">
                <a16:creationId xmlns:a16="http://schemas.microsoft.com/office/drawing/2014/main" id="{83F106BC-A98A-450A-889B-CC61DEE9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529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46" name="task-item-text-2-3">
            <a:extLst xmlns:a="http://schemas.openxmlformats.org/drawingml/2006/main">
              <a:ext uri="{FF2B5EF4-FFF2-40B4-BE49-F238E27FC236}">
                <a16:creationId xmlns:a16="http://schemas.microsoft.com/office/drawing/2014/main" id="{B2F749BB-3E34-4CB2-BED0-0084D8E9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482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fidelity and diversity</a:t>
            </a:r>
          </a:p>
        </p:txBody>
      </p:sp>
      <p:sp>
        <p:nvSpPr>
          <p:cNvPr id="47" name="task-item-2-4">
            <a:extLst xmlns:a="http://schemas.openxmlformats.org/drawingml/2006/main">
              <a:ext uri="{FF2B5EF4-FFF2-40B4-BE49-F238E27FC236}">
                <a16:creationId xmlns:a16="http://schemas.microsoft.com/office/drawing/2014/main" id="{A8FBCA6C-FF02-4FD2-9F2A-64B8318F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1625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48" name="task-item-text-2-4">
            <a:extLst xmlns:a="http://schemas.openxmlformats.org/drawingml/2006/main">
              <a:ext uri="{FF2B5EF4-FFF2-40B4-BE49-F238E27FC236}">
                <a16:creationId xmlns:a16="http://schemas.microsoft.com/office/drawing/2014/main" id="{5E5CAF9C-FC17-41B8-80C9-ABD28219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78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downstream utility</a:t>
            </a:r>
          </a:p>
        </p:txBody>
      </p:sp>
      <p:sp>
        <p:nvSpPr>
          <p:cNvPr id="49" name="task-frame-3">
            <a:extLst xmlns:a="http://schemas.openxmlformats.org/drawingml/2006/main">
              <a:ext uri="{FF2B5EF4-FFF2-40B4-BE49-F238E27FC236}">
                <a16:creationId xmlns:a16="http://schemas.microsoft.com/office/drawing/2014/main" id="{8E60422B-9E5F-4992-88F6-0657C466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24000"/>
            <a:ext cx="2428875" cy="561975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50" name="shared-rail-drop-3">
            <a:extLst xmlns:a="http://schemas.openxmlformats.org/drawingml/2006/main">
              <a:ext uri="{FF2B5EF4-FFF2-40B4-BE49-F238E27FC236}">
                <a16:creationId xmlns:a16="http://schemas.microsoft.com/office/drawing/2014/main" id="{1AC33B44-9808-4469-89EA-4DDDC7CB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06075" y="133350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51" name="task-header-3">
            <a:extLst xmlns:a="http://schemas.openxmlformats.org/drawingml/2006/main">
              <a:ext uri="{FF2B5EF4-FFF2-40B4-BE49-F238E27FC236}">
                <a16:creationId xmlns:a16="http://schemas.microsoft.com/office/drawing/2014/main" id="{9198BC3B-EC4F-4099-ADB6-443B7663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90700"/>
            <a:ext cx="2085975" cy="8382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4288">
            <a:solidFill>
              <a:srgbClr val="B78324"/>
            </a:solidFill>
            <a:prstDash val="solid"/>
          </a:ln>
        </p:spPr>
      </p:sp>
      <p:sp>
        <p:nvSpPr>
          <p:cNvPr id="52" name="task-title-3">
            <a:extLst xmlns:a="http://schemas.openxmlformats.org/drawingml/2006/main">
              <a:ext uri="{FF2B5EF4-FFF2-40B4-BE49-F238E27FC236}">
                <a16:creationId xmlns:a16="http://schemas.microsoft.com/office/drawing/2014/main" id="{5100BC3E-8995-4CEE-B74F-B7173642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716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rPr>
              <a:t>Anomaly diagnosis</a:t>
            </a:r>
          </a:p>
        </p:txBody>
      </p:sp>
      <p:sp>
        <p:nvSpPr>
          <p:cNvPr id="53" name="task-contract-3">
            <a:extLst xmlns:a="http://schemas.openxmlformats.org/drawingml/2006/main">
              <a:ext uri="{FF2B5EF4-FFF2-40B4-BE49-F238E27FC236}">
                <a16:creationId xmlns:a16="http://schemas.microsoft.com/office/drawing/2014/main" id="{2EBE95C3-7FAA-4A91-A7A1-E4639719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050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event · window · cause</a:t>
            </a:r>
          </a:p>
        </p:txBody>
      </p:sp>
      <p:sp>
        <p:nvSpPr>
          <p:cNvPr id="54" name="task-contract-label-3">
            <a:extLst xmlns:a="http://schemas.openxmlformats.org/drawingml/2006/main">
              <a:ext uri="{FF2B5EF4-FFF2-40B4-BE49-F238E27FC236}">
                <a16:creationId xmlns:a16="http://schemas.microsoft.com/office/drawing/2014/main" id="{6885A2E0-4D39-4D7F-A33A-F82039E6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 contract</a:t>
            </a:r>
          </a:p>
        </p:txBody>
      </p:sp>
      <p:sp>
        <p:nvSpPr>
          <p:cNvPr id="55" name="task-item-3-1">
            <a:extLst xmlns:a="http://schemas.openxmlformats.org/drawingml/2006/main">
              <a:ext uri="{FF2B5EF4-FFF2-40B4-BE49-F238E27FC236}">
                <a16:creationId xmlns:a16="http://schemas.microsoft.com/office/drawing/2014/main" id="{B1391988-B618-4817-A7FD-AA284462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337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56" name="task-item-text-3-1">
            <a:extLst xmlns:a="http://schemas.openxmlformats.org/drawingml/2006/main">
              <a:ext uri="{FF2B5EF4-FFF2-40B4-BE49-F238E27FC236}">
                <a16:creationId xmlns:a16="http://schemas.microsoft.com/office/drawing/2014/main" id="{487FC6ED-432B-4107-9D9A-42930BBF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290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window localization</a:t>
            </a:r>
          </a:p>
        </p:txBody>
      </p:sp>
      <p:sp>
        <p:nvSpPr>
          <p:cNvPr id="57" name="task-item-3-2">
            <a:extLst xmlns:a="http://schemas.openxmlformats.org/drawingml/2006/main">
              <a:ext uri="{FF2B5EF4-FFF2-40B4-BE49-F238E27FC236}">
                <a16:creationId xmlns:a16="http://schemas.microsoft.com/office/drawing/2014/main" id="{6B03A7D8-E950-4637-A14B-2FD66AEA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433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58" name="task-item-text-3-2">
            <a:extLst xmlns:a="http://schemas.openxmlformats.org/drawingml/2006/main">
              <a:ext uri="{FF2B5EF4-FFF2-40B4-BE49-F238E27FC236}">
                <a16:creationId xmlns:a16="http://schemas.microsoft.com/office/drawing/2014/main" id="{C6CA299B-CB70-474D-8436-A4FC2565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386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detection</a:t>
            </a:r>
          </a:p>
        </p:txBody>
      </p:sp>
      <p:sp>
        <p:nvSpPr>
          <p:cNvPr id="59" name="task-item-3-3">
            <a:extLst xmlns:a="http://schemas.openxmlformats.org/drawingml/2006/main">
              <a:ext uri="{FF2B5EF4-FFF2-40B4-BE49-F238E27FC236}">
                <a16:creationId xmlns:a16="http://schemas.microsoft.com/office/drawing/2014/main" id="{7E966EF4-9235-465D-96B8-FDBFDA20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529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60" name="task-item-text-3-3">
            <a:extLst xmlns:a="http://schemas.openxmlformats.org/drawingml/2006/main">
              <a:ext uri="{FF2B5EF4-FFF2-40B4-BE49-F238E27FC236}">
                <a16:creationId xmlns:a16="http://schemas.microsoft.com/office/drawing/2014/main" id="{6869033F-1BF7-47EA-A1FA-EBCCC01F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482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diagnosis</a:t>
            </a:r>
          </a:p>
        </p:txBody>
      </p:sp>
      <p:sp>
        <p:nvSpPr>
          <p:cNvPr id="61" name="task-item-3-4">
            <a:extLst xmlns:a="http://schemas.openxmlformats.org/drawingml/2006/main">
              <a:ext uri="{FF2B5EF4-FFF2-40B4-BE49-F238E27FC236}">
                <a16:creationId xmlns:a16="http://schemas.microsoft.com/office/drawing/2014/main" id="{472EBB54-11EA-4A89-878D-D0A5C3A0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1625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62" name="task-item-text-3-4">
            <a:extLst xmlns:a="http://schemas.openxmlformats.org/drawingml/2006/main">
              <a:ext uri="{FF2B5EF4-FFF2-40B4-BE49-F238E27FC236}">
                <a16:creationId xmlns:a16="http://schemas.microsoft.com/office/drawing/2014/main" id="{1E878F1D-9CC2-4ACC-A3B7-A0188A01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2578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root-cause evidence</a:t>
            </a:r>
          </a:p>
        </p:txBody>
      </p:sp>
      <p:sp>
        <p:nvSpPr>
          <p:cNvPr id="63" name="task-frame-4">
            <a:extLst xmlns:a="http://schemas.openxmlformats.org/drawingml/2006/main">
              <a:ext uri="{FF2B5EF4-FFF2-40B4-BE49-F238E27FC236}">
                <a16:creationId xmlns:a16="http://schemas.microsoft.com/office/drawing/2014/main" id="{597CFC8F-6A31-44FF-973E-8B2A12CE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1524000"/>
            <a:ext cx="2428875" cy="5619750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64" name="shared-rail-drop-4">
            <a:extLst xmlns:a="http://schemas.openxmlformats.org/drawingml/2006/main">
              <a:ext uri="{FF2B5EF4-FFF2-40B4-BE49-F238E27FC236}">
                <a16:creationId xmlns:a16="http://schemas.microsoft.com/office/drawing/2014/main" id="{26060B3A-5601-4AFC-99BA-E41DFF33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01650" y="133350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65" name="task-header-4">
            <a:extLst xmlns:a="http://schemas.openxmlformats.org/drawingml/2006/main">
              <a:ext uri="{FF2B5EF4-FFF2-40B4-BE49-F238E27FC236}">
                <a16:creationId xmlns:a16="http://schemas.microsoft.com/office/drawing/2014/main" id="{07073410-B5BF-4BA8-993B-ABC1BA40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1790700"/>
            <a:ext cx="2085975" cy="8382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4288">
            <a:solidFill>
              <a:srgbClr val="B78324"/>
            </a:solidFill>
            <a:prstDash val="solid"/>
          </a:ln>
        </p:spPr>
      </p:sp>
      <p:sp>
        <p:nvSpPr>
          <p:cNvPr id="66" name="task-title-4">
            <a:extLst xmlns:a="http://schemas.openxmlformats.org/drawingml/2006/main">
              <a:ext uri="{FF2B5EF4-FFF2-40B4-BE49-F238E27FC236}">
                <a16:creationId xmlns:a16="http://schemas.microsoft.com/office/drawing/2014/main" id="{D38E2FC6-2341-403F-9397-A4A679E1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197167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rPr>
              <a:t>Decision support</a:t>
            </a:r>
          </a:p>
        </p:txBody>
      </p:sp>
      <p:sp>
        <p:nvSpPr>
          <p:cNvPr id="67" name="task-contract-4">
            <a:extLst xmlns:a="http://schemas.openxmlformats.org/drawingml/2006/main">
              <a:ext uri="{FF2B5EF4-FFF2-40B4-BE49-F238E27FC236}">
                <a16:creationId xmlns:a16="http://schemas.microsoft.com/office/drawing/2014/main" id="{944AA896-E6EF-4D1C-BEEB-010582F2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23050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action · cost · uncertainty</a:t>
            </a:r>
          </a:p>
        </p:txBody>
      </p:sp>
      <p:sp>
        <p:nvSpPr>
          <p:cNvPr id="68" name="task-contract-label-4">
            <a:extLst xmlns:a="http://schemas.openxmlformats.org/drawingml/2006/main">
              <a:ext uri="{FF2B5EF4-FFF2-40B4-BE49-F238E27FC236}">
                <a16:creationId xmlns:a16="http://schemas.microsoft.com/office/drawing/2014/main" id="{7AB3D701-838C-42EB-8344-85501F46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971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 contract</a:t>
            </a:r>
          </a:p>
        </p:txBody>
      </p:sp>
      <p:sp>
        <p:nvSpPr>
          <p:cNvPr id="69" name="task-item-4-1">
            <a:extLst xmlns:a="http://schemas.openxmlformats.org/drawingml/2006/main">
              <a:ext uri="{FF2B5EF4-FFF2-40B4-BE49-F238E27FC236}">
                <a16:creationId xmlns:a16="http://schemas.microsoft.com/office/drawing/2014/main" id="{46560289-3C15-4FBB-9591-BE10A166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33337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70" name="task-item-text-4-1">
            <a:extLst xmlns:a="http://schemas.openxmlformats.org/drawingml/2006/main">
              <a:ext uri="{FF2B5EF4-FFF2-40B4-BE49-F238E27FC236}">
                <a16:creationId xmlns:a16="http://schemas.microsoft.com/office/drawing/2014/main" id="{4984B06C-95D6-4479-B838-CA7CD088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34290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scenario and state</a:t>
            </a:r>
          </a:p>
        </p:txBody>
      </p:sp>
      <p:sp>
        <p:nvSpPr>
          <p:cNvPr id="71" name="task-item-4-2">
            <a:extLst xmlns:a="http://schemas.openxmlformats.org/drawingml/2006/main">
              <a:ext uri="{FF2B5EF4-FFF2-40B4-BE49-F238E27FC236}">
                <a16:creationId xmlns:a16="http://schemas.microsoft.com/office/drawing/2014/main" id="{2FE9C18D-2574-4E72-8619-976C1262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39433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72" name="task-item-text-4-2">
            <a:extLst xmlns:a="http://schemas.openxmlformats.org/drawingml/2006/main">
              <a:ext uri="{FF2B5EF4-FFF2-40B4-BE49-F238E27FC236}">
                <a16:creationId xmlns:a16="http://schemas.microsoft.com/office/drawing/2014/main" id="{ACD81E71-5FA0-4C34-AEB9-8EAB7918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40386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uncertainty</a:t>
            </a:r>
          </a:p>
        </p:txBody>
      </p:sp>
      <p:sp>
        <p:nvSpPr>
          <p:cNvPr id="73" name="task-item-4-3">
            <a:extLst xmlns:a="http://schemas.openxmlformats.org/drawingml/2006/main">
              <a:ext uri="{FF2B5EF4-FFF2-40B4-BE49-F238E27FC236}">
                <a16:creationId xmlns:a16="http://schemas.microsoft.com/office/drawing/2014/main" id="{C12D24F8-D42B-4310-A91E-3C5940FE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45529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74" name="task-item-text-4-3">
            <a:extLst xmlns:a="http://schemas.openxmlformats.org/drawingml/2006/main">
              <a:ext uri="{FF2B5EF4-FFF2-40B4-BE49-F238E27FC236}">
                <a16:creationId xmlns:a16="http://schemas.microsoft.com/office/drawing/2014/main" id="{2FAC051A-28FD-4C0D-802F-FF03E66E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46482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cost and risk</a:t>
            </a:r>
          </a:p>
        </p:txBody>
      </p:sp>
      <p:sp>
        <p:nvSpPr>
          <p:cNvPr id="75" name="task-item-4-4">
            <a:extLst xmlns:a="http://schemas.openxmlformats.org/drawingml/2006/main">
              <a:ext uri="{FF2B5EF4-FFF2-40B4-BE49-F238E27FC236}">
                <a16:creationId xmlns:a16="http://schemas.microsoft.com/office/drawing/2014/main" id="{3576C07A-B9F7-4F4C-A9A7-01C0758D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5162550"/>
            <a:ext cx="18954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9525">
            <a:solidFill>
              <a:srgbClr val="B78324"/>
            </a:solidFill>
            <a:prstDash val="solid"/>
          </a:ln>
        </p:spPr>
      </p:sp>
      <p:sp>
        <p:nvSpPr>
          <p:cNvPr id="76" name="task-item-text-4-4">
            <a:extLst xmlns:a="http://schemas.openxmlformats.org/drawingml/2006/main">
              <a:ext uri="{FF2B5EF4-FFF2-40B4-BE49-F238E27FC236}">
                <a16:creationId xmlns:a16="http://schemas.microsoft.com/office/drawing/2014/main" id="{5A68CA1A-F067-41A1-BC68-3D6633C3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5257800"/>
            <a:ext cx="1704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action and review</a:t>
            </a:r>
          </a:p>
        </p:txBody>
      </p:sp>
      <p:sp>
        <p:nvSpPr>
          <p:cNvPr id="77" name="task-specific-rule">
            <a:extLst xmlns:a="http://schemas.openxmlformats.org/drawingml/2006/main">
              <a:ext uri="{FF2B5EF4-FFF2-40B4-BE49-F238E27FC236}">
                <a16:creationId xmlns:a16="http://schemas.microsoft.com/office/drawing/2014/main" id="{6CF471C4-C3B3-4177-B502-95C3BB35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543800"/>
            <a:ext cx="13525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78" name="task-specific-rule-text">
            <a:extLst xmlns:a="http://schemas.openxmlformats.org/drawingml/2006/main">
              <a:ext uri="{FF2B5EF4-FFF2-40B4-BE49-F238E27FC236}">
                <a16:creationId xmlns:a16="http://schemas.microsoft.com/office/drawing/2014/main" id="{9CCBC751-2789-4A8A-A86A-34941B11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677150"/>
            <a:ext cx="1303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Task-specific Harness = shared Harness modules + a task-bound temporal output, validation, and decision contract.</a:t>
            </a:r>
          </a:p>
        </p:txBody>
      </p:sp>
    </p:spTree>
    <p:extLst>
      <p:ext uri="{BB962C8B-B14F-4D97-AF65-F5344CB8AC3E}">
        <p14:creationId xmlns:p14="http://schemas.microsoft.com/office/powerpoint/2010/main" val="1170435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2026-10-02T08:32:18.2900000Z</dcterms:created>
  <dcterms:modified xsi:type="dcterms:W3CDTF">2026-10-02T08:32:18.2900000Z</dcterms:modified>
</coreProperties>
</file>