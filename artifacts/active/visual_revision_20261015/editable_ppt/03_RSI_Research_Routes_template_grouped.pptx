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15800" cy="1357312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Relationship Id="rId46" Type="http://schemas.openxmlformats.org/officeDocument/2006/relationships/image" Target="../media/image45.png"/><Relationship Id="rId47" Type="http://schemas.openxmlformats.org/officeDocument/2006/relationships/image" Target="../media/image46.png"/><Relationship Id="rId48" Type="http://schemas.openxmlformats.org/officeDocument/2006/relationships/image" Target="../media/image47.png"/><Relationship Id="rId49" Type="http://schemas.openxmlformats.org/officeDocument/2006/relationships/image" Target="../media/image48.png"/><Relationship Id="rId50" Type="http://schemas.openxmlformats.org/officeDocument/2006/relationships/image" Target="../media/image49.png"/><Relationship Id="rId51" Type="http://schemas.openxmlformats.org/officeDocument/2006/relationships/image" Target="../media/image50.png"/><Relationship Id="rId52" Type="http://schemas.openxmlformats.org/officeDocument/2006/relationships/image" Target="../media/image51.png"/><Relationship Id="rId53" Type="http://schemas.openxmlformats.org/officeDocument/2006/relationships/image" Target="../media/image52.png"/><Relationship Id="rId5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RSI research routes — individual editable components"/>
          <p:cNvGrpSpPr/>
          <p:nvPr/>
        </p:nvGrpSpPr>
        <p:grpSpPr>
          <a:xfrm>
            <a:off x="438150" y="133350"/>
            <a:ext cx="11287125" cy="13344525"/>
            <a:chOff x="438150" y="133350"/>
            <a:chExt cx="11287125" cy="13344525"/>
          </a:xfrm>
        </p:grpSpPr>
        <p:sp>
          <p:nvSpPr>
            <p:cNvPr id="2" name="Path 2"/>
            <p:cNvSpPr/>
            <p:nvPr/>
          </p:nvSpPr>
          <p:spPr>
            <a:xfrm>
              <a:off x="2066925" y="2476500"/>
              <a:ext cx="4029075" cy="9953625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21345" y="21414"/>
                  </a:moveTo>
                  <a:cubicBezTo>
                    <a:pt x="255" y="20980"/>
                    <a:pt x="255" y="20380"/>
                    <a:pt x="255" y="18396"/>
                  </a:cubicBezTo>
                  <a:lnTo>
                    <a:pt x="255" y="145"/>
                  </a:lnTo>
                </a:path>
              </a:pathLst>
            </a:custGeom>
            <a:noFill/>
            <a:ln w="63500">
              <a:solidFill>
                <a:srgbClr val="AA8447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3" name="Path 3"/>
            <p:cNvSpPr/>
            <p:nvPr/>
          </p:nvSpPr>
          <p:spPr>
            <a:xfrm>
              <a:off x="3800475" y="2476500"/>
              <a:ext cx="2295525" cy="9953625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21152" y="21414"/>
                  </a:moveTo>
                  <a:cubicBezTo>
                    <a:pt x="448" y="20980"/>
                    <a:pt x="448" y="20380"/>
                    <a:pt x="448" y="18396"/>
                  </a:cubicBezTo>
                  <a:lnTo>
                    <a:pt x="448" y="145"/>
                  </a:lnTo>
                </a:path>
              </a:pathLst>
            </a:custGeom>
            <a:noFill/>
            <a:ln w="63500">
              <a:solidFill>
                <a:srgbClr val="438775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4" name="Path 4"/>
            <p:cNvSpPr/>
            <p:nvPr/>
          </p:nvSpPr>
          <p:spPr>
            <a:xfrm>
              <a:off x="5534025" y="2476500"/>
              <a:ext cx="561975" cy="9953625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19769" y="21414"/>
                  </a:moveTo>
                  <a:cubicBezTo>
                    <a:pt x="1831" y="20980"/>
                    <a:pt x="1831" y="20380"/>
                    <a:pt x="1831" y="18396"/>
                  </a:cubicBezTo>
                  <a:lnTo>
                    <a:pt x="1831" y="145"/>
                  </a:lnTo>
                </a:path>
              </a:pathLst>
            </a:custGeom>
            <a:noFill/>
            <a:ln w="63500">
              <a:solidFill>
                <a:srgbClr val="4D87A3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5" name="Path 5"/>
            <p:cNvSpPr/>
            <p:nvPr/>
          </p:nvSpPr>
          <p:spPr>
            <a:xfrm>
              <a:off x="6000750" y="2476500"/>
              <a:ext cx="1362075" cy="9953625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755" y="21414"/>
                  </a:moveTo>
                  <a:cubicBezTo>
                    <a:pt x="20845" y="20980"/>
                    <a:pt x="20845" y="20380"/>
                    <a:pt x="20845" y="18396"/>
                  </a:cubicBezTo>
                  <a:lnTo>
                    <a:pt x="20845" y="145"/>
                  </a:lnTo>
                </a:path>
              </a:pathLst>
            </a:custGeom>
            <a:noFill/>
            <a:ln w="63500">
              <a:solidFill>
                <a:srgbClr val="B77B74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6" name="Path 6"/>
            <p:cNvSpPr/>
            <p:nvPr/>
          </p:nvSpPr>
          <p:spPr>
            <a:xfrm>
              <a:off x="6000750" y="2476500"/>
              <a:ext cx="3095625" cy="9953625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332" y="21414"/>
                  </a:moveTo>
                  <a:cubicBezTo>
                    <a:pt x="21268" y="20980"/>
                    <a:pt x="21268" y="20380"/>
                    <a:pt x="21268" y="18396"/>
                  </a:cubicBezTo>
                  <a:lnTo>
                    <a:pt x="21268" y="145"/>
                  </a:lnTo>
                </a:path>
              </a:pathLst>
            </a:custGeom>
            <a:noFill/>
            <a:ln w="63500">
              <a:solidFill>
                <a:srgbClr val="916FA4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7" name="Path 7"/>
            <p:cNvSpPr/>
            <p:nvPr/>
          </p:nvSpPr>
          <p:spPr>
            <a:xfrm>
              <a:off x="6000750" y="2476500"/>
              <a:ext cx="4829175" cy="9953625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213" y="21414"/>
                  </a:moveTo>
                  <a:cubicBezTo>
                    <a:pt x="21387" y="20980"/>
                    <a:pt x="21387" y="20380"/>
                    <a:pt x="21387" y="18396"/>
                  </a:cubicBezTo>
                  <a:lnTo>
                    <a:pt x="21387" y="145"/>
                  </a:lnTo>
                </a:path>
              </a:pathLst>
            </a:custGeom>
            <a:noFill/>
            <a:ln w="63500">
              <a:solidFill>
                <a:srgbClr val="4B9194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8" name="Line 8"/>
            <p:cNvSpPr/>
            <p:nvPr/>
          </p:nvSpPr>
          <p:spPr>
            <a:xfrm>
              <a:off x="1047750" y="4600575"/>
              <a:ext cx="10629900" cy="0"/>
            </a:xfrm>
            <a:prstGeom prst="line">
              <a:avLst/>
            </a:prstGeom>
            <a:noFill/>
            <a:ln w="8890">
              <a:solidFill>
                <a:srgbClr val="D6D7D7"/>
              </a:solidFill>
              <a:prstDash val="dash"/>
              <a:tailEnd type="none"/>
            </a:ln>
          </p:spPr>
          <p:txBody>
            <a:bodyPr/>
            <a:lstStyle/>
            <a:p/>
          </p:txBody>
        </p:sp>
        <p:sp>
          <p:nvSpPr>
            <p:cNvPr id="9" name="Line 9"/>
            <p:cNvSpPr/>
            <p:nvPr/>
          </p:nvSpPr>
          <p:spPr>
            <a:xfrm>
              <a:off x="1047750" y="6810375"/>
              <a:ext cx="10629900" cy="0"/>
            </a:xfrm>
            <a:prstGeom prst="line">
              <a:avLst/>
            </a:prstGeom>
            <a:noFill/>
            <a:ln w="8890">
              <a:solidFill>
                <a:srgbClr val="D6D7D7"/>
              </a:solidFill>
              <a:prstDash val="dash"/>
              <a:tailEnd type="none"/>
            </a:ln>
          </p:spPr>
          <p:txBody>
            <a:bodyPr/>
            <a:lstStyle/>
            <a:p/>
          </p:txBody>
        </p:sp>
        <p:sp>
          <p:nvSpPr>
            <p:cNvPr id="10" name="Line 10"/>
            <p:cNvSpPr/>
            <p:nvPr/>
          </p:nvSpPr>
          <p:spPr>
            <a:xfrm>
              <a:off x="1047750" y="9039225"/>
              <a:ext cx="10629900" cy="0"/>
            </a:xfrm>
            <a:prstGeom prst="line">
              <a:avLst/>
            </a:prstGeom>
            <a:noFill/>
            <a:ln w="8890">
              <a:solidFill>
                <a:srgbClr val="D6D7D7"/>
              </a:solidFill>
              <a:prstDash val="dash"/>
              <a:tailEnd type="none"/>
            </a:ln>
          </p:spPr>
          <p:txBody>
            <a:bodyPr/>
            <a:lstStyle/>
            <a:p/>
          </p:txBody>
        </p:sp>
        <p:sp>
          <p:nvSpPr>
            <p:cNvPr id="11" name="Line 11"/>
            <p:cNvSpPr/>
            <p:nvPr/>
          </p:nvSpPr>
          <p:spPr>
            <a:xfrm>
              <a:off x="1047750" y="11020425"/>
              <a:ext cx="10629900" cy="0"/>
            </a:xfrm>
            <a:prstGeom prst="line">
              <a:avLst/>
            </a:prstGeom>
            <a:noFill/>
            <a:ln w="8890">
              <a:solidFill>
                <a:srgbClr val="D6D7D7"/>
              </a:solidFill>
              <a:prstDash val="dash"/>
              <a:tailEnd type="none"/>
            </a:ln>
          </p:spPr>
          <p:txBody>
            <a:bodyPr/>
            <a:lstStyle/>
            <a:p/>
          </p:txBody>
        </p:sp>
        <p:sp>
          <p:nvSpPr>
            <p:cNvPr id="12" name="Line 12"/>
            <p:cNvSpPr/>
            <p:nvPr/>
          </p:nvSpPr>
          <p:spPr>
            <a:xfrm>
              <a:off x="1047750" y="12172950"/>
              <a:ext cx="10629900" cy="0"/>
            </a:xfrm>
            <a:prstGeom prst="line">
              <a:avLst/>
            </a:prstGeom>
            <a:noFill/>
            <a:ln w="8890">
              <a:solidFill>
                <a:srgbClr val="D6D7D7"/>
              </a:solidFill>
              <a:prstDash val="dash"/>
              <a:tailEnd type="none"/>
            </a:ln>
          </p:spPr>
          <p:txBody>
            <a:bodyPr/>
            <a:lstStyle/>
            <a:p/>
          </p:txBody>
        </p:sp>
        <p:sp>
          <p:nvSpPr>
            <p:cNvPr id="13" name="Line 13"/>
            <p:cNvSpPr/>
            <p:nvPr/>
          </p:nvSpPr>
          <p:spPr>
            <a:xfrm flipV="1">
              <a:off x="733425" y="2543175"/>
              <a:ext cx="0" cy="9582150"/>
            </a:xfrm>
            <a:prstGeom prst="line">
              <a:avLst/>
            </a:prstGeom>
            <a:noFill/>
            <a:ln w="25400">
              <a:solidFill>
                <a:srgbClr val="72767C"/>
              </a:solidFill>
              <a:prstDash val="solid"/>
              <a:tailEnd type="triangle"/>
            </a:ln>
          </p:spPr>
          <p:txBody>
            <a:bodyPr/>
            <a:lstStyle/>
            <a:p/>
          </p:txBody>
        </p:sp>
        <p:sp>
          <p:nvSpPr>
            <p:cNvPr id="20" name="Roundrect 20"/>
            <p:cNvSpPr/>
            <p:nvPr/>
          </p:nvSpPr>
          <p:spPr>
            <a:xfrm>
              <a:off x="438150" y="3429000"/>
              <a:ext cx="581025" cy="276225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9050">
              <a:solidFill>
                <a:srgbClr val="FFFFFF"/>
              </a:solidFill>
            </a:ln>
          </p:spPr>
          <p:txBody>
            <a:bodyPr/>
            <a:lstStyle/>
            <a:p/>
          </p:txBody>
        </p:sp>
        <p:sp>
          <p:nvSpPr>
            <p:cNvPr id="21" name="Roundrect 21"/>
            <p:cNvSpPr/>
            <p:nvPr/>
          </p:nvSpPr>
          <p:spPr>
            <a:xfrm>
              <a:off x="438150" y="5619750"/>
              <a:ext cx="581025" cy="276225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9050">
              <a:solidFill>
                <a:srgbClr val="FFFFFF"/>
              </a:solidFill>
            </a:ln>
          </p:spPr>
          <p:txBody>
            <a:bodyPr/>
            <a:lstStyle/>
            <a:p/>
          </p:txBody>
        </p:sp>
        <p:sp>
          <p:nvSpPr>
            <p:cNvPr id="22" name="Roundrect 22"/>
            <p:cNvSpPr/>
            <p:nvPr/>
          </p:nvSpPr>
          <p:spPr>
            <a:xfrm>
              <a:off x="438150" y="7829550"/>
              <a:ext cx="581025" cy="276225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9050">
              <a:solidFill>
                <a:srgbClr val="FFFFFF"/>
              </a:solidFill>
            </a:ln>
          </p:spPr>
          <p:txBody>
            <a:bodyPr/>
            <a:lstStyle/>
            <a:p/>
          </p:txBody>
        </p:sp>
        <p:sp>
          <p:nvSpPr>
            <p:cNvPr id="23" name="Roundrect 23"/>
            <p:cNvSpPr/>
            <p:nvPr/>
          </p:nvSpPr>
          <p:spPr>
            <a:xfrm>
              <a:off x="438150" y="9925050"/>
              <a:ext cx="581025" cy="276225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9050">
              <a:solidFill>
                <a:srgbClr val="FFFFFF"/>
              </a:solidFill>
            </a:ln>
          </p:spPr>
          <p:txBody>
            <a:bodyPr/>
            <a:lstStyle/>
            <a:p/>
          </p:txBody>
        </p:sp>
        <p:sp>
          <p:nvSpPr>
            <p:cNvPr id="24" name="Roundrect 24"/>
            <p:cNvSpPr/>
            <p:nvPr/>
          </p:nvSpPr>
          <p:spPr>
            <a:xfrm>
              <a:off x="438150" y="11506200"/>
              <a:ext cx="581025" cy="276225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9050">
              <a:solidFill>
                <a:srgbClr val="FFFFFF"/>
              </a:solidFill>
            </a:ln>
          </p:spPr>
          <p:txBody>
            <a:bodyPr/>
            <a:lstStyle/>
            <a:p/>
          </p:txBody>
        </p:sp>
        <p:sp>
          <p:nvSpPr>
            <p:cNvPr id="70" name="Roundrect 70"/>
            <p:cNvSpPr/>
            <p:nvPr/>
          </p:nvSpPr>
          <p:spPr>
            <a:xfrm>
              <a:off x="1171575" y="12411075"/>
              <a:ext cx="10553700" cy="733425"/>
            </a:xfrm>
            <a:prstGeom prst="roundRect">
              <a:avLst>
                <a:gd name="adj" fmla="val 6494"/>
              </a:avLst>
            </a:prstGeom>
            <a:solidFill>
              <a:srgbClr val="FAFAFA"/>
            </a:solidFill>
            <a:ln w="19050">
              <a:solidFill>
                <a:srgbClr val="45434B"/>
              </a:solidFill>
            </a:ln>
          </p:spPr>
          <p:txBody>
            <a:bodyPr/>
            <a:lstStyle/>
            <a:p/>
          </p:txBody>
        </p:sp>
        <p:pic>
          <p:nvPicPr>
            <p:cNvPr id="121" name="tum"/>
            <p:cNvPicPr/>
            <p:nvPr/>
          </p:nvPicPr>
          <p:blipFill>
            <a:blip r:embed="rId52"/>
            <a:stretch>
              <a:fillRect/>
            </a:stretch>
          </p:blipFill>
          <p:spPr>
            <a:xfrm>
              <a:off x="1476375" y="12506325"/>
              <a:ext cx="285750" cy="285750"/>
            </a:xfrm>
            <a:prstGeom prst="rect">
              <a:avLst/>
            </a:prstGeom>
          </p:spPr>
        </p:pic>
        <p:pic>
          <p:nvPicPr>
            <p:cNvPr id="122" name="deepmind"/>
            <p:cNvPicPr/>
            <p:nvPr/>
          </p:nvPicPr>
          <p:blipFill>
            <a:blip r:embed="rId53"/>
            <a:stretch>
              <a:fillRect/>
            </a:stretch>
          </p:blipFill>
          <p:spPr>
            <a:xfrm>
              <a:off x="4962525" y="12506325"/>
              <a:ext cx="285750" cy="285750"/>
            </a:xfrm>
            <a:prstGeom prst="rect">
              <a:avLst/>
            </a:prstGeom>
          </p:spPr>
        </p:pic>
        <p:pic>
          <p:nvPicPr>
            <p:cNvPr id="123" name="uber"/>
            <p:cNvPicPr/>
            <p:nvPr/>
          </p:nvPicPr>
          <p:blipFill>
            <a:blip r:embed="rId54"/>
            <a:stretch>
              <a:fillRect/>
            </a:stretch>
          </p:blipFill>
          <p:spPr>
            <a:xfrm>
              <a:off x="8448675" y="12506325"/>
              <a:ext cx="285750" cy="285750"/>
            </a:xfrm>
            <a:prstGeom prst="rect">
              <a:avLst/>
            </a:prstGeom>
          </p:spPr>
        </p:pic>
        <p:sp>
          <p:nvSpPr>
            <p:cNvPr id="124" name="TextBox 124"/>
            <p:cNvSpPr txBox="1"/>
            <p:nvPr/>
          </p:nvSpPr>
          <p:spPr>
            <a:xfrm>
              <a:off x="523875" y="133350"/>
              <a:ext cx="1114425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2700" b="1">
                  <a:solidFill>
                    <a:srgbClr val="30343A"/>
                  </a:solidFill>
                  <a:latin typeface="Times New Roman"/>
                  <a:ea typeface="Times New Roman"/>
                  <a:cs typeface="Times New Roman"/>
                </a:rPr>
                <a:t>Research routes toward recursive self-improvement</a:t>
              </a:r>
              <a:endParaRPr lang="zh-CN" sz="2700"/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523875" y="609600"/>
              <a:ext cx="11144250" cy="3143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600" b="1">
                  <a:solidFill>
                    <a:srgbClr val="606060"/>
                  </a:solidFill>
                  <a:latin typeface="Times New Roman"/>
                  <a:ea typeface="Times New Roman"/>
                  <a:cs typeface="Times New Roman"/>
                </a:rPr>
                <a:t>Selected milestones by first public year | Historical roots and the foundation-model era</a:t>
              </a:r>
              <a:endParaRPr lang="zh-CN" sz="1600"/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447675" y="3429000"/>
              <a:ext cx="561975" cy="2762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800" b="1">
                  <a:solidFill>
                    <a:srgbClr val="30343A"/>
                  </a:solidFill>
                  <a:latin typeface="Times New Roman"/>
                  <a:ea typeface="Times New Roman"/>
                  <a:cs typeface="Times New Roman"/>
                </a:rPr>
                <a:t>2026</a:t>
              </a:r>
              <a:endParaRPr lang="zh-CN" sz="1800"/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447675" y="5619750"/>
              <a:ext cx="561975" cy="2762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800" b="1">
                  <a:solidFill>
                    <a:srgbClr val="30343A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  <a:endParaRPr lang="zh-CN" sz="1800"/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447675" y="7829550"/>
              <a:ext cx="561975" cy="2762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800" b="1">
                  <a:solidFill>
                    <a:srgbClr val="30343A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  <a:endParaRPr lang="zh-CN" sz="1800"/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447675" y="9925050"/>
              <a:ext cx="561975" cy="2762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800" b="1">
                  <a:solidFill>
                    <a:srgbClr val="30343A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  <a:endParaRPr lang="zh-CN" sz="1800"/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447675" y="11506200"/>
              <a:ext cx="561975" cy="2762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800" b="1">
                  <a:solidFill>
                    <a:srgbClr val="30343A"/>
                  </a:solidFill>
                  <a:latin typeface="Times New Roman"/>
                  <a:ea typeface="Times New Roman"/>
                  <a:cs typeface="Times New Roman"/>
                </a:rPr>
                <a:t>2022</a:t>
              </a:r>
              <a:endParaRPr lang="zh-CN" sz="1800"/>
            </a:p>
          </p:txBody>
        </p:sp>
        <p:sp>
          <p:nvSpPr>
            <p:cNvPr id="189" name="TextBox 189"/>
            <p:cNvSpPr txBox="1"/>
            <p:nvPr/>
          </p:nvSpPr>
          <p:spPr>
            <a:xfrm>
              <a:off x="1885950" y="12477750"/>
              <a:ext cx="2714625" cy="2952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800" b="1">
                  <a:solidFill>
                    <a:srgbClr val="30343A"/>
                  </a:solidFill>
                  <a:latin typeface="Times New Roman"/>
                  <a:ea typeface="Times New Roman"/>
                  <a:cs typeface="Times New Roman"/>
                </a:rPr>
                <a:t>Gödel Machine</a:t>
              </a:r>
              <a:endParaRPr lang="zh-CN" sz="1800"/>
            </a:p>
          </p:txBody>
        </p:sp>
        <p:sp>
          <p:nvSpPr>
            <p:cNvPr id="190" name="TextBox 190"/>
            <p:cNvSpPr txBox="1"/>
            <p:nvPr/>
          </p:nvSpPr>
          <p:spPr>
            <a:xfrm>
              <a:off x="1514475" y="12801600"/>
              <a:ext cx="3171825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300">
                  <a:solidFill>
                    <a:srgbClr val="30343A"/>
                  </a:solidFill>
                  <a:latin typeface="Times New Roman"/>
                  <a:ea typeface="Times New Roman"/>
                  <a:cs typeface="Times New Roman"/>
                </a:rPr>
                <a:t>2003 | Provable self-modification</a:t>
              </a:r>
              <a:endParaRPr lang="zh-CN" sz="1300"/>
            </a:p>
          </p:txBody>
        </p:sp>
        <p:sp>
          <p:nvSpPr>
            <p:cNvPr id="191" name="TextBox 191"/>
            <p:cNvSpPr txBox="1"/>
            <p:nvPr/>
          </p:nvSpPr>
          <p:spPr>
            <a:xfrm>
              <a:off x="5372100" y="12477750"/>
              <a:ext cx="2714625" cy="2952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800" b="1">
                  <a:solidFill>
                    <a:srgbClr val="30343A"/>
                  </a:solidFill>
                  <a:latin typeface="Times New Roman"/>
                  <a:ea typeface="Times New Roman"/>
                  <a:cs typeface="Times New Roman"/>
                </a:rPr>
                <a:t>Learned optimizers</a:t>
              </a:r>
              <a:endParaRPr lang="zh-CN" sz="1800"/>
            </a:p>
          </p:txBody>
        </p:sp>
        <p:sp>
          <p:nvSpPr>
            <p:cNvPr id="192" name="TextBox 192"/>
            <p:cNvSpPr txBox="1"/>
            <p:nvPr/>
          </p:nvSpPr>
          <p:spPr>
            <a:xfrm>
              <a:off x="5000625" y="12801600"/>
              <a:ext cx="3171825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300">
                  <a:solidFill>
                    <a:srgbClr val="30343A"/>
                  </a:solidFill>
                  <a:latin typeface="Times New Roman"/>
                  <a:ea typeface="Times New Roman"/>
                  <a:cs typeface="Times New Roman"/>
                </a:rPr>
                <a:t>2016 | Learning update rules</a:t>
              </a:r>
              <a:endParaRPr lang="zh-CN" sz="1300"/>
            </a:p>
          </p:txBody>
        </p:sp>
        <p:sp>
          <p:nvSpPr>
            <p:cNvPr id="193" name="TextBox 193"/>
            <p:cNvSpPr txBox="1"/>
            <p:nvPr/>
          </p:nvSpPr>
          <p:spPr>
            <a:xfrm>
              <a:off x="8858250" y="12477750"/>
              <a:ext cx="2714625" cy="2952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800" b="1">
                  <a:solidFill>
                    <a:srgbClr val="30343A"/>
                  </a:solidFill>
                  <a:latin typeface="Times New Roman"/>
                  <a:ea typeface="Times New Roman"/>
                  <a:cs typeface="Times New Roman"/>
                </a:rPr>
                <a:t>POET</a:t>
              </a:r>
              <a:endParaRPr lang="zh-CN" sz="1800"/>
            </a:p>
          </p:txBody>
        </p:sp>
        <p:sp>
          <p:nvSpPr>
            <p:cNvPr id="194" name="TextBox 194"/>
            <p:cNvSpPr txBox="1"/>
            <p:nvPr/>
          </p:nvSpPr>
          <p:spPr>
            <a:xfrm>
              <a:off x="8486775" y="12801600"/>
              <a:ext cx="3171825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300">
                  <a:solidFill>
                    <a:srgbClr val="30343A"/>
                  </a:solidFill>
                  <a:latin typeface="Times New Roman"/>
                  <a:ea typeface="Times New Roman"/>
                  <a:cs typeface="Times New Roman"/>
                </a:rPr>
                <a:t>2019 | Tasks and solvers co-evolve</a:t>
              </a:r>
              <a:endParaRPr lang="zh-CN" sz="1300"/>
            </a:p>
          </p:txBody>
        </p:sp>
        <p:sp>
          <p:nvSpPr>
            <p:cNvPr id="195" name="TextBox 195"/>
            <p:cNvSpPr txBox="1"/>
            <p:nvPr/>
          </p:nvSpPr>
          <p:spPr>
            <a:xfrm>
              <a:off x="1438275" y="13230225"/>
              <a:ext cx="10287000" cy="247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300" b="1">
                  <a:solidFill>
                    <a:srgbClr val="606060"/>
                  </a:solidFill>
                  <a:latin typeface="Times New Roman"/>
                  <a:ea typeface="Times New Roman"/>
                  <a:cs typeface="Times New Roman"/>
                </a:rPr>
                <a:t>Marks: selected affiliations | Ind.: independent researchers | Branches: research routes, not technical ancestry</a:t>
              </a:r>
              <a:endParaRPr lang="zh-CN" sz="1300"/>
            </a:p>
          </p:txBody>
        </p:sp>
        <p:grpSp>
          <p:nvGrpSpPr>
            <p:cNvPr id="203" name="header-border-0"/>
            <p:cNvGrpSpPr/>
            <p:nvPr/>
          </p:nvGrpSpPr>
          <p:grpSpPr>
            <a:xfrm>
              <a:off x="1295400" y="1009650"/>
              <a:ext cx="1647825" cy="1409700"/>
              <a:chOff x="1295400" y="1009650"/>
              <a:chExt cx="1647825" cy="1409700"/>
            </a:xfrm>
          </p:grpSpPr>
          <p:sp>
            <p:nvSpPr>
              <p:cNvPr id="14" name="Roundrect 14"/>
              <p:cNvSpPr/>
              <p:nvPr/>
            </p:nvSpPr>
            <p:spPr>
              <a:xfrm>
                <a:off x="1295400" y="1009650"/>
                <a:ext cx="1647825" cy="1409700"/>
              </a:xfrm>
              <a:prstGeom prst="roundRect">
                <a:avLst>
                  <a:gd name="adj" fmla="val 3378"/>
                </a:avLst>
              </a:prstGeom>
              <a:solidFill>
                <a:srgbClr val="FAF7F0"/>
              </a:solidFill>
              <a:ln w="19050">
                <a:solidFill>
                  <a:srgbClr val="AA8447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71" name="data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52625" y="1085850"/>
                <a:ext cx="333375" cy="333375"/>
              </a:xfrm>
              <a:prstGeom prst="rect">
                <a:avLst/>
              </a:prstGeom>
            </p:spPr>
          </p:pic>
          <p:sp>
            <p:nvSpPr>
              <p:cNvPr id="126" name="TextBox 126"/>
              <p:cNvSpPr txBox="1"/>
              <p:nvPr/>
            </p:nvSpPr>
            <p:spPr>
              <a:xfrm>
                <a:off x="1333500" y="1438275"/>
                <a:ext cx="1571625" cy="542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00" b="1">
                    <a:solidFill>
                      <a:srgbClr val="AA8447"/>
                    </a:solidFill>
                    <a:latin typeface="Times New Roman"/>
                    <a:ea typeface="Times New Roman"/>
                    <a:cs typeface="Times New Roman"/>
                  </a:rPr>
                  <a:t>Data &amp;</a:t>
                </a:r>
                <a:endParaRPr lang="zh-CN" sz="1800"/>
              </a:p>
              <a:p>
                <a:pPr algn="ctr"/>
                <a:r>
                  <a:rPr lang="zh-CN" sz="1800" b="1">
                    <a:solidFill>
                      <a:srgbClr val="AA8447"/>
                    </a:solidFill>
                    <a:latin typeface="Times New Roman"/>
                    <a:ea typeface="Times New Roman"/>
                    <a:cs typeface="Times New Roman"/>
                  </a:rPr>
                  <a:t>training</a:t>
                </a:r>
                <a:endParaRPr lang="zh-CN" sz="1800"/>
              </a:p>
            </p:txBody>
          </p:sp>
          <p:sp>
            <p:nvSpPr>
              <p:cNvPr id="127" name="TextBox 127"/>
              <p:cNvSpPr txBox="1"/>
              <p:nvPr/>
            </p:nvSpPr>
            <p:spPr>
              <a:xfrm>
                <a:off x="1323975" y="1990725"/>
                <a:ext cx="15906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250" b="1">
                    <a:solidFill>
                      <a:srgbClr val="5E6060"/>
                    </a:solidFill>
                    <a:latin typeface="Times New Roman"/>
                    <a:ea typeface="Times New Roman"/>
                    <a:cs typeface="Times New Roman"/>
                  </a:rPr>
                  <a:t>Synthetic data</a:t>
                </a:r>
                <a:endParaRPr lang="zh-CN" sz="1250"/>
              </a:p>
              <a:p>
                <a:pPr algn="ctr"/>
                <a:r>
                  <a:rPr lang="zh-CN" sz="1250" b="1">
                    <a:solidFill>
                      <a:srgbClr val="5E6060"/>
                    </a:solidFill>
                    <a:latin typeface="Times New Roman"/>
                    <a:ea typeface="Times New Roman"/>
                    <a:cs typeface="Times New Roman"/>
                  </a:rPr>
                  <a:t>Persistent updates</a:t>
                </a:r>
                <a:endParaRPr lang="zh-CN" sz="1250"/>
              </a:p>
            </p:txBody>
          </p:sp>
        </p:grpSp>
        <p:grpSp>
          <p:nvGrpSpPr>
            <p:cNvPr id="204" name="header-border-1"/>
            <p:cNvGrpSpPr/>
            <p:nvPr/>
          </p:nvGrpSpPr>
          <p:grpSpPr>
            <a:xfrm>
              <a:off x="3028950" y="1009650"/>
              <a:ext cx="1647825" cy="1409700"/>
              <a:chOff x="3028950" y="1009650"/>
              <a:chExt cx="1647825" cy="1409700"/>
            </a:xfrm>
          </p:grpSpPr>
          <p:sp>
            <p:nvSpPr>
              <p:cNvPr id="15" name="Roundrect 15"/>
              <p:cNvSpPr/>
              <p:nvPr/>
            </p:nvSpPr>
            <p:spPr>
              <a:xfrm>
                <a:off x="3028950" y="1009650"/>
                <a:ext cx="1647825" cy="1409700"/>
              </a:xfrm>
              <a:prstGeom prst="roundRect">
                <a:avLst>
                  <a:gd name="adj" fmla="val 3378"/>
                </a:avLst>
              </a:prstGeom>
              <a:solidFill>
                <a:srgbClr val="F0F7F3"/>
              </a:solidFill>
              <a:ln w="19050">
                <a:solidFill>
                  <a:srgbClr val="438775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72" name="tasks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86175" y="1085850"/>
                <a:ext cx="333375" cy="333375"/>
              </a:xfrm>
              <a:prstGeom prst="rect">
                <a:avLst/>
              </a:prstGeom>
            </p:spPr>
          </p:pic>
          <p:sp>
            <p:nvSpPr>
              <p:cNvPr id="128" name="TextBox 128"/>
              <p:cNvSpPr txBox="1"/>
              <p:nvPr/>
            </p:nvSpPr>
            <p:spPr>
              <a:xfrm>
                <a:off x="3067050" y="1438275"/>
                <a:ext cx="1571625" cy="542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00" b="1">
                    <a:solidFill>
                      <a:srgbClr val="438775"/>
                    </a:solidFill>
                    <a:latin typeface="Times New Roman"/>
                    <a:ea typeface="Times New Roman"/>
                    <a:cs typeface="Times New Roman"/>
                  </a:rPr>
                  <a:t>Tasks &amp;</a:t>
                </a:r>
                <a:endParaRPr lang="zh-CN" sz="1800"/>
              </a:p>
              <a:p>
                <a:pPr algn="ctr"/>
                <a:r>
                  <a:rPr lang="zh-CN" sz="1800" b="1">
                    <a:solidFill>
                      <a:srgbClr val="438775"/>
                    </a:solidFill>
                    <a:latin typeface="Times New Roman"/>
                    <a:ea typeface="Times New Roman"/>
                    <a:cs typeface="Times New Roman"/>
                  </a:rPr>
                  <a:t>curricula</a:t>
                </a:r>
                <a:endParaRPr lang="zh-CN" sz="1800"/>
              </a:p>
            </p:txBody>
          </p:sp>
          <p:sp>
            <p:nvSpPr>
              <p:cNvPr id="129" name="TextBox 129"/>
              <p:cNvSpPr txBox="1"/>
              <p:nvPr/>
            </p:nvSpPr>
            <p:spPr>
              <a:xfrm>
                <a:off x="3057525" y="1990725"/>
                <a:ext cx="15906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250" b="1">
                    <a:solidFill>
                      <a:srgbClr val="5E6060"/>
                    </a:solidFill>
                    <a:latin typeface="Times New Roman"/>
                    <a:ea typeface="Times New Roman"/>
                    <a:cs typeface="Times New Roman"/>
                  </a:rPr>
                  <a:t>Task generation</a:t>
                </a:r>
                <a:endParaRPr lang="zh-CN" sz="1250"/>
              </a:p>
              <a:p>
                <a:pPr algn="ctr"/>
                <a:r>
                  <a:rPr lang="zh-CN" sz="1250" b="1">
                    <a:solidFill>
                      <a:srgbClr val="5E6060"/>
                    </a:solidFill>
                    <a:latin typeface="Times New Roman"/>
                    <a:ea typeface="Times New Roman"/>
                    <a:cs typeface="Times New Roman"/>
                  </a:rPr>
                  <a:t>Environment feedback</a:t>
                </a:r>
                <a:endParaRPr lang="zh-CN" sz="1250"/>
              </a:p>
            </p:txBody>
          </p:sp>
        </p:grpSp>
        <p:grpSp>
          <p:nvGrpSpPr>
            <p:cNvPr id="205" name="header-border-2"/>
            <p:cNvGrpSpPr/>
            <p:nvPr/>
          </p:nvGrpSpPr>
          <p:grpSpPr>
            <a:xfrm>
              <a:off x="4762500" y="1009650"/>
              <a:ext cx="1647825" cy="1409700"/>
              <a:chOff x="4762500" y="1009650"/>
              <a:chExt cx="1647825" cy="1409700"/>
            </a:xfrm>
          </p:grpSpPr>
          <p:sp>
            <p:nvSpPr>
              <p:cNvPr id="16" name="Roundrect 16"/>
              <p:cNvSpPr/>
              <p:nvPr/>
            </p:nvSpPr>
            <p:spPr>
              <a:xfrm>
                <a:off x="4762500" y="1009650"/>
                <a:ext cx="1647825" cy="1409700"/>
              </a:xfrm>
              <a:prstGeom prst="roundRect">
                <a:avLst>
                  <a:gd name="adj" fmla="val 3378"/>
                </a:avLst>
              </a:prstGeom>
              <a:solidFill>
                <a:srgbClr val="F0F6FA"/>
              </a:solidFill>
              <a:ln w="19050">
                <a:solidFill>
                  <a:srgbClr val="4D87A3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73" name="memory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19725" y="1085850"/>
                <a:ext cx="333375" cy="333375"/>
              </a:xfrm>
              <a:prstGeom prst="rect">
                <a:avLst/>
              </a:prstGeom>
            </p:spPr>
          </p:pic>
          <p:sp>
            <p:nvSpPr>
              <p:cNvPr id="130" name="TextBox 130"/>
              <p:cNvSpPr txBox="1"/>
              <p:nvPr/>
            </p:nvSpPr>
            <p:spPr>
              <a:xfrm>
                <a:off x="4800600" y="1438275"/>
                <a:ext cx="1571625" cy="542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00" b="1">
                    <a:solidFill>
                      <a:srgbClr val="4D87A3"/>
                    </a:solidFill>
                    <a:latin typeface="Times New Roman"/>
                    <a:ea typeface="Times New Roman"/>
                    <a:cs typeface="Times New Roman"/>
                  </a:rPr>
                  <a:t>Memory &amp;</a:t>
                </a:r>
                <a:endParaRPr lang="zh-CN" sz="1800"/>
              </a:p>
              <a:p>
                <a:pPr algn="ctr"/>
                <a:r>
                  <a:rPr lang="zh-CN" sz="1800" b="1">
                    <a:solidFill>
                      <a:srgbClr val="4D87A3"/>
                    </a:solidFill>
                    <a:latin typeface="Times New Roman"/>
                    <a:ea typeface="Times New Roman"/>
                    <a:cs typeface="Times New Roman"/>
                  </a:rPr>
                  <a:t>skills</a:t>
                </a:r>
                <a:endParaRPr lang="zh-CN" sz="1800"/>
              </a:p>
            </p:txBody>
          </p:sp>
          <p:sp>
            <p:nvSpPr>
              <p:cNvPr id="131" name="TextBox 131"/>
              <p:cNvSpPr txBox="1"/>
              <p:nvPr/>
            </p:nvSpPr>
            <p:spPr>
              <a:xfrm>
                <a:off x="4791075" y="1990725"/>
                <a:ext cx="15906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250" b="1">
                    <a:solidFill>
                      <a:srgbClr val="5E6060"/>
                    </a:solidFill>
                    <a:latin typeface="Times New Roman"/>
                    <a:ea typeface="Times New Roman"/>
                    <a:cs typeface="Times New Roman"/>
                  </a:rPr>
                  <a:t>Reflective memory</a:t>
                </a:r>
                <a:endParaRPr lang="zh-CN" sz="1250"/>
              </a:p>
              <a:p>
                <a:pPr algn="ctr"/>
                <a:r>
                  <a:rPr lang="zh-CN" sz="1250" b="1">
                    <a:solidFill>
                      <a:srgbClr val="5E6060"/>
                    </a:solidFill>
                    <a:latin typeface="Times New Roman"/>
                    <a:ea typeface="Times New Roman"/>
                    <a:cs typeface="Times New Roman"/>
                  </a:rPr>
                  <a:t>Reusable knowledge</a:t>
                </a:r>
                <a:endParaRPr lang="zh-CN" sz="1250"/>
              </a:p>
            </p:txBody>
          </p:sp>
        </p:grpSp>
        <p:grpSp>
          <p:nvGrpSpPr>
            <p:cNvPr id="206" name="header-border-3"/>
            <p:cNvGrpSpPr/>
            <p:nvPr/>
          </p:nvGrpSpPr>
          <p:grpSpPr>
            <a:xfrm>
              <a:off x="6496050" y="1009650"/>
              <a:ext cx="1647825" cy="1409700"/>
              <a:chOff x="6496050" y="1009650"/>
              <a:chExt cx="1647825" cy="1409700"/>
            </a:xfrm>
          </p:grpSpPr>
          <p:sp>
            <p:nvSpPr>
              <p:cNvPr id="17" name="Roundrect 17"/>
              <p:cNvSpPr/>
              <p:nvPr/>
            </p:nvSpPr>
            <p:spPr>
              <a:xfrm>
                <a:off x="6496050" y="1009650"/>
                <a:ext cx="1647825" cy="1409700"/>
              </a:xfrm>
              <a:prstGeom prst="roundRect">
                <a:avLst>
                  <a:gd name="adj" fmla="val 3378"/>
                </a:avLst>
              </a:prstGeom>
              <a:solidFill>
                <a:srgbClr val="FAF4F2"/>
              </a:solidFill>
              <a:ln w="19050">
                <a:solidFill>
                  <a:srgbClr val="B77B7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74" name="code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53275" y="1085850"/>
                <a:ext cx="333375" cy="333375"/>
              </a:xfrm>
              <a:prstGeom prst="rect">
                <a:avLst/>
              </a:prstGeom>
            </p:spPr>
          </p:pic>
          <p:sp>
            <p:nvSpPr>
              <p:cNvPr id="132" name="TextBox 132"/>
              <p:cNvSpPr txBox="1"/>
              <p:nvPr/>
            </p:nvSpPr>
            <p:spPr>
              <a:xfrm>
                <a:off x="6534150" y="1438275"/>
                <a:ext cx="1571625" cy="542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00" b="1">
                    <a:solidFill>
                      <a:srgbClr val="B77B74"/>
                    </a:solidFill>
                    <a:latin typeface="Times New Roman"/>
                    <a:ea typeface="Times New Roman"/>
                    <a:cs typeface="Times New Roman"/>
                  </a:rPr>
                  <a:t>Code &amp;</a:t>
                </a:r>
                <a:endParaRPr lang="zh-CN" sz="1800"/>
              </a:p>
              <a:p>
                <a:pPr algn="ctr"/>
                <a:r>
                  <a:rPr lang="zh-CN" sz="1800" b="1">
                    <a:solidFill>
                      <a:srgbClr val="B77B74"/>
                    </a:solidFill>
                    <a:latin typeface="Times New Roman"/>
                    <a:ea typeface="Times New Roman"/>
                    <a:cs typeface="Times New Roman"/>
                  </a:rPr>
                  <a:t>workflows</a:t>
                </a:r>
                <a:endParaRPr lang="zh-CN" sz="1800"/>
              </a:p>
            </p:txBody>
          </p:sp>
          <p:sp>
            <p:nvSpPr>
              <p:cNvPr id="133" name="TextBox 133"/>
              <p:cNvSpPr txBox="1"/>
              <p:nvPr/>
            </p:nvSpPr>
            <p:spPr>
              <a:xfrm>
                <a:off x="6524625" y="1990725"/>
                <a:ext cx="15906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250" b="1">
                    <a:solidFill>
                      <a:srgbClr val="5E6060"/>
                    </a:solidFill>
                    <a:latin typeface="Times New Roman"/>
                    <a:ea typeface="Times New Roman"/>
                    <a:cs typeface="Times New Roman"/>
                  </a:rPr>
                  <a:t>Prompts and code</a:t>
                </a:r>
                <a:endParaRPr lang="zh-CN" sz="1250"/>
              </a:p>
              <a:p>
                <a:pPr algn="ctr"/>
                <a:r>
                  <a:rPr lang="zh-CN" sz="1250" b="1">
                    <a:solidFill>
                      <a:srgbClr val="5E6060"/>
                    </a:solidFill>
                    <a:latin typeface="Times New Roman"/>
                    <a:ea typeface="Times New Roman"/>
                    <a:cs typeface="Times New Roman"/>
                  </a:rPr>
                  <a:t>Agent architectures</a:t>
                </a:r>
                <a:endParaRPr lang="zh-CN" sz="1250"/>
              </a:p>
            </p:txBody>
          </p:sp>
        </p:grpSp>
        <p:grpSp>
          <p:nvGrpSpPr>
            <p:cNvPr id="207" name="header-border-4"/>
            <p:cNvGrpSpPr/>
            <p:nvPr/>
          </p:nvGrpSpPr>
          <p:grpSpPr>
            <a:xfrm>
              <a:off x="8229600" y="1009650"/>
              <a:ext cx="1647825" cy="1409700"/>
              <a:chOff x="8229600" y="1009650"/>
              <a:chExt cx="1647825" cy="1409700"/>
            </a:xfrm>
          </p:grpSpPr>
          <p:sp>
            <p:nvSpPr>
              <p:cNvPr id="18" name="Roundrect 18"/>
              <p:cNvSpPr/>
              <p:nvPr/>
            </p:nvSpPr>
            <p:spPr>
              <a:xfrm>
                <a:off x="8229600" y="1009650"/>
                <a:ext cx="1647825" cy="1409700"/>
              </a:xfrm>
              <a:prstGeom prst="roundRect">
                <a:avLst>
                  <a:gd name="adj" fmla="val 3378"/>
                </a:avLst>
              </a:prstGeom>
              <a:solidFill>
                <a:srgbClr val="F7F2FA"/>
              </a:solidFill>
              <a:ln w="19050">
                <a:solidFill>
                  <a:srgbClr val="916FA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75" name="feedback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86825" y="1085850"/>
                <a:ext cx="333375" cy="333375"/>
              </a:xfrm>
              <a:prstGeom prst="rect">
                <a:avLst/>
              </a:prstGeom>
            </p:spPr>
          </p:pic>
          <p:sp>
            <p:nvSpPr>
              <p:cNvPr id="134" name="TextBox 134"/>
              <p:cNvSpPr txBox="1"/>
              <p:nvPr/>
            </p:nvSpPr>
            <p:spPr>
              <a:xfrm>
                <a:off x="8267700" y="1438275"/>
                <a:ext cx="1571625" cy="542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00" b="1">
                    <a:solidFill>
                      <a:srgbClr val="916FA4"/>
                    </a:solidFill>
                    <a:latin typeface="Times New Roman"/>
                    <a:ea typeface="Times New Roman"/>
                    <a:cs typeface="Times New Roman"/>
                  </a:rPr>
                  <a:t>Feedback &amp;</a:t>
                </a:r>
                <a:endParaRPr lang="zh-CN" sz="1800"/>
              </a:p>
              <a:p>
                <a:pPr algn="ctr"/>
                <a:r>
                  <a:rPr lang="zh-CN" sz="1800" b="1">
                    <a:solidFill>
                      <a:srgbClr val="916FA4"/>
                    </a:solidFill>
                    <a:latin typeface="Times New Roman"/>
                    <a:ea typeface="Times New Roman"/>
                    <a:cs typeface="Times New Roman"/>
                  </a:rPr>
                  <a:t>judges</a:t>
                </a:r>
                <a:endParaRPr lang="zh-CN" sz="1800"/>
              </a:p>
            </p:txBody>
          </p:sp>
          <p:sp>
            <p:nvSpPr>
              <p:cNvPr id="135" name="TextBox 135"/>
              <p:cNvSpPr txBox="1"/>
              <p:nvPr/>
            </p:nvSpPr>
            <p:spPr>
              <a:xfrm>
                <a:off x="8258175" y="1990725"/>
                <a:ext cx="15906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250" b="1">
                    <a:solidFill>
                      <a:srgbClr val="5E6060"/>
                    </a:solidFill>
                    <a:latin typeface="Times New Roman"/>
                    <a:ea typeface="Times New Roman"/>
                    <a:cs typeface="Times New Roman"/>
                  </a:rPr>
                  <a:t>Learned rewards</a:t>
                </a:r>
                <a:endParaRPr lang="zh-CN" sz="1250"/>
              </a:p>
              <a:p>
                <a:pPr algn="ctr"/>
                <a:r>
                  <a:rPr lang="zh-CN" sz="1250" b="1">
                    <a:solidFill>
                      <a:srgbClr val="5E6060"/>
                    </a:solidFill>
                    <a:latin typeface="Times New Roman"/>
                    <a:ea typeface="Times New Roman"/>
                    <a:cs typeface="Times New Roman"/>
                  </a:rPr>
                  <a:t>Evaluator learning</a:t>
                </a:r>
                <a:endParaRPr lang="zh-CN" sz="1250"/>
              </a:p>
            </p:txBody>
          </p:sp>
        </p:grpSp>
        <p:grpSp>
          <p:nvGrpSpPr>
            <p:cNvPr id="208" name="header-border-5"/>
            <p:cNvGrpSpPr/>
            <p:nvPr/>
          </p:nvGrpSpPr>
          <p:grpSpPr>
            <a:xfrm>
              <a:off x="9963150" y="1009650"/>
              <a:ext cx="1647825" cy="1409700"/>
              <a:chOff x="9963150" y="1009650"/>
              <a:chExt cx="1647825" cy="1409700"/>
            </a:xfrm>
          </p:grpSpPr>
          <p:sp>
            <p:nvSpPr>
              <p:cNvPr id="19" name="Roundrect 19"/>
              <p:cNvSpPr/>
              <p:nvPr/>
            </p:nvSpPr>
            <p:spPr>
              <a:xfrm>
                <a:off x="9963150" y="1009650"/>
                <a:ext cx="1647825" cy="1409700"/>
              </a:xfrm>
              <a:prstGeom prst="roundRect">
                <a:avLst>
                  <a:gd name="adj" fmla="val 3378"/>
                </a:avLst>
              </a:prstGeom>
              <a:solidFill>
                <a:srgbClr val="F1F7F7"/>
              </a:solidFill>
              <a:ln w="19050">
                <a:solidFill>
                  <a:srgbClr val="4B919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76" name="metaheader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620375" y="1085850"/>
                <a:ext cx="333375" cy="333375"/>
              </a:xfrm>
              <a:prstGeom prst="rect">
                <a:avLst/>
              </a:prstGeom>
            </p:spPr>
          </p:pic>
          <p:sp>
            <p:nvSpPr>
              <p:cNvPr id="136" name="TextBox 136"/>
              <p:cNvSpPr txBox="1"/>
              <p:nvPr/>
            </p:nvSpPr>
            <p:spPr>
              <a:xfrm>
                <a:off x="10001250" y="1438275"/>
                <a:ext cx="1571625" cy="542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00" b="1">
                    <a:solidFill>
                      <a:srgbClr val="4B9194"/>
                    </a:solidFill>
                    <a:latin typeface="Times New Roman"/>
                    <a:ea typeface="Times New Roman"/>
                    <a:cs typeface="Times New Roman"/>
                  </a:rPr>
                  <a:t>Meta-level</a:t>
                </a:r>
                <a:endParaRPr lang="zh-CN" sz="1800"/>
              </a:p>
              <a:p>
                <a:pPr algn="ctr"/>
                <a:r>
                  <a:rPr lang="zh-CN" sz="1800" b="1">
                    <a:solidFill>
                      <a:srgbClr val="4B9194"/>
                    </a:solidFill>
                    <a:latin typeface="Times New Roman"/>
                    <a:ea typeface="Times New Roman"/>
                    <a:cs typeface="Times New Roman"/>
                  </a:rPr>
                  <a:t>improvement</a:t>
                </a:r>
                <a:endParaRPr lang="zh-CN" sz="1800"/>
              </a:p>
            </p:txBody>
          </p:sp>
          <p:sp>
            <p:nvSpPr>
              <p:cNvPr id="137" name="TextBox 137"/>
              <p:cNvSpPr txBox="1"/>
              <p:nvPr/>
            </p:nvSpPr>
            <p:spPr>
              <a:xfrm>
                <a:off x="9991725" y="1990725"/>
                <a:ext cx="15906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250" b="1">
                    <a:solidFill>
                      <a:srgbClr val="5E6060"/>
                    </a:solidFill>
                    <a:latin typeface="Times New Roman"/>
                    <a:ea typeface="Times New Roman"/>
                    <a:cs typeface="Times New Roman"/>
                  </a:rPr>
                  <a:t>Update strategies</a:t>
                </a:r>
                <a:endParaRPr lang="zh-CN" sz="1250"/>
              </a:p>
              <a:p>
                <a:pPr algn="ctr"/>
                <a:r>
                  <a:rPr lang="zh-CN" sz="1250" b="1">
                    <a:solidFill>
                      <a:srgbClr val="5E6060"/>
                    </a:solidFill>
                    <a:latin typeface="Times New Roman"/>
                    <a:ea typeface="Times New Roman"/>
                    <a:cs typeface="Times New Roman"/>
                  </a:rPr>
                  <a:t>Research automation</a:t>
                </a:r>
                <a:endParaRPr lang="zh-CN" sz="1250"/>
              </a:p>
            </p:txBody>
          </p:sp>
        </p:grpSp>
        <p:grpSp>
          <p:nvGrpSpPr>
            <p:cNvPr id="209" name="method-border-0"/>
            <p:cNvGrpSpPr/>
            <p:nvPr/>
          </p:nvGrpSpPr>
          <p:grpSpPr>
            <a:xfrm>
              <a:off x="1295400" y="5048250"/>
              <a:ext cx="1647825" cy="409575"/>
              <a:chOff x="1295400" y="5048250"/>
              <a:chExt cx="1647825" cy="409575"/>
            </a:xfrm>
          </p:grpSpPr>
          <p:sp>
            <p:nvSpPr>
              <p:cNvPr id="25" name="Roundrect 25"/>
              <p:cNvSpPr/>
              <p:nvPr/>
            </p:nvSpPr>
            <p:spPr>
              <a:xfrm>
                <a:off x="1295400" y="5048250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AA8447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77" name="seal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43025" y="511492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43" name="TextBox 143"/>
              <p:cNvSpPr txBox="1"/>
              <p:nvPr/>
            </p:nvSpPr>
            <p:spPr>
              <a:xfrm>
                <a:off x="1619250" y="5057775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SEAL</a:t>
                </a:r>
                <a:endParaRPr lang="zh-CN" sz="1550"/>
              </a:p>
            </p:txBody>
          </p:sp>
        </p:grpSp>
        <p:grpSp>
          <p:nvGrpSpPr>
            <p:cNvPr id="210" name="method-border-1"/>
            <p:cNvGrpSpPr/>
            <p:nvPr/>
          </p:nvGrpSpPr>
          <p:grpSpPr>
            <a:xfrm>
              <a:off x="1295400" y="6048375"/>
              <a:ext cx="1647825" cy="400050"/>
              <a:chOff x="1295400" y="6048375"/>
              <a:chExt cx="1647825" cy="400050"/>
            </a:xfrm>
          </p:grpSpPr>
          <p:sp>
            <p:nvSpPr>
              <p:cNvPr id="26" name="Roundrect 26"/>
              <p:cNvSpPr/>
              <p:nvPr/>
            </p:nvSpPr>
            <p:spPr>
              <a:xfrm>
                <a:off x="1295400" y="6048375"/>
                <a:ext cx="1647825" cy="400050"/>
              </a:xfrm>
              <a:prstGeom prst="roundRect">
                <a:avLst>
                  <a:gd name="adj" fmla="val 11905"/>
                </a:avLst>
              </a:prstGeom>
              <a:solidFill>
                <a:srgbClr val="FCFCFC"/>
              </a:solidFill>
              <a:ln w="19050">
                <a:solidFill>
                  <a:srgbClr val="AA8447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78" name="tsinghua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43025" y="6110288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44" name="TextBox 144"/>
              <p:cNvSpPr txBox="1"/>
              <p:nvPr/>
            </p:nvSpPr>
            <p:spPr>
              <a:xfrm>
                <a:off x="1619250" y="6057900"/>
                <a:ext cx="130492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TTRL</a:t>
                </a:r>
                <a:endParaRPr lang="zh-CN" sz="1550"/>
              </a:p>
            </p:txBody>
          </p:sp>
        </p:grpSp>
        <p:grpSp>
          <p:nvGrpSpPr>
            <p:cNvPr id="211" name="method-border-2"/>
            <p:cNvGrpSpPr/>
            <p:nvPr/>
          </p:nvGrpSpPr>
          <p:grpSpPr>
            <a:xfrm>
              <a:off x="1295400" y="7029450"/>
              <a:ext cx="1647825" cy="409575"/>
              <a:chOff x="1295400" y="7029450"/>
              <a:chExt cx="1647825" cy="409575"/>
            </a:xfrm>
          </p:grpSpPr>
          <p:sp>
            <p:nvSpPr>
              <p:cNvPr id="27" name="Roundrect 27"/>
              <p:cNvSpPr/>
              <p:nvPr/>
            </p:nvSpPr>
            <p:spPr>
              <a:xfrm>
                <a:off x="1295400" y="7029450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AA8447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79" name="deepmind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43025" y="709612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45" name="TextBox 145"/>
              <p:cNvSpPr txBox="1"/>
              <p:nvPr/>
            </p:nvSpPr>
            <p:spPr>
              <a:xfrm>
                <a:off x="1619250" y="7038975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SCoRe</a:t>
                </a:r>
                <a:endParaRPr lang="zh-CN" sz="1550"/>
              </a:p>
            </p:txBody>
          </p:sp>
        </p:grpSp>
        <p:grpSp>
          <p:nvGrpSpPr>
            <p:cNvPr id="212" name="method-border-3"/>
            <p:cNvGrpSpPr/>
            <p:nvPr/>
          </p:nvGrpSpPr>
          <p:grpSpPr>
            <a:xfrm>
              <a:off x="1295400" y="7515225"/>
              <a:ext cx="1647825" cy="390525"/>
              <a:chOff x="1295400" y="7515225"/>
              <a:chExt cx="1647825" cy="390525"/>
            </a:xfrm>
          </p:grpSpPr>
          <p:sp>
            <p:nvSpPr>
              <p:cNvPr id="28" name="Roundrect 28"/>
              <p:cNvSpPr/>
              <p:nvPr/>
            </p:nvSpPr>
            <p:spPr>
              <a:xfrm>
                <a:off x="1295400" y="7515225"/>
                <a:ext cx="1647825" cy="390525"/>
              </a:xfrm>
              <a:prstGeom prst="roundRect">
                <a:avLst>
                  <a:gd name="adj" fmla="val 12195"/>
                </a:avLst>
              </a:prstGeom>
              <a:solidFill>
                <a:srgbClr val="FCFCFC"/>
              </a:solidFill>
              <a:ln w="19050">
                <a:solidFill>
                  <a:srgbClr val="AA8447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80" name="cmu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43025" y="757237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46" name="TextBox 146"/>
              <p:cNvSpPr txBox="1"/>
              <p:nvPr/>
            </p:nvSpPr>
            <p:spPr>
              <a:xfrm>
                <a:off x="1619250" y="7524750"/>
                <a:ext cx="1304925" cy="3714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RISE</a:t>
                </a:r>
                <a:endParaRPr lang="zh-CN" sz="1550"/>
              </a:p>
            </p:txBody>
          </p:sp>
        </p:grpSp>
        <p:grpSp>
          <p:nvGrpSpPr>
            <p:cNvPr id="213" name="method-border-4"/>
            <p:cNvGrpSpPr/>
            <p:nvPr/>
          </p:nvGrpSpPr>
          <p:grpSpPr>
            <a:xfrm>
              <a:off x="1295400" y="8001000"/>
              <a:ext cx="1647825" cy="409575"/>
              <a:chOff x="1295400" y="8001000"/>
              <a:chExt cx="1647825" cy="409575"/>
            </a:xfrm>
          </p:grpSpPr>
          <p:sp>
            <p:nvSpPr>
              <p:cNvPr id="29" name="Roundrect 29"/>
              <p:cNvSpPr/>
              <p:nvPr/>
            </p:nvSpPr>
            <p:spPr>
              <a:xfrm>
                <a:off x="1295400" y="8001000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AA8447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81" name="stanford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43025" y="806767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47" name="TextBox 147"/>
              <p:cNvSpPr txBox="1"/>
              <p:nvPr/>
            </p:nvSpPr>
            <p:spPr>
              <a:xfrm>
                <a:off x="1619250" y="8010525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Quiet-STaR</a:t>
                </a:r>
                <a:endParaRPr lang="zh-CN" sz="1550"/>
              </a:p>
            </p:txBody>
          </p:sp>
        </p:grpSp>
        <p:grpSp>
          <p:nvGrpSpPr>
            <p:cNvPr id="214" name="method-border-5"/>
            <p:cNvGrpSpPr/>
            <p:nvPr/>
          </p:nvGrpSpPr>
          <p:grpSpPr>
            <a:xfrm>
              <a:off x="1295400" y="8496300"/>
              <a:ext cx="1647825" cy="409575"/>
              <a:chOff x="1295400" y="8496300"/>
              <a:chExt cx="1647825" cy="409575"/>
            </a:xfrm>
          </p:grpSpPr>
          <p:sp>
            <p:nvSpPr>
              <p:cNvPr id="30" name="Roundrect 30"/>
              <p:cNvSpPr/>
              <p:nvPr/>
            </p:nvSpPr>
            <p:spPr>
              <a:xfrm>
                <a:off x="1295400" y="8496300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AA8447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82" name="ucla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43025" y="856297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48" name="TextBox 148"/>
              <p:cNvSpPr txBox="1"/>
              <p:nvPr/>
            </p:nvSpPr>
            <p:spPr>
              <a:xfrm>
                <a:off x="1619250" y="8505825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SPIN</a:t>
                </a:r>
                <a:endParaRPr lang="zh-CN" sz="1550"/>
              </a:p>
            </p:txBody>
          </p:sp>
        </p:grpSp>
        <p:grpSp>
          <p:nvGrpSpPr>
            <p:cNvPr id="215" name="method-border-6"/>
            <p:cNvGrpSpPr/>
            <p:nvPr/>
          </p:nvGrpSpPr>
          <p:grpSpPr>
            <a:xfrm>
              <a:off x="1295400" y="9420225"/>
              <a:ext cx="1647825" cy="409575"/>
              <a:chOff x="1295400" y="9420225"/>
              <a:chExt cx="1647825" cy="409575"/>
            </a:xfrm>
          </p:grpSpPr>
          <p:sp>
            <p:nvSpPr>
              <p:cNvPr id="31" name="Roundrect 31"/>
              <p:cNvSpPr/>
              <p:nvPr/>
            </p:nvSpPr>
            <p:spPr>
              <a:xfrm>
                <a:off x="1295400" y="9420225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AA8447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83" name="deepmind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343025" y="948690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49" name="TextBox 149"/>
              <p:cNvSpPr txBox="1"/>
              <p:nvPr/>
            </p:nvSpPr>
            <p:spPr>
              <a:xfrm>
                <a:off x="1619250" y="9429750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ReSTᴱᴹ</a:t>
                </a:r>
                <a:endParaRPr lang="zh-CN" sz="1550"/>
              </a:p>
            </p:txBody>
          </p:sp>
        </p:grpSp>
        <p:grpSp>
          <p:nvGrpSpPr>
            <p:cNvPr id="216" name="method-border-7"/>
            <p:cNvGrpSpPr/>
            <p:nvPr/>
          </p:nvGrpSpPr>
          <p:grpSpPr>
            <a:xfrm>
              <a:off x="1295400" y="10306050"/>
              <a:ext cx="1647825" cy="409575"/>
              <a:chOff x="1295400" y="10306050"/>
              <a:chExt cx="1647825" cy="409575"/>
            </a:xfrm>
          </p:grpSpPr>
          <p:sp>
            <p:nvSpPr>
              <p:cNvPr id="32" name="Roundrect 32"/>
              <p:cNvSpPr/>
              <p:nvPr/>
            </p:nvSpPr>
            <p:spPr>
              <a:xfrm>
                <a:off x="1295400" y="10306050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AA8447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84" name="deepmind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43025" y="1037272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50" name="TextBox 150"/>
              <p:cNvSpPr txBox="1"/>
              <p:nvPr/>
            </p:nvSpPr>
            <p:spPr>
              <a:xfrm>
                <a:off x="1619250" y="10315575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ReST</a:t>
                </a:r>
                <a:endParaRPr lang="zh-CN" sz="1550"/>
              </a:p>
            </p:txBody>
          </p:sp>
        </p:grpSp>
        <p:grpSp>
          <p:nvGrpSpPr>
            <p:cNvPr id="217" name="method-border-8"/>
            <p:cNvGrpSpPr/>
            <p:nvPr/>
          </p:nvGrpSpPr>
          <p:grpSpPr>
            <a:xfrm>
              <a:off x="1295400" y="11201400"/>
              <a:ext cx="1647825" cy="409575"/>
              <a:chOff x="1295400" y="11201400"/>
              <a:chExt cx="1647825" cy="409575"/>
            </a:xfrm>
          </p:grpSpPr>
          <p:sp>
            <p:nvSpPr>
              <p:cNvPr id="33" name="Roundrect 33"/>
              <p:cNvSpPr/>
              <p:nvPr/>
            </p:nvSpPr>
            <p:spPr>
              <a:xfrm>
                <a:off x="1295400" y="11201400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AA8447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85" name="washington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343025" y="1126807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51" name="TextBox 151"/>
              <p:cNvSpPr txBox="1"/>
              <p:nvPr/>
            </p:nvSpPr>
            <p:spPr>
              <a:xfrm>
                <a:off x="1619250" y="11210925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Self-Instruct</a:t>
                </a:r>
                <a:endParaRPr lang="zh-CN" sz="1550"/>
              </a:p>
            </p:txBody>
          </p:sp>
        </p:grpSp>
        <p:grpSp>
          <p:nvGrpSpPr>
            <p:cNvPr id="218" name="method-border-9"/>
            <p:cNvGrpSpPr/>
            <p:nvPr/>
          </p:nvGrpSpPr>
          <p:grpSpPr>
            <a:xfrm>
              <a:off x="1295400" y="11668125"/>
              <a:ext cx="1647825" cy="409575"/>
              <a:chOff x="1295400" y="11668125"/>
              <a:chExt cx="1647825" cy="409575"/>
            </a:xfrm>
          </p:grpSpPr>
          <p:sp>
            <p:nvSpPr>
              <p:cNvPr id="34" name="Roundrect 34"/>
              <p:cNvSpPr/>
              <p:nvPr/>
            </p:nvSpPr>
            <p:spPr>
              <a:xfrm>
                <a:off x="1295400" y="11668125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AA8447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86" name="stanford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43025" y="1173480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52" name="TextBox 152"/>
              <p:cNvSpPr txBox="1"/>
              <p:nvPr/>
            </p:nvSpPr>
            <p:spPr>
              <a:xfrm>
                <a:off x="1619250" y="11677650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STaR</a:t>
                </a:r>
                <a:endParaRPr lang="zh-CN" sz="1550"/>
              </a:p>
            </p:txBody>
          </p:sp>
        </p:grpSp>
        <p:grpSp>
          <p:nvGrpSpPr>
            <p:cNvPr id="219" name="method-border-10"/>
            <p:cNvGrpSpPr/>
            <p:nvPr/>
          </p:nvGrpSpPr>
          <p:grpSpPr>
            <a:xfrm>
              <a:off x="3028950" y="4867275"/>
              <a:ext cx="1647825" cy="409575"/>
              <a:chOff x="3028950" y="4867275"/>
              <a:chExt cx="1647825" cy="409575"/>
            </a:xfrm>
          </p:grpSpPr>
          <p:sp>
            <p:nvSpPr>
              <p:cNvPr id="35" name="Roundrect 35"/>
              <p:cNvSpPr/>
              <p:nvPr/>
            </p:nvSpPr>
            <p:spPr>
              <a:xfrm>
                <a:off x="3028950" y="4867275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438775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87" name="alibaba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076575" y="493395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53" name="TextBox 153"/>
              <p:cNvSpPr txBox="1"/>
              <p:nvPr/>
            </p:nvSpPr>
            <p:spPr>
              <a:xfrm>
                <a:off x="3352800" y="4876800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AgentEvolver</a:t>
                </a:r>
                <a:endParaRPr lang="zh-CN" sz="1550"/>
              </a:p>
            </p:txBody>
          </p:sp>
        </p:grpSp>
        <p:grpSp>
          <p:nvGrpSpPr>
            <p:cNvPr id="220" name="method-border-11"/>
            <p:cNvGrpSpPr/>
            <p:nvPr/>
          </p:nvGrpSpPr>
          <p:grpSpPr>
            <a:xfrm>
              <a:off x="3028950" y="5543550"/>
              <a:ext cx="1647825" cy="409575"/>
              <a:chOff x="3028950" y="5543550"/>
              <a:chExt cx="1647825" cy="409575"/>
            </a:xfrm>
          </p:grpSpPr>
          <p:sp>
            <p:nvSpPr>
              <p:cNvPr id="36" name="Roundrect 36"/>
              <p:cNvSpPr/>
              <p:nvPr/>
            </p:nvSpPr>
            <p:spPr>
              <a:xfrm>
                <a:off x="3028950" y="5543550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438775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88" name="rzero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076575" y="561022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54" name="TextBox 154"/>
              <p:cNvSpPr txBox="1"/>
              <p:nvPr/>
            </p:nvSpPr>
            <p:spPr>
              <a:xfrm>
                <a:off x="3352800" y="5553075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R-Zero</a:t>
                </a:r>
                <a:endParaRPr lang="zh-CN" sz="1550"/>
              </a:p>
            </p:txBody>
          </p:sp>
        </p:grpSp>
        <p:grpSp>
          <p:nvGrpSpPr>
            <p:cNvPr id="221" name="method-border-12"/>
            <p:cNvGrpSpPr/>
            <p:nvPr/>
          </p:nvGrpSpPr>
          <p:grpSpPr>
            <a:xfrm>
              <a:off x="3028950" y="6181725"/>
              <a:ext cx="1647825" cy="466725"/>
              <a:chOff x="3028950" y="6181725"/>
              <a:chExt cx="1647825" cy="466725"/>
            </a:xfrm>
          </p:grpSpPr>
          <p:sp>
            <p:nvSpPr>
              <p:cNvPr id="37" name="Roundrect 37"/>
              <p:cNvSpPr/>
              <p:nvPr/>
            </p:nvSpPr>
            <p:spPr>
              <a:xfrm>
                <a:off x="3028950" y="6181725"/>
                <a:ext cx="1647825" cy="466725"/>
              </a:xfrm>
              <a:prstGeom prst="roundRect">
                <a:avLst>
                  <a:gd name="adj" fmla="val 10204"/>
                </a:avLst>
              </a:prstGeom>
              <a:solidFill>
                <a:srgbClr val="FCFCFC"/>
              </a:solidFill>
              <a:ln w="19050">
                <a:solidFill>
                  <a:srgbClr val="438775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89" name="tsinghua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076575" y="627697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55" name="TextBox 155"/>
              <p:cNvSpPr txBox="1"/>
              <p:nvPr/>
            </p:nvSpPr>
            <p:spPr>
              <a:xfrm>
                <a:off x="3352800" y="6191250"/>
                <a:ext cx="1304925" cy="4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Absolute</a:t>
                </a:r>
                <a:endParaRPr lang="zh-CN" sz="1550"/>
              </a:p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Zero</a:t>
                </a:r>
                <a:endParaRPr lang="zh-CN" sz="1550"/>
              </a:p>
            </p:txBody>
          </p:sp>
        </p:grpSp>
        <p:grpSp>
          <p:nvGrpSpPr>
            <p:cNvPr id="222" name="method-border-13"/>
            <p:cNvGrpSpPr/>
            <p:nvPr/>
          </p:nvGrpSpPr>
          <p:grpSpPr>
            <a:xfrm>
              <a:off x="3028950" y="7762875"/>
              <a:ext cx="1647825" cy="409575"/>
              <a:chOff x="3028950" y="7762875"/>
              <a:chExt cx="1647825" cy="409575"/>
            </a:xfrm>
          </p:grpSpPr>
          <p:sp>
            <p:nvSpPr>
              <p:cNvPr id="38" name="Roundrect 38"/>
              <p:cNvSpPr/>
              <p:nvPr/>
            </p:nvSpPr>
            <p:spPr>
              <a:xfrm>
                <a:off x="3028950" y="7762875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438775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90" name="agentgym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076575" y="782955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56" name="TextBox 156"/>
              <p:cNvSpPr txBox="1"/>
              <p:nvPr/>
            </p:nvSpPr>
            <p:spPr>
              <a:xfrm>
                <a:off x="3352800" y="7772400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AgentGym</a:t>
                </a:r>
                <a:endParaRPr lang="zh-CN" sz="1550"/>
              </a:p>
            </p:txBody>
          </p:sp>
        </p:grpSp>
        <p:grpSp>
          <p:nvGrpSpPr>
            <p:cNvPr id="223" name="method-border-14"/>
            <p:cNvGrpSpPr/>
            <p:nvPr/>
          </p:nvGrpSpPr>
          <p:grpSpPr>
            <a:xfrm>
              <a:off x="4762500" y="3371850"/>
              <a:ext cx="1647825" cy="409575"/>
              <a:chOff x="4762500" y="3371850"/>
              <a:chExt cx="1647825" cy="409575"/>
            </a:xfrm>
          </p:grpSpPr>
          <p:sp>
            <p:nvSpPr>
              <p:cNvPr id="39" name="Roundrect 39"/>
              <p:cNvSpPr/>
              <p:nvPr/>
            </p:nvSpPr>
            <p:spPr>
              <a:xfrm>
                <a:off x="4762500" y="3371850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4D87A3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91" name="unc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810125" y="343852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57" name="TextBox 157"/>
              <p:cNvSpPr txBox="1"/>
              <p:nvPr/>
            </p:nvSpPr>
            <p:spPr>
              <a:xfrm>
                <a:off x="5086350" y="3381375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MetaClaw</a:t>
                </a:r>
                <a:endParaRPr lang="zh-CN" sz="1550"/>
              </a:p>
            </p:txBody>
          </p:sp>
        </p:grpSp>
        <p:grpSp>
          <p:nvGrpSpPr>
            <p:cNvPr id="224" name="method-border-15"/>
            <p:cNvGrpSpPr/>
            <p:nvPr/>
          </p:nvGrpSpPr>
          <p:grpSpPr>
            <a:xfrm>
              <a:off x="4762500" y="4867275"/>
              <a:ext cx="1647825" cy="409575"/>
              <a:chOff x="4762500" y="4867275"/>
              <a:chExt cx="1647825" cy="409575"/>
            </a:xfrm>
          </p:grpSpPr>
          <p:sp>
            <p:nvSpPr>
              <p:cNvPr id="40" name="Roundrect 40"/>
              <p:cNvSpPr/>
              <p:nvPr/>
            </p:nvSpPr>
            <p:spPr>
              <a:xfrm>
                <a:off x="4762500" y="4867275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4D87A3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92" name="stanford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810125" y="493395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58" name="TextBox 158"/>
              <p:cNvSpPr txBox="1"/>
              <p:nvPr/>
            </p:nvSpPr>
            <p:spPr>
              <a:xfrm>
                <a:off x="5086350" y="4876800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ACE</a:t>
                </a:r>
                <a:endParaRPr lang="zh-CN" sz="1550"/>
              </a:p>
            </p:txBody>
          </p:sp>
        </p:grpSp>
        <p:grpSp>
          <p:nvGrpSpPr>
            <p:cNvPr id="225" name="method-border-16"/>
            <p:cNvGrpSpPr/>
            <p:nvPr/>
          </p:nvGrpSpPr>
          <p:grpSpPr>
            <a:xfrm>
              <a:off x="4762500" y="5495925"/>
              <a:ext cx="1647825" cy="466725"/>
              <a:chOff x="4762500" y="5495925"/>
              <a:chExt cx="1647825" cy="466725"/>
            </a:xfrm>
          </p:grpSpPr>
          <p:sp>
            <p:nvSpPr>
              <p:cNvPr id="41" name="Roundrect 41"/>
              <p:cNvSpPr/>
              <p:nvPr/>
            </p:nvSpPr>
            <p:spPr>
              <a:xfrm>
                <a:off x="4762500" y="5495925"/>
                <a:ext cx="1647825" cy="466725"/>
              </a:xfrm>
              <a:prstGeom prst="roundRect">
                <a:avLst>
                  <a:gd name="adj" fmla="val 10204"/>
                </a:avLst>
              </a:prstGeom>
              <a:solidFill>
                <a:srgbClr val="FCFCFC"/>
              </a:solidFill>
              <a:ln w="19050">
                <a:solidFill>
                  <a:srgbClr val="4D87A3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93" name="stanford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810125" y="559117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59" name="TextBox 159"/>
              <p:cNvSpPr txBox="1"/>
              <p:nvPr/>
            </p:nvSpPr>
            <p:spPr>
              <a:xfrm>
                <a:off x="5086350" y="5505450"/>
                <a:ext cx="1304925" cy="4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4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Dynamic</a:t>
                </a:r>
                <a:endParaRPr lang="zh-CN" sz="1450"/>
              </a:p>
              <a:p>
                <a:pPr algn="ctr"/>
                <a:r>
                  <a:rPr lang="zh-CN" sz="14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Cheatsheet</a:t>
                </a:r>
                <a:endParaRPr lang="zh-CN" sz="1450"/>
              </a:p>
            </p:txBody>
          </p:sp>
        </p:grpSp>
        <p:grpSp>
          <p:nvGrpSpPr>
            <p:cNvPr id="226" name="method-border-17"/>
            <p:cNvGrpSpPr/>
            <p:nvPr/>
          </p:nvGrpSpPr>
          <p:grpSpPr>
            <a:xfrm>
              <a:off x="4762500" y="6191250"/>
              <a:ext cx="1647825" cy="419100"/>
              <a:chOff x="4762500" y="6191250"/>
              <a:chExt cx="1647825" cy="419100"/>
            </a:xfrm>
          </p:grpSpPr>
          <p:sp>
            <p:nvSpPr>
              <p:cNvPr id="42" name="Roundrect 42"/>
              <p:cNvSpPr/>
              <p:nvPr/>
            </p:nvSpPr>
            <p:spPr>
              <a:xfrm>
                <a:off x="4762500" y="6191250"/>
                <a:ext cx="1647825" cy="419100"/>
              </a:xfrm>
              <a:prstGeom prst="roundRect">
                <a:avLst>
                  <a:gd name="adj" fmla="val 11364"/>
                </a:avLst>
              </a:prstGeom>
              <a:solidFill>
                <a:srgbClr val="FCFCFC"/>
              </a:solidFill>
              <a:ln w="19050">
                <a:solidFill>
                  <a:srgbClr val="4D87A3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94" name="rutgers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810125" y="6262688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60" name="TextBox 160"/>
              <p:cNvSpPr txBox="1"/>
              <p:nvPr/>
            </p:nvSpPr>
            <p:spPr>
              <a:xfrm>
                <a:off x="5086350" y="6200775"/>
                <a:ext cx="1304925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A-MEM</a:t>
                </a:r>
                <a:endParaRPr lang="zh-CN" sz="1550"/>
              </a:p>
            </p:txBody>
          </p:sp>
        </p:grpSp>
        <p:grpSp>
          <p:nvGrpSpPr>
            <p:cNvPr id="227" name="method-border-18"/>
            <p:cNvGrpSpPr/>
            <p:nvPr/>
          </p:nvGrpSpPr>
          <p:grpSpPr>
            <a:xfrm>
              <a:off x="4762500" y="9267825"/>
              <a:ext cx="1647825" cy="409575"/>
              <a:chOff x="4762500" y="9267825"/>
              <a:chExt cx="1647825" cy="409575"/>
            </a:xfrm>
          </p:grpSpPr>
          <p:sp>
            <p:nvSpPr>
              <p:cNvPr id="43" name="Roundrect 43"/>
              <p:cNvSpPr/>
              <p:nvPr/>
            </p:nvSpPr>
            <p:spPr>
              <a:xfrm>
                <a:off x="4762500" y="9267825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4D87A3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95" name="tsinghua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810125" y="933450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61" name="TextBox 161"/>
              <p:cNvSpPr txBox="1"/>
              <p:nvPr/>
            </p:nvSpPr>
            <p:spPr>
              <a:xfrm>
                <a:off x="5086350" y="9277350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ExpeL</a:t>
                </a:r>
                <a:endParaRPr lang="zh-CN" sz="1550"/>
              </a:p>
            </p:txBody>
          </p:sp>
        </p:grpSp>
        <p:grpSp>
          <p:nvGrpSpPr>
            <p:cNvPr id="228" name="method-border-19"/>
            <p:cNvGrpSpPr/>
            <p:nvPr/>
          </p:nvGrpSpPr>
          <p:grpSpPr>
            <a:xfrm>
              <a:off x="4762500" y="9858375"/>
              <a:ext cx="1647825" cy="409575"/>
              <a:chOff x="4762500" y="9858375"/>
              <a:chExt cx="1647825" cy="409575"/>
            </a:xfrm>
          </p:grpSpPr>
          <p:sp>
            <p:nvSpPr>
              <p:cNvPr id="44" name="Roundrect 44"/>
              <p:cNvSpPr/>
              <p:nvPr/>
            </p:nvSpPr>
            <p:spPr>
              <a:xfrm>
                <a:off x="4762500" y="9858375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4D87A3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96" name="nvidia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810125" y="992505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62" name="TextBox 162"/>
              <p:cNvSpPr txBox="1"/>
              <p:nvPr/>
            </p:nvSpPr>
            <p:spPr>
              <a:xfrm>
                <a:off x="5086350" y="9867900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Voyager</a:t>
                </a:r>
                <a:endParaRPr lang="zh-CN" sz="1550"/>
              </a:p>
            </p:txBody>
          </p:sp>
        </p:grpSp>
        <p:grpSp>
          <p:nvGrpSpPr>
            <p:cNvPr id="229" name="method-border-20"/>
            <p:cNvGrpSpPr/>
            <p:nvPr/>
          </p:nvGrpSpPr>
          <p:grpSpPr>
            <a:xfrm>
              <a:off x="4762500" y="10448925"/>
              <a:ext cx="1647825" cy="409575"/>
              <a:chOff x="4762500" y="10448925"/>
              <a:chExt cx="1647825" cy="409575"/>
            </a:xfrm>
          </p:grpSpPr>
          <p:sp>
            <p:nvSpPr>
              <p:cNvPr id="45" name="Roundrect 45"/>
              <p:cNvSpPr/>
              <p:nvPr/>
            </p:nvSpPr>
            <p:spPr>
              <a:xfrm>
                <a:off x="4762500" y="10448925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4D87A3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97" name="northeastern"/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810125" y="1051560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63" name="TextBox 163"/>
              <p:cNvSpPr txBox="1"/>
              <p:nvPr/>
            </p:nvSpPr>
            <p:spPr>
              <a:xfrm>
                <a:off x="5086350" y="10458450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Reflexion</a:t>
                </a:r>
                <a:endParaRPr lang="zh-CN" sz="1550"/>
              </a:p>
            </p:txBody>
          </p:sp>
        </p:grpSp>
        <p:grpSp>
          <p:nvGrpSpPr>
            <p:cNvPr id="230" name="method-border-21"/>
            <p:cNvGrpSpPr/>
            <p:nvPr/>
          </p:nvGrpSpPr>
          <p:grpSpPr>
            <a:xfrm>
              <a:off x="6496050" y="3343275"/>
              <a:ext cx="1647825" cy="428625"/>
              <a:chOff x="6496050" y="3343275"/>
              <a:chExt cx="1647825" cy="428625"/>
            </a:xfrm>
          </p:grpSpPr>
          <p:sp>
            <p:nvSpPr>
              <p:cNvPr id="46" name="Roundrect 46"/>
              <p:cNvSpPr/>
              <p:nvPr/>
            </p:nvSpPr>
            <p:spPr>
              <a:xfrm>
                <a:off x="6496050" y="3343275"/>
                <a:ext cx="1647825" cy="428625"/>
              </a:xfrm>
              <a:prstGeom prst="roundRect">
                <a:avLst>
                  <a:gd name="adj" fmla="val 11111"/>
                </a:avLst>
              </a:prstGeom>
              <a:solidFill>
                <a:srgbClr val="FCFCFC"/>
              </a:solidFill>
              <a:ln w="19050">
                <a:solidFill>
                  <a:srgbClr val="B77B7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98" name="prime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543675" y="341947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64" name="TextBox 164"/>
              <p:cNvSpPr txBox="1"/>
              <p:nvPr/>
            </p:nvSpPr>
            <p:spPr>
              <a:xfrm>
                <a:off x="6819900" y="3352800"/>
                <a:ext cx="1304925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Prime Agent</a:t>
                </a:r>
                <a:endParaRPr lang="zh-CN" sz="1550"/>
              </a:p>
            </p:txBody>
          </p:sp>
        </p:grpSp>
        <p:grpSp>
          <p:nvGrpSpPr>
            <p:cNvPr id="231" name="method-border-22"/>
            <p:cNvGrpSpPr/>
            <p:nvPr/>
          </p:nvGrpSpPr>
          <p:grpSpPr>
            <a:xfrm>
              <a:off x="6496050" y="4876800"/>
              <a:ext cx="1647825" cy="409575"/>
              <a:chOff x="6496050" y="4876800"/>
              <a:chExt cx="1647825" cy="409575"/>
            </a:xfrm>
          </p:grpSpPr>
          <p:sp>
            <p:nvSpPr>
              <p:cNvPr id="47" name="Roundrect 47"/>
              <p:cNvSpPr/>
              <p:nvPr/>
            </p:nvSpPr>
            <p:spPr>
              <a:xfrm>
                <a:off x="6496050" y="4876800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B77B7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99" name="berkeley"/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543675" y="494347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65" name="TextBox 165"/>
              <p:cNvSpPr txBox="1"/>
              <p:nvPr/>
            </p:nvSpPr>
            <p:spPr>
              <a:xfrm>
                <a:off x="6819900" y="4886325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GEPA</a:t>
                </a:r>
                <a:endParaRPr lang="zh-CN" sz="1550"/>
              </a:p>
            </p:txBody>
          </p:sp>
        </p:grpSp>
        <p:grpSp>
          <p:nvGrpSpPr>
            <p:cNvPr id="232" name="method-border-23"/>
            <p:cNvGrpSpPr/>
            <p:nvPr/>
          </p:nvGrpSpPr>
          <p:grpSpPr>
            <a:xfrm>
              <a:off x="6496050" y="5553075"/>
              <a:ext cx="1647825" cy="400050"/>
              <a:chOff x="6496050" y="5553075"/>
              <a:chExt cx="1647825" cy="400050"/>
            </a:xfrm>
          </p:grpSpPr>
          <p:sp>
            <p:nvSpPr>
              <p:cNvPr id="48" name="Roundrect 48"/>
              <p:cNvSpPr/>
              <p:nvPr/>
            </p:nvSpPr>
            <p:spPr>
              <a:xfrm>
                <a:off x="6496050" y="5553075"/>
                <a:ext cx="1647825" cy="400050"/>
              </a:xfrm>
              <a:prstGeom prst="roundRect">
                <a:avLst>
                  <a:gd name="adj" fmla="val 11905"/>
                </a:avLst>
              </a:prstGeom>
              <a:solidFill>
                <a:srgbClr val="FCFCFC"/>
              </a:solidFill>
              <a:ln w="19050">
                <a:solidFill>
                  <a:srgbClr val="B77B7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00" name="ubc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543675" y="5614988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66" name="TextBox 166"/>
              <p:cNvSpPr txBox="1"/>
              <p:nvPr/>
            </p:nvSpPr>
            <p:spPr>
              <a:xfrm>
                <a:off x="6819900" y="5562600"/>
                <a:ext cx="130492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DGM</a:t>
                </a:r>
                <a:endParaRPr lang="zh-CN" sz="1550"/>
              </a:p>
            </p:txBody>
          </p:sp>
        </p:grpSp>
        <p:grpSp>
          <p:nvGrpSpPr>
            <p:cNvPr id="233" name="method-border-24"/>
            <p:cNvGrpSpPr/>
            <p:nvPr/>
          </p:nvGrpSpPr>
          <p:grpSpPr>
            <a:xfrm>
              <a:off x="6496050" y="6200775"/>
              <a:ext cx="1647825" cy="409575"/>
              <a:chOff x="6496050" y="6200775"/>
              <a:chExt cx="1647825" cy="409575"/>
            </a:xfrm>
          </p:grpSpPr>
          <p:sp>
            <p:nvSpPr>
              <p:cNvPr id="49" name="Roundrect 49"/>
              <p:cNvSpPr/>
              <p:nvPr/>
            </p:nvSpPr>
            <p:spPr>
              <a:xfrm>
                <a:off x="6496050" y="6200775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B77B7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01" name="sica"/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543675" y="626745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67" name="TextBox 167"/>
              <p:cNvSpPr txBox="1"/>
              <p:nvPr/>
            </p:nvSpPr>
            <p:spPr>
              <a:xfrm>
                <a:off x="6819900" y="6210300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SICA</a:t>
                </a:r>
                <a:endParaRPr lang="zh-CN" sz="1550"/>
              </a:p>
            </p:txBody>
          </p:sp>
        </p:grpSp>
        <p:grpSp>
          <p:nvGrpSpPr>
            <p:cNvPr id="234" name="method-border-25"/>
            <p:cNvGrpSpPr/>
            <p:nvPr/>
          </p:nvGrpSpPr>
          <p:grpSpPr>
            <a:xfrm>
              <a:off x="6496050" y="7086600"/>
              <a:ext cx="1647825" cy="409575"/>
              <a:chOff x="6496050" y="7086600"/>
              <a:chExt cx="1647825" cy="409575"/>
            </a:xfrm>
          </p:grpSpPr>
          <p:sp>
            <p:nvSpPr>
              <p:cNvPr id="50" name="Roundrect 50"/>
              <p:cNvSpPr/>
              <p:nvPr/>
            </p:nvSpPr>
            <p:spPr>
              <a:xfrm>
                <a:off x="6496050" y="7086600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B77B7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02" name="hkust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543675" y="715327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68" name="TextBox 168"/>
              <p:cNvSpPr txBox="1"/>
              <p:nvPr/>
            </p:nvSpPr>
            <p:spPr>
              <a:xfrm>
                <a:off x="6819900" y="7096125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AFlow</a:t>
                </a:r>
                <a:endParaRPr lang="zh-CN" sz="1550"/>
              </a:p>
            </p:txBody>
          </p:sp>
        </p:grpSp>
        <p:grpSp>
          <p:nvGrpSpPr>
            <p:cNvPr id="235" name="method-border-26"/>
            <p:cNvGrpSpPr/>
            <p:nvPr/>
          </p:nvGrpSpPr>
          <p:grpSpPr>
            <a:xfrm>
              <a:off x="6496050" y="7762875"/>
              <a:ext cx="1647825" cy="409575"/>
              <a:chOff x="6496050" y="7762875"/>
              <a:chExt cx="1647825" cy="409575"/>
            </a:xfrm>
          </p:grpSpPr>
          <p:sp>
            <p:nvSpPr>
              <p:cNvPr id="51" name="Roundrect 51"/>
              <p:cNvSpPr/>
              <p:nvPr/>
            </p:nvSpPr>
            <p:spPr>
              <a:xfrm>
                <a:off x="6496050" y="7762875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B77B7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03" name="ubc"/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543675" y="782955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69" name="TextBox 169"/>
              <p:cNvSpPr txBox="1"/>
              <p:nvPr/>
            </p:nvSpPr>
            <p:spPr>
              <a:xfrm>
                <a:off x="6819900" y="7772400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ADAS</a:t>
                </a:r>
                <a:endParaRPr lang="zh-CN" sz="1550"/>
              </a:p>
            </p:txBody>
          </p:sp>
        </p:grpSp>
        <p:grpSp>
          <p:nvGrpSpPr>
            <p:cNvPr id="236" name="method-border-27"/>
            <p:cNvGrpSpPr/>
            <p:nvPr/>
          </p:nvGrpSpPr>
          <p:grpSpPr>
            <a:xfrm>
              <a:off x="6496050" y="8439150"/>
              <a:ext cx="1647825" cy="409575"/>
              <a:chOff x="6496050" y="8439150"/>
              <a:chExt cx="1647825" cy="409575"/>
            </a:xfrm>
          </p:grpSpPr>
          <p:sp>
            <p:nvSpPr>
              <p:cNvPr id="52" name="Roundrect 52"/>
              <p:cNvSpPr/>
              <p:nvPr/>
            </p:nvSpPr>
            <p:spPr>
              <a:xfrm>
                <a:off x="6496050" y="8439150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B77B7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04" name="stanford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543675" y="850582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70" name="TextBox 170"/>
              <p:cNvSpPr txBox="1"/>
              <p:nvPr/>
            </p:nvSpPr>
            <p:spPr>
              <a:xfrm>
                <a:off x="6819900" y="8448675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TextGrad</a:t>
                </a:r>
                <a:endParaRPr lang="zh-CN" sz="1550"/>
              </a:p>
            </p:txBody>
          </p:sp>
        </p:grpSp>
        <p:grpSp>
          <p:nvGrpSpPr>
            <p:cNvPr id="237" name="method-border-28"/>
            <p:cNvGrpSpPr/>
            <p:nvPr/>
          </p:nvGrpSpPr>
          <p:grpSpPr>
            <a:xfrm>
              <a:off x="6496050" y="9420225"/>
              <a:ext cx="1647825" cy="409575"/>
              <a:chOff x="6496050" y="9420225"/>
              <a:chExt cx="1647825" cy="409575"/>
            </a:xfrm>
          </p:grpSpPr>
          <p:sp>
            <p:nvSpPr>
              <p:cNvPr id="53" name="Roundrect 53"/>
              <p:cNvSpPr/>
              <p:nvPr/>
            </p:nvSpPr>
            <p:spPr>
              <a:xfrm>
                <a:off x="6496050" y="9420225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B77B7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05" name="stanford"/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543675" y="948690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71" name="TextBox 171"/>
              <p:cNvSpPr txBox="1"/>
              <p:nvPr/>
            </p:nvSpPr>
            <p:spPr>
              <a:xfrm>
                <a:off x="6819900" y="9429750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DSPy</a:t>
                </a:r>
                <a:endParaRPr lang="zh-CN" sz="1550"/>
              </a:p>
            </p:txBody>
          </p:sp>
        </p:grpSp>
        <p:grpSp>
          <p:nvGrpSpPr>
            <p:cNvPr id="238" name="method-border-29"/>
            <p:cNvGrpSpPr/>
            <p:nvPr/>
          </p:nvGrpSpPr>
          <p:grpSpPr>
            <a:xfrm>
              <a:off x="6496050" y="10296525"/>
              <a:ext cx="1647825" cy="409575"/>
              <a:chOff x="6496050" y="10296525"/>
              <a:chExt cx="1647825" cy="409575"/>
            </a:xfrm>
          </p:grpSpPr>
          <p:sp>
            <p:nvSpPr>
              <p:cNvPr id="54" name="Roundrect 54"/>
              <p:cNvSpPr/>
              <p:nvPr/>
            </p:nvSpPr>
            <p:spPr>
              <a:xfrm>
                <a:off x="6496050" y="10296525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B77B7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06" name="deepmind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543675" y="1036320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72" name="TextBox 172"/>
              <p:cNvSpPr txBox="1"/>
              <p:nvPr/>
            </p:nvSpPr>
            <p:spPr>
              <a:xfrm>
                <a:off x="6819900" y="10306050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OPRO</a:t>
                </a:r>
                <a:endParaRPr lang="zh-CN" sz="1550"/>
              </a:p>
            </p:txBody>
          </p:sp>
        </p:grpSp>
        <p:grpSp>
          <p:nvGrpSpPr>
            <p:cNvPr id="239" name="method-border-30"/>
            <p:cNvGrpSpPr/>
            <p:nvPr/>
          </p:nvGrpSpPr>
          <p:grpSpPr>
            <a:xfrm>
              <a:off x="8229600" y="5362575"/>
              <a:ext cx="1647825" cy="733425"/>
              <a:chOff x="8229600" y="5362575"/>
              <a:chExt cx="1647825" cy="733425"/>
            </a:xfrm>
          </p:grpSpPr>
          <p:sp>
            <p:nvSpPr>
              <p:cNvPr id="55" name="Roundrect 55"/>
              <p:cNvSpPr/>
              <p:nvPr/>
            </p:nvSpPr>
            <p:spPr>
              <a:xfrm>
                <a:off x="8229600" y="5362575"/>
                <a:ext cx="1647825" cy="733425"/>
              </a:xfrm>
              <a:prstGeom prst="roundRect">
                <a:avLst>
                  <a:gd name="adj" fmla="val 6494"/>
                </a:avLst>
              </a:prstGeom>
              <a:solidFill>
                <a:srgbClr val="FCFCFC"/>
              </a:solidFill>
              <a:ln w="19050">
                <a:solidFill>
                  <a:srgbClr val="916FA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07" name="process"/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277225" y="559117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73" name="TextBox 173"/>
              <p:cNvSpPr txBox="1"/>
              <p:nvPr/>
            </p:nvSpPr>
            <p:spPr>
              <a:xfrm>
                <a:off x="8553450" y="5372100"/>
                <a:ext cx="1304925" cy="714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4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Process</a:t>
                </a:r>
                <a:endParaRPr lang="zh-CN" sz="1450"/>
              </a:p>
              <a:p>
                <a:pPr algn="ctr"/>
                <a:r>
                  <a:rPr lang="zh-CN" sz="14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Self-</a:t>
                </a:r>
                <a:endParaRPr lang="zh-CN" sz="1450"/>
              </a:p>
              <a:p>
                <a:pPr algn="ctr"/>
                <a:r>
                  <a:rPr lang="zh-CN" sz="14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Rewarding</a:t>
                </a:r>
                <a:endParaRPr lang="zh-CN" sz="1450"/>
              </a:p>
            </p:txBody>
          </p:sp>
        </p:grpSp>
        <p:grpSp>
          <p:nvGrpSpPr>
            <p:cNvPr id="240" name="method-border-31"/>
            <p:cNvGrpSpPr/>
            <p:nvPr/>
          </p:nvGrpSpPr>
          <p:grpSpPr>
            <a:xfrm>
              <a:off x="8229600" y="7010400"/>
              <a:ext cx="1647825" cy="409575"/>
              <a:chOff x="8229600" y="7010400"/>
              <a:chExt cx="1647825" cy="409575"/>
            </a:xfrm>
          </p:grpSpPr>
          <p:sp>
            <p:nvSpPr>
              <p:cNvPr id="56" name="Roundrect 56"/>
              <p:cNvSpPr/>
              <p:nvPr/>
            </p:nvSpPr>
            <p:spPr>
              <a:xfrm>
                <a:off x="8229600" y="7010400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916FA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08" name="unc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277225" y="707707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74" name="TextBox 174"/>
              <p:cNvSpPr txBox="1"/>
              <p:nvPr/>
            </p:nvSpPr>
            <p:spPr>
              <a:xfrm>
                <a:off x="8553450" y="7019925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CREAM</a:t>
                </a:r>
                <a:endParaRPr lang="zh-CN" sz="1550"/>
              </a:p>
            </p:txBody>
          </p:sp>
        </p:grpSp>
        <p:grpSp>
          <p:nvGrpSpPr>
            <p:cNvPr id="241" name="method-border-32"/>
            <p:cNvGrpSpPr/>
            <p:nvPr/>
          </p:nvGrpSpPr>
          <p:grpSpPr>
            <a:xfrm>
              <a:off x="8229600" y="7458075"/>
              <a:ext cx="1647825" cy="523875"/>
              <a:chOff x="8229600" y="7458075"/>
              <a:chExt cx="1647825" cy="523875"/>
            </a:xfrm>
          </p:grpSpPr>
          <p:sp>
            <p:nvSpPr>
              <p:cNvPr id="57" name="Roundrect 57"/>
              <p:cNvSpPr/>
              <p:nvPr/>
            </p:nvSpPr>
            <p:spPr>
              <a:xfrm>
                <a:off x="8229600" y="7458075"/>
                <a:ext cx="1647825" cy="523875"/>
              </a:xfrm>
              <a:prstGeom prst="roundRect">
                <a:avLst>
                  <a:gd name="adj" fmla="val 9091"/>
                </a:avLst>
              </a:prstGeom>
              <a:solidFill>
                <a:srgbClr val="FCFCFC"/>
              </a:solidFill>
              <a:ln w="19050">
                <a:solidFill>
                  <a:srgbClr val="916FA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09" name="meta"/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277225" y="758190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75" name="TextBox 175"/>
              <p:cNvSpPr txBox="1"/>
              <p:nvPr/>
            </p:nvSpPr>
            <p:spPr>
              <a:xfrm>
                <a:off x="8553450" y="7467600"/>
                <a:ext cx="1304925" cy="504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4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Self-Taught</a:t>
                </a:r>
                <a:endParaRPr lang="zh-CN" sz="1450"/>
              </a:p>
              <a:p>
                <a:pPr algn="ctr"/>
                <a:r>
                  <a:rPr lang="zh-CN" sz="14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Evaluators</a:t>
                </a:r>
                <a:endParaRPr lang="zh-CN" sz="1450"/>
              </a:p>
            </p:txBody>
          </p:sp>
        </p:grpSp>
        <p:grpSp>
          <p:nvGrpSpPr>
            <p:cNvPr id="242" name="method-border-33"/>
            <p:cNvGrpSpPr/>
            <p:nvPr/>
          </p:nvGrpSpPr>
          <p:grpSpPr>
            <a:xfrm>
              <a:off x="8229600" y="8001000"/>
              <a:ext cx="1647825" cy="457200"/>
              <a:chOff x="8229600" y="8001000"/>
              <a:chExt cx="1647825" cy="457200"/>
            </a:xfrm>
          </p:grpSpPr>
          <p:sp>
            <p:nvSpPr>
              <p:cNvPr id="58" name="Roundrect 58"/>
              <p:cNvSpPr/>
              <p:nvPr/>
            </p:nvSpPr>
            <p:spPr>
              <a:xfrm>
                <a:off x="8229600" y="8001000"/>
                <a:ext cx="1647825" cy="457200"/>
              </a:xfrm>
              <a:prstGeom prst="roundRect">
                <a:avLst>
                  <a:gd name="adj" fmla="val 10417"/>
                </a:avLst>
              </a:prstGeom>
              <a:solidFill>
                <a:srgbClr val="FCFCFC"/>
              </a:solidFill>
              <a:ln w="19050">
                <a:solidFill>
                  <a:srgbClr val="916FA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10" name="meta"/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277225" y="8091488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76" name="TextBox 176"/>
              <p:cNvSpPr txBox="1"/>
              <p:nvPr/>
            </p:nvSpPr>
            <p:spPr>
              <a:xfrm>
                <a:off x="8553450" y="8010525"/>
                <a:ext cx="1304925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Meta-</a:t>
                </a:r>
                <a:endParaRPr lang="zh-CN" sz="1550"/>
              </a:p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Rewarding</a:t>
                </a:r>
                <a:endParaRPr lang="zh-CN" sz="1550"/>
              </a:p>
            </p:txBody>
          </p:sp>
        </p:grpSp>
        <p:grpSp>
          <p:nvGrpSpPr>
            <p:cNvPr id="243" name="method-border-34"/>
            <p:cNvGrpSpPr/>
            <p:nvPr/>
          </p:nvGrpSpPr>
          <p:grpSpPr>
            <a:xfrm>
              <a:off x="8229600" y="8477250"/>
              <a:ext cx="1647825" cy="504825"/>
              <a:chOff x="8229600" y="8477250"/>
              <a:chExt cx="1647825" cy="504825"/>
            </a:xfrm>
          </p:grpSpPr>
          <p:sp>
            <p:nvSpPr>
              <p:cNvPr id="59" name="Roundrect 59"/>
              <p:cNvSpPr/>
              <p:nvPr/>
            </p:nvSpPr>
            <p:spPr>
              <a:xfrm>
                <a:off x="8229600" y="8477250"/>
                <a:ext cx="1647825" cy="504825"/>
              </a:xfrm>
              <a:prstGeom prst="roundRect">
                <a:avLst>
                  <a:gd name="adj" fmla="val 9434"/>
                </a:avLst>
              </a:prstGeom>
              <a:solidFill>
                <a:srgbClr val="FCFCFC"/>
              </a:solidFill>
              <a:ln w="19050">
                <a:solidFill>
                  <a:srgbClr val="916FA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11" name="meta"/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277225" y="859155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77" name="TextBox 177"/>
              <p:cNvSpPr txBox="1"/>
              <p:nvPr/>
            </p:nvSpPr>
            <p:spPr>
              <a:xfrm>
                <a:off x="8553450" y="8486775"/>
                <a:ext cx="1304925" cy="485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Self-</a:t>
                </a:r>
                <a:endParaRPr lang="zh-CN" sz="1550"/>
              </a:p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Rewarding</a:t>
                </a:r>
                <a:endParaRPr lang="zh-CN" sz="1550"/>
              </a:p>
            </p:txBody>
          </p:sp>
        </p:grpSp>
        <p:grpSp>
          <p:nvGrpSpPr>
            <p:cNvPr id="244" name="method-border-35"/>
            <p:cNvGrpSpPr/>
            <p:nvPr/>
          </p:nvGrpSpPr>
          <p:grpSpPr>
            <a:xfrm>
              <a:off x="8229600" y="9867900"/>
              <a:ext cx="1647825" cy="409575"/>
              <a:chOff x="8229600" y="9867900"/>
              <a:chExt cx="1647825" cy="409575"/>
            </a:xfrm>
          </p:grpSpPr>
          <p:sp>
            <p:nvSpPr>
              <p:cNvPr id="60" name="Roundrect 60"/>
              <p:cNvSpPr/>
              <p:nvPr/>
            </p:nvSpPr>
            <p:spPr>
              <a:xfrm>
                <a:off x="8229600" y="9867900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916FA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12" name="microsoft"/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277225" y="993457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78" name="TextBox 178"/>
              <p:cNvSpPr txBox="1"/>
              <p:nvPr/>
            </p:nvSpPr>
            <p:spPr>
              <a:xfrm>
                <a:off x="8553450" y="9877425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CRITIC</a:t>
                </a:r>
                <a:endParaRPr lang="zh-CN" sz="1550"/>
              </a:p>
            </p:txBody>
          </p:sp>
        </p:grpSp>
        <p:grpSp>
          <p:nvGrpSpPr>
            <p:cNvPr id="245" name="method-border-36"/>
            <p:cNvGrpSpPr/>
            <p:nvPr/>
          </p:nvGrpSpPr>
          <p:grpSpPr>
            <a:xfrm>
              <a:off x="8229600" y="11382375"/>
              <a:ext cx="1647825" cy="504825"/>
              <a:chOff x="8229600" y="11382375"/>
              <a:chExt cx="1647825" cy="504825"/>
            </a:xfrm>
          </p:grpSpPr>
          <p:sp>
            <p:nvSpPr>
              <p:cNvPr id="61" name="Roundrect 61"/>
              <p:cNvSpPr/>
              <p:nvPr/>
            </p:nvSpPr>
            <p:spPr>
              <a:xfrm>
                <a:off x="8229600" y="11382375"/>
                <a:ext cx="1647825" cy="504825"/>
              </a:xfrm>
              <a:prstGeom prst="roundRect">
                <a:avLst>
                  <a:gd name="adj" fmla="val 9434"/>
                </a:avLst>
              </a:prstGeom>
              <a:solidFill>
                <a:srgbClr val="FCFCFC"/>
              </a:solidFill>
              <a:ln w="19050">
                <a:solidFill>
                  <a:srgbClr val="916FA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13" name="anthropic"/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277225" y="1149667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79" name="TextBox 179"/>
              <p:cNvSpPr txBox="1"/>
              <p:nvPr/>
            </p:nvSpPr>
            <p:spPr>
              <a:xfrm>
                <a:off x="8553450" y="11391900"/>
                <a:ext cx="1304925" cy="485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Constitutional</a:t>
                </a:r>
                <a:endParaRPr lang="zh-CN" sz="1550"/>
              </a:p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AI</a:t>
                </a:r>
                <a:endParaRPr lang="zh-CN" sz="1550"/>
              </a:p>
            </p:txBody>
          </p:sp>
        </p:grpSp>
        <p:grpSp>
          <p:nvGrpSpPr>
            <p:cNvPr id="246" name="method-border-37"/>
            <p:cNvGrpSpPr/>
            <p:nvPr/>
          </p:nvGrpSpPr>
          <p:grpSpPr>
            <a:xfrm>
              <a:off x="9963150" y="2733675"/>
              <a:ext cx="1647825" cy="409575"/>
              <a:chOff x="9963150" y="2733675"/>
              <a:chExt cx="1647825" cy="409575"/>
            </a:xfrm>
          </p:grpSpPr>
          <p:sp>
            <p:nvSpPr>
              <p:cNvPr id="62" name="Roundrect 62"/>
              <p:cNvSpPr/>
              <p:nvPr/>
            </p:nvSpPr>
            <p:spPr>
              <a:xfrm>
                <a:off x="9963150" y="2733675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4B919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14" name="minnesota"/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010775" y="280035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80" name="TextBox 180"/>
              <p:cNvSpPr txBox="1"/>
              <p:nvPr/>
            </p:nvSpPr>
            <p:spPr>
              <a:xfrm>
                <a:off x="10287000" y="2743200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Metaⁿ</a:t>
                </a:r>
                <a:endParaRPr lang="zh-CN" sz="1550"/>
              </a:p>
            </p:txBody>
          </p:sp>
        </p:grpSp>
        <p:grpSp>
          <p:nvGrpSpPr>
            <p:cNvPr id="247" name="method-border-38"/>
            <p:cNvGrpSpPr/>
            <p:nvPr/>
          </p:nvGrpSpPr>
          <p:grpSpPr>
            <a:xfrm>
              <a:off x="9963150" y="3305175"/>
              <a:ext cx="1647825" cy="533400"/>
              <a:chOff x="9963150" y="3305175"/>
              <a:chExt cx="1647825" cy="533400"/>
            </a:xfrm>
          </p:grpSpPr>
          <p:sp>
            <p:nvSpPr>
              <p:cNvPr id="63" name="Roundrect 63"/>
              <p:cNvSpPr/>
              <p:nvPr/>
            </p:nvSpPr>
            <p:spPr>
              <a:xfrm>
                <a:off x="9963150" y="3305175"/>
                <a:ext cx="1647825" cy="533400"/>
              </a:xfrm>
              <a:prstGeom prst="roundRect">
                <a:avLst>
                  <a:gd name="adj" fmla="val 8929"/>
                </a:avLst>
              </a:prstGeom>
              <a:solidFill>
                <a:srgbClr val="FCFCFC"/>
              </a:solidFill>
              <a:ln w="19050">
                <a:solidFill>
                  <a:srgbClr val="4B919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81" name="TextBox 181"/>
              <p:cNvSpPr txBox="1"/>
              <p:nvPr/>
            </p:nvSpPr>
            <p:spPr>
              <a:xfrm>
                <a:off x="10001250" y="3457575"/>
                <a:ext cx="28575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90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Ind.</a:t>
                </a:r>
                <a:endParaRPr lang="zh-CN" sz="900"/>
              </a:p>
            </p:txBody>
          </p:sp>
          <p:sp>
            <p:nvSpPr>
              <p:cNvPr id="182" name="TextBox 182"/>
              <p:cNvSpPr txBox="1"/>
              <p:nvPr/>
            </p:nvSpPr>
            <p:spPr>
              <a:xfrm>
                <a:off x="10287000" y="3314700"/>
                <a:ext cx="1304925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4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Bilevel</a:t>
                </a:r>
                <a:endParaRPr lang="zh-CN" sz="1450"/>
              </a:p>
              <a:p>
                <a:pPr algn="ctr"/>
                <a:r>
                  <a:rPr lang="zh-CN" sz="14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Autoresearch</a:t>
                </a:r>
                <a:endParaRPr lang="zh-CN" sz="1450"/>
              </a:p>
            </p:txBody>
          </p:sp>
        </p:grpSp>
        <p:grpSp>
          <p:nvGrpSpPr>
            <p:cNvPr id="248" name="method-border-39"/>
            <p:cNvGrpSpPr/>
            <p:nvPr/>
          </p:nvGrpSpPr>
          <p:grpSpPr>
            <a:xfrm>
              <a:off x="9963150" y="4010025"/>
              <a:ext cx="1647825" cy="409575"/>
              <a:chOff x="9963150" y="4010025"/>
              <a:chExt cx="1647825" cy="409575"/>
            </a:xfrm>
          </p:grpSpPr>
          <p:sp>
            <p:nvSpPr>
              <p:cNvPr id="64" name="Roundrect 64"/>
              <p:cNvSpPr/>
              <p:nvPr/>
            </p:nvSpPr>
            <p:spPr>
              <a:xfrm>
                <a:off x="9963150" y="4010025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4B919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15" name="meta"/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0010775" y="407670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83" name="TextBox 183"/>
              <p:cNvSpPr txBox="1"/>
              <p:nvPr/>
            </p:nvSpPr>
            <p:spPr>
              <a:xfrm>
                <a:off x="10287000" y="4019550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Hyperagents</a:t>
                </a:r>
                <a:endParaRPr lang="zh-CN" sz="1550"/>
              </a:p>
            </p:txBody>
          </p:sp>
        </p:grpSp>
        <p:grpSp>
          <p:nvGrpSpPr>
            <p:cNvPr id="249" name="method-border-40"/>
            <p:cNvGrpSpPr/>
            <p:nvPr/>
          </p:nvGrpSpPr>
          <p:grpSpPr>
            <a:xfrm>
              <a:off x="9963150" y="5038725"/>
              <a:ext cx="1647825" cy="419100"/>
              <a:chOff x="9963150" y="5038725"/>
              <a:chExt cx="1647825" cy="419100"/>
            </a:xfrm>
          </p:grpSpPr>
          <p:sp>
            <p:nvSpPr>
              <p:cNvPr id="65" name="Roundrect 65"/>
              <p:cNvSpPr/>
              <p:nvPr/>
            </p:nvSpPr>
            <p:spPr>
              <a:xfrm>
                <a:off x="9963150" y="5038725"/>
                <a:ext cx="1647825" cy="419100"/>
              </a:xfrm>
              <a:prstGeom prst="roundRect">
                <a:avLst>
                  <a:gd name="adj" fmla="val 11364"/>
                </a:avLst>
              </a:prstGeom>
              <a:solidFill>
                <a:srgbClr val="FCFCFC"/>
              </a:solidFill>
              <a:ln w="19050">
                <a:solidFill>
                  <a:srgbClr val="4B919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16" name="deepmind"/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010775" y="5110162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84" name="TextBox 184"/>
              <p:cNvSpPr txBox="1"/>
              <p:nvPr/>
            </p:nvSpPr>
            <p:spPr>
              <a:xfrm>
                <a:off x="10287000" y="5048250"/>
                <a:ext cx="1304925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AlphaEvolve</a:t>
                </a:r>
                <a:endParaRPr lang="zh-CN" sz="1550"/>
              </a:p>
            </p:txBody>
          </p:sp>
        </p:grpSp>
        <p:grpSp>
          <p:nvGrpSpPr>
            <p:cNvPr id="250" name="method-border-41"/>
            <p:cNvGrpSpPr/>
            <p:nvPr/>
          </p:nvGrpSpPr>
          <p:grpSpPr>
            <a:xfrm>
              <a:off x="9963150" y="6010275"/>
              <a:ext cx="1647825" cy="495300"/>
              <a:chOff x="9963150" y="6010275"/>
              <a:chExt cx="1647825" cy="495300"/>
            </a:xfrm>
          </p:grpSpPr>
          <p:sp>
            <p:nvSpPr>
              <p:cNvPr id="66" name="Roundrect 66"/>
              <p:cNvSpPr/>
              <p:nvPr/>
            </p:nvSpPr>
            <p:spPr>
              <a:xfrm>
                <a:off x="9963150" y="6010275"/>
                <a:ext cx="1647825" cy="495300"/>
              </a:xfrm>
              <a:prstGeom prst="roundRect">
                <a:avLst>
                  <a:gd name="adj" fmla="val 9615"/>
                </a:avLst>
              </a:prstGeom>
              <a:solidFill>
                <a:srgbClr val="FCFCFC"/>
              </a:solidFill>
              <a:ln w="19050">
                <a:solidFill>
                  <a:srgbClr val="4B919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17" name="aiscientist"/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0010775" y="6119813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85" name="TextBox 185"/>
              <p:cNvSpPr txBox="1"/>
              <p:nvPr/>
            </p:nvSpPr>
            <p:spPr>
              <a:xfrm>
                <a:off x="10287000" y="6019800"/>
                <a:ext cx="1304925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AI</a:t>
                </a:r>
                <a:endParaRPr lang="zh-CN" sz="1550"/>
              </a:p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Scientist-v2</a:t>
                </a:r>
                <a:endParaRPr lang="zh-CN" sz="1550"/>
              </a:p>
            </p:txBody>
          </p:sp>
        </p:grpSp>
        <p:grpSp>
          <p:nvGrpSpPr>
            <p:cNvPr id="251" name="method-border-42"/>
            <p:cNvGrpSpPr/>
            <p:nvPr/>
          </p:nvGrpSpPr>
          <p:grpSpPr>
            <a:xfrm>
              <a:off x="9963150" y="7762875"/>
              <a:ext cx="1647825" cy="409575"/>
              <a:chOff x="9963150" y="7762875"/>
              <a:chExt cx="1647825" cy="409575"/>
            </a:xfrm>
          </p:grpSpPr>
          <p:sp>
            <p:nvSpPr>
              <p:cNvPr id="67" name="Roundrect 67"/>
              <p:cNvSpPr/>
              <p:nvPr/>
            </p:nvSpPr>
            <p:spPr>
              <a:xfrm>
                <a:off x="9963150" y="7762875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4B919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18" name="aiscientist"/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010775" y="7829550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86" name="TextBox 186"/>
              <p:cNvSpPr txBox="1"/>
              <p:nvPr/>
            </p:nvSpPr>
            <p:spPr>
              <a:xfrm>
                <a:off x="10287000" y="7772400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AI Scientist</a:t>
                </a:r>
                <a:endParaRPr lang="zh-CN" sz="1550"/>
              </a:p>
            </p:txBody>
          </p:sp>
        </p:grpSp>
        <p:grpSp>
          <p:nvGrpSpPr>
            <p:cNvPr id="252" name="method-border-43"/>
            <p:cNvGrpSpPr/>
            <p:nvPr/>
          </p:nvGrpSpPr>
          <p:grpSpPr>
            <a:xfrm>
              <a:off x="9963150" y="9429750"/>
              <a:ext cx="1647825" cy="409575"/>
              <a:chOff x="9963150" y="9429750"/>
              <a:chExt cx="1647825" cy="409575"/>
            </a:xfrm>
          </p:grpSpPr>
          <p:sp>
            <p:nvSpPr>
              <p:cNvPr id="68" name="Roundrect 68"/>
              <p:cNvSpPr/>
              <p:nvPr/>
            </p:nvSpPr>
            <p:spPr>
              <a:xfrm>
                <a:off x="9963150" y="9429750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4B919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19" name="microsoft"/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0010775" y="949642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87" name="TextBox 187"/>
              <p:cNvSpPr txBox="1"/>
              <p:nvPr/>
            </p:nvSpPr>
            <p:spPr>
              <a:xfrm>
                <a:off x="10287000" y="9439275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STOP</a:t>
                </a:r>
                <a:endParaRPr lang="zh-CN" sz="1550"/>
              </a:p>
            </p:txBody>
          </p:sp>
        </p:grpSp>
        <p:grpSp>
          <p:nvGrpSpPr>
            <p:cNvPr id="253" name="method-border-44"/>
            <p:cNvGrpSpPr/>
            <p:nvPr/>
          </p:nvGrpSpPr>
          <p:grpSpPr>
            <a:xfrm>
              <a:off x="9963150" y="10306050"/>
              <a:ext cx="1647825" cy="409575"/>
              <a:chOff x="9963150" y="10306050"/>
              <a:chExt cx="1647825" cy="409575"/>
            </a:xfrm>
          </p:grpSpPr>
          <p:sp>
            <p:nvSpPr>
              <p:cNvPr id="69" name="Roundrect 69"/>
              <p:cNvSpPr/>
              <p:nvPr/>
            </p:nvSpPr>
            <p:spPr>
              <a:xfrm>
                <a:off x="9963150" y="10306050"/>
                <a:ext cx="1647825" cy="409575"/>
              </a:xfrm>
              <a:prstGeom prst="roundRect">
                <a:avLst>
                  <a:gd name="adj" fmla="val 11628"/>
                </a:avLst>
              </a:prstGeom>
              <a:solidFill>
                <a:srgbClr val="FCFCFC"/>
              </a:solidFill>
              <a:ln w="19050">
                <a:solidFill>
                  <a:srgbClr val="4B919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120" name="deepmind"/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010775" y="10372725"/>
                <a:ext cx="276225" cy="276225"/>
              </a:xfrm>
              <a:prstGeom prst="rect">
                <a:avLst/>
              </a:prstGeom>
            </p:spPr>
          </p:pic>
          <p:sp>
            <p:nvSpPr>
              <p:cNvPr id="188" name="TextBox 188"/>
              <p:cNvSpPr txBox="1"/>
              <p:nvPr/>
            </p:nvSpPr>
            <p:spPr>
              <a:xfrm>
                <a:off x="10287000" y="10315575"/>
                <a:ext cx="1304925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550" b="1">
                    <a:solidFill>
                      <a:srgbClr val="30343A"/>
                    </a:solidFill>
                    <a:latin typeface="Times New Roman"/>
                    <a:ea typeface="Times New Roman"/>
                    <a:cs typeface="Times New Roman"/>
                  </a:rPr>
                  <a:t>Promptbreeder</a:t>
                </a:r>
                <a:endParaRPr lang="zh-CN" sz="1550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