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614775" cy="791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3FF"/>
    <a:srgbClr val="FFFFFF"/>
    <a:srgbClr val="BFE4F8"/>
    <a:srgbClr val="E2BF9F"/>
    <a:srgbClr val="C6A78C"/>
    <a:srgbClr val="E6EBF3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78" autoAdjust="0"/>
    <p:restoredTop sz="89487" autoAdjust="0"/>
  </p:normalViewPr>
  <p:slideViewPr>
    <p:cSldViewPr snapToGrid="0" snapToObjects="1">
      <p:cViewPr varScale="1">
        <p:scale>
          <a:sx n="58" d="100"/>
          <a:sy n="58" d="100"/>
        </p:scale>
        <p:origin x="33" y="105"/>
      </p:cViewPr>
      <p:guideLst>
        <p:guide orient="horz" pos="2160"/>
        <p:guide pos="2880"/>
      </p:guideLst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96FB6-859A-42D8-9754-B172BA3450E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2088" y="1143000"/>
            <a:ext cx="6473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7B6C-44D1-4C69-B167-13A08B6DA0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3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E7B6C-44D1-4C69-B167-13A08B6DA0B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15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01_TimeSeries_Overview — ungroup to edit"/>
          <p:cNvGrpSpPr/>
          <p:nvPr/>
        </p:nvGrpSpPr>
        <p:grpSpPr>
          <a:xfrm>
            <a:off x="128016" y="43161"/>
            <a:ext cx="16358616" cy="7829823"/>
            <a:chOff x="128016" y="43161"/>
            <a:chExt cx="16358616" cy="7829823"/>
          </a:xfrm>
        </p:grpSpPr>
        <p:sp>
          <p:nvSpPr>
            <p:cNvPr id="2" name="001 main title"/>
            <p:cNvSpPr txBox="1"/>
            <p:nvPr/>
          </p:nvSpPr>
          <p:spPr>
            <a:xfrm>
              <a:off x="3792404" y="43161"/>
              <a:ext cx="9555480" cy="430887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Agents: From General to Specific</a:t>
              </a:r>
            </a:p>
          </p:txBody>
        </p:sp>
        <p:grpSp>
          <p:nvGrpSpPr>
            <p:cNvPr id="578" name="Frame and headings"/>
            <p:cNvGrpSpPr/>
            <p:nvPr/>
          </p:nvGrpSpPr>
          <p:grpSpPr>
            <a:xfrm>
              <a:off x="128016" y="557784"/>
              <a:ext cx="16358616" cy="6958584"/>
              <a:chOff x="128016" y="557784"/>
              <a:chExt cx="16358616" cy="6958584"/>
            </a:xfrm>
          </p:grpSpPr>
          <p:sp>
            <p:nvSpPr>
              <p:cNvPr id="3" name="002 Scenario and Task Contract panel"/>
              <p:cNvSpPr/>
              <p:nvPr/>
            </p:nvSpPr>
            <p:spPr>
              <a:xfrm>
                <a:off x="128016" y="621792"/>
                <a:ext cx="2459736" cy="6848856"/>
              </a:xfrm>
              <a:prstGeom prst="roundRect">
                <a:avLst>
                  <a:gd name="adj" fmla="val 6000"/>
                </a:avLst>
              </a:prstGeom>
              <a:solidFill>
                <a:srgbClr val="FFF9DF"/>
              </a:solidFill>
              <a:ln w="16510">
                <a:solidFill>
                  <a:srgbClr val="776B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003 Time-Series Agent outer boundary"/>
              <p:cNvSpPr/>
              <p:nvPr/>
            </p:nvSpPr>
            <p:spPr>
              <a:xfrm>
                <a:off x="2788920" y="557784"/>
                <a:ext cx="10680192" cy="6958584"/>
              </a:xfrm>
              <a:prstGeom prst="roundRect">
                <a:avLst>
                  <a:gd name="adj" fmla="val 6000"/>
                </a:avLst>
              </a:prstGeom>
              <a:solidFill>
                <a:srgbClr val="D9F3FF"/>
              </a:solidFill>
              <a:ln w="17780">
                <a:solidFill>
                  <a:srgbClr val="101948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004 Evaluation panel"/>
              <p:cNvSpPr/>
              <p:nvPr/>
            </p:nvSpPr>
            <p:spPr>
              <a:xfrm>
                <a:off x="13752576" y="612648"/>
                <a:ext cx="2734056" cy="6867144"/>
              </a:xfrm>
              <a:prstGeom prst="roundRect">
                <a:avLst>
                  <a:gd name="adj" fmla="val 6000"/>
                </a:avLst>
              </a:prstGeom>
              <a:solidFill>
                <a:srgbClr val="EDF8FE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005 scenario heading"/>
            <p:cNvSpPr txBox="1"/>
            <p:nvPr/>
          </p:nvSpPr>
          <p:spPr>
            <a:xfrm>
              <a:off x="246888" y="758952"/>
              <a:ext cx="2286000" cy="246221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 &amp; Task Contract</a:t>
              </a:r>
            </a:p>
          </p:txBody>
        </p:sp>
        <p:sp>
          <p:nvSpPr>
            <p:cNvPr id="8" name="007 agent heading"/>
            <p:cNvSpPr txBox="1"/>
            <p:nvPr/>
          </p:nvSpPr>
          <p:spPr>
            <a:xfrm>
              <a:off x="3155508" y="621792"/>
              <a:ext cx="27432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Agent</a:t>
              </a:r>
            </a:p>
          </p:txBody>
        </p:sp>
        <p:sp>
          <p:nvSpPr>
            <p:cNvPr id="9" name="008 evaluation heading"/>
            <p:cNvSpPr txBox="1"/>
            <p:nvPr/>
          </p:nvSpPr>
          <p:spPr>
            <a:xfrm>
              <a:off x="13898880" y="749808"/>
              <a:ext cx="2487168" cy="307777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Layer-Aligned Evaluation  </a:t>
              </a:r>
              <a:r>
                <a:rPr lang="en-US" sz="14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§7</a:t>
              </a:r>
              <a:endParaRPr sz="1400" b="1" i="0" dirty="0">
                <a:solidFill>
                  <a:srgbClr val="10194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79" name="Scenario and task"/>
            <p:cNvGrpSpPr/>
            <p:nvPr/>
          </p:nvGrpSpPr>
          <p:grpSpPr>
            <a:xfrm>
              <a:off x="219456" y="1115568"/>
              <a:ext cx="2679192" cy="5861304"/>
              <a:chOff x="219456" y="1115568"/>
              <a:chExt cx="2679192" cy="5861304"/>
            </a:xfrm>
          </p:grpSpPr>
          <p:sp>
            <p:nvSpPr>
              <p:cNvPr id="10" name="009 Scenario card"/>
              <p:cNvSpPr/>
              <p:nvPr/>
            </p:nvSpPr>
            <p:spPr>
              <a:xfrm>
                <a:off x="219456" y="1115568"/>
                <a:ext cx="2276856" cy="2212848"/>
              </a:xfrm>
              <a:prstGeom prst="roundRect">
                <a:avLst>
                  <a:gd name="adj" fmla="val 6000"/>
                </a:avLst>
              </a:prstGeom>
              <a:solidFill>
                <a:srgbClr val="FFFDF0"/>
              </a:solidFill>
              <a:ln w="12700">
                <a:solidFill>
                  <a:srgbClr val="E69B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010 Scenario title"/>
              <p:cNvSpPr txBox="1"/>
              <p:nvPr/>
            </p:nvSpPr>
            <p:spPr>
              <a:xfrm>
                <a:off x="338328" y="1170432"/>
                <a:ext cx="2011680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</a:t>
                </a:r>
              </a:p>
            </p:txBody>
          </p:sp>
          <p:sp>
            <p:nvSpPr>
              <p:cNvPr id="12" name="011 Scenario bullets"/>
              <p:cNvSpPr txBox="1"/>
              <p:nvPr/>
            </p:nvSpPr>
            <p:spPr>
              <a:xfrm>
                <a:off x="374904" y="1463040"/>
                <a:ext cx="1975104" cy="64633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Data streams &amp; context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Information boundary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Operational objective</a:t>
                </a:r>
              </a:p>
            </p:txBody>
          </p:sp>
          <p:sp>
            <p:nvSpPr>
              <p:cNvPr id="13" name="012 Scenario series chart"/>
              <p:cNvSpPr/>
              <p:nvPr/>
            </p:nvSpPr>
            <p:spPr>
              <a:xfrm>
                <a:off x="402336" y="2286000"/>
                <a:ext cx="1938528" cy="658368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7484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013 past stream 1 segment 1"/>
              <p:cNvCxnSpPr/>
              <p:nvPr/>
            </p:nvCxnSpPr>
            <p:spPr>
              <a:xfrm>
                <a:off x="429768" y="2432304"/>
                <a:ext cx="73152" cy="4326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014 past stream 1 segment 2"/>
              <p:cNvCxnSpPr/>
              <p:nvPr/>
            </p:nvCxnSpPr>
            <p:spPr>
              <a:xfrm flipV="1">
                <a:off x="502920" y="2404329"/>
                <a:ext cx="73152" cy="712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015 past stream 1 segment 3"/>
              <p:cNvCxnSpPr/>
              <p:nvPr/>
            </p:nvCxnSpPr>
            <p:spPr>
              <a:xfrm>
                <a:off x="576072" y="2404329"/>
                <a:ext cx="73152" cy="2797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016 past stream 1 segment 4"/>
              <p:cNvCxnSpPr/>
              <p:nvPr/>
            </p:nvCxnSpPr>
            <p:spPr>
              <a:xfrm>
                <a:off x="649224" y="2407126"/>
                <a:ext cx="73152" cy="69431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017 past stream 1 segment 5"/>
              <p:cNvCxnSpPr/>
              <p:nvPr/>
            </p:nvCxnSpPr>
            <p:spPr>
              <a:xfrm flipV="1">
                <a:off x="722376" y="2428868"/>
                <a:ext cx="73152" cy="4768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018 past stream 1 segment 6"/>
              <p:cNvCxnSpPr/>
              <p:nvPr/>
            </p:nvCxnSpPr>
            <p:spPr>
              <a:xfrm flipV="1">
                <a:off x="795528" y="2390272"/>
                <a:ext cx="73152" cy="38596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019 past stream 1 segment 7"/>
              <p:cNvCxnSpPr/>
              <p:nvPr/>
            </p:nvCxnSpPr>
            <p:spPr>
              <a:xfrm>
                <a:off x="868680" y="2390272"/>
                <a:ext cx="73152" cy="726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020 past stream 1 segment 8"/>
              <p:cNvCxnSpPr/>
              <p:nvPr/>
            </p:nvCxnSpPr>
            <p:spPr>
              <a:xfrm flipV="1">
                <a:off x="941832" y="2454542"/>
                <a:ext cx="73152" cy="837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021 past stream 1 segment 9"/>
              <p:cNvCxnSpPr/>
              <p:nvPr/>
            </p:nvCxnSpPr>
            <p:spPr>
              <a:xfrm flipV="1">
                <a:off x="1014984" y="2387312"/>
                <a:ext cx="73152" cy="67230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022 past stream 1 segment 10"/>
              <p:cNvCxnSpPr/>
              <p:nvPr/>
            </p:nvCxnSpPr>
            <p:spPr>
              <a:xfrm>
                <a:off x="1088136" y="2387312"/>
                <a:ext cx="73152" cy="518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023 past stream 1 segment 11"/>
              <p:cNvCxnSpPr/>
              <p:nvPr/>
            </p:nvCxnSpPr>
            <p:spPr>
              <a:xfrm>
                <a:off x="1161288" y="2439156"/>
                <a:ext cx="73152" cy="33708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024 past stream 1 segment 12"/>
              <p:cNvCxnSpPr/>
              <p:nvPr/>
            </p:nvCxnSpPr>
            <p:spPr>
              <a:xfrm flipV="1">
                <a:off x="1234440" y="2399225"/>
                <a:ext cx="73152" cy="736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025 past stream 1 segment 13"/>
              <p:cNvCxnSpPr/>
              <p:nvPr/>
            </p:nvCxnSpPr>
            <p:spPr>
              <a:xfrm>
                <a:off x="1307592" y="2399225"/>
                <a:ext cx="73152" cy="13905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026 past stream 1 segment 14"/>
              <p:cNvCxnSpPr/>
              <p:nvPr/>
            </p:nvCxnSpPr>
            <p:spPr>
              <a:xfrm>
                <a:off x="1380744" y="2413130"/>
                <a:ext cx="73152" cy="6464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027 past stream 2 segment 1"/>
              <p:cNvCxnSpPr/>
              <p:nvPr/>
            </p:nvCxnSpPr>
            <p:spPr>
              <a:xfrm flipV="1">
                <a:off x="429768" y="2596861"/>
                <a:ext cx="73152" cy="2753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028 past stream 2 segment 2"/>
              <p:cNvCxnSpPr/>
              <p:nvPr/>
            </p:nvCxnSpPr>
            <p:spPr>
              <a:xfrm flipV="1">
                <a:off x="502920" y="2540378"/>
                <a:ext cx="73152" cy="56483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029 past stream 2 segment 3"/>
              <p:cNvCxnSpPr/>
              <p:nvPr/>
            </p:nvCxnSpPr>
            <p:spPr>
              <a:xfrm>
                <a:off x="576072" y="2540378"/>
                <a:ext cx="73152" cy="6405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030 past stream 2 segment 4"/>
              <p:cNvCxnSpPr/>
              <p:nvPr/>
            </p:nvCxnSpPr>
            <p:spPr>
              <a:xfrm>
                <a:off x="649224" y="2604432"/>
                <a:ext cx="73152" cy="1506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031 past stream 2 segment 5"/>
              <p:cNvCxnSpPr/>
              <p:nvPr/>
            </p:nvCxnSpPr>
            <p:spPr>
              <a:xfrm flipV="1">
                <a:off x="722376" y="2545703"/>
                <a:ext cx="73152" cy="73796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032 past stream 2 segment 6"/>
              <p:cNvCxnSpPr/>
              <p:nvPr/>
            </p:nvCxnSpPr>
            <p:spPr>
              <a:xfrm>
                <a:off x="795528" y="2545703"/>
                <a:ext cx="73152" cy="32648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033 past stream 2 segment 7"/>
              <p:cNvCxnSpPr/>
              <p:nvPr/>
            </p:nvCxnSpPr>
            <p:spPr>
              <a:xfrm>
                <a:off x="868680" y="2578351"/>
                <a:ext cx="73152" cy="5268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034 past stream 2 segment 8"/>
              <p:cNvCxnSpPr/>
              <p:nvPr/>
            </p:nvCxnSpPr>
            <p:spPr>
              <a:xfrm flipV="1">
                <a:off x="941832" y="2564324"/>
                <a:ext cx="73152" cy="6671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035 past stream 2 segment 9"/>
              <p:cNvCxnSpPr/>
              <p:nvPr/>
            </p:nvCxnSpPr>
            <p:spPr>
              <a:xfrm flipV="1">
                <a:off x="1014984" y="2554773"/>
                <a:ext cx="73152" cy="9551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036 past stream 2 segment 10"/>
              <p:cNvCxnSpPr/>
              <p:nvPr/>
            </p:nvCxnSpPr>
            <p:spPr>
              <a:xfrm>
                <a:off x="1088136" y="2554773"/>
                <a:ext cx="73152" cy="7289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037 past stream 2 segment 11"/>
              <p:cNvCxnSpPr/>
              <p:nvPr/>
            </p:nvCxnSpPr>
            <p:spPr>
              <a:xfrm flipV="1">
                <a:off x="1161288" y="2590084"/>
                <a:ext cx="73152" cy="37579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038 past stream 2 segment 12"/>
              <p:cNvCxnSpPr/>
              <p:nvPr/>
            </p:nvCxnSpPr>
            <p:spPr>
              <a:xfrm flipV="1">
                <a:off x="1234440" y="2541492"/>
                <a:ext cx="73152" cy="48592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039 past stream 2 segment 13"/>
              <p:cNvCxnSpPr/>
              <p:nvPr/>
            </p:nvCxnSpPr>
            <p:spPr>
              <a:xfrm>
                <a:off x="1307592" y="2541492"/>
                <a:ext cx="73152" cy="6899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040 past stream 2 segment 14"/>
              <p:cNvCxnSpPr/>
              <p:nvPr/>
            </p:nvCxnSpPr>
            <p:spPr>
              <a:xfrm>
                <a:off x="1380744" y="2610489"/>
                <a:ext cx="73152" cy="398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041 past stream 3 segment 1"/>
              <p:cNvCxnSpPr/>
              <p:nvPr/>
            </p:nvCxnSpPr>
            <p:spPr>
              <a:xfrm flipV="1">
                <a:off x="429768" y="2708097"/>
                <a:ext cx="73152" cy="73018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042 past stream 3 segment 2"/>
              <p:cNvCxnSpPr/>
              <p:nvPr/>
            </p:nvCxnSpPr>
            <p:spPr>
              <a:xfrm>
                <a:off x="502920" y="2708097"/>
                <a:ext cx="73152" cy="10203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043 past stream 3 segment 3"/>
              <p:cNvCxnSpPr/>
              <p:nvPr/>
            </p:nvCxnSpPr>
            <p:spPr>
              <a:xfrm>
                <a:off x="576072" y="2718300"/>
                <a:ext cx="73152" cy="6642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044 past stream 3 segment 4"/>
              <p:cNvCxnSpPr/>
              <p:nvPr/>
            </p:nvCxnSpPr>
            <p:spPr>
              <a:xfrm flipV="1">
                <a:off x="649224" y="2731572"/>
                <a:ext cx="73152" cy="5314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045 past stream 3 segment 5"/>
              <p:cNvCxnSpPr/>
              <p:nvPr/>
            </p:nvCxnSpPr>
            <p:spPr>
              <a:xfrm flipV="1">
                <a:off x="722376" y="2699516"/>
                <a:ext cx="73152" cy="3205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046 past stream 3 segment 6"/>
              <p:cNvCxnSpPr/>
              <p:nvPr/>
            </p:nvCxnSpPr>
            <p:spPr>
              <a:xfrm>
                <a:off x="795528" y="2699516"/>
                <a:ext cx="73152" cy="7387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047 past stream 3 segment 7"/>
              <p:cNvCxnSpPr/>
              <p:nvPr/>
            </p:nvCxnSpPr>
            <p:spPr>
              <a:xfrm flipV="1">
                <a:off x="868680" y="2757681"/>
                <a:ext cx="73152" cy="1571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048 past stream 3 segment 8"/>
              <p:cNvCxnSpPr/>
              <p:nvPr/>
            </p:nvCxnSpPr>
            <p:spPr>
              <a:xfrm flipV="1">
                <a:off x="941832" y="2693964"/>
                <a:ext cx="73152" cy="6371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049 past stream 3 segment 9"/>
              <p:cNvCxnSpPr/>
              <p:nvPr/>
            </p:nvCxnSpPr>
            <p:spPr>
              <a:xfrm>
                <a:off x="1014984" y="2693964"/>
                <a:ext cx="73152" cy="5690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050 past stream 3 segment 10"/>
              <p:cNvCxnSpPr/>
              <p:nvPr/>
            </p:nvCxnSpPr>
            <p:spPr>
              <a:xfrm>
                <a:off x="1088136" y="2750873"/>
                <a:ext cx="73152" cy="2692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051 past stream 3 segment 11"/>
              <p:cNvCxnSpPr/>
              <p:nvPr/>
            </p:nvCxnSpPr>
            <p:spPr>
              <a:xfrm flipV="1">
                <a:off x="1161288" y="2703478"/>
                <a:ext cx="73152" cy="7431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052 past stream 3 segment 12"/>
              <p:cNvCxnSpPr/>
              <p:nvPr/>
            </p:nvCxnSpPr>
            <p:spPr>
              <a:xfrm>
                <a:off x="1234440" y="2703478"/>
                <a:ext cx="73152" cy="21130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053 past stream 3 segment 13"/>
              <p:cNvCxnSpPr/>
              <p:nvPr/>
            </p:nvCxnSpPr>
            <p:spPr>
              <a:xfrm>
                <a:off x="1307592" y="2724608"/>
                <a:ext cx="73152" cy="60654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054 past stream 3 segment 14"/>
              <p:cNvCxnSpPr/>
              <p:nvPr/>
            </p:nvCxnSpPr>
            <p:spPr>
              <a:xfrm flipV="1">
                <a:off x="1380744" y="2724914"/>
                <a:ext cx="73152" cy="60348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055 future stream 1 segment 1"/>
              <p:cNvCxnSpPr/>
              <p:nvPr/>
            </p:nvCxnSpPr>
            <p:spPr>
              <a:xfrm>
                <a:off x="1517904" y="2514600"/>
                <a:ext cx="55517" cy="4326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056 future stream 1 segment 2"/>
              <p:cNvCxnSpPr/>
              <p:nvPr/>
            </p:nvCxnSpPr>
            <p:spPr>
              <a:xfrm flipV="1">
                <a:off x="1573421" y="2486625"/>
                <a:ext cx="55517" cy="712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057 future stream 1 segment 3"/>
              <p:cNvCxnSpPr/>
              <p:nvPr/>
            </p:nvCxnSpPr>
            <p:spPr>
              <a:xfrm>
                <a:off x="1628938" y="2486625"/>
                <a:ext cx="55517" cy="2797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058 future stream 1 segment 4"/>
              <p:cNvCxnSpPr/>
              <p:nvPr/>
            </p:nvCxnSpPr>
            <p:spPr>
              <a:xfrm>
                <a:off x="1684455" y="2489422"/>
                <a:ext cx="55517" cy="69431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059 future stream 1 segment 5"/>
              <p:cNvCxnSpPr/>
              <p:nvPr/>
            </p:nvCxnSpPr>
            <p:spPr>
              <a:xfrm flipV="1">
                <a:off x="1739972" y="2511164"/>
                <a:ext cx="55517" cy="4768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060 future stream 1 segment 6"/>
              <p:cNvCxnSpPr/>
              <p:nvPr/>
            </p:nvCxnSpPr>
            <p:spPr>
              <a:xfrm flipV="1">
                <a:off x="1795489" y="2472568"/>
                <a:ext cx="55517" cy="38596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061 future stream 1 segment 7"/>
              <p:cNvCxnSpPr/>
              <p:nvPr/>
            </p:nvCxnSpPr>
            <p:spPr>
              <a:xfrm>
                <a:off x="1851006" y="2472568"/>
                <a:ext cx="55518" cy="726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062 future stream 1 segment 8"/>
              <p:cNvCxnSpPr/>
              <p:nvPr/>
            </p:nvCxnSpPr>
            <p:spPr>
              <a:xfrm flipV="1">
                <a:off x="1906524" y="2536838"/>
                <a:ext cx="55517" cy="837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063 future stream 1 segment 9"/>
              <p:cNvCxnSpPr/>
              <p:nvPr/>
            </p:nvCxnSpPr>
            <p:spPr>
              <a:xfrm flipV="1">
                <a:off x="1962041" y="2469608"/>
                <a:ext cx="55517" cy="67230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064 future stream 1 segment 10"/>
              <p:cNvCxnSpPr/>
              <p:nvPr/>
            </p:nvCxnSpPr>
            <p:spPr>
              <a:xfrm>
                <a:off x="2017558" y="2469608"/>
                <a:ext cx="55517" cy="518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065 future stream 1 segment 11"/>
              <p:cNvCxnSpPr/>
              <p:nvPr/>
            </p:nvCxnSpPr>
            <p:spPr>
              <a:xfrm>
                <a:off x="2073075" y="2521452"/>
                <a:ext cx="55517" cy="33708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066 future stream 1 segment 12"/>
              <p:cNvCxnSpPr/>
              <p:nvPr/>
            </p:nvCxnSpPr>
            <p:spPr>
              <a:xfrm flipV="1">
                <a:off x="2128592" y="2481521"/>
                <a:ext cx="55517" cy="736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067 future stream 1 segment 13"/>
              <p:cNvCxnSpPr/>
              <p:nvPr/>
            </p:nvCxnSpPr>
            <p:spPr>
              <a:xfrm>
                <a:off x="2184109" y="2481521"/>
                <a:ext cx="55517" cy="13905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068 future stream 1 segment 14"/>
              <p:cNvCxnSpPr/>
              <p:nvPr/>
            </p:nvCxnSpPr>
            <p:spPr>
              <a:xfrm>
                <a:off x="2239626" y="2495426"/>
                <a:ext cx="55518" cy="6464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069 future stream 2 segment 1"/>
              <p:cNvCxnSpPr/>
              <p:nvPr/>
            </p:nvCxnSpPr>
            <p:spPr>
              <a:xfrm flipV="1">
                <a:off x="1517904" y="2640752"/>
                <a:ext cx="55517" cy="2753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070 future stream 2 segment 2"/>
              <p:cNvCxnSpPr/>
              <p:nvPr/>
            </p:nvCxnSpPr>
            <p:spPr>
              <a:xfrm flipV="1">
                <a:off x="1573421" y="2584269"/>
                <a:ext cx="55517" cy="56483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071 future stream 2 segment 3"/>
              <p:cNvCxnSpPr/>
              <p:nvPr/>
            </p:nvCxnSpPr>
            <p:spPr>
              <a:xfrm>
                <a:off x="1628938" y="2584269"/>
                <a:ext cx="55517" cy="64055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072 future stream 2 segment 4"/>
              <p:cNvCxnSpPr/>
              <p:nvPr/>
            </p:nvCxnSpPr>
            <p:spPr>
              <a:xfrm>
                <a:off x="1684455" y="2648324"/>
                <a:ext cx="55517" cy="1506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073 future stream 2 segment 5"/>
              <p:cNvCxnSpPr/>
              <p:nvPr/>
            </p:nvCxnSpPr>
            <p:spPr>
              <a:xfrm flipV="1">
                <a:off x="1739972" y="2589594"/>
                <a:ext cx="55517" cy="7379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074 future stream 2 segment 6"/>
              <p:cNvCxnSpPr/>
              <p:nvPr/>
            </p:nvCxnSpPr>
            <p:spPr>
              <a:xfrm>
                <a:off x="1795489" y="2589594"/>
                <a:ext cx="55517" cy="32648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075 future stream 2 segment 7"/>
              <p:cNvCxnSpPr/>
              <p:nvPr/>
            </p:nvCxnSpPr>
            <p:spPr>
              <a:xfrm>
                <a:off x="1851006" y="2622242"/>
                <a:ext cx="55518" cy="5268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076 future stream 2 segment 8"/>
              <p:cNvCxnSpPr/>
              <p:nvPr/>
            </p:nvCxnSpPr>
            <p:spPr>
              <a:xfrm flipV="1">
                <a:off x="1906524" y="2608215"/>
                <a:ext cx="55517" cy="6671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077 future stream 2 segment 9"/>
              <p:cNvCxnSpPr/>
              <p:nvPr/>
            </p:nvCxnSpPr>
            <p:spPr>
              <a:xfrm flipV="1">
                <a:off x="1962041" y="2598664"/>
                <a:ext cx="55517" cy="9551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078 future stream 2 segment 10"/>
              <p:cNvCxnSpPr/>
              <p:nvPr/>
            </p:nvCxnSpPr>
            <p:spPr>
              <a:xfrm>
                <a:off x="2017558" y="2598664"/>
                <a:ext cx="55517" cy="7289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079 future stream 2 segment 11"/>
              <p:cNvCxnSpPr/>
              <p:nvPr/>
            </p:nvCxnSpPr>
            <p:spPr>
              <a:xfrm flipV="1">
                <a:off x="2073075" y="2633975"/>
                <a:ext cx="55517" cy="37579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080 future stream 2 segment 12"/>
              <p:cNvCxnSpPr/>
              <p:nvPr/>
            </p:nvCxnSpPr>
            <p:spPr>
              <a:xfrm flipV="1">
                <a:off x="2128592" y="2585383"/>
                <a:ext cx="55517" cy="48592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081 future stream 2 segment 13"/>
              <p:cNvCxnSpPr/>
              <p:nvPr/>
            </p:nvCxnSpPr>
            <p:spPr>
              <a:xfrm>
                <a:off x="2184109" y="2585383"/>
                <a:ext cx="55517" cy="6899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082 future stream 2 segment 14"/>
              <p:cNvCxnSpPr/>
              <p:nvPr/>
            </p:nvCxnSpPr>
            <p:spPr>
              <a:xfrm>
                <a:off x="2239626" y="2654380"/>
                <a:ext cx="55518" cy="398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083 future stream 3 segment 1"/>
              <p:cNvCxnSpPr/>
              <p:nvPr/>
            </p:nvCxnSpPr>
            <p:spPr>
              <a:xfrm flipV="1">
                <a:off x="1517904" y="2713584"/>
                <a:ext cx="55517" cy="7301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084 future stream 3 segment 2"/>
              <p:cNvCxnSpPr/>
              <p:nvPr/>
            </p:nvCxnSpPr>
            <p:spPr>
              <a:xfrm>
                <a:off x="1573421" y="2713584"/>
                <a:ext cx="55517" cy="10203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085 future stream 3 segment 3"/>
              <p:cNvCxnSpPr/>
              <p:nvPr/>
            </p:nvCxnSpPr>
            <p:spPr>
              <a:xfrm>
                <a:off x="1628938" y="2723787"/>
                <a:ext cx="55517" cy="66420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086 future stream 3 segment 4"/>
              <p:cNvCxnSpPr/>
              <p:nvPr/>
            </p:nvCxnSpPr>
            <p:spPr>
              <a:xfrm flipV="1">
                <a:off x="1684455" y="2737058"/>
                <a:ext cx="55517" cy="5314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087 future stream 3 segment 5"/>
              <p:cNvCxnSpPr/>
              <p:nvPr/>
            </p:nvCxnSpPr>
            <p:spPr>
              <a:xfrm flipV="1">
                <a:off x="1739972" y="2705003"/>
                <a:ext cx="55517" cy="32055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088 future stream 3 segment 6"/>
              <p:cNvCxnSpPr/>
              <p:nvPr/>
            </p:nvCxnSpPr>
            <p:spPr>
              <a:xfrm>
                <a:off x="1795489" y="2705003"/>
                <a:ext cx="55517" cy="73875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089 future stream 3 segment 7"/>
              <p:cNvCxnSpPr/>
              <p:nvPr/>
            </p:nvCxnSpPr>
            <p:spPr>
              <a:xfrm flipV="1">
                <a:off x="1851006" y="2763167"/>
                <a:ext cx="55518" cy="1571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090 future stream 3 segment 8"/>
              <p:cNvCxnSpPr/>
              <p:nvPr/>
            </p:nvCxnSpPr>
            <p:spPr>
              <a:xfrm flipV="1">
                <a:off x="1906524" y="2699450"/>
                <a:ext cx="55517" cy="6371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091 future stream 3 segment 9"/>
              <p:cNvCxnSpPr/>
              <p:nvPr/>
            </p:nvCxnSpPr>
            <p:spPr>
              <a:xfrm>
                <a:off x="1962041" y="2699450"/>
                <a:ext cx="55517" cy="5690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092 future stream 3 segment 10"/>
              <p:cNvCxnSpPr/>
              <p:nvPr/>
            </p:nvCxnSpPr>
            <p:spPr>
              <a:xfrm>
                <a:off x="2017558" y="2756359"/>
                <a:ext cx="55517" cy="2692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093 future stream 3 segment 11"/>
              <p:cNvCxnSpPr/>
              <p:nvPr/>
            </p:nvCxnSpPr>
            <p:spPr>
              <a:xfrm flipV="1">
                <a:off x="2073075" y="2708964"/>
                <a:ext cx="55517" cy="7431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094 future stream 3 segment 12"/>
              <p:cNvCxnSpPr/>
              <p:nvPr/>
            </p:nvCxnSpPr>
            <p:spPr>
              <a:xfrm>
                <a:off x="2128592" y="2708964"/>
                <a:ext cx="55517" cy="2113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095 future stream 3 segment 13"/>
              <p:cNvCxnSpPr/>
              <p:nvPr/>
            </p:nvCxnSpPr>
            <p:spPr>
              <a:xfrm>
                <a:off x="2184109" y="2730095"/>
                <a:ext cx="55517" cy="60653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096 future stream 3 segment 14"/>
              <p:cNvCxnSpPr/>
              <p:nvPr/>
            </p:nvCxnSpPr>
            <p:spPr>
              <a:xfrm flipV="1">
                <a:off x="2239626" y="2730401"/>
                <a:ext cx="55518" cy="6034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097 now boundary"/>
              <p:cNvCxnSpPr/>
              <p:nvPr/>
            </p:nvCxnSpPr>
            <p:spPr>
              <a:xfrm>
                <a:off x="1499616" y="2185416"/>
                <a:ext cx="0" cy="77724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098 line"/>
              <p:cNvCxnSpPr/>
              <p:nvPr/>
            </p:nvCxnSpPr>
            <p:spPr>
              <a:xfrm>
                <a:off x="393192" y="2944368"/>
                <a:ext cx="1984248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099 time labels"/>
              <p:cNvSpPr txBox="1"/>
              <p:nvPr/>
            </p:nvSpPr>
            <p:spPr>
              <a:xfrm>
                <a:off x="393192" y="2999232"/>
                <a:ext cx="1920240" cy="1846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  past   →   now  ← future</a:t>
                </a:r>
              </a:p>
            </p:txBody>
          </p:sp>
          <p:cxnSp>
            <p:nvCxnSpPr>
              <p:cNvPr id="101" name="100 Define requirements arrow shaft"/>
              <p:cNvCxnSpPr/>
              <p:nvPr/>
            </p:nvCxnSpPr>
            <p:spPr>
              <a:xfrm>
                <a:off x="923544" y="3401568"/>
                <a:ext cx="0" cy="640080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101 Define requirements arrow head"/>
              <p:cNvCxnSpPr/>
              <p:nvPr/>
            </p:nvCxnSpPr>
            <p:spPr>
              <a:xfrm flipH="1" flipV="1">
                <a:off x="888473" y="3977451"/>
                <a:ext cx="35071" cy="64197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102 Define requirements arrow head"/>
              <p:cNvCxnSpPr/>
              <p:nvPr/>
            </p:nvCxnSpPr>
            <p:spPr>
              <a:xfrm flipV="1">
                <a:off x="923544" y="3977451"/>
                <a:ext cx="35070" cy="64197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103 Define requirements"/>
              <p:cNvSpPr txBox="1"/>
              <p:nvPr/>
            </p:nvSpPr>
            <p:spPr>
              <a:xfrm>
                <a:off x="1078992" y="3511296"/>
                <a:ext cx="1143000" cy="38164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4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4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requirements</a:t>
                </a:r>
              </a:p>
            </p:txBody>
          </p:sp>
          <p:sp>
            <p:nvSpPr>
              <p:cNvPr id="105" name="104 Task Contract card"/>
              <p:cNvSpPr/>
              <p:nvPr/>
            </p:nvSpPr>
            <p:spPr>
              <a:xfrm>
                <a:off x="219456" y="4114800"/>
                <a:ext cx="1984248" cy="2862072"/>
              </a:xfrm>
              <a:prstGeom prst="roundRect">
                <a:avLst>
                  <a:gd name="adj" fmla="val 6000"/>
                </a:avLst>
              </a:prstGeom>
              <a:solidFill>
                <a:srgbClr val="FFFDF0"/>
              </a:solidFill>
              <a:ln w="12700">
                <a:solidFill>
                  <a:srgbClr val="E69B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105 Task Contract title"/>
              <p:cNvSpPr txBox="1"/>
              <p:nvPr/>
            </p:nvSpPr>
            <p:spPr>
              <a:xfrm>
                <a:off x="338328" y="4197096"/>
                <a:ext cx="1719072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 Contract</a:t>
                </a:r>
              </a:p>
            </p:txBody>
          </p:sp>
          <p:sp>
            <p:nvSpPr>
              <p:cNvPr id="107" name="106 Task Contract bullets"/>
              <p:cNvSpPr txBox="1"/>
              <p:nvPr/>
            </p:nvSpPr>
            <p:spPr>
              <a:xfrm>
                <a:off x="295107" y="4480560"/>
                <a:ext cx="1856232" cy="86177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Output &amp; horizon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Admissible information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Constraints &amp; metrics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Review authority</a:t>
                </a:r>
              </a:p>
            </p:txBody>
          </p:sp>
          <p:sp>
            <p:nvSpPr>
              <p:cNvPr id="108" name="107 checklist"/>
              <p:cNvSpPr/>
              <p:nvPr/>
            </p:nvSpPr>
            <p:spPr>
              <a:xfrm>
                <a:off x="749808" y="5504688"/>
                <a:ext cx="923544" cy="1124712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108 task requirement square"/>
              <p:cNvSpPr/>
              <p:nvPr/>
            </p:nvSpPr>
            <p:spPr>
              <a:xfrm>
                <a:off x="877824" y="5669280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0" name="109 task requirement check segment 1"/>
              <p:cNvCxnSpPr/>
              <p:nvPr/>
            </p:nvCxnSpPr>
            <p:spPr>
              <a:xfrm>
                <a:off x="914400" y="5742432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110 task requirement check segment 2"/>
              <p:cNvCxnSpPr/>
              <p:nvPr/>
            </p:nvCxnSpPr>
            <p:spPr>
              <a:xfrm flipV="1">
                <a:off x="941832" y="5705856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111 checklist writing"/>
              <p:cNvCxnSpPr/>
              <p:nvPr/>
            </p:nvCxnSpPr>
            <p:spPr>
              <a:xfrm>
                <a:off x="1124712" y="5733288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112 task requirement square"/>
              <p:cNvSpPr/>
              <p:nvPr/>
            </p:nvSpPr>
            <p:spPr>
              <a:xfrm>
                <a:off x="877824" y="5934456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4" name="113 task requirement check segment 1"/>
              <p:cNvCxnSpPr/>
              <p:nvPr/>
            </p:nvCxnSpPr>
            <p:spPr>
              <a:xfrm>
                <a:off x="914400" y="6007608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114 task requirement check segment 2"/>
              <p:cNvCxnSpPr/>
              <p:nvPr/>
            </p:nvCxnSpPr>
            <p:spPr>
              <a:xfrm flipV="1">
                <a:off x="941832" y="5971032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115 checklist writing"/>
              <p:cNvCxnSpPr/>
              <p:nvPr/>
            </p:nvCxnSpPr>
            <p:spPr>
              <a:xfrm>
                <a:off x="1124712" y="5998464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116 task requirement square"/>
              <p:cNvSpPr/>
              <p:nvPr/>
            </p:nvSpPr>
            <p:spPr>
              <a:xfrm>
                <a:off x="877824" y="6199632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8" name="117 task requirement check segment 1"/>
              <p:cNvCxnSpPr/>
              <p:nvPr/>
            </p:nvCxnSpPr>
            <p:spPr>
              <a:xfrm>
                <a:off x="914400" y="6272784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118 task requirement check segment 2"/>
              <p:cNvCxnSpPr/>
              <p:nvPr/>
            </p:nvCxnSpPr>
            <p:spPr>
              <a:xfrm flipV="1">
                <a:off x="941832" y="6236208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119 checklist writing"/>
              <p:cNvCxnSpPr/>
              <p:nvPr/>
            </p:nvCxnSpPr>
            <p:spPr>
              <a:xfrm>
                <a:off x="1124712" y="6263640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120 task requirement square"/>
              <p:cNvSpPr/>
              <p:nvPr/>
            </p:nvSpPr>
            <p:spPr>
              <a:xfrm>
                <a:off x="877824" y="6464808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2" name="121 task requirement check segment 1"/>
              <p:cNvCxnSpPr/>
              <p:nvPr/>
            </p:nvCxnSpPr>
            <p:spPr>
              <a:xfrm>
                <a:off x="914400" y="6537960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122 task requirement check segment 2"/>
              <p:cNvCxnSpPr/>
              <p:nvPr/>
            </p:nvCxnSpPr>
            <p:spPr>
              <a:xfrm flipV="1">
                <a:off x="941832" y="6501384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123 checklist writing"/>
              <p:cNvCxnSpPr/>
              <p:nvPr/>
            </p:nvCxnSpPr>
            <p:spPr>
              <a:xfrm>
                <a:off x="1124712" y="6528816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124 horizon clock"/>
              <p:cNvSpPr/>
              <p:nvPr/>
            </p:nvSpPr>
            <p:spPr>
              <a:xfrm>
                <a:off x="1435608" y="6199632"/>
                <a:ext cx="384048" cy="38404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6" name="125 line"/>
              <p:cNvCxnSpPr/>
              <p:nvPr/>
            </p:nvCxnSpPr>
            <p:spPr>
              <a:xfrm flipV="1">
                <a:off x="1627632" y="6263640"/>
                <a:ext cx="0" cy="128016"/>
              </a:xfrm>
              <a:prstGeom prst="line">
                <a:avLst/>
              </a:prstGeom>
              <a:ln w="1778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126 line"/>
              <p:cNvCxnSpPr/>
              <p:nvPr/>
            </p:nvCxnSpPr>
            <p:spPr>
              <a:xfrm>
                <a:off x="1627632" y="6391656"/>
                <a:ext cx="100584" cy="45720"/>
              </a:xfrm>
              <a:prstGeom prst="line">
                <a:avLst/>
              </a:prstGeom>
              <a:ln w="1778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127 Select and specialize shaft"/>
              <p:cNvCxnSpPr/>
              <p:nvPr/>
            </p:nvCxnSpPr>
            <p:spPr>
              <a:xfrm>
                <a:off x="2295144" y="4654296"/>
                <a:ext cx="603504" cy="0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LLM side"/>
            <p:cNvGrpSpPr/>
            <p:nvPr/>
          </p:nvGrpSpPr>
          <p:grpSpPr>
            <a:xfrm>
              <a:off x="2834451" y="4619225"/>
              <a:ext cx="64197" cy="70141"/>
              <a:chOff x="2834451" y="4619225"/>
              <a:chExt cx="64197" cy="70141"/>
            </a:xfrm>
          </p:grpSpPr>
          <p:cxnSp>
            <p:nvCxnSpPr>
              <p:cNvPr id="129" name="128 Select and specialize head"/>
              <p:cNvCxnSpPr/>
              <p:nvPr/>
            </p:nvCxnSpPr>
            <p:spPr>
              <a:xfrm flipH="1">
                <a:off x="2834451" y="4654296"/>
                <a:ext cx="64197" cy="35070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129 Select and specialize head"/>
              <p:cNvCxnSpPr/>
              <p:nvPr/>
            </p:nvCxnSpPr>
            <p:spPr>
              <a:xfrm flipH="1" flipV="1">
                <a:off x="2834451" y="4619225"/>
                <a:ext cx="64197" cy="35071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130 Select and specialize text"/>
            <p:cNvSpPr txBox="1"/>
            <p:nvPr/>
          </p:nvSpPr>
          <p:spPr>
            <a:xfrm>
              <a:off x="2232770" y="4297786"/>
              <a:ext cx="526432" cy="3077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9144" tIns="0" rIns="9144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</a:t>
              </a:r>
              <a:r>
                <a:rPr lang="en-US"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</a:t>
              </a: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000" b="0" i="1" dirty="0">
                <a:solidFill>
                  <a:srgbClr val="10194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specialize</a:t>
              </a:r>
            </a:p>
          </p:txBody>
        </p:sp>
        <p:grpSp>
          <p:nvGrpSpPr>
            <p:cNvPr id="581" name="LLM side"/>
            <p:cNvGrpSpPr/>
            <p:nvPr/>
          </p:nvGrpSpPr>
          <p:grpSpPr>
            <a:xfrm>
              <a:off x="2880360" y="1106424"/>
              <a:ext cx="2637282" cy="5879592"/>
              <a:chOff x="2880360" y="1106424"/>
              <a:chExt cx="2637282" cy="5879592"/>
            </a:xfrm>
          </p:grpSpPr>
          <p:sp>
            <p:nvSpPr>
              <p:cNvPr id="132" name="131 LLM-Side Capabilities"/>
              <p:cNvSpPr/>
              <p:nvPr/>
            </p:nvSpPr>
            <p:spPr>
              <a:xfrm>
                <a:off x="2880360" y="1106424"/>
                <a:ext cx="2487168" cy="5879592"/>
              </a:xfrm>
              <a:prstGeom prst="roundRect">
                <a:avLst>
                  <a:gd name="adj" fmla="val 6000"/>
                </a:avLst>
              </a:prstGeom>
              <a:solidFill>
                <a:srgbClr val="F8F1FF"/>
              </a:solidFill>
              <a:ln w="1397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132 LLM-Side title"/>
              <p:cNvSpPr txBox="1"/>
              <p:nvPr/>
            </p:nvSpPr>
            <p:spPr>
              <a:xfrm>
                <a:off x="3035808" y="1170432"/>
                <a:ext cx="2194560" cy="27699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LLM-Side Capabilities  </a:t>
                </a:r>
                <a:r>
                  <a:rPr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§3</a:t>
                </a:r>
                <a:endParaRPr sz="1400" b="1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133 Temporal Representation and Alignment"/>
              <p:cNvSpPr/>
              <p:nvPr/>
            </p:nvSpPr>
            <p:spPr>
              <a:xfrm>
                <a:off x="2990088" y="1481328"/>
                <a:ext cx="2267712" cy="1591056"/>
              </a:xfrm>
              <a:prstGeom prst="roundRect">
                <a:avLst>
                  <a:gd name="adj" fmla="val 6000"/>
                </a:avLst>
              </a:prstGeom>
              <a:solidFill>
                <a:srgbClr val="FCF8FF"/>
              </a:solidFill>
              <a:ln w="1270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134 Representation title"/>
              <p:cNvSpPr txBox="1"/>
              <p:nvPr/>
            </p:nvSpPr>
            <p:spPr>
              <a:xfrm>
                <a:off x="3063240" y="1545336"/>
                <a:ext cx="2112264" cy="4247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8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Representation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8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Alignment</a:t>
                </a:r>
              </a:p>
            </p:txBody>
          </p:sp>
          <p:sp>
            <p:nvSpPr>
              <p:cNvPr id="136" name="135 Representation description"/>
              <p:cNvSpPr txBox="1"/>
              <p:nvPr/>
            </p:nvSpPr>
            <p:spPr>
              <a:xfrm>
                <a:off x="3145536" y="1993392"/>
                <a:ext cx="1956816" cy="38404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Series ↔ language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multimodal representations</a:t>
                </a:r>
              </a:p>
            </p:txBody>
          </p:sp>
          <p:cxnSp>
            <p:nvCxnSpPr>
              <p:cNvPr id="137" name="136 temporal sample line segment 1"/>
              <p:cNvCxnSpPr/>
              <p:nvPr/>
            </p:nvCxnSpPr>
            <p:spPr>
              <a:xfrm flipV="1">
                <a:off x="3145536" y="2532888"/>
                <a:ext cx="109728" cy="182880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137 temporal sample line segment 2"/>
              <p:cNvCxnSpPr/>
              <p:nvPr/>
            </p:nvCxnSpPr>
            <p:spPr>
              <a:xfrm>
                <a:off x="3255264" y="2532888"/>
                <a:ext cx="118872" cy="82296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138 temporal sample line segment 3"/>
              <p:cNvCxnSpPr/>
              <p:nvPr/>
            </p:nvCxnSpPr>
            <p:spPr>
              <a:xfrm flipV="1">
                <a:off x="3374136" y="2423160"/>
                <a:ext cx="146304" cy="192024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139 temporal sample line segment 4"/>
              <p:cNvCxnSpPr/>
              <p:nvPr/>
            </p:nvCxnSpPr>
            <p:spPr>
              <a:xfrm>
                <a:off x="3520440" y="2423160"/>
                <a:ext cx="137159" cy="182880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140 temporal sample line segment 5"/>
              <p:cNvCxnSpPr/>
              <p:nvPr/>
            </p:nvCxnSpPr>
            <p:spPr>
              <a:xfrm>
                <a:off x="3657599" y="2606040"/>
                <a:ext cx="164593" cy="128016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141 temporal sample line segment 6"/>
              <p:cNvCxnSpPr/>
              <p:nvPr/>
            </p:nvCxnSpPr>
            <p:spPr>
              <a:xfrm flipV="1">
                <a:off x="3822192" y="2487168"/>
                <a:ext cx="164592" cy="246888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142 temporal sample"/>
              <p:cNvSpPr/>
              <p:nvPr/>
            </p:nvSpPr>
            <p:spPr>
              <a:xfrm>
                <a:off x="3122676" y="2692908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143 temporal sample"/>
              <p:cNvSpPr/>
              <p:nvPr/>
            </p:nvSpPr>
            <p:spPr>
              <a:xfrm>
                <a:off x="3232404" y="2510028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144 temporal sample"/>
              <p:cNvSpPr/>
              <p:nvPr/>
            </p:nvSpPr>
            <p:spPr>
              <a:xfrm>
                <a:off x="3351276" y="2592324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145 temporal sample"/>
              <p:cNvSpPr/>
              <p:nvPr/>
            </p:nvSpPr>
            <p:spPr>
              <a:xfrm>
                <a:off x="3497580" y="2400300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146 temporal sample"/>
              <p:cNvSpPr/>
              <p:nvPr/>
            </p:nvSpPr>
            <p:spPr>
              <a:xfrm>
                <a:off x="3634740" y="2583180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147 temporal sample"/>
              <p:cNvSpPr/>
              <p:nvPr/>
            </p:nvSpPr>
            <p:spPr>
              <a:xfrm>
                <a:off x="3799332" y="2711196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148 temporal sample"/>
              <p:cNvSpPr/>
              <p:nvPr/>
            </p:nvSpPr>
            <p:spPr>
              <a:xfrm>
                <a:off x="3963923" y="2464308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149 sample to token arrow shaft"/>
              <p:cNvCxnSpPr/>
              <p:nvPr/>
            </p:nvCxnSpPr>
            <p:spPr>
              <a:xfrm>
                <a:off x="4114800" y="2606040"/>
                <a:ext cx="192024" cy="0"/>
              </a:xfrm>
              <a:prstGeom prst="line">
                <a:avLst/>
              </a:prstGeom>
              <a:ln w="1778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150 sample to token arrow head"/>
              <p:cNvCxnSpPr/>
              <p:nvPr/>
            </p:nvCxnSpPr>
            <p:spPr>
              <a:xfrm flipH="1">
                <a:off x="4242627" y="2606040"/>
                <a:ext cx="64197" cy="35070"/>
              </a:xfrm>
              <a:prstGeom prst="line">
                <a:avLst/>
              </a:prstGeom>
              <a:ln w="1778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151 sample to token arrow head"/>
              <p:cNvCxnSpPr/>
              <p:nvPr/>
            </p:nvCxnSpPr>
            <p:spPr>
              <a:xfrm flipH="1" flipV="1">
                <a:off x="4242627" y="2570969"/>
                <a:ext cx="64197" cy="35071"/>
              </a:xfrm>
              <a:prstGeom prst="line">
                <a:avLst/>
              </a:prstGeom>
              <a:ln w="1778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154 additional tokens"/>
              <p:cNvSpPr txBox="1"/>
              <p:nvPr/>
            </p:nvSpPr>
            <p:spPr>
              <a:xfrm>
                <a:off x="4910328" y="2532888"/>
                <a:ext cx="237744" cy="2000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56" name="155 numeric sequence input"/>
              <p:cNvSpPr txBox="1"/>
              <p:nvPr/>
            </p:nvSpPr>
            <p:spPr>
              <a:xfrm>
                <a:off x="3108960" y="2834640"/>
                <a:ext cx="1554480" cy="18004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70" b="0" i="1" noProof="1">
                    <a:solidFill>
                      <a:srgbClr val="101948"/>
                    </a:solidFill>
                    <a:latin typeface="Times New Roman"/>
                  </a:rPr>
                  <a:t>[x₁, x₂, x₃, …]</a:t>
                </a:r>
              </a:p>
            </p:txBody>
          </p:sp>
          <p:sp>
            <p:nvSpPr>
              <p:cNvPr id="157" name="156 Temporal Understanding and Reasoning"/>
              <p:cNvSpPr/>
              <p:nvPr/>
            </p:nvSpPr>
            <p:spPr>
              <a:xfrm>
                <a:off x="2990088" y="3191256"/>
                <a:ext cx="2267712" cy="1655064"/>
              </a:xfrm>
              <a:prstGeom prst="roundRect">
                <a:avLst>
                  <a:gd name="adj" fmla="val 6000"/>
                </a:avLst>
              </a:prstGeom>
              <a:solidFill>
                <a:srgbClr val="FCF8FF"/>
              </a:solidFill>
              <a:ln w="1270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157 Reasoning title"/>
              <p:cNvSpPr txBox="1"/>
              <p:nvPr/>
            </p:nvSpPr>
            <p:spPr>
              <a:xfrm>
                <a:off x="3090672" y="3273552"/>
                <a:ext cx="2057400" cy="39319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Understanding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Reasoning</a:t>
                </a:r>
              </a:p>
            </p:txBody>
          </p:sp>
          <p:sp>
            <p:nvSpPr>
              <p:cNvPr id="159" name="158 Reasoning description"/>
              <p:cNvSpPr txBox="1"/>
              <p:nvPr/>
            </p:nvSpPr>
            <p:spPr>
              <a:xfrm>
                <a:off x="3101666" y="3715512"/>
                <a:ext cx="2415976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Attributes · Instructions</a:t>
                </a:r>
                <a:r>
                  <a:rPr lang="zh-CN" altLang="en-US"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r>
                  <a:rPr lang="en-US"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Reasoning</a:t>
                </a:r>
              </a:p>
            </p:txBody>
          </p:sp>
          <p:cxnSp>
            <p:nvCxnSpPr>
              <p:cNvPr id="162" name="161 Reasoning trend segment 1"/>
              <p:cNvCxnSpPr/>
              <p:nvPr/>
            </p:nvCxnSpPr>
            <p:spPr>
              <a:xfrm flipV="1">
                <a:off x="3200400" y="4504791"/>
                <a:ext cx="181573" cy="56236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162 Reasoning trend segment 2"/>
              <p:cNvCxnSpPr/>
              <p:nvPr/>
            </p:nvCxnSpPr>
            <p:spPr>
              <a:xfrm>
                <a:off x="3381973" y="4504791"/>
                <a:ext cx="181574" cy="18745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163 Reasoning trend segment 3"/>
              <p:cNvCxnSpPr/>
              <p:nvPr/>
            </p:nvCxnSpPr>
            <p:spPr>
              <a:xfrm flipV="1">
                <a:off x="3563547" y="4433559"/>
                <a:ext cx="181574" cy="89977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164 Reasoning trend segment 4"/>
              <p:cNvCxnSpPr/>
              <p:nvPr/>
            </p:nvCxnSpPr>
            <p:spPr>
              <a:xfrm>
                <a:off x="3745121" y="4433559"/>
                <a:ext cx="181573" cy="44989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165 Reasoning trend segment 5"/>
              <p:cNvCxnSpPr/>
              <p:nvPr/>
            </p:nvCxnSpPr>
            <p:spPr>
              <a:xfrm flipV="1">
                <a:off x="3926694" y="4377324"/>
                <a:ext cx="181574" cy="101224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166 Reasoning trend segment 6"/>
              <p:cNvCxnSpPr/>
              <p:nvPr/>
            </p:nvCxnSpPr>
            <p:spPr>
              <a:xfrm>
                <a:off x="4108268" y="4377324"/>
                <a:ext cx="181574" cy="26243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167 Reasoning trend segment 7"/>
              <p:cNvCxnSpPr/>
              <p:nvPr/>
            </p:nvCxnSpPr>
            <p:spPr>
              <a:xfrm flipV="1">
                <a:off x="4289842" y="4321088"/>
                <a:ext cx="181574" cy="82479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168 Reasoning trend point"/>
              <p:cNvSpPr/>
              <p:nvPr/>
            </p:nvSpPr>
            <p:spPr>
              <a:xfrm>
                <a:off x="3180283" y="4540910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169 Reasoning trend point"/>
              <p:cNvSpPr/>
              <p:nvPr/>
            </p:nvSpPr>
            <p:spPr>
              <a:xfrm>
                <a:off x="3543430" y="4503420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170 Reasoning trend point"/>
              <p:cNvSpPr/>
              <p:nvPr/>
            </p:nvSpPr>
            <p:spPr>
              <a:xfrm>
                <a:off x="3906578" y="4458431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171 Reasoning trend point"/>
              <p:cNvSpPr/>
              <p:nvPr/>
            </p:nvSpPr>
            <p:spPr>
              <a:xfrm>
                <a:off x="4269725" y="4383450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172 marked trend point on curve"/>
              <p:cNvSpPr/>
              <p:nvPr/>
            </p:nvSpPr>
            <p:spPr>
              <a:xfrm>
                <a:off x="3886199" y="4434840"/>
                <a:ext cx="91440" cy="91440"/>
              </a:xfrm>
              <a:prstGeom prst="ellipse">
                <a:avLst/>
              </a:prstGeom>
              <a:solidFill>
                <a:srgbClr val="E75A4E"/>
              </a:solidFill>
              <a:ln w="1270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173 Trend question callout"/>
              <p:cNvSpPr/>
              <p:nvPr/>
            </p:nvSpPr>
            <p:spPr>
              <a:xfrm>
                <a:off x="4559470" y="4037090"/>
                <a:ext cx="627147" cy="354012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5" name="174 Trend question"/>
              <p:cNvSpPr txBox="1"/>
              <p:nvPr/>
            </p:nvSpPr>
            <p:spPr>
              <a:xfrm>
                <a:off x="4544568" y="4035978"/>
                <a:ext cx="649224" cy="34747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Trend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increase?</a:t>
                </a:r>
              </a:p>
            </p:txBody>
          </p:sp>
          <p:sp>
            <p:nvSpPr>
              <p:cNvPr id="176" name="175 Model Adaptation"/>
              <p:cNvSpPr/>
              <p:nvPr/>
            </p:nvSpPr>
            <p:spPr>
              <a:xfrm>
                <a:off x="2990088" y="4946904"/>
                <a:ext cx="2267712" cy="1600200"/>
              </a:xfrm>
              <a:prstGeom prst="roundRect">
                <a:avLst>
                  <a:gd name="adj" fmla="val 6000"/>
                </a:avLst>
              </a:prstGeom>
              <a:solidFill>
                <a:srgbClr val="FCF8FF"/>
              </a:solidFill>
              <a:ln w="1270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176 Model Adaptation title"/>
              <p:cNvSpPr txBox="1"/>
              <p:nvPr/>
            </p:nvSpPr>
            <p:spPr>
              <a:xfrm>
                <a:off x="3127248" y="5020056"/>
                <a:ext cx="2011680" cy="21544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Adaptation</a:t>
                </a:r>
              </a:p>
            </p:txBody>
          </p:sp>
          <p:sp>
            <p:nvSpPr>
              <p:cNvPr id="178" name="177 adaptation modes"/>
              <p:cNvSpPr txBox="1"/>
              <p:nvPr/>
            </p:nvSpPr>
            <p:spPr>
              <a:xfrm>
                <a:off x="3118104" y="5294376"/>
                <a:ext cx="201168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· Adapters · Supervision</a:t>
                </a:r>
              </a:p>
            </p:txBody>
          </p:sp>
          <p:cxnSp>
            <p:nvCxnSpPr>
              <p:cNvPr id="181" name="180 adapter arrow shaft"/>
              <p:cNvCxnSpPr/>
              <p:nvPr/>
            </p:nvCxnSpPr>
            <p:spPr>
              <a:xfrm flipH="1">
                <a:off x="3822192" y="6053328"/>
                <a:ext cx="19202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181 adapter arrow head"/>
              <p:cNvCxnSpPr/>
              <p:nvPr/>
            </p:nvCxnSpPr>
            <p:spPr>
              <a:xfrm flipV="1">
                <a:off x="3822192" y="6018257"/>
                <a:ext cx="64196" cy="35071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182 adapter arrow head"/>
              <p:cNvCxnSpPr/>
              <p:nvPr/>
            </p:nvCxnSpPr>
            <p:spPr>
              <a:xfrm>
                <a:off x="3822192" y="6053328"/>
                <a:ext cx="64196" cy="3507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183 adapter blue"/>
              <p:cNvSpPr/>
              <p:nvPr/>
            </p:nvSpPr>
            <p:spPr>
              <a:xfrm>
                <a:off x="4050792" y="5861304"/>
                <a:ext cx="164592" cy="393192"/>
              </a:xfrm>
              <a:prstGeom prst="roundRect">
                <a:avLst>
                  <a:gd name="adj" fmla="val 6000"/>
                </a:avLst>
              </a:prstGeom>
              <a:solidFill>
                <a:srgbClr val="BFE4F8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184 adapter orange"/>
              <p:cNvSpPr/>
              <p:nvPr/>
            </p:nvSpPr>
            <p:spPr>
              <a:xfrm>
                <a:off x="4288536" y="5861304"/>
                <a:ext cx="164592" cy="393192"/>
              </a:xfrm>
              <a:prstGeom prst="roundRect">
                <a:avLst>
                  <a:gd name="adj" fmla="val 6000"/>
                </a:avLst>
              </a:prstGeom>
              <a:solidFill>
                <a:srgbClr val="FAD3B0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185 adapter labels"/>
              <p:cNvSpPr txBox="1"/>
              <p:nvPr/>
            </p:nvSpPr>
            <p:spPr>
              <a:xfrm>
                <a:off x="4544568" y="5669280"/>
                <a:ext cx="694944" cy="64633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LoRA</a:t>
                </a:r>
                <a:endParaRPr sz="1050" b="0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Adapters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Instruction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supervision</a:t>
                </a:r>
              </a:p>
            </p:txBody>
          </p:sp>
          <p:sp>
            <p:nvSpPr>
              <p:cNvPr id="187" name="186 learned capabilities"/>
              <p:cNvSpPr txBox="1"/>
              <p:nvPr/>
            </p:nvSpPr>
            <p:spPr>
              <a:xfrm>
                <a:off x="3090672" y="6665976"/>
                <a:ext cx="2139696" cy="18004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7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Learned temporal capabilities</a:t>
                </a:r>
              </a:p>
            </p:txBody>
          </p:sp>
        </p:grpSp>
        <p:grpSp>
          <p:nvGrpSpPr>
            <p:cNvPr id="582" name="Temporal Harness"/>
            <p:cNvGrpSpPr/>
            <p:nvPr/>
          </p:nvGrpSpPr>
          <p:grpSpPr>
            <a:xfrm>
              <a:off x="5404104" y="3631673"/>
              <a:ext cx="603504" cy="71647"/>
              <a:chOff x="5404104" y="3631673"/>
              <a:chExt cx="603504" cy="71647"/>
            </a:xfrm>
          </p:grpSpPr>
          <p:cxnSp>
            <p:nvCxnSpPr>
              <p:cNvPr id="188" name="187 State-action arrow shaft"/>
              <p:cNvCxnSpPr/>
              <p:nvPr/>
            </p:nvCxnSpPr>
            <p:spPr>
              <a:xfrm>
                <a:off x="5404104" y="3666744"/>
                <a:ext cx="603504" cy="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188 State-action arrow head"/>
              <p:cNvCxnSpPr/>
              <p:nvPr/>
            </p:nvCxnSpPr>
            <p:spPr>
              <a:xfrm flipH="1">
                <a:off x="5943411" y="3666744"/>
                <a:ext cx="64197" cy="3507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189 State-action arrow head"/>
              <p:cNvCxnSpPr/>
              <p:nvPr/>
            </p:nvCxnSpPr>
            <p:spPr>
              <a:xfrm flipH="1" flipV="1">
                <a:off x="5943411" y="3631673"/>
                <a:ext cx="64197" cy="35071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190 Observation arrow shaft"/>
              <p:cNvCxnSpPr/>
              <p:nvPr/>
            </p:nvCxnSpPr>
            <p:spPr>
              <a:xfrm flipH="1">
                <a:off x="5404104" y="3703320"/>
                <a:ext cx="603504" cy="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3" name="LLM side"/>
            <p:cNvGrpSpPr/>
            <p:nvPr/>
          </p:nvGrpSpPr>
          <p:grpSpPr>
            <a:xfrm>
              <a:off x="5404104" y="3668249"/>
              <a:ext cx="64196" cy="70141"/>
              <a:chOff x="5404104" y="3668249"/>
              <a:chExt cx="64196" cy="70141"/>
            </a:xfrm>
          </p:grpSpPr>
          <p:cxnSp>
            <p:nvCxnSpPr>
              <p:cNvPr id="192" name="191 Observation arrow head"/>
              <p:cNvCxnSpPr/>
              <p:nvPr/>
            </p:nvCxnSpPr>
            <p:spPr>
              <a:xfrm flipV="1">
                <a:off x="5404104" y="3668249"/>
                <a:ext cx="64196" cy="35071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192 Observation arrow head"/>
              <p:cNvCxnSpPr/>
              <p:nvPr/>
            </p:nvCxnSpPr>
            <p:spPr>
              <a:xfrm>
                <a:off x="5404104" y="3703320"/>
                <a:ext cx="64196" cy="3507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4" name="193 State Actions Observations"/>
            <p:cNvSpPr txBox="1"/>
            <p:nvPr/>
          </p:nvSpPr>
          <p:spPr>
            <a:xfrm>
              <a:off x="5292831" y="3803727"/>
              <a:ext cx="795528" cy="461665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</a:t>
              </a:r>
              <a:r>
                <a:rPr lang="en-US"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sz="1000" b="0" i="1" dirty="0">
                <a:solidFill>
                  <a:srgbClr val="10194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Observations</a:t>
              </a:r>
            </a:p>
          </p:txBody>
        </p:sp>
        <p:sp>
          <p:nvSpPr>
            <p:cNvPr id="195" name="194 General Harness GH enclosing GTS and TSK"/>
            <p:cNvSpPr/>
            <p:nvPr/>
          </p:nvSpPr>
          <p:spPr>
            <a:xfrm>
              <a:off x="6035040" y="822960"/>
              <a:ext cx="7315200" cy="6638544"/>
            </a:xfrm>
            <a:prstGeom prst="roundRect">
              <a:avLst>
                <a:gd name="adj" fmla="val 1799"/>
              </a:avLst>
            </a:prstGeom>
            <a:solidFill>
              <a:srgbClr val="EDF8FE"/>
            </a:solidFill>
            <a:ln w="13970">
              <a:solidFill>
                <a:srgbClr val="2B8B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4" name="General Harness"/>
            <p:cNvGrpSpPr/>
            <p:nvPr/>
          </p:nvGrpSpPr>
          <p:grpSpPr>
            <a:xfrm>
              <a:off x="6144768" y="868680"/>
              <a:ext cx="7059168" cy="1965960"/>
              <a:chOff x="6144768" y="868680"/>
              <a:chExt cx="7059168" cy="1965960"/>
            </a:xfrm>
          </p:grpSpPr>
          <p:sp>
            <p:nvSpPr>
              <p:cNvPr id="196" name="195 GH title"/>
              <p:cNvSpPr txBox="1"/>
              <p:nvPr/>
            </p:nvSpPr>
            <p:spPr>
              <a:xfrm>
                <a:off x="6217920" y="868680"/>
                <a:ext cx="3931920" cy="26517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Harness (GH)</a:t>
                </a:r>
              </a:p>
            </p:txBody>
          </p:sp>
          <p:sp>
            <p:nvSpPr>
              <p:cNvPr id="197" name="196 GH subtitle"/>
              <p:cNvSpPr txBox="1"/>
              <p:nvPr/>
            </p:nvSpPr>
            <p:spPr>
              <a:xfrm>
                <a:off x="6225735" y="1102596"/>
                <a:ext cx="3566160" cy="20116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8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Reusable agent runtime</a:t>
                </a:r>
              </a:p>
            </p:txBody>
          </p:sp>
          <p:sp>
            <p:nvSpPr>
              <p:cNvPr id="198" name="197 GH section"/>
              <p:cNvSpPr txBox="1"/>
              <p:nvPr/>
            </p:nvSpPr>
            <p:spPr>
              <a:xfrm>
                <a:off x="12771882" y="886968"/>
                <a:ext cx="356616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§4</a:t>
                </a:r>
              </a:p>
            </p:txBody>
          </p:sp>
          <p:sp>
            <p:nvSpPr>
              <p:cNvPr id="199" name="198 GH module 1"/>
              <p:cNvSpPr/>
              <p:nvPr/>
            </p:nvSpPr>
            <p:spPr>
              <a:xfrm>
                <a:off x="6144768" y="1335024"/>
                <a:ext cx="1728216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199 GH module 1 title"/>
              <p:cNvSpPr txBox="1"/>
              <p:nvPr/>
            </p:nvSpPr>
            <p:spPr>
              <a:xfrm>
                <a:off x="6739128" y="1399032"/>
                <a:ext cx="1078992" cy="35661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Interface &amp;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Interaction</a:t>
                </a:r>
              </a:p>
            </p:txBody>
          </p:sp>
          <p:sp>
            <p:nvSpPr>
              <p:cNvPr id="201" name="200 GH module 1 description"/>
              <p:cNvSpPr txBox="1"/>
              <p:nvPr/>
            </p:nvSpPr>
            <p:spPr>
              <a:xfrm>
                <a:off x="6739128" y="1755648"/>
                <a:ext cx="107899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· Actions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Observations</a:t>
                </a:r>
              </a:p>
            </p:txBody>
          </p:sp>
          <p:sp>
            <p:nvSpPr>
              <p:cNvPr id="202" name="201 GH module 2"/>
              <p:cNvSpPr/>
              <p:nvPr/>
            </p:nvSpPr>
            <p:spPr>
              <a:xfrm>
                <a:off x="7918704" y="1335024"/>
                <a:ext cx="1600200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3" name="202 GH module 2 title"/>
              <p:cNvSpPr txBox="1"/>
              <p:nvPr/>
            </p:nvSpPr>
            <p:spPr>
              <a:xfrm>
                <a:off x="8513064" y="1399032"/>
                <a:ext cx="950976" cy="35661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&amp;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</a:t>
                </a:r>
              </a:p>
            </p:txBody>
          </p:sp>
          <p:sp>
            <p:nvSpPr>
              <p:cNvPr id="204" name="203 GH module 2 description"/>
              <p:cNvSpPr txBox="1"/>
              <p:nvPr/>
            </p:nvSpPr>
            <p:spPr>
              <a:xfrm>
                <a:off x="8513064" y="1755648"/>
                <a:ext cx="1005840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· Retrieve</a:t>
                </a:r>
                <a:r>
                  <a:rPr lang="zh-CN" alt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endParaRPr lang="en-US" sz="1000" b="0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Reuse</a:t>
                </a:r>
              </a:p>
            </p:txBody>
          </p:sp>
          <p:sp>
            <p:nvSpPr>
              <p:cNvPr id="205" name="204 GH module 3"/>
              <p:cNvSpPr/>
              <p:nvPr/>
            </p:nvSpPr>
            <p:spPr>
              <a:xfrm>
                <a:off x="9573768" y="1335024"/>
                <a:ext cx="1856231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205 GH module 3 title"/>
              <p:cNvSpPr txBox="1"/>
              <p:nvPr/>
            </p:nvSpPr>
            <p:spPr>
              <a:xfrm>
                <a:off x="10168128" y="1399032"/>
                <a:ext cx="1207008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Tools &amp; Execution</a:t>
                </a:r>
              </a:p>
            </p:txBody>
          </p:sp>
          <p:sp>
            <p:nvSpPr>
              <p:cNvPr id="207" name="206 GH module 3 description"/>
              <p:cNvSpPr txBox="1"/>
              <p:nvPr/>
            </p:nvSpPr>
            <p:spPr>
              <a:xfrm>
                <a:off x="10159007" y="1632516"/>
                <a:ext cx="1207008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APIs · Code ·</a:t>
                </a: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Models · Simulators</a:t>
                </a:r>
              </a:p>
            </p:txBody>
          </p:sp>
          <p:sp>
            <p:nvSpPr>
              <p:cNvPr id="208" name="207 GH module 4"/>
              <p:cNvSpPr/>
              <p:nvPr/>
            </p:nvSpPr>
            <p:spPr>
              <a:xfrm>
                <a:off x="11484864" y="1335024"/>
                <a:ext cx="1719072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208 GH module 4 title"/>
              <p:cNvSpPr txBox="1"/>
              <p:nvPr/>
            </p:nvSpPr>
            <p:spPr>
              <a:xfrm>
                <a:off x="12015216" y="1399032"/>
                <a:ext cx="1124712" cy="29828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6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Control, Verification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6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Feedback</a:t>
                </a:r>
              </a:p>
            </p:txBody>
          </p:sp>
          <p:sp>
            <p:nvSpPr>
              <p:cNvPr id="210" name="209 GH module 4 description"/>
              <p:cNvSpPr txBox="1"/>
              <p:nvPr/>
            </p:nvSpPr>
            <p:spPr>
              <a:xfrm>
                <a:off x="11907157" y="1782312"/>
                <a:ext cx="1269347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· Retr</a:t>
                </a: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altLang="zh-CN" sz="100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 </a:t>
                </a: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Recover</a:t>
                </a:r>
              </a:p>
            </p:txBody>
          </p:sp>
          <p:sp>
            <p:nvSpPr>
              <p:cNvPr id="211" name="210 GH module 5"/>
              <p:cNvSpPr/>
              <p:nvPr/>
            </p:nvSpPr>
            <p:spPr>
              <a:xfrm>
                <a:off x="6144768" y="2167128"/>
                <a:ext cx="2221992" cy="667512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211 GH module 5 title"/>
              <p:cNvSpPr txBox="1"/>
              <p:nvPr/>
            </p:nvSpPr>
            <p:spPr>
              <a:xfrm>
                <a:off x="6739128" y="2231136"/>
                <a:ext cx="1572768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Planning &amp; Workflow</a:t>
                </a:r>
              </a:p>
            </p:txBody>
          </p:sp>
          <p:sp>
            <p:nvSpPr>
              <p:cNvPr id="213" name="212 GH module 5 description"/>
              <p:cNvSpPr txBox="1"/>
              <p:nvPr/>
            </p:nvSpPr>
            <p:spPr>
              <a:xfrm>
                <a:off x="6725698" y="2478024"/>
                <a:ext cx="1572768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Decompose ·</a:t>
                </a: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 · Stop</a:t>
                </a:r>
              </a:p>
            </p:txBody>
          </p:sp>
          <p:sp>
            <p:nvSpPr>
              <p:cNvPr id="214" name="213 GH module 6"/>
              <p:cNvSpPr/>
              <p:nvPr/>
            </p:nvSpPr>
            <p:spPr>
              <a:xfrm>
                <a:off x="8421624" y="2167128"/>
                <a:ext cx="2331720" cy="667512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214 GH module 6 title"/>
              <p:cNvSpPr txBox="1"/>
              <p:nvPr/>
            </p:nvSpPr>
            <p:spPr>
              <a:xfrm>
                <a:off x="9015984" y="2231136"/>
                <a:ext cx="1682496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 &amp; Evolution</a:t>
                </a:r>
              </a:p>
            </p:txBody>
          </p:sp>
          <p:sp>
            <p:nvSpPr>
              <p:cNvPr id="216" name="215 GH module 6 description"/>
              <p:cNvSpPr txBox="1"/>
              <p:nvPr/>
            </p:nvSpPr>
            <p:spPr>
              <a:xfrm>
                <a:off x="8884876" y="2441600"/>
                <a:ext cx="1907665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Prompts · Tools ·Memory · Policies</a:t>
                </a:r>
              </a:p>
            </p:txBody>
          </p:sp>
          <p:sp>
            <p:nvSpPr>
              <p:cNvPr id="217" name="216 GH module 7"/>
              <p:cNvSpPr/>
              <p:nvPr/>
            </p:nvSpPr>
            <p:spPr>
              <a:xfrm>
                <a:off x="10808208" y="2167128"/>
                <a:ext cx="2395728" cy="667512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217 GH module 7 title"/>
              <p:cNvSpPr txBox="1"/>
              <p:nvPr/>
            </p:nvSpPr>
            <p:spPr>
              <a:xfrm>
                <a:off x="11347704" y="2231136"/>
                <a:ext cx="1801368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Coordination &amp; Scaling</a:t>
                </a:r>
              </a:p>
            </p:txBody>
          </p:sp>
          <p:sp>
            <p:nvSpPr>
              <p:cNvPr id="219" name="218 GH module 7 description"/>
              <p:cNvSpPr txBox="1"/>
              <p:nvPr/>
            </p:nvSpPr>
            <p:spPr>
              <a:xfrm>
                <a:off x="11375136" y="2438323"/>
                <a:ext cx="1801368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Roles · Shared state ·Review</a:t>
                </a:r>
              </a:p>
            </p:txBody>
          </p:sp>
          <p:sp>
            <p:nvSpPr>
              <p:cNvPr id="221" name="220 interaction dots"/>
              <p:cNvSpPr txBox="1"/>
              <p:nvPr/>
            </p:nvSpPr>
            <p:spPr>
              <a:xfrm>
                <a:off x="6364224" y="1536192"/>
                <a:ext cx="228600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•••</a:t>
                </a:r>
              </a:p>
            </p:txBody>
          </p:sp>
          <p:cxnSp>
            <p:nvCxnSpPr>
              <p:cNvPr id="233" name="232 verification check segment 1"/>
              <p:cNvCxnSpPr/>
              <p:nvPr/>
            </p:nvCxnSpPr>
            <p:spPr>
              <a:xfrm>
                <a:off x="11667744" y="1591056"/>
                <a:ext cx="64008" cy="73152"/>
              </a:xfrm>
              <a:prstGeom prst="line">
                <a:avLst/>
              </a:prstGeom>
              <a:ln w="1651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240 optimization gear"/>
              <p:cNvSpPr/>
              <p:nvPr/>
            </p:nvSpPr>
            <p:spPr>
              <a:xfrm>
                <a:off x="8522208" y="2322576"/>
                <a:ext cx="310896" cy="310896"/>
              </a:xfrm>
              <a:prstGeom prst="ellipse">
                <a:avLst/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2" name="241 line"/>
              <p:cNvCxnSpPr/>
              <p:nvPr/>
            </p:nvCxnSpPr>
            <p:spPr>
              <a:xfrm>
                <a:off x="8833104" y="2478024"/>
                <a:ext cx="45720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242 line"/>
              <p:cNvCxnSpPr/>
              <p:nvPr/>
            </p:nvCxnSpPr>
            <p:spPr>
              <a:xfrm>
                <a:off x="8787574" y="2587942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243 line"/>
              <p:cNvCxnSpPr/>
              <p:nvPr/>
            </p:nvCxnSpPr>
            <p:spPr>
              <a:xfrm>
                <a:off x="8677656" y="2633472"/>
                <a:ext cx="0" cy="4572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244 line"/>
              <p:cNvCxnSpPr/>
              <p:nvPr/>
            </p:nvCxnSpPr>
            <p:spPr>
              <a:xfrm flipH="1">
                <a:off x="8535408" y="2587942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245 line"/>
              <p:cNvCxnSpPr/>
              <p:nvPr/>
            </p:nvCxnSpPr>
            <p:spPr>
              <a:xfrm flipH="1">
                <a:off x="8476488" y="2478024"/>
                <a:ext cx="45720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246 line"/>
              <p:cNvCxnSpPr/>
              <p:nvPr/>
            </p:nvCxnSpPr>
            <p:spPr>
              <a:xfrm flipH="1" flipV="1">
                <a:off x="8535408" y="2335776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247 line"/>
              <p:cNvCxnSpPr/>
              <p:nvPr/>
            </p:nvCxnSpPr>
            <p:spPr>
              <a:xfrm flipV="1">
                <a:off x="8677656" y="2276856"/>
                <a:ext cx="0" cy="4572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248 line"/>
              <p:cNvCxnSpPr/>
              <p:nvPr/>
            </p:nvCxnSpPr>
            <p:spPr>
              <a:xfrm flipV="1">
                <a:off x="8787574" y="2335776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5" name="Temporal Harness"/>
            <p:cNvGrpSpPr/>
            <p:nvPr/>
          </p:nvGrpSpPr>
          <p:grpSpPr>
            <a:xfrm>
              <a:off x="6126480" y="2935224"/>
              <a:ext cx="7132320" cy="4443984"/>
              <a:chOff x="6126480" y="2935224"/>
              <a:chExt cx="7132320" cy="4443984"/>
            </a:xfrm>
          </p:grpSpPr>
          <p:sp>
            <p:nvSpPr>
              <p:cNvPr id="256" name="255 General Time-Series Harness GTS enclosing TSK"/>
              <p:cNvSpPr/>
              <p:nvPr/>
            </p:nvSpPr>
            <p:spPr>
              <a:xfrm>
                <a:off x="6126480" y="2935224"/>
                <a:ext cx="7132320" cy="4443984"/>
              </a:xfrm>
              <a:prstGeom prst="roundRect">
                <a:avLst>
                  <a:gd name="adj" fmla="val 1799"/>
                </a:avLst>
              </a:prstGeom>
              <a:solidFill>
                <a:srgbClr val="F0FAEF"/>
              </a:solidFill>
              <a:ln w="1397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256 GTS title"/>
              <p:cNvSpPr txBox="1"/>
              <p:nvPr/>
            </p:nvSpPr>
            <p:spPr>
              <a:xfrm>
                <a:off x="6309360" y="2980944"/>
                <a:ext cx="6217920" cy="25391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Time-Series Harness (GTS)</a:t>
                </a:r>
              </a:p>
            </p:txBody>
          </p:sp>
          <p:sp>
            <p:nvSpPr>
              <p:cNvPr id="258" name="257 GTS subtitle"/>
              <p:cNvSpPr txBox="1"/>
              <p:nvPr/>
            </p:nvSpPr>
            <p:spPr>
              <a:xfrm>
                <a:off x="6326319" y="3204387"/>
                <a:ext cx="5806440" cy="20116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0" i="1" noProof="1">
                    <a:solidFill>
                      <a:srgbClr val="101948"/>
                    </a:solidFill>
                    <a:latin typeface="Times New Roman"/>
                  </a:rPr>
                  <a:t>Cross-dimensional temporal requirements</a:t>
                </a:r>
              </a:p>
            </p:txBody>
          </p:sp>
          <p:sp>
            <p:nvSpPr>
              <p:cNvPr id="259" name="258 GTS section"/>
              <p:cNvSpPr txBox="1"/>
              <p:nvPr/>
            </p:nvSpPr>
            <p:spPr>
              <a:xfrm>
                <a:off x="12737592" y="2999232"/>
                <a:ext cx="365760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§5</a:t>
                </a:r>
              </a:p>
            </p:txBody>
          </p:sp>
          <p:sp>
            <p:nvSpPr>
              <p:cNvPr id="260" name="259 GTS module 1"/>
              <p:cNvSpPr/>
              <p:nvPr/>
            </p:nvSpPr>
            <p:spPr>
              <a:xfrm>
                <a:off x="6236208" y="3429000"/>
                <a:ext cx="2249424" cy="978408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1" name="260 GTS module 1 title"/>
              <p:cNvSpPr txBox="1"/>
              <p:nvPr/>
            </p:nvSpPr>
            <p:spPr>
              <a:xfrm>
                <a:off x="6739128" y="3493008"/>
                <a:ext cx="1673352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Causality</a:t>
                </a:r>
              </a:p>
            </p:txBody>
          </p:sp>
          <p:sp>
            <p:nvSpPr>
              <p:cNvPr id="262" name="261 GTS module 1 description"/>
              <p:cNvSpPr txBox="1"/>
              <p:nvPr/>
            </p:nvSpPr>
            <p:spPr>
              <a:xfrm>
                <a:off x="6739128" y="3669979"/>
                <a:ext cx="167335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time · Availability time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As-of admissibility</a:t>
                </a:r>
              </a:p>
            </p:txBody>
          </p:sp>
          <p:sp>
            <p:nvSpPr>
              <p:cNvPr id="263" name="262 GTS module 2"/>
              <p:cNvSpPr/>
              <p:nvPr/>
            </p:nvSpPr>
            <p:spPr>
              <a:xfrm>
                <a:off x="8540496" y="3429000"/>
                <a:ext cx="2313432" cy="978408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4" name="263 GTS module 2 title"/>
              <p:cNvSpPr txBox="1"/>
              <p:nvPr/>
            </p:nvSpPr>
            <p:spPr>
              <a:xfrm>
                <a:off x="9043416" y="3493008"/>
                <a:ext cx="173736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Fidelity</a:t>
                </a:r>
              </a:p>
            </p:txBody>
          </p:sp>
          <p:sp>
            <p:nvSpPr>
              <p:cNvPr id="265" name="264 GTS module 2 description"/>
              <p:cNvSpPr txBox="1"/>
              <p:nvPr/>
            </p:nvSpPr>
            <p:spPr>
              <a:xfrm>
                <a:off x="9043416" y="3703320"/>
                <a:ext cx="1737360" cy="16158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 · Scales · Units</a:t>
                </a:r>
              </a:p>
            </p:txBody>
          </p:sp>
          <p:sp>
            <p:nvSpPr>
              <p:cNvPr id="266" name="265 GTS module 3"/>
              <p:cNvSpPr/>
              <p:nvPr/>
            </p:nvSpPr>
            <p:spPr>
              <a:xfrm>
                <a:off x="10908792" y="3429000"/>
                <a:ext cx="2267712" cy="978408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7" name="266 GTS module 3 title"/>
              <p:cNvSpPr txBox="1"/>
              <p:nvPr/>
            </p:nvSpPr>
            <p:spPr>
              <a:xfrm>
                <a:off x="11045952" y="3493008"/>
                <a:ext cx="205740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Time-Indexed State Integrity</a:t>
                </a:r>
              </a:p>
            </p:txBody>
          </p:sp>
          <p:sp>
            <p:nvSpPr>
              <p:cNvPr id="268" name="267 GTS module 3 description"/>
              <p:cNvSpPr txBox="1"/>
              <p:nvPr/>
            </p:nvSpPr>
            <p:spPr>
              <a:xfrm>
                <a:off x="11045952" y="3703320"/>
                <a:ext cx="2057400" cy="32316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Alignment · Missingness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Provenance · Data vintage</a:t>
                </a:r>
              </a:p>
            </p:txBody>
          </p:sp>
          <p:sp>
            <p:nvSpPr>
              <p:cNvPr id="269" name="268 GTS module 4"/>
              <p:cNvSpPr/>
              <p:nvPr/>
            </p:nvSpPr>
            <p:spPr>
              <a:xfrm>
                <a:off x="6236208" y="4434840"/>
                <a:ext cx="2249424" cy="1033271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0" name="269 GTS module 4 title"/>
              <p:cNvSpPr txBox="1"/>
              <p:nvPr/>
            </p:nvSpPr>
            <p:spPr>
              <a:xfrm>
                <a:off x="6373368" y="4498848"/>
                <a:ext cx="2039112" cy="164660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Operation Semantics</a:t>
                </a:r>
              </a:p>
            </p:txBody>
          </p:sp>
          <p:sp>
            <p:nvSpPr>
              <p:cNvPr id="271" name="270 GTS module 4 description"/>
              <p:cNvSpPr txBox="1"/>
              <p:nvPr/>
            </p:nvSpPr>
            <p:spPr>
              <a:xfrm>
                <a:off x="6391021" y="4694073"/>
                <a:ext cx="2039112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Windowing · Frequency · Horizons</a:t>
                </a:r>
              </a:p>
            </p:txBody>
          </p:sp>
          <p:sp>
            <p:nvSpPr>
              <p:cNvPr id="272" name="271 GTS module 5"/>
              <p:cNvSpPr/>
              <p:nvPr/>
            </p:nvSpPr>
            <p:spPr>
              <a:xfrm>
                <a:off x="8540496" y="4434840"/>
                <a:ext cx="2313432" cy="1033271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272 GTS module 5 title"/>
              <p:cNvSpPr txBox="1"/>
              <p:nvPr/>
            </p:nvSpPr>
            <p:spPr>
              <a:xfrm>
                <a:off x="8677656" y="4498848"/>
                <a:ext cx="210312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Grounding</a:t>
                </a:r>
              </a:p>
            </p:txBody>
          </p:sp>
          <p:sp>
            <p:nvSpPr>
              <p:cNvPr id="274" name="273 GTS module 5 description"/>
              <p:cNvSpPr txBox="1"/>
              <p:nvPr/>
            </p:nvSpPr>
            <p:spPr>
              <a:xfrm>
                <a:off x="8699644" y="4685689"/>
                <a:ext cx="210312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 · Lags · Evidence</a:t>
                </a:r>
              </a:p>
            </p:txBody>
          </p:sp>
          <p:sp>
            <p:nvSpPr>
              <p:cNvPr id="275" name="274 GTS module 6"/>
              <p:cNvSpPr/>
              <p:nvPr/>
            </p:nvSpPr>
            <p:spPr>
              <a:xfrm>
                <a:off x="10908792" y="4434840"/>
                <a:ext cx="2267712" cy="1033271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275 GTS module 6 title"/>
              <p:cNvSpPr txBox="1"/>
              <p:nvPr/>
            </p:nvSpPr>
            <p:spPr>
              <a:xfrm>
                <a:off x="11045952" y="4498848"/>
                <a:ext cx="205740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Auditability</a:t>
                </a:r>
              </a:p>
            </p:txBody>
          </p:sp>
          <p:sp>
            <p:nvSpPr>
              <p:cNvPr id="277" name="276 GTS module 6 description"/>
              <p:cNvSpPr txBox="1"/>
              <p:nvPr/>
            </p:nvSpPr>
            <p:spPr>
              <a:xfrm>
                <a:off x="11029696" y="4686885"/>
                <a:ext cx="2057400" cy="16158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Traces · Checks · Review</a:t>
                </a:r>
              </a:p>
            </p:txBody>
          </p:sp>
          <p:sp>
            <p:nvSpPr>
              <p:cNvPr id="278" name="277 availability clock face"/>
              <p:cNvSpPr/>
              <p:nvPr/>
            </p:nvSpPr>
            <p:spPr>
              <a:xfrm>
                <a:off x="6400800" y="3575304"/>
                <a:ext cx="237744" cy="237744"/>
              </a:xfrm>
              <a:prstGeom prst="ellipse">
                <a:avLst/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9" name="278 clock hour hand"/>
              <p:cNvCxnSpPr/>
              <p:nvPr/>
            </p:nvCxnSpPr>
            <p:spPr>
              <a:xfrm flipV="1">
                <a:off x="6519672" y="3621024"/>
                <a:ext cx="0" cy="73152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279 clock minute hand"/>
              <p:cNvCxnSpPr/>
              <p:nvPr/>
            </p:nvCxnSpPr>
            <p:spPr>
              <a:xfrm>
                <a:off x="6519672" y="3694176"/>
                <a:ext cx="54864" cy="27432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280 clock pivot"/>
              <p:cNvSpPr/>
              <p:nvPr/>
            </p:nvSpPr>
            <p:spPr>
              <a:xfrm>
                <a:off x="6505956" y="3680460"/>
                <a:ext cx="27432" cy="27432"/>
              </a:xfrm>
              <a:prstGeom prst="ellipse">
                <a:avLst/>
              </a:prstGeom>
              <a:solidFill>
                <a:srgbClr val="101948"/>
              </a:solidFill>
              <a:ln w="635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" name="284 As-of cutoff point"/>
              <p:cNvSpPr/>
              <p:nvPr/>
            </p:nvSpPr>
            <p:spPr>
              <a:xfrm>
                <a:off x="7621524" y="4018787"/>
                <a:ext cx="64008" cy="64008"/>
              </a:xfrm>
              <a:prstGeom prst="ellipse">
                <a:avLst/>
              </a:prstGeom>
              <a:solidFill>
                <a:srgbClr val="101948"/>
              </a:solidFill>
              <a:ln w="635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7" name="286 as-of cutoff line"/>
              <p:cNvCxnSpPr/>
              <p:nvPr/>
            </p:nvCxnSpPr>
            <p:spPr>
              <a:xfrm>
                <a:off x="7653527" y="3977639"/>
                <a:ext cx="0" cy="137161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" name="287 event time label"/>
              <p:cNvSpPr txBox="1"/>
              <p:nvPr/>
            </p:nvSpPr>
            <p:spPr>
              <a:xfrm>
                <a:off x="6309360" y="4133087"/>
                <a:ext cx="603504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2B8BC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2B8BC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</a:p>
            </p:txBody>
          </p:sp>
          <p:sp>
            <p:nvSpPr>
              <p:cNvPr id="289" name="288 availability time label"/>
              <p:cNvSpPr txBox="1"/>
              <p:nvPr/>
            </p:nvSpPr>
            <p:spPr>
              <a:xfrm>
                <a:off x="6821424" y="4133087"/>
                <a:ext cx="813816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48A4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Availability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48A4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</a:p>
            </p:txBody>
          </p:sp>
          <p:sp>
            <p:nvSpPr>
              <p:cNvPr id="290" name="289 as-of cutoff label"/>
              <p:cNvSpPr txBox="1"/>
              <p:nvPr/>
            </p:nvSpPr>
            <p:spPr>
              <a:xfrm>
                <a:off x="7397496" y="4133087"/>
                <a:ext cx="566928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As-of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cutoff</a:t>
                </a:r>
              </a:p>
            </p:txBody>
          </p:sp>
          <p:sp>
            <p:nvSpPr>
              <p:cNvPr id="291" name="290 unavailable label"/>
              <p:cNvSpPr txBox="1"/>
              <p:nvPr/>
            </p:nvSpPr>
            <p:spPr>
              <a:xfrm>
                <a:off x="7927848" y="4133087"/>
                <a:ext cx="557784" cy="12311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E75A4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Unavailable</a:t>
                </a:r>
              </a:p>
            </p:txBody>
          </p:sp>
          <p:sp>
            <p:nvSpPr>
              <p:cNvPr id="292" name="291 fidelity target"/>
              <p:cNvSpPr/>
              <p:nvPr/>
            </p:nvSpPr>
            <p:spPr>
              <a:xfrm>
                <a:off x="8695944" y="3593592"/>
                <a:ext cx="201168" cy="201168"/>
              </a:xfrm>
              <a:prstGeom prst="ellipse">
                <a:avLst/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3" name="292 line"/>
              <p:cNvCxnSpPr/>
              <p:nvPr/>
            </p:nvCxnSpPr>
            <p:spPr>
              <a:xfrm>
                <a:off x="8631936" y="3694176"/>
                <a:ext cx="32918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293 line"/>
              <p:cNvCxnSpPr/>
              <p:nvPr/>
            </p:nvCxnSpPr>
            <p:spPr>
              <a:xfrm>
                <a:off x="8796528" y="3529584"/>
                <a:ext cx="0" cy="329184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5" name="294 numeric input"/>
              <p:cNvSpPr txBox="1"/>
              <p:nvPr/>
            </p:nvSpPr>
            <p:spPr>
              <a:xfrm>
                <a:off x="8604504" y="4023360"/>
                <a:ext cx="685800" cy="13080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[1.2, 3.4, …]</a:t>
                </a:r>
              </a:p>
            </p:txBody>
          </p:sp>
          <p:cxnSp>
            <p:nvCxnSpPr>
              <p:cNvPr id="296" name="295 numeric encode arrow shaft"/>
              <p:cNvCxnSpPr/>
              <p:nvPr/>
            </p:nvCxnSpPr>
            <p:spPr>
              <a:xfrm>
                <a:off x="9272016" y="4123944"/>
                <a:ext cx="128016" cy="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296 numeric encode arrow head"/>
              <p:cNvCxnSpPr/>
              <p:nvPr/>
            </p:nvCxnSpPr>
            <p:spPr>
              <a:xfrm flipH="1">
                <a:off x="9335835" y="4123944"/>
                <a:ext cx="64197" cy="3507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297 numeric encode arrow head"/>
              <p:cNvCxnSpPr/>
              <p:nvPr/>
            </p:nvCxnSpPr>
            <p:spPr>
              <a:xfrm flipH="1" flipV="1">
                <a:off x="9335835" y="4088873"/>
                <a:ext cx="64197" cy="35071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298 Encode Decode block"/>
              <p:cNvSpPr/>
              <p:nvPr/>
            </p:nvSpPr>
            <p:spPr>
              <a:xfrm>
                <a:off x="9491472" y="3995927"/>
                <a:ext cx="531658" cy="270933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0" name="299 Encode Decode label"/>
              <p:cNvSpPr txBox="1"/>
              <p:nvPr/>
            </p:nvSpPr>
            <p:spPr>
              <a:xfrm>
                <a:off x="9445752" y="4005072"/>
                <a:ext cx="658368" cy="2560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 /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Decode</a:t>
                </a:r>
              </a:p>
            </p:txBody>
          </p:sp>
          <p:cxnSp>
            <p:nvCxnSpPr>
              <p:cNvPr id="301" name="300 numeric decode arrow shaft"/>
              <p:cNvCxnSpPr/>
              <p:nvPr/>
            </p:nvCxnSpPr>
            <p:spPr>
              <a:xfrm>
                <a:off x="10094976" y="4116003"/>
                <a:ext cx="118872" cy="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301 numeric decode arrow head"/>
              <p:cNvCxnSpPr/>
              <p:nvPr/>
            </p:nvCxnSpPr>
            <p:spPr>
              <a:xfrm flipH="1">
                <a:off x="10155100" y="4115552"/>
                <a:ext cx="64197" cy="3507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302 numeric decode arrow head"/>
              <p:cNvCxnSpPr/>
              <p:nvPr/>
            </p:nvCxnSpPr>
            <p:spPr>
              <a:xfrm flipH="1" flipV="1">
                <a:off x="10155100" y="4080932"/>
                <a:ext cx="64197" cy="35071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4" name="303 numeric output"/>
              <p:cNvSpPr txBox="1"/>
              <p:nvPr/>
            </p:nvSpPr>
            <p:spPr>
              <a:xfrm>
                <a:off x="10232136" y="4023360"/>
                <a:ext cx="630936" cy="13080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[1.2, 3.4, …]</a:t>
                </a:r>
              </a:p>
            </p:txBody>
          </p:sp>
          <p:sp>
            <p:nvSpPr>
              <p:cNvPr id="305" name="304 same values and units"/>
              <p:cNvSpPr txBox="1"/>
              <p:nvPr/>
            </p:nvSpPr>
            <p:spPr>
              <a:xfrm>
                <a:off x="9171432" y="4261104"/>
                <a:ext cx="1106424" cy="1292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84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values &amp; units</a:t>
                </a:r>
              </a:p>
            </p:txBody>
          </p:sp>
          <p:cxnSp>
            <p:nvCxnSpPr>
              <p:cNvPr id="306" name="305 state integrity timeline before missing observation"/>
              <p:cNvCxnSpPr/>
              <p:nvPr/>
            </p:nvCxnSpPr>
            <p:spPr>
              <a:xfrm>
                <a:off x="11064240" y="4142232"/>
                <a:ext cx="804672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306 state integrity timeline after missing observation"/>
              <p:cNvCxnSpPr/>
              <p:nvPr/>
            </p:nvCxnSpPr>
            <p:spPr>
              <a:xfrm>
                <a:off x="12161520" y="4142232"/>
                <a:ext cx="256032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" name="307 observed state index"/>
              <p:cNvSpPr/>
              <p:nvPr/>
            </p:nvSpPr>
            <p:spPr>
              <a:xfrm>
                <a:off x="11160252" y="4101084"/>
                <a:ext cx="82296" cy="8229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9" name="308 observed state index"/>
              <p:cNvSpPr/>
              <p:nvPr/>
            </p:nvSpPr>
            <p:spPr>
              <a:xfrm>
                <a:off x="11571732" y="4101084"/>
                <a:ext cx="82296" cy="8229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0" name="309 observed state index"/>
              <p:cNvSpPr/>
              <p:nvPr/>
            </p:nvSpPr>
            <p:spPr>
              <a:xfrm>
                <a:off x="12367260" y="4101084"/>
                <a:ext cx="82296" cy="8229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" name="310 missing observation hollow marker"/>
              <p:cNvSpPr/>
              <p:nvPr/>
            </p:nvSpPr>
            <p:spPr>
              <a:xfrm>
                <a:off x="11903467" y="4053917"/>
                <a:ext cx="188178" cy="188178"/>
              </a:xfrm>
              <a:prstGeom prst="ellipse">
                <a:avLst/>
              </a:prstGeom>
              <a:solidFill>
                <a:srgbClr val="FFFFFF"/>
              </a:solidFill>
              <a:ln w="13970">
                <a:solidFill>
                  <a:srgbClr val="74849B"/>
                </a:solidFill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2" name="311 state index text"/>
              <p:cNvSpPr txBox="1"/>
              <p:nvPr/>
            </p:nvSpPr>
            <p:spPr>
              <a:xfrm>
                <a:off x="11160252" y="4201508"/>
                <a:ext cx="1371600" cy="14619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0" i="0" noProof="1">
                    <a:solidFill>
                      <a:srgbClr val="101948"/>
                    </a:solidFill>
                    <a:latin typeface="Times New Roman"/>
                  </a:rPr>
                  <a:t>x₁          x₂         …         x</a:t>
                </a:r>
                <a:r>
                  <a:rPr sz="950" baseline="-25000" noProof="1">
                    <a:solidFill>
                      <a:srgbClr val="101948"/>
                    </a:solidFill>
                    <a:latin typeface="Times New Roman"/>
                  </a:rPr>
                  <a:t>T</a:t>
                </a:r>
                <a:endParaRPr sz="950" b="0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3" name="312 data vintage"/>
              <p:cNvSpPr/>
              <p:nvPr/>
            </p:nvSpPr>
            <p:spPr>
              <a:xfrm>
                <a:off x="12554712" y="4041648"/>
                <a:ext cx="548640" cy="308867"/>
              </a:xfrm>
              <a:prstGeom prst="roundRect">
                <a:avLst>
                  <a:gd name="adj" fmla="val 6000"/>
                </a:avLst>
              </a:prstGeom>
              <a:gradFill flip="none" rotWithShape="1">
                <a:gsLst>
                  <a:gs pos="0">
                    <a:schemeClr val="tx2">
                      <a:lumMod val="40000"/>
                      <a:lumOff val="60000"/>
                      <a:tint val="66000"/>
                      <a:satMod val="160000"/>
                    </a:schemeClr>
                  </a:gs>
                  <a:gs pos="50000">
                    <a:schemeClr val="tx2">
                      <a:lumMod val="40000"/>
                      <a:lumOff val="60000"/>
                      <a:tint val="44500"/>
                      <a:satMod val="160000"/>
                    </a:schemeClr>
                  </a:gs>
                  <a:gs pos="100000">
                    <a:schemeClr val="tx2">
                      <a:lumMod val="40000"/>
                      <a:lumOff val="60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4" name="313 data vintage text"/>
              <p:cNvSpPr txBox="1"/>
              <p:nvPr/>
            </p:nvSpPr>
            <p:spPr>
              <a:xfrm>
                <a:off x="12568334" y="4063062"/>
                <a:ext cx="493776" cy="28346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v1.0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2020-01</a:t>
                </a:r>
              </a:p>
            </p:txBody>
          </p:sp>
          <p:cxnSp>
            <p:nvCxnSpPr>
              <p:cNvPr id="315" name="314 line"/>
              <p:cNvCxnSpPr/>
              <p:nvPr/>
            </p:nvCxnSpPr>
            <p:spPr>
              <a:xfrm>
                <a:off x="6327648" y="5230368"/>
                <a:ext cx="2048256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319 solid history sequence segment 5"/>
              <p:cNvCxnSpPr/>
              <p:nvPr/>
            </p:nvCxnSpPr>
            <p:spPr>
              <a:xfrm flipV="1">
                <a:off x="7123176" y="5038344"/>
                <a:ext cx="192024" cy="73152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320 solid history sequence segment 6"/>
              <p:cNvCxnSpPr/>
              <p:nvPr/>
            </p:nvCxnSpPr>
            <p:spPr>
              <a:xfrm>
                <a:off x="7315200" y="5038344"/>
                <a:ext cx="192024" cy="64008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321 solid history sequence segment 7"/>
              <p:cNvCxnSpPr/>
              <p:nvPr/>
            </p:nvCxnSpPr>
            <p:spPr>
              <a:xfrm flipV="1">
                <a:off x="7507224" y="5065776"/>
                <a:ext cx="118872" cy="36576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322 dashed forecast sequence"/>
              <p:cNvCxnSpPr/>
              <p:nvPr/>
            </p:nvCxnSpPr>
            <p:spPr>
              <a:xfrm flipV="1">
                <a:off x="7662672" y="5010912"/>
                <a:ext cx="164592" cy="54864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323 dashed forecast sequence"/>
              <p:cNvCxnSpPr/>
              <p:nvPr/>
            </p:nvCxnSpPr>
            <p:spPr>
              <a:xfrm>
                <a:off x="7827264" y="5010912"/>
                <a:ext cx="182880" cy="27432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324 dashed forecast sequence"/>
              <p:cNvCxnSpPr/>
              <p:nvPr/>
            </p:nvCxnSpPr>
            <p:spPr>
              <a:xfrm flipV="1">
                <a:off x="8010144" y="4946904"/>
                <a:ext cx="192024" cy="91440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325 dashed forecast sequence"/>
              <p:cNvCxnSpPr/>
              <p:nvPr/>
            </p:nvCxnSpPr>
            <p:spPr>
              <a:xfrm>
                <a:off x="8202168" y="4946904"/>
                <a:ext cx="155448" cy="27432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326 as-of cutoff operation"/>
              <p:cNvCxnSpPr/>
              <p:nvPr/>
            </p:nvCxnSpPr>
            <p:spPr>
              <a:xfrm>
                <a:off x="7635240" y="4974336"/>
                <a:ext cx="0" cy="274320"/>
              </a:xfrm>
              <a:prstGeom prst="line">
                <a:avLst/>
              </a:prstGeom>
              <a:ln w="12700">
                <a:solidFill>
                  <a:srgbClr val="74849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8" name="327 history window label"/>
              <p:cNvSpPr txBox="1"/>
              <p:nvPr/>
            </p:nvSpPr>
            <p:spPr>
              <a:xfrm>
                <a:off x="6437376" y="5285232"/>
                <a:ext cx="1124712" cy="14144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History window</a:t>
                </a:r>
              </a:p>
            </p:txBody>
          </p:sp>
          <p:sp>
            <p:nvSpPr>
              <p:cNvPr id="329" name="328 forecast horizon label"/>
              <p:cNvSpPr txBox="1"/>
              <p:nvPr/>
            </p:nvSpPr>
            <p:spPr>
              <a:xfrm>
                <a:off x="7607808" y="5285232"/>
                <a:ext cx="877824" cy="13849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Forecast horizon</a:t>
                </a:r>
              </a:p>
            </p:txBody>
          </p:sp>
          <p:cxnSp>
            <p:nvCxnSpPr>
              <p:cNvPr id="330" name="329 grounded series segment 1"/>
              <p:cNvCxnSpPr/>
              <p:nvPr/>
            </p:nvCxnSpPr>
            <p:spPr>
              <a:xfrm flipV="1">
                <a:off x="8668512" y="5129784"/>
                <a:ext cx="210312" cy="100584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330 grounded series segment 2"/>
              <p:cNvCxnSpPr/>
              <p:nvPr/>
            </p:nvCxnSpPr>
            <p:spPr>
              <a:xfrm>
                <a:off x="8878824" y="5129784"/>
                <a:ext cx="192024" cy="128016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331 grounded series segment 3"/>
              <p:cNvCxnSpPr/>
              <p:nvPr/>
            </p:nvCxnSpPr>
            <p:spPr>
              <a:xfrm flipV="1">
                <a:off x="9070848" y="5065776"/>
                <a:ext cx="201168" cy="192024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332 grounded series segment 4"/>
              <p:cNvCxnSpPr/>
              <p:nvPr/>
            </p:nvCxnSpPr>
            <p:spPr>
              <a:xfrm>
                <a:off x="9272016" y="5065776"/>
                <a:ext cx="192024" cy="128016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333 grounded series segment 5"/>
              <p:cNvCxnSpPr/>
              <p:nvPr/>
            </p:nvCxnSpPr>
            <p:spPr>
              <a:xfrm flipV="1">
                <a:off x="9464040" y="5074920"/>
                <a:ext cx="210312" cy="118872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334 grounded series segment 6"/>
              <p:cNvCxnSpPr/>
              <p:nvPr/>
            </p:nvCxnSpPr>
            <p:spPr>
              <a:xfrm>
                <a:off x="9674352" y="5074920"/>
                <a:ext cx="210312" cy="128016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335 grounded series segment 7"/>
              <p:cNvCxnSpPr/>
              <p:nvPr/>
            </p:nvCxnSpPr>
            <p:spPr>
              <a:xfrm flipV="1">
                <a:off x="9884664" y="5138928"/>
                <a:ext cx="237744" cy="64008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" name="336 grounded datum"/>
              <p:cNvSpPr/>
              <p:nvPr/>
            </p:nvSpPr>
            <p:spPr>
              <a:xfrm>
                <a:off x="8641080" y="5202936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" name="337 grounded datum"/>
              <p:cNvSpPr/>
              <p:nvPr/>
            </p:nvSpPr>
            <p:spPr>
              <a:xfrm>
                <a:off x="8851392" y="5102352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9" name="338 grounded datum"/>
              <p:cNvSpPr/>
              <p:nvPr/>
            </p:nvSpPr>
            <p:spPr>
              <a:xfrm>
                <a:off x="9043416" y="5230368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0" name="339 grounded datum"/>
              <p:cNvSpPr/>
              <p:nvPr/>
            </p:nvSpPr>
            <p:spPr>
              <a:xfrm>
                <a:off x="9244584" y="5038344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1" name="340 grounded datum"/>
              <p:cNvSpPr/>
              <p:nvPr/>
            </p:nvSpPr>
            <p:spPr>
              <a:xfrm>
                <a:off x="9436608" y="5166360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2" name="341 grounded datum"/>
              <p:cNvSpPr/>
              <p:nvPr/>
            </p:nvSpPr>
            <p:spPr>
              <a:xfrm>
                <a:off x="9646920" y="5047488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3" name="342 grounded datum"/>
              <p:cNvSpPr/>
              <p:nvPr/>
            </p:nvSpPr>
            <p:spPr>
              <a:xfrm>
                <a:off x="9857232" y="5175504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4" name="343 grounded datum"/>
              <p:cNvSpPr/>
              <p:nvPr/>
            </p:nvSpPr>
            <p:spPr>
              <a:xfrm>
                <a:off x="10094976" y="5111496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5" name="344 grounding lag"/>
              <p:cNvCxnSpPr/>
              <p:nvPr/>
            </p:nvCxnSpPr>
            <p:spPr>
              <a:xfrm>
                <a:off x="9464040" y="4937760"/>
                <a:ext cx="0" cy="539496"/>
              </a:xfrm>
              <a:prstGeom prst="line">
                <a:avLst/>
              </a:prstGeom>
              <a:ln w="1143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6" name="345 context evidence card"/>
              <p:cNvSpPr/>
              <p:nvPr/>
            </p:nvSpPr>
            <p:spPr>
              <a:xfrm>
                <a:off x="10168128" y="5065776"/>
                <a:ext cx="502920" cy="30665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7" name="346 context evidence text"/>
              <p:cNvSpPr txBox="1"/>
              <p:nvPr/>
            </p:nvSpPr>
            <p:spPr>
              <a:xfrm>
                <a:off x="10113264" y="5084064"/>
                <a:ext cx="612648" cy="289310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4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4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</a:t>
                </a:r>
              </a:p>
            </p:txBody>
          </p:sp>
          <p:cxnSp>
            <p:nvCxnSpPr>
              <p:cNvPr id="348" name="347 evidence temporal binding"/>
              <p:cNvCxnSpPr>
                <a:cxnSpLocks/>
                <a:endCxn id="347" idx="1"/>
              </p:cNvCxnSpPr>
              <p:nvPr/>
            </p:nvCxnSpPr>
            <p:spPr>
              <a:xfrm>
                <a:off x="9866376" y="5193792"/>
                <a:ext cx="246888" cy="34927"/>
              </a:xfrm>
              <a:prstGeom prst="line">
                <a:avLst/>
              </a:prstGeom>
              <a:ln w="1524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351 audit check mark segment 1"/>
              <p:cNvCxnSpPr/>
              <p:nvPr/>
            </p:nvCxnSpPr>
            <p:spPr>
              <a:xfrm>
                <a:off x="11576304" y="5047488"/>
                <a:ext cx="18288" cy="18288"/>
              </a:xfrm>
              <a:prstGeom prst="line">
                <a:avLst/>
              </a:prstGeom>
              <a:ln w="114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355 audit check mark segment 1"/>
              <p:cNvCxnSpPr/>
              <p:nvPr/>
            </p:nvCxnSpPr>
            <p:spPr>
              <a:xfrm>
                <a:off x="11576304" y="5175504"/>
                <a:ext cx="18288" cy="18288"/>
              </a:xfrm>
              <a:prstGeom prst="line">
                <a:avLst/>
              </a:prstGeom>
              <a:ln w="114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359 audit check mark segment 1"/>
              <p:cNvCxnSpPr/>
              <p:nvPr/>
            </p:nvCxnSpPr>
            <p:spPr>
              <a:xfrm>
                <a:off x="11576304" y="5303520"/>
                <a:ext cx="18288" cy="18288"/>
              </a:xfrm>
              <a:prstGeom prst="line">
                <a:avLst/>
              </a:prstGeom>
              <a:ln w="114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4" name="363 review stamp"/>
              <p:cNvSpPr/>
              <p:nvPr/>
            </p:nvSpPr>
            <p:spPr>
              <a:xfrm>
                <a:off x="12153914" y="5016390"/>
                <a:ext cx="630936" cy="262315"/>
              </a:xfrm>
              <a:prstGeom prst="roundRect">
                <a:avLst>
                  <a:gd name="adj" fmla="val 6000"/>
                </a:avLst>
              </a:prstGeom>
              <a:solidFill>
                <a:srgbClr val="FFF6F4"/>
              </a:solidFill>
              <a:ln w="1270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5" name="364 review stamp text"/>
              <p:cNvSpPr txBox="1"/>
              <p:nvPr/>
            </p:nvSpPr>
            <p:spPr>
              <a:xfrm>
                <a:off x="12195869" y="5068841"/>
                <a:ext cx="557784" cy="14619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1" i="0" noProof="1">
                    <a:solidFill>
                      <a:srgbClr val="E75A4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REVIEW</a:t>
                </a:r>
              </a:p>
            </p:txBody>
          </p:sp>
        </p:grpSp>
        <p:grpSp>
          <p:nvGrpSpPr>
            <p:cNvPr id="586" name="Task specific Harness"/>
            <p:cNvGrpSpPr/>
            <p:nvPr/>
          </p:nvGrpSpPr>
          <p:grpSpPr>
            <a:xfrm>
              <a:off x="6236208" y="5504688"/>
              <a:ext cx="6912864" cy="1792224"/>
              <a:chOff x="6236208" y="5504688"/>
              <a:chExt cx="6912864" cy="1792224"/>
            </a:xfrm>
          </p:grpSpPr>
          <p:sp>
            <p:nvSpPr>
              <p:cNvPr id="366" name="365 Task-Specific Harness TSK nested inside GTS"/>
              <p:cNvSpPr/>
              <p:nvPr/>
            </p:nvSpPr>
            <p:spPr>
              <a:xfrm>
                <a:off x="6236208" y="5504688"/>
                <a:ext cx="6912864" cy="1792224"/>
              </a:xfrm>
              <a:prstGeom prst="roundRect">
                <a:avLst>
                  <a:gd name="adj" fmla="val 1799"/>
                </a:avLst>
              </a:prstGeom>
              <a:solidFill>
                <a:srgbClr val="FFF1ED"/>
              </a:solidFill>
              <a:ln w="1397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7" name="366 TSK title"/>
              <p:cNvSpPr txBox="1"/>
              <p:nvPr/>
            </p:nvSpPr>
            <p:spPr>
              <a:xfrm>
                <a:off x="6419088" y="5559552"/>
                <a:ext cx="5212080" cy="2560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Task-Specific Harness (TSK)</a:t>
                </a:r>
              </a:p>
            </p:txBody>
          </p:sp>
          <p:sp>
            <p:nvSpPr>
              <p:cNvPr id="368" name="367 TSK subtitle"/>
              <p:cNvSpPr txBox="1"/>
              <p:nvPr/>
            </p:nvSpPr>
            <p:spPr>
              <a:xfrm>
                <a:off x="6430772" y="5799954"/>
                <a:ext cx="5669280" cy="1846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Task-bound outputs and validation</a:t>
                </a:r>
              </a:p>
            </p:txBody>
          </p:sp>
          <p:sp>
            <p:nvSpPr>
              <p:cNvPr id="369" name="368 TSK section"/>
              <p:cNvSpPr txBox="1"/>
              <p:nvPr/>
            </p:nvSpPr>
            <p:spPr>
              <a:xfrm>
                <a:off x="12646152" y="5568696"/>
                <a:ext cx="34747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§6</a:t>
                </a:r>
              </a:p>
            </p:txBody>
          </p:sp>
          <p:sp>
            <p:nvSpPr>
              <p:cNvPr id="370" name="369 TSK card 1"/>
              <p:cNvSpPr/>
              <p:nvPr/>
            </p:nvSpPr>
            <p:spPr>
              <a:xfrm>
                <a:off x="6327648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DDF4FE"/>
              </a:solidFill>
              <a:ln w="1270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1" name="370 TSK card 1 title"/>
              <p:cNvSpPr txBox="1"/>
              <p:nvPr/>
            </p:nvSpPr>
            <p:spPr>
              <a:xfrm>
                <a:off x="6409944" y="6062472"/>
                <a:ext cx="1490472" cy="15542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1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Forecasting &amp; Prediction</a:t>
                </a:r>
              </a:p>
            </p:txBody>
          </p:sp>
          <p:sp>
            <p:nvSpPr>
              <p:cNvPr id="372" name="371 TSK card 2"/>
              <p:cNvSpPr/>
              <p:nvPr/>
            </p:nvSpPr>
            <p:spPr>
              <a:xfrm>
                <a:off x="8028431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EBFAEF"/>
              </a:solidFill>
              <a:ln w="1270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3" name="372 TSK card 2 title"/>
              <p:cNvSpPr txBox="1"/>
              <p:nvPr/>
            </p:nvSpPr>
            <p:spPr>
              <a:xfrm>
                <a:off x="8110727" y="6062472"/>
                <a:ext cx="1490472" cy="15542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1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Augmentation &amp; Synthesis</a:t>
                </a:r>
              </a:p>
            </p:txBody>
          </p:sp>
          <p:sp>
            <p:nvSpPr>
              <p:cNvPr id="374" name="373 TSK card 3"/>
              <p:cNvSpPr/>
              <p:nvPr/>
            </p:nvSpPr>
            <p:spPr>
              <a:xfrm>
                <a:off x="9729216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FFF0E9"/>
              </a:solidFill>
              <a:ln w="1270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5" name="374 TSK card 3 title"/>
              <p:cNvSpPr txBox="1"/>
              <p:nvPr/>
            </p:nvSpPr>
            <p:spPr>
              <a:xfrm>
                <a:off x="9811512" y="6062472"/>
                <a:ext cx="149047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Anomaly Detection</a:t>
                </a:r>
                <a:endParaRPr lang="en-US" sz="1000" b="1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Diagnosis</a:t>
                </a:r>
              </a:p>
            </p:txBody>
          </p:sp>
          <p:sp>
            <p:nvSpPr>
              <p:cNvPr id="376" name="375 TSK card 4"/>
              <p:cNvSpPr/>
              <p:nvPr/>
            </p:nvSpPr>
            <p:spPr>
              <a:xfrm>
                <a:off x="11430000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FFF9E0"/>
              </a:solidFill>
              <a:ln w="12700">
                <a:solidFill>
                  <a:srgbClr val="E69B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7" name="376 TSK card 4 title"/>
              <p:cNvSpPr txBox="1"/>
              <p:nvPr/>
            </p:nvSpPr>
            <p:spPr>
              <a:xfrm>
                <a:off x="11512296" y="6062472"/>
                <a:ext cx="1490472" cy="1846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Support</a:t>
                </a:r>
              </a:p>
            </p:txBody>
          </p:sp>
          <p:cxnSp>
            <p:nvCxnSpPr>
              <p:cNvPr id="380" name="379 observed history solid blue segment 1"/>
              <p:cNvCxnSpPr/>
              <p:nvPr/>
            </p:nvCxnSpPr>
            <p:spPr>
              <a:xfrm flipV="1">
                <a:off x="6437376" y="6638544"/>
                <a:ext cx="64008" cy="36576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380 observed history solid blue segment 2"/>
              <p:cNvCxnSpPr/>
              <p:nvPr/>
            </p:nvCxnSpPr>
            <p:spPr>
              <a:xfrm>
                <a:off x="6501384" y="6638544"/>
                <a:ext cx="64008" cy="18288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381 observed history solid blue segment 3"/>
              <p:cNvCxnSpPr/>
              <p:nvPr/>
            </p:nvCxnSpPr>
            <p:spPr>
              <a:xfrm flipV="1">
                <a:off x="6565392" y="6592824"/>
                <a:ext cx="64008" cy="64008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382 observed history solid blue segment 4"/>
              <p:cNvCxnSpPr/>
              <p:nvPr/>
            </p:nvCxnSpPr>
            <p:spPr>
              <a:xfrm>
                <a:off x="6629400" y="6592824"/>
                <a:ext cx="64008" cy="18288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383 observed history solid blue segment 5"/>
              <p:cNvCxnSpPr/>
              <p:nvPr/>
            </p:nvCxnSpPr>
            <p:spPr>
              <a:xfrm flipV="1">
                <a:off x="6693408" y="6565392"/>
                <a:ext cx="45720" cy="45720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384 forecast origin vertical line"/>
              <p:cNvCxnSpPr/>
              <p:nvPr/>
            </p:nvCxnSpPr>
            <p:spPr>
              <a:xfrm>
                <a:off x="6748272" y="6409944"/>
                <a:ext cx="0" cy="338328"/>
              </a:xfrm>
              <a:prstGeom prst="line">
                <a:avLst/>
              </a:prstGeom>
              <a:ln w="10160">
                <a:solidFill>
                  <a:srgbClr val="74849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385 future forecast dashed blue"/>
              <p:cNvCxnSpPr/>
              <p:nvPr/>
            </p:nvCxnSpPr>
            <p:spPr>
              <a:xfrm flipV="1">
                <a:off x="6766560" y="6528816"/>
                <a:ext cx="73152" cy="36576"/>
              </a:xfrm>
              <a:prstGeom prst="line">
                <a:avLst/>
              </a:prstGeom>
              <a:ln w="9525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7" name="386 future forecast dashed blue"/>
              <p:cNvCxnSpPr/>
              <p:nvPr/>
            </p:nvCxnSpPr>
            <p:spPr>
              <a:xfrm flipV="1">
                <a:off x="6839712" y="6492240"/>
                <a:ext cx="73152" cy="36576"/>
              </a:xfrm>
              <a:prstGeom prst="line">
                <a:avLst/>
              </a:prstGeom>
              <a:ln w="9525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8" name="387 future forecast dashed blue"/>
              <p:cNvCxnSpPr>
                <a:cxnSpLocks/>
              </p:cNvCxnSpPr>
              <p:nvPr/>
            </p:nvCxnSpPr>
            <p:spPr>
              <a:xfrm>
                <a:off x="6912864" y="6492240"/>
                <a:ext cx="86187" cy="9144"/>
              </a:xfrm>
              <a:prstGeom prst="line">
                <a:avLst/>
              </a:prstGeom>
              <a:ln w="9525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89" name="388 forecast output"/>
              <p:cNvSpPr txBox="1"/>
              <p:nvPr/>
            </p:nvSpPr>
            <p:spPr>
              <a:xfrm>
                <a:off x="7144511" y="6331653"/>
                <a:ext cx="850392" cy="42434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Future values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probabilities</a:t>
                </a:r>
              </a:p>
            </p:txBody>
          </p:sp>
          <p:sp>
            <p:nvSpPr>
              <p:cNvPr id="390" name="389 forecast validation"/>
              <p:cNvSpPr txBox="1"/>
              <p:nvPr/>
            </p:nvSpPr>
            <p:spPr>
              <a:xfrm>
                <a:off x="6409944" y="6793992"/>
                <a:ext cx="1499616" cy="2862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sz="930" b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Horizon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Backtesting · Calibration</a:t>
                </a:r>
              </a:p>
            </p:txBody>
          </p:sp>
          <p:cxnSp>
            <p:nvCxnSpPr>
              <p:cNvPr id="392" name="391 synthetic blue series segment 1"/>
              <p:cNvCxnSpPr/>
              <p:nvPr/>
            </p:nvCxnSpPr>
            <p:spPr>
              <a:xfrm flipV="1">
                <a:off x="8110727" y="6455664"/>
                <a:ext cx="109729" cy="192024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392 synthetic blue series segment 2"/>
              <p:cNvCxnSpPr/>
              <p:nvPr/>
            </p:nvCxnSpPr>
            <p:spPr>
              <a:xfrm>
                <a:off x="8220456" y="6455664"/>
                <a:ext cx="128016" cy="210312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393 synthetic blue series segment 3"/>
              <p:cNvCxnSpPr/>
              <p:nvPr/>
            </p:nvCxnSpPr>
            <p:spPr>
              <a:xfrm flipV="1">
                <a:off x="8348472" y="6473952"/>
                <a:ext cx="109728" cy="192024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394 synthetic blue series segment 4"/>
              <p:cNvCxnSpPr/>
              <p:nvPr/>
            </p:nvCxnSpPr>
            <p:spPr>
              <a:xfrm>
                <a:off x="8458200" y="6473952"/>
                <a:ext cx="109728" cy="164592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395 synthetic blue series segment 5"/>
              <p:cNvCxnSpPr/>
              <p:nvPr/>
            </p:nvCxnSpPr>
            <p:spPr>
              <a:xfrm flipV="1">
                <a:off x="8567928" y="6519672"/>
                <a:ext cx="118872" cy="118872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396 synthetic orange series segment 1"/>
              <p:cNvCxnSpPr/>
              <p:nvPr/>
            </p:nvCxnSpPr>
            <p:spPr>
              <a:xfrm flipV="1">
                <a:off x="8110727" y="6665976"/>
                <a:ext cx="109729" cy="9144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397 synthetic orange series segment 2"/>
              <p:cNvCxnSpPr/>
              <p:nvPr/>
            </p:nvCxnSpPr>
            <p:spPr>
              <a:xfrm flipV="1">
                <a:off x="8220456" y="6592824"/>
                <a:ext cx="128016" cy="73152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398 synthetic orange series segment 3"/>
              <p:cNvCxnSpPr/>
              <p:nvPr/>
            </p:nvCxnSpPr>
            <p:spPr>
              <a:xfrm flipV="1">
                <a:off x="8348472" y="6455664"/>
                <a:ext cx="109728" cy="137160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399 synthetic orange series segment 4"/>
              <p:cNvCxnSpPr/>
              <p:nvPr/>
            </p:nvCxnSpPr>
            <p:spPr>
              <a:xfrm>
                <a:off x="8458200" y="6455664"/>
                <a:ext cx="109728" cy="201168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400 synthetic orange series segment 5"/>
              <p:cNvCxnSpPr/>
              <p:nvPr/>
            </p:nvCxnSpPr>
            <p:spPr>
              <a:xfrm flipV="1">
                <a:off x="8567928" y="6556248"/>
                <a:ext cx="118872" cy="100584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2" name="401 synthesis output"/>
              <p:cNvSpPr txBox="1"/>
              <p:nvPr/>
            </p:nvSpPr>
            <p:spPr>
              <a:xfrm>
                <a:off x="8869680" y="6340782"/>
                <a:ext cx="859536" cy="41549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Generated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series</a:t>
                </a:r>
              </a:p>
            </p:txBody>
          </p:sp>
          <p:sp>
            <p:nvSpPr>
              <p:cNvPr id="403" name="402 synthesis validation"/>
              <p:cNvSpPr txBox="1"/>
              <p:nvPr/>
            </p:nvSpPr>
            <p:spPr>
              <a:xfrm>
                <a:off x="8110727" y="6813044"/>
                <a:ext cx="1508760" cy="2862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lang="en-US"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fidelity 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Downstream utility</a:t>
                </a:r>
              </a:p>
            </p:txBody>
          </p:sp>
          <p:sp>
            <p:nvSpPr>
              <p:cNvPr id="404" name="403 continuous anomaly interval pale band"/>
              <p:cNvSpPr/>
              <p:nvPr/>
            </p:nvSpPr>
            <p:spPr>
              <a:xfrm>
                <a:off x="10058400" y="6428232"/>
                <a:ext cx="228600" cy="310896"/>
              </a:xfrm>
              <a:prstGeom prst="rect">
                <a:avLst/>
              </a:prstGeom>
              <a:solidFill>
                <a:srgbClr val="FCE4E2"/>
              </a:solidFill>
              <a:ln>
                <a:solidFill>
                  <a:srgbClr val="FCE4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07" name="406 anomaly chart segment 1"/>
              <p:cNvCxnSpPr/>
              <p:nvPr/>
            </p:nvCxnSpPr>
            <p:spPr>
              <a:xfrm flipV="1">
                <a:off x="9838944" y="6622084"/>
                <a:ext cx="61395" cy="38405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407 anomaly chart segment 2"/>
              <p:cNvCxnSpPr/>
              <p:nvPr/>
            </p:nvCxnSpPr>
            <p:spPr>
              <a:xfrm>
                <a:off x="9900339" y="6622084"/>
                <a:ext cx="61395" cy="12802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408 anomaly chart segment 3"/>
              <p:cNvCxnSpPr/>
              <p:nvPr/>
            </p:nvCxnSpPr>
            <p:spPr>
              <a:xfrm flipV="1">
                <a:off x="9961734" y="6573438"/>
                <a:ext cx="61396" cy="61448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409 anomaly chart segment 4"/>
              <p:cNvCxnSpPr/>
              <p:nvPr/>
            </p:nvCxnSpPr>
            <p:spPr>
              <a:xfrm>
                <a:off x="10023130" y="6573438"/>
                <a:ext cx="61395" cy="30724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410 anomaly chart segment 5"/>
              <p:cNvCxnSpPr/>
              <p:nvPr/>
            </p:nvCxnSpPr>
            <p:spPr>
              <a:xfrm flipV="1">
                <a:off x="10084525" y="6535033"/>
                <a:ext cx="61396" cy="69129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411 anomaly chart segment 6"/>
              <p:cNvCxnSpPr/>
              <p:nvPr/>
            </p:nvCxnSpPr>
            <p:spPr>
              <a:xfrm>
                <a:off x="10145921" y="6535033"/>
                <a:ext cx="61395" cy="17923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412 anomaly chart segment 7"/>
              <p:cNvCxnSpPr/>
              <p:nvPr/>
            </p:nvCxnSpPr>
            <p:spPr>
              <a:xfrm flipV="1">
                <a:off x="10207316" y="6496629"/>
                <a:ext cx="61396" cy="56327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4" name="413 anomaly chart point"/>
              <p:cNvSpPr/>
              <p:nvPr/>
            </p:nvSpPr>
            <p:spPr>
              <a:xfrm>
                <a:off x="9818827" y="6640372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414 anomaly chart point"/>
              <p:cNvSpPr/>
              <p:nvPr/>
            </p:nvSpPr>
            <p:spPr>
              <a:xfrm>
                <a:off x="9941618" y="6614769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6" name="415 anomaly chart point"/>
              <p:cNvSpPr/>
              <p:nvPr/>
            </p:nvSpPr>
            <p:spPr>
              <a:xfrm>
                <a:off x="10064408" y="6584045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7" name="416 anomaly chart point"/>
              <p:cNvSpPr/>
              <p:nvPr/>
            </p:nvSpPr>
            <p:spPr>
              <a:xfrm>
                <a:off x="10187199" y="6532839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8" name="417 continuous anomaly interval red segment segment 1"/>
              <p:cNvCxnSpPr/>
              <p:nvPr/>
            </p:nvCxnSpPr>
            <p:spPr>
              <a:xfrm flipV="1">
                <a:off x="10085832" y="6537960"/>
                <a:ext cx="64008" cy="64008"/>
              </a:xfrm>
              <a:prstGeom prst="line">
                <a:avLst/>
              </a:prstGeom>
              <a:ln w="26670">
                <a:solidFill>
                  <a:srgbClr val="E75A4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418 continuous anomaly interval red segment segment 2"/>
              <p:cNvCxnSpPr/>
              <p:nvPr/>
            </p:nvCxnSpPr>
            <p:spPr>
              <a:xfrm>
                <a:off x="10149840" y="6537960"/>
                <a:ext cx="54864" cy="18288"/>
              </a:xfrm>
              <a:prstGeom prst="line">
                <a:avLst/>
              </a:prstGeom>
              <a:ln w="26670">
                <a:solidFill>
                  <a:srgbClr val="E75A4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419 continuous anomaly interval red segment segment 3"/>
              <p:cNvCxnSpPr/>
              <p:nvPr/>
            </p:nvCxnSpPr>
            <p:spPr>
              <a:xfrm flipV="1">
                <a:off x="10204704" y="6492240"/>
                <a:ext cx="64008" cy="64008"/>
              </a:xfrm>
              <a:prstGeom prst="line">
                <a:avLst/>
              </a:prstGeom>
              <a:ln w="26670">
                <a:solidFill>
                  <a:srgbClr val="E75A4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1" name="420 anomaly point within interval"/>
              <p:cNvSpPr/>
              <p:nvPr/>
            </p:nvSpPr>
            <p:spPr>
              <a:xfrm>
                <a:off x="10168128" y="6519672"/>
                <a:ext cx="73152" cy="73152"/>
              </a:xfrm>
              <a:prstGeom prst="ellipse">
                <a:avLst/>
              </a:prstGeom>
              <a:solidFill>
                <a:srgbClr val="E75A4E"/>
              </a:solidFill>
              <a:ln w="762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2" name="421 anomaly output"/>
              <p:cNvSpPr txBox="1"/>
              <p:nvPr/>
            </p:nvSpPr>
            <p:spPr>
              <a:xfrm>
                <a:off x="10421493" y="6344074"/>
                <a:ext cx="969264" cy="42434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Anomaly intervals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causes</a:t>
                </a:r>
              </a:p>
            </p:txBody>
          </p:sp>
          <p:sp>
            <p:nvSpPr>
              <p:cNvPr id="423" name="422 anomaly validation"/>
              <p:cNvSpPr txBox="1"/>
              <p:nvPr/>
            </p:nvSpPr>
            <p:spPr>
              <a:xfrm>
                <a:off x="9811512" y="6817807"/>
                <a:ext cx="1499616" cy="2800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sz="910" b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Localization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 alarms · Evidence</a:t>
                </a:r>
              </a:p>
            </p:txBody>
          </p:sp>
          <p:sp>
            <p:nvSpPr>
              <p:cNvPr id="435" name="434 decision output"/>
              <p:cNvSpPr txBox="1"/>
              <p:nvPr/>
            </p:nvSpPr>
            <p:spPr>
              <a:xfrm>
                <a:off x="12204954" y="6340782"/>
                <a:ext cx="914400" cy="42434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Actions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recommendations</a:t>
                </a:r>
              </a:p>
            </p:txBody>
          </p:sp>
          <p:sp>
            <p:nvSpPr>
              <p:cNvPr id="436" name="435 decision validation"/>
              <p:cNvSpPr txBox="1"/>
              <p:nvPr/>
            </p:nvSpPr>
            <p:spPr>
              <a:xfrm>
                <a:off x="11503152" y="6817807"/>
                <a:ext cx="1517904" cy="2862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sz="930" b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Utility · Risk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· Review</a:t>
                </a:r>
              </a:p>
            </p:txBody>
          </p:sp>
        </p:grpSp>
        <p:grpSp>
          <p:nvGrpSpPr>
            <p:cNvPr id="587" name="Evaluation"/>
            <p:cNvGrpSpPr/>
            <p:nvPr/>
          </p:nvGrpSpPr>
          <p:grpSpPr>
            <a:xfrm>
              <a:off x="13551408" y="1161288"/>
              <a:ext cx="2933283" cy="4480560"/>
              <a:chOff x="13551408" y="1161288"/>
              <a:chExt cx="2933283" cy="4480560"/>
            </a:xfrm>
          </p:grpSpPr>
          <p:sp>
            <p:nvSpPr>
              <p:cNvPr id="437" name="436 evaluation card 1"/>
              <p:cNvSpPr/>
              <p:nvPr/>
            </p:nvSpPr>
            <p:spPr>
              <a:xfrm>
                <a:off x="14182344" y="1161288"/>
                <a:ext cx="2231136" cy="1024128"/>
              </a:xfrm>
              <a:prstGeom prst="roundRect">
                <a:avLst>
                  <a:gd name="adj" fmla="val 6000"/>
                </a:avLst>
              </a:prstGeom>
              <a:solidFill>
                <a:srgbClr val="EDF8FE"/>
              </a:solidFill>
              <a:ln w="1397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8" name="437 evaluation title 1"/>
              <p:cNvSpPr txBox="1"/>
              <p:nvPr/>
            </p:nvSpPr>
            <p:spPr>
              <a:xfrm>
                <a:off x="14383512" y="1271016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Validity · GH</a:t>
                </a:r>
              </a:p>
            </p:txBody>
          </p:sp>
          <p:sp>
            <p:nvSpPr>
              <p:cNvPr id="439" name="438 evaluation details 1"/>
              <p:cNvSpPr txBox="1"/>
              <p:nvPr/>
            </p:nvSpPr>
            <p:spPr>
              <a:xfrm>
                <a:off x="14657832" y="1563624"/>
                <a:ext cx="1728216" cy="55778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0" i="0" noProof="1">
                    <a:solidFill>
                      <a:srgbClr val="101948"/>
                    </a:solidFill>
                    <a:latin typeface="Times New Roman"/>
                  </a:rPr>
                  <a:t>Tool-call validity · Recovery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0" i="0" noProof="1">
                    <a:solidFill>
                      <a:srgbClr val="101948"/>
                    </a:solidFill>
                    <a:latin typeface="Times New Roman"/>
                  </a:rPr>
                  <a:t>Trace faithfulness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0" i="0" noProof="1">
                    <a:solidFill>
                      <a:srgbClr val="101948"/>
                    </a:solidFill>
                    <a:latin typeface="Times New Roman"/>
                  </a:rPr>
                  <a:t>Memory / artifact provenance</a:t>
                </a:r>
              </a:p>
            </p:txBody>
          </p:sp>
          <p:sp>
            <p:nvSpPr>
              <p:cNvPr id="440" name="439 evaluation card 2"/>
              <p:cNvSpPr/>
              <p:nvPr/>
            </p:nvSpPr>
            <p:spPr>
              <a:xfrm>
                <a:off x="14182344" y="2322576"/>
                <a:ext cx="2231136" cy="1005840"/>
              </a:xfrm>
              <a:prstGeom prst="roundRect">
                <a:avLst>
                  <a:gd name="adj" fmla="val 6000"/>
                </a:avLst>
              </a:prstGeom>
              <a:solidFill>
                <a:srgbClr val="F0FAEF"/>
              </a:solidFill>
              <a:ln w="1397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1" name="440 evaluation title 2"/>
              <p:cNvSpPr txBox="1"/>
              <p:nvPr/>
            </p:nvSpPr>
            <p:spPr>
              <a:xfrm>
                <a:off x="14383512" y="2432304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Validity · GTS</a:t>
                </a:r>
              </a:p>
            </p:txBody>
          </p:sp>
          <p:sp>
            <p:nvSpPr>
              <p:cNvPr id="442" name="441 evaluation details 2"/>
              <p:cNvSpPr txBox="1"/>
              <p:nvPr/>
            </p:nvSpPr>
            <p:spPr>
              <a:xfrm>
                <a:off x="14737206" y="2706624"/>
                <a:ext cx="1680809" cy="41549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/>
                  </a:rPr>
                  <a:t>As-of / leakage checks · Alignment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/>
                  </a:rPr>
                  <a:t>Temporal operations · Grounding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/>
                  </a:rPr>
                  <a:t>Units · Numerical fidelity</a:t>
                </a:r>
              </a:p>
            </p:txBody>
          </p:sp>
          <p:sp>
            <p:nvSpPr>
              <p:cNvPr id="443" name="442 evaluation card 3"/>
              <p:cNvSpPr/>
              <p:nvPr/>
            </p:nvSpPr>
            <p:spPr>
              <a:xfrm>
                <a:off x="14182344" y="3465576"/>
                <a:ext cx="2231136" cy="1042415"/>
              </a:xfrm>
              <a:prstGeom prst="roundRect">
                <a:avLst>
                  <a:gd name="adj" fmla="val 6000"/>
                </a:avLst>
              </a:prstGeom>
              <a:solidFill>
                <a:srgbClr val="FFF1ED"/>
              </a:solidFill>
              <a:ln w="1397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4" name="443 evaluation title 3"/>
              <p:cNvSpPr txBox="1"/>
              <p:nvPr/>
            </p:nvSpPr>
            <p:spPr>
              <a:xfrm>
                <a:off x="14383512" y="3575304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 Performance · TSK</a:t>
                </a:r>
              </a:p>
            </p:txBody>
          </p:sp>
          <p:sp>
            <p:nvSpPr>
              <p:cNvPr id="445" name="444 evaluation details 3"/>
              <p:cNvSpPr txBox="1"/>
              <p:nvPr/>
            </p:nvSpPr>
            <p:spPr>
              <a:xfrm>
                <a:off x="14874954" y="3791768"/>
                <a:ext cx="1600200" cy="67710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Forecast quality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Synthesis utility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Detection / diagnosis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utility</a:t>
                </a:r>
              </a:p>
            </p:txBody>
          </p:sp>
          <p:sp>
            <p:nvSpPr>
              <p:cNvPr id="446" name="445 evaluation card 4"/>
              <p:cNvSpPr/>
              <p:nvPr/>
            </p:nvSpPr>
            <p:spPr>
              <a:xfrm>
                <a:off x="14182344" y="4681728"/>
                <a:ext cx="2231136" cy="960120"/>
              </a:xfrm>
              <a:prstGeom prst="roundRect">
                <a:avLst>
                  <a:gd name="adj" fmla="val 6000"/>
                </a:avLst>
              </a:prstGeom>
              <a:solidFill>
                <a:srgbClr val="F8F1FF"/>
              </a:solidFill>
              <a:ln w="1397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7" name="446 evaluation title 4"/>
              <p:cNvSpPr txBox="1"/>
              <p:nvPr/>
            </p:nvSpPr>
            <p:spPr>
              <a:xfrm>
                <a:off x="14383512" y="4791456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Resource Behavior</a:t>
                </a:r>
              </a:p>
            </p:txBody>
          </p:sp>
          <p:sp>
            <p:nvSpPr>
              <p:cNvPr id="448" name="447 evaluation details 4"/>
              <p:cNvSpPr txBox="1"/>
              <p:nvPr/>
            </p:nvSpPr>
            <p:spPr>
              <a:xfrm>
                <a:off x="14884491" y="5044768"/>
                <a:ext cx="1600200" cy="32316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· Latency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Failures · Revisions</a:t>
                </a:r>
              </a:p>
            </p:txBody>
          </p:sp>
          <p:cxnSp>
            <p:nvCxnSpPr>
              <p:cNvPr id="450" name="449 process validity rule"/>
              <p:cNvCxnSpPr/>
              <p:nvPr/>
            </p:nvCxnSpPr>
            <p:spPr>
              <a:xfrm>
                <a:off x="14356080" y="1691640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450 process validity rule"/>
              <p:cNvCxnSpPr/>
              <p:nvPr/>
            </p:nvCxnSpPr>
            <p:spPr>
              <a:xfrm>
                <a:off x="14356080" y="1764792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451 process validity rule"/>
              <p:cNvCxnSpPr/>
              <p:nvPr/>
            </p:nvCxnSpPr>
            <p:spPr>
              <a:xfrm>
                <a:off x="14356080" y="1837943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453 temporal validity bar"/>
              <p:cNvSpPr/>
              <p:nvPr/>
            </p:nvSpPr>
            <p:spPr>
              <a:xfrm>
                <a:off x="14337793" y="2962656"/>
                <a:ext cx="64008" cy="10972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5" name="454 temporal validity bar"/>
              <p:cNvSpPr/>
              <p:nvPr/>
            </p:nvSpPr>
            <p:spPr>
              <a:xfrm>
                <a:off x="14438376" y="2916936"/>
                <a:ext cx="64008" cy="1554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6" name="455 temporal validity bar"/>
              <p:cNvSpPr/>
              <p:nvPr/>
            </p:nvSpPr>
            <p:spPr>
              <a:xfrm>
                <a:off x="14538961" y="2862072"/>
                <a:ext cx="64008" cy="210312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8" name="457 task performance ring"/>
              <p:cNvSpPr/>
              <p:nvPr/>
            </p:nvSpPr>
            <p:spPr>
              <a:xfrm>
                <a:off x="14365224" y="3995928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9" name="458 task performance ring"/>
              <p:cNvSpPr/>
              <p:nvPr/>
            </p:nvSpPr>
            <p:spPr>
              <a:xfrm>
                <a:off x="14429232" y="4059936"/>
                <a:ext cx="54864" cy="54864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4" name="463 line"/>
              <p:cNvCxnSpPr/>
              <p:nvPr/>
            </p:nvCxnSpPr>
            <p:spPr>
              <a:xfrm flipV="1">
                <a:off x="14557248" y="5166360"/>
                <a:ext cx="109728" cy="128016"/>
              </a:xfrm>
              <a:prstGeom prst="line">
                <a:avLst/>
              </a:prstGeom>
              <a:ln w="1905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5" name="464 evaluation connection label"/>
              <p:cNvSpPr txBox="1"/>
              <p:nvPr/>
            </p:nvSpPr>
            <p:spPr>
              <a:xfrm>
                <a:off x="13551408" y="1216152"/>
                <a:ext cx="566928" cy="2923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Evaluated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</a:p>
            </p:txBody>
          </p:sp>
        </p:grpSp>
        <p:cxnSp>
          <p:nvCxnSpPr>
            <p:cNvPr id="466" name="465 evaluation connector 1 segment 1"/>
            <p:cNvCxnSpPr/>
            <p:nvPr/>
          </p:nvCxnSpPr>
          <p:spPr>
            <a:xfrm>
              <a:off x="13350240" y="1673352"/>
              <a:ext cx="402336" cy="0"/>
            </a:xfrm>
            <a:prstGeom prst="line">
              <a:avLst/>
            </a:prstGeom>
            <a:ln w="16510">
              <a:solidFill>
                <a:srgbClr val="2B8B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466 evaluation connector 1 segment 2"/>
            <p:cNvCxnSpPr/>
            <p:nvPr/>
          </p:nvCxnSpPr>
          <p:spPr>
            <a:xfrm>
              <a:off x="13752576" y="1673352"/>
              <a:ext cx="429768" cy="0"/>
            </a:xfrm>
            <a:prstGeom prst="line">
              <a:avLst/>
            </a:prstGeom>
            <a:ln w="16510">
              <a:solidFill>
                <a:srgbClr val="2B8B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467 evaluation connector 1 source"/>
            <p:cNvSpPr/>
            <p:nvPr/>
          </p:nvSpPr>
          <p:spPr>
            <a:xfrm>
              <a:off x="13318236" y="1641348"/>
              <a:ext cx="64008" cy="64008"/>
            </a:xfrm>
            <a:prstGeom prst="ellipse">
              <a:avLst/>
            </a:prstGeom>
            <a:solidFill>
              <a:srgbClr val="2B8BC9"/>
            </a:solidFill>
            <a:ln w="6350">
              <a:solidFill>
                <a:srgbClr val="2B8B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468 evaluation connector 1 target"/>
            <p:cNvSpPr/>
            <p:nvPr/>
          </p:nvSpPr>
          <p:spPr>
            <a:xfrm>
              <a:off x="14150340" y="1641348"/>
              <a:ext cx="64008" cy="64008"/>
            </a:xfrm>
            <a:prstGeom prst="ellipse">
              <a:avLst/>
            </a:prstGeom>
            <a:solidFill>
              <a:srgbClr val="2B8BC9"/>
            </a:solidFill>
            <a:ln w="6350">
              <a:solidFill>
                <a:srgbClr val="2B8B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0" name="469 evaluation connector 2 segment 1"/>
            <p:cNvCxnSpPr/>
            <p:nvPr/>
          </p:nvCxnSpPr>
          <p:spPr>
            <a:xfrm>
              <a:off x="13258800" y="3538728"/>
              <a:ext cx="640080" cy="0"/>
            </a:xfrm>
            <a:prstGeom prst="line">
              <a:avLst/>
            </a:prstGeom>
            <a:ln w="16510">
              <a:solidFill>
                <a:srgbClr val="48A46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8" name="Evaluation"/>
            <p:cNvGrpSpPr/>
            <p:nvPr/>
          </p:nvGrpSpPr>
          <p:grpSpPr>
            <a:xfrm>
              <a:off x="13898880" y="3191256"/>
              <a:ext cx="283464" cy="347472"/>
              <a:chOff x="13898880" y="3191256"/>
              <a:chExt cx="283464" cy="347472"/>
            </a:xfrm>
          </p:grpSpPr>
          <p:cxnSp>
            <p:nvCxnSpPr>
              <p:cNvPr id="471" name="470 evaluation connector 2 segment 2"/>
              <p:cNvCxnSpPr/>
              <p:nvPr/>
            </p:nvCxnSpPr>
            <p:spPr>
              <a:xfrm flipV="1">
                <a:off x="13898880" y="3191256"/>
                <a:ext cx="0" cy="347472"/>
              </a:xfrm>
              <a:prstGeom prst="line">
                <a:avLst/>
              </a:prstGeom>
              <a:ln w="16510">
                <a:solidFill>
                  <a:srgbClr val="48A46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471 evaluation connector 2 segment 3"/>
              <p:cNvCxnSpPr/>
              <p:nvPr/>
            </p:nvCxnSpPr>
            <p:spPr>
              <a:xfrm>
                <a:off x="13898880" y="3191256"/>
                <a:ext cx="283464" cy="0"/>
              </a:xfrm>
              <a:prstGeom prst="line">
                <a:avLst/>
              </a:prstGeom>
              <a:ln w="16510">
                <a:solidFill>
                  <a:srgbClr val="48A46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3" name="472 evaluation connector 2 source"/>
            <p:cNvSpPr/>
            <p:nvPr/>
          </p:nvSpPr>
          <p:spPr>
            <a:xfrm>
              <a:off x="13226796" y="3506724"/>
              <a:ext cx="64008" cy="64008"/>
            </a:xfrm>
            <a:prstGeom prst="ellipse">
              <a:avLst/>
            </a:prstGeom>
            <a:solidFill>
              <a:srgbClr val="48A462"/>
            </a:solidFill>
            <a:ln w="6350">
              <a:solidFill>
                <a:srgbClr val="48A4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4" name="473 evaluation connector 2 target"/>
            <p:cNvSpPr/>
            <p:nvPr/>
          </p:nvSpPr>
          <p:spPr>
            <a:xfrm>
              <a:off x="14150340" y="3159252"/>
              <a:ext cx="64008" cy="64008"/>
            </a:xfrm>
            <a:prstGeom prst="ellipse">
              <a:avLst/>
            </a:prstGeom>
            <a:solidFill>
              <a:srgbClr val="48A462"/>
            </a:solidFill>
            <a:ln w="6350">
              <a:solidFill>
                <a:srgbClr val="48A4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5" name="474 evaluation connector 3 segment 1"/>
            <p:cNvCxnSpPr/>
            <p:nvPr/>
          </p:nvCxnSpPr>
          <p:spPr>
            <a:xfrm>
              <a:off x="13149072" y="6565392"/>
              <a:ext cx="219456" cy="0"/>
            </a:xfrm>
            <a:prstGeom prst="line">
              <a:avLst/>
            </a:prstGeom>
            <a:ln w="16510">
              <a:solidFill>
                <a:srgbClr val="E75A4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475 evaluation connector 3 segment 2"/>
            <p:cNvCxnSpPr/>
            <p:nvPr/>
          </p:nvCxnSpPr>
          <p:spPr>
            <a:xfrm flipV="1">
              <a:off x="13368528" y="3986784"/>
              <a:ext cx="0" cy="2578608"/>
            </a:xfrm>
            <a:prstGeom prst="line">
              <a:avLst/>
            </a:prstGeom>
            <a:ln w="16510">
              <a:solidFill>
                <a:srgbClr val="E75A4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476 evaluation connector 3 segment 3"/>
            <p:cNvCxnSpPr/>
            <p:nvPr/>
          </p:nvCxnSpPr>
          <p:spPr>
            <a:xfrm>
              <a:off x="13368528" y="3986784"/>
              <a:ext cx="813816" cy="0"/>
            </a:xfrm>
            <a:prstGeom prst="line">
              <a:avLst/>
            </a:prstGeom>
            <a:ln w="16510">
              <a:solidFill>
                <a:srgbClr val="E75A4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477 evaluation connector 3 source"/>
            <p:cNvSpPr/>
            <p:nvPr/>
          </p:nvSpPr>
          <p:spPr>
            <a:xfrm>
              <a:off x="13117068" y="6533388"/>
              <a:ext cx="64008" cy="64008"/>
            </a:xfrm>
            <a:prstGeom prst="ellipse">
              <a:avLst/>
            </a:prstGeom>
            <a:solidFill>
              <a:srgbClr val="E75A4E"/>
            </a:solidFill>
            <a:ln w="6350">
              <a:solidFill>
                <a:srgbClr val="E75A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9" name="Evaluation"/>
            <p:cNvGrpSpPr/>
            <p:nvPr/>
          </p:nvGrpSpPr>
          <p:grpSpPr>
            <a:xfrm>
              <a:off x="13469112" y="3954780"/>
              <a:ext cx="745236" cy="1211580"/>
              <a:chOff x="13469112" y="3954780"/>
              <a:chExt cx="745236" cy="1211580"/>
            </a:xfrm>
          </p:grpSpPr>
          <p:sp>
            <p:nvSpPr>
              <p:cNvPr id="479" name="478 evaluation connector 3 target"/>
              <p:cNvSpPr/>
              <p:nvPr/>
            </p:nvSpPr>
            <p:spPr>
              <a:xfrm>
                <a:off x="14150340" y="3954780"/>
                <a:ext cx="64008" cy="64008"/>
              </a:xfrm>
              <a:prstGeom prst="ellipse">
                <a:avLst/>
              </a:prstGeom>
              <a:solidFill>
                <a:srgbClr val="E75A4E"/>
              </a:solidFill>
              <a:ln w="635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0" name="479 evaluation connector 4 segment 1"/>
              <p:cNvCxnSpPr/>
              <p:nvPr/>
            </p:nvCxnSpPr>
            <p:spPr>
              <a:xfrm>
                <a:off x="13469112" y="5166360"/>
                <a:ext cx="713232" cy="0"/>
              </a:xfrm>
              <a:prstGeom prst="line">
                <a:avLst/>
              </a:prstGeom>
              <a:ln w="16510">
                <a:solidFill>
                  <a:srgbClr val="985AE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1" name="480 evaluation connector 4 source"/>
            <p:cNvSpPr/>
            <p:nvPr/>
          </p:nvSpPr>
          <p:spPr>
            <a:xfrm>
              <a:off x="13437108" y="5134356"/>
              <a:ext cx="64008" cy="64008"/>
            </a:xfrm>
            <a:prstGeom prst="ellipse">
              <a:avLst/>
            </a:prstGeom>
            <a:solidFill>
              <a:srgbClr val="985AE0"/>
            </a:solidFill>
            <a:ln w="6350">
              <a:solidFill>
                <a:srgbClr val="985A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0" name="Evaluation"/>
            <p:cNvGrpSpPr/>
            <p:nvPr/>
          </p:nvGrpSpPr>
          <p:grpSpPr>
            <a:xfrm>
              <a:off x="13908024" y="5134356"/>
              <a:ext cx="2496312" cy="2135124"/>
              <a:chOff x="13908024" y="5134356"/>
              <a:chExt cx="2496312" cy="2135124"/>
            </a:xfrm>
          </p:grpSpPr>
          <p:sp>
            <p:nvSpPr>
              <p:cNvPr id="482" name="481 evaluation connector 4 target"/>
              <p:cNvSpPr/>
              <p:nvPr/>
            </p:nvSpPr>
            <p:spPr>
              <a:xfrm>
                <a:off x="14150340" y="5134356"/>
                <a:ext cx="64008" cy="64008"/>
              </a:xfrm>
              <a:prstGeom prst="ellipse">
                <a:avLst/>
              </a:prstGeom>
              <a:solidFill>
                <a:srgbClr val="985AE0"/>
              </a:solidFill>
              <a:ln w="635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3" name="482 episode divider"/>
              <p:cNvCxnSpPr/>
              <p:nvPr/>
            </p:nvCxnSpPr>
            <p:spPr>
              <a:xfrm>
                <a:off x="13962888" y="5907024"/>
                <a:ext cx="2395728" cy="0"/>
              </a:xfrm>
              <a:prstGeom prst="line">
                <a:avLst/>
              </a:prstGeom>
              <a:ln w="1016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4" name="483 Auditable Episode Record"/>
              <p:cNvSpPr/>
              <p:nvPr/>
            </p:nvSpPr>
            <p:spPr>
              <a:xfrm>
                <a:off x="13908024" y="6080760"/>
                <a:ext cx="2496312" cy="118872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7" name="486 episode record rule"/>
              <p:cNvCxnSpPr/>
              <p:nvPr/>
            </p:nvCxnSpPr>
            <p:spPr>
              <a:xfrm>
                <a:off x="14100048" y="6400800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487 episode record rule"/>
              <p:cNvCxnSpPr/>
              <p:nvPr/>
            </p:nvCxnSpPr>
            <p:spPr>
              <a:xfrm>
                <a:off x="14100048" y="6473952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9" name="488 episode record title"/>
              <p:cNvSpPr txBox="1"/>
              <p:nvPr/>
            </p:nvSpPr>
            <p:spPr>
              <a:xfrm>
                <a:off x="14411013" y="6291072"/>
                <a:ext cx="1847088" cy="18928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Auditable Episode Record</a:t>
                </a:r>
              </a:p>
            </p:txBody>
          </p:sp>
          <p:sp>
            <p:nvSpPr>
              <p:cNvPr id="490" name="489 episode record details"/>
              <p:cNvSpPr txBox="1"/>
              <p:nvPr/>
            </p:nvSpPr>
            <p:spPr>
              <a:xfrm>
                <a:off x="14054328" y="6574536"/>
                <a:ext cx="2286000" cy="65836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Task · As-of boundary · Visible context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Tool calls · Artifacts · Evidence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Validator decisions · Revisions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Final output · Resource use</a:t>
                </a:r>
              </a:p>
            </p:txBody>
          </p:sp>
        </p:grpSp>
        <p:sp>
          <p:nvSpPr>
            <p:cNvPr id="491" name="490 Module-Level Evidence Ledger"/>
            <p:cNvSpPr/>
            <p:nvPr/>
          </p:nvSpPr>
          <p:spPr>
            <a:xfrm>
              <a:off x="128016" y="7589520"/>
              <a:ext cx="16358616" cy="283464"/>
            </a:xfrm>
            <a:prstGeom prst="roundRect">
              <a:avLst>
                <a:gd name="adj" fmla="val 6000"/>
              </a:avLst>
            </a:prstGeom>
            <a:solidFill>
              <a:srgbClr val="F5F8FB"/>
            </a:solidFill>
            <a:ln w="12700">
              <a:solidFill>
                <a:srgbClr val="7484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1" name="LLM side"/>
            <p:cNvGrpSpPr/>
            <p:nvPr/>
          </p:nvGrpSpPr>
          <p:grpSpPr>
            <a:xfrm>
              <a:off x="4700016" y="7699248"/>
              <a:ext cx="91440" cy="91440"/>
              <a:chOff x="4700016" y="7699248"/>
              <a:chExt cx="91440" cy="91440"/>
            </a:xfrm>
          </p:grpSpPr>
          <p:cxnSp>
            <p:nvCxnSpPr>
              <p:cNvPr id="493" name="492 ledger icon rule"/>
              <p:cNvCxnSpPr/>
              <p:nvPr/>
            </p:nvCxnSpPr>
            <p:spPr>
              <a:xfrm>
                <a:off x="4700016" y="7699248"/>
                <a:ext cx="91440" cy="0"/>
              </a:xfrm>
              <a:prstGeom prst="line">
                <a:avLst/>
              </a:prstGeom>
              <a:ln w="889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493 ledger icon rule"/>
              <p:cNvCxnSpPr/>
              <p:nvPr/>
            </p:nvCxnSpPr>
            <p:spPr>
              <a:xfrm>
                <a:off x="4700016" y="7744968"/>
                <a:ext cx="91440" cy="0"/>
              </a:xfrm>
              <a:prstGeom prst="line">
                <a:avLst/>
              </a:prstGeom>
              <a:ln w="889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494 ledger icon rule"/>
              <p:cNvCxnSpPr/>
              <p:nvPr/>
            </p:nvCxnSpPr>
            <p:spPr>
              <a:xfrm>
                <a:off x="4700016" y="7790688"/>
                <a:ext cx="91440" cy="0"/>
              </a:xfrm>
              <a:prstGeom prst="line">
                <a:avLst/>
              </a:prstGeom>
              <a:ln w="889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6" name="495 evidence ledger text"/>
            <p:cNvSpPr txBox="1"/>
            <p:nvPr/>
          </p:nvSpPr>
          <p:spPr>
            <a:xfrm>
              <a:off x="5047488" y="7644383"/>
              <a:ext cx="10972800" cy="176972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i="0" noProof="1">
                  <a:solidFill>
                    <a:srgbClr val="101948"/>
                  </a:solidFill>
                  <a:latin typeface="Times New Roman"/>
                </a:rPr>
                <a:t>Module-Level Evidence Ledger:  Claims · Source evidence · Modules · Task contracts · Evaluation · Review status</a:t>
              </a:r>
            </a:p>
          </p:txBody>
        </p:sp>
        <p:grpSp>
          <p:nvGrpSpPr>
            <p:cNvPr id="592" name="General Harness"/>
            <p:cNvGrpSpPr/>
            <p:nvPr/>
          </p:nvGrpSpPr>
          <p:grpSpPr>
            <a:xfrm>
              <a:off x="6162675" y="1401921"/>
              <a:ext cx="5797676" cy="1303682"/>
              <a:chOff x="6162675" y="1401921"/>
              <a:chExt cx="5797676" cy="1303682"/>
            </a:xfrm>
          </p:grpSpPr>
          <p:pic>
            <p:nvPicPr>
              <p:cNvPr id="499" name="图片 498">
                <a:extLst>
                  <a:ext uri="{FF2B5EF4-FFF2-40B4-BE49-F238E27FC236}">
                    <a16:creationId xmlns:a16="http://schemas.microsoft.com/office/drawing/2014/main" id="{2C4C3919-F896-4F06-B182-AFE18A1BC8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9440" t="26791" r="29691" b="63006"/>
              <a:stretch/>
            </p:blipFill>
            <p:spPr>
              <a:xfrm>
                <a:off x="6187440" y="2288669"/>
                <a:ext cx="541720" cy="381379"/>
              </a:xfrm>
              <a:prstGeom prst="rect">
                <a:avLst/>
              </a:prstGeom>
            </p:spPr>
          </p:pic>
          <p:pic>
            <p:nvPicPr>
              <p:cNvPr id="502" name="图片 501">
                <a:extLst>
                  <a:ext uri="{FF2B5EF4-FFF2-40B4-BE49-F238E27FC236}">
                    <a16:creationId xmlns:a16="http://schemas.microsoft.com/office/drawing/2014/main" id="{255E0792-3EC1-4F49-84E6-F4EAC91B78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7110" t="27668" r="46568" b="63154"/>
              <a:stretch/>
            </p:blipFill>
            <p:spPr>
              <a:xfrm>
                <a:off x="11554731" y="1478637"/>
                <a:ext cx="405620" cy="441603"/>
              </a:xfrm>
              <a:prstGeom prst="rect">
                <a:avLst/>
              </a:prstGeom>
            </p:spPr>
          </p:pic>
          <p:pic>
            <p:nvPicPr>
              <p:cNvPr id="504" name="图片 503">
                <a:extLst>
                  <a:ext uri="{FF2B5EF4-FFF2-40B4-BE49-F238E27FC236}">
                    <a16:creationId xmlns:a16="http://schemas.microsoft.com/office/drawing/2014/main" id="{04F63FBB-433F-4115-A6AA-B7B88F200C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1422" t="25939" r="60855" b="63295"/>
              <a:stretch/>
            </p:blipFill>
            <p:spPr>
              <a:xfrm>
                <a:off x="9665208" y="1401921"/>
                <a:ext cx="460652" cy="481633"/>
              </a:xfrm>
              <a:prstGeom prst="rect">
                <a:avLst/>
              </a:prstGeom>
            </p:spPr>
          </p:pic>
          <p:pic>
            <p:nvPicPr>
              <p:cNvPr id="506" name="图片 505">
                <a:extLst>
                  <a:ext uri="{FF2B5EF4-FFF2-40B4-BE49-F238E27FC236}">
                    <a16:creationId xmlns:a16="http://schemas.microsoft.com/office/drawing/2014/main" id="{A13B422C-672C-4510-B4FD-916C9C9323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8542" t="26737" r="75247" b="63393"/>
              <a:stretch/>
            </p:blipFill>
            <p:spPr>
              <a:xfrm>
                <a:off x="8021574" y="1429788"/>
                <a:ext cx="411480" cy="490452"/>
              </a:xfrm>
              <a:prstGeom prst="rect">
                <a:avLst/>
              </a:prstGeom>
            </p:spPr>
          </p:pic>
          <p:pic>
            <p:nvPicPr>
              <p:cNvPr id="508" name="图片 507">
                <a:extLst>
                  <a:ext uri="{FF2B5EF4-FFF2-40B4-BE49-F238E27FC236}">
                    <a16:creationId xmlns:a16="http://schemas.microsoft.com/office/drawing/2014/main" id="{C60B295E-0D39-4EBA-9576-6F78D4F63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4206" t="26906" r="17566" b="63207"/>
              <a:stretch/>
            </p:blipFill>
            <p:spPr>
              <a:xfrm>
                <a:off x="8433054" y="2264014"/>
                <a:ext cx="489961" cy="441589"/>
              </a:xfrm>
              <a:prstGeom prst="rect">
                <a:avLst/>
              </a:prstGeom>
            </p:spPr>
          </p:pic>
          <p:pic>
            <p:nvPicPr>
              <p:cNvPr id="510" name="图片 509">
                <a:extLst>
                  <a:ext uri="{FF2B5EF4-FFF2-40B4-BE49-F238E27FC236}">
                    <a16:creationId xmlns:a16="http://schemas.microsoft.com/office/drawing/2014/main" id="{C7B627C9-D8CB-4D3D-BDEB-1BE8EA251A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349" t="27202" r="86336" b="63394"/>
              <a:stretch/>
            </p:blipFill>
            <p:spPr>
              <a:xfrm>
                <a:off x="6162675" y="1468277"/>
                <a:ext cx="650151" cy="444558"/>
              </a:xfrm>
              <a:prstGeom prst="rect">
                <a:avLst/>
              </a:prstGeom>
            </p:spPr>
          </p:pic>
          <p:pic>
            <p:nvPicPr>
              <p:cNvPr id="514" name="图片 513">
                <a:extLst>
                  <a:ext uri="{FF2B5EF4-FFF2-40B4-BE49-F238E27FC236}">
                    <a16:creationId xmlns:a16="http://schemas.microsoft.com/office/drawing/2014/main" id="{5C69A4B5-C21D-42FA-B4C4-E6E3748283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86283" t="27021" r="2929" b="62817"/>
              <a:stretch/>
            </p:blipFill>
            <p:spPr>
              <a:xfrm>
                <a:off x="10802764" y="2271677"/>
                <a:ext cx="561367" cy="396609"/>
              </a:xfrm>
              <a:prstGeom prst="rect">
                <a:avLst/>
              </a:prstGeom>
            </p:spPr>
          </p:pic>
        </p:grpSp>
        <p:grpSp>
          <p:nvGrpSpPr>
            <p:cNvPr id="593" name="LLM side"/>
            <p:cNvGrpSpPr/>
            <p:nvPr/>
          </p:nvGrpSpPr>
          <p:grpSpPr>
            <a:xfrm>
              <a:off x="3081528" y="2409921"/>
              <a:ext cx="1718869" cy="3939182"/>
              <a:chOff x="3081528" y="2409921"/>
              <a:chExt cx="1718869" cy="3939182"/>
            </a:xfrm>
          </p:grpSpPr>
          <p:sp>
            <p:nvSpPr>
              <p:cNvPr id="515" name="立方体 514">
                <a:extLst>
                  <a:ext uri="{FF2B5EF4-FFF2-40B4-BE49-F238E27FC236}">
                    <a16:creationId xmlns:a16="http://schemas.microsoft.com/office/drawing/2014/main" id="{3B093C4B-927E-4FFA-A149-15EA2EEDFBF6}"/>
                  </a:ext>
                </a:extLst>
              </p:cNvPr>
              <p:cNvSpPr/>
              <p:nvPr/>
            </p:nvSpPr>
            <p:spPr>
              <a:xfrm>
                <a:off x="3081528" y="5663303"/>
                <a:ext cx="694944" cy="685800"/>
              </a:xfrm>
              <a:prstGeom prst="cube">
                <a:avLst/>
              </a:prstGeom>
              <a:solidFill>
                <a:srgbClr val="E6EBF3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179 LLM model label"/>
              <p:cNvSpPr txBox="1"/>
              <p:nvPr/>
            </p:nvSpPr>
            <p:spPr>
              <a:xfrm>
                <a:off x="3126463" y="5973038"/>
                <a:ext cx="457200" cy="21544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</a:t>
                </a:r>
              </a:p>
            </p:txBody>
          </p:sp>
          <p:sp>
            <p:nvSpPr>
              <p:cNvPr id="516" name="圆柱体 515">
                <a:extLst>
                  <a:ext uri="{FF2B5EF4-FFF2-40B4-BE49-F238E27FC236}">
                    <a16:creationId xmlns:a16="http://schemas.microsoft.com/office/drawing/2014/main" id="{C8836610-AB52-4323-A59D-AC16CB293184}"/>
                  </a:ext>
                </a:extLst>
              </p:cNvPr>
              <p:cNvSpPr/>
              <p:nvPr/>
            </p:nvSpPr>
            <p:spPr>
              <a:xfrm>
                <a:off x="4050792" y="5842873"/>
                <a:ext cx="173736" cy="435483"/>
              </a:xfrm>
              <a:prstGeom prst="can">
                <a:avLst/>
              </a:prstGeom>
              <a:solidFill>
                <a:srgbClr val="BFE4F8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7" name="圆柱体 516">
                <a:extLst>
                  <a:ext uri="{FF2B5EF4-FFF2-40B4-BE49-F238E27FC236}">
                    <a16:creationId xmlns:a16="http://schemas.microsoft.com/office/drawing/2014/main" id="{8BF4EEDA-9C07-40DE-A5EC-A651C5269F6E}"/>
                  </a:ext>
                </a:extLst>
              </p:cNvPr>
              <p:cNvSpPr/>
              <p:nvPr/>
            </p:nvSpPr>
            <p:spPr>
              <a:xfrm>
                <a:off x="4283964" y="5842873"/>
                <a:ext cx="173736" cy="435483"/>
              </a:xfrm>
              <a:prstGeom prst="can">
                <a:avLst/>
              </a:prstGeom>
              <a:solidFill>
                <a:srgbClr val="E2BF9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圆柱体 517">
                <a:extLst>
                  <a:ext uri="{FF2B5EF4-FFF2-40B4-BE49-F238E27FC236}">
                    <a16:creationId xmlns:a16="http://schemas.microsoft.com/office/drawing/2014/main" id="{3936C4A4-9B25-4A28-829B-5DDFBBEFC356}"/>
                  </a:ext>
                </a:extLst>
              </p:cNvPr>
              <p:cNvSpPr/>
              <p:nvPr/>
            </p:nvSpPr>
            <p:spPr>
              <a:xfrm>
                <a:off x="4388917" y="2411016"/>
                <a:ext cx="173736" cy="435483"/>
              </a:xfrm>
              <a:prstGeom prst="can">
                <a:avLst/>
              </a:prstGeom>
              <a:solidFill>
                <a:srgbClr val="BFE4F8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9" name="圆柱体 518">
                <a:extLst>
                  <a:ext uri="{FF2B5EF4-FFF2-40B4-BE49-F238E27FC236}">
                    <a16:creationId xmlns:a16="http://schemas.microsoft.com/office/drawing/2014/main" id="{1870DB16-3F8A-4A3B-98B3-8B9ED3E9B42B}"/>
                  </a:ext>
                </a:extLst>
              </p:cNvPr>
              <p:cNvSpPr/>
              <p:nvPr/>
            </p:nvSpPr>
            <p:spPr>
              <a:xfrm>
                <a:off x="4626661" y="2409921"/>
                <a:ext cx="173736" cy="435483"/>
              </a:xfrm>
              <a:prstGeom prst="can">
                <a:avLst/>
              </a:prstGeom>
              <a:solidFill>
                <a:srgbClr val="E2BF9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21" name="图片 520">
              <a:extLst>
                <a:ext uri="{FF2B5EF4-FFF2-40B4-BE49-F238E27FC236}">
                  <a16:creationId xmlns:a16="http://schemas.microsoft.com/office/drawing/2014/main" id="{ED5F2879-9792-48CC-9295-15FF496BAD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l="22492" t="4835" r="63841" b="80154"/>
            <a:stretch/>
          </p:blipFill>
          <p:spPr>
            <a:xfrm>
              <a:off x="292608" y="5234725"/>
              <a:ext cx="2010126" cy="1655968"/>
            </a:xfrm>
            <a:prstGeom prst="rect">
              <a:avLst/>
            </a:prstGeom>
          </p:spPr>
        </p:pic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BECC292A-52D0-4F0E-9B48-26936A2024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2781" y="4218988"/>
              <a:ext cx="111521" cy="122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526" name="图片 525">
              <a:extLst>
                <a:ext uri="{FF2B5EF4-FFF2-40B4-BE49-F238E27FC236}">
                  <a16:creationId xmlns:a16="http://schemas.microsoft.com/office/drawing/2014/main" id="{6CB033EB-46D2-47CF-8F45-0509BD06B2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0009" t="63281" b="25980"/>
            <a:stretch/>
          </p:blipFill>
          <p:spPr>
            <a:xfrm>
              <a:off x="11475720" y="6418019"/>
              <a:ext cx="760375" cy="306362"/>
            </a:xfrm>
            <a:prstGeom prst="rect">
              <a:avLst/>
            </a:prstGeom>
          </p:spPr>
        </p:pic>
        <p:grpSp>
          <p:nvGrpSpPr>
            <p:cNvPr id="594" name="Evaluation"/>
            <p:cNvGrpSpPr/>
            <p:nvPr/>
          </p:nvGrpSpPr>
          <p:grpSpPr>
            <a:xfrm>
              <a:off x="14048041" y="1551361"/>
              <a:ext cx="787587" cy="5014031"/>
              <a:chOff x="14048041" y="1551361"/>
              <a:chExt cx="787587" cy="5014031"/>
            </a:xfrm>
          </p:grpSpPr>
          <p:pic>
            <p:nvPicPr>
              <p:cNvPr id="528" name="图片 527">
                <a:extLst>
                  <a:ext uri="{FF2B5EF4-FFF2-40B4-BE49-F238E27FC236}">
                    <a16:creationId xmlns:a16="http://schemas.microsoft.com/office/drawing/2014/main" id="{7FBF652E-A80E-4D85-B631-1A7D76734D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rcRect l="84772" t="81123" r="8039" b="7776"/>
              <a:stretch/>
            </p:blipFill>
            <p:spPr>
              <a:xfrm>
                <a:off x="14048041" y="6140196"/>
                <a:ext cx="362972" cy="425196"/>
              </a:xfrm>
              <a:prstGeom prst="rect">
                <a:avLst/>
              </a:prstGeom>
            </p:spPr>
          </p:pic>
          <p:pic>
            <p:nvPicPr>
              <p:cNvPr id="530" name="图片 529">
                <a:extLst>
                  <a:ext uri="{FF2B5EF4-FFF2-40B4-BE49-F238E27FC236}">
                    <a16:creationId xmlns:a16="http://schemas.microsoft.com/office/drawing/2014/main" id="{65CB3070-57BF-487D-B80F-6EA50694AF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9422" t="82011" r="83347" b="7847"/>
              <a:stretch/>
            </p:blipFill>
            <p:spPr>
              <a:xfrm>
                <a:off x="14246352" y="1551361"/>
                <a:ext cx="447039" cy="469964"/>
              </a:xfrm>
              <a:prstGeom prst="rect">
                <a:avLst/>
              </a:prstGeom>
            </p:spPr>
          </p:pic>
          <p:pic>
            <p:nvPicPr>
              <p:cNvPr id="532" name="图片 531">
                <a:extLst>
                  <a:ext uri="{FF2B5EF4-FFF2-40B4-BE49-F238E27FC236}">
                    <a16:creationId xmlns:a16="http://schemas.microsoft.com/office/drawing/2014/main" id="{8BAA8E28-CFBA-4130-9455-E663C154EE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64696" t="83142" r="24948" b="8776"/>
              <a:stretch/>
            </p:blipFill>
            <p:spPr>
              <a:xfrm>
                <a:off x="14274221" y="5106889"/>
                <a:ext cx="561407" cy="328615"/>
              </a:xfrm>
              <a:prstGeom prst="rect">
                <a:avLst/>
              </a:prstGeom>
            </p:spPr>
          </p:pic>
          <p:pic>
            <p:nvPicPr>
              <p:cNvPr id="533" name="图片 532">
                <a:extLst>
                  <a:ext uri="{FF2B5EF4-FFF2-40B4-BE49-F238E27FC236}">
                    <a16:creationId xmlns:a16="http://schemas.microsoft.com/office/drawing/2014/main" id="{11103CB2-0BC5-4D63-B56C-E2E71F463E7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6137" t="81987" r="44885" b="8187"/>
              <a:stretch/>
            </p:blipFill>
            <p:spPr>
              <a:xfrm>
                <a:off x="14225474" y="3843893"/>
                <a:ext cx="606350" cy="497727"/>
              </a:xfrm>
              <a:prstGeom prst="rect">
                <a:avLst/>
              </a:prstGeom>
            </p:spPr>
          </p:pic>
        </p:grpSp>
        <p:grpSp>
          <p:nvGrpSpPr>
            <p:cNvPr id="595" name="Scenario and task"/>
            <p:cNvGrpSpPr/>
            <p:nvPr/>
          </p:nvGrpSpPr>
          <p:grpSpPr>
            <a:xfrm>
              <a:off x="393192" y="2167128"/>
              <a:ext cx="2038858" cy="784733"/>
              <a:chOff x="393192" y="2167128"/>
              <a:chExt cx="2038858" cy="784733"/>
            </a:xfrm>
          </p:grpSpPr>
          <p:cxnSp>
            <p:nvCxnSpPr>
              <p:cNvPr id="536" name="直接箭头连接符 535">
                <a:extLst>
                  <a:ext uri="{FF2B5EF4-FFF2-40B4-BE49-F238E27FC236}">
                    <a16:creationId xmlns:a16="http://schemas.microsoft.com/office/drawing/2014/main" id="{799A8C8D-FDD6-4CE5-BED8-F1A390CDF8D8}"/>
                  </a:ext>
                </a:extLst>
              </p:cNvPr>
              <p:cNvCxnSpPr/>
              <p:nvPr/>
            </p:nvCxnSpPr>
            <p:spPr>
              <a:xfrm>
                <a:off x="393192" y="2944368"/>
                <a:ext cx="20388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7" name="直接箭头连接符 536">
                <a:extLst>
                  <a:ext uri="{FF2B5EF4-FFF2-40B4-BE49-F238E27FC236}">
                    <a16:creationId xmlns:a16="http://schemas.microsoft.com/office/drawing/2014/main" id="{7D2BB519-8432-4645-98E6-571BEF439F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2336" y="2167128"/>
                <a:ext cx="0" cy="7847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LLM side"/>
            <p:cNvGrpSpPr/>
            <p:nvPr/>
          </p:nvGrpSpPr>
          <p:grpSpPr>
            <a:xfrm>
              <a:off x="3168396" y="4056117"/>
              <a:ext cx="1495044" cy="625611"/>
              <a:chOff x="3168396" y="4056117"/>
              <a:chExt cx="1495044" cy="625611"/>
            </a:xfrm>
          </p:grpSpPr>
          <p:cxnSp>
            <p:nvCxnSpPr>
              <p:cNvPr id="539" name="直接箭头连接符 538">
                <a:extLst>
                  <a:ext uri="{FF2B5EF4-FFF2-40B4-BE49-F238E27FC236}">
                    <a16:creationId xmlns:a16="http://schemas.microsoft.com/office/drawing/2014/main" id="{7D2277AD-9480-407D-A429-0D7755E7CB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8396" y="4056117"/>
                <a:ext cx="0" cy="625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C91D9F4C-BA52-4B1F-AC44-C810BA27E4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396" y="4680331"/>
                <a:ext cx="14950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7" name="Temporal Harness"/>
            <p:cNvGrpSpPr/>
            <p:nvPr/>
          </p:nvGrpSpPr>
          <p:grpSpPr>
            <a:xfrm>
              <a:off x="6378067" y="4018787"/>
              <a:ext cx="2038858" cy="1211581"/>
              <a:chOff x="6378067" y="4018787"/>
              <a:chExt cx="2038858" cy="1211581"/>
            </a:xfrm>
          </p:grpSpPr>
          <p:cxnSp>
            <p:nvCxnSpPr>
              <p:cNvPr id="543" name="直接箭头连接符 542">
                <a:extLst>
                  <a:ext uri="{FF2B5EF4-FFF2-40B4-BE49-F238E27FC236}">
                    <a16:creationId xmlns:a16="http://schemas.microsoft.com/office/drawing/2014/main" id="{24D71BFE-6FBB-497A-941C-B6D11F760AF4}"/>
                  </a:ext>
                </a:extLst>
              </p:cNvPr>
              <p:cNvCxnSpPr/>
              <p:nvPr/>
            </p:nvCxnSpPr>
            <p:spPr>
              <a:xfrm>
                <a:off x="6378067" y="4056117"/>
                <a:ext cx="20388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4" name="283 Availability time point"/>
              <p:cNvSpPr/>
              <p:nvPr/>
            </p:nvSpPr>
            <p:spPr>
              <a:xfrm>
                <a:off x="7036308" y="4018787"/>
                <a:ext cx="64008" cy="64008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4" name="矩形: 圆角 573">
                <a:extLst>
                  <a:ext uri="{FF2B5EF4-FFF2-40B4-BE49-F238E27FC236}">
                    <a16:creationId xmlns:a16="http://schemas.microsoft.com/office/drawing/2014/main" id="{4935EA89-AB07-4B7A-A7E1-A902E0C48AA5}"/>
                  </a:ext>
                </a:extLst>
              </p:cNvPr>
              <p:cNvSpPr/>
              <p:nvPr/>
            </p:nvSpPr>
            <p:spPr>
              <a:xfrm>
                <a:off x="6472067" y="4924523"/>
                <a:ext cx="627849" cy="305845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282 Event time point"/>
              <p:cNvSpPr/>
              <p:nvPr/>
            </p:nvSpPr>
            <p:spPr>
              <a:xfrm>
                <a:off x="6496812" y="4018787"/>
                <a:ext cx="64008" cy="64008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6" name="285 Unavailable point"/>
              <p:cNvSpPr/>
              <p:nvPr/>
            </p:nvSpPr>
            <p:spPr>
              <a:xfrm>
                <a:off x="8170164" y="4018787"/>
                <a:ext cx="64008" cy="64008"/>
              </a:xfrm>
              <a:prstGeom prst="ellipse">
                <a:avLst/>
              </a:prstGeom>
              <a:solidFill>
                <a:srgbClr val="E75A4E"/>
              </a:solidFill>
              <a:ln w="635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98" name="Task specific Harness"/>
            <p:cNvGrpSpPr/>
            <p:nvPr/>
          </p:nvGrpSpPr>
          <p:grpSpPr>
            <a:xfrm>
              <a:off x="6414189" y="6268547"/>
              <a:ext cx="3915674" cy="487453"/>
              <a:chOff x="6414189" y="6268547"/>
              <a:chExt cx="3915674" cy="487453"/>
            </a:xfrm>
          </p:grpSpPr>
          <p:cxnSp>
            <p:nvCxnSpPr>
              <p:cNvPr id="545" name="直接箭头连接符 544">
                <a:extLst>
                  <a:ext uri="{FF2B5EF4-FFF2-40B4-BE49-F238E27FC236}">
                    <a16:creationId xmlns:a16="http://schemas.microsoft.com/office/drawing/2014/main" id="{03F7D6E8-7C4F-47E0-AE4F-3A7FCFFEE90D}"/>
                  </a:ext>
                </a:extLst>
              </p:cNvPr>
              <p:cNvCxnSpPr/>
              <p:nvPr/>
            </p:nvCxnSpPr>
            <p:spPr>
              <a:xfrm>
                <a:off x="6414189" y="6756000"/>
                <a:ext cx="60415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1" name="直接箭头连接符 550">
                <a:extLst>
                  <a:ext uri="{FF2B5EF4-FFF2-40B4-BE49-F238E27FC236}">
                    <a16:creationId xmlns:a16="http://schemas.microsoft.com/office/drawing/2014/main" id="{AC6D455E-7248-4106-A401-2D502845B6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16671" y="6382512"/>
                <a:ext cx="2417" cy="3734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4" name="直接箭头连接符 553">
                <a:extLst>
                  <a:ext uri="{FF2B5EF4-FFF2-40B4-BE49-F238E27FC236}">
                    <a16:creationId xmlns:a16="http://schemas.microsoft.com/office/drawing/2014/main" id="{FB080DB7-81EA-4F84-A778-BA5743A219B6}"/>
                  </a:ext>
                </a:extLst>
              </p:cNvPr>
              <p:cNvCxnSpPr/>
              <p:nvPr/>
            </p:nvCxnSpPr>
            <p:spPr>
              <a:xfrm>
                <a:off x="8093075" y="6724381"/>
                <a:ext cx="6028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6" name="直接箭头连接符 555">
                <a:extLst>
                  <a:ext uri="{FF2B5EF4-FFF2-40B4-BE49-F238E27FC236}">
                    <a16:creationId xmlns:a16="http://schemas.microsoft.com/office/drawing/2014/main" id="{DB7824F8-0542-47B8-968A-0197223C1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2249" y="6268547"/>
                <a:ext cx="0" cy="465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8" name="直接箭头连接符 557">
                <a:extLst>
                  <a:ext uri="{FF2B5EF4-FFF2-40B4-BE49-F238E27FC236}">
                    <a16:creationId xmlns:a16="http://schemas.microsoft.com/office/drawing/2014/main" id="{47668DB1-8582-45F2-8A90-4D601EAA918E}"/>
                  </a:ext>
                </a:extLst>
              </p:cNvPr>
              <p:cNvCxnSpPr/>
              <p:nvPr/>
            </p:nvCxnSpPr>
            <p:spPr>
              <a:xfrm>
                <a:off x="9811512" y="6732785"/>
                <a:ext cx="518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0" name="直接箭头连接符 559">
                <a:extLst>
                  <a:ext uri="{FF2B5EF4-FFF2-40B4-BE49-F238E27FC236}">
                    <a16:creationId xmlns:a16="http://schemas.microsoft.com/office/drawing/2014/main" id="{16EBAE67-C009-4033-A23B-FEED7A3A832C}"/>
                  </a:ext>
                </a:extLst>
              </p:cNvPr>
              <p:cNvCxnSpPr/>
              <p:nvPr/>
            </p:nvCxnSpPr>
            <p:spPr>
              <a:xfrm flipV="1">
                <a:off x="9812872" y="6379124"/>
                <a:ext cx="0" cy="3536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9" name="Evaluation"/>
            <p:cNvGrpSpPr/>
            <p:nvPr/>
          </p:nvGrpSpPr>
          <p:grpSpPr>
            <a:xfrm>
              <a:off x="14292072" y="2799588"/>
              <a:ext cx="429769" cy="274384"/>
              <a:chOff x="14292072" y="2799588"/>
              <a:chExt cx="429769" cy="274384"/>
            </a:xfrm>
          </p:grpSpPr>
          <p:cxnSp>
            <p:nvCxnSpPr>
              <p:cNvPr id="562" name="直接箭头连接符 561">
                <a:extLst>
                  <a:ext uri="{FF2B5EF4-FFF2-40B4-BE49-F238E27FC236}">
                    <a16:creationId xmlns:a16="http://schemas.microsoft.com/office/drawing/2014/main" id="{083167DF-19E0-469A-B8E9-551C6ED4BE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92072" y="3073972"/>
                <a:ext cx="4297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4" name="直接箭头连接符 563">
                <a:extLst>
                  <a:ext uri="{FF2B5EF4-FFF2-40B4-BE49-F238E27FC236}">
                    <a16:creationId xmlns:a16="http://schemas.microsoft.com/office/drawing/2014/main" id="{64E30FA0-4FAB-403A-9D7F-16D4881D7A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92072" y="2799588"/>
                <a:ext cx="0" cy="2727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00" name="Temporal Harness"/>
            <p:cNvGrpSpPr/>
            <p:nvPr/>
          </p:nvGrpSpPr>
          <p:grpSpPr>
            <a:xfrm>
              <a:off x="11136189" y="4819158"/>
              <a:ext cx="939596" cy="656781"/>
              <a:chOff x="11136189" y="4819158"/>
              <a:chExt cx="939596" cy="656781"/>
            </a:xfrm>
          </p:grpSpPr>
          <p:pic>
            <p:nvPicPr>
              <p:cNvPr id="566" name="图片 565">
                <a:extLst>
                  <a:ext uri="{FF2B5EF4-FFF2-40B4-BE49-F238E27FC236}">
                    <a16:creationId xmlns:a16="http://schemas.microsoft.com/office/drawing/2014/main" id="{99692B42-4499-4023-B701-9F771E2CF3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68021" t="34642" r="18744" b="37844"/>
              <a:stretch/>
            </p:blipFill>
            <p:spPr>
              <a:xfrm>
                <a:off x="11136189" y="4842449"/>
                <a:ext cx="480873" cy="562632"/>
              </a:xfrm>
              <a:prstGeom prst="rect">
                <a:avLst/>
              </a:prstGeom>
            </p:spPr>
          </p:pic>
          <p:pic>
            <p:nvPicPr>
              <p:cNvPr id="568" name="图片 567">
                <a:extLst>
                  <a:ext uri="{FF2B5EF4-FFF2-40B4-BE49-F238E27FC236}">
                    <a16:creationId xmlns:a16="http://schemas.microsoft.com/office/drawing/2014/main" id="{09152915-3367-4464-9208-4705696BBF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2500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rcRect l="11671" t="63812" r="83219" b="24441"/>
              <a:stretch/>
            </p:blipFill>
            <p:spPr>
              <a:xfrm rot="21268399">
                <a:off x="11694847" y="4819158"/>
                <a:ext cx="380938" cy="656781"/>
              </a:xfrm>
              <a:prstGeom prst="rect">
                <a:avLst/>
              </a:prstGeom>
            </p:spPr>
          </p:pic>
        </p:grpSp>
        <p:cxnSp>
          <p:nvCxnSpPr>
            <p:cNvPr id="572" name="097 now boundary">
              <a:extLst>
                <a:ext uri="{FF2B5EF4-FFF2-40B4-BE49-F238E27FC236}">
                  <a16:creationId xmlns:a16="http://schemas.microsoft.com/office/drawing/2014/main" id="{2A466901-494C-4896-B06F-AF2E5A61F689}"/>
                </a:ext>
              </a:extLst>
            </p:cNvPr>
            <p:cNvCxnSpPr>
              <a:cxnSpLocks/>
            </p:cNvCxnSpPr>
            <p:nvPr/>
          </p:nvCxnSpPr>
          <p:spPr>
            <a:xfrm>
              <a:off x="3934063" y="4112828"/>
              <a:ext cx="0" cy="571500"/>
            </a:xfrm>
            <a:prstGeom prst="line">
              <a:avLst/>
            </a:prstGeom>
            <a:ln w="12700">
              <a:solidFill>
                <a:srgbClr val="10194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1" name="Temporal Harness"/>
            <p:cNvGrpSpPr/>
            <p:nvPr/>
          </p:nvGrpSpPr>
          <p:grpSpPr>
            <a:xfrm>
              <a:off x="6373368" y="4967316"/>
              <a:ext cx="3526972" cy="375018"/>
              <a:chOff x="6373368" y="4967316"/>
              <a:chExt cx="3526972" cy="375018"/>
            </a:xfrm>
          </p:grpSpPr>
          <p:cxnSp>
            <p:nvCxnSpPr>
              <p:cNvPr id="317" name="316 solid history sequence segment 2"/>
              <p:cNvCxnSpPr/>
              <p:nvPr/>
            </p:nvCxnSpPr>
            <p:spPr>
              <a:xfrm>
                <a:off x="6556248" y="5138928"/>
                <a:ext cx="192024" cy="45720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317 solid history sequence segment 3"/>
              <p:cNvCxnSpPr/>
              <p:nvPr/>
            </p:nvCxnSpPr>
            <p:spPr>
              <a:xfrm flipV="1">
                <a:off x="6748272" y="5093208"/>
                <a:ext cx="173736" cy="91440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315 solid history sequence segment 1"/>
              <p:cNvCxnSpPr/>
              <p:nvPr/>
            </p:nvCxnSpPr>
            <p:spPr>
              <a:xfrm flipV="1">
                <a:off x="6373368" y="5138928"/>
                <a:ext cx="182880" cy="54864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318 solid history sequence segment 4"/>
              <p:cNvCxnSpPr/>
              <p:nvPr/>
            </p:nvCxnSpPr>
            <p:spPr>
              <a:xfrm>
                <a:off x="6922008" y="5093208"/>
                <a:ext cx="201168" cy="18288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5" name="矩形: 圆角 574">
                <a:extLst>
                  <a:ext uri="{FF2B5EF4-FFF2-40B4-BE49-F238E27FC236}">
                    <a16:creationId xmlns:a16="http://schemas.microsoft.com/office/drawing/2014/main" id="{CEB09826-750C-4D75-96AB-3B69239BEA1B}"/>
                  </a:ext>
                </a:extLst>
              </p:cNvPr>
              <p:cNvSpPr/>
              <p:nvPr/>
            </p:nvSpPr>
            <p:spPr>
              <a:xfrm>
                <a:off x="9476272" y="4967316"/>
                <a:ext cx="424068" cy="375018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77" name="图片 576">
              <a:extLst>
                <a:ext uri="{FF2B5EF4-FFF2-40B4-BE49-F238E27FC236}">
                  <a16:creationId xmlns:a16="http://schemas.microsoft.com/office/drawing/2014/main" id="{AD3B5CC8-2D6C-4FCD-9362-621680E5B8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l="84772" t="81123" r="8039" b="7776"/>
            <a:stretch/>
          </p:blipFill>
          <p:spPr>
            <a:xfrm>
              <a:off x="4666000" y="7589520"/>
              <a:ext cx="222232" cy="2574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463</Words>
  <Application>Microsoft Office PowerPoint</Application>
  <PresentationFormat>自定义</PresentationFormat>
  <Paragraphs>154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Agents: From General to Specific</dc:title>
  <dc:subject>Final editable survey overview with aligned terminology and evaluation</dc:subject>
  <dc:creator/>
  <cp:keywords/>
  <dc:description>generated using python-pptx</dc:description>
  <cp:lastModifiedBy>沐阳 郑</cp:lastModifiedBy>
  <cp:revision>20</cp:revision>
  <dcterms:created xsi:type="dcterms:W3CDTF">2013-01-27T09:14:16Z</dcterms:created>
  <dcterms:modified xsi:type="dcterms:W3CDTF">2026-10-10T12:19:56Z</dcterms:modified>
  <cp:category/>
</cp:coreProperties>
</file>