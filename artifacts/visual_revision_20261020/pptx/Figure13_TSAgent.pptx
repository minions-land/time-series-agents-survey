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eae6cea2c47ee" /><Relationship Type="http://schemas.openxmlformats.org/officeDocument/2006/relationships/extended-properties" Target="/docProps/app.xml" Id="R75f1288dc0dd44b3" /><Relationship Type="http://schemas.openxmlformats.org/officeDocument/2006/relationships/officeDocument" Target="/ppt/presentation.xml" Id="Rbca4889eb693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b8e096fec4945"/>
  </p:sldMasterIdLst>
  <p:notesMasterIdLst>
    <p:notesMasterId xmlns:r="http://schemas.openxmlformats.org/officeDocument/2006/relationships" r:id="Rac95b4ffa86d4fc9"/>
  </p:notesMasterIdLst>
  <p:sldIdLst>
    <p:sldId xmlns:r="http://schemas.openxmlformats.org/officeDocument/2006/relationships" id="256" r:id="R3d63bb9418734535"/>
  </p:sldIdLst>
  <p:sldSz cx="11430000" cy="5238750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ccec1b7394d8a" /><Relationship Type="http://schemas.openxmlformats.org/officeDocument/2006/relationships/slideMaster" Target="/ppt/slideMasters/slideMaster1.xml" Id="Rc90b8e096fec4945" /><Relationship Type="http://schemas.openxmlformats.org/officeDocument/2006/relationships/notesMaster" Target="/ppt/notesMasters/notesMaster1.xml" Id="Rac95b4ffa86d4fc9" /><Relationship Type="http://schemas.openxmlformats.org/officeDocument/2006/relationships/presProps" Target="/ppt/presProps.xml" Id="R4bf3fbf834c04805" /><Relationship Type="http://schemas.openxmlformats.org/officeDocument/2006/relationships/tableStyles" Target="/ppt/tableStyles.xml" Id="R8262f81ab10f4e83" /><Relationship Type="http://schemas.openxmlformats.org/officeDocument/2006/relationships/slide" Target="/ppt/slides/slide1.xml" Id="R3d63bb941873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54a3ba696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554ffd43f45dd" /><Relationship Type="http://schemas.openxmlformats.org/officeDocument/2006/relationships/notesMaster" Target="/ppt/notesMasters/notesMaster1.xml" Id="R089a467cc8a943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From General to Specific: A Survey of Time-Series Agent Systems, Section 3, checked against the compiled Overleaf PDF on 2026-10-18, https://www.overleaf.com/read/zkcdwvrmxtrf#1c4b51 .</a:t>
            </a:r>
          </a:p>
          <a:p xmlns:a="http://schemas.openxmlformats.org/drawingml/2006/main">
            <a:r>
              <a:t>Columns 3.1 to 3.3 follow the three intervention points and subsection titles of Section 3: the representation presented to the model, the temporal instructions used to train it, and the policy for operating an analytical workflow. They overlap and are not exclusive paper categories.</a:t>
            </a:r>
          </a:p>
          <a:p xmlns:a="http://schemas.openxmlformats.org/drawingml/2006/main">
            <a:r>
              <a:t>Training signal and Harness support rows paraphrase the comparative paragraphs of Sections 3.1 to 3.3. Evaluation criteria and tests follow the evaluation paragraph in Section 3.2.</a:t>
            </a:r>
          </a:p>
          <a:p xmlns:a="http://schemas.openxmlformats.org/drawingml/2006/main">
            <a:r>
              <a:t>Agentic RAG refers to Agentic Retrieval-Augmented Generation for Time Series Analysis and its differentiable prompt pools. Chow et al. refers to Towards Time-Series Reasoning with LLMs. The series encoder stands for the learned input layers of Section 3.1.</a:t>
            </a:r>
          </a:p>
          <a:p xmlns:a="http://schemas.openxmlformats.org/drawingml/2006/main">
            <a:r>
              <a:t>ChatAD appears under 3.3 because the manuscript discusses it there. The figure states its distinct signal, graded preferences on analytical responses, rather than presenting it as tool-action learning.</a:t>
            </a:r>
          </a:p>
          <a:p xmlns:a="http://schemas.openxmlformats.org/drawingml/2006/main">
            <a:r>
              <a:t>The nested Harness follows the paper overview: General Harness contains General Time-Series Harness, which contains Task-Specific Harness. One observation and action exchange serves all three intervention points.</a:t>
            </a:r>
          </a:p>
          <a:p xmlns:a="http://schemas.openxmlformats.org/drawingml/2006/main">
            <a:r>
              <a:t>Original-paper claims were not independently re-audited for this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66cfe7f1b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c8855e508457c" /><Relationship Type="http://schemas.openxmlformats.org/officeDocument/2006/relationships/slideLayout" Target="/ppt/slideLayouts/slideLayout1.xml" Id="R6eba90f0d8e3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a90f0d8e3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8ced19794861" /><Relationship Type="http://schemas.openxmlformats.org/officeDocument/2006/relationships/notesSlide" Target="/ppt/notesSlides/notesSlide1.xml" Id="Rc97623e33cfb478b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388" name="Figure13_TSAgent — ungroup to edit modules"/>
          <p:cNvGrpSpPr/>
          <p:nvPr/>
        </p:nvGrpSpPr>
        <p:grpSpPr>
          <ns1:xfrm xmlns:ns1="http://schemas.openxmlformats.org/drawingml/2006/main">
            <ns1:off x="238125" y="381000"/>
            <ns1:ext cx="11096625" cy="4572000"/>
            <ns1:chOff x="238125" y="381000"/>
            <ns1:chExt cx="11096625" cy="4572000"/>
          </ns1:xfrm>
        </p:grpSpPr>
        <p:sp>
          <p:nvSpPr>
            <p:cNvPr id="10349" name="question and data"/>
            <p:cNvSpPr/>
            <p:nvPr/>
          </p:nvSpPr>
          <p:spPr>
            <ns1:xfrm xmlns:ns1="http://schemas.openxmlformats.org/drawingml/2006/main">
              <ns1:off x="238125" y="381000"/>
              <ns1:ext cx="2619375" cy="3333750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sp>
          <p:nvSpPr>
            <p:cNvPr id="10350" name="Question + series"/>
            <p:cNvSpPr/>
            <p:nvPr/>
          </p:nvSpPr>
          <p:spPr>
            <ns1:xfrm xmlns:ns1="http://schemas.openxmlformats.org/drawingml/2006/main">
              <ns1:off x="333375" y="523875"/>
              <ns1:ext cx="2428875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100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Question + series</ns7:t>
              </ns7:r>
            </ns7:p>
          </p:txBody>
        </p:sp>
        <p:grpSp>
          <p:nvGrpSpPr>
            <p:cNvPr id="10353" name="messages-square editable icon"/>
            <p:cNvGrpSpPr/>
            <p:nvPr/>
          </p:nvGrpSpPr>
          <p:grpSpPr>
            <ns1:xfrm xmlns:ns1="http://schemas.openxmlformats.org/drawingml/2006/main">
              <ns1:off x="666750" y="1200150"/>
              <ns1:ext cx="590550" cy="590550"/>
              <ns1:chOff x="666750" y="1200150"/>
              <ns1:chExt cx="590550" cy="590550"/>
            </ns1:xfrm>
          </p:grpSpPr>
          <p:sp>
            <p:nvSpPr>
              <p:cNvPr id="10351" name="messages-square-0"/>
              <p:cNvSpPr/>
              <p:nvPr/>
            </p:nvSpPr>
            <p:spPr>
              <ns1:xfrm xmlns:ns1="http://schemas.openxmlformats.org/drawingml/2006/main">
                <ns1:off x="666750" y="1200150"/>
                <ns1:ext cx="590550" cy="5905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0000"/>
                    </ns2:moveTo>
                    <ns2:cubicBezTo>
                      <ns2:pt x="16000" y="11105"/>
                      <ns2:pt x="15105" y="12000"/>
                      <ns2:pt x="14000" y="12000"/>
                    </ns2:cubicBezTo>
                    <ns2:lnTo>
                      <ns2:pt x="6828" y="12000"/>
                    </ns2:lnTo>
                    <ns2:cubicBezTo>
                      <ns2:pt x="6298" y="12000"/>
                      <ns2:pt x="5789" y="12211"/>
                      <ns2:pt x="5414" y="12586"/>
                    </ns2:cubicBezTo>
                    <ns2:lnTo>
                      <ns2:pt x="3212" y="14788"/>
                    </ns2:lnTo>
                    <ns2:cubicBezTo>
                      <ns2:pt x="3009" y="14991"/>
                      <ns2:pt x="2704" y="15052"/>
                      <ns2:pt x="2438" y="14942"/>
                    </ns2:cubicBezTo>
                    <ns2:cubicBezTo>
                      <ns2:pt x="2173" y="14832"/>
                      <ns2:pt x="2000" y="14573"/>
                      <ns2:pt x="2000" y="14286"/>
                    </ns2:cubicBezTo>
                    <ns2:lnTo>
                      <ns2:pt x="2000" y="4000"/>
                    </ns2:lnTo>
                    <ns2:cubicBezTo>
                      <ns2:pt x="2000" y="2895"/>
                      <ns2:pt x="2895" y="2000"/>
                      <ns2:pt x="4000" y="2000"/>
                    </ns2:cubicBezTo>
                    <ns2:lnTo>
                      <ns2:pt x="14000" y="2000"/>
                    </ns2:lnTo>
                    <ns2:cubicBezTo>
                      <ns2:pt x="15105" y="2000"/>
                      <ns2:pt x="16000" y="2895"/>
                      <ns2:pt x="16000" y="4000"/>
                    </ns2:cubicBezTo>
                    <ns2:lnTo>
                      <ns2:pt x="16000" y="10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36909" cap="rnd">
                <ns4:solidFill>
                  <ns4:srgbClr val="3376A0"/>
                </ns4:solidFill>
              </ns4:ln>
            </p:spPr>
          </p:sp>
          <p:sp>
            <p:nvSpPr>
              <p:cNvPr id="10352" name="messages-square-1"/>
              <p:cNvSpPr/>
              <p:nvPr/>
            </p:nvSpPr>
            <p:spPr>
              <ns1:xfrm xmlns:ns1="http://schemas.openxmlformats.org/drawingml/2006/main">
                <ns1:off x="666750" y="1200150"/>
                <ns1:ext cx="590550" cy="5905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9000"/>
                    </ns2:moveTo>
                    <ns2:cubicBezTo>
                      <ns2:pt x="21105" y="9000"/>
                      <ns2:pt x="22000" y="9895"/>
                      <ns2:pt x="22000" y="11000"/>
                    </ns2:cubicBezTo>
                    <ns2:lnTo>
                      <ns2:pt x="22000" y="21286"/>
                    </ns2:lnTo>
                    <ns2:cubicBezTo>
                      <ns2:pt x="22000" y="21573"/>
                      <ns2:pt x="21827" y="21832"/>
                      <ns2:pt x="21562" y="21942"/>
                    </ns2:cubicBezTo>
                    <ns2:cubicBezTo>
                      <ns2:pt x="21296" y="22052"/>
                      <ns2:pt x="20991" y="21991"/>
                      <ns2:pt x="20788" y="21788"/>
                    </ns2:cubicBezTo>
                    <ns2:lnTo>
                      <ns2:pt x="18586" y="19586"/>
                    </ns2:lnTo>
                    <ns2:cubicBezTo>
                      <ns2:pt x="18211" y="19211"/>
                      <ns2:pt x="17702" y="19000"/>
                      <ns2:pt x="17172" y="19000"/>
                    </ns2:cubicBezTo>
                    <ns2:lnTo>
                      <ns2:pt x="10000" y="19000"/>
                    </ns2:lnTo>
                    <ns2:cubicBezTo>
                      <ns2:pt x="8895" y="19000"/>
                      <ns2:pt x="8000" y="18105"/>
                      <ns2:pt x="8000" y="17000"/>
                    </ns2:cubicBezTo>
                    <ns2:lnTo>
                      <ns2:pt x="8000" y="16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6909" cap="rnd">
                <ns4:solidFill>
                  <ns4:srgbClr val="3376A0"/>
                </ns4:solidFill>
              </ns4:ln>
            </p:spPr>
          </p:sp>
        </p:grpSp>
        <p:sp>
          <p:nvSpPr>
            <p:cNvPr id="10354" name="temporal signal"/>
            <p:cNvSpPr/>
            <p:nvPr/>
          </p:nvSpPr>
          <p:spPr>
            <ns1:xfrm xmlns:ns1="http://schemas.openxmlformats.org/drawingml/2006/main">
              <ns1:off x="571500" y="2286216"/>
              <ns1:ext cx="1905000" cy="407354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00000" h="42767" fill="none">
                  <ns2:moveTo>
                    <ns2:pt x="0" y="29977"/>
                  </ns2:moveTo>
                  <ns2:lnTo>
                    <ns2:pt x="16667" y="42767"/>
                  </ns2:lnTo>
                  <ns2:lnTo>
                    <ns2:pt x="33333" y="10349"/>
                  </ns2:lnTo>
                  <ns2:lnTo>
                    <ns2:pt x="50000" y="31140"/>
                  </ns2:lnTo>
                  <ns2:lnTo>
                    <ns2:pt x="66667" y="34512"/>
                  </ns2:lnTo>
                  <ns2:lnTo>
                    <ns2:pt x="83333" y="5177"/>
                  </ns2:lnTo>
                  <ns2:lnTo>
                    <ns2:pt x="100000" y="31758"/>
                  </ns2:lnTo>
                  <ns2:lnTo>
                    <ns2:pt x="116667" y="25232"/>
                  </ns2:lnTo>
                  <ns2:lnTo>
                    <ns2:pt x="133333" y="1758"/>
                  </ns2:lnTo>
                  <ns2:lnTo>
                    <ns2:pt x="150000" y="31338"/>
                  </ns2:lnTo>
                  <ns2:lnTo>
                    <ns2:pt x="166667" y="15422"/>
                  </ns2:lnTo>
                  <ns2:lnTo>
                    <ns2:pt x="183333" y="0"/>
                  </ns2:lnTo>
                  <ns2:lnTo>
                    <ns2:pt x="200000" y="29493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3376A0"/>
              </ns4:solidFill>
            </ns4:ln>
          </p:spPr>
        </p:sp>
        <p:sp>
          <p:nvSpPr>
            <p:cNvPr id="10355" name="Temporal observations"/>
            <p:cNvSpPr/>
            <p:nvPr/>
          </p:nvSpPr>
          <p:spPr>
            <ns1:xfrm xmlns:ns1="http://schemas.openxmlformats.org/drawingml/2006/main">
              <ns1:off x="333375" y="3124200"/>
              <ns1:ext cx="2428875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Temporal observations</ns7:t>
              </ns7:r>
            </ns7:p>
          </p:txBody>
        </p:sp>
        <p:sp>
          <p:nvSpPr>
            <p:cNvPr id="10356" name="analysis loop"/>
            <p:cNvSpPr/>
            <p:nvPr/>
          </p:nvSpPr>
          <p:spPr>
            <ns1:xfrm xmlns:ns1="http://schemas.openxmlformats.org/drawingml/2006/main">
              <ns1:off x="3238500" y="381000"/>
              <ns1:ext cx="4953000" cy="3333750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sp>
          <p:nvSpPr>
            <p:cNvPr id="10357" name="Analytical loop"/>
            <p:cNvSpPr/>
            <p:nvPr/>
          </p:nvSpPr>
          <p:spPr>
            <ns1:xfrm xmlns:ns1="http://schemas.openxmlformats.org/drawingml/2006/main">
              <ns1:off x="3810000" y="523875"/>
              <ns1:ext cx="381000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100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Analytical loop</ns7:t>
              </ns7:r>
            </ns7:p>
          </p:txBody>
        </p:sp>
        <p:grpSp>
          <p:nvGrpSpPr>
            <p:cNvPr id="10359" name="wrench editable icon"/>
            <p:cNvGrpSpPr/>
            <p:nvPr/>
          </p:nvGrpSpPr>
          <p:grpSpPr>
            <ns1:xfrm xmlns:ns1="http://schemas.openxmlformats.org/drawingml/2006/main">
              <ns1:off x="3762375" y="1285875"/>
              <ns1:ext cx="619125" cy="619125"/>
              <ns1:chOff x="3762375" y="1285875"/>
              <ns1:chExt cx="619125" cy="619125"/>
            </ns1:xfrm>
          </p:grpSpPr>
          <p:sp>
            <p:nvSpPr>
              <p:cNvPr id="10358" name="wrench-0"/>
              <p:cNvSpPr/>
              <p:nvPr/>
            </p:nvSpPr>
            <p:spPr>
              <ns1:xfrm xmlns:ns1="http://schemas.openxmlformats.org/drawingml/2006/main">
                <ns1:off x="3762375" y="12858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700" y="6300"/>
                    </ns2:moveTo>
                    <ns2:cubicBezTo>
                      <ns2:pt x="14319" y="6689"/>
                      <ns2:pt x="14319" y="7311"/>
                      <ns2:pt x="14700" y="7700"/>
                    </ns2:cubicBezTo>
                    <ns2:lnTo>
                      <ns2:pt x="16300" y="9300"/>
                    </ns2:lnTo>
                    <ns2:cubicBezTo>
                      <ns2:pt x="16689" y="9681"/>
                      <ns2:pt x="17311" y="9681"/>
                      <ns2:pt x="17700" y="9300"/>
                    </ns2:cubicBezTo>
                    <ns2:lnTo>
                      <ns2:pt x="20806" y="6195"/>
                    </ns2:lnTo>
                    <ns2:cubicBezTo>
                      <ns2:pt x="21126" y="5873"/>
                      <ns2:pt x="21669" y="5975"/>
                      <ns2:pt x="21789" y="6413"/>
                    </ns2:cubicBezTo>
                    <ns2:cubicBezTo>
                      <ns2:pt x="22406" y="8656"/>
                      <ns2:pt x="21670" y="11054"/>
                      <ns2:pt x="19901" y="12565"/>
                    </ns2:cubicBezTo>
                    <ns2:cubicBezTo>
                      <ns2:pt x="18133" y="14077"/>
                      <ns2:pt x="15650" y="14429"/>
                      <ns2:pt x="13530" y="13470"/>
                    </ns2:cubicBezTo>
                    <ns2:lnTo>
                      <ns2:pt x="5620" y="21380"/>
                    </ns2:lnTo>
                    <ns2:cubicBezTo>
                      <ns2:pt x="4792" y="22208"/>
                      <ns2:pt x="3449" y="22208"/>
                      <ns2:pt x="2620" y="21380"/>
                    </ns2:cubicBezTo>
                    <ns2:cubicBezTo>
                      <ns2:pt x="1792" y="20551"/>
                      <ns2:pt x="1793" y="19208"/>
                      <ns2:pt x="2621" y="18380"/>
                    </ns2:cubicBezTo>
                    <ns2:lnTo>
                      <ns2:pt x="10531" y="10470"/>
                    </ns2:lnTo>
                    <ns2:cubicBezTo>
                      <ns2:pt x="9572" y="8350"/>
                      <ns2:pt x="9924" y="5867"/>
                      <ns2:pt x="11436" y="4099"/>
                    </ns2:cubicBezTo>
                    <ns2:cubicBezTo>
                      <ns2:pt x="12947" y="2330"/>
                      <ns2:pt x="15345" y="1594"/>
                      <ns2:pt x="17588" y="2211"/>
                    </ns2:cubicBezTo>
                    <ns2:cubicBezTo>
                      <ns2:pt x="18026" y="2331"/>
                      <ns2:pt x="18128" y="2873"/>
                      <ns2:pt x="17807" y="3195"/>
                    </ns2:cubicBezTo>
                    <ns2:lnTo>
                      <ns2:pt x="14700" y="63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</p:grpSp>
        <p:grpSp>
          <p:nvGrpSpPr>
            <p:cNvPr id="10366" name="bot editable icon"/>
            <p:cNvGrpSpPr/>
            <p:nvPr/>
          </p:nvGrpSpPr>
          <p:grpSpPr>
            <ns1:xfrm xmlns:ns1="http://schemas.openxmlformats.org/drawingml/2006/main">
              <ns1:off x="6553200" y="1285875"/>
              <ns1:ext cx="619125" cy="619125"/>
              <ns1:chOff x="6553200" y="1285875"/>
              <ns1:chExt cx="619125" cy="619125"/>
            </ns1:xfrm>
          </p:grpSpPr>
          <p:sp>
            <p:nvSpPr>
              <p:cNvPr id="10360" name="bot-0"/>
              <p:cNvSpPr/>
              <p:nvPr/>
            </p:nvSpPr>
            <p:spPr>
              <ns1:xfrm xmlns:ns1="http://schemas.openxmlformats.org/drawingml/2006/main">
                <ns1:off x="6553200" y="12858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8000"/>
                    </ns2:moveTo>
                    <ns2:lnTo>
                      <ns2:pt x="12000" y="4000"/>
                    </ns2:lnTo>
                    <ns2:lnTo>
                      <ns2:pt x="8000" y="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9846C"/>
                </ns4:solidFill>
              </ns4:ln>
            </p:spPr>
          </p:sp>
          <p:sp>
            <p:nvSpPr>
              <p:cNvPr id="10361" name="bot-1"/>
              <p:cNvSpPr/>
              <p:nvPr/>
            </p:nvSpPr>
            <p:spPr>
              <ns1:xfrm xmlns:ns1="http://schemas.openxmlformats.org/drawingml/2006/main">
                <ns1:off x="6656388" y="1492250"/>
                <ns1:ext cx="412750" cy="309562"/>
              </ns1:xfrm>
              <ns2:prstGeom xmlns:ns2="http://schemas.openxmlformats.org/drawingml/2006/main" prst="roundRect">
                <ns2:avLst/>
              </ns2:prstGeom>
              <ns3:noFill xmlns:ns3="http://schemas.openxmlformats.org/drawingml/2006/main"/>
              <ns5:ln xmlns:ns5="http://schemas.openxmlformats.org/drawingml/2006/main" w="38695" cap="rnd">
                <ns5:solidFill>
                  <ns5:srgbClr val="39846C"/>
                </ns5:solidFill>
              </ns5:ln>
            </p:spPr>
          </p:sp>
          <p:sp>
            <p:nvSpPr>
              <p:cNvPr id="10362" name="bot-2"/>
              <p:cNvSpPr/>
              <p:nvPr/>
            </p:nvSpPr>
            <p:spPr>
              <ns1:xfrm xmlns:ns1="http://schemas.openxmlformats.org/drawingml/2006/main">
                <ns1:off x="6553200" y="12858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4000"/>
                    </ns2:moveTo>
                    <ns2:lnTo>
                      <ns2:pt x="4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9846C"/>
                </ns4:solidFill>
              </ns4:ln>
            </p:spPr>
          </p:sp>
          <p:sp>
            <p:nvSpPr>
              <p:cNvPr id="10363" name="bot-3"/>
              <p:cNvSpPr/>
              <p:nvPr/>
            </p:nvSpPr>
            <p:spPr>
              <ns1:xfrm xmlns:ns1="http://schemas.openxmlformats.org/drawingml/2006/main">
                <ns1:off x="6553200" y="12858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4000"/>
                    </ns2:moveTo>
                    <ns2:lnTo>
                      <ns2:pt x="22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9846C"/>
                </ns4:solidFill>
              </ns4:ln>
            </p:spPr>
          </p:sp>
          <p:sp>
            <p:nvSpPr>
              <p:cNvPr id="10364" name="bot-4"/>
              <p:cNvSpPr/>
              <p:nvPr/>
            </p:nvSpPr>
            <p:spPr>
              <ns1:xfrm xmlns:ns1="http://schemas.openxmlformats.org/drawingml/2006/main">
                <ns1:off x="6553200" y="12858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5000" y="13000"/>
                    </ns2:moveTo>
                    <ns2:lnTo>
                      <ns2:pt x="15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9846C"/>
                </ns4:solidFill>
              </ns4:ln>
            </p:spPr>
          </p:sp>
          <p:sp>
            <p:nvSpPr>
              <p:cNvPr id="10365" name="bot-5"/>
              <p:cNvSpPr/>
              <p:nvPr/>
            </p:nvSpPr>
            <p:spPr>
              <ns1:xfrm xmlns:ns1="http://schemas.openxmlformats.org/drawingml/2006/main">
                <ns1:off x="6553200" y="12858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9000" y="13000"/>
                    </ns2:moveTo>
                    <ns2:lnTo>
                      <ns2:pt x="9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9846C"/>
                </ns4:solidFill>
              </ns4:ln>
            </p:spPr>
          </p:sp>
        </p:grpSp>
        <p:sp>
          <p:nvSpPr>
            <p:cNvPr id="10367" name="flow"/>
            <p:cNvSpPr/>
            <p:nvPr/>
          </p:nvSpPr>
          <p:spPr>
            <ns1:xfrm xmlns:ns1="http://schemas.openxmlformats.org/drawingml/2006/main">
              <ns1:off x="4619625" y="1590675"/>
              <ns1:ext cx="1666875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75000" h="1000" fill="none">
                  <ns2:moveTo>
                    <ns2:pt x="0" y="0"/>
                  </ns2:moveTo>
                  <ns2:lnTo>
                    <ns2:pt x="175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368" name="Numerical tools"/>
            <p:cNvSpPr/>
            <p:nvPr/>
          </p:nvSpPr>
          <p:spPr>
            <ns1:xfrm xmlns:ns1="http://schemas.openxmlformats.org/drawingml/2006/main">
              <ns1:off x="3429000" y="2095500"/>
              <ns1:ext cx="180975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7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Numerical tools</ns7:t>
              </ns7:r>
            </ns7:p>
          </p:txBody>
        </p:sp>
        <p:sp>
          <p:nvSpPr>
            <p:cNvPr id="10369" name="LLM critic"/>
            <p:cNvSpPr/>
            <p:nvPr/>
          </p:nvSpPr>
          <p:spPr>
            <ns1:xfrm xmlns:ns1="http://schemas.openxmlformats.org/drawingml/2006/main">
              <ns1:off x="6048375" y="2095500"/>
              <ns1:ext cx="180975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7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LLM critic</ns7:t>
              </ns7:r>
            </ns7:p>
          </p:txBody>
        </p:sp>
        <p:sp>
          <p:nvSpPr>
            <p:cNvPr id="10370" name="revise"/>
            <p:cNvSpPr/>
            <p:nvPr/>
          </p:nvSpPr>
          <p:spPr>
            <ns1:xfrm xmlns:ns1="http://schemas.openxmlformats.org/drawingml/2006/main">
              <ns1:off x="4067175" y="2505075"/>
              <ns1:ext cx="2838450" cy="44767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98000" h="47000" fill="none">
                  <ns2:moveTo>
                    <ns2:pt x="298000" y="0"/>
                  </ns2:moveTo>
                  <ns2:lnTo>
                    <ns2:pt x="298000" y="47000"/>
                  </ns2:lnTo>
                  <ns2:lnTo>
                    <ns2:pt x="0" y="47000"/>
                  </ns2:lnTo>
                  <ns2:lnTo>
                    <ns2:pt x="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1908" cap="rnd">
              <ns4:solidFill>
                <ns4:srgbClr val="39846C"/>
              </ns4:solidFill>
              <ns4:tailEnd type="triangle"/>
            </ns4:ln>
          </p:spPr>
        </p:sp>
        <p:sp>
          <p:nvSpPr>
            <p:cNvPr id="10371" name="Check and revise"/>
            <p:cNvSpPr/>
            <p:nvPr/>
          </p:nvSpPr>
          <p:spPr>
            <ns1:xfrm xmlns:ns1="http://schemas.openxmlformats.org/drawingml/2006/main">
              <ns1:off x="4381500" y="3048000"/>
              <ns1:ext cx="2381250" cy="31432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0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Check and revise</ns7:t>
              </ns7:r>
            </ns7:p>
          </p:txBody>
        </p:sp>
        <p:sp>
          <p:nvSpPr>
            <p:cNvPr id="10372" name="flow"/>
            <p:cNvSpPr/>
            <p:nvPr/>
          </p:nvSpPr>
          <p:spPr>
            <ns1:xfrm xmlns:ns1="http://schemas.openxmlformats.org/drawingml/2006/main">
              <ns1:off x="2886075" y="1743075"/>
              <ns1:ext cx="314325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33000" h="1000" fill="none">
                  <ns2:moveTo>
                    <ns2:pt x="0" y="0"/>
                  </ns2:moveTo>
                  <ns2:lnTo>
                    <ns2:pt x="33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373" name="flow"/>
            <p:cNvSpPr/>
            <p:nvPr/>
          </p:nvSpPr>
          <p:spPr>
            <ns1:xfrm xmlns:ns1="http://schemas.openxmlformats.org/drawingml/2006/main">
              <ns1:off x="8239125" y="1743075"/>
              <ns1:ext cx="485775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51000" h="1000" fill="none">
                  <ns2:moveTo>
                    <ns2:pt x="0" y="0"/>
                  </ns2:moveTo>
                  <ns2:lnTo>
                    <ns2:pt x="51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47788"/>
              </ns4:solidFill>
              <ns4:tailEnd type="triangle"/>
            </ns4:ln>
          </p:spPr>
        </p:sp>
        <p:grpSp>
          <p:nvGrpSpPr>
            <p:cNvPr id="10379" name="file-text editable icon"/>
            <p:cNvGrpSpPr/>
            <p:nvPr/>
          </p:nvGrpSpPr>
          <p:grpSpPr>
            <ns1:xfrm xmlns:ns1="http://schemas.openxmlformats.org/drawingml/2006/main">
              <ns1:off x="9477375" y="1247775"/>
              <ns1:ext cx="723900" cy="723900"/>
              <ns1:chOff x="9477375" y="1247775"/>
              <ns1:chExt cx="723900" cy="723900"/>
            </ns1:xfrm>
          </p:grpSpPr>
          <p:sp>
            <p:nvSpPr>
              <p:cNvPr id="10374" name="file-text-0"/>
              <p:cNvSpPr/>
              <p:nvPr/>
            </p:nvSpPr>
            <p:spPr>
              <ns1:xfrm xmlns:ns1="http://schemas.openxmlformats.org/drawingml/2006/main">
                <ns1:off x="9477375" y="1247775"/>
                <ns1:ext cx="723900" cy="7239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6000" y="22000"/>
                    </ns2:moveTo>
                    <ns2:cubicBezTo>
                      <ns2:pt x="4895" y="22000"/>
                      <ns2:pt x="4000" y="21105"/>
                      <ns2:pt x="4000" y="20000"/>
                    </ns2:cubicBezTo>
                    <ns2:lnTo>
                      <ns2:pt x="4000" y="4000"/>
                    </ns2:lnTo>
                    <ns2:cubicBezTo>
                      <ns2:pt x="4000" y="2895"/>
                      <ns2:pt x="4895" y="2000"/>
                      <ns2:pt x="6000" y="2000"/>
                    </ns2:cubicBezTo>
                    <ns2:lnTo>
                      <ns2:pt x="14000" y="2000"/>
                    </ns2:lnTo>
                    <ns2:cubicBezTo>
                      <ns2:pt x="14639" y="1999"/>
                      <ns2:pt x="15253" y="2253"/>
                      <ns2:pt x="15704" y="2706"/>
                    </ns2:cubicBezTo>
                    <ns2:lnTo>
                      <ns2:pt x="19292" y="6294"/>
                    </ns2:lnTo>
                    <ns2:cubicBezTo>
                      <ns2:pt x="19746" y="6745"/>
                      <ns2:pt x="20001" y="7360"/>
                      <ns2:pt x="20000" y="8000"/>
                    </ns2:cubicBezTo>
                    <ns2:lnTo>
                      <ns2:pt x="20000" y="20000"/>
                    </ns2:lnTo>
                    <ns2:cubicBezTo>
                      <ns2:pt x="20000" y="21105"/>
                      <ns2:pt x="19105" y="22000"/>
                      <ns2:pt x="18000" y="22000"/>
                    </ns2:cubicBezTo>
                    <ns2:lnTo>
                      <ns2:pt x="6000" y="22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45244" cap="rnd">
                <ns4:solidFill>
                  <ns4:srgbClr val="B47A31"/>
                </ns4:solidFill>
              </ns4:ln>
            </p:spPr>
          </p:sp>
          <p:sp>
            <p:nvSpPr>
              <p:cNvPr id="10375" name="file-text-1"/>
              <p:cNvSpPr/>
              <p:nvPr/>
            </p:nvSpPr>
            <p:spPr>
              <ns1:xfrm xmlns:ns1="http://schemas.openxmlformats.org/drawingml/2006/main">
                <ns1:off x="9477375" y="1247775"/>
                <ns1:ext cx="723900" cy="7239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000" y="2000"/>
                    </ns2:moveTo>
                    <ns2:lnTo>
                      <ns2:pt x="14000" y="7000"/>
                    </ns2:lnTo>
                    <ns2:cubicBezTo>
                      <ns2:pt x="14000" y="7552"/>
                      <ns2:pt x="14448" y="8000"/>
                      <ns2:pt x="15000" y="8000"/>
                    </ns2:cubicBezTo>
                    <ns2:lnTo>
                      <ns2:pt x="20000" y="8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5244" cap="rnd">
                <ns4:solidFill>
                  <ns4:srgbClr val="B47A31"/>
                </ns4:solidFill>
              </ns4:ln>
            </p:spPr>
          </p:sp>
          <p:sp>
            <p:nvSpPr>
              <p:cNvPr id="10376" name="file-text-2"/>
              <p:cNvSpPr/>
              <p:nvPr/>
            </p:nvSpPr>
            <p:spPr>
              <ns1:xfrm xmlns:ns1="http://schemas.openxmlformats.org/drawingml/2006/main">
                <ns1:off x="9477375" y="1247775"/>
                <ns1:ext cx="723900" cy="7239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0000" y="9000"/>
                    </ns2:moveTo>
                    <ns2:lnTo>
                      <ns2:pt x="8000" y="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5244" cap="rnd">
                <ns4:solidFill>
                  <ns4:srgbClr val="B47A31"/>
                </ns4:solidFill>
              </ns4:ln>
            </p:spPr>
          </p:sp>
          <p:sp>
            <p:nvSpPr>
              <p:cNvPr id="10377" name="file-text-3"/>
              <p:cNvSpPr/>
              <p:nvPr/>
            </p:nvSpPr>
            <p:spPr>
              <ns1:xfrm xmlns:ns1="http://schemas.openxmlformats.org/drawingml/2006/main">
                <ns1:off x="9477375" y="1247775"/>
                <ns1:ext cx="723900" cy="7239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3000"/>
                    </ns2:moveTo>
                    <ns2:lnTo>
                      <ns2:pt x="8000" y="1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5244" cap="rnd">
                <ns4:solidFill>
                  <ns4:srgbClr val="B47A31"/>
                </ns4:solidFill>
              </ns4:ln>
            </p:spPr>
          </p:sp>
          <p:sp>
            <p:nvSpPr>
              <p:cNvPr id="10378" name="file-text-4"/>
              <p:cNvSpPr/>
              <p:nvPr/>
            </p:nvSpPr>
            <p:spPr>
              <ns1:xfrm xmlns:ns1="http://schemas.openxmlformats.org/drawingml/2006/main">
                <ns1:off x="9477375" y="1247775"/>
                <ns1:ext cx="723900" cy="7239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7000"/>
                    </ns2:moveTo>
                    <ns2:lnTo>
                      <ns2:pt x="8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5244" cap="rnd">
                <ns4:solidFill>
                  <ns4:srgbClr val="B47A31"/>
                </ns4:solidFill>
              </ns4:ln>
            </p:spPr>
          </p:sp>
        </p:grpSp>
        <p:sp>
          <p:nvSpPr>
            <p:cNvPr id="10380" name="Final response"/>
            <p:cNvSpPr/>
            <p:nvPr/>
          </p:nvSpPr>
          <p:spPr>
            <ns1:xfrm xmlns:ns1="http://schemas.openxmlformats.org/drawingml/2006/main">
              <ns1:off x="8743950" y="2219325"/>
              <ns1:ext cx="247650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B47A31"/>
                  </ns7:solidFill>
                  <ns7:latin typeface="Times New Roman"/>
                  <ns7:ea typeface="Times New Roman"/>
                </ns7:rPr>
                <ns7:t>Final response</ns7:t>
              </ns7:r>
            </ns7:p>
          </p:txBody>
        </p:sp>
        <p:sp>
          <p:nvSpPr>
            <p:cNvPr id="10381" name="Claims tied to evidence"/>
            <p:cNvSpPr/>
            <p:nvPr/>
          </p:nvSpPr>
          <p:spPr>
            <ns1:xfrm xmlns:ns1="http://schemas.openxmlformats.org/drawingml/2006/main">
              <ns1:off x="8572500" y="2667000"/>
              <ns1:ext cx="2762250" cy="42862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Claims tied to evidence</ns7:t>
              </ns7:r>
            </ns7:p>
          </p:txBody>
        </p:sp>
        <p:grpSp>
          <p:nvGrpSpPr>
            <p:cNvPr id="10384" name="book-open editable icon"/>
            <p:cNvGrpSpPr/>
            <p:nvPr/>
          </p:nvGrpSpPr>
          <p:grpSpPr>
            <ns1:xfrm xmlns:ns1="http://schemas.openxmlformats.org/drawingml/2006/main">
              <ns1:off x="2095500" y="4333875"/>
              <ns1:ext cx="619125" cy="619125"/>
              <ns1:chOff x="2095500" y="4333875"/>
              <ns1:chExt cx="619125" cy="619125"/>
            </ns1:xfrm>
          </p:grpSpPr>
          <p:sp>
            <p:nvSpPr>
              <p:cNvPr id="10382" name="book-open-0"/>
              <p:cNvSpPr/>
              <p:nvPr/>
            </p:nvSpPr>
            <p:spPr>
              <ns1:xfrm xmlns:ns1="http://schemas.openxmlformats.org/drawingml/2006/main">
                <ns1:off x="2095500" y="43338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5000"/>
                    </ns2:moveTo>
                    <ns2:lnTo>
                      <ns2:pt x="12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376A0"/>
                </ns4:solidFill>
              </ns4:ln>
            </p:spPr>
          </p:sp>
          <p:sp>
            <p:nvSpPr>
              <p:cNvPr id="10383" name="book-open-1"/>
              <p:cNvSpPr/>
              <p:nvPr/>
            </p:nvSpPr>
            <p:spPr>
              <ns1:xfrm xmlns:ns1="http://schemas.openxmlformats.org/drawingml/2006/main">
                <ns1:off x="2095500" y="433387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1" y="19000"/>
                    </ns2:moveTo>
                    <ns2:cubicBezTo>
                      <ns2:pt x="21105" y="18999"/>
                      <ns2:pt x="22000" y="18104"/>
                      <ns2:pt x="22000" y="17000"/>
                    </ns2:cubicBezTo>
                    <ns2:lnTo>
                      <ns2:pt x="22000" y="5000"/>
                    </ns2:lnTo>
                    <ns2:cubicBezTo>
                      <ns2:pt x="22000" y="3896"/>
                      <ns2:pt x="21105" y="3001"/>
                      <ns2:pt x="20001" y="3000"/>
                    </ns2:cubicBezTo>
                    <ns2:lnTo>
                      <ns2:pt x="16000" y="3002"/>
                    </ns2:lnTo>
                    <ns2:cubicBezTo>
                      <ns2:pt x="14427" y="3002"/>
                      <ns2:pt x="12945" y="3742"/>
                      <ns2:pt x="12000" y="5000"/>
                    </ns2:cubicBezTo>
                    <ns2:cubicBezTo>
                      <ns2:pt x="11056" y="3741"/>
                      <ns2:pt x="9574" y="3000"/>
                      <ns2:pt x="8000" y="3000"/>
                    </ns2:cubicBezTo>
                    <ns2:lnTo>
                      <ns2:pt x="4000" y="3000"/>
                    </ns2:lnTo>
                    <ns2:cubicBezTo>
                      <ns2:pt x="2895" y="3000"/>
                      <ns2:pt x="2000" y="3895"/>
                      <ns2:pt x="2000" y="5000"/>
                    </ns2:cubicBezTo>
                    <ns2:lnTo>
                      <ns2:pt x="2000" y="17000"/>
                    </ns2:lnTo>
                    <ns2:cubicBezTo>
                      <ns2:pt x="2000" y="18104"/>
                      <ns2:pt x="2895" y="18999"/>
                      <ns2:pt x="3999" y="19000"/>
                    </ns2:cubicBezTo>
                    <ns2:lnTo>
                      <ns2:pt x="8000" y="19000"/>
                    </ns2:lnTo>
                    <ns2:cubicBezTo>
                      <ns2:pt x="9574" y="19000"/>
                      <ns2:pt x="11056" y="19741"/>
                      <ns2:pt x="12000" y="21000"/>
                    </ns2:cubicBezTo>
                    <ns2:cubicBezTo>
                      <ns2:pt x="12944" y="19741"/>
                      <ns2:pt x="14426" y="19000"/>
                      <ns2:pt x="16000" y="19000"/>
                    </ns2:cubicBezTo>
                    <ns2:lnTo>
                      <ns2:pt x="20001" y="19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376A0"/>
                </ns4:solidFill>
              </ns4:ln>
            </p:spPr>
          </p:sp>
        </p:grpSp>
        <p:sp>
          <p:nvSpPr>
            <p:cNvPr id="10385" name="Evidence log"/>
            <p:cNvSpPr/>
            <p:nvPr/>
          </p:nvSpPr>
          <p:spPr>
            <ns1:xfrm xmlns:ns1="http://schemas.openxmlformats.org/drawingml/2006/main">
              <ns1:off x="3048000" y="4143375"/>
              <ns1:ext cx="219075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950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Evidence log</ns7:t>
              </ns7:r>
            </ns7:p>
          </p:txBody>
        </p:sp>
        <p:sp>
          <p:nvSpPr>
            <p:cNvPr id="10386" name="Tool results and provenance"/>
            <p:cNvSpPr/>
            <p:nvPr/>
          </p:nvSpPr>
          <p:spPr>
            <ns1:xfrm xmlns:ns1="http://schemas.openxmlformats.org/drawingml/2006/main">
              <ns1:off x="3048000" y="4562475"/>
              <ns1:ext cx="42862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Tool results and provenance</ns7:t>
              </ns7:r>
            </ns7:p>
          </p:txBody>
        </p:sp>
        <p:sp>
          <p:nvSpPr>
            <p:cNvPr id="10387" name="record observations"/>
            <p:cNvSpPr/>
            <p:nvPr/>
          </p:nvSpPr>
          <p:spPr>
            <ns1:xfrm xmlns:ns1="http://schemas.openxmlformats.org/drawingml/2006/main">
              <ns1:off x="4953000" y="3762375"/>
              <ns1:ext cx="762000" cy="28575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80000" h="30000" fill="none">
                  <ns2:moveTo>
                    <ns2:pt x="80000" y="0"/>
                  </ns2:moveTo>
                  <ns2:lnTo>
                    <ns2:pt x="80000" y="30000"/>
                  </ns2:lnTo>
                  <ns2:lnTo>
                    <ns2:pt x="0" y="3000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3376A0"/>
              </ns4:solidFill>
              <ns4:tailEnd type="triangle"/>
            </ns4:ln>
          </p:spPr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2026-10-19T05:54:47.7050000Z</dcterms:created>
  <dcterms:modified xsi:type="dcterms:W3CDTF">2026-10-19T05:54:47.7050000Z</dcterms:modified>
</coreProperties>
</file>