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eeae6cea2c47ee" /><Relationship Type="http://schemas.openxmlformats.org/officeDocument/2006/relationships/extended-properties" Target="/docProps/app.xml" Id="R75f1288dc0dd44b3" /><Relationship Type="http://schemas.openxmlformats.org/officeDocument/2006/relationships/officeDocument" Target="/ppt/presentation.xml" Id="Rbca4889eb69342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0b8e096fec4945"/>
  </p:sldMasterIdLst>
  <p:notesMasterIdLst>
    <p:notesMasterId xmlns:r="http://schemas.openxmlformats.org/officeDocument/2006/relationships" r:id="Rac95b4ffa86d4fc9"/>
  </p:notesMasterIdLst>
  <p:sldIdLst>
    <p:sldId xmlns:r="http://schemas.openxmlformats.org/officeDocument/2006/relationships" id="256" r:id="R3d63bb9418734535"/>
  </p:sldIdLst>
  <p:sldSz cx="11430000" cy="6477000" type="custom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f0ccec1b7394d8a" /><Relationship Type="http://schemas.openxmlformats.org/officeDocument/2006/relationships/slideMaster" Target="/ppt/slideMasters/slideMaster1.xml" Id="Rc90b8e096fec4945" /><Relationship Type="http://schemas.openxmlformats.org/officeDocument/2006/relationships/notesMaster" Target="/ppt/notesMasters/notesMaster1.xml" Id="Rac95b4ffa86d4fc9" /><Relationship Type="http://schemas.openxmlformats.org/officeDocument/2006/relationships/presProps" Target="/ppt/presProps.xml" Id="R4bf3fbf834c04805" /><Relationship Type="http://schemas.openxmlformats.org/officeDocument/2006/relationships/tableStyles" Target="/ppt/tableStyles.xml" Id="R8262f81ab10f4e83" /><Relationship Type="http://schemas.openxmlformats.org/officeDocument/2006/relationships/slide" Target="/ppt/slides/slide1.xml" Id="R3d63bb94187345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a54a3ba696484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4554ffd43f45dd" /><Relationship Type="http://schemas.openxmlformats.org/officeDocument/2006/relationships/notesMaster" Target="/ppt/notesMasters/notesMaster1.xml" Id="R089a467cc8a9432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From General to Specific: A Survey of Time-Series Agent Systems, Section 3, checked against the compiled Overleaf PDF on 2026-10-18, https://www.overleaf.com/read/zkcdwvrmxtrf#1c4b51 .</a:t>
            </a:r>
          </a:p>
          <a:p xmlns:a="http://schemas.openxmlformats.org/drawingml/2006/main">
            <a:r>
              <a:t>Columns 3.1 to 3.3 follow the three intervention points and subsection titles of Section 3: the representation presented to the model, the temporal instructions used to train it, and the policy for operating an analytical workflow. They overlap and are not exclusive paper categories.</a:t>
            </a:r>
          </a:p>
          <a:p xmlns:a="http://schemas.openxmlformats.org/drawingml/2006/main">
            <a:r>
              <a:t>Training signal and Harness support rows paraphrase the comparative paragraphs of Sections 3.1 to 3.3. Evaluation criteria and tests follow the evaluation paragraph in Section 3.2.</a:t>
            </a:r>
          </a:p>
          <a:p xmlns:a="http://schemas.openxmlformats.org/drawingml/2006/main">
            <a:r>
              <a:t>Agentic RAG refers to Agentic Retrieval-Augmented Generation for Time Series Analysis and its differentiable prompt pools. Chow et al. refers to Towards Time-Series Reasoning with LLMs. The series encoder stands for the learned input layers of Section 3.1.</a:t>
            </a:r>
          </a:p>
          <a:p xmlns:a="http://schemas.openxmlformats.org/drawingml/2006/main">
            <a:r>
              <a:t>ChatAD appears under 3.3 because the manuscript discusses it there. The figure states its distinct signal, graded preferences on analytical responses, rather than presenting it as tool-action learning.</a:t>
            </a:r>
          </a:p>
          <a:p xmlns:a="http://schemas.openxmlformats.org/drawingml/2006/main">
            <a:r>
              <a:t>The nested Harness follows the paper overview: General Harness contains General Time-Series Harness, which contains Task-Specific Harness. One observation and action exchange serves all three intervention points.</a:t>
            </a:r>
          </a:p>
          <a:p xmlns:a="http://schemas.openxmlformats.org/drawingml/2006/main">
            <a:r>
              <a:t>Original-paper claims were not independently re-audited for this figure.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766cfe7f1b4ca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c5c8855e508457c" /><Relationship Type="http://schemas.openxmlformats.org/officeDocument/2006/relationships/slideLayout" Target="/ppt/slideLayouts/slideLayout1.xml" Id="R6eba90f0d8e3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ba90f0d8e3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0c8ced19794861" /><Relationship Type="http://schemas.openxmlformats.org/officeDocument/2006/relationships/notesSlide" Target="/ppt/notesSlides/notesSlide1.xml" Id="Rc97623e33cfb478b" /></Relationships>
</file>

<file path=ppt/slides/slide1.xml><?xml version="1.0" encoding="utf-8"?>
<p:sld xmlns:p="http://schemas.openxmlformats.org/presentationml/2006/main">
  <p:cSld>
    <p:bg>
      <p:bgPr>
        <ns0:solidFill xmlns:ns0="http://schemas.openxmlformats.org/drawingml/2006/main">
          <ns0:srgbClr val="FFFFFF"/>
        </ns0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pSp>
        <p:nvGrpSpPr>
          <p:cNvPr id="10119" name="Figure07_Temporal_Workspace — ungroup to edit modules"/>
          <p:cNvGrpSpPr/>
          <p:nvPr/>
        </p:nvGrpSpPr>
        <p:grpSpPr>
          <ns1:xfrm xmlns:ns1="http://schemas.openxmlformats.org/drawingml/2006/main">
            <ns1:off x="0" y="76200"/>
            <ns1:ext cx="11334750" cy="6210300"/>
            <ns1:chOff x="0" y="76200"/>
            <ns1:chExt cx="11334750" cy="6210300"/>
          </ns1:xfrm>
        </p:grpSpPr>
        <p:sp>
          <p:nvSpPr>
            <p:cNvPr id="10001" name="Decision time"/>
            <p:cNvSpPr/>
            <p:nvPr/>
          </p:nvSpPr>
          <p:spPr>
            <ns1:xfrm xmlns:ns1="http://schemas.openxmlformats.org/drawingml/2006/main">
              <ns1:off x="6667500" y="1104900"/>
              <ns1:ext cx="276225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1">
                  <ns7:solidFill>
                    <ns7:srgbClr val="B7524A"/>
                  </ns7:solidFill>
                  <ns7:latin typeface="Times New Roman"/>
                  <ns7:ea typeface="Times New Roman"/>
                </ns7:rPr>
                <ns7:t>Decision time</ns7:t>
              </ns7:r>
            </ns7:p>
          </p:txBody>
        </p:sp>
        <p:sp>
          <p:nvSpPr>
            <p:cNvPr id="10002" name="timeline"/>
            <p:cNvSpPr/>
            <p:nvPr/>
          </p:nvSpPr>
          <p:spPr>
            <ns1:xfrm xmlns:ns1="http://schemas.openxmlformats.org/drawingml/2006/main">
              <ns1:off x="523875" y="742950"/>
              <ns1:ext cx="103822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90000" h="1000" fill="none">
                  <ns2:moveTo>
                    <ns2:pt x="0" y="0"/>
                  </ns2:moveTo>
                  <ns2:lnTo>
                    <ns2:pt x="109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</ns4:ln>
          </p:spPr>
        </p:sp>
        <p:sp>
          <p:nvSpPr>
            <p:cNvPr id="10003" name="cutoff"/>
            <p:cNvSpPr/>
            <p:nvPr/>
          </p:nvSpPr>
          <p:spPr>
            <ns1:xfrm xmlns:ns1="http://schemas.openxmlformats.org/drawingml/2006/main">
              <ns1:off x="8048625" y="428625"/>
              <ns1:ext cx="9525" cy="63817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" h="67000" fill="none">
                  <ns2:moveTo>
                    <ns2:pt x="0" y="0"/>
                  </ns2:moveTo>
                  <ns2:lnTo>
                    <ns2:pt x="0" y="67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3812" cap="rnd">
              <ns4:solidFill>
                <ns4:srgbClr val="B7524A"/>
              </ns4:solidFill>
            </ns4:ln>
          </p:spPr>
        </p:sp>
        <p:sp>
          <p:nvSpPr>
            <p:cNvPr id="10004" name="τ"/>
            <p:cNvSpPr/>
            <p:nvPr/>
          </p:nvSpPr>
          <p:spPr>
            <ns1:xfrm xmlns:ns1="http://schemas.openxmlformats.org/drawingml/2006/main">
              <ns1:off x="7810500" y="76200"/>
              <ns1:ext cx="4762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250" b="1">
                  <ns7:solidFill>
                    <ns7:srgbClr val="B7524A"/>
                  </ns7:solidFill>
                  <ns7:latin typeface="Times New Roman"/>
                  <ns7:ea typeface="Times New Roman"/>
                </ns7:rPr>
                <ns7:t>τ</ns7:t>
              </ns7:r>
            </ns7:p>
          </p:txBody>
        </p:sp>
        <p:sp>
          <p:nvSpPr>
            <p:cNvPr id="10005" name="available evidence"/>
            <p:cNvSpPr/>
            <p:nvPr/>
          </p:nvSpPr>
          <p:spPr>
            <ns1:xfrm xmlns:ns1="http://schemas.openxmlformats.org/drawingml/2006/main">
              <ns1:off x="3048000" y="828675"/>
              <ns1:ext cx="25717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available evidence</ns7:t>
              </ns7:r>
            </ns7:p>
          </p:txBody>
        </p:sp>
        <p:sp>
          <p:nvSpPr>
            <p:cNvPr id="10006" name="late release"/>
            <p:cNvSpPr/>
            <p:nvPr/>
          </p:nvSpPr>
          <p:spPr>
            <ns1:xfrm xmlns:ns1="http://schemas.openxmlformats.org/drawingml/2006/main">
              <ns1:off x="8905875" y="828675"/>
              <ns1:ext cx="171450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0">
                  <ns7:solidFill>
                    <ns7:srgbClr val="B7524A"/>
                  </ns7:solidFill>
                  <ns7:latin typeface="Times New Roman"/>
                  <ns7:ea typeface="Times New Roman"/>
                </ns7:rPr>
                <ns7:t>late release</ns7:t>
              </ns7:r>
            </ns7:p>
          </p:txBody>
        </p:sp>
        <p:grpSp>
          <p:nvGrpSpPr>
            <p:cNvPr id="10013" name="chart-no-axes-combined editable icon"/>
            <p:cNvGrpSpPr/>
            <p:nvPr/>
          </p:nvGrpSpPr>
          <p:grpSpPr>
            <ns1:xfrm xmlns:ns1="http://schemas.openxmlformats.org/drawingml/2006/main">
              <ns1:off x="857250" y="285750"/>
              <ns1:ext cx="361950" cy="361950"/>
              <ns1:chOff x="857250" y="285750"/>
              <ns1:chExt cx="361950" cy="361950"/>
            </ns1:xfrm>
          </p:grpSpPr>
          <p:sp>
            <p:nvSpPr>
              <p:cNvPr id="10007" name="chart-no-axes-combined-0"/>
              <p:cNvSpPr/>
              <p:nvPr/>
            </p:nvSpPr>
            <p:spPr>
              <ns1:xfrm xmlns:ns1="http://schemas.openxmlformats.org/drawingml/2006/main">
                <ns1:off x="857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6000"/>
                    </ns2:moveTo>
                    <ns2:lnTo>
                      <ns2:pt x="12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376A0"/>
                </ns4:solidFill>
              </ns4:ln>
            </p:spPr>
          </p:sp>
          <p:sp>
            <p:nvSpPr>
              <p:cNvPr id="10008" name="chart-no-axes-combined-1"/>
              <p:cNvSpPr/>
              <p:nvPr/>
            </p:nvSpPr>
            <p:spPr>
              <ns1:xfrm xmlns:ns1="http://schemas.openxmlformats.org/drawingml/2006/main">
                <ns1:off x="857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4639"/>
                    </ns2:moveTo>
                    <ns2:lnTo>
                      <ns2:pt x="16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376A0"/>
                </ns4:solidFill>
              </ns4:ln>
            </p:spPr>
          </p:sp>
          <p:sp>
            <p:nvSpPr>
              <p:cNvPr id="10009" name="chart-no-axes-combined-2"/>
              <p:cNvSpPr/>
              <p:nvPr/>
            </p:nvSpPr>
            <p:spPr>
              <ns1:xfrm xmlns:ns1="http://schemas.openxmlformats.org/drawingml/2006/main">
                <ns1:off x="857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0656"/>
                    </ns2:moveTo>
                    <ns2:lnTo>
                      <ns2:pt x="20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376A0"/>
                </ns4:solidFill>
              </ns4:ln>
            </p:spPr>
          </p:sp>
          <p:sp>
            <p:nvSpPr>
              <p:cNvPr id="10010" name="chart-no-axes-combined-3"/>
              <p:cNvSpPr/>
              <p:nvPr/>
            </p:nvSpPr>
            <p:spPr>
              <ns1:xfrm xmlns:ns1="http://schemas.openxmlformats.org/drawingml/2006/main">
                <ns1:off x="857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2000" y="3000"/>
                    </ns2:moveTo>
                    <ns2:lnTo>
                      <ns2:pt x="13354" y="11646"/>
                    </ns2:lnTo>
                    <ns2:cubicBezTo>
                      <ns2:pt x="13260" y="11740"/>
                      <ns2:pt x="13133" y="11793"/>
                      <ns2:pt x="13000" y="11793"/>
                    </ns2:cubicBezTo>
                    <ns2:cubicBezTo>
                      <ns2:pt x="12867" y="11793"/>
                      <ns2:pt x="12740" y="11740"/>
                      <ns2:pt x="12646" y="11646"/>
                    </ns2:cubicBezTo>
                    <ns2:lnTo>
                      <ns2:pt x="9354" y="8354"/>
                    </ns2:lnTo>
                    <ns2:cubicBezTo>
                      <ns2:pt x="9159" y="8159"/>
                      <ns2:pt x="8842" y="8159"/>
                      <ns2:pt x="8647" y="8354"/>
                    </ns2:cubicBezTo>
                    <ns2:lnTo>
                      <ns2:pt x="2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376A0"/>
                </ns4:solidFill>
              </ns4:ln>
            </p:spPr>
          </p:sp>
          <p:sp>
            <p:nvSpPr>
              <p:cNvPr id="10011" name="chart-no-axes-combined-4"/>
              <p:cNvSpPr/>
              <p:nvPr/>
            </p:nvSpPr>
            <p:spPr>
              <ns1:xfrm xmlns:ns1="http://schemas.openxmlformats.org/drawingml/2006/main">
                <ns1:off x="857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4000" y="18463"/>
                    </ns2:moveTo>
                    <ns2:lnTo>
                      <ns2:pt x="4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376A0"/>
                </ns4:solidFill>
              </ns4:ln>
            </p:spPr>
          </p:sp>
          <p:sp>
            <p:nvSpPr>
              <p:cNvPr id="10012" name="chart-no-axes-combined-5"/>
              <p:cNvSpPr/>
              <p:nvPr/>
            </p:nvSpPr>
            <p:spPr>
              <ns1:xfrm xmlns:ns1="http://schemas.openxmlformats.org/drawingml/2006/main">
                <ns1:off x="857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4656"/>
                    </ns2:moveTo>
                    <ns2:lnTo>
                      <ns2:pt x="8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376A0"/>
                </ns4:solidFill>
              </ns4:ln>
            </p:spPr>
          </p:sp>
        </p:grpSp>
        <p:sp>
          <p:nvSpPr>
            <p:cNvPr id="10014" name="availability marker"/>
            <p:cNvSpPr/>
            <p:nvPr/>
          </p:nvSpPr>
          <p:spPr>
            <ns1:xfrm xmlns:ns1="http://schemas.openxmlformats.org/drawingml/2006/main">
              <ns1:off x="952500" y="685800"/>
              <ns1:ext cx="114300" cy="114300"/>
            </ns1:xfrm>
            <ns2:prstGeom xmlns:ns2="http://schemas.openxmlformats.org/drawingml/2006/main" prst="ellipse">
              <ns2:avLst/>
            </ns2:prstGeom>
            <ns3:solidFill xmlns:ns3="http://schemas.openxmlformats.org/drawingml/2006/main">
              <ns3:srgbClr val="3376A0"/>
            </ns3:solidFill>
            <ns4:ln xmlns:ns4="http://schemas.openxmlformats.org/drawingml/2006/main" w="9525" cap="rnd">
              <ns4:noFill/>
            </ns4:ln>
          </p:spPr>
        </p:sp>
        <p:grpSp>
          <p:nvGrpSpPr>
            <p:cNvPr id="10025" name="calendar-days editable icon"/>
            <p:cNvGrpSpPr/>
            <p:nvPr/>
          </p:nvGrpSpPr>
          <p:grpSpPr>
            <ns1:xfrm xmlns:ns1="http://schemas.openxmlformats.org/drawingml/2006/main">
              <ns1:off x="2952750" y="285750"/>
              <ns1:ext cx="361950" cy="361950"/>
              <ns1:chOff x="2952750" y="285750"/>
              <ns1:chExt cx="361950" cy="361950"/>
            </ns1:xfrm>
          </p:grpSpPr>
          <p:sp>
            <p:nvSpPr>
              <p:cNvPr id="10015" name="calendar-days-0"/>
              <p:cNvSpPr/>
              <p:nvPr/>
            </p:nvSpPr>
            <p:spPr>
              <ns1:xfrm xmlns:ns1="http://schemas.openxmlformats.org/drawingml/2006/main">
                <ns1:off x="29527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2000"/>
                    </ns2:moveTo>
                    <ns2:lnTo>
                      <ns2:pt x="8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16" name="calendar-days-1"/>
              <p:cNvSpPr/>
              <p:nvPr/>
            </p:nvSpPr>
            <p:spPr>
              <ns1:xfrm xmlns:ns1="http://schemas.openxmlformats.org/drawingml/2006/main">
                <ns1:off x="29527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2000"/>
                    </ns2:moveTo>
                    <ns2:lnTo>
                      <ns2:pt x="16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17" name="calendar-days-2"/>
              <p:cNvSpPr/>
              <p:nvPr/>
            </p:nvSpPr>
            <p:spPr>
              <ns1:xfrm xmlns:ns1="http://schemas.openxmlformats.org/drawingml/2006/main">
                <ns1:off x="2997994" y="330994"/>
                <ns1:ext cx="271462" cy="271462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22622" cap="rnd">
                <ns5:solidFill>
                  <ns5:srgbClr val="39846C"/>
                </ns5:solidFill>
              </ns5:ln>
            </p:spPr>
          </p:sp>
          <p:sp>
            <p:nvSpPr>
              <p:cNvPr id="10018" name="calendar-days-3"/>
              <p:cNvSpPr/>
              <p:nvPr/>
            </p:nvSpPr>
            <p:spPr>
              <ns1:xfrm xmlns:ns1="http://schemas.openxmlformats.org/drawingml/2006/main">
                <ns1:off x="29527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9000"/>
                    </ns2:moveTo>
                    <ns2:lnTo>
                      <ns2:pt x="21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19" name="calendar-days-4"/>
              <p:cNvSpPr/>
              <p:nvPr/>
            </p:nvSpPr>
            <p:spPr>
              <ns1:xfrm xmlns:ns1="http://schemas.openxmlformats.org/drawingml/2006/main">
                <ns1:off x="29527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3000"/>
                    </ns2:moveTo>
                    <ns2:lnTo>
                      <ns2:pt x="801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20" name="calendar-days-5"/>
              <p:cNvSpPr/>
              <p:nvPr/>
            </p:nvSpPr>
            <p:spPr>
              <ns1:xfrm xmlns:ns1="http://schemas.openxmlformats.org/drawingml/2006/main">
                <ns1:off x="29527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3000"/>
                    </ns2:moveTo>
                    <ns2:lnTo>
                      <ns2:pt x="1201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21" name="calendar-days-6"/>
              <p:cNvSpPr/>
              <p:nvPr/>
            </p:nvSpPr>
            <p:spPr>
              <ns1:xfrm xmlns:ns1="http://schemas.openxmlformats.org/drawingml/2006/main">
                <ns1:off x="29527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3000"/>
                    </ns2:moveTo>
                    <ns2:lnTo>
                      <ns2:pt x="1601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22" name="calendar-days-7"/>
              <p:cNvSpPr/>
              <p:nvPr/>
            </p:nvSpPr>
            <p:spPr>
              <ns1:xfrm xmlns:ns1="http://schemas.openxmlformats.org/drawingml/2006/main">
                <ns1:off x="29527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7000"/>
                    </ns2:moveTo>
                    <ns2:lnTo>
                      <ns2:pt x="801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23" name="calendar-days-8"/>
              <p:cNvSpPr/>
              <p:nvPr/>
            </p:nvSpPr>
            <p:spPr>
              <ns1:xfrm xmlns:ns1="http://schemas.openxmlformats.org/drawingml/2006/main">
                <ns1:off x="29527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7000"/>
                    </ns2:moveTo>
                    <ns2:lnTo>
                      <ns2:pt x="1201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24" name="calendar-days-9"/>
              <p:cNvSpPr/>
              <p:nvPr/>
            </p:nvSpPr>
            <p:spPr>
              <ns1:xfrm xmlns:ns1="http://schemas.openxmlformats.org/drawingml/2006/main">
                <ns1:off x="29527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1601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</p:grpSp>
        <p:sp>
          <p:nvSpPr>
            <p:cNvPr id="10026" name="availability marker"/>
            <p:cNvSpPr/>
            <p:nvPr/>
          </p:nvSpPr>
          <p:spPr>
            <ns1:xfrm xmlns:ns1="http://schemas.openxmlformats.org/drawingml/2006/main">
              <ns1:off x="3048000" y="685800"/>
              <ns1:ext cx="114300" cy="114300"/>
            </ns1:xfrm>
            <ns2:prstGeom xmlns:ns2="http://schemas.openxmlformats.org/drawingml/2006/main" prst="ellipse">
              <ns2:avLst/>
            </ns2:prstGeom>
            <ns3:solidFill xmlns:ns3="http://schemas.openxmlformats.org/drawingml/2006/main">
              <ns3:srgbClr val="39846C"/>
            </ns3:solidFill>
            <ns4:ln xmlns:ns4="http://schemas.openxmlformats.org/drawingml/2006/main" w="9525" cap="rnd">
              <ns4:noFill/>
            </ns4:ln>
          </p:spPr>
        </p:sp>
        <p:grpSp>
          <p:nvGrpSpPr>
            <p:cNvPr id="10032" name="file-text editable icon"/>
            <p:cNvGrpSpPr/>
            <p:nvPr/>
          </p:nvGrpSpPr>
          <p:grpSpPr>
            <ns1:xfrm xmlns:ns1="http://schemas.openxmlformats.org/drawingml/2006/main">
              <ns1:off x="5810250" y="285750"/>
              <ns1:ext cx="361950" cy="361950"/>
              <ns1:chOff x="5810250" y="285750"/>
              <ns1:chExt cx="361950" cy="361950"/>
            </ns1:xfrm>
          </p:grpSpPr>
          <p:sp>
            <p:nvSpPr>
              <p:cNvPr id="10027" name="file-text-0"/>
              <p:cNvSpPr/>
              <p:nvPr/>
            </p:nvSpPr>
            <p:spPr>
              <ns1:xfrm xmlns:ns1="http://schemas.openxmlformats.org/drawingml/2006/main">
                <ns1:off x="5810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000" y="22000"/>
                    </ns2:moveTo>
                    <ns2:cubicBezTo>
                      <ns2:pt x="4895" y="22000"/>
                      <ns2:pt x="4000" y="21105"/>
                      <ns2:pt x="4000" y="20000"/>
                    </ns2:cubicBezTo>
                    <ns2:lnTo>
                      <ns2:pt x="4000" y="4000"/>
                    </ns2:lnTo>
                    <ns2:cubicBezTo>
                      <ns2:pt x="4000" y="2895"/>
                      <ns2:pt x="4895" y="2000"/>
                      <ns2:pt x="6000" y="2000"/>
                    </ns2:cubicBezTo>
                    <ns2:lnTo>
                      <ns2:pt x="14000" y="2000"/>
                    </ns2:lnTo>
                    <ns2:cubicBezTo>
                      <ns2:pt x="14639" y="1999"/>
                      <ns2:pt x="15253" y="2253"/>
                      <ns2:pt x="15704" y="2706"/>
                    </ns2:cubicBezTo>
                    <ns2:lnTo>
                      <ns2:pt x="19292" y="6294"/>
                    </ns2:lnTo>
                    <ns2:cubicBezTo>
                      <ns2:pt x="19746" y="6745"/>
                      <ns2:pt x="20001" y="7360"/>
                      <ns2:pt x="20000" y="8000"/>
                    </ns2:cubicBezTo>
                    <ns2:lnTo>
                      <ns2:pt x="20000" y="20000"/>
                    </ns2:lnTo>
                    <ns2:cubicBezTo>
                      <ns2:pt x="20000" y="21105"/>
                      <ns2:pt x="19105" y="22000"/>
                      <ns2:pt x="18000" y="22000"/>
                    </ns2:cubicBezTo>
                    <ns2:lnTo>
                      <ns2:pt x="6000" y="22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28" name="file-text-1"/>
              <p:cNvSpPr/>
              <p:nvPr/>
            </p:nvSpPr>
            <p:spPr>
              <ns1:xfrm xmlns:ns1="http://schemas.openxmlformats.org/drawingml/2006/main">
                <ns1:off x="5810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2000"/>
                    </ns2:moveTo>
                    <ns2:lnTo>
                      <ns2:pt x="14000" y="7000"/>
                    </ns2:lnTo>
                    <ns2:cubicBezTo>
                      <ns2:pt x="14000" y="7552"/>
                      <ns2:pt x="14448" y="8000"/>
                      <ns2:pt x="15000" y="8000"/>
                    </ns2:cubicBezTo>
                    <ns2:lnTo>
                      <ns2:pt x="20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29" name="file-text-2"/>
              <p:cNvSpPr/>
              <p:nvPr/>
            </p:nvSpPr>
            <p:spPr>
              <ns1:xfrm xmlns:ns1="http://schemas.openxmlformats.org/drawingml/2006/main">
                <ns1:off x="5810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9000"/>
                    </ns2:moveTo>
                    <ns2:lnTo>
                      <ns2:pt x="8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30" name="file-text-3"/>
              <p:cNvSpPr/>
              <p:nvPr/>
            </p:nvSpPr>
            <p:spPr>
              <ns1:xfrm xmlns:ns1="http://schemas.openxmlformats.org/drawingml/2006/main">
                <ns1:off x="5810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3000"/>
                    </ns2:moveTo>
                    <ns2:lnTo>
                      <ns2:pt x="800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  <p:sp>
            <p:nvSpPr>
              <p:cNvPr id="10031" name="file-text-4"/>
              <p:cNvSpPr/>
              <p:nvPr/>
            </p:nvSpPr>
            <p:spPr>
              <ns1:xfrm xmlns:ns1="http://schemas.openxmlformats.org/drawingml/2006/main">
                <ns1:off x="5810250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8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39846C"/>
                </ns4:solidFill>
              </ns4:ln>
            </p:spPr>
          </p:sp>
        </p:grpSp>
        <p:sp>
          <p:nvSpPr>
            <p:cNvPr id="10033" name="availability marker"/>
            <p:cNvSpPr/>
            <p:nvPr/>
          </p:nvSpPr>
          <p:spPr>
            <ns1:xfrm xmlns:ns1="http://schemas.openxmlformats.org/drawingml/2006/main">
              <ns1:off x="5905500" y="685800"/>
              <ns1:ext cx="114300" cy="114300"/>
            </ns1:xfrm>
            <ns2:prstGeom xmlns:ns2="http://schemas.openxmlformats.org/drawingml/2006/main" prst="ellipse">
              <ns2:avLst/>
            </ns2:prstGeom>
            <ns3:solidFill xmlns:ns3="http://schemas.openxmlformats.org/drawingml/2006/main">
              <ns3:srgbClr val="39846C"/>
            </ns3:solidFill>
            <ns4:ln xmlns:ns4="http://schemas.openxmlformats.org/drawingml/2006/main" w="9525" cap="rnd">
              <ns4:noFill/>
            </ns4:ln>
          </p:spPr>
        </p:sp>
        <p:grpSp>
          <p:nvGrpSpPr>
            <p:cNvPr id="10039" name="file-text editable icon"/>
            <p:cNvGrpSpPr/>
            <p:nvPr/>
          </p:nvGrpSpPr>
          <p:grpSpPr>
            <ns1:xfrm xmlns:ns1="http://schemas.openxmlformats.org/drawingml/2006/main">
              <ns1:off x="9858375" y="285750"/>
              <ns1:ext cx="361950" cy="361950"/>
              <ns1:chOff x="9858375" y="285750"/>
              <ns1:chExt cx="361950" cy="361950"/>
            </ns1:xfrm>
          </p:grpSpPr>
          <p:sp>
            <p:nvSpPr>
              <p:cNvPr id="10034" name="file-text-0"/>
              <p:cNvSpPr/>
              <p:nvPr/>
            </p:nvSpPr>
            <p:spPr>
              <ns1:xfrm xmlns:ns1="http://schemas.openxmlformats.org/drawingml/2006/main">
                <ns1:off x="9858375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000" y="22000"/>
                    </ns2:moveTo>
                    <ns2:cubicBezTo>
                      <ns2:pt x="4895" y="22000"/>
                      <ns2:pt x="4000" y="21105"/>
                      <ns2:pt x="4000" y="20000"/>
                    </ns2:cubicBezTo>
                    <ns2:lnTo>
                      <ns2:pt x="4000" y="4000"/>
                    </ns2:lnTo>
                    <ns2:cubicBezTo>
                      <ns2:pt x="4000" y="2895"/>
                      <ns2:pt x="4895" y="2000"/>
                      <ns2:pt x="6000" y="2000"/>
                    </ns2:cubicBezTo>
                    <ns2:lnTo>
                      <ns2:pt x="14000" y="2000"/>
                    </ns2:lnTo>
                    <ns2:cubicBezTo>
                      <ns2:pt x="14639" y="1999"/>
                      <ns2:pt x="15253" y="2253"/>
                      <ns2:pt x="15704" y="2706"/>
                    </ns2:cubicBezTo>
                    <ns2:lnTo>
                      <ns2:pt x="19292" y="6294"/>
                    </ns2:lnTo>
                    <ns2:cubicBezTo>
                      <ns2:pt x="19746" y="6745"/>
                      <ns2:pt x="20001" y="7360"/>
                      <ns2:pt x="20000" y="8000"/>
                    </ns2:cubicBezTo>
                    <ns2:lnTo>
                      <ns2:pt x="20000" y="20000"/>
                    </ns2:lnTo>
                    <ns2:cubicBezTo>
                      <ns2:pt x="20000" y="21105"/>
                      <ns2:pt x="19105" y="22000"/>
                      <ns2:pt x="18000" y="22000"/>
                    </ns2:cubicBezTo>
                    <ns2:lnTo>
                      <ns2:pt x="6000" y="22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B7524A"/>
                </ns4:solidFill>
              </ns4:ln>
            </p:spPr>
          </p:sp>
          <p:sp>
            <p:nvSpPr>
              <p:cNvPr id="10035" name="file-text-1"/>
              <p:cNvSpPr/>
              <p:nvPr/>
            </p:nvSpPr>
            <p:spPr>
              <ns1:xfrm xmlns:ns1="http://schemas.openxmlformats.org/drawingml/2006/main">
                <ns1:off x="9858375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2000"/>
                    </ns2:moveTo>
                    <ns2:lnTo>
                      <ns2:pt x="14000" y="7000"/>
                    </ns2:lnTo>
                    <ns2:cubicBezTo>
                      <ns2:pt x="14000" y="7552"/>
                      <ns2:pt x="14448" y="8000"/>
                      <ns2:pt x="15000" y="8000"/>
                    </ns2:cubicBezTo>
                    <ns2:lnTo>
                      <ns2:pt x="20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B7524A"/>
                </ns4:solidFill>
              </ns4:ln>
            </p:spPr>
          </p:sp>
          <p:sp>
            <p:nvSpPr>
              <p:cNvPr id="10036" name="file-text-2"/>
              <p:cNvSpPr/>
              <p:nvPr/>
            </p:nvSpPr>
            <p:spPr>
              <ns1:xfrm xmlns:ns1="http://schemas.openxmlformats.org/drawingml/2006/main">
                <ns1:off x="9858375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9000"/>
                    </ns2:moveTo>
                    <ns2:lnTo>
                      <ns2:pt x="8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B7524A"/>
                </ns4:solidFill>
              </ns4:ln>
            </p:spPr>
          </p:sp>
          <p:sp>
            <p:nvSpPr>
              <p:cNvPr id="10037" name="file-text-3"/>
              <p:cNvSpPr/>
              <p:nvPr/>
            </p:nvSpPr>
            <p:spPr>
              <ns1:xfrm xmlns:ns1="http://schemas.openxmlformats.org/drawingml/2006/main">
                <ns1:off x="9858375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3000"/>
                    </ns2:moveTo>
                    <ns2:lnTo>
                      <ns2:pt x="800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B7524A"/>
                </ns4:solidFill>
              </ns4:ln>
            </p:spPr>
          </p:sp>
          <p:sp>
            <p:nvSpPr>
              <p:cNvPr id="10038" name="file-text-4"/>
              <p:cNvSpPr/>
              <p:nvPr/>
            </p:nvSpPr>
            <p:spPr>
              <ns1:xfrm xmlns:ns1="http://schemas.openxmlformats.org/drawingml/2006/main">
                <ns1:off x="9858375" y="285750"/>
                <ns1:ext cx="361950" cy="36195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8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2622" cap="rnd">
                <ns4:solidFill>
                  <ns4:srgbClr val="B7524A"/>
                </ns4:solidFill>
              </ns4:ln>
            </p:spPr>
          </p:sp>
        </p:grpSp>
        <p:sp>
          <p:nvSpPr>
            <p:cNvPr id="10040" name="availability marker"/>
            <p:cNvSpPr/>
            <p:nvPr/>
          </p:nvSpPr>
          <p:spPr>
            <ns1:xfrm xmlns:ns1="http://schemas.openxmlformats.org/drawingml/2006/main">
              <ns1:off x="9953625" y="685800"/>
              <ns1:ext cx="114300" cy="114300"/>
            </ns1:xfrm>
            <ns2:prstGeom xmlns:ns2="http://schemas.openxmlformats.org/drawingml/2006/main" prst="ellipse">
              <ns2:avLst/>
            </ns2:prstGeom>
            <ns3:solidFill xmlns:ns3="http://schemas.openxmlformats.org/drawingml/2006/main">
              <ns3:srgbClr val="B7524A"/>
            </ns3:solidFill>
            <ns4:ln xmlns:ns4="http://schemas.openxmlformats.org/drawingml/2006/main" w="9525" cap="rnd">
              <ns4:noFill/>
            </ns4:ln>
          </p:spPr>
        </p:sp>
        <p:sp>
          <p:nvSpPr>
            <p:cNvPr id="10041" name="numerical workspace"/>
            <p:cNvSpPr/>
            <p:nvPr/>
          </p:nvSpPr>
          <p:spPr>
            <ns1:xfrm xmlns:ns1="http://schemas.openxmlformats.org/drawingml/2006/main">
              <ns1:off x="1762125" y="1524000"/>
              <ns1:ext cx="7524750" cy="4143375"/>
            </ns1:xfrm>
            <ns2:prstGeom xmlns:ns2="http://schemas.openxmlformats.org/drawingml/2006/main" prst="roundRect">
              <ns2:avLst>
                <ns2:gd name="adj" fmla="val 5000"/>
              </ns2:avLst>
            </ns2:prstGeom>
            <ns3:solidFill xmlns:ns3="http://schemas.openxmlformats.org/drawingml/2006/main">
              <ns3:srgbClr val="FFFFFF"/>
            </ns3:solidFill>
            <ns4:ln xmlns:ns4="http://schemas.openxmlformats.org/drawingml/2006/main" w="9525" cap="rnd">
              <ns4:solidFill>
                <ns4:srgbClr val="DFE7EC"/>
              </ns4:solidFill>
            </ns4:ln>
            <ns5:effectLst xmlns:ns5="http://schemas.openxmlformats.org/drawingml/2006/main">
              <ns5:outerShdw blurRad="76200" dist="38100" dir="5400000" algn="ctr" rotWithShape="0">
                <ns5:srgbClr val="183148">
                  <ns5:alpha val="12000"/>
                </ns5:srgbClr>
              </ns5:outerShdw>
            </ns5:effectLst>
          </p:spPr>
        </p:sp>
        <p:sp>
          <p:nvSpPr>
            <p:cNvPr id="10042" name="Temporal workspace"/>
            <p:cNvSpPr/>
            <p:nvPr/>
          </p:nvSpPr>
          <p:spPr>
            <ns1:xfrm xmlns:ns1="http://schemas.openxmlformats.org/drawingml/2006/main">
              <ns1:off x="3714750" y="1609725"/>
              <ns1:ext cx="3619500" cy="3619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2100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Temporal workspace</ns7:t>
              </ns7:r>
            </ns7:p>
          </p:txBody>
        </p:sp>
        <p:grpSp>
          <p:nvGrpSpPr>
            <p:cNvPr id="10046" name="database editable icon"/>
            <p:cNvGrpSpPr/>
            <p:nvPr/>
          </p:nvGrpSpPr>
          <p:grpSpPr>
            <ns1:xfrm xmlns:ns1="http://schemas.openxmlformats.org/drawingml/2006/main">
              <ns1:off x="2047875" y="2143125"/>
              <ns1:ext cx="428625" cy="428625"/>
              <ns1:chOff x="2047875" y="2143125"/>
              <ns1:chExt cx="428625" cy="428625"/>
            </ns1:xfrm>
          </p:grpSpPr>
          <p:sp>
            <p:nvSpPr>
              <p:cNvPr id="10043" name="database-0"/>
              <p:cNvSpPr/>
              <p:nvPr/>
            </p:nvSpPr>
            <p:spPr>
              <ns1:xfrm xmlns:ns1="http://schemas.openxmlformats.org/drawingml/2006/main">
                <ns1:off x="2101453" y="2178844"/>
                <ns1:ext cx="321469" cy="107156"/>
              </ns1:xfrm>
              <ns2:prstGeom xmlns:ns2="http://schemas.openxmlformats.org/drawingml/2006/main" prst="ellipse">
                <ns2:avLst/>
              </ns2:prstGeom>
              <ns3:noFill xmlns:ns3="http://schemas.openxmlformats.org/drawingml/2006/main"/>
              <ns5:ln xmlns:ns5="http://schemas.openxmlformats.org/drawingml/2006/main" w="26789" cap="rnd">
                <ns5:solidFill>
                  <ns5:srgbClr val="3376A0"/>
                </ns5:solidFill>
              </ns5:ln>
            </p:spPr>
          </p:sp>
          <p:sp>
            <p:nvSpPr>
              <p:cNvPr id="10044" name="database-1"/>
              <p:cNvSpPr/>
              <p:nvPr/>
            </p:nvSpPr>
            <p:spPr>
              <ns1:xfrm xmlns:ns1="http://schemas.openxmlformats.org/drawingml/2006/main">
                <ns1:off x="2047875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5000"/>
                    </ns2:moveTo>
                    <ns2:lnTo>
                      <ns2:pt x="3000" y="19000"/>
                    </ns2:lnTo>
                    <ns2:cubicBezTo>
                      <ns2:pt x="3000" y="20657"/>
                      <ns2:pt x="7029" y="22000"/>
                      <ns2:pt x="12000" y="22000"/>
                    </ns2:cubicBezTo>
                    <ns2:cubicBezTo>
                      <ns2:pt x="16971" y="22000"/>
                      <ns2:pt x="21000" y="20657"/>
                      <ns2:pt x="21000" y="19000"/>
                    </ns2:cubicBezTo>
                    <ns2:lnTo>
                      <ns2:pt x="21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376A0"/>
                </ns4:solidFill>
              </ns4:ln>
            </p:spPr>
          </p:sp>
          <p:sp>
            <p:nvSpPr>
              <p:cNvPr id="10045" name="database-2"/>
              <p:cNvSpPr/>
              <p:nvPr/>
            </p:nvSpPr>
            <p:spPr>
              <ns1:xfrm xmlns:ns1="http://schemas.openxmlformats.org/drawingml/2006/main">
                <ns1:off x="2047875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12000"/>
                    </ns2:moveTo>
                    <ns2:cubicBezTo>
                      <ns2:pt x="3000" y="13657"/>
                      <ns2:pt x="7029" y="15000"/>
                      <ns2:pt x="12000" y="15000"/>
                    </ns2:cubicBezTo>
                    <ns2:cubicBezTo>
                      <ns2:pt x="16971" y="15000"/>
                      <ns2:pt x="21000" y="13657"/>
                      <ns2:pt x="21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376A0"/>
                </ns4:solidFill>
              </ns4:ln>
            </p:spPr>
          </p:sp>
        </p:grpSp>
        <p:sp>
          <p:nvSpPr>
            <p:cNvPr id="10047" name="Data management"/>
            <p:cNvSpPr/>
            <p:nvPr/>
          </p:nvSpPr>
          <p:spPr>
            <ns1:xfrm xmlns:ns1="http://schemas.openxmlformats.org/drawingml/2006/main">
              <ns1:off x="2619375" y="2143125"/>
              <ns1:ext cx="26670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Data management</ns7:t>
              </ns7:r>
            </ns7:p>
          </p:txBody>
        </p:sp>
        <p:grpSp>
          <p:nvGrpSpPr>
            <p:cNvPr id="10057" name="sliders-horizontal editable icon"/>
            <p:cNvGrpSpPr/>
            <p:nvPr/>
          </p:nvGrpSpPr>
          <p:grpSpPr>
            <ns1:xfrm xmlns:ns1="http://schemas.openxmlformats.org/drawingml/2006/main">
              <ns1:off x="5810250" y="2143125"/>
              <ns1:ext cx="428625" cy="428625"/>
              <ns1:chOff x="5810250" y="2143125"/>
              <ns1:chExt cx="428625" cy="428625"/>
            </ns1:xfrm>
          </p:grpSpPr>
          <p:sp>
            <p:nvSpPr>
              <p:cNvPr id="10048" name="sliders-horizontal-0"/>
              <p:cNvSpPr/>
              <p:nvPr/>
            </p:nvSpPr>
            <p:spPr>
              <ns1:xfrm xmlns:ns1="http://schemas.openxmlformats.org/drawingml/2006/main">
                <ns1:off x="5810250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5000"/>
                    </ns2:moveTo>
                    <ns2:lnTo>
                      <ns2:pt x="3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68528D"/>
                </ns4:solidFill>
              </ns4:ln>
            </p:spPr>
          </p:sp>
          <p:sp>
            <p:nvSpPr>
              <p:cNvPr id="10049" name="sliders-horizontal-1"/>
              <p:cNvSpPr/>
              <p:nvPr/>
            </p:nvSpPr>
            <p:spPr>
              <ns1:xfrm xmlns:ns1="http://schemas.openxmlformats.org/drawingml/2006/main">
                <ns1:off x="5810250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9000"/>
                    </ns2:moveTo>
                    <ns2:lnTo>
                      <ns2:pt x="3000" y="1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68528D"/>
                </ns4:solidFill>
              </ns4:ln>
            </p:spPr>
          </p:sp>
          <p:sp>
            <p:nvSpPr>
              <p:cNvPr id="10050" name="sliders-horizontal-2"/>
              <p:cNvSpPr/>
              <p:nvPr/>
            </p:nvSpPr>
            <p:spPr>
              <ns1:xfrm xmlns:ns1="http://schemas.openxmlformats.org/drawingml/2006/main">
                <ns1:off x="5810250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3000"/>
                    </ns2:moveTo>
                    <ns2:lnTo>
                      <ns2:pt x="14000" y="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68528D"/>
                </ns4:solidFill>
              </ns4:ln>
            </p:spPr>
          </p:sp>
          <p:sp>
            <p:nvSpPr>
              <p:cNvPr id="10051" name="sliders-horizontal-3"/>
              <p:cNvSpPr/>
              <p:nvPr/>
            </p:nvSpPr>
            <p:spPr>
              <ns1:xfrm xmlns:ns1="http://schemas.openxmlformats.org/drawingml/2006/main">
                <ns1:off x="5810250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16000" y="21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68528D"/>
                </ns4:solidFill>
              </ns4:ln>
            </p:spPr>
          </p:sp>
          <p:sp>
            <p:nvSpPr>
              <p:cNvPr id="10052" name="sliders-horizontal-4"/>
              <p:cNvSpPr/>
              <p:nvPr/>
            </p:nvSpPr>
            <p:spPr>
              <ns1:xfrm xmlns:ns1="http://schemas.openxmlformats.org/drawingml/2006/main">
                <ns1:off x="5810250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2000"/>
                    </ns2:moveTo>
                    <ns2:lnTo>
                      <ns2:pt x="12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68528D"/>
                </ns4:solidFill>
              </ns4:ln>
            </p:spPr>
          </p:sp>
          <p:sp>
            <p:nvSpPr>
              <p:cNvPr id="10053" name="sliders-horizontal-5"/>
              <p:cNvSpPr/>
              <p:nvPr/>
            </p:nvSpPr>
            <p:spPr>
              <ns1:xfrm xmlns:ns1="http://schemas.openxmlformats.org/drawingml/2006/main">
                <ns1:off x="5810250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19000"/>
                    </ns2:moveTo>
                    <ns2:lnTo>
                      <ns2:pt x="16000" y="1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68528D"/>
                </ns4:solidFill>
              </ns4:ln>
            </p:spPr>
          </p:sp>
          <p:sp>
            <p:nvSpPr>
              <p:cNvPr id="10054" name="sliders-horizontal-6"/>
              <p:cNvSpPr/>
              <p:nvPr/>
            </p:nvSpPr>
            <p:spPr>
              <ns1:xfrm xmlns:ns1="http://schemas.openxmlformats.org/drawingml/2006/main">
                <ns1:off x="5810250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1000" y="5000"/>
                    </ns2:moveTo>
                    <ns2:lnTo>
                      <ns2:pt x="14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68528D"/>
                </ns4:solidFill>
              </ns4:ln>
            </p:spPr>
          </p:sp>
          <p:sp>
            <p:nvSpPr>
              <p:cNvPr id="10055" name="sliders-horizontal-7"/>
              <p:cNvSpPr/>
              <p:nvPr/>
            </p:nvSpPr>
            <p:spPr>
              <ns1:xfrm xmlns:ns1="http://schemas.openxmlformats.org/drawingml/2006/main">
                <ns1:off x="5810250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0000"/>
                    </ns2:moveTo>
                    <ns2:lnTo>
                      <ns2:pt x="8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68528D"/>
                </ns4:solidFill>
              </ns4:ln>
            </p:spPr>
          </p:sp>
          <p:sp>
            <p:nvSpPr>
              <p:cNvPr id="10056" name="sliders-horizontal-8"/>
              <p:cNvSpPr/>
              <p:nvPr/>
            </p:nvSpPr>
            <p:spPr>
              <ns1:xfrm xmlns:ns1="http://schemas.openxmlformats.org/drawingml/2006/main">
                <ns1:off x="5810250" y="2143125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2000"/>
                    </ns2:moveTo>
                    <ns2:lnTo>
                      <ns2:pt x="3000" y="12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68528D"/>
                </ns4:solidFill>
              </ns4:ln>
            </p:spPr>
          </p:sp>
        </p:grpSp>
        <p:sp>
          <p:nvSpPr>
            <p:cNvPr id="10058" name="Processing"/>
            <p:cNvSpPr/>
            <p:nvPr/>
          </p:nvSpPr>
          <p:spPr>
            <ns1:xfrm xmlns:ns1="http://schemas.openxmlformats.org/drawingml/2006/main">
              <ns1:off x="6381750" y="2143125"/>
              <ns1:ext cx="26670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Processing</ns7:t>
              </ns7:r>
            </ns7:p>
          </p:txBody>
        </p:sp>
        <p:grpSp>
          <p:nvGrpSpPr>
            <p:cNvPr id="10069" name="calendar-days editable icon"/>
            <p:cNvGrpSpPr/>
            <p:nvPr/>
          </p:nvGrpSpPr>
          <p:grpSpPr>
            <ns1:xfrm xmlns:ns1="http://schemas.openxmlformats.org/drawingml/2006/main">
              <ns1:off x="2047875" y="3924300"/>
              <ns1:ext cx="428625" cy="428625"/>
              <ns1:chOff x="2047875" y="3924300"/>
              <ns1:chExt cx="428625" cy="428625"/>
            </ns1:xfrm>
          </p:grpSpPr>
          <p:sp>
            <p:nvSpPr>
              <p:cNvPr id="10059" name="calendar-days-0"/>
              <p:cNvSpPr/>
              <p:nvPr/>
            </p:nvSpPr>
            <p:spPr>
              <ns1:xfrm xmlns:ns1="http://schemas.openxmlformats.org/drawingml/2006/main">
                <ns1:off x="2047875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2000"/>
                    </ns2:moveTo>
                    <ns2:lnTo>
                      <ns2:pt x="8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9846C"/>
                </ns4:solidFill>
              </ns4:ln>
            </p:spPr>
          </p:sp>
          <p:sp>
            <p:nvSpPr>
              <p:cNvPr id="10060" name="calendar-days-1"/>
              <p:cNvSpPr/>
              <p:nvPr/>
            </p:nvSpPr>
            <p:spPr>
              <ns1:xfrm xmlns:ns1="http://schemas.openxmlformats.org/drawingml/2006/main">
                <ns1:off x="2047875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2000"/>
                    </ns2:moveTo>
                    <ns2:lnTo>
                      <ns2:pt x="16000" y="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9846C"/>
                </ns4:solidFill>
              </ns4:ln>
            </p:spPr>
          </p:sp>
          <p:sp>
            <p:nvSpPr>
              <p:cNvPr id="10061" name="calendar-days-2"/>
              <p:cNvSpPr/>
              <p:nvPr/>
            </p:nvSpPr>
            <p:spPr>
              <ns1:xfrm xmlns:ns1="http://schemas.openxmlformats.org/drawingml/2006/main">
                <ns1:off x="2101453" y="3977878"/>
                <ns1:ext cx="321469" cy="321469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26789" cap="rnd">
                <ns5:solidFill>
                  <ns5:srgbClr val="39846C"/>
                </ns5:solidFill>
              </ns5:ln>
            </p:spPr>
          </p:sp>
          <p:sp>
            <p:nvSpPr>
              <p:cNvPr id="10062" name="calendar-days-3"/>
              <p:cNvSpPr/>
              <p:nvPr/>
            </p:nvSpPr>
            <p:spPr>
              <ns1:xfrm xmlns:ns1="http://schemas.openxmlformats.org/drawingml/2006/main">
                <ns1:off x="2047875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3000" y="9000"/>
                    </ns2:moveTo>
                    <ns2:lnTo>
                      <ns2:pt x="21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9846C"/>
                </ns4:solidFill>
              </ns4:ln>
            </p:spPr>
          </p:sp>
          <p:sp>
            <p:nvSpPr>
              <p:cNvPr id="10063" name="calendar-days-4"/>
              <p:cNvSpPr/>
              <p:nvPr/>
            </p:nvSpPr>
            <p:spPr>
              <ns1:xfrm xmlns:ns1="http://schemas.openxmlformats.org/drawingml/2006/main">
                <ns1:off x="2047875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3000"/>
                    </ns2:moveTo>
                    <ns2:lnTo>
                      <ns2:pt x="801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9846C"/>
                </ns4:solidFill>
              </ns4:ln>
            </p:spPr>
          </p:sp>
          <p:sp>
            <p:nvSpPr>
              <p:cNvPr id="10064" name="calendar-days-5"/>
              <p:cNvSpPr/>
              <p:nvPr/>
            </p:nvSpPr>
            <p:spPr>
              <ns1:xfrm xmlns:ns1="http://schemas.openxmlformats.org/drawingml/2006/main">
                <ns1:off x="2047875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3000"/>
                    </ns2:moveTo>
                    <ns2:lnTo>
                      <ns2:pt x="1201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9846C"/>
                </ns4:solidFill>
              </ns4:ln>
            </p:spPr>
          </p:sp>
          <p:sp>
            <p:nvSpPr>
              <p:cNvPr id="10065" name="calendar-days-6"/>
              <p:cNvSpPr/>
              <p:nvPr/>
            </p:nvSpPr>
            <p:spPr>
              <ns1:xfrm xmlns:ns1="http://schemas.openxmlformats.org/drawingml/2006/main">
                <ns1:off x="2047875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3000"/>
                    </ns2:moveTo>
                    <ns2:lnTo>
                      <ns2:pt x="1601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9846C"/>
                </ns4:solidFill>
              </ns4:ln>
            </p:spPr>
          </p:sp>
          <p:sp>
            <p:nvSpPr>
              <p:cNvPr id="10066" name="calendar-days-7"/>
              <p:cNvSpPr/>
              <p:nvPr/>
            </p:nvSpPr>
            <p:spPr>
              <ns1:xfrm xmlns:ns1="http://schemas.openxmlformats.org/drawingml/2006/main">
                <ns1:off x="2047875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8000" y="17000"/>
                    </ns2:moveTo>
                    <ns2:lnTo>
                      <ns2:pt x="801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9846C"/>
                </ns4:solidFill>
              </ns4:ln>
            </p:spPr>
          </p:sp>
          <p:sp>
            <p:nvSpPr>
              <p:cNvPr id="10067" name="calendar-days-8"/>
              <p:cNvSpPr/>
              <p:nvPr/>
            </p:nvSpPr>
            <p:spPr>
              <ns1:xfrm xmlns:ns1="http://schemas.openxmlformats.org/drawingml/2006/main">
                <ns1:off x="2047875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17000"/>
                    </ns2:moveTo>
                    <ns2:lnTo>
                      <ns2:pt x="1201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9846C"/>
                </ns4:solidFill>
              </ns4:ln>
            </p:spPr>
          </p:sp>
          <p:sp>
            <p:nvSpPr>
              <p:cNvPr id="10068" name="calendar-days-9"/>
              <p:cNvSpPr/>
              <p:nvPr/>
            </p:nvSpPr>
            <p:spPr>
              <ns1:xfrm xmlns:ns1="http://schemas.openxmlformats.org/drawingml/2006/main">
                <ns1:off x="2047875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1601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39846C"/>
                </ns4:solidFill>
              </ns4:ln>
            </p:spPr>
          </p:sp>
        </p:grpSp>
        <p:sp>
          <p:nvSpPr>
            <p:cNvPr id="10070" name="Context &amp; memory"/>
            <p:cNvSpPr/>
            <p:nvPr/>
          </p:nvSpPr>
          <p:spPr>
            <ns1:xfrm xmlns:ns1="http://schemas.openxmlformats.org/drawingml/2006/main">
              <ns1:off x="2619375" y="3924300"/>
              <ns1:ext cx="26670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Context &amp; memory</ns7:t>
              </ns7:r>
            </ns7:p>
          </p:txBody>
        </p:sp>
        <p:grpSp>
          <p:nvGrpSpPr>
            <p:cNvPr id="10073" name="shield-check editable icon"/>
            <p:cNvGrpSpPr/>
            <p:nvPr/>
          </p:nvGrpSpPr>
          <p:grpSpPr>
            <ns1:xfrm xmlns:ns1="http://schemas.openxmlformats.org/drawingml/2006/main">
              <ns1:off x="5810250" y="3924300"/>
              <ns1:ext cx="428625" cy="428625"/>
              <ns1:chOff x="5810250" y="3924300"/>
              <ns1:chExt cx="428625" cy="428625"/>
            </ns1:xfrm>
          </p:grpSpPr>
          <p:sp>
            <p:nvSpPr>
              <p:cNvPr id="10071" name="shield-check-0"/>
              <p:cNvSpPr/>
              <p:nvPr/>
            </p:nvSpPr>
            <p:spPr>
              <ns1:xfrm xmlns:ns1="http://schemas.openxmlformats.org/drawingml/2006/main">
                <ns1:off x="5810250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3000"/>
                    </ns2:moveTo>
                    <ns2:cubicBezTo>
                      <ns2:pt x="20000" y="18000"/>
                      <ns2:pt x="16500" y="20500"/>
                      <ns2:pt x="12340" y="21950"/>
                    </ns2:cubicBezTo>
                    <ns2:cubicBezTo>
                      <ns2:pt x="12122" y="22024"/>
                      <ns2:pt x="11886" y="22020"/>
                      <ns2:pt x="11670" y="21940"/>
                    </ns2:cubicBezTo>
                    <ns2:cubicBezTo>
                      <ns2:pt x="7500" y="20500"/>
                      <ns2:pt x="4000" y="18000"/>
                      <ns2:pt x="4000" y="13000"/>
                    </ns2:cubicBezTo>
                    <ns2:lnTo>
                      <ns2:pt x="4000" y="6000"/>
                    </ns2:lnTo>
                    <ns2:cubicBezTo>
                      <ns2:pt x="4000" y="5448"/>
                      <ns2:pt x="4448" y="5000"/>
                      <ns2:pt x="5000" y="5000"/>
                    </ns2:cubicBezTo>
                    <ns2:cubicBezTo>
                      <ns2:pt x="7000" y="5000"/>
                      <ns2:pt x="9500" y="3800"/>
                      <ns2:pt x="11240" y="2280"/>
                    </ns2:cubicBezTo>
                    <ns2:cubicBezTo>
                      <ns2:pt x="11678" y="1906"/>
                      <ns2:pt x="12322" y="1906"/>
                      <ns2:pt x="12760" y="2280"/>
                    </ns2:cubicBezTo>
                    <ns2:cubicBezTo>
                      <ns2:pt x="14510" y="3810"/>
                      <ns2:pt x="17000" y="5000"/>
                      <ns2:pt x="19000" y="5000"/>
                    </ns2:cubicBezTo>
                    <ns2:cubicBezTo>
                      <ns2:pt x="19552" y="5000"/>
                      <ns2:pt x="20000" y="5448"/>
                      <ns2:pt x="20000" y="6000"/>
                    </ns2:cubicBezTo>
                    <ns2:lnTo>
                      <ns2:pt x="20000" y="13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B47A31"/>
                </ns4:solidFill>
              </ns4:ln>
            </p:spPr>
          </p:sp>
          <p:sp>
            <p:nvSpPr>
              <p:cNvPr id="10072" name="shield-check-1"/>
              <p:cNvSpPr/>
              <p:nvPr/>
            </p:nvSpPr>
            <p:spPr>
              <ns1:xfrm xmlns:ns1="http://schemas.openxmlformats.org/drawingml/2006/main">
                <ns1:off x="5810250" y="3924300"/>
                <ns1:ext cx="428625" cy="42862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2000"/>
                    </ns2:moveTo>
                    <ns2:lnTo>
                      <ns2:pt x="11000" y="14000"/>
                    </ns2:lnTo>
                    <ns2:lnTo>
                      <ns2:pt x="15000" y="10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26789" cap="rnd">
                <ns4:solidFill>
                  <ns4:srgbClr val="B47A31"/>
                </ns4:solidFill>
              </ns4:ln>
            </p:spPr>
          </p:sp>
        </p:grpSp>
        <p:sp>
          <p:nvSpPr>
            <p:cNvPr id="10074" name="Validation"/>
            <p:cNvSpPr/>
            <p:nvPr/>
          </p:nvSpPr>
          <p:spPr>
            <ns1:xfrm xmlns:ns1="http://schemas.openxmlformats.org/drawingml/2006/main">
              <ns1:off x="6381750" y="3924300"/>
              <ns1:ext cx="2667000" cy="3810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1">
                  <ns7:solidFill>
                    <ns7:srgbClr val="B47A31"/>
                  </ns7:solidFill>
                  <ns7:latin typeface="Times New Roman"/>
                  <ns7:ea typeface="Times New Roman"/>
                </ns7:rPr>
                <ns7:t>Validation</ns7:t>
              </ns7:r>
            </ns7:p>
          </p:txBody>
        </p:sp>
        <p:sp>
          <p:nvSpPr>
            <p:cNvPr id="10075" name="time axis"/>
            <p:cNvSpPr/>
            <p:nvPr/>
          </p:nvSpPr>
          <p:spPr>
            <ns1:xfrm xmlns:ns1="http://schemas.openxmlformats.org/drawingml/2006/main">
              <ns1:off x="2238375" y="2743200"/>
              <ns1:ext cx="2476500" cy="5429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60000" h="57000" fill="none">
                  <ns2:moveTo>
                    <ns2:pt x="0" y="0"/>
                  </ns2:moveTo>
                  <ns2:lnTo>
                    <ns2:pt x="0" y="57000"/>
                  </ns2:lnTo>
                  <ns2:lnTo>
                    <ns2:pt x="260000" y="57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9525" cap="rnd">
              <ns4:solidFill>
                <ns4:srgbClr val="AEBBC6"/>
              </ns4:solidFill>
            </ns4:ln>
          </p:spPr>
        </p:sp>
        <p:sp>
          <p:nvSpPr>
            <p:cNvPr id="10076" name="temporal signal"/>
            <p:cNvSpPr/>
            <p:nvPr/>
          </p:nvSpPr>
          <p:spPr>
            <ns1:xfrm xmlns:ns1="http://schemas.openxmlformats.org/drawingml/2006/main">
              <ns1:off x="2333625" y="2818358"/>
              <ns1:ext cx="952500" cy="28005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00" h="29402" fill="none">
                  <ns2:moveTo>
                    <ns2:pt x="0" y="20609"/>
                  </ns2:moveTo>
                  <ns2:lnTo>
                    <ns2:pt x="8333" y="29402"/>
                  </ns2:lnTo>
                  <ns2:lnTo>
                    <ns2:pt x="16667" y="7115"/>
                  </ns2:lnTo>
                  <ns2:lnTo>
                    <ns2:pt x="25000" y="21409"/>
                  </ns2:lnTo>
                  <ns2:lnTo>
                    <ns2:pt x="33333" y="23727"/>
                  </ns2:lnTo>
                  <ns2:lnTo>
                    <ns2:pt x="41667" y="3560"/>
                  </ns2:lnTo>
                  <ns2:lnTo>
                    <ns2:pt x="50000" y="21833"/>
                  </ns2:lnTo>
                  <ns2:lnTo>
                    <ns2:pt x="58333" y="17347"/>
                  </ns2:lnTo>
                  <ns2:lnTo>
                    <ns2:pt x="66667" y="1208"/>
                  </ns2:lnTo>
                  <ns2:lnTo>
                    <ns2:pt x="75000" y="21545"/>
                  </ns2:lnTo>
                  <ns2:lnTo>
                    <ns2:pt x="83333" y="10602"/>
                  </ns2:lnTo>
                  <ns2:lnTo>
                    <ns2:pt x="91667" y="0"/>
                  </ns2:lnTo>
                  <ns2:lnTo>
                    <ns2:pt x="100000" y="20276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sp>
          <p:nvSpPr>
            <p:cNvPr id="10077" name="temporal signal"/>
            <p:cNvSpPr/>
            <p:nvPr/>
          </p:nvSpPr>
          <p:spPr>
            <ns1:xfrm xmlns:ns1="http://schemas.openxmlformats.org/drawingml/2006/main">
              <ns1:off x="3733800" y="2818358"/>
              <ns1:ext cx="914400" cy="28005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96000" h="29402" fill="none">
                  <ns2:moveTo>
                    <ns2:pt x="0" y="20609"/>
                  </ns2:moveTo>
                  <ns2:lnTo>
                    <ns2:pt x="8000" y="29402"/>
                  </ns2:lnTo>
                  <ns2:lnTo>
                    <ns2:pt x="16000" y="7115"/>
                  </ns2:lnTo>
                  <ns2:lnTo>
                    <ns2:pt x="24000" y="21409"/>
                  </ns2:lnTo>
                  <ns2:lnTo>
                    <ns2:pt x="32000" y="23727"/>
                  </ns2:lnTo>
                  <ns2:lnTo>
                    <ns2:pt x="40000" y="3560"/>
                  </ns2:lnTo>
                  <ns2:lnTo>
                    <ns2:pt x="48000" y="21833"/>
                  </ns2:lnTo>
                  <ns2:lnTo>
                    <ns2:pt x="56000" y="17347"/>
                  </ns2:lnTo>
                  <ns2:lnTo>
                    <ns2:pt x="64000" y="1208"/>
                  </ns2:lnTo>
                  <ns2:lnTo>
                    <ns2:pt x="72000" y="21545"/>
                  </ns2:lnTo>
                  <ns2:lnTo>
                    <ns2:pt x="80000" y="10602"/>
                  </ns2:lnTo>
                  <ns2:lnTo>
                    <ns2:pt x="88000" y="0"/>
                  </ns2:lnTo>
                  <ns2:lnTo>
                    <ns2:pt x="96000" y="20276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376A0"/>
              </ns4:solidFill>
            </ns4:ln>
          </p:spPr>
        </p:sp>
        <p:sp>
          <p:nvSpPr>
            <p:cNvPr id="10078" name="timestamps · units · missingness"/>
            <p:cNvSpPr/>
            <p:nvPr/>
          </p:nvSpPr>
          <p:spPr>
            <ns1:xfrm xmlns:ns1="http://schemas.openxmlformats.org/drawingml/2006/main">
              <ns1:off x="2047875" y="3362325"/>
              <ns1:ext cx="314325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timestamps · units · missingness</ns7:t>
              </ns7:r>
            </ns7:p>
          </p:txBody>
        </p:sp>
        <p:sp>
          <p:nvSpPr>
            <p:cNvPr id="10079" name="window"/>
            <p:cNvSpPr/>
            <p:nvPr/>
          </p:nvSpPr>
          <p:spPr>
            <ns1:xfrm xmlns:ns1="http://schemas.openxmlformats.org/drawingml/2006/main">
              <ns1:off x="7096125" y="2714625"/>
              <ns1:ext cx="571500" cy="600075"/>
            </ns1:xfrm>
            <ns2:prstGeom xmlns:ns2="http://schemas.openxmlformats.org/drawingml/2006/main" prst="rect">
              <ns2:avLst/>
            </ns2:prstGeom>
            <ns3:solidFill xmlns:ns3="http://schemas.openxmlformats.org/drawingml/2006/main">
              <ns3:srgbClr val="EEE9F5"/>
            </ns3:solidFill>
            <ns4:ln xmlns:ns4="http://schemas.openxmlformats.org/drawingml/2006/main" w="9525" cap="rnd">
              <ns4:noFill/>
            </ns4:ln>
          </p:spPr>
        </p:sp>
        <p:sp>
          <p:nvSpPr>
            <p:cNvPr id="10080" name="temporal signal"/>
            <p:cNvSpPr/>
            <p:nvPr/>
          </p:nvSpPr>
          <p:spPr>
            <ns1:xfrm xmlns:ns1="http://schemas.openxmlformats.org/drawingml/2006/main">
              <ns1:off x="6076950" y="2795750"/>
              <ns1:ext cx="2571750" cy="305516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0000" h="32075" fill="none">
                  <ns2:moveTo>
                    <ns2:pt x="0" y="22483"/>
                  </ns2:moveTo>
                  <ns2:lnTo>
                    <ns2:pt x="22500" y="32075"/>
                  </ns2:lnTo>
                  <ns2:lnTo>
                    <ns2:pt x="45000" y="7762"/>
                  </ns2:lnTo>
                  <ns2:lnTo>
                    <ns2:pt x="67500" y="23355"/>
                  </ns2:lnTo>
                  <ns2:lnTo>
                    <ns2:pt x="90000" y="25884"/>
                  </ns2:lnTo>
                  <ns2:lnTo>
                    <ns2:pt x="112500" y="3883"/>
                  </ns2:lnTo>
                  <ns2:lnTo>
                    <ns2:pt x="135000" y="23818"/>
                  </ns2:lnTo>
                  <ns2:lnTo>
                    <ns2:pt x="157500" y="18924"/>
                  </ns2:lnTo>
                  <ns2:lnTo>
                    <ns2:pt x="180000" y="1318"/>
                  </ns2:lnTo>
                  <ns2:lnTo>
                    <ns2:pt x="202500" y="23503"/>
                  </ns2:lnTo>
                  <ns2:lnTo>
                    <ns2:pt x="225000" y="11566"/>
                  </ns2:lnTo>
                  <ns2:lnTo>
                    <ns2:pt x="247500" y="0"/>
                  </ns2:lnTo>
                  <ns2:lnTo>
                    <ns2:pt x="270000" y="2212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68528D"/>
              </ns4:solidFill>
            </ns4:ln>
          </p:spPr>
        </p:sp>
        <p:sp>
          <p:nvSpPr>
            <p:cNvPr id="10081" name="windows · transforms · models"/>
            <p:cNvSpPr/>
            <p:nvPr/>
          </p:nvSpPr>
          <p:spPr>
            <ns1:xfrm xmlns:ns1="http://schemas.openxmlformats.org/drawingml/2006/main">
              <ns1:off x="5810250" y="3362325"/>
              <ns1:ext cx="314325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windows · transforms · models</ns7:t>
              </ns7:r>
            </ns7:p>
          </p:txBody>
        </p:sp>
        <p:sp>
          <p:nvSpPr>
            <p:cNvPr id="10082" name="temporal signal"/>
            <p:cNvSpPr/>
            <p:nvPr/>
          </p:nvSpPr>
          <p:spPr>
            <ns1:xfrm xmlns:ns1="http://schemas.openxmlformats.org/drawingml/2006/main">
              <ns1:off x="2190750" y="4578075"/>
              <ns1:ext cx="2571750" cy="229137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0000" h="24056" fill="none">
                  <ns2:moveTo>
                    <ns2:pt x="0" y="16862"/>
                  </ns2:moveTo>
                  <ns2:lnTo>
                    <ns2:pt x="22500" y="24056"/>
                  </ns2:lnTo>
                  <ns2:lnTo>
                    <ns2:pt x="45000" y="5821"/>
                  </ns2:lnTo>
                  <ns2:lnTo>
                    <ns2:pt x="67500" y="17516"/>
                  </ns2:lnTo>
                  <ns2:lnTo>
                    <ns2:pt x="90000" y="19413"/>
                  </ns2:lnTo>
                  <ns2:lnTo>
                    <ns2:pt x="112500" y="2912"/>
                  </ns2:lnTo>
                  <ns2:lnTo>
                    <ns2:pt x="135000" y="17864"/>
                  </ns2:lnTo>
                  <ns2:lnTo>
                    <ns2:pt x="157500" y="14193"/>
                  </ns2:lnTo>
                  <ns2:lnTo>
                    <ns2:pt x="180000" y="989"/>
                  </ns2:lnTo>
                  <ns2:lnTo>
                    <ns2:pt x="202500" y="17628"/>
                  </ns2:lnTo>
                  <ns2:lnTo>
                    <ns2:pt x="225000" y="8675"/>
                  </ns2:lnTo>
                  <ns2:lnTo>
                    <ns2:pt x="247500" y="0"/>
                  </ns2:lnTo>
                  <ns2:lnTo>
                    <ns2:pt x="270000" y="1659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8575" cap="rnd">
              <ns4:solidFill>
                <ns4:srgbClr val="39846C"/>
              </ns4:solidFill>
            </ns4:ln>
          </p:spPr>
        </p:sp>
        <p:grpSp>
          <p:nvGrpSpPr>
            <p:cNvPr id="10088" name="file-text editable icon"/>
            <p:cNvGrpSpPr/>
            <p:nvPr/>
          </p:nvGrpSpPr>
          <p:grpSpPr>
            <ns1:xfrm xmlns:ns1="http://schemas.openxmlformats.org/drawingml/2006/main">
              <ns1:off x="3286125" y="4381500"/>
              <ns1:ext cx="257175" cy="257175"/>
              <ns1:chOff x="3286125" y="4381500"/>
              <ns1:chExt cx="257175" cy="257175"/>
            </ns1:xfrm>
          </p:grpSpPr>
          <p:sp>
            <p:nvSpPr>
              <p:cNvPr id="10083" name="file-text-0"/>
              <p:cNvSpPr/>
              <p:nvPr/>
            </p:nvSpPr>
            <p:spPr>
              <ns1:xfrm xmlns:ns1="http://schemas.openxmlformats.org/drawingml/2006/main">
                <ns1:off x="3286125" y="4381500"/>
                <ns1:ext cx="257175" cy="2571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6000" y="22000"/>
                    </ns2:moveTo>
                    <ns2:cubicBezTo>
                      <ns2:pt x="4895" y="22000"/>
                      <ns2:pt x="4000" y="21105"/>
                      <ns2:pt x="4000" y="20000"/>
                    </ns2:cubicBezTo>
                    <ns2:lnTo>
                      <ns2:pt x="4000" y="4000"/>
                    </ns2:lnTo>
                    <ns2:cubicBezTo>
                      <ns2:pt x="4000" y="2895"/>
                      <ns2:pt x="4895" y="2000"/>
                      <ns2:pt x="6000" y="2000"/>
                    </ns2:cubicBezTo>
                    <ns2:lnTo>
                      <ns2:pt x="14000" y="2000"/>
                    </ns2:lnTo>
                    <ns2:cubicBezTo>
                      <ns2:pt x="14639" y="1999"/>
                      <ns2:pt x="15253" y="2253"/>
                      <ns2:pt x="15704" y="2706"/>
                    </ns2:cubicBezTo>
                    <ns2:lnTo>
                      <ns2:pt x="19292" y="6294"/>
                    </ns2:lnTo>
                    <ns2:cubicBezTo>
                      <ns2:pt x="19746" y="6745"/>
                      <ns2:pt x="20001" y="7360"/>
                      <ns2:pt x="20000" y="8000"/>
                    </ns2:cubicBezTo>
                    <ns2:lnTo>
                      <ns2:pt x="20000" y="20000"/>
                    </ns2:lnTo>
                    <ns2:cubicBezTo>
                      <ns2:pt x="20000" y="21105"/>
                      <ns2:pt x="19105" y="22000"/>
                      <ns2:pt x="18000" y="22000"/>
                    </ns2:cubicBezTo>
                    <ns2:lnTo>
                      <ns2:pt x="6000" y="2200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073" cap="rnd">
                <ns4:solidFill>
                  <ns4:srgbClr val="39846C"/>
                </ns4:solidFill>
              </ns4:ln>
            </p:spPr>
          </p:sp>
          <p:sp>
            <p:nvSpPr>
              <p:cNvPr id="10084" name="file-text-1"/>
              <p:cNvSpPr/>
              <p:nvPr/>
            </p:nvSpPr>
            <p:spPr>
              <ns1:xfrm xmlns:ns1="http://schemas.openxmlformats.org/drawingml/2006/main">
                <ns1:off x="3286125" y="4381500"/>
                <ns1:ext cx="257175" cy="2571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4000" y="2000"/>
                    </ns2:moveTo>
                    <ns2:lnTo>
                      <ns2:pt x="14000" y="7000"/>
                    </ns2:lnTo>
                    <ns2:cubicBezTo>
                      <ns2:pt x="14000" y="7552"/>
                      <ns2:pt x="14448" y="8000"/>
                      <ns2:pt x="15000" y="8000"/>
                    </ns2:cubicBezTo>
                    <ns2:lnTo>
                      <ns2:pt x="20000" y="8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073" cap="rnd">
                <ns4:solidFill>
                  <ns4:srgbClr val="39846C"/>
                </ns4:solidFill>
              </ns4:ln>
            </p:spPr>
          </p:sp>
          <p:sp>
            <p:nvSpPr>
              <p:cNvPr id="10085" name="file-text-2"/>
              <p:cNvSpPr/>
              <p:nvPr/>
            </p:nvSpPr>
            <p:spPr>
              <ns1:xfrm xmlns:ns1="http://schemas.openxmlformats.org/drawingml/2006/main">
                <ns1:off x="3286125" y="4381500"/>
                <ns1:ext cx="257175" cy="2571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0000" y="9000"/>
                    </ns2:moveTo>
                    <ns2:lnTo>
                      <ns2:pt x="8000" y="9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073" cap="rnd">
                <ns4:solidFill>
                  <ns4:srgbClr val="39846C"/>
                </ns4:solidFill>
              </ns4:ln>
            </p:spPr>
          </p:sp>
          <p:sp>
            <p:nvSpPr>
              <p:cNvPr id="10086" name="file-text-3"/>
              <p:cNvSpPr/>
              <p:nvPr/>
            </p:nvSpPr>
            <p:spPr>
              <ns1:xfrm xmlns:ns1="http://schemas.openxmlformats.org/drawingml/2006/main">
                <ns1:off x="3286125" y="4381500"/>
                <ns1:ext cx="257175" cy="2571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3000"/>
                    </ns2:moveTo>
                    <ns2:lnTo>
                      <ns2:pt x="8000" y="13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073" cap="rnd">
                <ns4:solidFill>
                  <ns4:srgbClr val="39846C"/>
                </ns4:solidFill>
              </ns4:ln>
            </p:spPr>
          </p:sp>
          <p:sp>
            <p:nvSpPr>
              <p:cNvPr id="10087" name="file-text-4"/>
              <p:cNvSpPr/>
              <p:nvPr/>
            </p:nvSpPr>
            <p:spPr>
              <ns1:xfrm xmlns:ns1="http://schemas.openxmlformats.org/drawingml/2006/main">
                <ns1:off x="3286125" y="4381500"/>
                <ns1:ext cx="257175" cy="2571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6000" y="17000"/>
                    </ns2:moveTo>
                    <ns2:lnTo>
                      <ns2:pt x="8000" y="17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16073" cap="rnd">
                <ns4:solidFill>
                  <ns4:srgbClr val="39846C"/>
                </ns4:solidFill>
              </ns4:ln>
            </p:spPr>
          </p:sp>
        </p:grpSp>
        <p:sp>
          <p:nvSpPr>
            <p:cNvPr id="10089" name="event alignment"/>
            <p:cNvSpPr/>
            <p:nvPr/>
          </p:nvSpPr>
          <p:spPr>
            <ns1:xfrm xmlns:ns1="http://schemas.openxmlformats.org/drawingml/2006/main">
              <ns1:off x="3400425" y="4648200"/>
              <ns1:ext cx="9525" cy="33337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" h="35000" fill="none">
                  <ns2:moveTo>
                    <ns2:pt x="0" y="0"/>
                  </ns2:moveTo>
                  <ns2:lnTo>
                    <ns2:pt x="0" y="35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4288" cap="rnd">
              <ns4:solidFill>
                <ns4:srgbClr val="39846C"/>
              </ns4:solidFill>
            </ns4:ln>
          </p:spPr>
        </p:sp>
        <p:sp>
          <p:nvSpPr>
            <p:cNvPr id="10090" name="events aligned with observations"/>
            <p:cNvSpPr/>
            <p:nvPr/>
          </p:nvSpPr>
          <p:spPr>
            <ns1:xfrm xmlns:ns1="http://schemas.openxmlformats.org/drawingml/2006/main">
              <ns1:off x="2047875" y="5172075"/>
              <ns1:ext cx="3190875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75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events aligned with observations</ns7:t>
              </ns7:r>
            </ns7:p>
          </p:txBody>
        </p:sp>
        <p:sp>
          <p:nvSpPr>
            <p:cNvPr id="10091" name="validity timeline"/>
            <p:cNvSpPr/>
            <p:nvPr/>
          </p:nvSpPr>
          <p:spPr>
            <ns1:xfrm xmlns:ns1="http://schemas.openxmlformats.org/drawingml/2006/main">
              <ns1:off x="6048375" y="4876800"/>
              <ns1:ext cx="25717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270000" h="1000" fill="none">
                  <ns2:moveTo>
                    <ns2:pt x="0" y="0"/>
                  </ns2:moveTo>
                  <ns2:lnTo>
                    <ns2:pt x="27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647788"/>
              </ns4:solidFill>
            </ns4:ln>
          </p:spPr>
        </p:sp>
        <p:sp>
          <p:nvSpPr>
            <p:cNvPr id="10092" name="availability cutoff"/>
            <p:cNvSpPr/>
            <p:nvPr/>
          </p:nvSpPr>
          <p:spPr>
            <ns1:xfrm xmlns:ns1="http://schemas.openxmlformats.org/drawingml/2006/main">
              <ns1:off x="7972425" y="4514850"/>
              <ns1:ext cx="9525" cy="533400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1000" h="56000" fill="none">
                  <ns2:moveTo>
                    <ns2:pt x="0" y="0"/>
                  </ns2:moveTo>
                  <ns2:lnTo>
                    <ns2:pt x="0" y="5600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19050" cap="rnd">
              <ns4:solidFill>
                <ns4:srgbClr val="B7524A"/>
              </ns4:solidFill>
            </ns4:ln>
          </p:spPr>
        </p:sp>
        <p:sp>
          <p:nvSpPr>
            <p:cNvPr id="10093" name="admitted"/>
            <p:cNvSpPr/>
            <p:nvPr/>
          </p:nvSpPr>
          <p:spPr>
            <ns1:xfrm xmlns:ns1="http://schemas.openxmlformats.org/drawingml/2006/main">
              <ns1:off x="6238875" y="4810125"/>
              <ns1:ext cx="133350" cy="133350"/>
            </ns1:xfrm>
            <ns2:prstGeom xmlns:ns2="http://schemas.openxmlformats.org/drawingml/2006/main" prst="ellipse">
              <ns2:avLst/>
            </ns2:prstGeom>
            <ns3:solidFill xmlns:ns3="http://schemas.openxmlformats.org/drawingml/2006/main">
              <ns3:srgbClr val="39846C"/>
            </ns3:solidFill>
            <ns4:ln xmlns:ns4="http://schemas.openxmlformats.org/drawingml/2006/main" w="9525" cap="rnd">
              <ns4:noFill/>
            </ns4:ln>
          </p:spPr>
        </p:sp>
        <p:sp>
          <p:nvSpPr>
            <p:cNvPr id="10094" name="admitted"/>
            <p:cNvSpPr/>
            <p:nvPr/>
          </p:nvSpPr>
          <p:spPr>
            <ns1:xfrm xmlns:ns1="http://schemas.openxmlformats.org/drawingml/2006/main">
              <ns1:off x="6743700" y="4810125"/>
              <ns1:ext cx="133350" cy="133350"/>
            </ns1:xfrm>
            <ns2:prstGeom xmlns:ns2="http://schemas.openxmlformats.org/drawingml/2006/main" prst="ellipse">
              <ns2:avLst/>
            </ns2:prstGeom>
            <ns3:solidFill xmlns:ns3="http://schemas.openxmlformats.org/drawingml/2006/main">
              <ns3:srgbClr val="39846C"/>
            </ns3:solidFill>
            <ns4:ln xmlns:ns4="http://schemas.openxmlformats.org/drawingml/2006/main" w="9525" cap="rnd">
              <ns4:noFill/>
            </ns4:ln>
          </p:spPr>
        </p:sp>
        <p:sp>
          <p:nvSpPr>
            <p:cNvPr id="10095" name="admitted"/>
            <p:cNvSpPr/>
            <p:nvPr/>
          </p:nvSpPr>
          <p:spPr>
            <ns1:xfrm xmlns:ns1="http://schemas.openxmlformats.org/drawingml/2006/main">
              <ns1:off x="7239000" y="4810125"/>
              <ns1:ext cx="133350" cy="133350"/>
            </ns1:xfrm>
            <ns2:prstGeom xmlns:ns2="http://schemas.openxmlformats.org/drawingml/2006/main" prst="ellipse">
              <ns2:avLst/>
            </ns2:prstGeom>
            <ns3:solidFill xmlns:ns3="http://schemas.openxmlformats.org/drawingml/2006/main">
              <ns3:srgbClr val="39846C"/>
            </ns3:solidFill>
            <ns4:ln xmlns:ns4="http://schemas.openxmlformats.org/drawingml/2006/main" w="9525" cap="rnd">
              <ns4:noFill/>
            </ns4:ln>
          </p:spPr>
        </p:sp>
        <p:sp>
          <p:nvSpPr>
            <p:cNvPr id="10096" name="admitted"/>
            <p:cNvSpPr/>
            <p:nvPr/>
          </p:nvSpPr>
          <p:spPr>
            <ns1:xfrm xmlns:ns1="http://schemas.openxmlformats.org/drawingml/2006/main">
              <ns1:off x="7724775" y="4810125"/>
              <ns1:ext cx="133350" cy="133350"/>
            </ns1:xfrm>
            <ns2:prstGeom xmlns:ns2="http://schemas.openxmlformats.org/drawingml/2006/main" prst="ellipse">
              <ns2:avLst/>
            </ns2:prstGeom>
            <ns3:solidFill xmlns:ns3="http://schemas.openxmlformats.org/drawingml/2006/main">
              <ns3:srgbClr val="39846C"/>
            </ns3:solidFill>
            <ns4:ln xmlns:ns4="http://schemas.openxmlformats.org/drawingml/2006/main" w="9525" cap="rnd">
              <ns4:noFill/>
            </ns4:ln>
          </p:spPr>
        </p:sp>
        <p:sp>
          <p:nvSpPr>
            <p:cNvPr id="10097" name="excluded"/>
            <p:cNvSpPr/>
            <p:nvPr/>
          </p:nvSpPr>
          <p:spPr>
            <ns1:xfrm xmlns:ns1="http://schemas.openxmlformats.org/drawingml/2006/main">
              <ns1:off x="8382000" y="4810125"/>
              <ns1:ext cx="133350" cy="133350"/>
            </ns1:xfrm>
            <ns2:prstGeom xmlns:ns2="http://schemas.openxmlformats.org/drawingml/2006/main" prst="ellipse">
              <ns2:avLst/>
            </ns2:prstGeom>
            <ns3:noFill xmlns:ns3="http://schemas.openxmlformats.org/drawingml/2006/main"/>
            <ns4:ln xmlns:ns4="http://schemas.openxmlformats.org/drawingml/2006/main" w="9525" cap="rnd">
              <ns4:solidFill>
                <ns4:srgbClr val="B7524A"/>
              </ns4:solidFill>
            </ns4:ln>
          </p:spPr>
        </p:sp>
        <p:sp>
          <p:nvSpPr>
            <p:cNvPr id="10098" name="v ≤ τ"/>
            <p:cNvSpPr/>
            <p:nvPr/>
          </p:nvSpPr>
          <p:spPr>
            <ns1:xfrm xmlns:ns1="http://schemas.openxmlformats.org/drawingml/2006/main">
              <ns1:off x="6496050" y="5133975"/>
              <ns1:ext cx="1333500" cy="3048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950" b="0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v ≤ τ</ns7:t>
              </ns7:r>
            </ns7:p>
          </p:txBody>
        </p:sp>
        <p:sp>
          <p:nvSpPr>
            <p:cNvPr id="10099" name="τ"/>
            <p:cNvSpPr/>
            <p:nvPr/>
          </p:nvSpPr>
          <p:spPr>
            <ns1:xfrm xmlns:ns1="http://schemas.openxmlformats.org/drawingml/2006/main">
              <ns1:off x="7810500" y="4257675"/>
              <ns1:ext cx="38100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75" b="0">
                  <ns7:solidFill>
                    <ns7:srgbClr val="B7524A"/>
                  </ns7:solidFill>
                  <ns7:latin typeface="Times New Roman"/>
                  <ns7:ea typeface="Times New Roman"/>
                </ns7:rPr>
                <ns7:t>τ</ns7:t>
              </ns7:r>
            </ns7:p>
          </p:txBody>
        </p:sp>
        <p:grpSp>
          <p:nvGrpSpPr>
            <p:cNvPr id="10103" name="layers editable icon"/>
            <p:cNvGrpSpPr/>
            <p:nvPr/>
          </p:nvGrpSpPr>
          <p:grpSpPr>
            <ns1:xfrm xmlns:ns1="http://schemas.openxmlformats.org/drawingml/2006/main">
              <ns1:off x="333375" y="2905125"/>
              <ns1:ext cx="638175" cy="638175"/>
              <ns1:chOff x="333375" y="2905125"/>
              <ns1:chExt cx="638175" cy="638175"/>
            </ns1:xfrm>
          </p:grpSpPr>
          <p:sp>
            <p:nvSpPr>
              <p:cNvPr id="10100" name="layers-0"/>
              <p:cNvSpPr/>
              <p:nvPr/>
            </p:nvSpPr>
            <p:spPr>
              <ns1:xfrm xmlns:ns1="http://schemas.openxmlformats.org/drawingml/2006/main">
                <ns1:off x="333375" y="2905125"/>
                <ns1:ext cx="638175" cy="6381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830" y="2180"/>
                    </ns2:moveTo>
                    <ns2:cubicBezTo>
                      <ns2:pt x="12303" y="1940"/>
                      <ns2:pt x="11697" y="1940"/>
                      <ns2:pt x="11170" y="2180"/>
                    </ns2:cubicBezTo>
                    <ns2:lnTo>
                      <ns2:pt x="2600" y="6080"/>
                    </ns2:lnTo>
                    <ns2:cubicBezTo>
                      <ns2:pt x="2237" y="6240"/>
                      <ns2:pt x="2003" y="6599"/>
                      <ns2:pt x="2003" y="6995"/>
                    </ns2:cubicBezTo>
                    <ns2:cubicBezTo>
                      <ns2:pt x="2003" y="7391"/>
                      <ns2:pt x="2237" y="7750"/>
                      <ns2:pt x="2600" y="7910"/>
                    </ns2:cubicBezTo>
                    <ns2:lnTo>
                      <ns2:pt x="11180" y="11820"/>
                    </ns2:lnTo>
                    <ns2:cubicBezTo>
                      <ns2:pt x="11707" y="12060"/>
                      <ns2:pt x="12313" y="12060"/>
                      <ns2:pt x="12840" y="11820"/>
                    </ns2:cubicBezTo>
                    <ns2:lnTo>
                      <ns2:pt x="21420" y="7920"/>
                    </ns2:lnTo>
                    <ns2:cubicBezTo>
                      <ns2:pt x="21783" y="7760"/>
                      <ns2:pt x="22017" y="7401"/>
                      <ns2:pt x="22017" y="7005"/>
                    </ns2:cubicBezTo>
                    <ns2:cubicBezTo>
                      <ns2:pt x="22017" y="6609"/>
                      <ns2:pt x="21783" y="6250"/>
                      <ns2:pt x="21420" y="6090"/>
                    </ns2:cubicBezTo>
                    <ns2:lnTo>
                      <ns2:pt x="12830" y="2180"/>
                    </ns2:lnTo>
                    <ns2:close/>
                  </ns2:path>
                </ns2:pathLst>
              </ns2:custGeom>
              <ns3:noFill xmlns:ns3="http://schemas.openxmlformats.org/drawingml/2006/main"/>
              <ns4:ln xmlns:ns4="http://schemas.openxmlformats.org/drawingml/2006/main" w="39886" cap="rnd">
                <ns4:solidFill>
                  <ns4:srgbClr val="3376A0"/>
                </ns4:solidFill>
              </ns4:ln>
            </p:spPr>
          </p:sp>
          <p:sp>
            <p:nvSpPr>
              <p:cNvPr id="10101" name="layers-1"/>
              <p:cNvSpPr/>
              <p:nvPr/>
            </p:nvSpPr>
            <p:spPr>
              <ns1:xfrm xmlns:ns1="http://schemas.openxmlformats.org/drawingml/2006/main">
                <ns1:off x="333375" y="2905125"/>
                <ns1:ext cx="638175" cy="6381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2000"/>
                    </ns2:moveTo>
                    <ns2:cubicBezTo>
                      <ns2:pt x="1999" y="12391"/>
                      <ns2:pt x="2226" y="12746"/>
                      <ns2:pt x="2580" y="12910"/>
                    </ns2:cubicBezTo>
                    <ns2:lnTo>
                      <ns2:pt x="11180" y="16820"/>
                    </ns2:lnTo>
                    <ns2:cubicBezTo>
                      <ns2:pt x="11704" y="17057"/>
                      <ns2:pt x="12306" y="17057"/>
                      <ns2:pt x="12830" y="16820"/>
                    </ns2:cubicBezTo>
                    <ns2:lnTo>
                      <ns2:pt x="21410" y="12920"/>
                    </ns2:lnTo>
                    <ns2:cubicBezTo>
                      <ns2:pt x="21772" y="12757"/>
                      <ns2:pt x="22003" y="12397"/>
                      <ns2:pt x="22000" y="12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9886" cap="rnd">
                <ns4:solidFill>
                  <ns4:srgbClr val="3376A0"/>
                </ns4:solidFill>
              </ns4:ln>
            </p:spPr>
          </p:sp>
          <p:sp>
            <p:nvSpPr>
              <p:cNvPr id="10102" name="layers-2"/>
              <p:cNvSpPr/>
              <p:nvPr/>
            </p:nvSpPr>
            <p:spPr>
              <ns1:xfrm xmlns:ns1="http://schemas.openxmlformats.org/drawingml/2006/main">
                <ns1:off x="333375" y="2905125"/>
                <ns1:ext cx="638175" cy="638175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7000"/>
                    </ns2:moveTo>
                    <ns2:cubicBezTo>
                      <ns2:pt x="1999" y="17391"/>
                      <ns2:pt x="2226" y="17746"/>
                      <ns2:pt x="2580" y="17910"/>
                    </ns2:cubicBezTo>
                    <ns2:lnTo>
                      <ns2:pt x="11180" y="21820"/>
                    </ns2:lnTo>
                    <ns2:cubicBezTo>
                      <ns2:pt x="11704" y="22057"/>
                      <ns2:pt x="12306" y="22057"/>
                      <ns2:pt x="12830" y="21820"/>
                    </ns2:cubicBezTo>
                    <ns2:lnTo>
                      <ns2:pt x="21410" y="17920"/>
                    </ns2:lnTo>
                    <ns2:cubicBezTo>
                      <ns2:pt x="21772" y="17757"/>
                      <ns2:pt x="22003" y="17397"/>
                      <ns2:pt x="22000" y="17000"/>
                    </ns2:cubicBez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39886" cap="rnd">
                <ns4:solidFill>
                  <ns4:srgbClr val="3376A0"/>
                </ns4:solidFill>
              </ns4:ln>
            </p:spPr>
          </p:sp>
        </p:grpSp>
        <p:sp>
          <p:nvSpPr>
            <p:cNvPr id="10104" name="Stored sources"/>
            <p:cNvSpPr/>
            <p:nvPr/>
          </p:nvSpPr>
          <p:spPr>
            <ns1:xfrm xmlns:ns1="http://schemas.openxmlformats.org/drawingml/2006/main">
              <ns1:off x="0" y="3724275"/>
              <ns1:ext cx="1666875" cy="34290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1">
                  <ns7:solidFill>
                    <ns7:srgbClr val="3376A0"/>
                  </ns7:solidFill>
                  <ns7:latin typeface="Times New Roman"/>
                  <ns7:ea typeface="Times New Roman"/>
                </ns7:rPr>
                <ns7:t>Stored sources</ns7:t>
              </ns7:r>
            </ns7:p>
          </p:txBody>
        </p:sp>
        <p:grpSp>
          <p:nvGrpSpPr>
            <p:cNvPr id="10111" name="bot editable icon"/>
            <p:cNvGrpSpPr/>
            <p:nvPr/>
          </p:nvGrpSpPr>
          <p:grpSpPr>
            <ns1:xfrm xmlns:ns1="http://schemas.openxmlformats.org/drawingml/2006/main">
              <ns1:off x="10001250" y="2905125"/>
              <ns1:ext cx="723900" cy="723900"/>
              <ns1:chOff x="10001250" y="2905125"/>
              <ns1:chExt cx="723900" cy="723900"/>
            </ns1:xfrm>
          </p:grpSpPr>
          <p:sp>
            <p:nvSpPr>
              <p:cNvPr id="10105" name="bot-0"/>
              <p:cNvSpPr/>
              <p:nvPr/>
            </p:nvSpPr>
            <p:spPr>
              <ns1:xfrm xmlns:ns1="http://schemas.openxmlformats.org/drawingml/2006/main">
                <ns1:off x="10001250" y="2905125"/>
                <ns1:ext cx="723900" cy="7239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2000" y="8000"/>
                    </ns2:moveTo>
                    <ns2:lnTo>
                      <ns2:pt x="12000" y="4000"/>
                    </ns2:lnTo>
                    <ns2:lnTo>
                      <ns2:pt x="8000" y="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5244" cap="rnd">
                <ns4:solidFill>
                  <ns4:srgbClr val="68528D"/>
                </ns4:solidFill>
              </ns4:ln>
            </p:spPr>
          </p:sp>
          <p:sp>
            <p:nvSpPr>
              <p:cNvPr id="10106" name="bot-1"/>
              <p:cNvSpPr/>
              <p:nvPr/>
            </p:nvSpPr>
            <p:spPr>
              <ns1:xfrm xmlns:ns1="http://schemas.openxmlformats.org/drawingml/2006/main">
                <ns1:off x="10121900" y="3146425"/>
                <ns1:ext cx="482600" cy="361950"/>
              </ns1:xfrm>
              <ns2:prstGeom xmlns:ns2="http://schemas.openxmlformats.org/drawingml/2006/main" prst="roundRect">
                <ns2:avLst/>
              </ns2:prstGeom>
              <ns3:noFill xmlns:ns3="http://schemas.openxmlformats.org/drawingml/2006/main"/>
              <ns5:ln xmlns:ns5="http://schemas.openxmlformats.org/drawingml/2006/main" w="45244" cap="rnd">
                <ns5:solidFill>
                  <ns5:srgbClr val="68528D"/>
                </ns5:solidFill>
              </ns5:ln>
            </p:spPr>
          </p:sp>
          <p:sp>
            <p:nvSpPr>
              <p:cNvPr id="10107" name="bot-2"/>
              <p:cNvSpPr/>
              <p:nvPr/>
            </p:nvSpPr>
            <p:spPr>
              <ns1:xfrm xmlns:ns1="http://schemas.openxmlformats.org/drawingml/2006/main">
                <ns1:off x="10001250" y="2905125"/>
                <ns1:ext cx="723900" cy="7239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" y="14000"/>
                    </ns2:moveTo>
                    <ns2:lnTo>
                      <ns2:pt x="4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5244" cap="rnd">
                <ns4:solidFill>
                  <ns4:srgbClr val="68528D"/>
                </ns4:solidFill>
              </ns4:ln>
            </p:spPr>
          </p:sp>
          <p:sp>
            <p:nvSpPr>
              <p:cNvPr id="10108" name="bot-3"/>
              <p:cNvSpPr/>
              <p:nvPr/>
            </p:nvSpPr>
            <p:spPr>
              <ns1:xfrm xmlns:ns1="http://schemas.openxmlformats.org/drawingml/2006/main">
                <ns1:off x="10001250" y="2905125"/>
                <ns1:ext cx="723900" cy="7239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20000" y="14000"/>
                    </ns2:moveTo>
                    <ns2:lnTo>
                      <ns2:pt x="22000" y="14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5244" cap="rnd">
                <ns4:solidFill>
                  <ns4:srgbClr val="68528D"/>
                </ns4:solidFill>
              </ns4:ln>
            </p:spPr>
          </p:sp>
          <p:sp>
            <p:nvSpPr>
              <p:cNvPr id="10109" name="bot-4"/>
              <p:cNvSpPr/>
              <p:nvPr/>
            </p:nvSpPr>
            <p:spPr>
              <ns1:xfrm xmlns:ns1="http://schemas.openxmlformats.org/drawingml/2006/main">
                <ns1:off x="10001250" y="2905125"/>
                <ns1:ext cx="723900" cy="7239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15000" y="13000"/>
                    </ns2:moveTo>
                    <ns2:lnTo>
                      <ns2:pt x="15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5244" cap="rnd">
                <ns4:solidFill>
                  <ns4:srgbClr val="68528D"/>
                </ns4:solidFill>
              </ns4:ln>
            </p:spPr>
          </p:sp>
          <p:sp>
            <p:nvSpPr>
              <p:cNvPr id="10110" name="bot-5"/>
              <p:cNvSpPr/>
              <p:nvPr/>
            </p:nvSpPr>
            <p:spPr>
              <ns1:xfrm xmlns:ns1="http://schemas.openxmlformats.org/drawingml/2006/main">
                <ns1:off x="10001250" y="2905125"/>
                <ns1:ext cx="723900" cy="723900"/>
              </ns1:xfrm>
              <ns2:custGeom xmlns:ns2="http://schemas.openxmlformats.org/drawingml/2006/main">
                <ns2:avLst/>
                <ns2:gdLst/>
                <ns2:ahLst/>
                <ns2:cxnLst/>
                <ns2:rect l="l" t="t" r="r" b="b"/>
                <ns2:pathLst>
                  <ns2:path w="24000" h="24000" fill="none">
                    <ns2:moveTo>
                      <ns2:pt x="9000" y="13000"/>
                    </ns2:moveTo>
                    <ns2:lnTo>
                      <ns2:pt x="9000" y="15000"/>
                    </ns2:lnTo>
                  </ns2:path>
                </ns2:pathLst>
              </ns2:custGeom>
              <ns3:noFill xmlns:ns3="http://schemas.openxmlformats.org/drawingml/2006/main"/>
              <ns4:ln xmlns:ns4="http://schemas.openxmlformats.org/drawingml/2006/main" w="45244" cap="rnd">
                <ns4:solidFill>
                  <ns4:srgbClr val="68528D"/>
                </ns4:solidFill>
              </ns4:ln>
            </p:spPr>
          </p:sp>
        </p:grpSp>
        <p:sp>
          <p:nvSpPr>
            <p:cNvPr id="10112" name="LLM"/>
            <p:cNvSpPr/>
            <p:nvPr/>
          </p:nvSpPr>
          <p:spPr>
            <ns1:xfrm xmlns:ns1="http://schemas.openxmlformats.org/drawingml/2006/main">
              <ns1:off x="9525000" y="3705225"/>
              <ns1:ext cx="1600200" cy="5524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725" b="1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LLM</ns7:t>
              </ns7:r>
            </ns7:p>
          </p:txBody>
        </p:sp>
        <p:sp>
          <p:nvSpPr>
            <p:cNvPr id="10113" name="flow"/>
            <p:cNvSpPr/>
            <p:nvPr/>
          </p:nvSpPr>
          <p:spPr>
            <ns1:xfrm xmlns:ns1="http://schemas.openxmlformats.org/drawingml/2006/main">
              <ns1:off x="1238250" y="3276600"/>
              <ns1:ext cx="47625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50000" h="1000" fill="none">
                  <ns2:moveTo>
                    <ns2:pt x="0" y="0"/>
                  </ns2:moveTo>
                  <ns2:lnTo>
                    <ns2:pt x="5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3376A0"/>
              </ns4:solidFill>
              <ns4:tailEnd type="triangle"/>
            </ns4:ln>
          </p:spPr>
        </p:sp>
        <p:sp>
          <p:nvSpPr>
            <p:cNvPr id="10114" name="flow"/>
            <p:cNvSpPr/>
            <p:nvPr/>
          </p:nvSpPr>
          <p:spPr>
            <ns1:xfrm xmlns:ns1="http://schemas.openxmlformats.org/drawingml/2006/main">
              <ns1:off x="9334500" y="3095625"/>
              <ns1:ext cx="5715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0000" h="1000" fill="none">
                  <ns2:moveTo>
                    <ns2:pt x="0" y="0"/>
                  </ns2:moveTo>
                  <ns2:lnTo>
                    <ns2:pt x="6000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39846C"/>
              </ns4:solidFill>
              <ns4:tailEnd type="triangle"/>
            </ns4:ln>
          </p:spPr>
        </p:sp>
        <p:sp>
          <p:nvSpPr>
            <p:cNvPr id="10115" name="flow"/>
            <p:cNvSpPr/>
            <p:nvPr/>
          </p:nvSpPr>
          <p:spPr>
            <ns1:xfrm xmlns:ns1="http://schemas.openxmlformats.org/drawingml/2006/main">
              <ns1:off x="9334500" y="3476625"/>
              <ns1:ext cx="571500" cy="9525"/>
            </ns1:xfrm>
            <ns2:custGeom xmlns:ns2="http://schemas.openxmlformats.org/drawingml/2006/main">
              <ns2:avLst/>
              <ns2:gdLst/>
              <ns2:ahLst/>
              <ns2:cxnLst/>
              <ns2:rect l="l" t="t" r="r" b="b"/>
              <ns2:pathLst>
                <ns2:path w="60000" h="1000" fill="none">
                  <ns2:moveTo>
                    <ns2:pt x="60000" y="0"/>
                  </ns2:moveTo>
                  <ns2:lnTo>
                    <ns2:pt x="0" y="0"/>
                  </ns2:lnTo>
                </ns2:path>
              </ns2:pathLst>
            </ns2:custGeom>
            <ns3:noFill xmlns:ns3="http://schemas.openxmlformats.org/drawingml/2006/main"/>
            <ns4:ln xmlns:ns4="http://schemas.openxmlformats.org/drawingml/2006/main" w="22860" cap="rnd">
              <ns4:solidFill>
                <ns4:srgbClr val="68528D"/>
              </ns4:solidFill>
              <ns4:tailEnd type="triangle"/>
            </ns4:ln>
          </p:spPr>
        </p:sp>
        <p:sp>
          <p:nvSpPr>
            <p:cNvPr id="10116" name="request"/>
            <p:cNvSpPr/>
            <p:nvPr/>
          </p:nvSpPr>
          <p:spPr>
            <ns1:xfrm xmlns:ns1="http://schemas.openxmlformats.org/drawingml/2006/main">
              <ns1:off x="9525000" y="4257675"/>
              <ns1:ext cx="171450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00" b="0">
                  <ns7:solidFill>
                    <ns7:srgbClr val="68528D"/>
                  </ns7:solidFill>
                  <ns7:latin typeface="Times New Roman"/>
                  <ns7:ea typeface="Times New Roman"/>
                </ns7:rPr>
                <ns7:t>request</ns7:t>
              </ns7:r>
            </ns7:p>
          </p:txBody>
        </p:sp>
        <p:sp>
          <p:nvSpPr>
            <p:cNvPr id="10117" name="observation"/>
            <p:cNvSpPr/>
            <p:nvPr/>
          </p:nvSpPr>
          <p:spPr>
            <ns1:xfrm xmlns:ns1="http://schemas.openxmlformats.org/drawingml/2006/main">
              <ns1:off x="9429750" y="2524125"/>
              <ns1:ext cx="1905000" cy="285750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500" b="0">
                  <ns7:solidFill>
                    <ns7:srgbClr val="39846C"/>
                  </ns7:solidFill>
                  <ns7:latin typeface="Times New Roman"/>
                  <ns7:ea typeface="Times New Roman"/>
                </ns7:rPr>
                <ns7:t>observation</ns7:t>
              </ns7:r>
            </ns7:p>
          </p:txBody>
        </p:sp>
        <p:sp>
          <p:nvSpPr>
            <p:cNvPr id="10118" name="Event time t and availability time v are preserved through every operation"/>
            <p:cNvSpPr/>
            <p:nvPr/>
          </p:nvSpPr>
          <p:spPr>
            <ns1:xfrm xmlns:ns1="http://schemas.openxmlformats.org/drawingml/2006/main">
              <ns1:off x="1666875" y="5953125"/>
              <ns1:ext cx="8096250" cy="333375"/>
            </ns1:xfrm>
            <ns2:prstGeom xmlns:ns2="http://schemas.openxmlformats.org/drawingml/2006/main" prst="rect">
              <ns2:avLst/>
            </ns2:prstGeom>
            <ns3:noFill xmlns:ns3="http://schemas.openxmlformats.org/drawingml/2006/main"/>
            <ns4:ln xmlns:ns4="http://schemas.openxmlformats.org/drawingml/2006/main" w="9525" cap="rnd">
              <ns4:noFill/>
            </ns4:ln>
          </p:spPr>
          <p:txBody>
            <ns5:bodyPr xmlns:ns5="http://schemas.openxmlformats.org/drawingml/2006/main" wrap="square" anchor="ctr" lIns="0" rIns="0" tIns="0" bIns="0"/>
            <ns6:lstStyle xmlns:ns6="http://schemas.openxmlformats.org/drawingml/2006/main"/>
            <ns7:p xmlns:ns7="http://schemas.openxmlformats.org/drawingml/2006/main">
              <ns7:pPr algn="ctr"/>
              <ns7:r>
                <ns7:rPr sz="1800" b="0">
                  <ns7:solidFill>
                    <ns7:srgbClr val="647788"/>
                  </ns7:solidFill>
                  <ns7:latin typeface="Times New Roman"/>
                  <ns7:ea typeface="Times New Roman"/>
                </ns7:rPr>
                <ns7:t>Event time t and availability time v are preserved through every operation</ns7:t>
              </ns7:r>
            </ns7:p>
          </p:txBody>
        </p:sp>
      </p:grpSp>
    </p:spTree>
    <p:extLst>
      <p:ext uri="{BB962C8B-B14F-4D97-AF65-F5344CB8AC3E}">
        <p14:creationId xmlns:p14="http://schemas.microsoft.com/office/powerpoint/2010/main" val="1057613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2026-10-19T05:54:47.7050000Z</dcterms:created>
  <dcterms:modified xsi:type="dcterms:W3CDTF">2026-10-19T05:54:47.7050000Z</dcterms:modified>
</coreProperties>
</file>