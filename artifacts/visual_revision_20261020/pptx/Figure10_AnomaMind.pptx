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5381625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242" name="Figure10_AnomaMind — ungroup to edit modules"/>
          <p:cNvGrpSpPr/>
          <p:nvPr/>
        </p:nvGrpSpPr>
        <p:grpSpPr>
          <ns1:xfrm xmlns:ns1="http://schemas.openxmlformats.org/drawingml/2006/main">
            <ns1:off x="238125" y="428625"/>
            <ns1:ext cx="11058525" cy="4772025"/>
            <ns1:chOff x="238125" y="428625"/>
            <ns1:chExt cx="11058525" cy="4772025"/>
          </ns1:xfrm>
        </p:grpSpPr>
        <p:sp>
          <p:nvSpPr>
            <p:cNvPr id="10175" name="Acquire evidence"/>
            <p:cNvSpPr/>
            <p:nvPr/>
          </p:nvSpPr>
          <p:spPr>
            <ns1:xfrm xmlns:ns1="http://schemas.openxmlformats.org/drawingml/2006/main">
              <ns1:off x="238125" y="428625"/>
              <ns1:ext cx="2571750" cy="285750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176" name="Acquire evidence"/>
            <p:cNvSpPr/>
            <p:nvPr/>
          </p:nvSpPr>
          <p:spPr>
            <ns1:xfrm xmlns:ns1="http://schemas.openxmlformats.org/drawingml/2006/main">
              <ns1:off x="314325" y="552450"/>
              <ns1:ext cx="24193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Acquire evidence</ns7:t>
              </ns7:r>
            </ns7:p>
          </p:txBody>
        </p:sp>
        <p:grpSp>
          <p:nvGrpSpPr>
            <p:cNvPr id="10180" name="search-check editable icon"/>
            <p:cNvGrpSpPr/>
            <p:nvPr/>
          </p:nvGrpSpPr>
          <p:grpSpPr>
            <ns1:xfrm xmlns:ns1="http://schemas.openxmlformats.org/drawingml/2006/main">
              <ns1:off x="1143000" y="1123950"/>
              <ns1:ext cx="619125" cy="619125"/>
              <ns1:chOff x="1143000" y="1123950"/>
              <ns1:chExt cx="619125" cy="619125"/>
            </ns1:xfrm>
          </p:grpSpPr>
          <p:sp>
            <p:nvSpPr>
              <p:cNvPr id="10177" name="search-check-0"/>
              <p:cNvSpPr/>
              <p:nvPr/>
            </p:nvSpPr>
            <p:spPr>
              <ns1:xfrm xmlns:ns1="http://schemas.openxmlformats.org/drawingml/2006/main">
                <ns1:off x="1143000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1000"/>
                    </ns2:moveTo>
                    <ns2:lnTo>
                      <ns2:pt x="10000" y="13000"/>
                    </ns2:lnTo>
                    <ns2:lnTo>
                      <ns2:pt x="14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  <p:sp>
            <p:nvSpPr>
              <p:cNvPr id="10178" name="search-check-1"/>
              <p:cNvSpPr/>
              <p:nvPr/>
            </p:nvSpPr>
            <p:spPr>
              <ns1:xfrm xmlns:ns1="http://schemas.openxmlformats.org/drawingml/2006/main">
                <ns1:off x="1220391" y="1201341"/>
                <ns1:ext cx="412750" cy="412750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38695" cap="rnd">
                <ns5:solidFill>
                  <ns5:srgbClr val="3376A0"/>
                </ns5:solidFill>
              </ns5:ln>
            </p:spPr>
          </p:sp>
          <p:sp>
            <p:nvSpPr>
              <p:cNvPr id="10179" name="search-check-2"/>
              <p:cNvSpPr/>
              <p:nvPr/>
            </p:nvSpPr>
            <p:spPr>
              <ns1:xfrm xmlns:ns1="http://schemas.openxmlformats.org/drawingml/2006/main">
                <ns1:off x="1143000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21000"/>
                    </ns2:moveTo>
                    <ns2:lnTo>
                      <ns2:pt x="16700" y="167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376A0"/>
                </ns4:solidFill>
              </ns4:ln>
            </p:spPr>
          </p:sp>
        </p:grpSp>
        <p:sp>
          <p:nvSpPr>
            <p:cNvPr id="10181" name="temporal signal"/>
            <p:cNvSpPr/>
            <p:nvPr/>
          </p:nvSpPr>
          <p:spPr>
            <ns1:xfrm xmlns:ns1="http://schemas.openxmlformats.org/drawingml/2006/main">
              <ns1:off x="542925" y="2145641"/>
              <ns1:ext cx="1809750" cy="25459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90000" h="26729" fill="none">
                  <ns2:moveTo>
                    <ns2:pt x="0" y="18736"/>
                  </ns2:moveTo>
                  <ns2:lnTo>
                    <ns2:pt x="15833" y="26729"/>
                  </ns2:lnTo>
                  <ns2:lnTo>
                    <ns2:pt x="31667" y="6468"/>
                  </ns2:lnTo>
                  <ns2:lnTo>
                    <ns2:pt x="47500" y="19463"/>
                  </ns2:lnTo>
                  <ns2:lnTo>
                    <ns2:pt x="63333" y="21570"/>
                  </ns2:lnTo>
                  <ns2:lnTo>
                    <ns2:pt x="79167" y="3236"/>
                  </ns2:lnTo>
                  <ns2:lnTo>
                    <ns2:pt x="95000" y="19849"/>
                  </ns2:lnTo>
                  <ns2:lnTo>
                    <ns2:pt x="110833" y="15770"/>
                  </ns2:lnTo>
                  <ns2:lnTo>
                    <ns2:pt x="126667" y="1099"/>
                  </ns2:lnTo>
                  <ns2:lnTo>
                    <ns2:pt x="142500" y="19586"/>
                  </ns2:lnTo>
                  <ns2:lnTo>
                    <ns2:pt x="158333" y="9638"/>
                  </ns2:lnTo>
                  <ns2:lnTo>
                    <ns2:pt x="174167" y="0"/>
                  </ns2:lnTo>
                  <ns2:lnTo>
                    <ns2:pt x="190000" y="18433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grpSp>
          <p:nvGrpSpPr>
            <p:cNvPr id="10187" name="file-text editable icon"/>
            <p:cNvGrpSpPr/>
            <p:nvPr/>
          </p:nvGrpSpPr>
          <p:grpSpPr>
            <ns1:xfrm xmlns:ns1="http://schemas.openxmlformats.org/drawingml/2006/main">
              <ns1:off x="2047875" y="1771650"/>
              <ns1:ext cx="266700" cy="266700"/>
              <ns1:chOff x="2047875" y="1771650"/>
              <ns1:chExt cx="266700" cy="266700"/>
            </ns1:xfrm>
          </p:grpSpPr>
          <p:sp>
            <p:nvSpPr>
              <p:cNvPr id="10182" name="file-text-0"/>
              <p:cNvSpPr/>
              <p:nvPr/>
            </p:nvSpPr>
            <p:spPr>
              <ns1:xfrm xmlns:ns1="http://schemas.openxmlformats.org/drawingml/2006/main">
                <ns1:off x="2047875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0" y="22000"/>
                    </ns2:moveTo>
                    <ns2:cubicBezTo>
                      <ns2:pt x="4895" y="22000"/>
                      <ns2:pt x="4000" y="21105"/>
                      <ns2:pt x="4000" y="20000"/>
                    </ns2:cubicBezTo>
                    <ns2:lnTo>
                      <ns2:pt x="4000" y="4000"/>
                    </ns2:lnTo>
                    <ns2:cubicBezTo>
                      <ns2:pt x="4000" y="2895"/>
                      <ns2:pt x="4895" y="2000"/>
                      <ns2:pt x="6000" y="2000"/>
                    </ns2:cubicBezTo>
                    <ns2:lnTo>
                      <ns2:pt x="14000" y="2000"/>
                    </ns2:lnTo>
                    <ns2:cubicBezTo>
                      <ns2:pt x="14639" y="1999"/>
                      <ns2:pt x="15253" y="2253"/>
                      <ns2:pt x="15704" y="2706"/>
                    </ns2:cubicBezTo>
                    <ns2:lnTo>
                      <ns2:pt x="19292" y="6294"/>
                    </ns2:lnTo>
                    <ns2:cubicBezTo>
                      <ns2:pt x="19746" y="6745"/>
                      <ns2:pt x="20001" y="7360"/>
                      <ns2:pt x="20000" y="8000"/>
                    </ns2:cubicBezTo>
                    <ns2:lnTo>
                      <ns2:pt x="20000" y="20000"/>
                    </ns2:lnTo>
                    <ns2:cubicBezTo>
                      <ns2:pt x="20000" y="21105"/>
                      <ns2:pt x="19105" y="22000"/>
                      <ns2:pt x="18000" y="22000"/>
                    </ns2:cubicBezTo>
                    <ns2:lnTo>
                      <ns2:pt x="6000" y="22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3376A0"/>
                </ns4:solidFill>
              </ns4:ln>
            </p:spPr>
          </p:sp>
          <p:sp>
            <p:nvSpPr>
              <p:cNvPr id="10183" name="file-text-1"/>
              <p:cNvSpPr/>
              <p:nvPr/>
            </p:nvSpPr>
            <p:spPr>
              <ns1:xfrm xmlns:ns1="http://schemas.openxmlformats.org/drawingml/2006/main">
                <ns1:off x="2047875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2000"/>
                    </ns2:moveTo>
                    <ns2:lnTo>
                      <ns2:pt x="14000" y="7000"/>
                    </ns2:lnTo>
                    <ns2:cubicBezTo>
                      <ns2:pt x="14000" y="7552"/>
                      <ns2:pt x="14448" y="8000"/>
                      <ns2:pt x="15000" y="8000"/>
                    </ns2:cubicBezTo>
                    <ns2:lnTo>
                      <ns2:pt x="20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3376A0"/>
                </ns4:solidFill>
              </ns4:ln>
            </p:spPr>
          </p:sp>
          <p:sp>
            <p:nvSpPr>
              <p:cNvPr id="10184" name="file-text-2"/>
              <p:cNvSpPr/>
              <p:nvPr/>
            </p:nvSpPr>
            <p:spPr>
              <ns1:xfrm xmlns:ns1="http://schemas.openxmlformats.org/drawingml/2006/main">
                <ns1:off x="2047875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9000"/>
                    </ns2:moveTo>
                    <ns2:lnTo>
                      <ns2:pt x="8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3376A0"/>
                </ns4:solidFill>
              </ns4:ln>
            </p:spPr>
          </p:sp>
          <p:sp>
            <p:nvSpPr>
              <p:cNvPr id="10185" name="file-text-3"/>
              <p:cNvSpPr/>
              <p:nvPr/>
            </p:nvSpPr>
            <p:spPr>
              <ns1:xfrm xmlns:ns1="http://schemas.openxmlformats.org/drawingml/2006/main">
                <ns1:off x="2047875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800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3376A0"/>
                </ns4:solidFill>
              </ns4:ln>
            </p:spPr>
          </p:sp>
          <p:sp>
            <p:nvSpPr>
              <p:cNvPr id="10186" name="file-text-4"/>
              <p:cNvSpPr/>
              <p:nvPr/>
            </p:nvSpPr>
            <p:spPr>
              <ns1:xfrm xmlns:ns1="http://schemas.openxmlformats.org/drawingml/2006/main">
                <ns1:off x="2047875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8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3376A0"/>
                </ns4:solidFill>
              </ns4:ln>
            </p:spPr>
          </p:sp>
        </p:grpSp>
        <p:sp>
          <p:nvSpPr>
            <p:cNvPr id="10188" name="flow"/>
            <p:cNvSpPr/>
            <p:nvPr/>
          </p:nvSpPr>
          <p:spPr>
            <ns1:xfrm xmlns:ns1="http://schemas.openxmlformats.org/drawingml/2006/main">
              <ns1:off x="2809875" y="1838325"/>
              <ns1:ext cx="2286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4000" h="1000" fill="none">
                  <ns2:moveTo>
                    <ns2:pt x="0" y="0"/>
                  </ns2:moveTo>
                  <ns2:lnTo>
                    <ns2:pt x="24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189" name="Construct evidence"/>
            <p:cNvSpPr/>
            <p:nvPr/>
          </p:nvSpPr>
          <p:spPr>
            <ns1:xfrm xmlns:ns1="http://schemas.openxmlformats.org/drawingml/2006/main">
              <ns1:off x="3067050" y="428625"/>
              <ns1:ext cx="2571750" cy="285750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190" name="Construct evidence"/>
            <p:cNvSpPr/>
            <p:nvPr/>
          </p:nvSpPr>
          <p:spPr>
            <ns1:xfrm xmlns:ns1="http://schemas.openxmlformats.org/drawingml/2006/main">
              <ns1:off x="3143250" y="552450"/>
              <ns1:ext cx="24193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Construct evidence</ns7:t>
              </ns7:r>
            </ns7:p>
          </p:txBody>
        </p:sp>
        <p:grpSp>
          <p:nvGrpSpPr>
            <p:cNvPr id="10194" name="layers editable icon"/>
            <p:cNvGrpSpPr/>
            <p:nvPr/>
          </p:nvGrpSpPr>
          <p:grpSpPr>
            <ns1:xfrm xmlns:ns1="http://schemas.openxmlformats.org/drawingml/2006/main">
              <ns1:off x="3971925" y="1123950"/>
              <ns1:ext cx="619125" cy="619125"/>
              <ns1:chOff x="3971925" y="1123950"/>
              <ns1:chExt cx="619125" cy="619125"/>
            </ns1:xfrm>
          </p:grpSpPr>
          <p:sp>
            <p:nvSpPr>
              <p:cNvPr id="10191" name="layers-0"/>
              <p:cNvSpPr/>
              <p:nvPr/>
            </p:nvSpPr>
            <p:spPr>
              <ns1:xfrm xmlns:ns1="http://schemas.openxmlformats.org/drawingml/2006/main">
                <ns1:off x="397192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830" y="2180"/>
                    </ns2:moveTo>
                    <ns2:cubicBezTo>
                      <ns2:pt x="12303" y="1940"/>
                      <ns2:pt x="11697" y="1940"/>
                      <ns2:pt x="11170" y="2180"/>
                    </ns2:cubicBezTo>
                    <ns2:lnTo>
                      <ns2:pt x="2600" y="6080"/>
                    </ns2:lnTo>
                    <ns2:cubicBezTo>
                      <ns2:pt x="2237" y="6240"/>
                      <ns2:pt x="2003" y="6599"/>
                      <ns2:pt x="2003" y="6995"/>
                    </ns2:cubicBezTo>
                    <ns2:cubicBezTo>
                      <ns2:pt x="2003" y="7391"/>
                      <ns2:pt x="2237" y="7750"/>
                      <ns2:pt x="2600" y="7910"/>
                    </ns2:cubicBezTo>
                    <ns2:lnTo>
                      <ns2:pt x="11180" y="11820"/>
                    </ns2:lnTo>
                    <ns2:cubicBezTo>
                      <ns2:pt x="11707" y="12060"/>
                      <ns2:pt x="12313" y="12060"/>
                      <ns2:pt x="12840" y="11820"/>
                    </ns2:cubicBezTo>
                    <ns2:lnTo>
                      <ns2:pt x="21420" y="7920"/>
                    </ns2:lnTo>
                    <ns2:cubicBezTo>
                      <ns2:pt x="21783" y="7760"/>
                      <ns2:pt x="22017" y="7401"/>
                      <ns2:pt x="22017" y="7005"/>
                    </ns2:cubicBezTo>
                    <ns2:cubicBezTo>
                      <ns2:pt x="22017" y="6609"/>
                      <ns2:pt x="21783" y="6250"/>
                      <ns2:pt x="21420" y="6090"/>
                    </ns2:cubicBezTo>
                    <ns2:lnTo>
                      <ns2:pt x="12830" y="218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92" name="layers-1"/>
              <p:cNvSpPr/>
              <p:nvPr/>
            </p:nvSpPr>
            <p:spPr>
              <ns1:xfrm xmlns:ns1="http://schemas.openxmlformats.org/drawingml/2006/main">
                <ns1:off x="397192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2000"/>
                    </ns2:moveTo>
                    <ns2:cubicBezTo>
                      <ns2:pt x="1999" y="12391"/>
                      <ns2:pt x="2226" y="12746"/>
                      <ns2:pt x="2580" y="12910"/>
                    </ns2:cubicBezTo>
                    <ns2:lnTo>
                      <ns2:pt x="11180" y="16820"/>
                    </ns2:lnTo>
                    <ns2:cubicBezTo>
                      <ns2:pt x="11704" y="17057"/>
                      <ns2:pt x="12306" y="17057"/>
                      <ns2:pt x="12830" y="16820"/>
                    </ns2:cubicBezTo>
                    <ns2:lnTo>
                      <ns2:pt x="21410" y="12920"/>
                    </ns2:lnTo>
                    <ns2:cubicBezTo>
                      <ns2:pt x="21772" y="12757"/>
                      <ns2:pt x="22003" y="12397"/>
                      <ns2:pt x="22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  <p:sp>
            <p:nvSpPr>
              <p:cNvPr id="10193" name="layers-2"/>
              <p:cNvSpPr/>
              <p:nvPr/>
            </p:nvSpPr>
            <p:spPr>
              <ns1:xfrm xmlns:ns1="http://schemas.openxmlformats.org/drawingml/2006/main">
                <ns1:off x="397192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7000"/>
                    </ns2:moveTo>
                    <ns2:cubicBezTo>
                      <ns2:pt x="1999" y="17391"/>
                      <ns2:pt x="2226" y="17746"/>
                      <ns2:pt x="2580" y="17910"/>
                    </ns2:cubicBezTo>
                    <ns2:lnTo>
                      <ns2:pt x="11180" y="21820"/>
                    </ns2:lnTo>
                    <ns2:cubicBezTo>
                      <ns2:pt x="11704" y="22057"/>
                      <ns2:pt x="12306" y="22057"/>
                      <ns2:pt x="12830" y="21820"/>
                    </ns2:cubicBezTo>
                    <ns2:lnTo>
                      <ns2:pt x="21410" y="17920"/>
                    </ns2:lnTo>
                    <ns2:cubicBezTo>
                      <ns2:pt x="21772" y="17757"/>
                      <ns2:pt x="22003" y="17397"/>
                      <ns2:pt x="22000" y="17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68528D"/>
                </ns4:solidFill>
              </ns4:ln>
            </p:spPr>
          </p:sp>
        </p:grpSp>
        <p:sp>
          <p:nvSpPr>
            <p:cNvPr id="10195" name="temporal signal"/>
            <p:cNvSpPr/>
            <p:nvPr/>
          </p:nvSpPr>
          <p:spPr>
            <ns1:xfrm xmlns:ns1="http://schemas.openxmlformats.org/drawingml/2006/main">
              <ns1:off x="3371850" y="2145641"/>
              <ns1:ext cx="1809750" cy="25459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90000" h="26729" fill="none">
                  <ns2:moveTo>
                    <ns2:pt x="0" y="18736"/>
                  </ns2:moveTo>
                  <ns2:lnTo>
                    <ns2:pt x="15833" y="26729"/>
                  </ns2:lnTo>
                  <ns2:lnTo>
                    <ns2:pt x="31667" y="6468"/>
                  </ns2:lnTo>
                  <ns2:lnTo>
                    <ns2:pt x="47500" y="19463"/>
                  </ns2:lnTo>
                  <ns2:lnTo>
                    <ns2:pt x="63333" y="21570"/>
                  </ns2:lnTo>
                  <ns2:lnTo>
                    <ns2:pt x="79167" y="3236"/>
                  </ns2:lnTo>
                  <ns2:lnTo>
                    <ns2:pt x="95000" y="19849"/>
                  </ns2:lnTo>
                  <ns2:lnTo>
                    <ns2:pt x="110833" y="15770"/>
                  </ns2:lnTo>
                  <ns2:lnTo>
                    <ns2:pt x="126667" y="1099"/>
                  </ns2:lnTo>
                  <ns2:lnTo>
                    <ns2:pt x="142500" y="19586"/>
                  </ns2:lnTo>
                  <ns2:lnTo>
                    <ns2:pt x="158333" y="9638"/>
                  </ns2:lnTo>
                  <ns2:lnTo>
                    <ns2:pt x="174167" y="0"/>
                  </ns2:lnTo>
                  <ns2:lnTo>
                    <ns2:pt x="190000" y="18433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68528D"/>
              </ns4:solidFill>
            </ns4:ln>
          </p:spPr>
        </p:sp>
        <p:grpSp>
          <p:nvGrpSpPr>
            <p:cNvPr id="10201" name="file-text editable icon"/>
            <p:cNvGrpSpPr/>
            <p:nvPr/>
          </p:nvGrpSpPr>
          <p:grpSpPr>
            <ns1:xfrm xmlns:ns1="http://schemas.openxmlformats.org/drawingml/2006/main">
              <ns1:off x="4876800" y="1771650"/>
              <ns1:ext cx="266700" cy="266700"/>
              <ns1:chOff x="4876800" y="1771650"/>
              <ns1:chExt cx="266700" cy="266700"/>
            </ns1:xfrm>
          </p:grpSpPr>
          <p:sp>
            <p:nvSpPr>
              <p:cNvPr id="10196" name="file-text-0"/>
              <p:cNvSpPr/>
              <p:nvPr/>
            </p:nvSpPr>
            <p:spPr>
              <ns1:xfrm xmlns:ns1="http://schemas.openxmlformats.org/drawingml/2006/main">
                <ns1:off x="4876800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0" y="22000"/>
                    </ns2:moveTo>
                    <ns2:cubicBezTo>
                      <ns2:pt x="4895" y="22000"/>
                      <ns2:pt x="4000" y="21105"/>
                      <ns2:pt x="4000" y="20000"/>
                    </ns2:cubicBezTo>
                    <ns2:lnTo>
                      <ns2:pt x="4000" y="4000"/>
                    </ns2:lnTo>
                    <ns2:cubicBezTo>
                      <ns2:pt x="4000" y="2895"/>
                      <ns2:pt x="4895" y="2000"/>
                      <ns2:pt x="6000" y="2000"/>
                    </ns2:cubicBezTo>
                    <ns2:lnTo>
                      <ns2:pt x="14000" y="2000"/>
                    </ns2:lnTo>
                    <ns2:cubicBezTo>
                      <ns2:pt x="14639" y="1999"/>
                      <ns2:pt x="15253" y="2253"/>
                      <ns2:pt x="15704" y="2706"/>
                    </ns2:cubicBezTo>
                    <ns2:lnTo>
                      <ns2:pt x="19292" y="6294"/>
                    </ns2:lnTo>
                    <ns2:cubicBezTo>
                      <ns2:pt x="19746" y="6745"/>
                      <ns2:pt x="20001" y="7360"/>
                      <ns2:pt x="20000" y="8000"/>
                    </ns2:cubicBezTo>
                    <ns2:lnTo>
                      <ns2:pt x="20000" y="20000"/>
                    </ns2:lnTo>
                    <ns2:cubicBezTo>
                      <ns2:pt x="20000" y="21105"/>
                      <ns2:pt x="19105" y="22000"/>
                      <ns2:pt x="18000" y="22000"/>
                    </ns2:cubicBezTo>
                    <ns2:lnTo>
                      <ns2:pt x="6000" y="22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68528D"/>
                </ns4:solidFill>
              </ns4:ln>
            </p:spPr>
          </p:sp>
          <p:sp>
            <p:nvSpPr>
              <p:cNvPr id="10197" name="file-text-1"/>
              <p:cNvSpPr/>
              <p:nvPr/>
            </p:nvSpPr>
            <p:spPr>
              <ns1:xfrm xmlns:ns1="http://schemas.openxmlformats.org/drawingml/2006/main">
                <ns1:off x="4876800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2000"/>
                    </ns2:moveTo>
                    <ns2:lnTo>
                      <ns2:pt x="14000" y="7000"/>
                    </ns2:lnTo>
                    <ns2:cubicBezTo>
                      <ns2:pt x="14000" y="7552"/>
                      <ns2:pt x="14448" y="8000"/>
                      <ns2:pt x="15000" y="8000"/>
                    </ns2:cubicBezTo>
                    <ns2:lnTo>
                      <ns2:pt x="20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68528D"/>
                </ns4:solidFill>
              </ns4:ln>
            </p:spPr>
          </p:sp>
          <p:sp>
            <p:nvSpPr>
              <p:cNvPr id="10198" name="file-text-2"/>
              <p:cNvSpPr/>
              <p:nvPr/>
            </p:nvSpPr>
            <p:spPr>
              <ns1:xfrm xmlns:ns1="http://schemas.openxmlformats.org/drawingml/2006/main">
                <ns1:off x="4876800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9000"/>
                    </ns2:moveTo>
                    <ns2:lnTo>
                      <ns2:pt x="8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68528D"/>
                </ns4:solidFill>
              </ns4:ln>
            </p:spPr>
          </p:sp>
          <p:sp>
            <p:nvSpPr>
              <p:cNvPr id="10199" name="file-text-3"/>
              <p:cNvSpPr/>
              <p:nvPr/>
            </p:nvSpPr>
            <p:spPr>
              <ns1:xfrm xmlns:ns1="http://schemas.openxmlformats.org/drawingml/2006/main">
                <ns1:off x="4876800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800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68528D"/>
                </ns4:solidFill>
              </ns4:ln>
            </p:spPr>
          </p:sp>
          <p:sp>
            <p:nvSpPr>
              <p:cNvPr id="10200" name="file-text-4"/>
              <p:cNvSpPr/>
              <p:nvPr/>
            </p:nvSpPr>
            <p:spPr>
              <ns1:xfrm xmlns:ns1="http://schemas.openxmlformats.org/drawingml/2006/main">
                <ns1:off x="4876800" y="1771650"/>
                <ns1:ext cx="266700" cy="2667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8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669" cap="rnd">
                <ns4:solidFill>
                  <ns4:srgbClr val="68528D"/>
                </ns4:solidFill>
              </ns4:ln>
            </p:spPr>
          </p:sp>
        </p:grpSp>
        <p:sp>
          <p:nvSpPr>
            <p:cNvPr id="10202" name="flow"/>
            <p:cNvSpPr/>
            <p:nvPr/>
          </p:nvSpPr>
          <p:spPr>
            <ns1:xfrm xmlns:ns1="http://schemas.openxmlformats.org/drawingml/2006/main">
              <ns1:off x="5638800" y="1838325"/>
              <ns1:ext cx="2286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4000" h="1000" fill="none">
                  <ns2:moveTo>
                    <ns2:pt x="0" y="0"/>
                  </ns2:moveTo>
                  <ns2:lnTo>
                    <ns2:pt x="24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03" name="Detect intervals"/>
            <p:cNvSpPr/>
            <p:nvPr/>
          </p:nvSpPr>
          <p:spPr>
            <ns1:xfrm xmlns:ns1="http://schemas.openxmlformats.org/drawingml/2006/main">
              <ns1:off x="5895975" y="428625"/>
              <ns1:ext cx="2571750" cy="285750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204" name="Detect intervals"/>
            <p:cNvSpPr/>
            <p:nvPr/>
          </p:nvSpPr>
          <p:spPr>
            <ns1:xfrm xmlns:ns1="http://schemas.openxmlformats.org/drawingml/2006/main">
              <ns1:off x="5972175" y="552450"/>
              <ns1:ext cx="24193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B7524A"/>
                  </ns7:solidFill>
                  <ns7:latin typeface="Times New Roman"/>
                  <ns7:ea typeface="Times New Roman"/>
                </ns7:rPr>
                <ns7:t>Detect intervals</ns7:t>
              </ns7:r>
            </ns7:p>
          </p:txBody>
        </p:sp>
        <p:grpSp>
          <p:nvGrpSpPr>
            <p:cNvPr id="10211" name="scan-search editable icon"/>
            <p:cNvGrpSpPr/>
            <p:nvPr/>
          </p:nvGrpSpPr>
          <p:grpSpPr>
            <ns1:xfrm xmlns:ns1="http://schemas.openxmlformats.org/drawingml/2006/main">
              <ns1:off x="6800850" y="1123950"/>
              <ns1:ext cx="619125" cy="619125"/>
              <ns1:chOff x="6800850" y="1123950"/>
              <ns1:chExt cx="619125" cy="619125"/>
            </ns1:xfrm>
          </p:grpSpPr>
          <p:sp>
            <p:nvSpPr>
              <p:cNvPr id="10205" name="scan-search-0"/>
              <p:cNvSpPr/>
              <p:nvPr/>
            </p:nvSpPr>
            <p:spPr>
              <ns1:xfrm xmlns:ns1="http://schemas.openxmlformats.org/drawingml/2006/main">
                <ns1:off x="6800850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7000"/>
                    </ns2:moveTo>
                    <ns2:lnTo>
                      <ns2:pt x="3000" y="5000"/>
                    </ns2:lnTo>
                    <ns2:cubicBezTo>
                      <ns2:pt x="3000" y="3895"/>
                      <ns2:pt x="3895" y="3000"/>
                      <ns2:pt x="5000" y="3000"/>
                    </ns2:cubicBezTo>
                    <ns2:lnTo>
                      <ns2:pt x="7000" y="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7524A"/>
                </ns4:solidFill>
              </ns4:ln>
            </p:spPr>
          </p:sp>
          <p:sp>
            <p:nvSpPr>
              <p:cNvPr id="10206" name="scan-search-1"/>
              <p:cNvSpPr/>
              <p:nvPr/>
            </p:nvSpPr>
            <p:spPr>
              <ns1:xfrm xmlns:ns1="http://schemas.openxmlformats.org/drawingml/2006/main">
                <ns1:off x="6800850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7000" y="3000"/>
                    </ns2:moveTo>
                    <ns2:lnTo>
                      <ns2:pt x="19000" y="3000"/>
                    </ns2:lnTo>
                    <ns2:cubicBezTo>
                      <ns2:pt x="20105" y="3000"/>
                      <ns2:pt x="21000" y="3895"/>
                      <ns2:pt x="21000" y="5000"/>
                    </ns2:cubicBezTo>
                    <ns2:lnTo>
                      <ns2:pt x="21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7524A"/>
                </ns4:solidFill>
              </ns4:ln>
            </p:spPr>
          </p:sp>
          <p:sp>
            <p:nvSpPr>
              <p:cNvPr id="10207" name="scan-search-2"/>
              <p:cNvSpPr/>
              <p:nvPr/>
            </p:nvSpPr>
            <p:spPr>
              <ns1:xfrm xmlns:ns1="http://schemas.openxmlformats.org/drawingml/2006/main">
                <ns1:off x="6800850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7000"/>
                    </ns2:moveTo>
                    <ns2:lnTo>
                      <ns2:pt x="21000" y="19000"/>
                    </ns2:lnTo>
                    <ns2:cubicBezTo>
                      <ns2:pt x="21000" y="20105"/>
                      <ns2:pt x="20105" y="21000"/>
                      <ns2:pt x="19000" y="21000"/>
                    </ns2:cubicBezTo>
                    <ns2:lnTo>
                      <ns2:pt x="17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7524A"/>
                </ns4:solidFill>
              </ns4:ln>
            </p:spPr>
          </p:sp>
          <p:sp>
            <p:nvSpPr>
              <p:cNvPr id="10208" name="scan-search-3"/>
              <p:cNvSpPr/>
              <p:nvPr/>
            </p:nvSpPr>
            <p:spPr>
              <ns1:xfrm xmlns:ns1="http://schemas.openxmlformats.org/drawingml/2006/main">
                <ns1:off x="6800850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7000" y="21000"/>
                    </ns2:moveTo>
                    <ns2:lnTo>
                      <ns2:pt x="5000" y="21000"/>
                    </ns2:lnTo>
                    <ns2:cubicBezTo>
                      <ns2:pt x="3895" y="21000"/>
                      <ns2:pt x="3000" y="20105"/>
                      <ns2:pt x="3000" y="19000"/>
                    </ns2:cubicBezTo>
                    <ns2:lnTo>
                      <ns2:pt x="3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7524A"/>
                </ns4:solidFill>
              </ns4:ln>
            </p:spPr>
          </p:sp>
          <p:sp>
            <p:nvSpPr>
              <p:cNvPr id="10209" name="scan-search-4"/>
              <p:cNvSpPr/>
              <p:nvPr/>
            </p:nvSpPr>
            <p:spPr>
              <ns1:xfrm xmlns:ns1="http://schemas.openxmlformats.org/drawingml/2006/main">
                <ns1:off x="7033022" y="1356122"/>
                <ns1:ext cx="154781" cy="154781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38695" cap="rnd">
                <ns5:solidFill>
                  <ns5:srgbClr val="B7524A"/>
                </ns5:solidFill>
              </ns5:ln>
            </p:spPr>
          </p:sp>
          <p:sp>
            <p:nvSpPr>
              <p:cNvPr id="10210" name="scan-search-5"/>
              <p:cNvSpPr/>
              <p:nvPr/>
            </p:nvSpPr>
            <p:spPr>
              <ns1:xfrm xmlns:ns1="http://schemas.openxmlformats.org/drawingml/2006/main">
                <ns1:off x="6800850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6000"/>
                    </ns2:moveTo>
                    <ns2:lnTo>
                      <ns2:pt x="14100" y="141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B7524A"/>
                </ns4:solidFill>
              </ns4:ln>
            </p:spPr>
          </p:sp>
        </p:grpSp>
        <p:sp>
          <p:nvSpPr>
            <p:cNvPr id="10212" name="suspect interval"/>
            <p:cNvSpPr/>
            <p:nvPr/>
          </p:nvSpPr>
          <p:spPr>
            <ns1:xfrm xmlns:ns1="http://schemas.openxmlformats.org/drawingml/2006/main">
              <ns1:off x="7019925" y="2085975"/>
              <ns1:ext cx="457200" cy="571500"/>
            </ns1:xfrm>
            <ns2:prstGeom xmlns:ns2="http://schemas.openxmlformats.org/drawingml/2006/main" prst="rect">
              <ns2:avLst/>
            </ns2:prstGeom>
            <ns3:solidFill xmlns:ns3="http://schemas.openxmlformats.org/drawingml/2006/main">
              <ns3:srgbClr val="F6E5E2"/>
            </ns3:solidFill>
            <ns4:ln xmlns:ns4="http://schemas.openxmlformats.org/drawingml/2006/main" w="9525" cap="rnd">
              <ns4:noFill/>
            </ns4:ln>
          </p:spPr>
        </p:sp>
        <p:sp>
          <p:nvSpPr>
            <p:cNvPr id="10213" name="temporal signal"/>
            <p:cNvSpPr/>
            <p:nvPr/>
          </p:nvSpPr>
          <p:spPr>
            <ns1:xfrm xmlns:ns1="http://schemas.openxmlformats.org/drawingml/2006/main">
              <ns1:off x="6200775" y="2157575"/>
              <ns1:ext cx="1809750" cy="30551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90000" h="32075" fill="none">
                  <ns2:moveTo>
                    <ns2:pt x="0" y="22483"/>
                  </ns2:moveTo>
                  <ns2:lnTo>
                    <ns2:pt x="15833" y="32075"/>
                  </ns2:lnTo>
                  <ns2:lnTo>
                    <ns2:pt x="31667" y="7762"/>
                  </ns2:lnTo>
                  <ns2:lnTo>
                    <ns2:pt x="47500" y="23355"/>
                  </ns2:lnTo>
                  <ns2:lnTo>
                    <ns2:pt x="63333" y="25884"/>
                  </ns2:lnTo>
                  <ns2:lnTo>
                    <ns2:pt x="79167" y="3883"/>
                  </ns2:lnTo>
                  <ns2:lnTo>
                    <ns2:pt x="95000" y="23818"/>
                  </ns2:lnTo>
                  <ns2:lnTo>
                    <ns2:pt x="110833" y="18924"/>
                  </ns2:lnTo>
                  <ns2:lnTo>
                    <ns2:pt x="126667" y="1318"/>
                  </ns2:lnTo>
                  <ns2:lnTo>
                    <ns2:pt x="142500" y="23503"/>
                  </ns2:lnTo>
                  <ns2:lnTo>
                    <ns2:pt x="158333" y="11566"/>
                  </ns2:lnTo>
                  <ns2:lnTo>
                    <ns2:pt x="174167" y="0"/>
                  </ns2:lnTo>
                  <ns2:lnTo>
                    <ns2:pt x="190000" y="2212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B7524A"/>
              </ns4:solidFill>
            </ns4:ln>
          </p:spPr>
        </p:sp>
        <p:sp>
          <p:nvSpPr>
            <p:cNvPr id="10214" name="flow"/>
            <p:cNvSpPr/>
            <p:nvPr/>
          </p:nvSpPr>
          <p:spPr>
            <ns1:xfrm xmlns:ns1="http://schemas.openxmlformats.org/drawingml/2006/main">
              <ns1:off x="8467725" y="1838325"/>
              <ns1:ext cx="2286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4000" h="1000" fill="none">
                  <ns2:moveTo>
                    <ns2:pt x="0" y="0"/>
                  </ns2:moveTo>
                  <ns2:lnTo>
                    <ns2:pt x="24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47788"/>
              </ns4:solidFill>
              <ns4:tailEnd type="triangle"/>
            </ns4:ln>
          </p:spPr>
        </p:sp>
        <p:sp>
          <p:nvSpPr>
            <p:cNvPr id="10215" name="Refine intervals"/>
            <p:cNvSpPr/>
            <p:nvPr/>
          </p:nvSpPr>
          <p:spPr>
            <ns1:xfrm xmlns:ns1="http://schemas.openxmlformats.org/drawingml/2006/main">
              <ns1:off x="8724900" y="428625"/>
              <ns1:ext cx="2571750" cy="2857500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216" name="Refine intervals"/>
            <p:cNvSpPr/>
            <p:nvPr/>
          </p:nvSpPr>
          <p:spPr>
            <ns1:xfrm xmlns:ns1="http://schemas.openxmlformats.org/drawingml/2006/main">
              <ns1:off x="8801100" y="552450"/>
              <ns1:ext cx="241935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Refine intervals</ns7:t>
              </ns7:r>
            </ns7:p>
          </p:txBody>
        </p:sp>
        <p:grpSp>
          <p:nvGrpSpPr>
            <p:cNvPr id="10226" name="sliders-horizontal editable icon"/>
            <p:cNvGrpSpPr/>
            <p:nvPr/>
          </p:nvGrpSpPr>
          <p:grpSpPr>
            <ns1:xfrm xmlns:ns1="http://schemas.openxmlformats.org/drawingml/2006/main">
              <ns1:off x="9629775" y="1123950"/>
              <ns1:ext cx="619125" cy="619125"/>
              <ns1:chOff x="9629775" y="1123950"/>
              <ns1:chExt cx="619125" cy="619125"/>
            </ns1:xfrm>
          </p:grpSpPr>
          <p:sp>
            <p:nvSpPr>
              <p:cNvPr id="10217" name="sliders-horizontal-0"/>
              <p:cNvSpPr/>
              <p:nvPr/>
            </p:nvSpPr>
            <p:spPr>
              <ns1:xfrm xmlns:ns1="http://schemas.openxmlformats.org/drawingml/2006/main">
                <ns1:off x="962977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5000"/>
                    </ns2:moveTo>
                    <ns2:lnTo>
                      <ns2:pt x="3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218" name="sliders-horizontal-1"/>
              <p:cNvSpPr/>
              <p:nvPr/>
            </p:nvSpPr>
            <p:spPr>
              <ns1:xfrm xmlns:ns1="http://schemas.openxmlformats.org/drawingml/2006/main">
                <ns1:off x="962977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9000"/>
                    </ns2:moveTo>
                    <ns2:lnTo>
                      <ns2:pt x="3000" y="1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219" name="sliders-horizontal-2"/>
              <p:cNvSpPr/>
              <p:nvPr/>
            </p:nvSpPr>
            <p:spPr>
              <ns1:xfrm xmlns:ns1="http://schemas.openxmlformats.org/drawingml/2006/main">
                <ns1:off x="962977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3000"/>
                    </ns2:moveTo>
                    <ns2:lnTo>
                      <ns2:pt x="14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220" name="sliders-horizontal-3"/>
              <p:cNvSpPr/>
              <p:nvPr/>
            </p:nvSpPr>
            <p:spPr>
              <ns1:xfrm xmlns:ns1="http://schemas.openxmlformats.org/drawingml/2006/main">
                <ns1:off x="962977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221" name="sliders-horizontal-4"/>
              <p:cNvSpPr/>
              <p:nvPr/>
            </p:nvSpPr>
            <p:spPr>
              <ns1:xfrm xmlns:ns1="http://schemas.openxmlformats.org/drawingml/2006/main">
                <ns1:off x="962977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2000"/>
                    </ns2:moveTo>
                    <ns2:lnTo>
                      <ns2:pt x="12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222" name="sliders-horizontal-5"/>
              <p:cNvSpPr/>
              <p:nvPr/>
            </p:nvSpPr>
            <p:spPr>
              <ns1:xfrm xmlns:ns1="http://schemas.openxmlformats.org/drawingml/2006/main">
                <ns1:off x="962977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9000"/>
                    </ns2:moveTo>
                    <ns2:lnTo>
                      <ns2:pt x="16000" y="1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223" name="sliders-horizontal-6"/>
              <p:cNvSpPr/>
              <p:nvPr/>
            </p:nvSpPr>
            <p:spPr>
              <ns1:xfrm xmlns:ns1="http://schemas.openxmlformats.org/drawingml/2006/main">
                <ns1:off x="962977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5000"/>
                    </ns2:moveTo>
                    <ns2:lnTo>
                      <ns2:pt x="14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224" name="sliders-horizontal-7"/>
              <p:cNvSpPr/>
              <p:nvPr/>
            </p:nvSpPr>
            <p:spPr>
              <ns1:xfrm xmlns:ns1="http://schemas.openxmlformats.org/drawingml/2006/main">
                <ns1:off x="962977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0000"/>
                    </ns2:moveTo>
                    <ns2:lnTo>
                      <ns2:pt x="8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  <p:sp>
            <p:nvSpPr>
              <p:cNvPr id="10225" name="sliders-horizontal-8"/>
              <p:cNvSpPr/>
              <p:nvPr/>
            </p:nvSpPr>
            <p:spPr>
              <ns1:xfrm xmlns:ns1="http://schemas.openxmlformats.org/drawingml/2006/main">
                <ns1:off x="9629775" y="1123950"/>
                <ns1:ext cx="619125" cy="6191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2000"/>
                    </ns2:moveTo>
                    <ns2:lnTo>
                      <ns2:pt x="3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8695" cap="rnd">
                <ns4:solidFill>
                  <ns4:srgbClr val="39846C"/>
                </ns4:solidFill>
              </ns4:ln>
            </p:spPr>
          </p:sp>
        </p:grpSp>
        <p:sp>
          <p:nvSpPr>
            <p:cNvPr id="10227" name="suspect interval"/>
            <p:cNvSpPr/>
            <p:nvPr/>
          </p:nvSpPr>
          <p:spPr>
            <ns1:xfrm xmlns:ns1="http://schemas.openxmlformats.org/drawingml/2006/main">
              <ns1:off x="9848850" y="2085975"/>
              <ns1:ext cx="228600" cy="571500"/>
            </ns1:xfrm>
            <ns2:prstGeom xmlns:ns2="http://schemas.openxmlformats.org/drawingml/2006/main" prst="rect">
              <ns2:avLst/>
            </ns2:prstGeom>
            <ns3:solidFill xmlns:ns3="http://schemas.openxmlformats.org/drawingml/2006/main">
              <ns3:srgbClr val="F6E5E2"/>
            </ns3:solidFill>
            <ns4:ln xmlns:ns4="http://schemas.openxmlformats.org/drawingml/2006/main" w="9525" cap="rnd">
              <ns4:noFill/>
            </ns4:ln>
          </p:spPr>
        </p:sp>
        <p:sp>
          <p:nvSpPr>
            <p:cNvPr id="10228" name="temporal signal"/>
            <p:cNvSpPr/>
            <p:nvPr/>
          </p:nvSpPr>
          <p:spPr>
            <ns1:xfrm xmlns:ns1="http://schemas.openxmlformats.org/drawingml/2006/main">
              <ns1:off x="9029700" y="2157575"/>
              <ns1:ext cx="1809750" cy="30551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90000" h="32075" fill="none">
                  <ns2:moveTo>
                    <ns2:pt x="0" y="22483"/>
                  </ns2:moveTo>
                  <ns2:lnTo>
                    <ns2:pt x="15833" y="32075"/>
                  </ns2:lnTo>
                  <ns2:lnTo>
                    <ns2:pt x="31667" y="7762"/>
                  </ns2:lnTo>
                  <ns2:lnTo>
                    <ns2:pt x="47500" y="23355"/>
                  </ns2:lnTo>
                  <ns2:lnTo>
                    <ns2:pt x="63333" y="25884"/>
                  </ns2:lnTo>
                  <ns2:lnTo>
                    <ns2:pt x="79167" y="3883"/>
                  </ns2:lnTo>
                  <ns2:lnTo>
                    <ns2:pt x="95000" y="23818"/>
                  </ns2:lnTo>
                  <ns2:lnTo>
                    <ns2:pt x="110833" y="18924"/>
                  </ns2:lnTo>
                  <ns2:lnTo>
                    <ns2:pt x="126667" y="1318"/>
                  </ns2:lnTo>
                  <ns2:lnTo>
                    <ns2:pt x="142500" y="23503"/>
                  </ns2:lnTo>
                  <ns2:lnTo>
                    <ns2:pt x="158333" y="11566"/>
                  </ns2:lnTo>
                  <ns2:lnTo>
                    <ns2:pt x="174167" y="0"/>
                  </ns2:lnTo>
                  <ns2:lnTo>
                    <ns2:pt x="190000" y="2212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9846C"/>
              </ns4:solidFill>
            </ns4:ln>
          </p:spPr>
        </p:sp>
        <p:sp>
          <p:nvSpPr>
            <p:cNvPr id="10229" name="refinement feedback"/>
            <p:cNvSpPr/>
            <p:nvPr/>
          </p:nvSpPr>
          <p:spPr>
            <ns1:xfrm xmlns:ns1="http://schemas.openxmlformats.org/drawingml/2006/main">
              <ns1:off x="4286250" y="3371850"/>
              <ns1:ext cx="5715000" cy="4191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00000" h="44000" fill="none">
                  <ns2:moveTo>
                    <ns2:pt x="600000" y="0"/>
                  </ns2:moveTo>
                  <ns2:lnTo>
                    <ns2:pt x="600000" y="44000"/>
                  </ns2:lnTo>
                  <ns2:lnTo>
                    <ns2:pt x="0" y="44000"/>
                  </ns2:lnTo>
                  <ns2:lnTo>
                    <ns2:pt x="0" y="1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1908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230" name="Update the evidence state"/>
            <p:cNvSpPr/>
            <p:nvPr/>
          </p:nvSpPr>
          <p:spPr>
            <ns1:xfrm xmlns:ns1="http://schemas.openxmlformats.org/drawingml/2006/main">
              <ns1:off x="5143500" y="3829050"/>
              <ns1:ext cx="4000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Update the evidence state</ns7:t>
              </ns7:r>
            </ns7:p>
          </p:txBody>
        </p:sp>
        <p:grpSp>
          <p:nvGrpSpPr>
            <p:cNvPr id="10234" name="database editable icon"/>
            <p:cNvGrpSpPr/>
            <p:nvPr/>
          </p:nvGrpSpPr>
          <p:grpSpPr>
            <ns1:xfrm xmlns:ns1="http://schemas.openxmlformats.org/drawingml/2006/main">
              <ns1:off x="571500" y="4476750"/>
              <ns1:ext cx="476250" cy="476250"/>
              <ns1:chOff x="571500" y="4476750"/>
              <ns1:chExt cx="476250" cy="476250"/>
            </ns1:xfrm>
          </p:grpSpPr>
          <p:sp>
            <p:nvSpPr>
              <p:cNvPr id="10231" name="database-0"/>
              <p:cNvSpPr/>
              <p:nvPr/>
            </p:nvSpPr>
            <p:spPr>
              <ns1:xfrm xmlns:ns1="http://schemas.openxmlformats.org/drawingml/2006/main">
                <ns1:off x="631031" y="4516438"/>
                <ns1:ext cx="357188" cy="119062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9766" cap="rnd">
                <ns5:solidFill>
                  <ns5:srgbClr val="3376A0"/>
                </ns5:solidFill>
              </ns5:ln>
            </p:spPr>
          </p:sp>
          <p:sp>
            <p:nvSpPr>
              <p:cNvPr id="10232" name="database-1"/>
              <p:cNvSpPr/>
              <p:nvPr/>
            </p:nvSpPr>
            <p:spPr>
              <ns1:xfrm xmlns:ns1="http://schemas.openxmlformats.org/drawingml/2006/main">
                <ns1:off x="571500" y="4476750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5000"/>
                    </ns2:moveTo>
                    <ns2:lnTo>
                      <ns2:pt x="3000" y="19000"/>
                    </ns2:lnTo>
                    <ns2:cubicBezTo>
                      <ns2:pt x="3000" y="20657"/>
                      <ns2:pt x="7029" y="22000"/>
                      <ns2:pt x="12000" y="22000"/>
                    </ns2:cubicBezTo>
                    <ns2:cubicBezTo>
                      <ns2:pt x="16971" y="22000"/>
                      <ns2:pt x="21000" y="20657"/>
                      <ns2:pt x="21000" y="19000"/>
                    </ns2:cubicBezTo>
                    <ns2:lnTo>
                      <ns2:pt x="21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376A0"/>
                </ns4:solidFill>
              </ns4:ln>
            </p:spPr>
          </p:sp>
          <p:sp>
            <p:nvSpPr>
              <p:cNvPr id="10233" name="database-2"/>
              <p:cNvSpPr/>
              <p:nvPr/>
            </p:nvSpPr>
            <p:spPr>
              <ns1:xfrm xmlns:ns1="http://schemas.openxmlformats.org/drawingml/2006/main">
                <ns1:off x="571500" y="4476750"/>
                <ns1:ext cx="476250" cy="4762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12000"/>
                    </ns2:moveTo>
                    <ns2:cubicBezTo>
                      <ns2:pt x="3000" y="13657"/>
                      <ns2:pt x="7029" y="15000"/>
                      <ns2:pt x="12000" y="15000"/>
                    </ns2:cubicBezTo>
                    <ns2:cubicBezTo>
                      <ns2:pt x="16971" y="15000"/>
                      <ns2:pt x="21000" y="13657"/>
                      <ns2:pt x="21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9766" cap="rnd">
                <ns4:solidFill>
                  <ns4:srgbClr val="3376A0"/>
                </ns4:solidFill>
              </ns4:ln>
            </p:spPr>
          </p:sp>
        </p:grpSp>
        <p:sp>
          <p:nvSpPr>
            <p:cNvPr id="10235" name="Knowledge memory and numerical diagnostics"/>
            <p:cNvSpPr/>
            <p:nvPr/>
          </p:nvSpPr>
          <p:spPr>
            <ns1:xfrm xmlns:ns1="http://schemas.openxmlformats.org/drawingml/2006/main">
              <ns1:off x="1285875" y="4476750"/>
              <ns1:ext cx="5715000" cy="4762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Knowledge memory and numerical diagnostics</ns7:t>
              </ns7:r>
            </ns7:p>
          </p:txBody>
        </p:sp>
        <p:grpSp>
          <p:nvGrpSpPr>
            <p:cNvPr id="10239" name="target editable icon"/>
            <p:cNvGrpSpPr/>
            <p:nvPr/>
          </p:nvGrpSpPr>
          <p:grpSpPr>
            <ns1:xfrm xmlns:ns1="http://schemas.openxmlformats.org/drawingml/2006/main">
              <ns1:off x="7754938" y="4516438"/>
              <ns1:ext cx="396875" cy="396875"/>
              <ns1:chOff x="7754938" y="4516438"/>
              <ns1:chExt cx="396875" cy="396875"/>
            </ns1:xfrm>
          </p:grpSpPr>
          <p:sp>
            <p:nvSpPr>
              <p:cNvPr id="10236" name="target-0"/>
              <p:cNvSpPr/>
              <p:nvPr/>
            </p:nvSpPr>
            <p:spPr>
              <ns1:xfrm xmlns:ns1="http://schemas.openxmlformats.org/drawingml/2006/main">
                <ns1:off x="7754938" y="4516438"/>
                <ns1:ext cx="396875" cy="396875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9766" cap="rnd">
                <ns5:solidFill>
                  <ns5:srgbClr val="B7524A"/>
                </ns5:solidFill>
              </ns5:ln>
            </p:spPr>
          </p:sp>
          <p:sp>
            <p:nvSpPr>
              <p:cNvPr id="10237" name="target-1"/>
              <p:cNvSpPr/>
              <p:nvPr/>
            </p:nvSpPr>
            <p:spPr>
              <ns1:xfrm xmlns:ns1="http://schemas.openxmlformats.org/drawingml/2006/main">
                <ns1:off x="7834312" y="4595812"/>
                <ns1:ext cx="238125" cy="238125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9766" cap="rnd">
                <ns5:solidFill>
                  <ns5:srgbClr val="B7524A"/>
                </ns5:solidFill>
              </ns5:ln>
            </p:spPr>
          </p:sp>
          <p:sp>
            <p:nvSpPr>
              <p:cNvPr id="10238" name="target-2"/>
              <p:cNvSpPr/>
              <p:nvPr/>
            </p:nvSpPr>
            <p:spPr>
              <ns1:xfrm xmlns:ns1="http://schemas.openxmlformats.org/drawingml/2006/main">
                <ns1:off x="7913688" y="4675188"/>
                <ns1:ext cx="79375" cy="79375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9766" cap="rnd">
                <ns5:solidFill>
                  <ns5:srgbClr val="B7524A"/>
                </ns5:solidFill>
              </ns5:ln>
            </p:spPr>
          </p:sp>
        </p:grpSp>
        <p:sp>
          <p:nvSpPr>
            <p:cNvPr id="10240" name="Detector training"/>
            <p:cNvSpPr/>
            <p:nvPr/>
          </p:nvSpPr>
          <p:spPr>
            <ns1:xfrm xmlns:ns1="http://schemas.openxmlformats.org/drawingml/2006/main">
              <ns1:off x="8334375" y="4286250"/>
              <ns1:ext cx="2619375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1">
                  <ns7:solidFill>
                    <ns7:srgbClr val="B7524A"/>
                  </ns7:solidFill>
                  <ns7:latin typeface="Times New Roman"/>
                  <ns7:ea typeface="Times New Roman"/>
                </ns7:rPr>
                <ns7:t>Detector training</ns7:t>
              </ns7:r>
            </ns7:p>
          </p:txBody>
        </p:sp>
        <p:sp>
          <p:nvSpPr>
            <p:cNvPr id="10241" name="Validity · interval agreement&#10;false-positive penalty"/>
            <p:cNvSpPr/>
            <p:nvPr/>
          </p:nvSpPr>
          <p:spPr>
            <ns1:xfrm xmlns:ns1="http://schemas.openxmlformats.org/drawingml/2006/main">
              <ns1:off x="8191500" y="4648200"/>
              <ns1:ext cx="2952750" cy="5524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65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Validity · interval agreement</ns7:t>
              </ns7:r>
            </ns7:p>
            <ns8:p xmlns:ns8="http://schemas.openxmlformats.org/drawingml/2006/main">
              <ns8:pPr algn="ctr"/>
              <ns8:r>
                <ns8:rPr sz="1650" b="0">
                  <ns8:solidFill>
                    <ns8:srgbClr val="647788"/>
                  </ns8:solidFill>
                  <ns8:latin typeface="Times New Roman"/>
                  <ns8:ea typeface="Times New Roman"/>
                </ns8:rPr>
                <ns8:t>false-positive penalty</ns8:t>
              </ns8:r>
            </ns8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