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52387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348" name="Figure12_TimeSeriesGym — ungroup to edit modules"/>
          <p:cNvGrpSpPr/>
          <p:nvPr/>
        </p:nvGrpSpPr>
        <p:grpSpPr>
          <ns1:xfrm xmlns:ns1="http://schemas.openxmlformats.org/drawingml/2006/main">
            <ns1:off x="190500" y="333375"/>
            <ns1:ext cx="11001375" cy="4619625"/>
            <ns1:chOff x="190500" y="333375"/>
            <ns1:chExt cx="11001375" cy="4619625"/>
          </ns1:xfrm>
        </p:grpSpPr>
        <p:grpSp>
          <p:nvGrpSpPr>
            <p:cNvPr id="10304" name="layers editable icon"/>
            <p:cNvGrpSpPr/>
            <p:nvPr/>
          </p:nvGrpSpPr>
          <p:grpSpPr>
            <ns1:xfrm xmlns:ns1="http://schemas.openxmlformats.org/drawingml/2006/main">
              <ns1:off x="523875" y="714375"/>
              <ns1:ext cx="762000" cy="762000"/>
              <ns1:chOff x="523875" y="714375"/>
              <ns1:chExt cx="762000" cy="762000"/>
            </ns1:xfrm>
          </p:grpSpPr>
          <p:sp>
            <p:nvSpPr>
              <p:cNvPr id="10301" name="layers-0"/>
              <p:cNvSpPr/>
              <p:nvPr/>
            </p:nvSpPr>
            <p:spPr>
              <ns1:xfrm xmlns:ns1="http://schemas.openxmlformats.org/drawingml/2006/main">
                <ns1:off x="523875" y="714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376A0"/>
                </ns4:solidFill>
              </ns4:ln>
            </p:spPr>
          </p:sp>
          <p:sp>
            <p:nvSpPr>
              <p:cNvPr id="10302" name="layers-1"/>
              <p:cNvSpPr/>
              <p:nvPr/>
            </p:nvSpPr>
            <p:spPr>
              <ns1:xfrm xmlns:ns1="http://schemas.openxmlformats.org/drawingml/2006/main">
                <ns1:off x="523875" y="714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376A0"/>
                </ns4:solidFill>
              </ns4:ln>
            </p:spPr>
          </p:sp>
          <p:sp>
            <p:nvSpPr>
              <p:cNvPr id="10303" name="layers-2"/>
              <p:cNvSpPr/>
              <p:nvPr/>
            </p:nvSpPr>
            <p:spPr>
              <ns1:xfrm xmlns:ns1="http://schemas.openxmlformats.org/drawingml/2006/main">
                <ns1:off x="523875" y="714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376A0"/>
                </ns4:solidFill>
              </ns4:ln>
            </p:spPr>
          </p:sp>
        </p:grpSp>
        <p:sp>
          <p:nvSpPr>
            <p:cNvPr id="10305" name="Challenge resources"/>
            <p:cNvSpPr/>
            <p:nvPr/>
          </p:nvSpPr>
          <p:spPr>
            <ns1:xfrm xmlns:ns1="http://schemas.openxmlformats.org/drawingml/2006/main">
              <ns1:off x="190500" y="1666875"/>
              <ns1:ext cx="2667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Challenge resources</ns7:t>
              </ns7:r>
            </ns7:p>
          </p:txBody>
        </p:sp>
        <p:sp>
          <p:nvSpPr>
            <p:cNvPr id="10306" name="Data · code · papers"/>
            <p:cNvSpPr/>
            <p:nvPr/>
          </p:nvSpPr>
          <p:spPr>
            <ns1:xfrm xmlns:ns1="http://schemas.openxmlformats.org/drawingml/2006/main">
              <ns1:off x="190500" y="2085975"/>
              <ns1:ext cx="2667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Data · code · papers</ns7:t>
              </ns7:r>
            </ns7:p>
          </p:txBody>
        </p:sp>
        <p:sp>
          <p:nvSpPr>
            <p:cNvPr id="10307" name="Task description"/>
            <p:cNvSpPr/>
            <p:nvPr/>
          </p:nvSpPr>
          <p:spPr>
            <ns1:xfrm xmlns:ns1="http://schemas.openxmlformats.org/drawingml/2006/main">
              <ns1:off x="190500" y="2476500"/>
              <ns1:ext cx="2667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Task description</ns7:t>
              </ns7:r>
            </ns7:p>
          </p:txBody>
        </p:sp>
        <p:sp>
          <p:nvSpPr>
            <p:cNvPr id="10308" name="flow"/>
            <p:cNvSpPr/>
            <p:nvPr/>
          </p:nvSpPr>
          <p:spPr>
            <ns1:xfrm xmlns:ns1="http://schemas.openxmlformats.org/drawingml/2006/main">
              <ns1:off x="2809875" y="1571625"/>
              <ns1:ext cx="9048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5000" h="1000" fill="none">
                  <ns2:moveTo>
                    <ns2:pt x="0" y="0"/>
                  </ns2:moveTo>
                  <ns2:lnTo>
                    <ns2:pt x="9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309" name="evaluation environment"/>
            <p:cNvSpPr/>
            <p:nvPr/>
          </p:nvSpPr>
          <p:spPr>
            <ns1:xfrm xmlns:ns1="http://schemas.openxmlformats.org/drawingml/2006/main">
              <ns1:off x="3905250" y="333375"/>
              <ns1:ext cx="3714750" cy="347662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310" name="Executable environment"/>
            <p:cNvSpPr/>
            <p:nvPr/>
          </p:nvSpPr>
          <p:spPr>
            <ns1:xfrm xmlns:ns1="http://schemas.openxmlformats.org/drawingml/2006/main">
              <ns1:off x="4048125" y="466725"/>
              <ns1:ext cx="3429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00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Executable environment</ns7:t>
              </ns7:r>
            </ns7:p>
          </p:txBody>
        </p:sp>
        <p:grpSp>
          <p:nvGrpSpPr>
            <p:cNvPr id="10317" name="bot editable icon"/>
            <p:cNvGrpSpPr/>
            <p:nvPr/>
          </p:nvGrpSpPr>
          <p:grpSpPr>
            <ns1:xfrm xmlns:ns1="http://schemas.openxmlformats.org/drawingml/2006/main">
              <ns1:off x="5286375" y="1095375"/>
              <ns1:ext cx="762000" cy="762000"/>
              <ns1:chOff x="5286375" y="1095375"/>
              <ns1:chExt cx="762000" cy="762000"/>
            </ns1:xfrm>
          </p:grpSpPr>
          <p:sp>
            <p:nvSpPr>
              <p:cNvPr id="10311" name="bot-0"/>
              <p:cNvSpPr/>
              <p:nvPr/>
            </p:nvSpPr>
            <p:spPr>
              <ns1:xfrm xmlns:ns1="http://schemas.openxmlformats.org/drawingml/2006/main">
                <ns1:off x="5286375" y="1095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68528D"/>
                </ns4:solidFill>
              </ns4:ln>
            </p:spPr>
          </p:sp>
          <p:sp>
            <p:nvSpPr>
              <p:cNvPr id="10312" name="bot-1"/>
              <p:cNvSpPr/>
              <p:nvPr/>
            </p:nvSpPr>
            <p:spPr>
              <ns1:xfrm xmlns:ns1="http://schemas.openxmlformats.org/drawingml/2006/main">
                <ns1:off x="5413375" y="1349375"/>
                <ns1:ext cx="508000" cy="381000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47625" cap="rnd">
                <ns5:solidFill>
                  <ns5:srgbClr val="68528D"/>
                </ns5:solidFill>
              </ns5:ln>
            </p:spPr>
          </p:sp>
          <p:sp>
            <p:nvSpPr>
              <p:cNvPr id="10313" name="bot-2"/>
              <p:cNvSpPr/>
              <p:nvPr/>
            </p:nvSpPr>
            <p:spPr>
              <ns1:xfrm xmlns:ns1="http://schemas.openxmlformats.org/drawingml/2006/main">
                <ns1:off x="5286375" y="1095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68528D"/>
                </ns4:solidFill>
              </ns4:ln>
            </p:spPr>
          </p:sp>
          <p:sp>
            <p:nvSpPr>
              <p:cNvPr id="10314" name="bot-3"/>
              <p:cNvSpPr/>
              <p:nvPr/>
            </p:nvSpPr>
            <p:spPr>
              <ns1:xfrm xmlns:ns1="http://schemas.openxmlformats.org/drawingml/2006/main">
                <ns1:off x="5286375" y="1095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68528D"/>
                </ns4:solidFill>
              </ns4:ln>
            </p:spPr>
          </p:sp>
          <p:sp>
            <p:nvSpPr>
              <p:cNvPr id="10315" name="bot-4"/>
              <p:cNvSpPr/>
              <p:nvPr/>
            </p:nvSpPr>
            <p:spPr>
              <ns1:xfrm xmlns:ns1="http://schemas.openxmlformats.org/drawingml/2006/main">
                <ns1:off x="5286375" y="1095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68528D"/>
                </ns4:solidFill>
              </ns4:ln>
            </p:spPr>
          </p:sp>
          <p:sp>
            <p:nvSpPr>
              <p:cNvPr id="10316" name="bot-5"/>
              <p:cNvSpPr/>
              <p:nvPr/>
            </p:nvSpPr>
            <p:spPr>
              <ns1:xfrm xmlns:ns1="http://schemas.openxmlformats.org/drawingml/2006/main">
                <ns1:off x="5286375" y="1095375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68528D"/>
                </ns4:solidFill>
              </ns4:ln>
            </p:spPr>
          </p:sp>
        </p:grpSp>
        <p:sp>
          <p:nvSpPr>
            <p:cNvPr id="10318" name="Agent"/>
            <p:cNvSpPr/>
            <p:nvPr/>
          </p:nvSpPr>
          <p:spPr>
            <ns1:xfrm xmlns:ns1="http://schemas.openxmlformats.org/drawingml/2006/main">
              <ns1:off x="4953000" y="1981200"/>
              <ns1:ext cx="1428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Agent</ns7:t>
              </ns7:r>
            </ns7:p>
          </p:txBody>
        </p:sp>
        <p:grpSp>
          <p:nvGrpSpPr>
            <p:cNvPr id="10321" name="braces editable icon"/>
            <p:cNvGrpSpPr/>
            <p:nvPr/>
          </p:nvGrpSpPr>
          <p:grpSpPr>
            <ns1:xfrm xmlns:ns1="http://schemas.openxmlformats.org/drawingml/2006/main">
              <ns1:off x="4429125" y="2619375"/>
              <ns1:ext cx="476250" cy="476250"/>
              <ns1:chOff x="4429125" y="2619375"/>
              <ns1:chExt cx="476250" cy="476250"/>
            </ns1:xfrm>
          </p:grpSpPr>
          <p:sp>
            <p:nvSpPr>
              <p:cNvPr id="10319" name="braces-0"/>
              <p:cNvSpPr/>
              <p:nvPr/>
            </p:nvSpPr>
            <p:spPr>
              <ns1:xfrm xmlns:ns1="http://schemas.openxmlformats.org/drawingml/2006/main">
                <ns1:off x="44291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3000"/>
                    </ns2:moveTo>
                    <ns2:lnTo>
                      <ns2:pt x="7000" y="3000"/>
                    </ns2:lnTo>
                    <ns2:cubicBezTo>
                      <ns2:pt x="5895" y="3000"/>
                      <ns2:pt x="5000" y="3895"/>
                      <ns2:pt x="5000" y="5000"/>
                    </ns2:cubicBezTo>
                    <ns2:lnTo>
                      <ns2:pt x="5000" y="10000"/>
                    </ns2:lnTo>
                    <ns2:cubicBezTo>
                      <ns2:pt x="5000" y="11105"/>
                      <ns2:pt x="4105" y="12000"/>
                      <ns2:pt x="3000" y="12000"/>
                    </ns2:cubicBezTo>
                    <ns2:cubicBezTo>
                      <ns2:pt x="4105" y="12000"/>
                      <ns2:pt x="5000" y="12895"/>
                      <ns2:pt x="5000" y="14000"/>
                    </ns2:cubicBezTo>
                    <ns2:lnTo>
                      <ns2:pt x="5000" y="19000"/>
                    </ns2:lnTo>
                    <ns2:cubicBezTo>
                      <ns2:pt x="5000" y="20100"/>
                      <ns2:pt x="5900" y="21000"/>
                      <ns2:pt x="7000" y="21000"/>
                    </ns2:cubicBez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376A0"/>
                </ns4:solidFill>
              </ns4:ln>
            </p:spPr>
          </p:sp>
          <p:sp>
            <p:nvSpPr>
              <p:cNvPr id="10320" name="braces-1"/>
              <p:cNvSpPr/>
              <p:nvPr/>
            </p:nvSpPr>
            <p:spPr>
              <ns1:xfrm xmlns:ns1="http://schemas.openxmlformats.org/drawingml/2006/main">
                <ns1:off x="44291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21000"/>
                    </ns2:moveTo>
                    <ns2:lnTo>
                      <ns2:pt x="17000" y="21000"/>
                    </ns2:lnTo>
                    <ns2:cubicBezTo>
                      <ns2:pt x="18105" y="21000"/>
                      <ns2:pt x="19000" y="20105"/>
                      <ns2:pt x="19000" y="19000"/>
                    </ns2:cubicBezTo>
                    <ns2:lnTo>
                      <ns2:pt x="19000" y="14000"/>
                    </ns2:lnTo>
                    <ns2:cubicBezTo>
                      <ns2:pt x="19000" y="12900"/>
                      <ns2:pt x="19900" y="12000"/>
                      <ns2:pt x="21000" y="12000"/>
                    </ns2:cubicBezTo>
                    <ns2:cubicBezTo>
                      <ns2:pt x="19895" y="12000"/>
                      <ns2:pt x="19000" y="11105"/>
                      <ns2:pt x="19000" y="10000"/>
                    </ns2:cubicBezTo>
                    <ns2:lnTo>
                      <ns2:pt x="19000" y="5000"/>
                    </ns2:lnTo>
                    <ns2:cubicBezTo>
                      <ns2:pt x="19000" y="3895"/>
                      <ns2:pt x="18105" y="3000"/>
                      <ns2:pt x="17000" y="3000"/>
                    </ns2:cubicBezTo>
                    <ns2:lnTo>
                      <ns2:pt x="16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376A0"/>
                </ns4:solidFill>
              </ns4:ln>
            </p:spPr>
          </p:sp>
        </p:grpSp>
        <p:grpSp>
          <p:nvGrpSpPr>
            <p:cNvPr id="10328" name="chart-no-axes-combined editable icon"/>
            <p:cNvGrpSpPr/>
            <p:nvPr/>
          </p:nvGrpSpPr>
          <p:grpSpPr>
            <ns1:xfrm xmlns:ns1="http://schemas.openxmlformats.org/drawingml/2006/main">
              <ns1:off x="5476875" y="2619375"/>
              <ns1:ext cx="476250" cy="476250"/>
              <ns1:chOff x="5476875" y="2619375"/>
              <ns1:chExt cx="476250" cy="476250"/>
            </ns1:xfrm>
          </p:grpSpPr>
          <p:sp>
            <p:nvSpPr>
              <p:cNvPr id="10322" name="chart-no-axes-combined-0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  <p:sp>
            <p:nvSpPr>
              <p:cNvPr id="10323" name="chart-no-axes-combined-1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  <p:sp>
            <p:nvSpPr>
              <p:cNvPr id="10324" name="chart-no-axes-combined-2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  <p:sp>
            <p:nvSpPr>
              <p:cNvPr id="10325" name="chart-no-axes-combined-3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  <p:sp>
            <p:nvSpPr>
              <p:cNvPr id="10326" name="chart-no-axes-combined-4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  <p:sp>
            <p:nvSpPr>
              <p:cNvPr id="10327" name="chart-no-axes-combined-5"/>
              <p:cNvSpPr/>
              <p:nvPr/>
            </p:nvSpPr>
            <p:spPr>
              <ns1:xfrm xmlns:ns1="http://schemas.openxmlformats.org/drawingml/2006/main">
                <ns1:off x="547687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9846C"/>
                </ns4:solidFill>
              </ns4:ln>
            </p:spPr>
          </p:sp>
        </p:grpSp>
        <p:grpSp>
          <p:nvGrpSpPr>
            <p:cNvPr id="10334" name="file-text editable icon"/>
            <p:cNvGrpSpPr/>
            <p:nvPr/>
          </p:nvGrpSpPr>
          <p:grpSpPr>
            <ns1:xfrm xmlns:ns1="http://schemas.openxmlformats.org/drawingml/2006/main">
              <ns1:off x="6524625" y="2619375"/>
              <ns1:ext cx="476250" cy="476250"/>
              <ns1:chOff x="6524625" y="2619375"/>
              <ns1:chExt cx="476250" cy="476250"/>
            </ns1:xfrm>
          </p:grpSpPr>
          <p:sp>
            <p:nvSpPr>
              <p:cNvPr id="10329" name="file-text-0"/>
              <p:cNvSpPr/>
              <p:nvPr/>
            </p:nvSpPr>
            <p:spPr>
              <ns1:xfrm xmlns:ns1="http://schemas.openxmlformats.org/drawingml/2006/main">
                <ns1:off x="65246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B47A31"/>
                </ns4:solidFill>
              </ns4:ln>
            </p:spPr>
          </p:sp>
          <p:sp>
            <p:nvSpPr>
              <p:cNvPr id="10330" name="file-text-1"/>
              <p:cNvSpPr/>
              <p:nvPr/>
            </p:nvSpPr>
            <p:spPr>
              <ns1:xfrm xmlns:ns1="http://schemas.openxmlformats.org/drawingml/2006/main">
                <ns1:off x="65246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B47A31"/>
                </ns4:solidFill>
              </ns4:ln>
            </p:spPr>
          </p:sp>
          <p:sp>
            <p:nvSpPr>
              <p:cNvPr id="10331" name="file-text-2"/>
              <p:cNvSpPr/>
              <p:nvPr/>
            </p:nvSpPr>
            <p:spPr>
              <ns1:xfrm xmlns:ns1="http://schemas.openxmlformats.org/drawingml/2006/main">
                <ns1:off x="65246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B47A31"/>
                </ns4:solidFill>
              </ns4:ln>
            </p:spPr>
          </p:sp>
          <p:sp>
            <p:nvSpPr>
              <p:cNvPr id="10332" name="file-text-3"/>
              <p:cNvSpPr/>
              <p:nvPr/>
            </p:nvSpPr>
            <p:spPr>
              <ns1:xfrm xmlns:ns1="http://schemas.openxmlformats.org/drawingml/2006/main">
                <ns1:off x="65246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B47A31"/>
                </ns4:solidFill>
              </ns4:ln>
            </p:spPr>
          </p:sp>
          <p:sp>
            <p:nvSpPr>
              <p:cNvPr id="10333" name="file-text-4"/>
              <p:cNvSpPr/>
              <p:nvPr/>
            </p:nvSpPr>
            <p:spPr>
              <ns1:xfrm xmlns:ns1="http://schemas.openxmlformats.org/drawingml/2006/main">
                <ns1:off x="6524625" y="2619375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B47A31"/>
                </ns4:solidFill>
              </ns4:ln>
            </p:spPr>
          </p:sp>
        </p:grpSp>
        <p:sp>
          <p:nvSpPr>
            <p:cNvPr id="10335" name="Code        Model        Output"/>
            <p:cNvSpPr/>
            <p:nvPr/>
          </p:nvSpPr>
          <p:spPr>
            <ns1:xfrm xmlns:ns1="http://schemas.openxmlformats.org/drawingml/2006/main">
              <ns1:off x="4095750" y="3190875"/>
              <ns1:ext cx="3333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Code        Model        Output</ns7:t>
              </ns7:r>
            </ns7:p>
          </p:txBody>
        </p:sp>
        <p:sp>
          <p:nvSpPr>
            <p:cNvPr id="10336" name="flow"/>
            <p:cNvSpPr/>
            <p:nvPr/>
          </p:nvSpPr>
          <p:spPr>
            <ns1:xfrm xmlns:ns1="http://schemas.openxmlformats.org/drawingml/2006/main">
              <ns1:off x="7667625" y="1571625"/>
              <ns1:ext cx="9048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5000" h="1000" fill="none">
                  <ns2:moveTo>
                    <ns2:pt x="0" y="0"/>
                  </ns2:moveTo>
                  <ns2:lnTo>
                    <ns2:pt x="9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grpSp>
          <p:nvGrpSpPr>
            <p:cNvPr id="10342" name="list-checks editable icon"/>
            <p:cNvGrpSpPr/>
            <p:nvPr/>
          </p:nvGrpSpPr>
          <p:grpSpPr>
            <ns1:xfrm xmlns:ns1="http://schemas.openxmlformats.org/drawingml/2006/main">
              <ns1:off x="9334500" y="857250"/>
              <ns1:ext cx="762000" cy="762000"/>
              <ns1:chOff x="9334500" y="857250"/>
              <ns1:chExt cx="762000" cy="762000"/>
            </ns1:xfrm>
          </p:grpSpPr>
          <p:sp>
            <p:nvSpPr>
              <p:cNvPr id="10337" name="list-checks-0"/>
              <p:cNvSpPr/>
              <p:nvPr/>
            </p:nvSpPr>
            <p:spPr>
              <ns1:xfrm xmlns:ns1="http://schemas.openxmlformats.org/drawingml/2006/main">
                <ns1:off x="9334500" y="857250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5000"/>
                    </ns2:move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9846C"/>
                </ns4:solidFill>
              </ns4:ln>
            </p:spPr>
          </p:sp>
          <p:sp>
            <p:nvSpPr>
              <p:cNvPr id="10338" name="list-checks-1"/>
              <p:cNvSpPr/>
              <p:nvPr/>
            </p:nvSpPr>
            <p:spPr>
              <ns1:xfrm xmlns:ns1="http://schemas.openxmlformats.org/drawingml/2006/main">
                <ns1:off x="9334500" y="857250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12000"/>
                    </ns2:moveTo>
                    <ns2:lnTo>
                      <ns2:pt x="21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9846C"/>
                </ns4:solidFill>
              </ns4:ln>
            </p:spPr>
          </p:sp>
          <p:sp>
            <p:nvSpPr>
              <p:cNvPr id="10339" name="list-checks-2"/>
              <p:cNvSpPr/>
              <p:nvPr/>
            </p:nvSpPr>
            <p:spPr>
              <ns1:xfrm xmlns:ns1="http://schemas.openxmlformats.org/drawingml/2006/main">
                <ns1:off x="9334500" y="857250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19000"/>
                    </ns2:moveTo>
                    <ns2:lnTo>
                      <ns2:pt x="21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9846C"/>
                </ns4:solidFill>
              </ns4:ln>
            </p:spPr>
          </p:sp>
          <p:sp>
            <p:nvSpPr>
              <p:cNvPr id="10340" name="list-checks-3"/>
              <p:cNvSpPr/>
              <p:nvPr/>
            </p:nvSpPr>
            <p:spPr>
              <ns1:xfrm xmlns:ns1="http://schemas.openxmlformats.org/drawingml/2006/main">
                <ns1:off x="9334500" y="857250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7000"/>
                    </ns2:moveTo>
                    <ns2:lnTo>
                      <ns2:pt x="5000" y="19000"/>
                    </ns2:ln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9846C"/>
                </ns4:solidFill>
              </ns4:ln>
            </p:spPr>
          </p:sp>
          <p:sp>
            <p:nvSpPr>
              <p:cNvPr id="10341" name="list-checks-4"/>
              <p:cNvSpPr/>
              <p:nvPr/>
            </p:nvSpPr>
            <p:spPr>
              <ns1:xfrm xmlns:ns1="http://schemas.openxmlformats.org/drawingml/2006/main">
                <ns1:off x="9334500" y="857250"/>
                <ns1:ext cx="762000" cy="762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5000" y="9000"/>
                    </ns2:lnTo>
                    <ns2:lnTo>
                      <ns2:pt x="9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7625" cap="rnd">
                <ns4:solidFill>
                  <ns4:srgbClr val="39846C"/>
                </ns4:solidFill>
              </ns4:ln>
            </p:spPr>
          </p:sp>
        </p:grpSp>
        <p:sp>
          <p:nvSpPr>
            <p:cNvPr id="10343" name="Challenge grader"/>
            <p:cNvSpPr/>
            <p:nvPr/>
          </p:nvSpPr>
          <p:spPr>
            <ns1:xfrm xmlns:ns1="http://schemas.openxmlformats.org/drawingml/2006/main">
              <ns1:off x="8620125" y="1857375"/>
              <ns1:ext cx="25717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Challenge grader</ns7:t>
              </ns7:r>
            </ns7:p>
          </p:txBody>
        </p:sp>
        <p:sp>
          <p:nvSpPr>
            <p:cNvPr id="10344" name="Artifact checks"/>
            <p:cNvSpPr/>
            <p:nvPr/>
          </p:nvSpPr>
          <p:spPr>
            <ns1:xfrm xmlns:ns1="http://schemas.openxmlformats.org/drawingml/2006/main">
              <ns1:off x="8620125" y="2333625"/>
              <ns1:ext cx="2571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Artifact checks</ns7:t>
              </ns7:r>
            </ns7:p>
          </p:txBody>
        </p:sp>
        <p:sp>
          <p:nvSpPr>
            <p:cNvPr id="10345" name="Task metrics"/>
            <p:cNvSpPr/>
            <p:nvPr/>
          </p:nvSpPr>
          <p:spPr>
            <ns1:xfrm xmlns:ns1="http://schemas.openxmlformats.org/drawingml/2006/main">
              <ns1:off x="8620125" y="2733675"/>
              <ns1:ext cx="2571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Task metrics</ns7:t>
              </ns7:r>
            </ns7:p>
          </p:txBody>
        </p:sp>
        <p:sp>
          <p:nvSpPr>
            <p:cNvPr id="10346" name="shared contract"/>
            <p:cNvSpPr/>
            <p:nvPr/>
          </p:nvSpPr>
          <p:spPr>
            <ns1:xfrm xmlns:ns1="http://schemas.openxmlformats.org/drawingml/2006/main">
              <ns1:off x="1905000" y="3924300"/>
              <ns1:ext cx="8001000" cy="4762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840000" h="50000" fill="none">
                  <ns2:moveTo>
                    <ns2:pt x="0" y="0"/>
                  </ns2:moveTo>
                  <ns2:lnTo>
                    <ns2:pt x="0" y="50000"/>
                  </ns2:lnTo>
                  <ns2:lnTo>
                    <ns2:pt x="840000" y="50000"/>
                  </ns2:lnTo>
                  <ns2:lnTo>
                    <ns2:pt x="8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</ns4:ln>
          </p:spPr>
        </p:sp>
        <p:sp>
          <p:nvSpPr>
            <p:cNvPr id="10347" name="Shared challenge contract across different Agents"/>
            <p:cNvSpPr/>
            <p:nvPr/>
          </p:nvSpPr>
          <p:spPr>
            <ns1:xfrm xmlns:ns1="http://schemas.openxmlformats.org/drawingml/2006/main">
              <ns1:off x="2095500" y="4572000"/>
              <ns1:ext cx="7239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Shared challenge contract across different Agents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