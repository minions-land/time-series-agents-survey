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71512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485" name="Figure15_Open_Problems — ungroup to edit modules"/>
          <p:cNvGrpSpPr/>
          <p:nvPr/>
        </p:nvGrpSpPr>
        <p:grpSpPr>
          <ns1:xfrm xmlns:ns1="http://schemas.openxmlformats.org/drawingml/2006/main">
            <ns1:off x="285750" y="142875"/>
            <ns1:ext cx="10858500" cy="6410325"/>
            <ns1:chOff x="285750" y="142875"/>
            <ns1:chExt cx="10858500" cy="6410325"/>
          </ns1:xfrm>
        </p:grpSpPr>
        <p:sp>
          <p:nvSpPr>
            <p:cNvPr id="10425" name="Design question"/>
            <p:cNvSpPr/>
            <p:nvPr/>
          </p:nvSpPr>
          <p:spPr>
            <ns1:xfrm xmlns:ns1="http://schemas.openxmlformats.org/drawingml/2006/main">
              <ns1:off x="1238250" y="142875"/>
              <ns1:ext cx="36195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Design question</ns7:t>
              </ns7:r>
            </ns7:p>
          </p:txBody>
        </p:sp>
        <p:sp>
          <p:nvSpPr>
            <p:cNvPr id="10426" name="Controlled comparison"/>
            <p:cNvSpPr/>
            <p:nvPr/>
          </p:nvSpPr>
          <p:spPr>
            <ns1:xfrm xmlns:ns1="http://schemas.openxmlformats.org/drawingml/2006/main">
              <ns1:off x="6381750" y="142875"/>
              <ns1:ext cx="4191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7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Controlled comparison</ns7:t>
              </ns7:r>
            </ns7:p>
          </p:txBody>
        </p:sp>
        <p:sp>
          <p:nvSpPr>
            <p:cNvPr id="10427" name="Perception and execution"/>
            <p:cNvSpPr/>
            <p:nvPr/>
          </p:nvSpPr>
          <p:spPr>
            <ns1:xfrm xmlns:ns1="http://schemas.openxmlformats.org/drawingml/2006/main">
              <ns1:off x="285750" y="714375"/>
              <ns1:ext cx="10858500" cy="8858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40" name="brain-circuit editable icon"/>
            <p:cNvGrpSpPr/>
            <p:nvPr/>
          </p:nvGrpSpPr>
          <p:grpSpPr>
            <ns1:xfrm xmlns:ns1="http://schemas.openxmlformats.org/drawingml/2006/main">
              <ns1:off x="476250" y="895350"/>
              <ns1:ext cx="457200" cy="457200"/>
              <ns1:chOff x="476250" y="895350"/>
              <ns1:chExt cx="457200" cy="457200"/>
            </ns1:xfrm>
          </p:grpSpPr>
          <p:sp>
            <p:nvSpPr>
              <p:cNvPr id="10428" name="brain-circuit-0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3000"/>
                    </ns2:moveTo>
                    <ns2:lnTo>
                      <ns2:pt x="16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29" name="brain-circuit-1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8000"/>
                    </ns2:moveTo>
                    <ns2:lnTo>
                      <ns2:pt x="18000" y="18000"/>
                    </ns2:lnTo>
                    <ns2:cubicBezTo>
                      <ns2:pt x="19105" y="18000"/>
                      <ns2:pt x="20000" y="18895"/>
                      <ns2:pt x="20000" y="20000"/>
                    </ns2:cubicBez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0" name="brain-circuit-2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1" name="brain-circuit-3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9000"/>
                    </ns2:moveTo>
                    <ns2:cubicBezTo>
                      <ns2:pt x="11999" y="10851"/>
                      <ns2:pt x="10777" y="12481"/>
                      <ns2:pt x="9000" y="13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2" name="brain-circuit-4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8000"/>
                    </ns2:moveTo>
                    <ns2:lnTo>
                      <ns2:pt x="16000" y="5000"/>
                    </ns2:lnTo>
                    <ns2:cubicBezTo>
                      <ns2:pt x="16000" y="3895"/>
                      <ns2:pt x="16895" y="3000"/>
                      <ns2:pt x="18000" y="3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3" name="brain-circuit-5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18000"/>
                    </ns2:moveTo>
                    <ns2:cubicBezTo>
                      <ns2:pt x="4189" y="18001"/>
                      <ns2:pt x="2603" y="16785"/>
                      <ns2:pt x="2135" y="15035"/>
                    </ns2:cubicBezTo>
                    <ns2:cubicBezTo>
                      <ns2:pt x="1666" y="13286"/>
                      <ns2:pt x="2431" y="11440"/>
                      <ns2:pt x="4000" y="10535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4" name="brain-circuit-6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4" y="5125"/>
                    </ns2:moveTo>
                    <ns2:cubicBezTo>
                      <ns2:pt x="4813" y="5431"/>
                      <ns2:pt x="3829" y="6268"/>
                      <ns2:pt x="3336" y="7395"/>
                    </ns2:cubicBezTo>
                    <ns2:cubicBezTo>
                      <ns2:pt x="2843" y="8521"/>
                      <ns2:pt x="2895" y="9812"/>
                      <ns2:pt x="3478" y="10895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5" name="brain-circuit-7"/>
              <p:cNvSpPr/>
              <p:nvPr/>
            </p:nvSpPr>
            <p:spPr>
              <ns1:xfrm xmlns:ns1="http://schemas.openxmlformats.org/drawingml/2006/main">
                <ns1:off x="476250" y="8953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294" y="6294"/>
                    </ns2:moveTo>
                    <ns2:cubicBezTo>
                      <ns2:pt x="5762" y="5182"/>
                      <ns2:pt x="5964" y="3857"/>
                      <ns2:pt x="6804" y="2954"/>
                    </ns2:cubicBezTo>
                    <ns2:cubicBezTo>
                      <ns2:pt x="7645" y="2052"/>
                      <ns2:pt x="8952" y="1756"/>
                      <ns2:pt x="10099" y="2207"/>
                    </ns2:cubicBezTo>
                    <ns2:cubicBezTo>
                      <ns2:pt x="11246" y="2659"/>
                      <ns2:pt x="12000" y="3767"/>
                      <ns2:pt x="12000" y="5000"/>
                    </ns2:cubicBezTo>
                    <ns2:lnTo>
                      <ns2:pt x="12000" y="18000"/>
                    </ns2:lnTo>
                    <ns2:cubicBezTo>
                      <ns2:pt x="11998" y="19490"/>
                      <ns2:pt x="11168" y="20855"/>
                      <ns2:pt x="9847" y="21543"/>
                    </ns2:cubicBezTo>
                    <ns2:cubicBezTo>
                      <ns2:pt x="8525" y="22231"/>
                      <ns2:pt x="6931" y="22127"/>
                      <ns2:pt x="5709" y="21274"/>
                    </ns2:cubicBezTo>
                    <ns2:cubicBezTo>
                      <ns2:pt x="4488" y="20421"/>
                      <ns2:pt x="3842" y="18960"/>
                      <ns2:pt x="4033" y="17482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376A0"/>
                </ns4:solidFill>
              </ns4:ln>
            </p:spPr>
          </p:sp>
          <p:sp>
            <p:nvSpPr>
              <p:cNvPr id="10436" name="brain-circuit-8"/>
              <p:cNvSpPr/>
              <p:nvPr/>
            </p:nvSpPr>
            <p:spPr>
              <ns1:xfrm xmlns:ns1="http://schemas.openxmlformats.org/drawingml/2006/main">
                <ns1:off x="771525" y="1133475"/>
                <ns1:ext cx="19050" cy="190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3376A0"/>
                </ns5:solidFill>
              </ns5:ln>
            </p:spPr>
          </p:sp>
          <p:sp>
            <p:nvSpPr>
              <p:cNvPr id="10437" name="brain-circuit-9"/>
              <p:cNvSpPr/>
              <p:nvPr/>
            </p:nvSpPr>
            <p:spPr>
              <ns1:xfrm xmlns:ns1="http://schemas.openxmlformats.org/drawingml/2006/main">
                <ns1:off x="809625" y="942975"/>
                <ns1:ext cx="19050" cy="190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3376A0"/>
                </ns5:solidFill>
              </ns5:ln>
            </p:spPr>
          </p:sp>
          <p:sp>
            <p:nvSpPr>
              <p:cNvPr id="10438" name="brain-circuit-10"/>
              <p:cNvSpPr/>
              <p:nvPr/>
            </p:nvSpPr>
            <p:spPr>
              <ns1:xfrm xmlns:ns1="http://schemas.openxmlformats.org/drawingml/2006/main">
                <ns1:off x="847725" y="1285875"/>
                <ns1:ext cx="19050" cy="190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3376A0"/>
                </ns5:solidFill>
              </ns5:ln>
            </p:spPr>
          </p:sp>
          <p:sp>
            <p:nvSpPr>
              <p:cNvPr id="10439" name="brain-circuit-11"/>
              <p:cNvSpPr/>
              <p:nvPr/>
            </p:nvSpPr>
            <p:spPr>
              <ns1:xfrm xmlns:ns1="http://schemas.openxmlformats.org/drawingml/2006/main">
                <ns1:off x="847725" y="1038225"/>
                <ns1:ext cx="19050" cy="190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3376A0"/>
                </ns5:solidFill>
              </ns5:ln>
            </p:spPr>
          </p:sp>
        </p:grpSp>
        <p:sp>
          <p:nvSpPr>
            <p:cNvPr id="10441" name="Perception and execution"/>
            <p:cNvSpPr/>
            <p:nvPr/>
          </p:nvSpPr>
          <p:spPr>
            <ns1:xfrm xmlns:ns1="http://schemas.openxmlformats.org/drawingml/2006/main">
              <ns1:off x="1123950" y="847725"/>
              <ns1:ext cx="4191000" cy="5715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Perception and execution</ns7:t>
              </ns7:r>
            </ns7:p>
          </p:txBody>
        </p:sp>
        <p:sp>
          <p:nvSpPr>
            <p:cNvPr id="10442" name="Model judgment"/>
            <p:cNvSpPr/>
            <p:nvPr/>
          </p:nvSpPr>
          <p:spPr>
            <ns1:xfrm xmlns:ns1="http://schemas.openxmlformats.org/drawingml/2006/main">
              <ns1:off x="5762625" y="895350"/>
              <ns1:ext cx="2238375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Model judgment</ns7:t>
              </ns7:r>
            </ns7:p>
          </p:txBody>
        </p:sp>
        <p:sp>
          <p:nvSpPr>
            <p:cNvPr id="10443" name="flow"/>
            <p:cNvSpPr/>
            <p:nvPr/>
          </p:nvSpPr>
          <p:spPr>
            <ns1:xfrm xmlns:ns1="http://schemas.openxmlformats.org/drawingml/2006/main">
              <ns1:off x="8048625" y="1143000"/>
              <ns1:ext cx="381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0000" h="1000" fill="none">
                  <ns2:moveTo>
                    <ns2:pt x="0" y="0"/>
                  </ns2:moveTo>
                  <ns2:lnTo>
                    <ns2:pt x="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444" name="Numerical tool"/>
            <p:cNvSpPr/>
            <p:nvPr/>
          </p:nvSpPr>
          <p:spPr>
            <ns1:xfrm xmlns:ns1="http://schemas.openxmlformats.org/drawingml/2006/main">
              <ns1:off x="8524875" y="895350"/>
              <ns1:ext cx="2381250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Numerical tool</ns7:t>
              </ns7:r>
            </ns7:p>
          </p:txBody>
        </p:sp>
        <p:sp>
          <p:nvSpPr>
            <p:cNvPr id="10445" name="Memory under change"/>
            <p:cNvSpPr/>
            <p:nvPr/>
          </p:nvSpPr>
          <p:spPr>
            <ns1:xfrm xmlns:ns1="http://schemas.openxmlformats.org/drawingml/2006/main">
              <ns1:off x="285750" y="1771650"/>
              <ns1:ext cx="10858500" cy="8858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49" name="database editable icon"/>
            <p:cNvGrpSpPr/>
            <p:nvPr/>
          </p:nvGrpSpPr>
          <p:grpSpPr>
            <ns1:xfrm xmlns:ns1="http://schemas.openxmlformats.org/drawingml/2006/main">
              <ns1:off x="476250" y="1952625"/>
              <ns1:ext cx="457200" cy="457200"/>
              <ns1:chOff x="476250" y="1952625"/>
              <ns1:chExt cx="457200" cy="457200"/>
            </ns1:xfrm>
          </p:grpSpPr>
          <p:sp>
            <p:nvSpPr>
              <p:cNvPr id="10446" name="database-0"/>
              <p:cNvSpPr/>
              <p:nvPr/>
            </p:nvSpPr>
            <p:spPr>
              <ns1:xfrm xmlns:ns1="http://schemas.openxmlformats.org/drawingml/2006/main">
                <ns1:off x="533400" y="1990725"/>
                <ns1:ext cx="342900" cy="1143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39846C"/>
                </ns5:solidFill>
              </ns5:ln>
            </p:spPr>
          </p:sp>
          <p:sp>
            <p:nvSpPr>
              <p:cNvPr id="10447" name="database-1"/>
              <p:cNvSpPr/>
              <p:nvPr/>
            </p:nvSpPr>
            <p:spPr>
              <ns1:xfrm xmlns:ns1="http://schemas.openxmlformats.org/drawingml/2006/main">
                <ns1:off x="476250" y="195262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5000"/>
                    </ns2:moveTo>
                    <ns2:lnTo>
                      <ns2:pt x="3000" y="19000"/>
                    </ns2:lnTo>
                    <ns2:cubicBezTo>
                      <ns2:pt x="3000" y="20657"/>
                      <ns2:pt x="7029" y="22000"/>
                      <ns2:pt x="12000" y="22000"/>
                    </ns2:cubicBezTo>
                    <ns2:cubicBezTo>
                      <ns2:pt x="16971" y="22000"/>
                      <ns2:pt x="21000" y="20657"/>
                      <ns2:pt x="21000" y="19000"/>
                    </ns2:cubicBez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9846C"/>
                </ns4:solidFill>
              </ns4:ln>
            </p:spPr>
          </p:sp>
          <p:sp>
            <p:nvSpPr>
              <p:cNvPr id="10448" name="database-2"/>
              <p:cNvSpPr/>
              <p:nvPr/>
            </p:nvSpPr>
            <p:spPr>
              <ns1:xfrm xmlns:ns1="http://schemas.openxmlformats.org/drawingml/2006/main">
                <ns1:off x="476250" y="195262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13657"/>
                      <ns2:pt x="7029" y="15000"/>
                      <ns2:pt x="12000" y="15000"/>
                    </ns2:cubicBezTo>
                    <ns2:cubicBezTo>
                      <ns2:pt x="16971" y="15000"/>
                      <ns2:pt x="21000" y="13657"/>
                      <ns2:pt x="21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39846C"/>
                </ns4:solidFill>
              </ns4:ln>
            </p:spPr>
          </p:sp>
        </p:grpSp>
        <p:sp>
          <p:nvSpPr>
            <p:cNvPr id="10450" name="Memory under change"/>
            <p:cNvSpPr/>
            <p:nvPr/>
          </p:nvSpPr>
          <p:spPr>
            <ns1:xfrm xmlns:ns1="http://schemas.openxmlformats.org/drawingml/2006/main">
              <ns1:off x="1123950" y="1905000"/>
              <ns1:ext cx="4191000" cy="5715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Memory under change</ns7:t>
              </ns7:r>
            </ns7:p>
          </p:txBody>
        </p:sp>
        <p:sp>
          <p:nvSpPr>
            <p:cNvPr id="10451" name="Prior evidence"/>
            <p:cNvSpPr/>
            <p:nvPr/>
          </p:nvSpPr>
          <p:spPr>
            <ns1:xfrm xmlns:ns1="http://schemas.openxmlformats.org/drawingml/2006/main">
              <ns1:off x="5762625" y="1952625"/>
              <ns1:ext cx="2238375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Prior evidence</ns7:t>
              </ns7:r>
            </ns7:p>
          </p:txBody>
        </p:sp>
        <p:sp>
          <p:nvSpPr>
            <p:cNvPr id="10452" name="flow"/>
            <p:cNvSpPr/>
            <p:nvPr/>
          </p:nvSpPr>
          <p:spPr>
            <ns1:xfrm xmlns:ns1="http://schemas.openxmlformats.org/drawingml/2006/main">
              <ns1:off x="8048625" y="2200275"/>
              <ns1:ext cx="381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0000" h="1000" fill="none">
                  <ns2:moveTo>
                    <ns2:pt x="0" y="0"/>
                  </ns2:moveTo>
                  <ns2:lnTo>
                    <ns2:pt x="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453" name="Revised release"/>
            <p:cNvSpPr/>
            <p:nvPr/>
          </p:nvSpPr>
          <p:spPr>
            <ns1:xfrm xmlns:ns1="http://schemas.openxmlformats.org/drawingml/2006/main">
              <ns1:off x="8524875" y="1952625"/>
              <ns1:ext cx="2381250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Revised release</ns7:t>
              </ns7:r>
            </ns7:p>
          </p:txBody>
        </p:sp>
        <p:sp>
          <p:nvSpPr>
            <p:cNvPr id="10454" name="Procedure transfer"/>
            <p:cNvSpPr/>
            <p:nvPr/>
          </p:nvSpPr>
          <p:spPr>
            <ns1:xfrm xmlns:ns1="http://schemas.openxmlformats.org/drawingml/2006/main">
              <ns1:off x="285750" y="2828925"/>
              <ns1:ext cx="10858500" cy="8858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58" name="workflow editable icon"/>
            <p:cNvGrpSpPr/>
            <p:nvPr/>
          </p:nvGrpSpPr>
          <p:grpSpPr>
            <ns1:xfrm xmlns:ns1="http://schemas.openxmlformats.org/drawingml/2006/main">
              <ns1:off x="476250" y="3009900"/>
              <ns1:ext cx="457200" cy="457200"/>
              <ns1:chOff x="476250" y="3009900"/>
              <ns1:chExt cx="457200" cy="457200"/>
            </ns1:xfrm>
          </p:grpSpPr>
          <p:sp>
            <p:nvSpPr>
              <p:cNvPr id="10455" name="workflow-0"/>
              <p:cNvSpPr/>
              <p:nvPr/>
            </p:nvSpPr>
            <p:spPr>
              <ns1:xfrm xmlns:ns1="http://schemas.openxmlformats.org/drawingml/2006/main">
                <ns1:off x="533400" y="3067050"/>
                <ns1:ext cx="152400" cy="152400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68528D"/>
                </ns5:solidFill>
              </ns5:ln>
            </p:spPr>
          </p:sp>
          <p:sp>
            <p:nvSpPr>
              <p:cNvPr id="10456" name="workflow-1"/>
              <p:cNvSpPr/>
              <p:nvPr/>
            </p:nvSpPr>
            <p:spPr>
              <ns1:xfrm xmlns:ns1="http://schemas.openxmlformats.org/drawingml/2006/main">
                <ns1:off x="476250" y="300990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11000"/>
                    </ns2:moveTo>
                    <ns2:lnTo>
                      <ns2:pt x="7000" y="15000"/>
                    </ns2:lnTo>
                    <ns2:cubicBezTo>
                      <ns2:pt x="7000" y="16105"/>
                      <ns2:pt x="7895" y="17000"/>
                      <ns2:pt x="9000" y="17000"/>
                    </ns2:cubicBezTo>
                    <ns2:lnTo>
                      <ns2:pt x="1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68528D"/>
                </ns4:solidFill>
              </ns4:ln>
            </p:spPr>
          </p:sp>
          <p:sp>
            <p:nvSpPr>
              <p:cNvPr id="10457" name="workflow-2"/>
              <p:cNvSpPr/>
              <p:nvPr/>
            </p:nvSpPr>
            <p:spPr>
              <ns1:xfrm xmlns:ns1="http://schemas.openxmlformats.org/drawingml/2006/main">
                <ns1:off x="723900" y="3257550"/>
                <ns1:ext cx="152400" cy="152400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68528D"/>
                </ns5:solidFill>
              </ns5:ln>
            </p:spPr>
          </p:sp>
        </p:grpSp>
        <p:sp>
          <p:nvSpPr>
            <p:cNvPr id="10459" name="Procedure transfer"/>
            <p:cNvSpPr/>
            <p:nvPr/>
          </p:nvSpPr>
          <p:spPr>
            <ns1:xfrm xmlns:ns1="http://schemas.openxmlformats.org/drawingml/2006/main">
              <ns1:off x="1123950" y="2962275"/>
              <ns1:ext cx="4191000" cy="5715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Procedure transfer</ns7:t>
              </ns7:r>
            </ns7:p>
          </p:txBody>
        </p:sp>
        <p:sp>
          <p:nvSpPr>
            <p:cNvPr id="10460" name="Seen setting"/>
            <p:cNvSpPr/>
            <p:nvPr/>
          </p:nvSpPr>
          <p:spPr>
            <ns1:xfrm xmlns:ns1="http://schemas.openxmlformats.org/drawingml/2006/main">
              <ns1:off x="5762625" y="3009900"/>
              <ns1:ext cx="2238375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Seen setting</ns7:t>
              </ns7:r>
            </ns7:p>
          </p:txBody>
        </p:sp>
        <p:sp>
          <p:nvSpPr>
            <p:cNvPr id="10461" name="flow"/>
            <p:cNvSpPr/>
            <p:nvPr/>
          </p:nvSpPr>
          <p:spPr>
            <ns1:xfrm xmlns:ns1="http://schemas.openxmlformats.org/drawingml/2006/main">
              <ns1:off x="8048625" y="3257550"/>
              <ns1:ext cx="381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0000" h="1000" fill="none">
                  <ns2:moveTo>
                    <ns2:pt x="0" y="0"/>
                  </ns2:moveTo>
                  <ns2:lnTo>
                    <ns2:pt x="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462" name="Held-out setting"/>
            <p:cNvSpPr/>
            <p:nvPr/>
          </p:nvSpPr>
          <p:spPr>
            <ns1:xfrm xmlns:ns1="http://schemas.openxmlformats.org/drawingml/2006/main">
              <ns1:off x="8524875" y="3009900"/>
              <ns1:ext cx="2381250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Held-out setting</ns7:t>
              </ns7:r>
            </ns7:p>
          </p:txBody>
        </p:sp>
        <p:sp>
          <p:nvSpPr>
            <p:cNvPr id="10463" name="Evidence sensitivity"/>
            <p:cNvSpPr/>
            <p:nvPr/>
          </p:nvSpPr>
          <p:spPr>
            <ns1:xfrm xmlns:ns1="http://schemas.openxmlformats.org/drawingml/2006/main">
              <ns1:off x="285750" y="3886200"/>
              <ns1:ext cx="10858500" cy="8858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70" name="scan-search editable icon"/>
            <p:cNvGrpSpPr/>
            <p:nvPr/>
          </p:nvGrpSpPr>
          <p:grpSpPr>
            <ns1:xfrm xmlns:ns1="http://schemas.openxmlformats.org/drawingml/2006/main">
              <ns1:off x="476250" y="4067175"/>
              <ns1:ext cx="457200" cy="457200"/>
              <ns1:chOff x="476250" y="4067175"/>
              <ns1:chExt cx="457200" cy="457200"/>
            </ns1:xfrm>
          </p:grpSpPr>
          <p:sp>
            <p:nvSpPr>
              <p:cNvPr id="10464" name="scan-search-0"/>
              <p:cNvSpPr/>
              <p:nvPr/>
            </p:nvSpPr>
            <p:spPr>
              <ns1:xfrm xmlns:ns1="http://schemas.openxmlformats.org/drawingml/2006/main">
                <ns1:off x="476250" y="406717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47A31"/>
                </ns4:solidFill>
              </ns4:ln>
            </p:spPr>
          </p:sp>
          <p:sp>
            <p:nvSpPr>
              <p:cNvPr id="10465" name="scan-search-1"/>
              <p:cNvSpPr/>
              <p:nvPr/>
            </p:nvSpPr>
            <p:spPr>
              <ns1:xfrm xmlns:ns1="http://schemas.openxmlformats.org/drawingml/2006/main">
                <ns1:off x="476250" y="406717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47A31"/>
                </ns4:solidFill>
              </ns4:ln>
            </p:spPr>
          </p:sp>
          <p:sp>
            <p:nvSpPr>
              <p:cNvPr id="10466" name="scan-search-2"/>
              <p:cNvSpPr/>
              <p:nvPr/>
            </p:nvSpPr>
            <p:spPr>
              <ns1:xfrm xmlns:ns1="http://schemas.openxmlformats.org/drawingml/2006/main">
                <ns1:off x="476250" y="406717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47A31"/>
                </ns4:solidFill>
              </ns4:ln>
            </p:spPr>
          </p:sp>
          <p:sp>
            <p:nvSpPr>
              <p:cNvPr id="10467" name="scan-search-3"/>
              <p:cNvSpPr/>
              <p:nvPr/>
            </p:nvSpPr>
            <p:spPr>
              <ns1:xfrm xmlns:ns1="http://schemas.openxmlformats.org/drawingml/2006/main">
                <ns1:off x="476250" y="406717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47A31"/>
                </ns4:solidFill>
              </ns4:ln>
            </p:spPr>
          </p:sp>
          <p:sp>
            <p:nvSpPr>
              <p:cNvPr id="10468" name="scan-search-4"/>
              <p:cNvSpPr/>
              <p:nvPr/>
            </p:nvSpPr>
            <p:spPr>
              <ns1:xfrm xmlns:ns1="http://schemas.openxmlformats.org/drawingml/2006/main">
                <ns1:off x="647700" y="4238625"/>
                <ns1:ext cx="114300" cy="1143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B47A31"/>
                </ns5:solidFill>
              </ns5:ln>
            </p:spPr>
          </p:sp>
          <p:sp>
            <p:nvSpPr>
              <p:cNvPr id="10469" name="scan-search-5"/>
              <p:cNvSpPr/>
              <p:nvPr/>
            </p:nvSpPr>
            <p:spPr>
              <ns1:xfrm xmlns:ns1="http://schemas.openxmlformats.org/drawingml/2006/main">
                <ns1:off x="476250" y="4067175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47A31"/>
                </ns4:solidFill>
              </ns4:ln>
            </p:spPr>
          </p:sp>
        </p:grpSp>
        <p:sp>
          <p:nvSpPr>
            <p:cNvPr id="10471" name="Evidence sensitivity"/>
            <p:cNvSpPr/>
            <p:nvPr/>
          </p:nvSpPr>
          <p:spPr>
            <ns1:xfrm xmlns:ns1="http://schemas.openxmlformats.org/drawingml/2006/main">
              <ns1:off x="1123950" y="4019550"/>
              <ns1:ext cx="4191000" cy="5715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Evidence sensitivity</ns7:t>
              </ns7:r>
            </ns7:p>
          </p:txBody>
        </p:sp>
        <p:sp>
          <p:nvSpPr>
            <p:cNvPr id="10472" name="Supporting evidence"/>
            <p:cNvSpPr/>
            <p:nvPr/>
          </p:nvSpPr>
          <p:spPr>
            <ns1:xfrm xmlns:ns1="http://schemas.openxmlformats.org/drawingml/2006/main">
              <ns1:off x="5762625" y="4067175"/>
              <ns1:ext cx="2238375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Supporting evidence</ns7:t>
              </ns7:r>
            </ns7:p>
          </p:txBody>
        </p:sp>
        <p:sp>
          <p:nvSpPr>
            <p:cNvPr id="10473" name="flow"/>
            <p:cNvSpPr/>
            <p:nvPr/>
          </p:nvSpPr>
          <p:spPr>
            <ns1:xfrm xmlns:ns1="http://schemas.openxmlformats.org/drawingml/2006/main">
              <ns1:off x="8048625" y="4314825"/>
              <ns1:ext cx="381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0000" h="1000" fill="none">
                  <ns2:moveTo>
                    <ns2:pt x="0" y="0"/>
                  </ns2:moveTo>
                  <ns2:lnTo>
                    <ns2:pt x="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B47A31"/>
              </ns4:solidFill>
              <ns4:tailEnd type="triangle"/>
            </ns4:ln>
          </p:spPr>
        </p:sp>
        <p:sp>
          <p:nvSpPr>
            <p:cNvPr id="10474" name="Changed evidence"/>
            <p:cNvSpPr/>
            <p:nvPr/>
          </p:nvSpPr>
          <p:spPr>
            <ns1:xfrm xmlns:ns1="http://schemas.openxmlformats.org/drawingml/2006/main">
              <ns1:off x="8524875" y="4067175"/>
              <ns1:ext cx="2381250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Changed evidence</ns7:t>
              </ns7:r>
            </ns7:p>
          </p:txBody>
        </p:sp>
        <p:sp>
          <p:nvSpPr>
            <p:cNvPr id="10475" name="Prediction to decision"/>
            <p:cNvSpPr/>
            <p:nvPr/>
          </p:nvSpPr>
          <p:spPr>
            <ns1:xfrm xmlns:ns1="http://schemas.openxmlformats.org/drawingml/2006/main">
              <ns1:off x="285750" y="4943475"/>
              <ns1:ext cx="10858500" cy="8858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79" name="git-branch editable icon"/>
            <p:cNvGrpSpPr/>
            <p:nvPr/>
          </p:nvGrpSpPr>
          <p:grpSpPr>
            <ns1:xfrm xmlns:ns1="http://schemas.openxmlformats.org/drawingml/2006/main">
              <ns1:off x="476250" y="5124450"/>
              <ns1:ext cx="457200" cy="457200"/>
              <ns1:chOff x="476250" y="5124450"/>
              <ns1:chExt cx="457200" cy="457200"/>
            </ns1:xfrm>
          </p:grpSpPr>
          <p:sp>
            <p:nvSpPr>
              <p:cNvPr id="10476" name="git-branch-0"/>
              <p:cNvSpPr/>
              <p:nvPr/>
            </p:nvSpPr>
            <p:spPr>
              <ns1:xfrm xmlns:ns1="http://schemas.openxmlformats.org/drawingml/2006/main">
                <ns1:off x="476250" y="5124450"/>
                <ns1:ext cx="457200" cy="4572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6000"/>
                    </ns2:moveTo>
                    <ns2:cubicBezTo>
                      <ns2:pt x="10029" y="6000"/>
                      <ns2:pt x="6000" y="10029"/>
                      <ns2:pt x="6000" y="15000"/>
                    </ns2:cubicBezTo>
                    <ns2:lnTo>
                      <ns2:pt x="6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8575" cap="rnd">
                <ns4:solidFill>
                  <ns4:srgbClr val="B7524A"/>
                </ns4:solidFill>
              </ns4:ln>
            </p:spPr>
          </p:sp>
          <p:sp>
            <p:nvSpPr>
              <p:cNvPr id="10477" name="git-branch-1"/>
              <p:cNvSpPr/>
              <p:nvPr/>
            </p:nvSpPr>
            <p:spPr>
              <ns1:xfrm xmlns:ns1="http://schemas.openxmlformats.org/drawingml/2006/main">
                <ns1:off x="762000" y="5181600"/>
                <ns1:ext cx="114300" cy="1143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B7524A"/>
                </ns5:solidFill>
              </ns5:ln>
            </p:spPr>
          </p:sp>
          <p:sp>
            <p:nvSpPr>
              <p:cNvPr id="10478" name="git-branch-2"/>
              <p:cNvSpPr/>
              <p:nvPr/>
            </p:nvSpPr>
            <p:spPr>
              <ns1:xfrm xmlns:ns1="http://schemas.openxmlformats.org/drawingml/2006/main">
                <ns1:off x="533400" y="5410200"/>
                <ns1:ext cx="114300" cy="1143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8575" cap="rnd">
                <ns5:solidFill>
                  <ns5:srgbClr val="B7524A"/>
                </ns5:solidFill>
              </ns5:ln>
            </p:spPr>
          </p:sp>
        </p:grpSp>
        <p:sp>
          <p:nvSpPr>
            <p:cNvPr id="10480" name="Prediction to decision"/>
            <p:cNvSpPr/>
            <p:nvPr/>
          </p:nvSpPr>
          <p:spPr>
            <ns1:xfrm xmlns:ns1="http://schemas.openxmlformats.org/drawingml/2006/main">
              <ns1:off x="1123950" y="5076825"/>
              <ns1:ext cx="4191000" cy="5715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Prediction to decision</ns7:t>
              </ns7:r>
            </ns7:p>
          </p:txBody>
        </p:sp>
        <p:sp>
          <p:nvSpPr>
            <p:cNvPr id="10481" name="Forecast error"/>
            <p:cNvSpPr/>
            <p:nvPr/>
          </p:nvSpPr>
          <p:spPr>
            <ns1:xfrm xmlns:ns1="http://schemas.openxmlformats.org/drawingml/2006/main">
              <ns1:off x="5762625" y="5124450"/>
              <ns1:ext cx="2238375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Forecast error</ns7:t>
              </ns7:r>
            </ns7:p>
          </p:txBody>
        </p:sp>
        <p:sp>
          <p:nvSpPr>
            <p:cNvPr id="10482" name="flow"/>
            <p:cNvSpPr/>
            <p:nvPr/>
          </p:nvSpPr>
          <p:spPr>
            <ns1:xfrm xmlns:ns1="http://schemas.openxmlformats.org/drawingml/2006/main">
              <ns1:off x="8048625" y="5372100"/>
              <ns1:ext cx="381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0000" h="1000" fill="none">
                  <ns2:moveTo>
                    <ns2:pt x="0" y="0"/>
                  </ns2:moveTo>
                  <ns2:lnTo>
                    <ns2:pt x="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B7524A"/>
              </ns4:solidFill>
              <ns4:tailEnd type="triangle"/>
            </ns4:ln>
          </p:spPr>
        </p:sp>
        <p:sp>
          <p:nvSpPr>
            <p:cNvPr id="10483" name="Action utility"/>
            <p:cNvSpPr/>
            <p:nvPr/>
          </p:nvSpPr>
          <p:spPr>
            <ns1:xfrm xmlns:ns1="http://schemas.openxmlformats.org/drawingml/2006/main">
              <ns1:off x="8524875" y="5124450"/>
              <ns1:ext cx="2381250" cy="4953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Action utility</ns7:t>
              </ns7:r>
            </ns7:p>
          </p:txBody>
        </p:sp>
        <p:sp>
          <p:nvSpPr>
            <p:cNvPr id="10484" name="Record the module, information boundary, output and evaluation evidence"/>
            <p:cNvSpPr/>
            <p:nvPr/>
          </p:nvSpPr>
          <p:spPr>
            <ns1:xfrm xmlns:ns1="http://schemas.openxmlformats.org/drawingml/2006/main">
              <ns1:off x="666750" y="6172200"/>
              <ns1:ext cx="100965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Record the module, information boundary, output and evaluation evidence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