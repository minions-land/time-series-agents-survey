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eeae6cea2c47ee" /><Relationship Type="http://schemas.openxmlformats.org/officeDocument/2006/relationships/extended-properties" Target="/docProps/app.xml" Id="R75f1288dc0dd44b3" /><Relationship Type="http://schemas.openxmlformats.org/officeDocument/2006/relationships/officeDocument" Target="/ppt/presentation.xml" Id="Rbca4889eb69342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0b8e096fec4945"/>
  </p:sldMasterIdLst>
  <p:notesMasterIdLst>
    <p:notesMasterId xmlns:r="http://schemas.openxmlformats.org/officeDocument/2006/relationships" r:id="Rac95b4ffa86d4fc9"/>
  </p:notesMasterIdLst>
  <p:sldIdLst>
    <p:sldId xmlns:r="http://schemas.openxmlformats.org/officeDocument/2006/relationships" id="256" r:id="R3d63bb9418734535"/>
  </p:sldIdLst>
  <p:sldSz cx="11430000" cy="6572250" type="custom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f0ccec1b7394d8a" /><Relationship Type="http://schemas.openxmlformats.org/officeDocument/2006/relationships/slideMaster" Target="/ppt/slideMasters/slideMaster1.xml" Id="Rc90b8e096fec4945" /><Relationship Type="http://schemas.openxmlformats.org/officeDocument/2006/relationships/notesMaster" Target="/ppt/notesMasters/notesMaster1.xml" Id="Rac95b4ffa86d4fc9" /><Relationship Type="http://schemas.openxmlformats.org/officeDocument/2006/relationships/presProps" Target="/ppt/presProps.xml" Id="R4bf3fbf834c04805" /><Relationship Type="http://schemas.openxmlformats.org/officeDocument/2006/relationships/tableStyles" Target="/ppt/tableStyles.xml" Id="R8262f81ab10f4e83" /><Relationship Type="http://schemas.openxmlformats.org/officeDocument/2006/relationships/slide" Target="/ppt/slides/slide1.xml" Id="R3d63bb94187345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a54a3ba69648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4554ffd43f45dd" /><Relationship Type="http://schemas.openxmlformats.org/officeDocument/2006/relationships/notesMaster" Target="/ppt/notesMasters/notesMaster1.xml" Id="R089a467cc8a943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From General to Specific: A Survey of Time-Series Agent Systems, Section 3, checked against the compiled Overleaf PDF on 2026-10-18, https://www.overleaf.com/read/zkcdwvrmxtrf#1c4b51 .</a:t>
            </a:r>
          </a:p>
          <a:p xmlns:a="http://schemas.openxmlformats.org/drawingml/2006/main">
            <a:r>
              <a:t>Columns 3.1 to 3.3 follow the three intervention points and subsection titles of Section 3: the representation presented to the model, the temporal instructions used to train it, and the policy for operating an analytical workflow. They overlap and are not exclusive paper categories.</a:t>
            </a:r>
          </a:p>
          <a:p xmlns:a="http://schemas.openxmlformats.org/drawingml/2006/main">
            <a:r>
              <a:t>Training signal and Harness support rows paraphrase the comparative paragraphs of Sections 3.1 to 3.3. Evaluation criteria and tests follow the evaluation paragraph in Section 3.2.</a:t>
            </a:r>
          </a:p>
          <a:p xmlns:a="http://schemas.openxmlformats.org/drawingml/2006/main">
            <a:r>
              <a:t>Agentic RAG refers to Agentic Retrieval-Augmented Generation for Time Series Analysis and its differentiable prompt pools. Chow et al. refers to Towards Time-Series Reasoning with LLMs. The series encoder stands for the learned input layers of Section 3.1.</a:t>
            </a:r>
          </a:p>
          <a:p xmlns:a="http://schemas.openxmlformats.org/drawingml/2006/main">
            <a:r>
              <a:t>ChatAD appears under 3.3 because the manuscript discusses it there. The figure states its distinct signal, graded preferences on analytical responses, rather than presenting it as tool-action learning.</a:t>
            </a:r>
          </a:p>
          <a:p xmlns:a="http://schemas.openxmlformats.org/drawingml/2006/main">
            <a:r>
              <a:t>The nested Harness follows the paper overview: General Harness contains General Time-Series Harness, which contains Task-Specific Harness. One observation and action exchange serves all three intervention points.</a:t>
            </a:r>
          </a:p>
          <a:p xmlns:a="http://schemas.openxmlformats.org/drawingml/2006/main">
            <a:r>
              <a:t>Original-paper claims were not independently re-audited for this figure.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766cfe7f1b4ca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5c8855e508457c" /><Relationship Type="http://schemas.openxmlformats.org/officeDocument/2006/relationships/slideLayout" Target="/ppt/slideLayouts/slideLayout1.xml" Id="R6eba90f0d8e34f3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ba90f0d8e34f3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0c8ced19794861" /><Relationship Type="http://schemas.openxmlformats.org/officeDocument/2006/relationships/notesSlide" Target="/ppt/notesSlides/notesSlide1.xml" Id="Rc97623e33cfb478b" /></Relationships>
</file>

<file path=ppt/slides/slide1.xml><?xml version="1.0" encoding="utf-8"?>
<p:sld xmlns:p="http://schemas.openxmlformats.org/presentationml/2006/main">
  <p:cSld>
    <p:bg>
      <p:bgPr>
        <ns0:solidFill xmlns:ns0="http://schemas.openxmlformats.org/drawingml/2006/main">
          <ns0:srgbClr val="FFFFFF"/>
        </ns0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10424" name="Figure14_TIMECLAW — ungroup to edit modules"/>
          <p:cNvGrpSpPr/>
          <p:nvPr/>
        </p:nvGrpSpPr>
        <p:grpSpPr>
          <ns1:xfrm xmlns:ns1="http://schemas.openxmlformats.org/drawingml/2006/main">
            <ns1:off x="142875" y="381000"/>
            <ns1:ext cx="10601325" cy="5857875"/>
            <ns1:chOff x="142875" y="381000"/>
            <ns1:chExt cx="10601325" cy="5857875"/>
          </ns1:xfrm>
        </p:grpSpPr>
        <p:sp>
          <p:nvSpPr>
            <p:cNvPr id="10389" name="persistent workspace"/>
            <p:cNvSpPr/>
            <p:nvPr/>
          </p:nvSpPr>
          <p:spPr>
            <ns1:xfrm xmlns:ns1="http://schemas.openxmlformats.org/drawingml/2006/main">
              <ns1:off x="2857500" y="381000"/>
              <ns1:ext cx="5715000" cy="3905250"/>
            </ns1:xfrm>
            <ns2:prstGeom xmlns:ns2="http://schemas.openxmlformats.org/drawingml/2006/main" prst="roundRect">
              <ns2:avLst>
                <ns2:gd name="adj" fmla="val 5000"/>
              </ns2:avLst>
            </ns2:prstGeom>
            <ns3:solidFill xmlns:ns3="http://schemas.openxmlformats.org/drawingml/2006/main">
              <ns3:srgbClr val="FFFFFF"/>
            </ns3:solidFill>
            <ns4:ln xmlns:ns4="http://schemas.openxmlformats.org/drawingml/2006/main" w="9525" cap="rnd">
              <ns4:solidFill>
                <ns4:srgbClr val="DFE7EC"/>
              </ns4:solidFill>
            </ns4:ln>
            <ns5:effectLst xmlns:ns5="http://schemas.openxmlformats.org/drawingml/2006/main">
              <ns5:outerShdw blurRad="76200" dist="38100" dir="5400000" algn="ctr" rotWithShape="0">
                <ns5:srgbClr val="183148">
                  <ns5:alpha val="12000"/>
                </ns5:srgbClr>
              </ns5:outerShdw>
            </ns5:effectLst>
          </p:spPr>
        </p:sp>
        <p:sp>
          <p:nvSpPr>
            <p:cNvPr id="10390" name="Time-series runtime"/>
            <p:cNvSpPr/>
            <p:nvPr/>
          </p:nvSpPr>
          <p:spPr>
            <ns1:xfrm xmlns:ns1="http://schemas.openxmlformats.org/drawingml/2006/main">
              <ns1:off x="3810000" y="523875"/>
              <ns1:ext cx="3810000" cy="428625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2250" b="1">
                  <ns7:solidFill>
                    <ns7:srgbClr val="3376A0"/>
                  </ns7:solidFill>
                  <ns7:latin typeface="Times New Roman"/>
                  <ns7:ea typeface="Times New Roman"/>
                </ns7:rPr>
                <ns7:t>Time-series runtime</ns7:t>
              </ns7:r>
            </ns7:p>
          </p:txBody>
        </p:sp>
        <p:grpSp>
          <p:nvGrpSpPr>
            <p:cNvPr id="10394" name="database editable icon"/>
            <p:cNvGrpSpPr/>
            <p:nvPr/>
          </p:nvGrpSpPr>
          <p:grpSpPr>
            <ns1:xfrm xmlns:ns1="http://schemas.openxmlformats.org/drawingml/2006/main">
              <ns1:off x="3286125" y="1323975"/>
              <ns1:ext cx="685800" cy="685800"/>
              <ns1:chOff x="3286125" y="1323975"/>
              <ns1:chExt cx="685800" cy="685800"/>
            </ns1:xfrm>
          </p:grpSpPr>
          <p:sp>
            <p:nvSpPr>
              <p:cNvPr id="10391" name="database-0"/>
              <p:cNvSpPr/>
              <p:nvPr/>
            </p:nvSpPr>
            <p:spPr>
              <ns1:xfrm xmlns:ns1="http://schemas.openxmlformats.org/drawingml/2006/main">
                <ns1:off x="3371850" y="1381125"/>
                <ns1:ext cx="514350" cy="171450"/>
              </ns1:xfrm>
              <ns2:prstGeom xmlns:ns2="http://schemas.openxmlformats.org/drawingml/2006/main" prst="ellipse">
                <ns2:avLst/>
              </ns2:prstGeom>
              <ns3:noFill xmlns:ns3="http://schemas.openxmlformats.org/drawingml/2006/main"/>
              <ns5:ln xmlns:ns5="http://schemas.openxmlformats.org/drawingml/2006/main" w="42862" cap="rnd">
                <ns5:solidFill>
                  <ns5:srgbClr val="3376A0"/>
                </ns5:solidFill>
              </ns5:ln>
            </p:spPr>
          </p:sp>
          <p:sp>
            <p:nvSpPr>
              <p:cNvPr id="10392" name="database-1"/>
              <p:cNvSpPr/>
              <p:nvPr/>
            </p:nvSpPr>
            <p:spPr>
              <ns1:xfrm xmlns:ns1="http://schemas.openxmlformats.org/drawingml/2006/main">
                <ns1:off x="3286125" y="1323975"/>
                <ns1:ext cx="685800" cy="68580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3000" y="5000"/>
                    </ns2:moveTo>
                    <ns2:lnTo>
                      <ns2:pt x="3000" y="19000"/>
                    </ns2:lnTo>
                    <ns2:cubicBezTo>
                      <ns2:pt x="3000" y="20657"/>
                      <ns2:pt x="7029" y="22000"/>
                      <ns2:pt x="12000" y="22000"/>
                    </ns2:cubicBezTo>
                    <ns2:cubicBezTo>
                      <ns2:pt x="16971" y="22000"/>
                      <ns2:pt x="21000" y="20657"/>
                      <ns2:pt x="21000" y="19000"/>
                    </ns2:cubicBezTo>
                    <ns2:lnTo>
                      <ns2:pt x="21000" y="5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42862" cap="rnd">
                <ns4:solidFill>
                  <ns4:srgbClr val="3376A0"/>
                </ns4:solidFill>
              </ns4:ln>
            </p:spPr>
          </p:sp>
          <p:sp>
            <p:nvSpPr>
              <p:cNvPr id="10393" name="database-2"/>
              <p:cNvSpPr/>
              <p:nvPr/>
            </p:nvSpPr>
            <p:spPr>
              <ns1:xfrm xmlns:ns1="http://schemas.openxmlformats.org/drawingml/2006/main">
                <ns1:off x="3286125" y="1323975"/>
                <ns1:ext cx="685800" cy="68580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3000" y="12000"/>
                    </ns2:moveTo>
                    <ns2:cubicBezTo>
                      <ns2:pt x="3000" y="13657"/>
                      <ns2:pt x="7029" y="15000"/>
                      <ns2:pt x="12000" y="15000"/>
                    </ns2:cubicBezTo>
                    <ns2:cubicBezTo>
                      <ns2:pt x="16971" y="15000"/>
                      <ns2:pt x="21000" y="13657"/>
                      <ns2:pt x="21000" y="12000"/>
                    </ns2:cubicBez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42862" cap="rnd">
                <ns4:solidFill>
                  <ns4:srgbClr val="3376A0"/>
                </ns4:solidFill>
              </ns4:ln>
            </p:spPr>
          </p:sp>
        </p:grpSp>
        <p:sp>
          <p:nvSpPr>
            <p:cNvPr id="10395" name="Numerical state"/>
            <p:cNvSpPr/>
            <p:nvPr/>
          </p:nvSpPr>
          <p:spPr>
            <ns1:xfrm xmlns:ns1="http://schemas.openxmlformats.org/drawingml/2006/main">
              <ns1:off x="2952750" y="2143125"/>
              <ns1:ext cx="2190750" cy="3619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875" b="1">
                  <ns7:solidFill>
                    <ns7:srgbClr val="3376A0"/>
                  </ns7:solidFill>
                  <ns7:latin typeface="Times New Roman"/>
                  <ns7:ea typeface="Times New Roman"/>
                </ns7:rPr>
                <ns7:t>Numerical state</ns7:t>
              </ns7:r>
            </ns7:p>
          </p:txBody>
        </p:sp>
        <p:grpSp>
          <p:nvGrpSpPr>
            <p:cNvPr id="10397" name="wrench editable icon"/>
            <p:cNvGrpSpPr/>
            <p:nvPr/>
          </p:nvGrpSpPr>
          <p:grpSpPr>
            <ns1:xfrm xmlns:ns1="http://schemas.openxmlformats.org/drawingml/2006/main">
              <ns1:off x="6429375" y="1323975"/>
              <ns1:ext cx="685800" cy="685800"/>
              <ns1:chOff x="6429375" y="1323975"/>
              <ns1:chExt cx="685800" cy="685800"/>
            </ns1:xfrm>
          </p:grpSpPr>
          <p:sp>
            <p:nvSpPr>
              <p:cNvPr id="10396" name="wrench-0"/>
              <p:cNvSpPr/>
              <p:nvPr/>
            </p:nvSpPr>
            <p:spPr>
              <ns1:xfrm xmlns:ns1="http://schemas.openxmlformats.org/drawingml/2006/main">
                <ns1:off x="6429375" y="1323975"/>
                <ns1:ext cx="685800" cy="68580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4700" y="6300"/>
                    </ns2:moveTo>
                    <ns2:cubicBezTo>
                      <ns2:pt x="14319" y="6689"/>
                      <ns2:pt x="14319" y="7311"/>
                      <ns2:pt x="14700" y="7700"/>
                    </ns2:cubicBezTo>
                    <ns2:lnTo>
                      <ns2:pt x="16300" y="9300"/>
                    </ns2:lnTo>
                    <ns2:cubicBezTo>
                      <ns2:pt x="16689" y="9681"/>
                      <ns2:pt x="17311" y="9681"/>
                      <ns2:pt x="17700" y="9300"/>
                    </ns2:cubicBezTo>
                    <ns2:lnTo>
                      <ns2:pt x="20806" y="6195"/>
                    </ns2:lnTo>
                    <ns2:cubicBezTo>
                      <ns2:pt x="21126" y="5873"/>
                      <ns2:pt x="21669" y="5975"/>
                      <ns2:pt x="21789" y="6413"/>
                    </ns2:cubicBezTo>
                    <ns2:cubicBezTo>
                      <ns2:pt x="22406" y="8656"/>
                      <ns2:pt x="21670" y="11054"/>
                      <ns2:pt x="19901" y="12565"/>
                    </ns2:cubicBezTo>
                    <ns2:cubicBezTo>
                      <ns2:pt x="18133" y="14077"/>
                      <ns2:pt x="15650" y="14429"/>
                      <ns2:pt x="13530" y="13470"/>
                    </ns2:cubicBezTo>
                    <ns2:lnTo>
                      <ns2:pt x="5620" y="21380"/>
                    </ns2:lnTo>
                    <ns2:cubicBezTo>
                      <ns2:pt x="4792" y="22208"/>
                      <ns2:pt x="3449" y="22208"/>
                      <ns2:pt x="2620" y="21380"/>
                    </ns2:cubicBezTo>
                    <ns2:cubicBezTo>
                      <ns2:pt x="1792" y="20551"/>
                      <ns2:pt x="1793" y="19208"/>
                      <ns2:pt x="2621" y="18380"/>
                    </ns2:cubicBezTo>
                    <ns2:lnTo>
                      <ns2:pt x="10531" y="10470"/>
                    </ns2:lnTo>
                    <ns2:cubicBezTo>
                      <ns2:pt x="9572" y="8350"/>
                      <ns2:pt x="9924" y="5867"/>
                      <ns2:pt x="11436" y="4099"/>
                    </ns2:cubicBezTo>
                    <ns2:cubicBezTo>
                      <ns2:pt x="12947" y="2330"/>
                      <ns2:pt x="15345" y="1594"/>
                      <ns2:pt x="17588" y="2211"/>
                    </ns2:cubicBezTo>
                    <ns2:cubicBezTo>
                      <ns2:pt x="18026" y="2331"/>
                      <ns2:pt x="18128" y="2873"/>
                      <ns2:pt x="17807" y="3195"/>
                    </ns2:cubicBezTo>
                    <ns2:lnTo>
                      <ns2:pt x="14700" y="6300"/>
                    </ns2:lnTo>
                    <ns2:close/>
                  </ns2:path>
                </ns2:pathLst>
              </ns2:custGeom>
              <ns3:noFill xmlns:ns3="http://schemas.openxmlformats.org/drawingml/2006/main"/>
              <ns4:ln xmlns:ns4="http://schemas.openxmlformats.org/drawingml/2006/main" w="42862" cap="rnd">
                <ns4:solidFill>
                  <ns4:srgbClr val="39846C"/>
                </ns4:solidFill>
              </ns4:ln>
            </p:spPr>
          </p:sp>
        </p:grpSp>
        <p:sp>
          <p:nvSpPr>
            <p:cNvPr id="10398" name="Server-side tools"/>
            <p:cNvSpPr/>
            <p:nvPr/>
          </p:nvSpPr>
          <p:spPr>
            <ns1:xfrm xmlns:ns1="http://schemas.openxmlformats.org/drawingml/2006/main">
              <ns1:off x="5810250" y="2143125"/>
              <ns1:ext cx="2476500" cy="3619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875" b="1">
                  <ns7:solidFill>
                    <ns7:srgbClr val="39846C"/>
                  </ns7:solidFill>
                  <ns7:latin typeface="Times New Roman"/>
                  <ns7:ea typeface="Times New Roman"/>
                </ns7:rPr>
                <ns7:t>Server-side tools</ns7:t>
              </ns7:r>
            </ns7:p>
          </p:txBody>
        </p:sp>
        <p:sp>
          <p:nvSpPr>
            <p:cNvPr id="10399" name="flow"/>
            <p:cNvSpPr/>
            <p:nvPr/>
          </p:nvSpPr>
          <p:spPr>
            <ns1:xfrm xmlns:ns1="http://schemas.openxmlformats.org/drawingml/2006/main">
              <ns1:off x="4191000" y="1666875"/>
              <ns1:ext cx="1905000" cy="95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200000" h="1000" fill="none">
                  <ns2:moveTo>
                    <ns2:pt x="0" y="0"/>
                  </ns2:moveTo>
                  <ns2:lnTo>
                    <ns2:pt x="20000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22860" cap="rnd">
              <ns4:solidFill>
                <ns4:srgbClr val="647788"/>
              </ns4:solidFill>
              <ns4:tailEnd type="triangle"/>
            </ns4:ln>
          </p:spPr>
        </p:sp>
        <p:sp>
          <p:nvSpPr>
            <p:cNvPr id="10400" name="temporal signal"/>
            <p:cNvSpPr/>
            <p:nvPr/>
          </p:nvSpPr>
          <p:spPr>
            <ns1:xfrm xmlns:ns1="http://schemas.openxmlformats.org/drawingml/2006/main">
              <ns1:off x="3476625" y="3001741"/>
              <ns1:ext cx="4000500" cy="33097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420000" h="34748" fill="none">
                  <ns2:moveTo>
                    <ns2:pt x="0" y="24357"/>
                  </ns2:moveTo>
                  <ns2:lnTo>
                    <ns2:pt x="35000" y="34748"/>
                  </ns2:lnTo>
                  <ns2:lnTo>
                    <ns2:pt x="70000" y="8409"/>
                  </ns2:lnTo>
                  <ns2:lnTo>
                    <ns2:pt x="105000" y="25302"/>
                  </ns2:lnTo>
                  <ns2:lnTo>
                    <ns2:pt x="140000" y="28041"/>
                  </ns2:lnTo>
                  <ns2:lnTo>
                    <ns2:pt x="175000" y="4207"/>
                  </ns2:lnTo>
                  <ns2:lnTo>
                    <ns2:pt x="210000" y="25803"/>
                  </ns2:lnTo>
                  <ns2:lnTo>
                    <ns2:pt x="245000" y="20501"/>
                  </ns2:lnTo>
                  <ns2:lnTo>
                    <ns2:pt x="280000" y="1428"/>
                  </ns2:lnTo>
                  <ns2:lnTo>
                    <ns2:pt x="315000" y="25462"/>
                  </ns2:lnTo>
                  <ns2:lnTo>
                    <ns2:pt x="350000" y="12530"/>
                  </ns2:lnTo>
                  <ns2:lnTo>
                    <ns2:pt x="385000" y="0"/>
                  </ns2:lnTo>
                  <ns2:lnTo>
                    <ns2:pt x="420000" y="23963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28575" cap="rnd">
              <ns4:solidFill>
                <ns4:srgbClr val="3376A0"/>
              </ns4:solidFill>
            </ns4:ln>
          </p:spPr>
        </p:sp>
        <p:sp>
          <p:nvSpPr>
            <p:cNvPr id="10401" name="Values, events and metadata remain addressable"/>
            <p:cNvSpPr/>
            <p:nvPr/>
          </p:nvSpPr>
          <p:spPr>
            <ns1:xfrm xmlns:ns1="http://schemas.openxmlformats.org/drawingml/2006/main">
              <ns1:off x="3095625" y="3714750"/>
              <ns1:ext cx="5238750" cy="3810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800" b="0">
                  <ns7:solidFill>
                    <ns7:srgbClr val="647788"/>
                  </ns7:solidFill>
                  <ns7:latin typeface="Times New Roman"/>
                  <ns7:ea typeface="Times New Roman"/>
                </ns7:rPr>
                <ns7:t>Values, events and metadata remain addressable</ns7:t>
              </ns7:r>
            </ns7:p>
          </p:txBody>
        </p:sp>
        <p:grpSp>
          <p:nvGrpSpPr>
            <p:cNvPr id="10405" name="layers editable icon"/>
            <p:cNvGrpSpPr/>
            <p:nvPr/>
          </p:nvGrpSpPr>
          <p:grpSpPr>
            <ns1:xfrm xmlns:ns1="http://schemas.openxmlformats.org/drawingml/2006/main">
              <ns1:off x="619125" y="1619250"/>
              <ns1:ext cx="704850" cy="704850"/>
              <ns1:chOff x="619125" y="1619250"/>
              <ns1:chExt cx="704850" cy="704850"/>
            </ns1:xfrm>
          </p:grpSpPr>
          <p:sp>
            <p:nvSpPr>
              <p:cNvPr id="10402" name="layers-0"/>
              <p:cNvSpPr/>
              <p:nvPr/>
            </p:nvSpPr>
            <p:spPr>
              <ns1:xfrm xmlns:ns1="http://schemas.openxmlformats.org/drawingml/2006/main">
                <ns1:off x="619125" y="1619250"/>
                <ns1:ext cx="704850" cy="7048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2830" y="2180"/>
                    </ns2:moveTo>
                    <ns2:cubicBezTo>
                      <ns2:pt x="12303" y="1940"/>
                      <ns2:pt x="11697" y="1940"/>
                      <ns2:pt x="11170" y="2180"/>
                    </ns2:cubicBezTo>
                    <ns2:lnTo>
                      <ns2:pt x="2600" y="6080"/>
                    </ns2:lnTo>
                    <ns2:cubicBezTo>
                      <ns2:pt x="2237" y="6240"/>
                      <ns2:pt x="2003" y="6599"/>
                      <ns2:pt x="2003" y="6995"/>
                    </ns2:cubicBezTo>
                    <ns2:cubicBezTo>
                      <ns2:pt x="2003" y="7391"/>
                      <ns2:pt x="2237" y="7750"/>
                      <ns2:pt x="2600" y="7910"/>
                    </ns2:cubicBezTo>
                    <ns2:lnTo>
                      <ns2:pt x="11180" y="11820"/>
                    </ns2:lnTo>
                    <ns2:cubicBezTo>
                      <ns2:pt x="11707" y="12060"/>
                      <ns2:pt x="12313" y="12060"/>
                      <ns2:pt x="12840" y="11820"/>
                    </ns2:cubicBezTo>
                    <ns2:lnTo>
                      <ns2:pt x="21420" y="7920"/>
                    </ns2:lnTo>
                    <ns2:cubicBezTo>
                      <ns2:pt x="21783" y="7760"/>
                      <ns2:pt x="22017" y="7401"/>
                      <ns2:pt x="22017" y="7005"/>
                    </ns2:cubicBezTo>
                    <ns2:cubicBezTo>
                      <ns2:pt x="22017" y="6609"/>
                      <ns2:pt x="21783" y="6250"/>
                      <ns2:pt x="21420" y="6090"/>
                    </ns2:cubicBezTo>
                    <ns2:lnTo>
                      <ns2:pt x="12830" y="2180"/>
                    </ns2:lnTo>
                    <ns2:close/>
                  </ns2:path>
                </ns2:pathLst>
              </ns2:custGeom>
              <ns3:noFill xmlns:ns3="http://schemas.openxmlformats.org/drawingml/2006/main"/>
              <ns4:ln xmlns:ns4="http://schemas.openxmlformats.org/drawingml/2006/main" w="44053" cap="rnd">
                <ns4:solidFill>
                  <ns4:srgbClr val="3376A0"/>
                </ns4:solidFill>
              </ns4:ln>
            </p:spPr>
          </p:sp>
          <p:sp>
            <p:nvSpPr>
              <p:cNvPr id="10403" name="layers-1"/>
              <p:cNvSpPr/>
              <p:nvPr/>
            </p:nvSpPr>
            <p:spPr>
              <ns1:xfrm xmlns:ns1="http://schemas.openxmlformats.org/drawingml/2006/main">
                <ns1:off x="619125" y="1619250"/>
                <ns1:ext cx="704850" cy="7048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2000" y="12000"/>
                    </ns2:moveTo>
                    <ns2:cubicBezTo>
                      <ns2:pt x="1999" y="12391"/>
                      <ns2:pt x="2226" y="12746"/>
                      <ns2:pt x="2580" y="12910"/>
                    </ns2:cubicBezTo>
                    <ns2:lnTo>
                      <ns2:pt x="11180" y="16820"/>
                    </ns2:lnTo>
                    <ns2:cubicBezTo>
                      <ns2:pt x="11704" y="17057"/>
                      <ns2:pt x="12306" y="17057"/>
                      <ns2:pt x="12830" y="16820"/>
                    </ns2:cubicBezTo>
                    <ns2:lnTo>
                      <ns2:pt x="21410" y="12920"/>
                    </ns2:lnTo>
                    <ns2:cubicBezTo>
                      <ns2:pt x="21772" y="12757"/>
                      <ns2:pt x="22003" y="12397"/>
                      <ns2:pt x="22000" y="12000"/>
                    </ns2:cubicBez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44053" cap="rnd">
                <ns4:solidFill>
                  <ns4:srgbClr val="3376A0"/>
                </ns4:solidFill>
              </ns4:ln>
            </p:spPr>
          </p:sp>
          <p:sp>
            <p:nvSpPr>
              <p:cNvPr id="10404" name="layers-2"/>
              <p:cNvSpPr/>
              <p:nvPr/>
            </p:nvSpPr>
            <p:spPr>
              <ns1:xfrm xmlns:ns1="http://schemas.openxmlformats.org/drawingml/2006/main">
                <ns1:off x="619125" y="1619250"/>
                <ns1:ext cx="704850" cy="7048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2000" y="17000"/>
                    </ns2:moveTo>
                    <ns2:cubicBezTo>
                      <ns2:pt x="1999" y="17391"/>
                      <ns2:pt x="2226" y="17746"/>
                      <ns2:pt x="2580" y="17910"/>
                    </ns2:cubicBezTo>
                    <ns2:lnTo>
                      <ns2:pt x="11180" y="21820"/>
                    </ns2:lnTo>
                    <ns2:cubicBezTo>
                      <ns2:pt x="11704" y="22057"/>
                      <ns2:pt x="12306" y="22057"/>
                      <ns2:pt x="12830" y="21820"/>
                    </ns2:cubicBezTo>
                    <ns2:lnTo>
                      <ns2:pt x="21410" y="17920"/>
                    </ns2:lnTo>
                    <ns2:cubicBezTo>
                      <ns2:pt x="21772" y="17757"/>
                      <ns2:pt x="22003" y="17397"/>
                      <ns2:pt x="22000" y="17000"/>
                    </ns2:cubicBez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44053" cap="rnd">
                <ns4:solidFill>
                  <ns4:srgbClr val="3376A0"/>
                </ns4:solidFill>
              </ns4:ln>
            </p:spPr>
          </p:sp>
        </p:grpSp>
        <p:sp>
          <p:nvSpPr>
            <p:cNvPr id="10406" name="Contextual series"/>
            <p:cNvSpPr/>
            <p:nvPr/>
          </p:nvSpPr>
          <p:spPr>
            <ns1:xfrm xmlns:ns1="http://schemas.openxmlformats.org/drawingml/2006/main">
              <ns1:off x="142875" y="2400300"/>
              <ns1:ext cx="1600200" cy="5524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725" b="1">
                  <ns7:solidFill>
                    <ns7:srgbClr val="3376A0"/>
                  </ns7:solidFill>
                  <ns7:latin typeface="Times New Roman"/>
                  <ns7:ea typeface="Times New Roman"/>
                </ns7:rPr>
                <ns7:t>Contextual series</ns7:t>
              </ns7:r>
            </ns7:p>
          </p:txBody>
        </p:sp>
        <p:sp>
          <p:nvSpPr>
            <p:cNvPr id="10407" name="flow"/>
            <p:cNvSpPr/>
            <p:nvPr/>
          </p:nvSpPr>
          <p:spPr>
            <ns1:xfrm xmlns:ns1="http://schemas.openxmlformats.org/drawingml/2006/main">
              <ns1:off x="1714500" y="2000250"/>
              <ns1:ext cx="1047750" cy="95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110000" h="1000" fill="none">
                  <ns2:moveTo>
                    <ns2:pt x="0" y="0"/>
                  </ns2:moveTo>
                  <ns2:lnTo>
                    <ns2:pt x="11000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22860" cap="rnd">
              <ns4:solidFill>
                <ns4:srgbClr val="647788"/>
              </ns4:solidFill>
              <ns4:tailEnd type="triangle"/>
            </ns4:ln>
          </p:spPr>
        </p:sp>
        <p:grpSp>
          <p:nvGrpSpPr>
            <p:cNvPr id="10410" name="book-open editable icon"/>
            <p:cNvGrpSpPr/>
            <p:nvPr/>
          </p:nvGrpSpPr>
          <p:grpSpPr>
            <ns1:xfrm xmlns:ns1="http://schemas.openxmlformats.org/drawingml/2006/main">
              <ns1:off x="9620250" y="1619250"/>
              <ns1:ext cx="704850" cy="704850"/>
              <ns1:chOff x="9620250" y="1619250"/>
              <ns1:chExt cx="704850" cy="704850"/>
            </ns1:xfrm>
          </p:grpSpPr>
          <p:sp>
            <p:nvSpPr>
              <p:cNvPr id="10408" name="book-open-0"/>
              <p:cNvSpPr/>
              <p:nvPr/>
            </p:nvSpPr>
            <p:spPr>
              <ns1:xfrm xmlns:ns1="http://schemas.openxmlformats.org/drawingml/2006/main">
                <ns1:off x="9620250" y="1619250"/>
                <ns1:ext cx="704850" cy="7048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2000" y="5000"/>
                    </ns2:moveTo>
                    <ns2:lnTo>
                      <ns2:pt x="12000" y="21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44053" cap="rnd">
                <ns4:solidFill>
                  <ns4:srgbClr val="68528D"/>
                </ns4:solidFill>
              </ns4:ln>
            </p:spPr>
          </p:sp>
          <p:sp>
            <p:nvSpPr>
              <p:cNvPr id="10409" name="book-open-1"/>
              <p:cNvSpPr/>
              <p:nvPr/>
            </p:nvSpPr>
            <p:spPr>
              <ns1:xfrm xmlns:ns1="http://schemas.openxmlformats.org/drawingml/2006/main">
                <ns1:off x="9620250" y="1619250"/>
                <ns1:ext cx="704850" cy="7048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20001" y="19000"/>
                    </ns2:moveTo>
                    <ns2:cubicBezTo>
                      <ns2:pt x="21105" y="18999"/>
                      <ns2:pt x="22000" y="18104"/>
                      <ns2:pt x="22000" y="17000"/>
                    </ns2:cubicBezTo>
                    <ns2:lnTo>
                      <ns2:pt x="22000" y="5000"/>
                    </ns2:lnTo>
                    <ns2:cubicBezTo>
                      <ns2:pt x="22000" y="3896"/>
                      <ns2:pt x="21105" y="3001"/>
                      <ns2:pt x="20001" y="3000"/>
                    </ns2:cubicBezTo>
                    <ns2:lnTo>
                      <ns2:pt x="16000" y="3002"/>
                    </ns2:lnTo>
                    <ns2:cubicBezTo>
                      <ns2:pt x="14427" y="3002"/>
                      <ns2:pt x="12945" y="3742"/>
                      <ns2:pt x="12000" y="5000"/>
                    </ns2:cubicBezTo>
                    <ns2:cubicBezTo>
                      <ns2:pt x="11056" y="3741"/>
                      <ns2:pt x="9574" y="3000"/>
                      <ns2:pt x="8000" y="3000"/>
                    </ns2:cubicBezTo>
                    <ns2:lnTo>
                      <ns2:pt x="4000" y="3000"/>
                    </ns2:lnTo>
                    <ns2:cubicBezTo>
                      <ns2:pt x="2895" y="3000"/>
                      <ns2:pt x="2000" y="3895"/>
                      <ns2:pt x="2000" y="5000"/>
                    </ns2:cubicBezTo>
                    <ns2:lnTo>
                      <ns2:pt x="2000" y="17000"/>
                    </ns2:lnTo>
                    <ns2:cubicBezTo>
                      <ns2:pt x="2000" y="18104"/>
                      <ns2:pt x="2895" y="18999"/>
                      <ns2:pt x="3999" y="19000"/>
                    </ns2:cubicBezTo>
                    <ns2:lnTo>
                      <ns2:pt x="8000" y="19000"/>
                    </ns2:lnTo>
                    <ns2:cubicBezTo>
                      <ns2:pt x="9574" y="19000"/>
                      <ns2:pt x="11056" y="19741"/>
                      <ns2:pt x="12000" y="21000"/>
                    </ns2:cubicBezTo>
                    <ns2:cubicBezTo>
                      <ns2:pt x="12944" y="19741"/>
                      <ns2:pt x="14426" y="19000"/>
                      <ns2:pt x="16000" y="19000"/>
                    </ns2:cubicBezTo>
                    <ns2:lnTo>
                      <ns2:pt x="20001" y="19000"/>
                    </ns2:lnTo>
                    <ns2:close/>
                  </ns2:path>
                </ns2:pathLst>
              </ns2:custGeom>
              <ns3:noFill xmlns:ns3="http://schemas.openxmlformats.org/drawingml/2006/main"/>
              <ns4:ln xmlns:ns4="http://schemas.openxmlformats.org/drawingml/2006/main" w="44053" cap="rnd">
                <ns4:solidFill>
                  <ns4:srgbClr val="68528D"/>
                </ns4:solidFill>
              </ns4:ln>
            </p:spPr>
          </p:sp>
        </p:grpSp>
        <p:sp>
          <p:nvSpPr>
            <p:cNvPr id="10411" name="Multimodal memory"/>
            <p:cNvSpPr/>
            <p:nvPr/>
          </p:nvSpPr>
          <p:spPr>
            <ns1:xfrm xmlns:ns1="http://schemas.openxmlformats.org/drawingml/2006/main">
              <ns1:off x="9144000" y="2400300"/>
              <ns1:ext cx="1600200" cy="5524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725" b="1">
                  <ns7:solidFill>
                    <ns7:srgbClr val="68528D"/>
                  </ns7:solidFill>
                  <ns7:latin typeface="Times New Roman"/>
                  <ns7:ea typeface="Times New Roman"/>
                </ns7:rPr>
                <ns7:t>Multimodal memory</ns7:t>
              </ns7:r>
            </ns7:p>
          </p:txBody>
        </p:sp>
        <p:sp>
          <p:nvSpPr>
            <p:cNvPr id="10412" name="flow"/>
            <p:cNvSpPr/>
            <p:nvPr/>
          </p:nvSpPr>
          <p:spPr>
            <ns1:xfrm xmlns:ns1="http://schemas.openxmlformats.org/drawingml/2006/main">
              <ns1:off x="8667750" y="1905000"/>
              <ns1:ext cx="857250" cy="95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90000" h="1000" fill="none">
                  <ns2:moveTo>
                    <ns2:pt x="0" y="0"/>
                  </ns2:moveTo>
                  <ns2:lnTo>
                    <ns2:pt x="9000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22860" cap="rnd">
              <ns4:solidFill>
                <ns4:srgbClr val="68528D"/>
              </ns4:solidFill>
              <ns4:tailEnd type="triangle"/>
            </ns4:ln>
          </p:spPr>
        </p:sp>
        <p:sp>
          <p:nvSpPr>
            <p:cNvPr id="10413" name="flow"/>
            <p:cNvSpPr/>
            <p:nvPr/>
          </p:nvSpPr>
          <p:spPr>
            <ns1:xfrm xmlns:ns1="http://schemas.openxmlformats.org/drawingml/2006/main">
              <ns1:off x="8667750" y="2257425"/>
              <ns1:ext cx="857250" cy="95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90000" h="1000" fill="none">
                  <ns2:moveTo>
                    <ns2:pt x="90000" y="0"/>
                  </ns2:moveTo>
                  <ns2:lnTo>
                    <ns2:pt x="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22860" cap="rnd">
              <ns4:solidFill>
                <ns4:srgbClr val="68528D"/>
              </ns4:solidFill>
              <ns4:tailEnd type="triangle"/>
            </ns4:ln>
          </p:spPr>
        </p:sp>
        <p:sp>
          <p:nvSpPr>
            <p:cNvPr id="10414" name="capability evolution"/>
            <p:cNvSpPr/>
            <p:nvPr/>
          </p:nvSpPr>
          <p:spPr>
            <ns1:xfrm xmlns:ns1="http://schemas.openxmlformats.org/drawingml/2006/main">
              <ns1:off x="2857500" y="4762500"/>
              <ns1:ext cx="5715000" cy="1476375"/>
            </ns1:xfrm>
            <ns2:prstGeom xmlns:ns2="http://schemas.openxmlformats.org/drawingml/2006/main" prst="roundRect">
              <ns2:avLst>
                <ns2:gd name="adj" fmla="val 5000"/>
              </ns2:avLst>
            </ns2:prstGeom>
            <ns3:solidFill xmlns:ns3="http://schemas.openxmlformats.org/drawingml/2006/main">
              <ns3:srgbClr val="FFFFFF"/>
            </ns3:solidFill>
            <ns4:ln xmlns:ns4="http://schemas.openxmlformats.org/drawingml/2006/main" w="9525" cap="rnd">
              <ns4:solidFill>
                <ns4:srgbClr val="DFE7EC"/>
              </ns4:solidFill>
            </ns4:ln>
            <ns5:effectLst xmlns:ns5="http://schemas.openxmlformats.org/drawingml/2006/main">
              <ns5:outerShdw blurRad="76200" dist="38100" dir="5400000" algn="ctr" rotWithShape="0">
                <ns5:srgbClr val="183148">
                  <ns5:alpha val="12000"/>
                </ns5:srgbClr>
              </ns5:outerShdw>
            </ns5:effectLst>
          </p:spPr>
        </p:sp>
        <p:grpSp>
          <p:nvGrpSpPr>
            <p:cNvPr id="10419" name="refresh-cw editable icon"/>
            <p:cNvGrpSpPr/>
            <p:nvPr/>
          </p:nvGrpSpPr>
          <p:grpSpPr>
            <ns1:xfrm xmlns:ns1="http://schemas.openxmlformats.org/drawingml/2006/main">
              <ns1:off x="3190875" y="5095875"/>
              <ns1:ext cx="590550" cy="590550"/>
              <ns1:chOff x="3190875" y="5095875"/>
              <ns1:chExt cx="590550" cy="590550"/>
            </ns1:xfrm>
          </p:grpSpPr>
          <p:sp>
            <p:nvSpPr>
              <p:cNvPr id="10415" name="refresh-cw-0"/>
              <p:cNvSpPr/>
              <p:nvPr/>
            </p:nvSpPr>
            <p:spPr>
              <ns1:xfrm xmlns:ns1="http://schemas.openxmlformats.org/drawingml/2006/main">
                <ns1:off x="3190875" y="5095875"/>
                <ns1:ext cx="590550" cy="5905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3000" y="12000"/>
                    </ns2:moveTo>
                    <ns2:cubicBezTo>
                      <ns2:pt x="3000" y="7029"/>
                      <ns2:pt x="7029" y="3000"/>
                      <ns2:pt x="12000" y="3000"/>
                    </ns2:cubicBezTo>
                    <ns2:cubicBezTo>
                      <ns2:pt x="14516" y="3009"/>
                      <ns2:pt x="16931" y="3991"/>
                      <ns2:pt x="18740" y="5740"/>
                    </ns2:cubicBezTo>
                    <ns2:lnTo>
                      <ns2:pt x="21000" y="8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36909" cap="rnd">
                <ns4:solidFill>
                  <ns4:srgbClr val="B47A31"/>
                </ns4:solidFill>
              </ns4:ln>
            </p:spPr>
          </p:sp>
          <p:sp>
            <p:nvSpPr>
              <p:cNvPr id="10416" name="refresh-cw-1"/>
              <p:cNvSpPr/>
              <p:nvPr/>
            </p:nvSpPr>
            <p:spPr>
              <ns1:xfrm xmlns:ns1="http://schemas.openxmlformats.org/drawingml/2006/main">
                <ns1:off x="3190875" y="5095875"/>
                <ns1:ext cx="590550" cy="5905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21000" y="3000"/>
                    </ns2:moveTo>
                    <ns2:lnTo>
                      <ns2:pt x="21000" y="8000"/>
                    </ns2:lnTo>
                    <ns2:lnTo>
                      <ns2:pt x="16000" y="8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36909" cap="rnd">
                <ns4:solidFill>
                  <ns4:srgbClr val="B47A31"/>
                </ns4:solidFill>
              </ns4:ln>
            </p:spPr>
          </p:sp>
          <p:sp>
            <p:nvSpPr>
              <p:cNvPr id="10417" name="refresh-cw-2"/>
              <p:cNvSpPr/>
              <p:nvPr/>
            </p:nvSpPr>
            <p:spPr>
              <ns1:xfrm xmlns:ns1="http://schemas.openxmlformats.org/drawingml/2006/main">
                <ns1:off x="3190875" y="5095875"/>
                <ns1:ext cx="590550" cy="5905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21000" y="12000"/>
                    </ns2:moveTo>
                    <ns2:cubicBezTo>
                      <ns2:pt x="21000" y="16971"/>
                      <ns2:pt x="16971" y="21000"/>
                      <ns2:pt x="12000" y="21000"/>
                    </ns2:cubicBezTo>
                    <ns2:cubicBezTo>
                      <ns2:pt x="9484" y="20991"/>
                      <ns2:pt x="7069" y="20009"/>
                      <ns2:pt x="5260" y="18260"/>
                    </ns2:cubicBezTo>
                    <ns2:lnTo>
                      <ns2:pt x="3000" y="16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36909" cap="rnd">
                <ns4:solidFill>
                  <ns4:srgbClr val="B47A31"/>
                </ns4:solidFill>
              </ns4:ln>
            </p:spPr>
          </p:sp>
          <p:sp>
            <p:nvSpPr>
              <p:cNvPr id="10418" name="refresh-cw-3"/>
              <p:cNvSpPr/>
              <p:nvPr/>
            </p:nvSpPr>
            <p:spPr>
              <ns1:xfrm xmlns:ns1="http://schemas.openxmlformats.org/drawingml/2006/main">
                <ns1:off x="3190875" y="5095875"/>
                <ns1:ext cx="590550" cy="5905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8000" y="16000"/>
                    </ns2:moveTo>
                    <ns2:lnTo>
                      <ns2:pt x="3000" y="16000"/>
                    </ns2:lnTo>
                    <ns2:lnTo>
                      <ns2:pt x="3000" y="21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36909" cap="rnd">
                <ns4:solidFill>
                  <ns4:srgbClr val="B47A31"/>
                </ns4:solidFill>
              </ns4:ln>
            </p:spPr>
          </p:sp>
        </p:grpSp>
        <p:sp>
          <p:nvSpPr>
            <p:cNvPr id="10420" name="Capability evolution"/>
            <p:cNvSpPr/>
            <p:nvPr/>
          </p:nvSpPr>
          <p:spPr>
            <ns1:xfrm xmlns:ns1="http://schemas.openxmlformats.org/drawingml/2006/main">
              <ns1:off x="4048125" y="4905375"/>
              <ns1:ext cx="4191000" cy="3810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2100" b="1">
                  <ns7:solidFill>
                    <ns7:srgbClr val="B47A31"/>
                  </ns7:solidFill>
                  <ns7:latin typeface="Times New Roman"/>
                  <ns7:ea typeface="Times New Roman"/>
                </ns7:rPr>
                <ns7:t>Capability evolution</ns7:t>
              </ns7:r>
            </ns7:p>
          </p:txBody>
        </p:sp>
        <p:sp>
          <p:nvSpPr>
            <p:cNvPr id="10421" name="Evaluate · update · retain · release"/>
            <p:cNvSpPr/>
            <p:nvPr/>
          </p:nvSpPr>
          <p:spPr>
            <ns1:xfrm xmlns:ns1="http://schemas.openxmlformats.org/drawingml/2006/main">
              <ns1:off x="3952875" y="5381625"/>
              <ns1:ext cx="4381500" cy="4000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875" b="0">
                  <ns7:solidFill>
                    <ns7:srgbClr val="647788"/>
                  </ns7:solidFill>
                  <ns7:latin typeface="Times New Roman"/>
                  <ns7:ea typeface="Times New Roman"/>
                </ns7:rPr>
                <ns7:t>Evaluate · update · retain · release</ns7:t>
              </ns7:r>
            </ns7:p>
          </p:txBody>
        </p:sp>
        <p:sp>
          <p:nvSpPr>
            <p:cNvPr id="10422" name="recorded trajectories"/>
            <p:cNvSpPr/>
            <p:nvPr/>
          </p:nvSpPr>
          <p:spPr>
            <ns1:xfrm xmlns:ns1="http://schemas.openxmlformats.org/drawingml/2006/main">
              <ns1:off x="5524500" y="4333875"/>
              <ns1:ext cx="9525" cy="381000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1000" h="40000" fill="none">
                  <ns2:moveTo>
                    <ns2:pt x="0" y="0"/>
                  </ns2:moveTo>
                  <ns2:lnTo>
                    <ns2:pt x="0" y="4000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22860" cap="rnd">
              <ns4:solidFill>
                <ns4:srgbClr val="B47A31"/>
              </ns4:solidFill>
              <ns4:tailEnd type="triangle"/>
            </ns4:ln>
          </p:spPr>
        </p:sp>
        <p:sp>
          <p:nvSpPr>
            <p:cNvPr id="10423" name="reuse capability"/>
            <p:cNvSpPr/>
            <p:nvPr/>
          </p:nvSpPr>
          <p:spPr>
            <ns1:xfrm xmlns:ns1="http://schemas.openxmlformats.org/drawingml/2006/main">
              <ns1:off x="2143125" y="3429000"/>
              <ns1:ext cx="619125" cy="204787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65000" h="215000" fill="none">
                  <ns2:moveTo>
                    <ns2:pt x="65000" y="215000"/>
                  </ns2:moveTo>
                  <ns2:lnTo>
                    <ns2:pt x="0" y="215000"/>
                  </ns2:lnTo>
                  <ns2:lnTo>
                    <ns2:pt x="0" y="0"/>
                  </ns2:lnTo>
                  <ns2:lnTo>
                    <ns2:pt x="6500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21908" cap="rnd">
              <ns4:solidFill>
                <ns4:srgbClr val="B47A31"/>
              </ns4:solidFill>
              <ns4:tailEnd type="triangle"/>
            </ns4:ln>
          </p:spPr>
        </p:sp>
      </p:grpSp>
    </p:spTree>
    <p:extLst>
      <p:ext uri="{BB962C8B-B14F-4D97-AF65-F5344CB8AC3E}">
        <p14:creationId xmlns:p14="http://schemas.microsoft.com/office/powerpoint/2010/main" val="10576137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2026-10-19T05:54:47.7050000Z</dcterms:created>
  <dcterms:modified xsi:type="dcterms:W3CDTF">2026-10-19T05:54:47.7050000Z</dcterms:modified>
</coreProperties>
</file>