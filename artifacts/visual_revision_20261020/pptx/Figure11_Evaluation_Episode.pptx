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eeae6cea2c47ee" /><Relationship Type="http://schemas.openxmlformats.org/officeDocument/2006/relationships/extended-properties" Target="/docProps/app.xml" Id="R75f1288dc0dd44b3" /><Relationship Type="http://schemas.openxmlformats.org/officeDocument/2006/relationships/officeDocument" Target="/ppt/presentation.xml" Id="Rbca4889eb693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0b8e096fec4945"/>
  </p:sldMasterIdLst>
  <p:notesMasterIdLst>
    <p:notesMasterId xmlns:r="http://schemas.openxmlformats.org/officeDocument/2006/relationships" r:id="Rac95b4ffa86d4fc9"/>
  </p:notesMasterIdLst>
  <p:sldIdLst>
    <p:sldId xmlns:r="http://schemas.openxmlformats.org/officeDocument/2006/relationships" id="256" r:id="R3d63bb9418734535"/>
  </p:sldIdLst>
  <p:sldSz cx="11430000" cy="6381750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0ccec1b7394d8a" /><Relationship Type="http://schemas.openxmlformats.org/officeDocument/2006/relationships/slideMaster" Target="/ppt/slideMasters/slideMaster1.xml" Id="Rc90b8e096fec4945" /><Relationship Type="http://schemas.openxmlformats.org/officeDocument/2006/relationships/notesMaster" Target="/ppt/notesMasters/notesMaster1.xml" Id="Rac95b4ffa86d4fc9" /><Relationship Type="http://schemas.openxmlformats.org/officeDocument/2006/relationships/presProps" Target="/ppt/presProps.xml" Id="R4bf3fbf834c04805" /><Relationship Type="http://schemas.openxmlformats.org/officeDocument/2006/relationships/tableStyles" Target="/ppt/tableStyles.xml" Id="R8262f81ab10f4e83" /><Relationship Type="http://schemas.openxmlformats.org/officeDocument/2006/relationships/slide" Target="/ppt/slides/slide1.xml" Id="R3d63bb94187345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a54a3ba69648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4554ffd43f45dd" /><Relationship Type="http://schemas.openxmlformats.org/officeDocument/2006/relationships/notesMaster" Target="/ppt/notesMasters/notesMaster1.xml" Id="R089a467cc8a943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From General to Specific: A Survey of Time-Series Agent Systems, Section 3, checked against the compiled Overleaf PDF on 2026-10-18, https://www.overleaf.com/read/zkcdwvrmxtrf#1c4b51 .</a:t>
            </a:r>
          </a:p>
          <a:p xmlns:a="http://schemas.openxmlformats.org/drawingml/2006/main">
            <a:r>
              <a:t>Columns 3.1 to 3.3 follow the three intervention points and subsection titles of Section 3: the representation presented to the model, the temporal instructions used to train it, and the policy for operating an analytical workflow. They overlap and are not exclusive paper categories.</a:t>
            </a:r>
          </a:p>
          <a:p xmlns:a="http://schemas.openxmlformats.org/drawingml/2006/main">
            <a:r>
              <a:t>Training signal and Harness support rows paraphrase the comparative paragraphs of Sections 3.1 to 3.3. Evaluation criteria and tests follow the evaluation paragraph in Section 3.2.</a:t>
            </a:r>
          </a:p>
          <a:p xmlns:a="http://schemas.openxmlformats.org/drawingml/2006/main">
            <a:r>
              <a:t>Agentic RAG refers to Agentic Retrieval-Augmented Generation for Time Series Analysis and its differentiable prompt pools. Chow et al. refers to Towards Time-Series Reasoning with LLMs. The series encoder stands for the learned input layers of Section 3.1.</a:t>
            </a:r>
          </a:p>
          <a:p xmlns:a="http://schemas.openxmlformats.org/drawingml/2006/main">
            <a:r>
              <a:t>ChatAD appears under 3.3 because the manuscript discusses it there. The figure states its distinct signal, graded preferences on analytical responses, rather than presenting it as tool-action learning.</a:t>
            </a:r>
          </a:p>
          <a:p xmlns:a="http://schemas.openxmlformats.org/drawingml/2006/main">
            <a:r>
              <a:t>The nested Harness follows the paper overview: General Harness contains General Time-Series Harness, which contains Task-Specific Harness. One observation and action exchange serves all three intervention points.</a:t>
            </a:r>
          </a:p>
          <a:p xmlns:a="http://schemas.openxmlformats.org/drawingml/2006/main">
            <a:r>
              <a:t>Original-paper claims were not independently re-audited for this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66cfe7f1b4c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5c8855e508457c" /><Relationship Type="http://schemas.openxmlformats.org/officeDocument/2006/relationships/slideLayout" Target="/ppt/slideLayouts/slideLayout1.xml" Id="R6eba90f0d8e34f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ba90f0d8e34f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c8ced19794861" /><Relationship Type="http://schemas.openxmlformats.org/officeDocument/2006/relationships/notesSlide" Target="/ppt/notesSlides/notesSlide1.xml" Id="Rc97623e33cfb478b" /></Relationships>
</file>

<file path=ppt/slides/slide1.xml><?xml version="1.0" encoding="utf-8"?>
<p:sld xmlns:p="http://schemas.openxmlformats.org/presentationml/2006/main">
  <p:cSld>
    <p:bg>
      <p:bgPr>
        <ns0:solidFill xmlns:ns0="http://schemas.openxmlformats.org/drawingml/2006/main">
          <ns0:srgbClr val="FFFFFF"/>
        </ns0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300" name="Figure11_Evaluation_Episode — ungroup to edit modules"/>
          <p:cNvGrpSpPr/>
          <p:nvPr/>
        </p:nvGrpSpPr>
        <p:grpSpPr>
          <ns1:xfrm xmlns:ns1="http://schemas.openxmlformats.org/drawingml/2006/main">
            <ns1:off x="238125" y="285750"/>
            <ns1:ext cx="10953750" cy="5857875"/>
            <ns1:chOff x="238125" y="285750"/>
            <ns1:chExt cx="10953750" cy="5857875"/>
          </ns1:xfrm>
        </p:grpSpPr>
        <p:sp>
          <p:nvSpPr>
            <p:cNvPr id="10243" name="episode"/>
            <p:cNvSpPr/>
            <p:nvPr/>
          </p:nvSpPr>
          <p:spPr>
            <ns1:xfrm xmlns:ns1="http://schemas.openxmlformats.org/drawingml/2006/main">
              <ns1:off x="238125" y="285750"/>
              <ns1:ext cx="10953750" cy="3143250"/>
            </ns1:xfrm>
            <ns2:prstGeom xmlns:ns2="http://schemas.openxmlformats.org/drawingml/2006/main" prst="roundRect">
              <ns2:avLst>
                <ns2:gd name="adj" fmla="val 5000"/>
              </ns2:avLst>
            </ns2:prstGeom>
            <ns3:solidFill xmlns:ns3="http://schemas.openxmlformats.org/drawingml/2006/main">
              <ns3:srgbClr val="FFFFFF"/>
            </ns3:solidFill>
            <ns4:ln xmlns:ns4="http://schemas.openxmlformats.org/drawingml/2006/main" w="9525" cap="rnd">
              <ns4:solidFill>
                <ns4:srgbClr val="DFE7EC"/>
              </ns4:solidFill>
            </ns4:ln>
            <ns5:effectLst xmlns:ns5="http://schemas.openxmlformats.org/drawingml/2006/main">
              <ns5:outerShdw blurRad="76200" dist="38100" dir="5400000" algn="ctr" rotWithShape="0">
                <ns5:srgbClr val="183148">
                  <ns5:alpha val="12000"/>
                </ns5:srgbClr>
              </ns5:outerShdw>
            </ns5:effectLst>
          </p:spPr>
        </p:sp>
        <p:sp>
          <p:nvSpPr>
            <p:cNvPr id="10244" name="One reproducible Agent episode"/>
            <p:cNvSpPr/>
            <p:nvPr/>
          </p:nvSpPr>
          <p:spPr>
            <ns1:xfrm xmlns:ns1="http://schemas.openxmlformats.org/drawingml/2006/main">
              <ns1:off x="3143250" y="333375"/>
              <ns1:ext cx="5143500" cy="42862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17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One reproducible Agent episode</ns7:t>
              </ns7:r>
            </ns7:p>
          </p:txBody>
        </p:sp>
        <p:grpSp>
          <p:nvGrpSpPr>
            <p:cNvPr id="10250" name="file-text editable icon"/>
            <p:cNvGrpSpPr/>
            <p:nvPr/>
          </p:nvGrpSpPr>
          <p:grpSpPr>
            <ns1:xfrm xmlns:ns1="http://schemas.openxmlformats.org/drawingml/2006/main">
              <ns1:off x="714375" y="1114425"/>
              <ns1:ext cx="704850" cy="704850"/>
              <ns1:chOff x="714375" y="1114425"/>
              <ns1:chExt cx="704850" cy="704850"/>
            </ns1:xfrm>
          </p:grpSpPr>
          <p:sp>
            <p:nvSpPr>
              <p:cNvPr id="10245" name="file-text-0"/>
              <p:cNvSpPr/>
              <p:nvPr/>
            </p:nvSpPr>
            <p:spPr>
              <ns1:xfrm xmlns:ns1="http://schemas.openxmlformats.org/drawingml/2006/main">
                <ns1:off x="714375" y="1114425"/>
                <ns1:ext cx="704850" cy="7048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6000" y="22000"/>
                    </ns2:moveTo>
                    <ns2:cubicBezTo>
                      <ns2:pt x="4895" y="22000"/>
                      <ns2:pt x="4000" y="21105"/>
                      <ns2:pt x="4000" y="20000"/>
                    </ns2:cubicBezTo>
                    <ns2:lnTo>
                      <ns2:pt x="4000" y="4000"/>
                    </ns2:lnTo>
                    <ns2:cubicBezTo>
                      <ns2:pt x="4000" y="2895"/>
                      <ns2:pt x="4895" y="2000"/>
                      <ns2:pt x="6000" y="2000"/>
                    </ns2:cubicBezTo>
                    <ns2:lnTo>
                      <ns2:pt x="14000" y="2000"/>
                    </ns2:lnTo>
                    <ns2:cubicBezTo>
                      <ns2:pt x="14639" y="1999"/>
                      <ns2:pt x="15253" y="2253"/>
                      <ns2:pt x="15704" y="2706"/>
                    </ns2:cubicBezTo>
                    <ns2:lnTo>
                      <ns2:pt x="19292" y="6294"/>
                    </ns2:lnTo>
                    <ns2:cubicBezTo>
                      <ns2:pt x="19746" y="6745"/>
                      <ns2:pt x="20001" y="7360"/>
                      <ns2:pt x="20000" y="8000"/>
                    </ns2:cubicBezTo>
                    <ns2:lnTo>
                      <ns2:pt x="20000" y="20000"/>
                    </ns2:lnTo>
                    <ns2:cubicBezTo>
                      <ns2:pt x="20000" y="21105"/>
                      <ns2:pt x="19105" y="22000"/>
                      <ns2:pt x="18000" y="22000"/>
                    </ns2:cubicBezTo>
                    <ns2:lnTo>
                      <ns2:pt x="6000" y="220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44053" cap="rnd">
                <ns4:solidFill>
                  <ns4:srgbClr val="3376A0"/>
                </ns4:solidFill>
              </ns4:ln>
            </p:spPr>
          </p:sp>
          <p:sp>
            <p:nvSpPr>
              <p:cNvPr id="10246" name="file-text-1"/>
              <p:cNvSpPr/>
              <p:nvPr/>
            </p:nvSpPr>
            <p:spPr>
              <ns1:xfrm xmlns:ns1="http://schemas.openxmlformats.org/drawingml/2006/main">
                <ns1:off x="714375" y="1114425"/>
                <ns1:ext cx="704850" cy="7048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4000" y="2000"/>
                    </ns2:moveTo>
                    <ns2:lnTo>
                      <ns2:pt x="14000" y="7000"/>
                    </ns2:lnTo>
                    <ns2:cubicBezTo>
                      <ns2:pt x="14000" y="7552"/>
                      <ns2:pt x="14448" y="8000"/>
                      <ns2:pt x="15000" y="8000"/>
                    </ns2:cubicBezTo>
                    <ns2:lnTo>
                      <ns2:pt x="20000" y="8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4053" cap="rnd">
                <ns4:solidFill>
                  <ns4:srgbClr val="3376A0"/>
                </ns4:solidFill>
              </ns4:ln>
            </p:spPr>
          </p:sp>
          <p:sp>
            <p:nvSpPr>
              <p:cNvPr id="10247" name="file-text-2"/>
              <p:cNvSpPr/>
              <p:nvPr/>
            </p:nvSpPr>
            <p:spPr>
              <ns1:xfrm xmlns:ns1="http://schemas.openxmlformats.org/drawingml/2006/main">
                <ns1:off x="714375" y="1114425"/>
                <ns1:ext cx="704850" cy="7048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0000" y="9000"/>
                    </ns2:moveTo>
                    <ns2:lnTo>
                      <ns2:pt x="8000" y="9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4053" cap="rnd">
                <ns4:solidFill>
                  <ns4:srgbClr val="3376A0"/>
                </ns4:solidFill>
              </ns4:ln>
            </p:spPr>
          </p:sp>
          <p:sp>
            <p:nvSpPr>
              <p:cNvPr id="10248" name="file-text-3"/>
              <p:cNvSpPr/>
              <p:nvPr/>
            </p:nvSpPr>
            <p:spPr>
              <ns1:xfrm xmlns:ns1="http://schemas.openxmlformats.org/drawingml/2006/main">
                <ns1:off x="714375" y="1114425"/>
                <ns1:ext cx="704850" cy="7048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3000"/>
                    </ns2:moveTo>
                    <ns2:lnTo>
                      <ns2:pt x="8000" y="1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4053" cap="rnd">
                <ns4:solidFill>
                  <ns4:srgbClr val="3376A0"/>
                </ns4:solidFill>
              </ns4:ln>
            </p:spPr>
          </p:sp>
          <p:sp>
            <p:nvSpPr>
              <p:cNvPr id="10249" name="file-text-4"/>
              <p:cNvSpPr/>
              <p:nvPr/>
            </p:nvSpPr>
            <p:spPr>
              <ns1:xfrm xmlns:ns1="http://schemas.openxmlformats.org/drawingml/2006/main">
                <ns1:off x="714375" y="1114425"/>
                <ns1:ext cx="704850" cy="7048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7000"/>
                    </ns2:moveTo>
                    <ns2:lnTo>
                      <ns2:pt x="8000" y="1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4053" cap="rnd">
                <ns4:solidFill>
                  <ns4:srgbClr val="3376A0"/>
                </ns4:solidFill>
              </ns4:ln>
            </p:spPr>
          </p:sp>
        </p:grpSp>
        <p:sp>
          <p:nvSpPr>
            <p:cNvPr id="10251" name="Task contract"/>
            <p:cNvSpPr/>
            <p:nvPr/>
          </p:nvSpPr>
          <p:spPr>
            <ns1:xfrm xmlns:ns1="http://schemas.openxmlformats.org/drawingml/2006/main">
              <ns1:off x="238125" y="1895475"/>
              <ns1:ext cx="1600200" cy="5524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2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Task contract</ns7:t>
              </ns7:r>
            </ns7:p>
          </p:txBody>
        </p:sp>
        <p:grpSp>
          <p:nvGrpSpPr>
            <p:cNvPr id="10255" name="layers editable icon"/>
            <p:cNvGrpSpPr/>
            <p:nvPr/>
          </p:nvGrpSpPr>
          <p:grpSpPr>
            <ns1:xfrm xmlns:ns1="http://schemas.openxmlformats.org/drawingml/2006/main">
              <ns1:off x="3286125" y="1114425"/>
              <ns1:ext cx="704850" cy="704850"/>
              <ns1:chOff x="3286125" y="1114425"/>
              <ns1:chExt cx="704850" cy="704850"/>
            </ns1:xfrm>
          </p:grpSpPr>
          <p:sp>
            <p:nvSpPr>
              <p:cNvPr id="10252" name="layers-0"/>
              <p:cNvSpPr/>
              <p:nvPr/>
            </p:nvSpPr>
            <p:spPr>
              <ns1:xfrm xmlns:ns1="http://schemas.openxmlformats.org/drawingml/2006/main">
                <ns1:off x="3286125" y="1114425"/>
                <ns1:ext cx="704850" cy="7048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830" y="2180"/>
                    </ns2:moveTo>
                    <ns2:cubicBezTo>
                      <ns2:pt x="12303" y="1940"/>
                      <ns2:pt x="11697" y="1940"/>
                      <ns2:pt x="11170" y="2180"/>
                    </ns2:cubicBezTo>
                    <ns2:lnTo>
                      <ns2:pt x="2600" y="6080"/>
                    </ns2:lnTo>
                    <ns2:cubicBezTo>
                      <ns2:pt x="2237" y="6240"/>
                      <ns2:pt x="2003" y="6599"/>
                      <ns2:pt x="2003" y="6995"/>
                    </ns2:cubicBezTo>
                    <ns2:cubicBezTo>
                      <ns2:pt x="2003" y="7391"/>
                      <ns2:pt x="2237" y="7750"/>
                      <ns2:pt x="2600" y="7910"/>
                    </ns2:cubicBezTo>
                    <ns2:lnTo>
                      <ns2:pt x="11180" y="11820"/>
                    </ns2:lnTo>
                    <ns2:cubicBezTo>
                      <ns2:pt x="11707" y="12060"/>
                      <ns2:pt x="12313" y="12060"/>
                      <ns2:pt x="12840" y="11820"/>
                    </ns2:cubicBezTo>
                    <ns2:lnTo>
                      <ns2:pt x="21420" y="7920"/>
                    </ns2:lnTo>
                    <ns2:cubicBezTo>
                      <ns2:pt x="21783" y="7760"/>
                      <ns2:pt x="22017" y="7401"/>
                      <ns2:pt x="22017" y="7005"/>
                    </ns2:cubicBezTo>
                    <ns2:cubicBezTo>
                      <ns2:pt x="22017" y="6609"/>
                      <ns2:pt x="21783" y="6250"/>
                      <ns2:pt x="21420" y="6090"/>
                    </ns2:cubicBezTo>
                    <ns2:lnTo>
                      <ns2:pt x="12830" y="218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44053" cap="rnd">
                <ns4:solidFill>
                  <ns4:srgbClr val="39846C"/>
                </ns4:solidFill>
              </ns4:ln>
            </p:spPr>
          </p:sp>
          <p:sp>
            <p:nvSpPr>
              <p:cNvPr id="10253" name="layers-1"/>
              <p:cNvSpPr/>
              <p:nvPr/>
            </p:nvSpPr>
            <p:spPr>
              <ns1:xfrm xmlns:ns1="http://schemas.openxmlformats.org/drawingml/2006/main">
                <ns1:off x="3286125" y="1114425"/>
                <ns1:ext cx="704850" cy="7048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" y="12000"/>
                    </ns2:moveTo>
                    <ns2:cubicBezTo>
                      <ns2:pt x="1999" y="12391"/>
                      <ns2:pt x="2226" y="12746"/>
                      <ns2:pt x="2580" y="12910"/>
                    </ns2:cubicBezTo>
                    <ns2:lnTo>
                      <ns2:pt x="11180" y="16820"/>
                    </ns2:lnTo>
                    <ns2:cubicBezTo>
                      <ns2:pt x="11704" y="17057"/>
                      <ns2:pt x="12306" y="17057"/>
                      <ns2:pt x="12830" y="16820"/>
                    </ns2:cubicBezTo>
                    <ns2:lnTo>
                      <ns2:pt x="21410" y="12920"/>
                    </ns2:lnTo>
                    <ns2:cubicBezTo>
                      <ns2:pt x="21772" y="12757"/>
                      <ns2:pt x="22003" y="12397"/>
                      <ns2:pt x="22000" y="12000"/>
                    </ns2:cubicBez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4053" cap="rnd">
                <ns4:solidFill>
                  <ns4:srgbClr val="39846C"/>
                </ns4:solidFill>
              </ns4:ln>
            </p:spPr>
          </p:sp>
          <p:sp>
            <p:nvSpPr>
              <p:cNvPr id="10254" name="layers-2"/>
              <p:cNvSpPr/>
              <p:nvPr/>
            </p:nvSpPr>
            <p:spPr>
              <ns1:xfrm xmlns:ns1="http://schemas.openxmlformats.org/drawingml/2006/main">
                <ns1:off x="3286125" y="1114425"/>
                <ns1:ext cx="704850" cy="7048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" y="17000"/>
                    </ns2:moveTo>
                    <ns2:cubicBezTo>
                      <ns2:pt x="1999" y="17391"/>
                      <ns2:pt x="2226" y="17746"/>
                      <ns2:pt x="2580" y="17910"/>
                    </ns2:cubicBezTo>
                    <ns2:lnTo>
                      <ns2:pt x="11180" y="21820"/>
                    </ns2:lnTo>
                    <ns2:cubicBezTo>
                      <ns2:pt x="11704" y="22057"/>
                      <ns2:pt x="12306" y="22057"/>
                      <ns2:pt x="12830" y="21820"/>
                    </ns2:cubicBezTo>
                    <ns2:lnTo>
                      <ns2:pt x="21410" y="17920"/>
                    </ns2:lnTo>
                    <ns2:cubicBezTo>
                      <ns2:pt x="21772" y="17757"/>
                      <ns2:pt x="22003" y="17397"/>
                      <ns2:pt x="22000" y="17000"/>
                    </ns2:cubicBez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4053" cap="rnd">
                <ns4:solidFill>
                  <ns4:srgbClr val="39846C"/>
                </ns4:solidFill>
              </ns4:ln>
            </p:spPr>
          </p:sp>
        </p:grpSp>
        <p:sp>
          <p:nvSpPr>
            <p:cNvPr id="10256" name="Resources"/>
            <p:cNvSpPr/>
            <p:nvPr/>
          </p:nvSpPr>
          <p:spPr>
            <ns1:xfrm xmlns:ns1="http://schemas.openxmlformats.org/drawingml/2006/main">
              <ns1:off x="2809875" y="1895475"/>
              <ns1:ext cx="1600200" cy="5524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25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Resources</ns7:t>
              </ns7:r>
            </ns7:p>
          </p:txBody>
        </p:sp>
        <p:grpSp>
          <p:nvGrpSpPr>
            <p:cNvPr id="10263" name="bot editable icon"/>
            <p:cNvGrpSpPr/>
            <p:nvPr/>
          </p:nvGrpSpPr>
          <p:grpSpPr>
            <ns1:xfrm xmlns:ns1="http://schemas.openxmlformats.org/drawingml/2006/main">
              <ns1:off x="5857875" y="1114425"/>
              <ns1:ext cx="704850" cy="704850"/>
              <ns1:chOff x="5857875" y="1114425"/>
              <ns1:chExt cx="704850" cy="704850"/>
            </ns1:xfrm>
          </p:grpSpPr>
          <p:sp>
            <p:nvSpPr>
              <p:cNvPr id="10257" name="bot-0"/>
              <p:cNvSpPr/>
              <p:nvPr/>
            </p:nvSpPr>
            <p:spPr>
              <ns1:xfrm xmlns:ns1="http://schemas.openxmlformats.org/drawingml/2006/main">
                <ns1:off x="5857875" y="1114425"/>
                <ns1:ext cx="704850" cy="7048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8000"/>
                    </ns2:moveTo>
                    <ns2:lnTo>
                      <ns2:pt x="12000" y="4000"/>
                    </ns2:lnTo>
                    <ns2:lnTo>
                      <ns2:pt x="8000" y="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4053" cap="rnd">
                <ns4:solidFill>
                  <ns4:srgbClr val="68528D"/>
                </ns4:solidFill>
              </ns4:ln>
            </p:spPr>
          </p:sp>
          <p:sp>
            <p:nvSpPr>
              <p:cNvPr id="10258" name="bot-1"/>
              <p:cNvSpPr/>
              <p:nvPr/>
            </p:nvSpPr>
            <p:spPr>
              <ns1:xfrm xmlns:ns1="http://schemas.openxmlformats.org/drawingml/2006/main">
                <ns1:off x="5975350" y="1349375"/>
                <ns1:ext cx="469900" cy="352425"/>
              </ns1:xfrm>
              <ns2:prstGeom xmlns:ns2="http://schemas.openxmlformats.org/drawingml/2006/main" prst="roundRect">
                <ns2:avLst/>
              </ns2:prstGeom>
              <ns3:noFill xmlns:ns3="http://schemas.openxmlformats.org/drawingml/2006/main"/>
              <ns5:ln xmlns:ns5="http://schemas.openxmlformats.org/drawingml/2006/main" w="44053" cap="rnd">
                <ns5:solidFill>
                  <ns5:srgbClr val="68528D"/>
                </ns5:solidFill>
              </ns5:ln>
            </p:spPr>
          </p:sp>
          <p:sp>
            <p:nvSpPr>
              <p:cNvPr id="10259" name="bot-2"/>
              <p:cNvSpPr/>
              <p:nvPr/>
            </p:nvSpPr>
            <p:spPr>
              <ns1:xfrm xmlns:ns1="http://schemas.openxmlformats.org/drawingml/2006/main">
                <ns1:off x="5857875" y="1114425"/>
                <ns1:ext cx="704850" cy="7048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" y="14000"/>
                    </ns2:moveTo>
                    <ns2:lnTo>
                      <ns2:pt x="4000" y="1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4053" cap="rnd">
                <ns4:solidFill>
                  <ns4:srgbClr val="68528D"/>
                </ns4:solidFill>
              </ns4:ln>
            </p:spPr>
          </p:sp>
          <p:sp>
            <p:nvSpPr>
              <p:cNvPr id="10260" name="bot-3"/>
              <p:cNvSpPr/>
              <p:nvPr/>
            </p:nvSpPr>
            <p:spPr>
              <ns1:xfrm xmlns:ns1="http://schemas.openxmlformats.org/drawingml/2006/main">
                <ns1:off x="5857875" y="1114425"/>
                <ns1:ext cx="704850" cy="7048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14000"/>
                    </ns2:moveTo>
                    <ns2:lnTo>
                      <ns2:pt x="22000" y="1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4053" cap="rnd">
                <ns4:solidFill>
                  <ns4:srgbClr val="68528D"/>
                </ns4:solidFill>
              </ns4:ln>
            </p:spPr>
          </p:sp>
          <p:sp>
            <p:nvSpPr>
              <p:cNvPr id="10261" name="bot-4"/>
              <p:cNvSpPr/>
              <p:nvPr/>
            </p:nvSpPr>
            <p:spPr>
              <ns1:xfrm xmlns:ns1="http://schemas.openxmlformats.org/drawingml/2006/main">
                <ns1:off x="5857875" y="1114425"/>
                <ns1:ext cx="704850" cy="7048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5000" y="13000"/>
                    </ns2:moveTo>
                    <ns2:lnTo>
                      <ns2:pt x="15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4053" cap="rnd">
                <ns4:solidFill>
                  <ns4:srgbClr val="68528D"/>
                </ns4:solidFill>
              </ns4:ln>
            </p:spPr>
          </p:sp>
          <p:sp>
            <p:nvSpPr>
              <p:cNvPr id="10262" name="bot-5"/>
              <p:cNvSpPr/>
              <p:nvPr/>
            </p:nvSpPr>
            <p:spPr>
              <ns1:xfrm xmlns:ns1="http://schemas.openxmlformats.org/drawingml/2006/main">
                <ns1:off x="5857875" y="1114425"/>
                <ns1:ext cx="704850" cy="7048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9000" y="13000"/>
                    </ns2:moveTo>
                    <ns2:lnTo>
                      <ns2:pt x="9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4053" cap="rnd">
                <ns4:solidFill>
                  <ns4:srgbClr val="68528D"/>
                </ns4:solidFill>
              </ns4:ln>
            </p:spPr>
          </p:sp>
        </p:grpSp>
        <p:sp>
          <p:nvSpPr>
            <p:cNvPr id="10264" name="Execution"/>
            <p:cNvSpPr/>
            <p:nvPr/>
          </p:nvSpPr>
          <p:spPr>
            <ns1:xfrm xmlns:ns1="http://schemas.openxmlformats.org/drawingml/2006/main">
              <ns1:off x="5381625" y="1895475"/>
              <ns1:ext cx="1600200" cy="5524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25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Execution</ns7:t>
              </ns7:r>
            </ns7:p>
          </p:txBody>
        </p:sp>
        <p:grpSp>
          <p:nvGrpSpPr>
            <p:cNvPr id="10267" name="braces editable icon"/>
            <p:cNvGrpSpPr/>
            <p:nvPr/>
          </p:nvGrpSpPr>
          <p:grpSpPr>
            <ns1:xfrm xmlns:ns1="http://schemas.openxmlformats.org/drawingml/2006/main">
              <ns1:off x="8620125" y="1114425"/>
              <ns1:ext cx="704850" cy="704850"/>
              <ns1:chOff x="8620125" y="1114425"/>
              <ns1:chExt cx="704850" cy="704850"/>
            </ns1:xfrm>
          </p:grpSpPr>
          <p:sp>
            <p:nvSpPr>
              <p:cNvPr id="10265" name="braces-0"/>
              <p:cNvSpPr/>
              <p:nvPr/>
            </p:nvSpPr>
            <p:spPr>
              <ns1:xfrm xmlns:ns1="http://schemas.openxmlformats.org/drawingml/2006/main">
                <ns1:off x="8620125" y="1114425"/>
                <ns1:ext cx="704850" cy="7048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3000"/>
                    </ns2:moveTo>
                    <ns2:lnTo>
                      <ns2:pt x="7000" y="3000"/>
                    </ns2:lnTo>
                    <ns2:cubicBezTo>
                      <ns2:pt x="5895" y="3000"/>
                      <ns2:pt x="5000" y="3895"/>
                      <ns2:pt x="5000" y="5000"/>
                    </ns2:cubicBezTo>
                    <ns2:lnTo>
                      <ns2:pt x="5000" y="10000"/>
                    </ns2:lnTo>
                    <ns2:cubicBezTo>
                      <ns2:pt x="5000" y="11105"/>
                      <ns2:pt x="4105" y="12000"/>
                      <ns2:pt x="3000" y="12000"/>
                    </ns2:cubicBezTo>
                    <ns2:cubicBezTo>
                      <ns2:pt x="4105" y="12000"/>
                      <ns2:pt x="5000" y="12895"/>
                      <ns2:pt x="5000" y="14000"/>
                    </ns2:cubicBezTo>
                    <ns2:lnTo>
                      <ns2:pt x="5000" y="19000"/>
                    </ns2:lnTo>
                    <ns2:cubicBezTo>
                      <ns2:pt x="5000" y="20100"/>
                      <ns2:pt x="5900" y="21000"/>
                      <ns2:pt x="7000" y="21000"/>
                    </ns2:cubicBezTo>
                    <ns2:lnTo>
                      <ns2:pt x="8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4053" cap="rnd">
                <ns4:solidFill>
                  <ns4:srgbClr val="B47A31"/>
                </ns4:solidFill>
              </ns4:ln>
            </p:spPr>
          </p:sp>
          <p:sp>
            <p:nvSpPr>
              <p:cNvPr id="10266" name="braces-1"/>
              <p:cNvSpPr/>
              <p:nvPr/>
            </p:nvSpPr>
            <p:spPr>
              <ns1:xfrm xmlns:ns1="http://schemas.openxmlformats.org/drawingml/2006/main">
                <ns1:off x="8620125" y="1114425"/>
                <ns1:ext cx="704850" cy="7048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21000"/>
                    </ns2:moveTo>
                    <ns2:lnTo>
                      <ns2:pt x="17000" y="21000"/>
                    </ns2:lnTo>
                    <ns2:cubicBezTo>
                      <ns2:pt x="18105" y="21000"/>
                      <ns2:pt x="19000" y="20105"/>
                      <ns2:pt x="19000" y="19000"/>
                    </ns2:cubicBezTo>
                    <ns2:lnTo>
                      <ns2:pt x="19000" y="14000"/>
                    </ns2:lnTo>
                    <ns2:cubicBezTo>
                      <ns2:pt x="19000" y="12900"/>
                      <ns2:pt x="19900" y="12000"/>
                      <ns2:pt x="21000" y="12000"/>
                    </ns2:cubicBezTo>
                    <ns2:cubicBezTo>
                      <ns2:pt x="19895" y="12000"/>
                      <ns2:pt x="19000" y="11105"/>
                      <ns2:pt x="19000" y="10000"/>
                    </ns2:cubicBezTo>
                    <ns2:lnTo>
                      <ns2:pt x="19000" y="5000"/>
                    </ns2:lnTo>
                    <ns2:cubicBezTo>
                      <ns2:pt x="19000" y="3895"/>
                      <ns2:pt x="18105" y="3000"/>
                      <ns2:pt x="17000" y="3000"/>
                    </ns2:cubicBezTo>
                    <ns2:lnTo>
                      <ns2:pt x="16000" y="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4053" cap="rnd">
                <ns4:solidFill>
                  <ns4:srgbClr val="B47A31"/>
                </ns4:solidFill>
              </ns4:ln>
            </p:spPr>
          </p:sp>
        </p:grpSp>
        <p:sp>
          <p:nvSpPr>
            <p:cNvPr id="10268" name="Artifact"/>
            <p:cNvSpPr/>
            <p:nvPr/>
          </p:nvSpPr>
          <p:spPr>
            <ns1:xfrm xmlns:ns1="http://schemas.openxmlformats.org/drawingml/2006/main">
              <ns1:off x="8143875" y="1895475"/>
              <ns1:ext cx="1600200" cy="5524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25" b="1">
                  <ns7:solidFill>
                    <ns7:srgbClr val="B47A31"/>
                  </ns7:solidFill>
                  <ns7:latin typeface="Times New Roman"/>
                  <ns7:ea typeface="Times New Roman"/>
                </ns7:rPr>
                <ns7:t>Artifact</ns7:t>
              </ns7:r>
            </ns7:p>
          </p:txBody>
        </p:sp>
        <p:sp>
          <p:nvSpPr>
            <p:cNvPr id="10269" name="flow"/>
            <p:cNvSpPr/>
            <p:nvPr/>
          </p:nvSpPr>
          <p:spPr>
            <ns1:xfrm xmlns:ns1="http://schemas.openxmlformats.org/drawingml/2006/main">
              <ns1:off x="2000250" y="1495425"/>
              <ns1:ext cx="10477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0000" h="1000" fill="none">
                  <ns2:moveTo>
                    <ns2:pt x="0" y="0"/>
                  </ns2:moveTo>
                  <ns2:lnTo>
                    <ns2:pt x="11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270" name="flow"/>
            <p:cNvSpPr/>
            <p:nvPr/>
          </p:nvSpPr>
          <p:spPr>
            <ns1:xfrm xmlns:ns1="http://schemas.openxmlformats.org/drawingml/2006/main">
              <ns1:off x="4572000" y="1495425"/>
              <ns1:ext cx="10477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0000" h="1000" fill="none">
                  <ns2:moveTo>
                    <ns2:pt x="0" y="0"/>
                  </ns2:moveTo>
                  <ns2:lnTo>
                    <ns2:pt x="11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271" name="flow"/>
            <p:cNvSpPr/>
            <p:nvPr/>
          </p:nvSpPr>
          <p:spPr>
            <ns1:xfrm xmlns:ns1="http://schemas.openxmlformats.org/drawingml/2006/main">
              <ns1:off x="7143750" y="1495425"/>
              <ns1:ext cx="10477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0000" h="1000" fill="none">
                  <ns2:moveTo>
                    <ns2:pt x="0" y="0"/>
                  </ns2:moveTo>
                  <ns2:lnTo>
                    <ns2:pt x="11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272" name="Output and time boundary"/>
            <p:cNvSpPr/>
            <p:nvPr/>
          </p:nvSpPr>
          <p:spPr>
            <ns1:xfrm xmlns:ns1="http://schemas.openxmlformats.org/drawingml/2006/main">
              <ns1:off x="333375" y="2619375"/>
              <ns1:ext cx="24765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Output and time boundary</ns7:t>
              </ns7:r>
            </ns7:p>
          </p:txBody>
        </p:sp>
        <p:sp>
          <p:nvSpPr>
            <p:cNvPr id="10273" name="Data, tools and versions"/>
            <p:cNvSpPr/>
            <p:nvPr/>
          </p:nvSpPr>
          <p:spPr>
            <ns1:xfrm xmlns:ns1="http://schemas.openxmlformats.org/drawingml/2006/main">
              <ns1:off x="2905125" y="2619375"/>
              <ns1:ext cx="24765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Data, tools and versions</ns7:t>
              </ns7:r>
            </ns7:p>
          </p:txBody>
        </p:sp>
        <p:sp>
          <p:nvSpPr>
            <p:cNvPr id="10274" name="Calls, checks and revisions"/>
            <p:cNvSpPr/>
            <p:nvPr/>
          </p:nvSpPr>
          <p:spPr>
            <ns1:xfrm xmlns:ns1="http://schemas.openxmlformats.org/drawingml/2006/main">
              <ns1:off x="5476875" y="2619375"/>
              <ns1:ext cx="26670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Calls, checks and revisions</ns7:t>
              </ns7:r>
            </ns7:p>
          </p:txBody>
        </p:sp>
        <p:sp>
          <p:nvSpPr>
            <p:cNvPr id="10275" name="Files, models or code"/>
            <p:cNvSpPr/>
            <p:nvPr/>
          </p:nvSpPr>
          <p:spPr>
            <ns1:xfrm xmlns:ns1="http://schemas.openxmlformats.org/drawingml/2006/main">
              <ns1:off x="8477250" y="2619375"/>
              <ns1:ext cx="24765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Files, models or code</ns7:t>
              </ns7:r>
            </ns7:p>
          </p:txBody>
        </p:sp>
        <p:sp>
          <p:nvSpPr>
            <p:cNvPr id="10276" name="Task performance"/>
            <p:cNvSpPr/>
            <p:nvPr/>
          </p:nvSpPr>
          <p:spPr>
            <ns1:xfrm xmlns:ns1="http://schemas.openxmlformats.org/drawingml/2006/main">
              <ns1:off x="333375" y="3952875"/>
              <ns1:ext cx="3333750" cy="1524000"/>
            </ns1:xfrm>
            <ns2:prstGeom xmlns:ns2="http://schemas.openxmlformats.org/drawingml/2006/main" prst="roundRect">
              <ns2:avLst>
                <ns2:gd name="adj" fmla="val 5000"/>
              </ns2:avLst>
            </ns2:prstGeom>
            <ns3:solidFill xmlns:ns3="http://schemas.openxmlformats.org/drawingml/2006/main">
              <ns3:srgbClr val="FFFFFF"/>
            </ns3:solidFill>
            <ns4:ln xmlns:ns4="http://schemas.openxmlformats.org/drawingml/2006/main" w="9525" cap="rnd">
              <ns4:solidFill>
                <ns4:srgbClr val="DFE7EC"/>
              </ns4:solidFill>
            </ns4:ln>
            <ns5:effectLst xmlns:ns5="http://schemas.openxmlformats.org/drawingml/2006/main">
              <ns5:outerShdw blurRad="76200" dist="38100" dir="5400000" algn="ctr" rotWithShape="0">
                <ns5:srgbClr val="183148">
                  <ns5:alpha val="12000"/>
                </ns5:srgbClr>
              </ns5:outerShdw>
            </ns5:effectLst>
          </p:spPr>
        </p:sp>
        <p:grpSp>
          <p:nvGrpSpPr>
            <p:cNvPr id="10280" name="target editable icon"/>
            <p:cNvGrpSpPr/>
            <p:nvPr/>
          </p:nvGrpSpPr>
          <p:grpSpPr>
            <ns1:xfrm xmlns:ns1="http://schemas.openxmlformats.org/drawingml/2006/main">
              <ns1:off x="519112" y="4233862"/>
              <ns1:ext cx="428625" cy="428625"/>
              <ns1:chOff x="519112" y="4233862"/>
              <ns1:chExt cx="428625" cy="428625"/>
            </ns1:xfrm>
          </p:grpSpPr>
          <p:sp>
            <p:nvSpPr>
              <p:cNvPr id="10277" name="target-0"/>
              <p:cNvSpPr/>
              <p:nvPr/>
            </p:nvSpPr>
            <p:spPr>
              <ns1:xfrm xmlns:ns1="http://schemas.openxmlformats.org/drawingml/2006/main">
                <ns1:off x="519112" y="4233862"/>
                <ns1:ext cx="428625" cy="428625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32147" cap="rnd">
                <ns5:solidFill>
                  <ns5:srgbClr val="3376A0"/>
                </ns5:solidFill>
              </ns5:ln>
            </p:spPr>
          </p:sp>
          <p:sp>
            <p:nvSpPr>
              <p:cNvPr id="10278" name="target-1"/>
              <p:cNvSpPr/>
              <p:nvPr/>
            </p:nvSpPr>
            <p:spPr>
              <ns1:xfrm xmlns:ns1="http://schemas.openxmlformats.org/drawingml/2006/main">
                <ns1:off x="604838" y="4319588"/>
                <ns1:ext cx="257175" cy="257175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32147" cap="rnd">
                <ns5:solidFill>
                  <ns5:srgbClr val="3376A0"/>
                </ns5:solidFill>
              </ns5:ln>
            </p:spPr>
          </p:sp>
          <p:sp>
            <p:nvSpPr>
              <p:cNvPr id="10279" name="target-2"/>
              <p:cNvSpPr/>
              <p:nvPr/>
            </p:nvSpPr>
            <p:spPr>
              <ns1:xfrm xmlns:ns1="http://schemas.openxmlformats.org/drawingml/2006/main">
                <ns1:off x="690562" y="4405312"/>
                <ns1:ext cx="85725" cy="85725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32147" cap="rnd">
                <ns5:solidFill>
                  <ns5:srgbClr val="3376A0"/>
                </ns5:solidFill>
              </ns5:ln>
            </p:spPr>
          </p:sp>
        </p:grpSp>
        <p:sp>
          <p:nvSpPr>
            <p:cNvPr id="10281" name="Task performance"/>
            <p:cNvSpPr/>
            <p:nvPr/>
          </p:nvSpPr>
          <p:spPr>
            <ns1:xfrm xmlns:ns1="http://schemas.openxmlformats.org/drawingml/2006/main">
              <ns1:off x="1095375" y="4114800"/>
              <ns1:ext cx="2457450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950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Task performance</ns7:t>
              </ns7:r>
            </ns7:p>
          </p:txBody>
        </p:sp>
        <p:sp>
          <p:nvSpPr>
            <p:cNvPr id="10282" name="Error, utility or task score"/>
            <p:cNvSpPr/>
            <p:nvPr/>
          </p:nvSpPr>
          <p:spPr>
            <ns1:xfrm xmlns:ns1="http://schemas.openxmlformats.org/drawingml/2006/main">
              <ns1:off x="447675" y="4791075"/>
              <ns1:ext cx="3114675" cy="4476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Error, utility or task score</ns7:t>
              </ns7:r>
            </ns7:p>
          </p:txBody>
        </p:sp>
        <p:sp>
          <p:nvSpPr>
            <p:cNvPr id="10283" name="Artifact validity"/>
            <p:cNvSpPr/>
            <p:nvPr/>
          </p:nvSpPr>
          <p:spPr>
            <ns1:xfrm xmlns:ns1="http://schemas.openxmlformats.org/drawingml/2006/main">
              <ns1:off x="4048125" y="3952875"/>
              <ns1:ext cx="3333750" cy="1524000"/>
            </ns1:xfrm>
            <ns2:prstGeom xmlns:ns2="http://schemas.openxmlformats.org/drawingml/2006/main" prst="roundRect">
              <ns2:avLst>
                <ns2:gd name="adj" fmla="val 5000"/>
              </ns2:avLst>
            </ns2:prstGeom>
            <ns3:solidFill xmlns:ns3="http://schemas.openxmlformats.org/drawingml/2006/main">
              <ns3:srgbClr val="FFFFFF"/>
            </ns3:solidFill>
            <ns4:ln xmlns:ns4="http://schemas.openxmlformats.org/drawingml/2006/main" w="9525" cap="rnd">
              <ns4:solidFill>
                <ns4:srgbClr val="DFE7EC"/>
              </ns4:solidFill>
            </ns4:ln>
            <ns5:effectLst xmlns:ns5="http://schemas.openxmlformats.org/drawingml/2006/main">
              <ns5:outerShdw blurRad="76200" dist="38100" dir="5400000" algn="ctr" rotWithShape="0">
                <ns5:srgbClr val="183148">
                  <ns5:alpha val="12000"/>
                </ns5:srgbClr>
              </ns5:outerShdw>
            </ns5:effectLst>
          </p:spPr>
        </p:sp>
        <p:grpSp>
          <p:nvGrpSpPr>
            <p:cNvPr id="10286" name="shield-check editable icon"/>
            <p:cNvGrpSpPr/>
            <p:nvPr/>
          </p:nvGrpSpPr>
          <p:grpSpPr>
            <ns1:xfrm xmlns:ns1="http://schemas.openxmlformats.org/drawingml/2006/main">
              <ns1:off x="4191000" y="4191000"/>
              <ns1:ext cx="514350" cy="514350"/>
              <ns1:chOff x="4191000" y="4191000"/>
              <ns1:chExt cx="514350" cy="514350"/>
            </ns1:xfrm>
          </p:grpSpPr>
          <p:sp>
            <p:nvSpPr>
              <p:cNvPr id="10284" name="shield-check-0"/>
              <p:cNvSpPr/>
              <p:nvPr/>
            </p:nvSpPr>
            <p:spPr>
              <ns1:xfrm xmlns:ns1="http://schemas.openxmlformats.org/drawingml/2006/main">
                <ns1:off x="4191000" y="4191000"/>
                <ns1:ext cx="514350" cy="5143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13000"/>
                    </ns2:moveTo>
                    <ns2:cubicBezTo>
                      <ns2:pt x="20000" y="18000"/>
                      <ns2:pt x="16500" y="20500"/>
                      <ns2:pt x="12340" y="21950"/>
                    </ns2:cubicBezTo>
                    <ns2:cubicBezTo>
                      <ns2:pt x="12122" y="22024"/>
                      <ns2:pt x="11886" y="22020"/>
                      <ns2:pt x="11670" y="21940"/>
                    </ns2:cubicBezTo>
                    <ns2:cubicBezTo>
                      <ns2:pt x="7500" y="20500"/>
                      <ns2:pt x="4000" y="18000"/>
                      <ns2:pt x="4000" y="13000"/>
                    </ns2:cubicBezTo>
                    <ns2:lnTo>
                      <ns2:pt x="4000" y="6000"/>
                    </ns2:lnTo>
                    <ns2:cubicBezTo>
                      <ns2:pt x="4000" y="5448"/>
                      <ns2:pt x="4448" y="5000"/>
                      <ns2:pt x="5000" y="5000"/>
                    </ns2:cubicBezTo>
                    <ns2:cubicBezTo>
                      <ns2:pt x="7000" y="5000"/>
                      <ns2:pt x="9500" y="3800"/>
                      <ns2:pt x="11240" y="2280"/>
                    </ns2:cubicBezTo>
                    <ns2:cubicBezTo>
                      <ns2:pt x="11678" y="1906"/>
                      <ns2:pt x="12322" y="1906"/>
                      <ns2:pt x="12760" y="2280"/>
                    </ns2:cubicBezTo>
                    <ns2:cubicBezTo>
                      <ns2:pt x="14510" y="3810"/>
                      <ns2:pt x="17000" y="5000"/>
                      <ns2:pt x="19000" y="5000"/>
                    </ns2:cubicBezTo>
                    <ns2:cubicBezTo>
                      <ns2:pt x="19552" y="5000"/>
                      <ns2:pt x="20000" y="5448"/>
                      <ns2:pt x="20000" y="6000"/>
                    </ns2:cubicBezTo>
                    <ns2:lnTo>
                      <ns2:pt x="20000" y="130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32147" cap="rnd">
                <ns4:solidFill>
                  <ns4:srgbClr val="39846C"/>
                </ns4:solidFill>
              </ns4:ln>
            </p:spPr>
          </p:sp>
          <p:sp>
            <p:nvSpPr>
              <p:cNvPr id="10285" name="shield-check-1"/>
              <p:cNvSpPr/>
              <p:nvPr/>
            </p:nvSpPr>
            <p:spPr>
              <ns1:xfrm xmlns:ns1="http://schemas.openxmlformats.org/drawingml/2006/main">
                <ns1:off x="4191000" y="4191000"/>
                <ns1:ext cx="514350" cy="5143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9000" y="12000"/>
                    </ns2:moveTo>
                    <ns2:lnTo>
                      <ns2:pt x="11000" y="14000"/>
                    </ns2:lnTo>
                    <ns2:lnTo>
                      <ns2:pt x="15000" y="10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2147" cap="rnd">
                <ns4:solidFill>
                  <ns4:srgbClr val="39846C"/>
                </ns4:solidFill>
              </ns4:ln>
            </p:spPr>
          </p:sp>
        </p:grpSp>
        <p:sp>
          <p:nvSpPr>
            <p:cNvPr id="10287" name="Artifact validity"/>
            <p:cNvSpPr/>
            <p:nvPr/>
          </p:nvSpPr>
          <p:spPr>
            <ns1:xfrm xmlns:ns1="http://schemas.openxmlformats.org/drawingml/2006/main">
              <ns1:off x="4810125" y="4114800"/>
              <ns1:ext cx="2457450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950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Artifact validity</ns7:t>
              </ns7:r>
            </ns7:p>
          </p:txBody>
        </p:sp>
        <p:sp>
          <p:nvSpPr>
            <p:cNvPr id="10288" name="Executable and contract-compliant"/>
            <p:cNvSpPr/>
            <p:nvPr/>
          </p:nvSpPr>
          <p:spPr>
            <ns1:xfrm xmlns:ns1="http://schemas.openxmlformats.org/drawingml/2006/main">
              <ns1:off x="4162425" y="4791075"/>
              <ns1:ext cx="3114675" cy="4476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Executable and contract-compliant</ns7:t>
              </ns7:r>
            </ns7:p>
          </p:txBody>
        </p:sp>
        <p:sp>
          <p:nvSpPr>
            <p:cNvPr id="10289" name="Execution record"/>
            <p:cNvSpPr/>
            <p:nvPr/>
          </p:nvSpPr>
          <p:spPr>
            <ns1:xfrm xmlns:ns1="http://schemas.openxmlformats.org/drawingml/2006/main">
              <ns1:off x="7762875" y="3952875"/>
              <ns1:ext cx="3333750" cy="1524000"/>
            </ns1:xfrm>
            <ns2:prstGeom xmlns:ns2="http://schemas.openxmlformats.org/drawingml/2006/main" prst="roundRect">
              <ns2:avLst>
                <ns2:gd name="adj" fmla="val 5000"/>
              </ns2:avLst>
            </ns2:prstGeom>
            <ns3:solidFill xmlns:ns3="http://schemas.openxmlformats.org/drawingml/2006/main">
              <ns3:srgbClr val="FFFFFF"/>
            </ns3:solidFill>
            <ns4:ln xmlns:ns4="http://schemas.openxmlformats.org/drawingml/2006/main" w="9525" cap="rnd">
              <ns4:solidFill>
                <ns4:srgbClr val="DFE7EC"/>
              </ns4:solidFill>
            </ns4:ln>
            <ns5:effectLst xmlns:ns5="http://schemas.openxmlformats.org/drawingml/2006/main">
              <ns5:outerShdw blurRad="76200" dist="38100" dir="5400000" algn="ctr" rotWithShape="0">
                <ns5:srgbClr val="183148">
                  <ns5:alpha val="12000"/>
                </ns5:srgbClr>
              </ns5:outerShdw>
            </ns5:effectLst>
          </p:spPr>
        </p:sp>
        <p:grpSp>
          <p:nvGrpSpPr>
            <p:cNvPr id="10295" name="list-checks editable icon"/>
            <p:cNvGrpSpPr/>
            <p:nvPr/>
          </p:nvGrpSpPr>
          <p:grpSpPr>
            <ns1:xfrm xmlns:ns1="http://schemas.openxmlformats.org/drawingml/2006/main">
              <ns1:off x="7905750" y="4191000"/>
              <ns1:ext cx="514350" cy="514350"/>
              <ns1:chOff x="7905750" y="4191000"/>
              <ns1:chExt cx="514350" cy="514350"/>
            </ns1:xfrm>
          </p:grpSpPr>
          <p:sp>
            <p:nvSpPr>
              <p:cNvPr id="10290" name="list-checks-0"/>
              <p:cNvSpPr/>
              <p:nvPr/>
            </p:nvSpPr>
            <p:spPr>
              <ns1:xfrm xmlns:ns1="http://schemas.openxmlformats.org/drawingml/2006/main">
                <ns1:off x="7905750" y="4191000"/>
                <ns1:ext cx="514350" cy="5143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3000" y="5000"/>
                    </ns2:moveTo>
                    <ns2:lnTo>
                      <ns2:pt x="21000" y="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2147" cap="rnd">
                <ns4:solidFill>
                  <ns4:srgbClr val="68528D"/>
                </ns4:solidFill>
              </ns4:ln>
            </p:spPr>
          </p:sp>
          <p:sp>
            <p:nvSpPr>
              <p:cNvPr id="10291" name="list-checks-1"/>
              <p:cNvSpPr/>
              <p:nvPr/>
            </p:nvSpPr>
            <p:spPr>
              <ns1:xfrm xmlns:ns1="http://schemas.openxmlformats.org/drawingml/2006/main">
                <ns1:off x="7905750" y="4191000"/>
                <ns1:ext cx="514350" cy="5143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3000" y="12000"/>
                    </ns2:moveTo>
                    <ns2:lnTo>
                      <ns2:pt x="21000" y="12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2147" cap="rnd">
                <ns4:solidFill>
                  <ns4:srgbClr val="68528D"/>
                </ns4:solidFill>
              </ns4:ln>
            </p:spPr>
          </p:sp>
          <p:sp>
            <p:nvSpPr>
              <p:cNvPr id="10292" name="list-checks-2"/>
              <p:cNvSpPr/>
              <p:nvPr/>
            </p:nvSpPr>
            <p:spPr>
              <ns1:xfrm xmlns:ns1="http://schemas.openxmlformats.org/drawingml/2006/main">
                <ns1:off x="7905750" y="4191000"/>
                <ns1:ext cx="514350" cy="5143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3000" y="19000"/>
                    </ns2:moveTo>
                    <ns2:lnTo>
                      <ns2:pt x="21000" y="19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2147" cap="rnd">
                <ns4:solidFill>
                  <ns4:srgbClr val="68528D"/>
                </ns4:solidFill>
              </ns4:ln>
            </p:spPr>
          </p:sp>
          <p:sp>
            <p:nvSpPr>
              <p:cNvPr id="10293" name="list-checks-3"/>
              <p:cNvSpPr/>
              <p:nvPr/>
            </p:nvSpPr>
            <p:spPr>
              <ns1:xfrm xmlns:ns1="http://schemas.openxmlformats.org/drawingml/2006/main">
                <ns1:off x="7905750" y="4191000"/>
                <ns1:ext cx="514350" cy="5143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17000"/>
                    </ns2:moveTo>
                    <ns2:lnTo>
                      <ns2:pt x="5000" y="19000"/>
                    </ns2:lnTo>
                    <ns2:lnTo>
                      <ns2:pt x="9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2147" cap="rnd">
                <ns4:solidFill>
                  <ns4:srgbClr val="68528D"/>
                </ns4:solidFill>
              </ns4:ln>
            </p:spPr>
          </p:sp>
          <p:sp>
            <p:nvSpPr>
              <p:cNvPr id="10294" name="list-checks-4"/>
              <p:cNvSpPr/>
              <p:nvPr/>
            </p:nvSpPr>
            <p:spPr>
              <ns1:xfrm xmlns:ns1="http://schemas.openxmlformats.org/drawingml/2006/main">
                <ns1:off x="7905750" y="4191000"/>
                <ns1:ext cx="514350" cy="5143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7000"/>
                    </ns2:moveTo>
                    <ns2:lnTo>
                      <ns2:pt x="5000" y="9000"/>
                    </ns2:lnTo>
                    <ns2:lnTo>
                      <ns2:pt x="9000" y="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2147" cap="rnd">
                <ns4:solidFill>
                  <ns4:srgbClr val="68528D"/>
                </ns4:solidFill>
              </ns4:ln>
            </p:spPr>
          </p:sp>
        </p:grpSp>
        <p:sp>
          <p:nvSpPr>
            <p:cNvPr id="10296" name="Execution record"/>
            <p:cNvSpPr/>
            <p:nvPr/>
          </p:nvSpPr>
          <p:spPr>
            <ns1:xfrm xmlns:ns1="http://schemas.openxmlformats.org/drawingml/2006/main">
              <ns1:off x="8524875" y="4114800"/>
              <ns1:ext cx="2457450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950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Execution record</ns7:t>
              </ns7:r>
            </ns7:p>
          </p:txBody>
        </p:sp>
        <p:sp>
          <p:nvSpPr>
            <p:cNvPr id="10297" name="Trace, failures and resource cost"/>
            <p:cNvSpPr/>
            <p:nvPr/>
          </p:nvSpPr>
          <p:spPr>
            <ns1:xfrm xmlns:ns1="http://schemas.openxmlformats.org/drawingml/2006/main">
              <ns1:off x="7877175" y="4791075"/>
              <ns1:ext cx="3114675" cy="4476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Trace, failures and resource cost</ns7:t>
              </ns7:r>
            </ns7:p>
          </p:txBody>
        </p:sp>
        <p:sp>
          <p:nvSpPr>
            <p:cNvPr id="10298" name="flow"/>
            <p:cNvSpPr/>
            <p:nvPr/>
          </p:nvSpPr>
          <p:spPr>
            <ns1:xfrm xmlns:ns1="http://schemas.openxmlformats.org/drawingml/2006/main">
              <ns1:off x="5715000" y="3524250"/>
              <ns1:ext cx="9525" cy="285750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000" h="30000" fill="none">
                  <ns2:moveTo>
                    <ns2:pt x="0" y="0"/>
                  </ns2:moveTo>
                  <ns2:lnTo>
                    <ns2:pt x="0" y="3000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299" name="Separate measurements identify different failure causes"/>
            <p:cNvSpPr/>
            <p:nvPr/>
          </p:nvSpPr>
          <p:spPr>
            <ns1:xfrm xmlns:ns1="http://schemas.openxmlformats.org/drawingml/2006/main">
              <ns1:off x="1809750" y="5810250"/>
              <ns1:ext cx="781050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75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Separate measurements identify different failure causes</ns7:t>
              </ns7:r>
            </ns7:p>
          </p:txBody>
        </p: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2026-10-19T05:54:47.7050000Z</dcterms:created>
  <dcterms:modified xsi:type="dcterms:W3CDTF">2026-10-19T05:54:47.7050000Z</dcterms:modified>
</coreProperties>
</file>