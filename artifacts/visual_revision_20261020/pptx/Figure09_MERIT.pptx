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eae6cea2c47ee" /><Relationship Type="http://schemas.openxmlformats.org/officeDocument/2006/relationships/extended-properties" Target="/docProps/app.xml" Id="R75f1288dc0dd44b3" /><Relationship Type="http://schemas.openxmlformats.org/officeDocument/2006/relationships/officeDocument" Target="/ppt/presentation.xml" Id="Rbca4889eb693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b8e096fec4945"/>
  </p:sldMasterIdLst>
  <p:notesMasterIdLst>
    <p:notesMasterId xmlns:r="http://schemas.openxmlformats.org/officeDocument/2006/relationships" r:id="Rac95b4ffa86d4fc9"/>
  </p:notesMasterIdLst>
  <p:sldIdLst>
    <p:sldId xmlns:r="http://schemas.openxmlformats.org/officeDocument/2006/relationships" id="256" r:id="R3d63bb9418734535"/>
  </p:sldIdLst>
  <p:sldSz cx="11430000" cy="5429250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0ccec1b7394d8a" /><Relationship Type="http://schemas.openxmlformats.org/officeDocument/2006/relationships/slideMaster" Target="/ppt/slideMasters/slideMaster1.xml" Id="Rc90b8e096fec4945" /><Relationship Type="http://schemas.openxmlformats.org/officeDocument/2006/relationships/notesMaster" Target="/ppt/notesMasters/notesMaster1.xml" Id="Rac95b4ffa86d4fc9" /><Relationship Type="http://schemas.openxmlformats.org/officeDocument/2006/relationships/presProps" Target="/ppt/presProps.xml" Id="R4bf3fbf834c04805" /><Relationship Type="http://schemas.openxmlformats.org/officeDocument/2006/relationships/tableStyles" Target="/ppt/tableStyles.xml" Id="R8262f81ab10f4e83" /><Relationship Type="http://schemas.openxmlformats.org/officeDocument/2006/relationships/slide" Target="/ppt/slides/slide1.xml" Id="R3d63bb94187345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54a3ba696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4554ffd43f45dd" /><Relationship Type="http://schemas.openxmlformats.org/officeDocument/2006/relationships/notesMaster" Target="/ppt/notesMasters/notesMaster1.xml" Id="R089a467cc8a943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From General to Specific: A Survey of Time-Series Agent Systems, Section 3, checked against the compiled Overleaf PDF on 2026-10-18, https://www.overleaf.com/read/zkcdwvrmxtrf#1c4b51 .</a:t>
            </a:r>
          </a:p>
          <a:p xmlns:a="http://schemas.openxmlformats.org/drawingml/2006/main">
            <a:r>
              <a:t>Columns 3.1 to 3.3 follow the three intervention points and subsection titles of Section 3: the representation presented to the model, the temporal instructions used to train it, and the policy for operating an analytical workflow. They overlap and are not exclusive paper categories.</a:t>
            </a:r>
          </a:p>
          <a:p xmlns:a="http://schemas.openxmlformats.org/drawingml/2006/main">
            <a:r>
              <a:t>Training signal and Harness support rows paraphrase the comparative paragraphs of Sections 3.1 to 3.3. Evaluation criteria and tests follow the evaluation paragraph in Section 3.2.</a:t>
            </a:r>
          </a:p>
          <a:p xmlns:a="http://schemas.openxmlformats.org/drawingml/2006/main">
            <a:r>
              <a:t>Agentic RAG refers to Agentic Retrieval-Augmented Generation for Time Series Analysis and its differentiable prompt pools. Chow et al. refers to Towards Time-Series Reasoning with LLMs. The series encoder stands for the learned input layers of Section 3.1.</a:t>
            </a:r>
          </a:p>
          <a:p xmlns:a="http://schemas.openxmlformats.org/drawingml/2006/main">
            <a:r>
              <a:t>ChatAD appears under 3.3 because the manuscript discusses it there. The figure states its distinct signal, graded preferences on analytical responses, rather than presenting it as tool-action learning.</a:t>
            </a:r>
          </a:p>
          <a:p xmlns:a="http://schemas.openxmlformats.org/drawingml/2006/main">
            <a:r>
              <a:t>The nested Harness follows the paper overview: General Harness contains General Time-Series Harness, which contains Task-Specific Harness. One observation and action exchange serves all three intervention points.</a:t>
            </a:r>
          </a:p>
          <a:p xmlns:a="http://schemas.openxmlformats.org/drawingml/2006/main">
            <a:r>
              <a:t>Original-paper claims were not independently re-audited for this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66cfe7f1b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c8855e508457c" /><Relationship Type="http://schemas.openxmlformats.org/officeDocument/2006/relationships/slideLayout" Target="/ppt/slideLayouts/slideLayout1.xml" Id="R6eba90f0d8e3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ba90f0d8e3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8ced19794861" /><Relationship Type="http://schemas.openxmlformats.org/officeDocument/2006/relationships/notesSlide" Target="/ppt/notesSlides/notesSlide1.xml" Id="Rc97623e33cfb478b" /></Relationships>
</file>

<file path=ppt/slides/slide1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174" name="Figure09_MERIT — ungroup to edit modules"/>
          <p:cNvGrpSpPr/>
          <p:nvPr/>
        </p:nvGrpSpPr>
        <p:grpSpPr>
          <ns1:xfrm xmlns:ns1="http://schemas.openxmlformats.org/drawingml/2006/main">
            <ns1:off x="238125" y="523875"/>
            <ns1:ext cx="10906125" cy="4619625"/>
            <ns1:chOff x="238125" y="523875"/>
            <ns1:chExt cx="10906125" cy="4619625"/>
          </ns1:xfrm>
        </p:grpSpPr>
        <p:sp>
          <p:nvSpPr>
            <p:cNvPr id="10120" name="Retrieve examples"/>
            <p:cNvSpPr/>
            <p:nvPr/>
          </p:nvSpPr>
          <p:spPr>
            <ns1:xfrm xmlns:ns1="http://schemas.openxmlformats.org/drawingml/2006/main">
              <ns1:off x="238125" y="523875"/>
              <ns1:ext cx="3476625" cy="3190875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sp>
          <p:nvSpPr>
            <p:cNvPr id="10121" name="Retrieve examples"/>
            <p:cNvSpPr/>
            <p:nvPr/>
          </p:nvSpPr>
          <p:spPr>
            <ns1:xfrm xmlns:ns1="http://schemas.openxmlformats.org/drawingml/2006/main">
              <ns1:off x="333375" y="628650"/>
              <ns1:ext cx="3286125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Retrieve examples</ns7:t>
              </ns7:r>
            </ns7:p>
          </p:txBody>
        </p:sp>
        <p:sp>
          <p:nvSpPr>
            <p:cNvPr id="10122" name="Construct positive views"/>
            <p:cNvSpPr/>
            <p:nvPr/>
          </p:nvSpPr>
          <p:spPr>
            <ns1:xfrm xmlns:ns1="http://schemas.openxmlformats.org/drawingml/2006/main">
              <ns1:off x="3952875" y="523875"/>
              <ns1:ext cx="3476625" cy="3190875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sp>
          <p:nvSpPr>
            <p:cNvPr id="10123" name="Construct positive views"/>
            <p:cNvSpPr/>
            <p:nvPr/>
          </p:nvSpPr>
          <p:spPr>
            <ns1:xfrm xmlns:ns1="http://schemas.openxmlformats.org/drawingml/2006/main">
              <ns1:off x="4048125" y="628650"/>
              <ns1:ext cx="3286125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Construct positive views</ns7:t>
              </ns7:r>
            </ns7:p>
          </p:txBody>
        </p:sp>
        <p:sp>
          <p:nvSpPr>
            <p:cNvPr id="10124" name="Review and select"/>
            <p:cNvSpPr/>
            <p:nvPr/>
          </p:nvSpPr>
          <p:spPr>
            <ns1:xfrm xmlns:ns1="http://schemas.openxmlformats.org/drawingml/2006/main">
              <ns1:off x="7667625" y="523875"/>
              <ns1:ext cx="3476625" cy="3190875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sp>
          <p:nvSpPr>
            <p:cNvPr id="10125" name="Review and select"/>
            <p:cNvSpPr/>
            <p:nvPr/>
          </p:nvSpPr>
          <p:spPr>
            <ns1:xfrm xmlns:ns1="http://schemas.openxmlformats.org/drawingml/2006/main">
              <ns1:off x="7762875" y="628650"/>
              <ns1:ext cx="3286125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Review and select</ns7:t>
              </ns7:r>
            </ns7:p>
          </p:txBody>
        </p:sp>
        <p:grpSp>
          <p:nvGrpSpPr>
            <p:cNvPr id="10129" name="database editable icon"/>
            <p:cNvGrpSpPr/>
            <p:nvPr/>
          </p:nvGrpSpPr>
          <p:grpSpPr>
            <ns1:xfrm xmlns:ns1="http://schemas.openxmlformats.org/drawingml/2006/main">
              <ns1:off x="523875" y="1381125"/>
              <ns1:ext cx="619125" cy="619125"/>
              <ns1:chOff x="523875" y="1381125"/>
              <ns1:chExt cx="619125" cy="619125"/>
            </ns1:xfrm>
          </p:grpSpPr>
          <p:sp>
            <p:nvSpPr>
              <p:cNvPr id="10126" name="database-0"/>
              <p:cNvSpPr/>
              <p:nvPr/>
            </p:nvSpPr>
            <p:spPr>
              <ns1:xfrm xmlns:ns1="http://schemas.openxmlformats.org/drawingml/2006/main">
                <ns1:off x="601266" y="1432719"/>
                <ns1:ext cx="464344" cy="154781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38695" cap="rnd">
                <ns5:solidFill>
                  <ns5:srgbClr val="3376A0"/>
                </ns5:solidFill>
              </ns5:ln>
            </p:spPr>
          </p:sp>
          <p:sp>
            <p:nvSpPr>
              <p:cNvPr id="10127" name="database-1"/>
              <p:cNvSpPr/>
              <p:nvPr/>
            </p:nvSpPr>
            <p:spPr>
              <ns1:xfrm xmlns:ns1="http://schemas.openxmlformats.org/drawingml/2006/main">
                <ns1:off x="523875" y="13811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5000"/>
                    </ns2:moveTo>
                    <ns2:lnTo>
                      <ns2:pt x="3000" y="19000"/>
                    </ns2:lnTo>
                    <ns2:cubicBezTo>
                      <ns2:pt x="3000" y="20657"/>
                      <ns2:pt x="7029" y="22000"/>
                      <ns2:pt x="12000" y="22000"/>
                    </ns2:cubicBezTo>
                    <ns2:cubicBezTo>
                      <ns2:pt x="16971" y="22000"/>
                      <ns2:pt x="21000" y="20657"/>
                      <ns2:pt x="21000" y="19000"/>
                    </ns2:cubicBezTo>
                    <ns2:lnTo>
                      <ns2:pt x="21000" y="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376A0"/>
                </ns4:solidFill>
              </ns4:ln>
            </p:spPr>
          </p:sp>
          <p:sp>
            <p:nvSpPr>
              <p:cNvPr id="10128" name="database-2"/>
              <p:cNvSpPr/>
              <p:nvPr/>
            </p:nvSpPr>
            <p:spPr>
              <ns1:xfrm xmlns:ns1="http://schemas.openxmlformats.org/drawingml/2006/main">
                <ns1:off x="523875" y="13811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12000"/>
                    </ns2:moveTo>
                    <ns2:cubicBezTo>
                      <ns2:pt x="3000" y="13657"/>
                      <ns2:pt x="7029" y="15000"/>
                      <ns2:pt x="12000" y="15000"/>
                    </ns2:cubicBezTo>
                    <ns2:cubicBezTo>
                      <ns2:pt x="16971" y="15000"/>
                      <ns2:pt x="21000" y="13657"/>
                      <ns2:pt x="21000" y="12000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376A0"/>
                </ns4:solidFill>
              </ns4:ln>
            </p:spPr>
          </p:sp>
        </p:grpSp>
        <p:sp>
          <p:nvSpPr>
            <p:cNvPr id="10130" name="temporal signal"/>
            <p:cNvSpPr/>
            <p:nvPr/>
          </p:nvSpPr>
          <p:spPr>
            <ns1:xfrm xmlns:ns1="http://schemas.openxmlformats.org/drawingml/2006/main">
              <ns1:off x="1333500" y="1364591"/>
              <ns1:ext cx="1714500" cy="254596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80000" h="26729" fill="none">
                  <ns2:moveTo>
                    <ns2:pt x="0" y="18736"/>
                  </ns2:moveTo>
                  <ns2:lnTo>
                    <ns2:pt x="15000" y="26729"/>
                  </ns2:lnTo>
                  <ns2:lnTo>
                    <ns2:pt x="30000" y="6468"/>
                  </ns2:lnTo>
                  <ns2:lnTo>
                    <ns2:pt x="45000" y="19463"/>
                  </ns2:lnTo>
                  <ns2:lnTo>
                    <ns2:pt x="60000" y="21570"/>
                  </ns2:lnTo>
                  <ns2:lnTo>
                    <ns2:pt x="75000" y="3236"/>
                  </ns2:lnTo>
                  <ns2:lnTo>
                    <ns2:pt x="90000" y="19849"/>
                  </ns2:lnTo>
                  <ns2:lnTo>
                    <ns2:pt x="105000" y="15770"/>
                  </ns2:lnTo>
                  <ns2:lnTo>
                    <ns2:pt x="120000" y="1099"/>
                  </ns2:lnTo>
                  <ns2:lnTo>
                    <ns2:pt x="135000" y="19586"/>
                  </ns2:lnTo>
                  <ns2:lnTo>
                    <ns2:pt x="150000" y="9638"/>
                  </ns2:lnTo>
                  <ns2:lnTo>
                    <ns2:pt x="165000" y="0"/>
                  </ns2:lnTo>
                  <ns2:lnTo>
                    <ns2:pt x="180000" y="18433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3376A0"/>
              </ns4:solidFill>
            </ns4:ln>
          </p:spPr>
        </p:sp>
        <p:sp>
          <p:nvSpPr>
            <p:cNvPr id="10131" name="temporal signal"/>
            <p:cNvSpPr/>
            <p:nvPr/>
          </p:nvSpPr>
          <p:spPr>
            <ns1:xfrm xmlns:ns1="http://schemas.openxmlformats.org/drawingml/2006/main">
              <ns1:off x="1333500" y="1926566"/>
              <ns1:ext cx="1714500" cy="254596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80000" h="26729" fill="none">
                  <ns2:moveTo>
                    <ns2:pt x="0" y="18736"/>
                  </ns2:moveTo>
                  <ns2:lnTo>
                    <ns2:pt x="15000" y="26729"/>
                  </ns2:lnTo>
                  <ns2:lnTo>
                    <ns2:pt x="30000" y="6468"/>
                  </ns2:lnTo>
                  <ns2:lnTo>
                    <ns2:pt x="45000" y="19463"/>
                  </ns2:lnTo>
                  <ns2:lnTo>
                    <ns2:pt x="60000" y="21570"/>
                  </ns2:lnTo>
                  <ns2:lnTo>
                    <ns2:pt x="75000" y="3236"/>
                  </ns2:lnTo>
                  <ns2:lnTo>
                    <ns2:pt x="90000" y="19849"/>
                  </ns2:lnTo>
                  <ns2:lnTo>
                    <ns2:pt x="105000" y="15770"/>
                  </ns2:lnTo>
                  <ns2:lnTo>
                    <ns2:pt x="120000" y="1099"/>
                  </ns2:lnTo>
                  <ns2:lnTo>
                    <ns2:pt x="135000" y="19586"/>
                  </ns2:lnTo>
                  <ns2:lnTo>
                    <ns2:pt x="150000" y="9638"/>
                  </ns2:lnTo>
                  <ns2:lnTo>
                    <ns2:pt x="165000" y="0"/>
                  </ns2:lnTo>
                  <ns2:lnTo>
                    <ns2:pt x="180000" y="18433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3376A0"/>
              </ns4:solidFill>
            </ns4:ln>
          </p:spPr>
        </p:sp>
        <p:sp>
          <p:nvSpPr>
            <p:cNvPr id="10132" name="temporal signal"/>
            <p:cNvSpPr/>
            <p:nvPr/>
          </p:nvSpPr>
          <p:spPr>
            <ns1:xfrm xmlns:ns1="http://schemas.openxmlformats.org/drawingml/2006/main">
              <ns1:off x="1333500" y="2488541"/>
              <ns1:ext cx="1714500" cy="254596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80000" h="26729" fill="none">
                  <ns2:moveTo>
                    <ns2:pt x="0" y="18736"/>
                  </ns2:moveTo>
                  <ns2:lnTo>
                    <ns2:pt x="15000" y="26729"/>
                  </ns2:lnTo>
                  <ns2:lnTo>
                    <ns2:pt x="30000" y="6468"/>
                  </ns2:lnTo>
                  <ns2:lnTo>
                    <ns2:pt x="45000" y="19463"/>
                  </ns2:lnTo>
                  <ns2:lnTo>
                    <ns2:pt x="60000" y="21570"/>
                  </ns2:lnTo>
                  <ns2:lnTo>
                    <ns2:pt x="75000" y="3236"/>
                  </ns2:lnTo>
                  <ns2:lnTo>
                    <ns2:pt x="90000" y="19849"/>
                  </ns2:lnTo>
                  <ns2:lnTo>
                    <ns2:pt x="105000" y="15770"/>
                  </ns2:lnTo>
                  <ns2:lnTo>
                    <ns2:pt x="120000" y="1099"/>
                  </ns2:lnTo>
                  <ns2:lnTo>
                    <ns2:pt x="135000" y="19586"/>
                  </ns2:lnTo>
                  <ns2:lnTo>
                    <ns2:pt x="150000" y="9638"/>
                  </ns2:lnTo>
                  <ns2:lnTo>
                    <ns2:pt x="165000" y="0"/>
                  </ns2:lnTo>
                  <ns2:lnTo>
                    <ns2:pt x="180000" y="18433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3376A0"/>
              </ns4:solidFill>
            </ns4:ln>
          </p:spPr>
        </p:sp>
        <p:grpSp>
          <p:nvGrpSpPr>
            <p:cNvPr id="10136" name="search-check editable icon"/>
            <p:cNvGrpSpPr/>
            <p:nvPr/>
          </p:nvGrpSpPr>
          <p:grpSpPr>
            <ns1:xfrm xmlns:ns1="http://schemas.openxmlformats.org/drawingml/2006/main">
              <ns1:off x="2809875" y="2809875"/>
              <ns1:ext cx="400050" cy="400050"/>
              <ns1:chOff x="2809875" y="2809875"/>
              <ns1:chExt cx="400050" cy="400050"/>
            </ns1:xfrm>
          </p:grpSpPr>
          <p:sp>
            <p:nvSpPr>
              <p:cNvPr id="10133" name="search-check-0"/>
              <p:cNvSpPr/>
              <p:nvPr/>
            </p:nvSpPr>
            <p:spPr>
              <ns1:xfrm xmlns:ns1="http://schemas.openxmlformats.org/drawingml/2006/main">
                <ns1:off x="2809875" y="2809875"/>
                <ns1:ext cx="400050" cy="4000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1000"/>
                    </ns2:moveTo>
                    <ns2:lnTo>
                      <ns2:pt x="10000" y="13000"/>
                    </ns2:lnTo>
                    <ns2:lnTo>
                      <ns2:pt x="14000" y="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5003" cap="rnd">
                <ns4:solidFill>
                  <ns4:srgbClr val="39846C"/>
                </ns4:solidFill>
              </ns4:ln>
            </p:spPr>
          </p:sp>
          <p:sp>
            <p:nvSpPr>
              <p:cNvPr id="10134" name="search-check-1"/>
              <p:cNvSpPr/>
              <p:nvPr/>
            </p:nvSpPr>
            <p:spPr>
              <ns1:xfrm xmlns:ns1="http://schemas.openxmlformats.org/drawingml/2006/main">
                <ns1:off x="2859881" y="2859881"/>
                <ns1:ext cx="266700" cy="2667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25003" cap="rnd">
                <ns5:solidFill>
                  <ns5:srgbClr val="39846C"/>
                </ns5:solidFill>
              </ns5:ln>
            </p:spPr>
          </p:sp>
          <p:sp>
            <p:nvSpPr>
              <p:cNvPr id="10135" name="search-check-2"/>
              <p:cNvSpPr/>
              <p:nvPr/>
            </p:nvSpPr>
            <p:spPr>
              <ns1:xfrm xmlns:ns1="http://schemas.openxmlformats.org/drawingml/2006/main">
                <ns1:off x="2809875" y="2809875"/>
                <ns1:ext cx="400050" cy="4000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21000"/>
                    </ns2:moveTo>
                    <ns2:lnTo>
                      <ns2:pt x="16700" y="167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5003" cap="rnd">
                <ns4:solidFill>
                  <ns4:srgbClr val="39846C"/>
                </ns4:solidFill>
              </ns4:ln>
            </p:spPr>
          </p:sp>
        </p:grpSp>
        <p:grpSp>
          <p:nvGrpSpPr>
            <p:cNvPr id="10146" name="sliders-horizontal editable icon"/>
            <p:cNvGrpSpPr/>
            <p:nvPr/>
          </p:nvGrpSpPr>
          <p:grpSpPr>
            <ns1:xfrm xmlns:ns1="http://schemas.openxmlformats.org/drawingml/2006/main">
              <ns1:off x="4238625" y="1400175"/>
              <ns1:ext cx="619125" cy="619125"/>
              <ns1:chOff x="4238625" y="1400175"/>
              <ns1:chExt cx="619125" cy="619125"/>
            </ns1:xfrm>
          </p:grpSpPr>
          <p:sp>
            <p:nvSpPr>
              <p:cNvPr id="10137" name="sliders-horizontal-0"/>
              <p:cNvSpPr/>
              <p:nvPr/>
            </p:nvSpPr>
            <p:spPr>
              <ns1:xfrm xmlns:ns1="http://schemas.openxmlformats.org/drawingml/2006/main">
                <ns1:off x="4238625" y="140017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0000" y="5000"/>
                    </ns2:moveTo>
                    <ns2:lnTo>
                      <ns2:pt x="3000" y="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68528D"/>
                </ns4:solidFill>
              </ns4:ln>
            </p:spPr>
          </p:sp>
          <p:sp>
            <p:nvSpPr>
              <p:cNvPr id="10138" name="sliders-horizontal-1"/>
              <p:cNvSpPr/>
              <p:nvPr/>
            </p:nvSpPr>
            <p:spPr>
              <ns1:xfrm xmlns:ns1="http://schemas.openxmlformats.org/drawingml/2006/main">
                <ns1:off x="4238625" y="140017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19000"/>
                    </ns2:moveTo>
                    <ns2:lnTo>
                      <ns2:pt x="3000" y="1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68528D"/>
                </ns4:solidFill>
              </ns4:ln>
            </p:spPr>
          </p:sp>
          <p:sp>
            <p:nvSpPr>
              <p:cNvPr id="10139" name="sliders-horizontal-2"/>
              <p:cNvSpPr/>
              <p:nvPr/>
            </p:nvSpPr>
            <p:spPr>
              <ns1:xfrm xmlns:ns1="http://schemas.openxmlformats.org/drawingml/2006/main">
                <ns1:off x="4238625" y="140017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4000" y="3000"/>
                    </ns2:moveTo>
                    <ns2:lnTo>
                      <ns2:pt x="14000" y="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68528D"/>
                </ns4:solidFill>
              </ns4:ln>
            </p:spPr>
          </p:sp>
          <p:sp>
            <p:nvSpPr>
              <p:cNvPr id="10140" name="sliders-horizontal-3"/>
              <p:cNvSpPr/>
              <p:nvPr/>
            </p:nvSpPr>
            <p:spPr>
              <ns1:xfrm xmlns:ns1="http://schemas.openxmlformats.org/drawingml/2006/main">
                <ns1:off x="4238625" y="140017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7000"/>
                    </ns2:moveTo>
                    <ns2:lnTo>
                      <ns2:pt x="16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68528D"/>
                </ns4:solidFill>
              </ns4:ln>
            </p:spPr>
          </p:sp>
          <p:sp>
            <p:nvSpPr>
              <p:cNvPr id="10141" name="sliders-horizontal-4"/>
              <p:cNvSpPr/>
              <p:nvPr/>
            </p:nvSpPr>
            <p:spPr>
              <ns1:xfrm xmlns:ns1="http://schemas.openxmlformats.org/drawingml/2006/main">
                <ns1:off x="4238625" y="140017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12000"/>
                    </ns2:moveTo>
                    <ns2:lnTo>
                      <ns2:pt x="12000" y="1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68528D"/>
                </ns4:solidFill>
              </ns4:ln>
            </p:spPr>
          </p:sp>
          <p:sp>
            <p:nvSpPr>
              <p:cNvPr id="10142" name="sliders-horizontal-5"/>
              <p:cNvSpPr/>
              <p:nvPr/>
            </p:nvSpPr>
            <p:spPr>
              <ns1:xfrm xmlns:ns1="http://schemas.openxmlformats.org/drawingml/2006/main">
                <ns1:off x="4238625" y="140017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19000"/>
                    </ns2:moveTo>
                    <ns2:lnTo>
                      <ns2:pt x="16000" y="1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68528D"/>
                </ns4:solidFill>
              </ns4:ln>
            </p:spPr>
          </p:sp>
          <p:sp>
            <p:nvSpPr>
              <p:cNvPr id="10143" name="sliders-horizontal-6"/>
              <p:cNvSpPr/>
              <p:nvPr/>
            </p:nvSpPr>
            <p:spPr>
              <ns1:xfrm xmlns:ns1="http://schemas.openxmlformats.org/drawingml/2006/main">
                <ns1:off x="4238625" y="140017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5000"/>
                    </ns2:moveTo>
                    <ns2:lnTo>
                      <ns2:pt x="14000" y="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68528D"/>
                </ns4:solidFill>
              </ns4:ln>
            </p:spPr>
          </p:sp>
          <p:sp>
            <p:nvSpPr>
              <p:cNvPr id="10144" name="sliders-horizontal-7"/>
              <p:cNvSpPr/>
              <p:nvPr/>
            </p:nvSpPr>
            <p:spPr>
              <ns1:xfrm xmlns:ns1="http://schemas.openxmlformats.org/drawingml/2006/main">
                <ns1:off x="4238625" y="140017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0000"/>
                    </ns2:moveTo>
                    <ns2:lnTo>
                      <ns2:pt x="8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68528D"/>
                </ns4:solidFill>
              </ns4:ln>
            </p:spPr>
          </p:sp>
          <p:sp>
            <p:nvSpPr>
              <p:cNvPr id="10145" name="sliders-horizontal-8"/>
              <p:cNvSpPr/>
              <p:nvPr/>
            </p:nvSpPr>
            <p:spPr>
              <ns1:xfrm xmlns:ns1="http://schemas.openxmlformats.org/drawingml/2006/main">
                <ns1:off x="4238625" y="140017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2000"/>
                    </ns2:moveTo>
                    <ns2:lnTo>
                      <ns2:pt x="3000" y="1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68528D"/>
                </ns4:solidFill>
              </ns4:ln>
            </p:spPr>
          </p:sp>
        </p:grpSp>
        <p:sp>
          <p:nvSpPr>
            <p:cNvPr id="10147" name="temporal signal"/>
            <p:cNvSpPr/>
            <p:nvPr/>
          </p:nvSpPr>
          <p:spPr>
            <ns1:xfrm xmlns:ns1="http://schemas.openxmlformats.org/drawingml/2006/main">
              <ns1:off x="5219700" y="1351508"/>
              <ns1:ext cx="1714500" cy="280056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80000" h="29402" fill="none">
                  <ns2:moveTo>
                    <ns2:pt x="0" y="20609"/>
                  </ns2:moveTo>
                  <ns2:lnTo>
                    <ns2:pt x="15000" y="29402"/>
                  </ns2:lnTo>
                  <ns2:lnTo>
                    <ns2:pt x="30000" y="7115"/>
                  </ns2:lnTo>
                  <ns2:lnTo>
                    <ns2:pt x="45000" y="21409"/>
                  </ns2:lnTo>
                  <ns2:lnTo>
                    <ns2:pt x="60000" y="23727"/>
                  </ns2:lnTo>
                  <ns2:lnTo>
                    <ns2:pt x="75000" y="3560"/>
                  </ns2:lnTo>
                  <ns2:lnTo>
                    <ns2:pt x="90000" y="21833"/>
                  </ns2:lnTo>
                  <ns2:lnTo>
                    <ns2:pt x="105000" y="17347"/>
                  </ns2:lnTo>
                  <ns2:lnTo>
                    <ns2:pt x="120000" y="1208"/>
                  </ns2:lnTo>
                  <ns2:lnTo>
                    <ns2:pt x="135000" y="21545"/>
                  </ns2:lnTo>
                  <ns2:lnTo>
                    <ns2:pt x="150000" y="10602"/>
                  </ns2:lnTo>
                  <ns2:lnTo>
                    <ns2:pt x="165000" y="0"/>
                  </ns2:lnTo>
                  <ns2:lnTo>
                    <ns2:pt x="180000" y="20276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39846C"/>
              </ns4:solidFill>
            </ns4:ln>
          </p:spPr>
        </p:sp>
        <p:sp>
          <p:nvSpPr>
            <p:cNvPr id="10148" name="transformed positive view"/>
            <p:cNvSpPr/>
            <p:nvPr/>
          </p:nvSpPr>
          <p:spPr>
            <ns1:xfrm xmlns:ns1="http://schemas.openxmlformats.org/drawingml/2006/main">
              <ns1:off x="5219700" y="2085975"/>
              <ns1:ext cx="1714500" cy="32385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80000" h="34000" fill="none">
                  <ns2:moveTo>
                    <ns2:pt x="0" y="23000"/>
                  </ns2:moveTo>
                  <ns2:lnTo>
                    <ns2:pt x="17000" y="14000"/>
                  </ns2:lnTo>
                  <ns2:lnTo>
                    <ns2:pt x="37000" y="34000"/>
                  </ns2:lnTo>
                  <ns2:lnTo>
                    <ns2:pt x="62000" y="19000"/>
                  </ns2:lnTo>
                  <ns2:lnTo>
                    <ns2:pt x="77000" y="3000"/>
                  </ns2:lnTo>
                  <ns2:lnTo>
                    <ns2:pt x="99000" y="21000"/>
                  </ns2:lnTo>
                  <ns2:lnTo>
                    <ns2:pt x="126000" y="14000"/>
                  </ns2:lnTo>
                  <ns2:lnTo>
                    <ns2:pt x="150000" y="26000"/>
                  </ns2:lnTo>
                  <ns2:lnTo>
                    <ns2:pt x="18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3376A0"/>
              </ns4:solidFill>
            </ns4:ln>
          </p:spPr>
        </p:sp>
        <p:sp>
          <p:nvSpPr>
            <p:cNvPr id="10149" name="Transformation choices"/>
            <p:cNvSpPr/>
            <p:nvPr/>
          </p:nvSpPr>
          <p:spPr>
            <ns1:xfrm xmlns:ns1="http://schemas.openxmlformats.org/drawingml/2006/main">
              <ns1:off x="4124325" y="3000375"/>
              <ns1:ext cx="3143250" cy="35242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0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Transformation choices</ns7:t>
              </ns7:r>
            </ns7:p>
          </p:txBody>
        </p:sp>
        <p:grpSp>
          <p:nvGrpSpPr>
            <p:cNvPr id="10156" name="scan-search editable icon"/>
            <p:cNvGrpSpPr/>
            <p:nvPr/>
          </p:nvGrpSpPr>
          <p:grpSpPr>
            <ns1:xfrm xmlns:ns1="http://schemas.openxmlformats.org/drawingml/2006/main">
              <ns1:off x="8001000" y="1381125"/>
              <ns1:ext cx="619125" cy="619125"/>
              <ns1:chOff x="8001000" y="1381125"/>
              <ns1:chExt cx="619125" cy="619125"/>
            </ns1:xfrm>
          </p:grpSpPr>
          <p:sp>
            <p:nvSpPr>
              <p:cNvPr id="10150" name="scan-search-0"/>
              <p:cNvSpPr/>
              <p:nvPr/>
            </p:nvSpPr>
            <p:spPr>
              <ns1:xfrm xmlns:ns1="http://schemas.openxmlformats.org/drawingml/2006/main">
                <ns1:off x="8001000" y="13811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7000"/>
                    </ns2:moveTo>
                    <ns2:lnTo>
                      <ns2:pt x="3000" y="5000"/>
                    </ns2:lnTo>
                    <ns2:cubicBezTo>
                      <ns2:pt x="3000" y="3895"/>
                      <ns2:pt x="3895" y="3000"/>
                      <ns2:pt x="5000" y="3000"/>
                    </ns2:cubicBezTo>
                    <ns2:lnTo>
                      <ns2:pt x="7000" y="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B47A31"/>
                </ns4:solidFill>
              </ns4:ln>
            </p:spPr>
          </p:sp>
          <p:sp>
            <p:nvSpPr>
              <p:cNvPr id="10151" name="scan-search-1"/>
              <p:cNvSpPr/>
              <p:nvPr/>
            </p:nvSpPr>
            <p:spPr>
              <ns1:xfrm xmlns:ns1="http://schemas.openxmlformats.org/drawingml/2006/main">
                <ns1:off x="8001000" y="13811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7000" y="3000"/>
                    </ns2:moveTo>
                    <ns2:lnTo>
                      <ns2:pt x="19000" y="3000"/>
                    </ns2:lnTo>
                    <ns2:cubicBezTo>
                      <ns2:pt x="20105" y="3000"/>
                      <ns2:pt x="21000" y="3895"/>
                      <ns2:pt x="21000" y="5000"/>
                    </ns2:cubicBezTo>
                    <ns2:lnTo>
                      <ns2:pt x="21000" y="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B47A31"/>
                </ns4:solidFill>
              </ns4:ln>
            </p:spPr>
          </p:sp>
          <p:sp>
            <p:nvSpPr>
              <p:cNvPr id="10152" name="scan-search-2"/>
              <p:cNvSpPr/>
              <p:nvPr/>
            </p:nvSpPr>
            <p:spPr>
              <ns1:xfrm xmlns:ns1="http://schemas.openxmlformats.org/drawingml/2006/main">
                <ns1:off x="8001000" y="13811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17000"/>
                    </ns2:moveTo>
                    <ns2:lnTo>
                      <ns2:pt x="21000" y="19000"/>
                    </ns2:lnTo>
                    <ns2:cubicBezTo>
                      <ns2:pt x="21000" y="20105"/>
                      <ns2:pt x="20105" y="21000"/>
                      <ns2:pt x="19000" y="21000"/>
                    </ns2:cubicBezTo>
                    <ns2:lnTo>
                      <ns2:pt x="17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B47A31"/>
                </ns4:solidFill>
              </ns4:ln>
            </p:spPr>
          </p:sp>
          <p:sp>
            <p:nvSpPr>
              <p:cNvPr id="10153" name="scan-search-3"/>
              <p:cNvSpPr/>
              <p:nvPr/>
            </p:nvSpPr>
            <p:spPr>
              <ns1:xfrm xmlns:ns1="http://schemas.openxmlformats.org/drawingml/2006/main">
                <ns1:off x="8001000" y="13811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7000" y="21000"/>
                    </ns2:moveTo>
                    <ns2:lnTo>
                      <ns2:pt x="5000" y="21000"/>
                    </ns2:lnTo>
                    <ns2:cubicBezTo>
                      <ns2:pt x="3895" y="21000"/>
                      <ns2:pt x="3000" y="20105"/>
                      <ns2:pt x="3000" y="19000"/>
                    </ns2:cubicBezTo>
                    <ns2:lnTo>
                      <ns2:pt x="300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B47A31"/>
                </ns4:solidFill>
              </ns4:ln>
            </p:spPr>
          </p:sp>
          <p:sp>
            <p:nvSpPr>
              <p:cNvPr id="10154" name="scan-search-4"/>
              <p:cNvSpPr/>
              <p:nvPr/>
            </p:nvSpPr>
            <p:spPr>
              <ns1:xfrm xmlns:ns1="http://schemas.openxmlformats.org/drawingml/2006/main">
                <ns1:off x="8233172" y="1613297"/>
                <ns1:ext cx="154781" cy="154781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38695" cap="rnd">
                <ns5:solidFill>
                  <ns5:srgbClr val="B47A31"/>
                </ns5:solidFill>
              </ns5:ln>
            </p:spPr>
          </p:sp>
          <p:sp>
            <p:nvSpPr>
              <p:cNvPr id="10155" name="scan-search-5"/>
              <p:cNvSpPr/>
              <p:nvPr/>
            </p:nvSpPr>
            <p:spPr>
              <ns1:xfrm xmlns:ns1="http://schemas.openxmlformats.org/drawingml/2006/main">
                <ns1:off x="8001000" y="13811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6000"/>
                    </ns2:moveTo>
                    <ns2:lnTo>
                      <ns2:pt x="14100" y="141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B47A31"/>
                </ns4:solidFill>
              </ns4:ln>
            </p:spPr>
          </p:sp>
        </p:grpSp>
        <p:sp>
          <p:nvSpPr>
            <p:cNvPr id="10157" name="temporal signal"/>
            <p:cNvSpPr/>
            <p:nvPr/>
          </p:nvSpPr>
          <p:spPr>
            <ns1:xfrm xmlns:ns1="http://schemas.openxmlformats.org/drawingml/2006/main">
              <ns1:off x="8858250" y="1399133"/>
              <ns1:ext cx="1714500" cy="280056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80000" h="29402" fill="none">
                  <ns2:moveTo>
                    <ns2:pt x="0" y="20609"/>
                  </ns2:moveTo>
                  <ns2:lnTo>
                    <ns2:pt x="15000" y="29402"/>
                  </ns2:lnTo>
                  <ns2:lnTo>
                    <ns2:pt x="30000" y="7115"/>
                  </ns2:lnTo>
                  <ns2:lnTo>
                    <ns2:pt x="45000" y="21409"/>
                  </ns2:lnTo>
                  <ns2:lnTo>
                    <ns2:pt x="60000" y="23727"/>
                  </ns2:lnTo>
                  <ns2:lnTo>
                    <ns2:pt x="75000" y="3560"/>
                  </ns2:lnTo>
                  <ns2:lnTo>
                    <ns2:pt x="90000" y="21833"/>
                  </ns2:lnTo>
                  <ns2:lnTo>
                    <ns2:pt x="105000" y="17347"/>
                  </ns2:lnTo>
                  <ns2:lnTo>
                    <ns2:pt x="120000" y="1208"/>
                  </ns2:lnTo>
                  <ns2:lnTo>
                    <ns2:pt x="135000" y="21545"/>
                  </ns2:lnTo>
                  <ns2:lnTo>
                    <ns2:pt x="150000" y="10602"/>
                  </ns2:lnTo>
                  <ns2:lnTo>
                    <ns2:pt x="165000" y="0"/>
                  </ns2:lnTo>
                  <ns2:lnTo>
                    <ns2:pt x="180000" y="20276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39846C"/>
              </ns4:solidFill>
            </ns4:ln>
          </p:spPr>
        </p:sp>
        <p:grpSp>
          <p:nvGrpSpPr>
            <p:cNvPr id="10160" name="circle-check editable icon"/>
            <p:cNvGrpSpPr/>
            <p:nvPr/>
          </p:nvGrpSpPr>
          <p:grpSpPr>
            <ns1:xfrm xmlns:ns1="http://schemas.openxmlformats.org/drawingml/2006/main">
              <ns1:off x="10325100" y="1962150"/>
              <ns1:ext cx="381000" cy="381000"/>
              <ns1:chOff x="10325100" y="1962150"/>
              <ns1:chExt cx="381000" cy="381000"/>
            </ns1:xfrm>
          </p:grpSpPr>
          <p:sp>
            <p:nvSpPr>
              <p:cNvPr id="10158" name="circle-check-0"/>
              <p:cNvSpPr/>
              <p:nvPr/>
            </p:nvSpPr>
            <p:spPr>
              <ns1:xfrm xmlns:ns1="http://schemas.openxmlformats.org/drawingml/2006/main">
                <ns1:off x="10356850" y="1993900"/>
                <ns1:ext cx="317500" cy="3175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23812" cap="rnd">
                <ns5:solidFill>
                  <ns5:srgbClr val="39846C"/>
                </ns5:solidFill>
              </ns5:ln>
            </p:spPr>
          </p:sp>
          <p:sp>
            <p:nvSpPr>
              <p:cNvPr id="10159" name="circle-check-1"/>
              <p:cNvSpPr/>
              <p:nvPr/>
            </p:nvSpPr>
            <p:spPr>
              <ns1:xfrm xmlns:ns1="http://schemas.openxmlformats.org/drawingml/2006/main">
                <ns1:off x="10325100" y="1962150"/>
                <ns1:ext cx="381000" cy="3810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9000"/>
                    </ns2:moveTo>
                    <ns2:lnTo>
                      <ns2:pt x="10500" y="14500"/>
                    </ns2:lnTo>
                    <ns2:lnTo>
                      <ns2:pt x="8000" y="1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39846C"/>
                </ns4:solidFill>
              </ns4:ln>
            </p:spPr>
          </p:sp>
        </p:grpSp>
        <p:sp>
          <p:nvSpPr>
            <p:cNvPr id="10161" name="Semantic quality"/>
            <p:cNvSpPr/>
            <p:nvPr/>
          </p:nvSpPr>
          <p:spPr>
            <ns1:xfrm xmlns:ns1="http://schemas.openxmlformats.org/drawingml/2006/main">
              <ns1:off x="7877175" y="2762250"/>
              <ns1:ext cx="304800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B47A31"/>
                  </ns7:solidFill>
                  <ns7:latin typeface="Times New Roman"/>
                  <ns7:ea typeface="Times New Roman"/>
                </ns7:rPr>
                <ns7:t>Semantic quality</ns7:t>
              </ns7:r>
            </ns7:p>
          </p:txBody>
        </p:sp>
        <p:sp>
          <p:nvSpPr>
            <p:cNvPr id="10162" name="of generated views"/>
            <p:cNvSpPr/>
            <p:nvPr/>
          </p:nvSpPr>
          <p:spPr>
            <ns1:xfrm xmlns:ns1="http://schemas.openxmlformats.org/drawingml/2006/main">
              <ns1:off x="7877175" y="3086100"/>
              <ns1:ext cx="3048000" cy="3048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of generated views</ns7:t>
              </ns7:r>
            </ns7:p>
          </p:txBody>
        </p:sp>
        <p:sp>
          <p:nvSpPr>
            <p:cNvPr id="10163" name="flow"/>
            <p:cNvSpPr/>
            <p:nvPr/>
          </p:nvSpPr>
          <p:spPr>
            <ns1:xfrm xmlns:ns1="http://schemas.openxmlformats.org/drawingml/2006/main">
              <ns1:off x="3714750" y="2095500"/>
              <ns1:ext cx="238125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5000" h="1000" fill="none">
                  <ns2:moveTo>
                    <ns2:pt x="0" y="0"/>
                  </ns2:moveTo>
                  <ns2:lnTo>
                    <ns2:pt x="25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164" name="flow"/>
            <p:cNvSpPr/>
            <p:nvPr/>
          </p:nvSpPr>
          <p:spPr>
            <ns1:xfrm xmlns:ns1="http://schemas.openxmlformats.org/drawingml/2006/main">
              <ns1:off x="7429500" y="2095500"/>
              <ns1:ext cx="238125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5000" h="1000" fill="none">
                  <ns2:moveTo>
                    <ns2:pt x="0" y="0"/>
                  </ns2:moveTo>
                  <ns2:lnTo>
                    <ns2:pt x="25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165" name="revision loop"/>
            <p:cNvSpPr/>
            <p:nvPr/>
          </p:nvSpPr>
          <p:spPr>
            <ns1:xfrm xmlns:ns1="http://schemas.openxmlformats.org/drawingml/2006/main">
              <ns1:off x="5524500" y="3810000"/>
              <ns1:ext cx="3905250" cy="47625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410000" h="50000" fill="none">
                  <ns2:moveTo>
                    <ns2:pt x="410000" y="0"/>
                  </ns2:moveTo>
                  <ns2:lnTo>
                    <ns2:pt x="410000" y="50000"/>
                  </ns2:lnTo>
                  <ns2:lnTo>
                    <ns2:pt x="0" y="50000"/>
                  </ns2:lnTo>
                  <ns2:lnTo>
                    <ns2:pt x="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1908" cap="rnd">
              <ns4:solidFill>
                <ns4:srgbClr val="39846C"/>
              </ns4:solidFill>
              <ns4:tailEnd type="triangle"/>
            </ns4:ln>
          </p:spPr>
        </p:sp>
        <p:sp>
          <p:nvSpPr>
            <p:cNvPr id="10166" name="Revise generation"/>
            <p:cNvSpPr/>
            <p:nvPr/>
          </p:nvSpPr>
          <p:spPr>
            <ns1:xfrm xmlns:ns1="http://schemas.openxmlformats.org/drawingml/2006/main">
              <ns1:off x="6096000" y="4381500"/>
              <ns1:ext cx="285750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Revise generation</ns7:t>
              </ns7:r>
            </ns7:p>
          </p:txBody>
        </p:sp>
        <p:grpSp>
          <p:nvGrpSpPr>
            <p:cNvPr id="10170" name="layers editable icon"/>
            <p:cNvGrpSpPr/>
            <p:nvPr/>
          </p:nvGrpSpPr>
          <p:grpSpPr>
            <ns1:xfrm xmlns:ns1="http://schemas.openxmlformats.org/drawingml/2006/main">
              <ns1:off x="809625" y="4238625"/>
              <ns1:ext cx="590550" cy="590550"/>
              <ns1:chOff x="809625" y="4238625"/>
              <ns1:chExt cx="590550" cy="590550"/>
            </ns1:xfrm>
          </p:grpSpPr>
          <p:sp>
            <p:nvSpPr>
              <p:cNvPr id="10167" name="layers-0"/>
              <p:cNvSpPr/>
              <p:nvPr/>
            </p:nvSpPr>
            <p:spPr>
              <ns1:xfrm xmlns:ns1="http://schemas.openxmlformats.org/drawingml/2006/main">
                <ns1:off x="809625" y="4238625"/>
                <ns1:ext cx="590550" cy="5905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830" y="2180"/>
                    </ns2:moveTo>
                    <ns2:cubicBezTo>
                      <ns2:pt x="12303" y="1940"/>
                      <ns2:pt x="11697" y="1940"/>
                      <ns2:pt x="11170" y="2180"/>
                    </ns2:cubicBezTo>
                    <ns2:lnTo>
                      <ns2:pt x="2600" y="6080"/>
                    </ns2:lnTo>
                    <ns2:cubicBezTo>
                      <ns2:pt x="2237" y="6240"/>
                      <ns2:pt x="2003" y="6599"/>
                      <ns2:pt x="2003" y="6995"/>
                    </ns2:cubicBezTo>
                    <ns2:cubicBezTo>
                      <ns2:pt x="2003" y="7391"/>
                      <ns2:pt x="2237" y="7750"/>
                      <ns2:pt x="2600" y="7910"/>
                    </ns2:cubicBezTo>
                    <ns2:lnTo>
                      <ns2:pt x="11180" y="11820"/>
                    </ns2:lnTo>
                    <ns2:cubicBezTo>
                      <ns2:pt x="11707" y="12060"/>
                      <ns2:pt x="12313" y="12060"/>
                      <ns2:pt x="12840" y="11820"/>
                    </ns2:cubicBezTo>
                    <ns2:lnTo>
                      <ns2:pt x="21420" y="7920"/>
                    </ns2:lnTo>
                    <ns2:cubicBezTo>
                      <ns2:pt x="21783" y="7760"/>
                      <ns2:pt x="22017" y="7401"/>
                      <ns2:pt x="22017" y="7005"/>
                    </ns2:cubicBezTo>
                    <ns2:cubicBezTo>
                      <ns2:pt x="22017" y="6609"/>
                      <ns2:pt x="21783" y="6250"/>
                      <ns2:pt x="21420" y="6090"/>
                    </ns2:cubicBezTo>
                    <ns2:lnTo>
                      <ns2:pt x="12830" y="218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36909" cap="rnd">
                <ns4:solidFill>
                  <ns4:srgbClr val="68528D"/>
                </ns4:solidFill>
              </ns4:ln>
            </p:spPr>
          </p:sp>
          <p:sp>
            <p:nvSpPr>
              <p:cNvPr id="10168" name="layers-1"/>
              <p:cNvSpPr/>
              <p:nvPr/>
            </p:nvSpPr>
            <p:spPr>
              <ns1:xfrm xmlns:ns1="http://schemas.openxmlformats.org/drawingml/2006/main">
                <ns1:off x="809625" y="4238625"/>
                <ns1:ext cx="590550" cy="5905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2000"/>
                    </ns2:moveTo>
                    <ns2:cubicBezTo>
                      <ns2:pt x="1999" y="12391"/>
                      <ns2:pt x="2226" y="12746"/>
                      <ns2:pt x="2580" y="12910"/>
                    </ns2:cubicBezTo>
                    <ns2:lnTo>
                      <ns2:pt x="11180" y="16820"/>
                    </ns2:lnTo>
                    <ns2:cubicBezTo>
                      <ns2:pt x="11704" y="17057"/>
                      <ns2:pt x="12306" y="17057"/>
                      <ns2:pt x="12830" y="16820"/>
                    </ns2:cubicBezTo>
                    <ns2:lnTo>
                      <ns2:pt x="21410" y="12920"/>
                    </ns2:lnTo>
                    <ns2:cubicBezTo>
                      <ns2:pt x="21772" y="12757"/>
                      <ns2:pt x="22003" y="12397"/>
                      <ns2:pt x="22000" y="12000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6909" cap="rnd">
                <ns4:solidFill>
                  <ns4:srgbClr val="68528D"/>
                </ns4:solidFill>
              </ns4:ln>
            </p:spPr>
          </p:sp>
          <p:sp>
            <p:nvSpPr>
              <p:cNvPr id="10169" name="layers-2"/>
              <p:cNvSpPr/>
              <p:nvPr/>
            </p:nvSpPr>
            <p:spPr>
              <ns1:xfrm xmlns:ns1="http://schemas.openxmlformats.org/drawingml/2006/main">
                <ns1:off x="809625" y="4238625"/>
                <ns1:ext cx="590550" cy="5905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7000"/>
                    </ns2:moveTo>
                    <ns2:cubicBezTo>
                      <ns2:pt x="1999" y="17391"/>
                      <ns2:pt x="2226" y="17746"/>
                      <ns2:pt x="2580" y="17910"/>
                    </ns2:cubicBezTo>
                    <ns2:lnTo>
                      <ns2:pt x="11180" y="21820"/>
                    </ns2:lnTo>
                    <ns2:cubicBezTo>
                      <ns2:pt x="11704" y="22057"/>
                      <ns2:pt x="12306" y="22057"/>
                      <ns2:pt x="12830" y="21820"/>
                    </ns2:cubicBezTo>
                    <ns2:lnTo>
                      <ns2:pt x="21410" y="17920"/>
                    </ns2:lnTo>
                    <ns2:cubicBezTo>
                      <ns2:pt x="21772" y="17757"/>
                      <ns2:pt x="22003" y="17397"/>
                      <ns2:pt x="22000" y="17000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6909" cap="rnd">
                <ns4:solidFill>
                  <ns4:srgbClr val="68528D"/>
                </ns4:solidFill>
              </ns4:ln>
            </p:spPr>
          </p:sp>
        </p:grpSp>
        <p:sp>
          <p:nvSpPr>
            <p:cNvPr id="10171" name="Accepted views"/>
            <p:cNvSpPr/>
            <p:nvPr/>
          </p:nvSpPr>
          <p:spPr>
            <ns1:xfrm xmlns:ns1="http://schemas.openxmlformats.org/drawingml/2006/main">
              <ns1:off x="1524000" y="4171950"/>
              <ns1:ext cx="247650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75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Accepted views</ns7:t>
              </ns7:r>
            </ns7:p>
          </p:txBody>
        </p:sp>
        <p:sp>
          <p:nvSpPr>
            <p:cNvPr id="10172" name="Contrastive learning"/>
            <p:cNvSpPr/>
            <p:nvPr/>
          </p:nvSpPr>
          <p:spPr>
            <ns1:xfrm xmlns:ns1="http://schemas.openxmlformats.org/drawingml/2006/main">
              <ns1:off x="1524000" y="4543425"/>
              <ns1:ext cx="2476500" cy="3238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Contrastive learning</ns7:t>
              </ns7:r>
            </ns7:p>
          </p:txBody>
        </p:sp>
        <p:sp>
          <p:nvSpPr>
            <p:cNvPr id="10173" name="accepted view path"/>
            <p:cNvSpPr/>
            <p:nvPr/>
          </p:nvSpPr>
          <p:spPr>
            <ns1:xfrm xmlns:ns1="http://schemas.openxmlformats.org/drawingml/2006/main">
              <ns1:off x="1133475" y="3714750"/>
              <ns1:ext cx="9772650" cy="142875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026000" h="150000" fill="none">
                  <ns2:moveTo>
                    <ns2:pt x="1026000" y="0"/>
                  </ns2:moveTo>
                  <ns2:lnTo>
                    <ns2:pt x="1026000" y="150000"/>
                  </ns2:lnTo>
                  <ns2:lnTo>
                    <ns2:pt x="0" y="150000"/>
                  </ns2:lnTo>
                  <ns2:lnTo>
                    <ns2:pt x="0" y="12500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47788"/>
              </ns4:solidFill>
              <ns4:tailEnd type="triangle"/>
            </ns4:ln>
          </p:spPr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2026-10-19T05:54:47.7050000Z</dcterms:created>
  <dcterms:modified xsi:type="dcterms:W3CDTF">2026-10-19T05:54:47.7050000Z</dcterms:modified>
</coreProperties>
</file>