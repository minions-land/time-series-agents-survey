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Figure 4 — task-function examples and module composition"/>
          <p:cNvGrpSpPr/>
          <p:nvPr/>
        </p:nvGrpSpPr>
        <p:grpSpPr>
          <a:xfrm>
            <a:off x="190500" y="190500"/>
            <a:ext cx="16478250" cy="8020050"/>
            <a:chOff x="190500" y="190500"/>
            <a:chExt cx="16478250" cy="8020050"/>
          </a:xfrm>
        </p:grpSpPr>
        <p:grpSp>
          <p:nvGrpSpPr>
            <p:cNvPr id="2000" name="Native task-function matrix"/>
            <p:cNvGrpSpPr/>
            <p:nvPr/>
          </p:nvGrpSpPr>
          <p:grpSpPr>
            <a:xfrm>
              <a:off x="219075" y="1152525"/>
              <a:ext cx="16449675" cy="4572000"/>
              <a:chOff x="219075" y="1152525"/>
              <a:chExt cx="16449675" cy="4572000"/>
            </a:xfrm>
          </p:grpSpPr>
          <p:graphicFrame>
            <p:nvGraphicFramePr>
              <p:cNvPr id="2" name="Table 2"/>
              <p:cNvGraphicFramePr/>
              <p:nvPr/>
            </p:nvGraphicFramePr>
            <p:xfrm>
              <a:off x="219075" y="1152525"/>
              <a:ext cx="16449675" cy="4572000"/>
            </p:xfrm>
            <a:graphic>
              <a:graphicData uri="http://schemas.openxmlformats.org/drawingml/2006/table">
                <a:tbl>
                  <a:tblPr/>
                  <a:tblGrid>
                    <a:gridCol w="1781175"/>
                    <a:gridCol w="3667125"/>
                    <a:gridCol w="3667125"/>
                    <a:gridCol w="3667125"/>
                    <a:gridCol w="3667125"/>
                  </a:tblGrid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Data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History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Samples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Streams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State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Processing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Horizon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Transforms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Intervals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Actions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Context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Events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References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Incidents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Experience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Validation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Cutoff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Fidelity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Evidence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Constraints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p:grpSp>
        <p:grpSp>
          <p:nvGrpSpPr>
            <p:cNvPr id="2001" name="Task headers"/>
            <p:cNvGrpSpPr/>
            <p:nvPr/>
          </p:nvGrpSpPr>
          <p:grpSpPr>
            <a:xfrm>
              <a:off x="190500" y="190500"/>
              <a:ext cx="16430625" cy="762000"/>
              <a:chOff x="190500" y="190500"/>
              <a:chExt cx="16430625" cy="762000"/>
            </a:xfrm>
          </p:grpSpPr>
          <p:pic>
            <p:nvPicPr>
              <p:cNvPr id="3" name="header0"/>
              <p:cNvPicPr/>
              <p:nvPr/>
            </p:nvPicPr>
            <p:blipFill>
              <a:blip r:embed="rId2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524125" y="334863"/>
                <a:ext cx="571500" cy="616148"/>
              </a:xfrm>
              <a:prstGeom prst="rect">
                <a:avLst/>
              </a:prstGeom>
            </p:spPr>
          </p:pic>
          <p:sp>
            <p:nvSpPr>
              <p:cNvPr id="4" name="TextBox 4"/>
              <p:cNvSpPr txBox="1"/>
              <p:nvPr/>
            </p:nvSpPr>
            <p:spPr>
              <a:xfrm>
                <a:off x="190500" y="190500"/>
                <a:ext cx="762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(a)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328612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Forecasting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pic>
            <p:nvPicPr>
              <p:cNvPr id="6" name="header1"/>
              <p:cNvPicPr/>
              <p:nvPr/>
            </p:nvPicPr>
            <p:blipFill>
              <a:blip r:embed="rId3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212302" y="333375"/>
                <a:ext cx="529397" cy="619125"/>
              </a:xfrm>
              <a:prstGeom prst="rect">
                <a:avLst/>
              </a:prstGeom>
            </p:spPr>
          </p:pic>
          <p:sp>
            <p:nvSpPr>
              <p:cNvPr id="7" name="TextBox 7"/>
              <p:cNvSpPr txBox="1"/>
              <p:nvPr/>
            </p:nvSpPr>
            <p:spPr>
              <a:xfrm>
                <a:off x="695325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Synthesis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pic>
            <p:nvPicPr>
              <p:cNvPr id="8" name="header2"/>
              <p:cNvPicPr/>
              <p:nvPr/>
            </p:nvPicPr>
            <p:blipFill>
              <a:blip r:embed="rId4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858375" y="384730"/>
                <a:ext cx="571500" cy="516416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/>
            </p:nvSpPr>
            <p:spPr>
              <a:xfrm>
                <a:off x="1062037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Diagnosis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pic>
            <p:nvPicPr>
              <p:cNvPr id="10" name="header3"/>
              <p:cNvPicPr/>
              <p:nvPr/>
            </p:nvPicPr>
            <p:blipFill>
              <a:blip r:embed="rId5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525500" y="357188"/>
                <a:ext cx="571500" cy="5715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1428750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Decision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02" name="Cell 1-1"/>
            <p:cNvGrpSpPr/>
            <p:nvPr/>
          </p:nvGrpSpPr>
          <p:grpSpPr>
            <a:xfrm>
              <a:off x="2209800" y="1579514"/>
              <a:ext cx="1581150" cy="311137"/>
              <a:chOff x="2209800" y="1579514"/>
              <a:chExt cx="1581150" cy="311137"/>
            </a:xfrm>
          </p:grpSpPr>
          <p:sp>
            <p:nvSpPr>
              <p:cNvPr id="12" name="Path 12"/>
              <p:cNvSpPr/>
              <p:nvPr/>
            </p:nvSpPr>
            <p:spPr>
              <a:xfrm>
                <a:off x="2209800" y="1579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3" name="Cell 1-2"/>
            <p:cNvGrpSpPr/>
            <p:nvPr/>
          </p:nvGrpSpPr>
          <p:grpSpPr>
            <a:xfrm>
              <a:off x="5876925" y="1482877"/>
              <a:ext cx="1581150" cy="502765"/>
              <a:chOff x="5876925" y="1482877"/>
              <a:chExt cx="1581150" cy="502765"/>
            </a:xfrm>
          </p:grpSpPr>
          <p:sp>
            <p:nvSpPr>
              <p:cNvPr id="13" name="Path 13"/>
              <p:cNvSpPr/>
              <p:nvPr/>
            </p:nvSpPr>
            <p:spPr>
              <a:xfrm>
                <a:off x="5876925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5876925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5876925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4" name="Cell 1-3"/>
            <p:cNvGrpSpPr/>
            <p:nvPr/>
          </p:nvGrpSpPr>
          <p:grpSpPr>
            <a:xfrm>
              <a:off x="9544050" y="1482877"/>
              <a:ext cx="1581150" cy="502765"/>
              <a:chOff x="9544050" y="1482877"/>
              <a:chExt cx="1581150" cy="502765"/>
            </a:xfrm>
          </p:grpSpPr>
          <p:sp>
            <p:nvSpPr>
              <p:cNvPr id="16" name="Path 16"/>
              <p:cNvSpPr/>
              <p:nvPr/>
            </p:nvSpPr>
            <p:spPr>
              <a:xfrm>
                <a:off x="9544050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9544050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9544050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5" name="Cell 1-4"/>
            <p:cNvGrpSpPr/>
            <p:nvPr/>
          </p:nvGrpSpPr>
          <p:grpSpPr>
            <a:xfrm>
              <a:off x="13211175" y="1438275"/>
              <a:ext cx="1400175" cy="542925"/>
              <a:chOff x="13211175" y="1438275"/>
              <a:chExt cx="1400175" cy="54292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3211175" y="14382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13211175" y="16668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13211175" y="18954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13468350" y="14859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13468350" y="1485900"/>
                <a:ext cx="5143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13468350" y="17145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13468350" y="1714500"/>
                <a:ext cx="8572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13468350" y="19431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3468350" y="1943100"/>
                <a:ext cx="6858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6" name="Cell 2-1"/>
            <p:cNvGrpSpPr/>
            <p:nvPr/>
          </p:nvGrpSpPr>
          <p:grpSpPr>
            <a:xfrm>
              <a:off x="2209800" y="2581275"/>
              <a:ext cx="1600200" cy="542925"/>
              <a:chOff x="2209800" y="2581275"/>
              <a:chExt cx="1600200" cy="542925"/>
            </a:xfrm>
          </p:grpSpPr>
          <p:sp>
            <p:nvSpPr>
              <p:cNvPr id="28" name="Rect 28"/>
              <p:cNvSpPr/>
              <p:nvPr/>
            </p:nvSpPr>
            <p:spPr>
              <a:xfrm>
                <a:off x="3238500" y="2581275"/>
                <a:ext cx="571500" cy="542925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2209800" y="2722514"/>
                <a:ext cx="7143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2990850" y="2867025"/>
                <a:ext cx="1809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3238500" y="2709725"/>
                <a:ext cx="552450" cy="3438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075"/>
                    </a:moveTo>
                    <a:lnTo>
                      <a:pt x="900" y="0"/>
                    </a:lnTo>
                    <a:lnTo>
                      <a:pt x="1800" y="9211"/>
                    </a:lnTo>
                    <a:lnTo>
                      <a:pt x="2700" y="10966"/>
                    </a:lnTo>
                    <a:lnTo>
                      <a:pt x="3600" y="12704"/>
                    </a:lnTo>
                    <a:lnTo>
                      <a:pt x="4500" y="21383"/>
                    </a:lnTo>
                    <a:lnTo>
                      <a:pt x="5400" y="14614"/>
                    </a:lnTo>
                    <a:lnTo>
                      <a:pt x="6300" y="5617"/>
                    </a:lnTo>
                    <a:lnTo>
                      <a:pt x="7200" y="8085"/>
                    </a:lnTo>
                    <a:lnTo>
                      <a:pt x="8100" y="3675"/>
                    </a:lnTo>
                    <a:lnTo>
                      <a:pt x="9000" y="4313"/>
                    </a:lnTo>
                    <a:lnTo>
                      <a:pt x="9900" y="17176"/>
                    </a:lnTo>
                    <a:lnTo>
                      <a:pt x="10800" y="17176"/>
                    </a:lnTo>
                    <a:lnTo>
                      <a:pt x="11700" y="13607"/>
                    </a:lnTo>
                    <a:lnTo>
                      <a:pt x="12600" y="16129"/>
                    </a:lnTo>
                    <a:lnTo>
                      <a:pt x="13500" y="6398"/>
                    </a:lnTo>
                    <a:lnTo>
                      <a:pt x="14400" y="268"/>
                    </a:lnTo>
                    <a:lnTo>
                      <a:pt x="15300" y="8811"/>
                    </a:lnTo>
                    <a:lnTo>
                      <a:pt x="16200" y="9790"/>
                    </a:lnTo>
                    <a:lnTo>
                      <a:pt x="17100" y="12327"/>
                    </a:lnTo>
                    <a:lnTo>
                      <a:pt x="18000" y="21600"/>
                    </a:lnTo>
                    <a:lnTo>
                      <a:pt x="18900" y="14928"/>
                    </a:lnTo>
                    <a:lnTo>
                      <a:pt x="19800" y="6634"/>
                    </a:lnTo>
                    <a:lnTo>
                      <a:pt x="20700" y="8681"/>
                    </a:lnTo>
                    <a:lnTo>
                      <a:pt x="21600" y="312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7" name="Cell 2-2"/>
            <p:cNvGrpSpPr/>
            <p:nvPr/>
          </p:nvGrpSpPr>
          <p:grpSpPr>
            <a:xfrm>
              <a:off x="5876925" y="2712920"/>
              <a:ext cx="1581150" cy="430108"/>
              <a:chOff x="5876925" y="2712920"/>
              <a:chExt cx="1581150" cy="430108"/>
            </a:xfrm>
          </p:grpSpPr>
          <p:sp>
            <p:nvSpPr>
              <p:cNvPr id="32" name="Path 32"/>
              <p:cNvSpPr/>
              <p:nvPr/>
            </p:nvSpPr>
            <p:spPr>
              <a:xfrm>
                <a:off x="5876925" y="2722514"/>
                <a:ext cx="61912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6581775" y="28479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877050" y="2712920"/>
                <a:ext cx="581025" cy="3388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877050" y="2808689"/>
                <a:ext cx="581025" cy="3343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</p:grpSp>
        <p:grpSp>
          <p:nvGrpSpPr>
            <p:cNvPr id="2008" name="Cell 2-3"/>
            <p:cNvGrpSpPr/>
            <p:nvPr/>
          </p:nvGrpSpPr>
          <p:grpSpPr>
            <a:xfrm>
              <a:off x="9544050" y="2533650"/>
              <a:ext cx="1581150" cy="638175"/>
              <a:chOff x="9544050" y="2533650"/>
              <a:chExt cx="1581150" cy="638175"/>
            </a:xfrm>
          </p:grpSpPr>
          <p:sp>
            <p:nvSpPr>
              <p:cNvPr id="36" name="Rect 36"/>
              <p:cNvSpPr/>
              <p:nvPr/>
            </p:nvSpPr>
            <p:spPr>
              <a:xfrm>
                <a:off x="10115550" y="2533650"/>
                <a:ext cx="571500" cy="638175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544050" y="2722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101155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106870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9" name="Cell 2-4"/>
            <p:cNvGrpSpPr/>
            <p:nvPr/>
          </p:nvGrpSpPr>
          <p:grpSpPr>
            <a:xfrm>
              <a:off x="13211175" y="2581275"/>
              <a:ext cx="1485900" cy="619125"/>
              <a:chOff x="13211175" y="2581275"/>
              <a:chExt cx="1485900" cy="61912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13211175" y="2790825"/>
                <a:ext cx="142875" cy="142875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t 41"/>
              <p:cNvSpPr/>
              <p:nvPr/>
            </p:nvSpPr>
            <p:spPr>
              <a:xfrm>
                <a:off x="14497050" y="25812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Rect 42"/>
              <p:cNvSpPr/>
              <p:nvPr/>
            </p:nvSpPr>
            <p:spPr>
              <a:xfrm>
                <a:off x="14497050" y="30384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354050" y="2657475"/>
                <a:ext cx="10572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730" y="21600"/>
                    </a:lnTo>
                    <a:lnTo>
                      <a:pt x="1478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354050" y="2857500"/>
                <a:ext cx="10572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730" y="0"/>
                    </a:lnTo>
                    <a:lnTo>
                      <a:pt x="14789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5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10" name="Cell 3-1"/>
            <p:cNvGrpSpPr/>
            <p:nvPr/>
          </p:nvGrpSpPr>
          <p:grpSpPr>
            <a:xfrm>
              <a:off x="2209800" y="3686175"/>
              <a:ext cx="1581150" cy="538114"/>
              <a:chOff x="2209800" y="3686175"/>
              <a:chExt cx="1581150" cy="538114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240982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290512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341947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Path 48"/>
              <p:cNvSpPr/>
              <p:nvPr/>
            </p:nvSpPr>
            <p:spPr>
              <a:xfrm>
                <a:off x="2209800" y="3978655"/>
                <a:ext cx="1581150" cy="24563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4384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29337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344805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1" name="Cell 3-2"/>
            <p:cNvGrpSpPr/>
            <p:nvPr/>
          </p:nvGrpSpPr>
          <p:grpSpPr>
            <a:xfrm>
              <a:off x="5876925" y="3782074"/>
              <a:ext cx="1466850" cy="465426"/>
              <a:chOff x="5876925" y="3782074"/>
              <a:chExt cx="1466850" cy="465426"/>
            </a:xfrm>
          </p:grpSpPr>
          <p:pic>
            <p:nvPicPr>
              <p:cNvPr id="52" name="c21doc1"/>
              <p:cNvPicPr/>
              <p:nvPr/>
            </p:nvPicPr>
            <p:blipFill>
              <a:blip r:embed="rId6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5876925" y="3782074"/>
                <a:ext cx="409575" cy="465426"/>
              </a:xfrm>
              <a:prstGeom prst="rect">
                <a:avLst/>
              </a:prstGeom>
            </p:spPr>
          </p:pic>
          <p:pic>
            <p:nvPicPr>
              <p:cNvPr id="53" name="c21link"/>
              <p:cNvPicPr/>
              <p:nvPr/>
            </p:nvPicPr>
            <p:blipFill>
              <a:blip r:embed="rId7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48425" y="3866685"/>
                <a:ext cx="304800" cy="267629"/>
              </a:xfrm>
              <a:prstGeom prst="rect">
                <a:avLst/>
              </a:prstGeom>
            </p:spPr>
          </p:pic>
          <p:pic>
            <p:nvPicPr>
              <p:cNvPr id="54" name="c21doc2"/>
              <p:cNvPicPr/>
              <p:nvPr/>
            </p:nvPicPr>
            <p:blipFill>
              <a:blip r:embed="rId8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934200" y="3785548"/>
                <a:ext cx="409575" cy="458479"/>
              </a:xfrm>
              <a:prstGeom prst="rect">
                <a:avLst/>
              </a:prstGeom>
            </p:spPr>
          </p:pic>
        </p:grpSp>
        <p:grpSp>
          <p:nvGrpSpPr>
            <p:cNvPr id="2012" name="Cell 3-3"/>
            <p:cNvGrpSpPr/>
            <p:nvPr/>
          </p:nvGrpSpPr>
          <p:grpSpPr>
            <a:xfrm>
              <a:off x="9544050" y="3800475"/>
              <a:ext cx="1552575" cy="407874"/>
              <a:chOff x="9544050" y="3800475"/>
              <a:chExt cx="1552575" cy="407874"/>
            </a:xfrm>
          </p:grpSpPr>
          <p:sp>
            <p:nvSpPr>
              <p:cNvPr id="55" name="Path 55"/>
              <p:cNvSpPr/>
              <p:nvPr/>
            </p:nvSpPr>
            <p:spPr>
              <a:xfrm>
                <a:off x="9544050" y="3865514"/>
                <a:ext cx="7905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6" name="Path 56"/>
              <p:cNvSpPr/>
              <p:nvPr/>
            </p:nvSpPr>
            <p:spPr>
              <a:xfrm>
                <a:off x="10848975" y="38004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10848975" y="39338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848975" y="40671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848975" y="42005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0" name="c22warn"/>
              <p:cNvPicPr/>
              <p:nvPr/>
            </p:nvPicPr>
            <p:blipFill>
              <a:blip r:embed="rId9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0448925" y="3849801"/>
                <a:ext cx="295275" cy="358548"/>
              </a:xfrm>
              <a:prstGeom prst="rect">
                <a:avLst/>
              </a:prstGeom>
            </p:spPr>
          </p:pic>
        </p:grpSp>
        <p:grpSp>
          <p:nvGrpSpPr>
            <p:cNvPr id="2013" name="Cell 3-4"/>
            <p:cNvGrpSpPr/>
            <p:nvPr/>
          </p:nvGrpSpPr>
          <p:grpSpPr>
            <a:xfrm>
              <a:off x="13211175" y="3729038"/>
              <a:ext cx="1352550" cy="571499"/>
              <a:chOff x="13211175" y="3729038"/>
              <a:chExt cx="1352550" cy="571499"/>
            </a:xfrm>
          </p:grpSpPr>
          <p:sp>
            <p:nvSpPr>
              <p:cNvPr id="61" name="Path 61"/>
              <p:cNvSpPr/>
              <p:nvPr/>
            </p:nvSpPr>
            <p:spPr>
              <a:xfrm>
                <a:off x="13706475" y="3800475"/>
                <a:ext cx="476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0800" y="21600"/>
                    </a:lnTo>
                    <a:lnTo>
                      <a:pt x="108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2" name="Path 62"/>
              <p:cNvSpPr/>
              <p:nvPr/>
            </p:nvSpPr>
            <p:spPr>
              <a:xfrm>
                <a:off x="13706475" y="3990975"/>
                <a:ext cx="4762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10800" y="0"/>
                    </a:lnTo>
                    <a:lnTo>
                      <a:pt x="1080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3" name="c23store"/>
              <p:cNvPicPr/>
              <p:nvPr/>
            </p:nvPicPr>
            <p:blipFill>
              <a:blip r:embed="rId10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211175" y="3757910"/>
                <a:ext cx="447675" cy="475655"/>
              </a:xfrm>
              <a:prstGeom prst="rect">
                <a:avLst/>
              </a:prstGeom>
            </p:spPr>
          </p:pic>
          <p:pic>
            <p:nvPicPr>
              <p:cNvPr id="64" name="c23record0"/>
              <p:cNvPicPr/>
              <p:nvPr/>
            </p:nvPicPr>
            <p:blipFill>
              <a:blip r:embed="rId11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6550" y="3729038"/>
                <a:ext cx="257175" cy="257175"/>
              </a:xfrm>
              <a:prstGeom prst="rect">
                <a:avLst/>
              </a:prstGeom>
            </p:spPr>
          </p:pic>
          <p:pic>
            <p:nvPicPr>
              <p:cNvPr id="65" name="c23record33"/>
              <p:cNvPicPr/>
              <p:nvPr/>
            </p:nvPicPr>
            <p:blipFill>
              <a:blip r:embed="rId12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6550" y="4043362"/>
                <a:ext cx="257175" cy="257175"/>
              </a:xfrm>
              <a:prstGeom prst="rect">
                <a:avLst/>
              </a:prstGeom>
            </p:spPr>
          </p:pic>
        </p:grpSp>
        <p:grpSp>
          <p:nvGrpSpPr>
            <p:cNvPr id="2014" name="Cell 4-1"/>
            <p:cNvGrpSpPr/>
            <p:nvPr/>
          </p:nvGrpSpPr>
          <p:grpSpPr>
            <a:xfrm>
              <a:off x="2209800" y="4857750"/>
              <a:ext cx="1581150" cy="581025"/>
              <a:chOff x="2209800" y="4857750"/>
              <a:chExt cx="1581150" cy="58102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3124200" y="5114925"/>
                <a:ext cx="76200" cy="7620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Path 67"/>
              <p:cNvSpPr/>
              <p:nvPr/>
            </p:nvSpPr>
            <p:spPr>
              <a:xfrm>
                <a:off x="2209800" y="51530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solidFill>
                  <a:srgbClr val="767670"/>
                </a:solidFill>
                <a:prstDash val="solid"/>
                <a:tailEnd type="triangle" w="med" len="med"/>
              </a:ln>
            </p:spPr>
            <p:txBody>
              <a:bodyPr/>
              <a:lstStyle/>
              <a:p/>
            </p:txBody>
          </p:sp>
          <p:sp>
            <p:nvSpPr>
              <p:cNvPr id="68" name="Path 68"/>
              <p:cNvSpPr/>
              <p:nvPr/>
            </p:nvSpPr>
            <p:spPr>
              <a:xfrm>
                <a:off x="220980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9" name="Path 69"/>
              <p:cNvSpPr/>
              <p:nvPr/>
            </p:nvSpPr>
            <p:spPr>
              <a:xfrm>
                <a:off x="244792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0" name="Path 70"/>
              <p:cNvSpPr/>
              <p:nvPr/>
            </p:nvSpPr>
            <p:spPr>
              <a:xfrm>
                <a:off x="268605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1" name="Path 71"/>
              <p:cNvSpPr/>
              <p:nvPr/>
            </p:nvSpPr>
            <p:spPr>
              <a:xfrm>
                <a:off x="292417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2" name="Path 72"/>
              <p:cNvSpPr/>
              <p:nvPr/>
            </p:nvSpPr>
            <p:spPr>
              <a:xfrm>
                <a:off x="3162300" y="4857750"/>
                <a:ext cx="953" cy="581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5" name="Cell 4-2"/>
            <p:cNvGrpSpPr/>
            <p:nvPr/>
          </p:nvGrpSpPr>
          <p:grpSpPr>
            <a:xfrm>
              <a:off x="5876925" y="5008514"/>
              <a:ext cx="1581150" cy="349867"/>
              <a:chOff x="5876925" y="5008514"/>
              <a:chExt cx="1581150" cy="349867"/>
            </a:xfrm>
          </p:grpSpPr>
          <p:sp>
            <p:nvSpPr>
              <p:cNvPr id="73" name="Path 73"/>
              <p:cNvSpPr/>
              <p:nvPr/>
            </p:nvSpPr>
            <p:spPr>
              <a:xfrm>
                <a:off x="5876925" y="5008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4" name="Path 74"/>
              <p:cNvSpPr/>
              <p:nvPr/>
            </p:nvSpPr>
            <p:spPr>
              <a:xfrm>
                <a:off x="5876925" y="5040475"/>
                <a:ext cx="1581150" cy="3179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923"/>
                    </a:moveTo>
                    <a:lnTo>
                      <a:pt x="900" y="0"/>
                    </a:lnTo>
                    <a:lnTo>
                      <a:pt x="1800" y="6896"/>
                    </a:lnTo>
                    <a:lnTo>
                      <a:pt x="2700" y="7007"/>
                    </a:lnTo>
                    <a:lnTo>
                      <a:pt x="3600" y="9541"/>
                    </a:lnTo>
                    <a:lnTo>
                      <a:pt x="4500" y="21600"/>
                    </a:lnTo>
                    <a:lnTo>
                      <a:pt x="5400" y="17229"/>
                    </a:lnTo>
                    <a:lnTo>
                      <a:pt x="6300" y="8809"/>
                    </a:lnTo>
                    <a:lnTo>
                      <a:pt x="7200" y="10297"/>
                    </a:lnTo>
                    <a:lnTo>
                      <a:pt x="8100" y="2623"/>
                    </a:lnTo>
                    <a:lnTo>
                      <a:pt x="9000" y="573"/>
                    </a:lnTo>
                    <a:lnTo>
                      <a:pt x="9900" y="13692"/>
                    </a:lnTo>
                    <a:lnTo>
                      <a:pt x="10800" y="15361"/>
                    </a:lnTo>
                    <a:lnTo>
                      <a:pt x="11700" y="14547"/>
                    </a:lnTo>
                    <a:lnTo>
                      <a:pt x="12600" y="19717"/>
                    </a:lnTo>
                    <a:lnTo>
                      <a:pt x="13500" y="9444"/>
                    </a:lnTo>
                    <a:lnTo>
                      <a:pt x="14400" y="709"/>
                    </a:lnTo>
                    <a:lnTo>
                      <a:pt x="15300" y="6858"/>
                    </a:lnTo>
                    <a:lnTo>
                      <a:pt x="16200" y="5849"/>
                    </a:lnTo>
                    <a:lnTo>
                      <a:pt x="17100" y="8892"/>
                    </a:lnTo>
                    <a:lnTo>
                      <a:pt x="18000" y="21395"/>
                    </a:lnTo>
                    <a:lnTo>
                      <a:pt x="18900" y="17216"/>
                    </a:lnTo>
                    <a:lnTo>
                      <a:pt x="19800" y="9872"/>
                    </a:lnTo>
                    <a:lnTo>
                      <a:pt x="20700" y="11246"/>
                    </a:lnTo>
                    <a:lnTo>
                      <a:pt x="21600" y="2469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</p:grpSp>
        <p:grpSp>
          <p:nvGrpSpPr>
            <p:cNvPr id="2016" name="Cell 4-3"/>
            <p:cNvGrpSpPr/>
            <p:nvPr/>
          </p:nvGrpSpPr>
          <p:grpSpPr>
            <a:xfrm>
              <a:off x="9544050" y="4975713"/>
              <a:ext cx="1571625" cy="343938"/>
              <a:chOff x="9544050" y="4975713"/>
              <a:chExt cx="1571625" cy="343938"/>
            </a:xfrm>
          </p:grpSpPr>
          <p:sp>
            <p:nvSpPr>
              <p:cNvPr id="75" name="Path 75"/>
              <p:cNvSpPr/>
              <p:nvPr/>
            </p:nvSpPr>
            <p:spPr>
              <a:xfrm>
                <a:off x="9544050" y="5008514"/>
                <a:ext cx="99060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6" name="Path 76"/>
              <p:cNvSpPr/>
              <p:nvPr/>
            </p:nvSpPr>
            <p:spPr>
              <a:xfrm>
                <a:off x="10553700" y="5143500"/>
                <a:ext cx="2000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77" name="c32document"/>
              <p:cNvPicPr/>
              <p:nvPr/>
            </p:nvPicPr>
            <p:blipFill>
              <a:blip r:embed="rId13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0829925" y="4975713"/>
                <a:ext cx="285750" cy="316523"/>
              </a:xfrm>
              <a:prstGeom prst="rect">
                <a:avLst/>
              </a:prstGeom>
            </p:spPr>
          </p:pic>
        </p:grpSp>
        <p:grpSp>
          <p:nvGrpSpPr>
            <p:cNvPr id="2017" name="Cell 4-4"/>
            <p:cNvGrpSpPr/>
            <p:nvPr/>
          </p:nvGrpSpPr>
          <p:grpSpPr>
            <a:xfrm>
              <a:off x="13211175" y="4962525"/>
              <a:ext cx="1581150" cy="343853"/>
              <a:chOff x="13211175" y="4962525"/>
              <a:chExt cx="1581150" cy="343853"/>
            </a:xfrm>
          </p:grpSpPr>
          <p:sp>
            <p:nvSpPr>
              <p:cNvPr id="78" name="Rect 78"/>
              <p:cNvSpPr/>
              <p:nvPr/>
            </p:nvSpPr>
            <p:spPr>
              <a:xfrm>
                <a:off x="13211175" y="4962525"/>
                <a:ext cx="1581150" cy="342900"/>
              </a:xfrm>
              <a:prstGeom prst="rect">
                <a:avLst/>
              </a:prstGeom>
              <a:solidFill>
                <a:srgbClr val="F1F1EE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3973175" y="5124450"/>
                <a:ext cx="76200" cy="7620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Path 80"/>
              <p:cNvSpPr/>
              <p:nvPr/>
            </p:nvSpPr>
            <p:spPr>
              <a:xfrm>
                <a:off x="13211175" y="49625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1" name="Path 81"/>
              <p:cNvSpPr/>
              <p:nvPr/>
            </p:nvSpPr>
            <p:spPr>
              <a:xfrm>
                <a:off x="13211175" y="53054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2" name="Path 82"/>
              <p:cNvSpPr/>
              <p:nvPr/>
            </p:nvSpPr>
            <p:spPr>
              <a:xfrm>
                <a:off x="13287375" y="5162550"/>
                <a:ext cx="14287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A65F48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8" name="Example headings"/>
            <p:cNvGrpSpPr/>
            <p:nvPr/>
          </p:nvGrpSpPr>
          <p:grpSpPr>
            <a:xfrm>
              <a:off x="190500" y="5867400"/>
              <a:ext cx="16478250" cy="609600"/>
              <a:chOff x="190500" y="5867400"/>
              <a:chExt cx="16478250" cy="609600"/>
            </a:xfrm>
          </p:grpSpPr>
          <p:sp>
            <p:nvSpPr>
              <p:cNvPr id="83" name="Path 83"/>
              <p:cNvSpPr/>
              <p:nvPr/>
            </p:nvSpPr>
            <p:spPr>
              <a:xfrm>
                <a:off x="219075" y="5867400"/>
                <a:ext cx="164496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90500" y="5981700"/>
                <a:ext cx="6667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(b)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95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Execute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5286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Prepare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9477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Forecast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13620750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Decide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19" name="Demand-planning module 1"/>
            <p:cNvGrpSpPr/>
            <p:nvPr/>
          </p:nvGrpSpPr>
          <p:grpSpPr>
            <a:xfrm>
              <a:off x="333375" y="6802570"/>
              <a:ext cx="3810000" cy="1407980"/>
              <a:chOff x="333375" y="6802570"/>
              <a:chExt cx="3810000" cy="1407980"/>
            </a:xfrm>
          </p:grpSpPr>
          <p:sp>
            <p:nvSpPr>
              <p:cNvPr id="85" name="Path 85"/>
              <p:cNvSpPr/>
              <p:nvPr/>
            </p:nvSpPr>
            <p:spPr>
              <a:xfrm>
                <a:off x="1238250" y="7010400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86" name="Path 86"/>
              <p:cNvSpPr/>
              <p:nvPr/>
            </p:nvSpPr>
            <p:spPr>
              <a:xfrm>
                <a:off x="1238250" y="7248525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87" name="code"/>
              <p:cNvPicPr/>
              <p:nvPr/>
            </p:nvPicPr>
            <p:blipFill>
              <a:blip r:embed="rId14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57225" y="6819900"/>
                <a:ext cx="523875" cy="571500"/>
              </a:xfrm>
              <a:prstGeom prst="rect">
                <a:avLst/>
              </a:prstGeom>
            </p:spPr>
          </p:pic>
          <p:pic>
            <p:nvPicPr>
              <p:cNvPr id="88" name="tool"/>
              <p:cNvPicPr/>
              <p:nvPr/>
            </p:nvPicPr>
            <p:blipFill>
              <a:blip r:embed="rId15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876425" y="6802570"/>
                <a:ext cx="552450" cy="606160"/>
              </a:xfrm>
              <a:prstGeom prst="rect">
                <a:avLst/>
              </a:prstGeom>
            </p:spPr>
          </p:pic>
          <p:pic>
            <p:nvPicPr>
              <p:cNvPr id="89" name="terminal"/>
              <p:cNvPicPr/>
              <p:nvPr/>
            </p:nvPicPr>
            <p:blipFill>
              <a:blip r:embed="rId16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095625" y="6879726"/>
                <a:ext cx="638175" cy="480424"/>
              </a:xfrm>
              <a:prstGeom prst="rect">
                <a:avLst/>
              </a:prstGeom>
            </p:spPr>
          </p:pic>
          <p:sp>
            <p:nvSpPr>
              <p:cNvPr id="91" name="TextBox 91"/>
              <p:cNvSpPr txBox="1"/>
              <p:nvPr/>
            </p:nvSpPr>
            <p:spPr>
              <a:xfrm>
                <a:off x="333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General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20" name="Demand-planning module 2"/>
            <p:cNvGrpSpPr/>
            <p:nvPr/>
          </p:nvGrpSpPr>
          <p:grpSpPr>
            <a:xfrm>
              <a:off x="4000500" y="6767008"/>
              <a:ext cx="4333875" cy="1443542"/>
              <a:chOff x="4000500" y="6767008"/>
              <a:chExt cx="4333875" cy="1443542"/>
            </a:xfrm>
          </p:grpSpPr>
          <p:sp>
            <p:nvSpPr>
              <p:cNvPr id="92" name="Path 92"/>
              <p:cNvSpPr/>
              <p:nvPr/>
            </p:nvSpPr>
            <p:spPr>
              <a:xfrm>
                <a:off x="4810125" y="6812308"/>
                <a:ext cx="1857375" cy="1091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3" name="Path 93"/>
              <p:cNvSpPr/>
              <p:nvPr/>
            </p:nvSpPr>
            <p:spPr>
              <a:xfrm>
                <a:off x="4810125" y="7021161"/>
                <a:ext cx="1857375" cy="1146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306"/>
                    </a:moveTo>
                    <a:lnTo>
                      <a:pt x="900" y="0"/>
                    </a:lnTo>
                    <a:lnTo>
                      <a:pt x="1800" y="7314"/>
                    </a:lnTo>
                    <a:lnTo>
                      <a:pt x="2700" y="7865"/>
                    </a:lnTo>
                    <a:lnTo>
                      <a:pt x="3600" y="10322"/>
                    </a:lnTo>
                    <a:lnTo>
                      <a:pt x="4500" y="21600"/>
                    </a:lnTo>
                    <a:lnTo>
                      <a:pt x="5400" y="16743"/>
                    </a:lnTo>
                    <a:lnTo>
                      <a:pt x="6300" y="8190"/>
                    </a:lnTo>
                    <a:lnTo>
                      <a:pt x="7200" y="9754"/>
                    </a:lnTo>
                    <a:lnTo>
                      <a:pt x="8100" y="2806"/>
                    </a:lnTo>
                    <a:lnTo>
                      <a:pt x="9000" y="1396"/>
                    </a:lnTo>
                    <a:lnTo>
                      <a:pt x="9900" y="14428"/>
                    </a:lnTo>
                    <a:lnTo>
                      <a:pt x="10800" y="15832"/>
                    </a:lnTo>
                    <a:lnTo>
                      <a:pt x="11700" y="14473"/>
                    </a:lnTo>
                    <a:lnTo>
                      <a:pt x="12600" y="18959"/>
                    </a:lnTo>
                    <a:lnTo>
                      <a:pt x="13500" y="8796"/>
                    </a:lnTo>
                    <a:lnTo>
                      <a:pt x="14400" y="615"/>
                    </a:lnTo>
                    <a:lnTo>
                      <a:pt x="15300" y="7193"/>
                    </a:lnTo>
                    <a:lnTo>
                      <a:pt x="16200" y="6700"/>
                    </a:lnTo>
                    <a:lnTo>
                      <a:pt x="17100" y="9723"/>
                    </a:lnTo>
                    <a:lnTo>
                      <a:pt x="18000" y="21482"/>
                    </a:lnTo>
                    <a:lnTo>
                      <a:pt x="18900" y="16810"/>
                    </a:lnTo>
                    <a:lnTo>
                      <a:pt x="19800" y="9249"/>
                    </a:lnTo>
                    <a:lnTo>
                      <a:pt x="20700" y="10631"/>
                    </a:lnTo>
                    <a:lnTo>
                      <a:pt x="21600" y="257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4" name="Path 94"/>
              <p:cNvSpPr/>
              <p:nvPr/>
            </p:nvSpPr>
            <p:spPr>
              <a:xfrm>
                <a:off x="4810125" y="7227283"/>
                <a:ext cx="1857375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606"/>
                    </a:moveTo>
                    <a:lnTo>
                      <a:pt x="900" y="0"/>
                    </a:lnTo>
                    <a:lnTo>
                      <a:pt x="1800" y="8698"/>
                    </a:lnTo>
                    <a:lnTo>
                      <a:pt x="2700" y="10226"/>
                    </a:lnTo>
                    <a:lnTo>
                      <a:pt x="3600" y="12203"/>
                    </a:lnTo>
                    <a:lnTo>
                      <a:pt x="4500" y="21466"/>
                    </a:lnTo>
                    <a:lnTo>
                      <a:pt x="5400" y="15178"/>
                    </a:lnTo>
                    <a:lnTo>
                      <a:pt x="6300" y="6282"/>
                    </a:lnTo>
                    <a:lnTo>
                      <a:pt x="7200" y="8436"/>
                    </a:lnTo>
                    <a:lnTo>
                      <a:pt x="8100" y="3436"/>
                    </a:lnTo>
                    <a:lnTo>
                      <a:pt x="9000" y="3626"/>
                    </a:lnTo>
                    <a:lnTo>
                      <a:pt x="9900" y="16505"/>
                    </a:lnTo>
                    <a:lnTo>
                      <a:pt x="10800" y="16909"/>
                    </a:lnTo>
                    <a:lnTo>
                      <a:pt x="11700" y="13905"/>
                    </a:lnTo>
                    <a:lnTo>
                      <a:pt x="12600" y="16816"/>
                    </a:lnTo>
                    <a:lnTo>
                      <a:pt x="13500" y="6977"/>
                    </a:lnTo>
                    <a:lnTo>
                      <a:pt x="14400" y="352"/>
                    </a:lnTo>
                    <a:lnTo>
                      <a:pt x="15300" y="8361"/>
                    </a:lnTo>
                    <a:lnTo>
                      <a:pt x="16200" y="9050"/>
                    </a:lnTo>
                    <a:lnTo>
                      <a:pt x="17100" y="11766"/>
                    </a:lnTo>
                    <a:lnTo>
                      <a:pt x="18000" y="21600"/>
                    </a:lnTo>
                    <a:lnTo>
                      <a:pt x="18900" y="15439"/>
                    </a:lnTo>
                    <a:lnTo>
                      <a:pt x="19800" y="7312"/>
                    </a:lnTo>
                    <a:lnTo>
                      <a:pt x="20700" y="9103"/>
                    </a:lnTo>
                    <a:lnTo>
                      <a:pt x="21600" y="296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5" name="Path 95"/>
              <p:cNvSpPr/>
              <p:nvPr/>
            </p:nvSpPr>
            <p:spPr>
              <a:xfrm>
                <a:off x="6781800" y="7105650"/>
                <a:ext cx="4095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96" name="calendar"/>
              <p:cNvPicPr/>
              <p:nvPr/>
            </p:nvPicPr>
            <p:blipFill>
              <a:blip r:embed="rId17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324725" y="6767008"/>
                <a:ext cx="590550" cy="639184"/>
              </a:xfrm>
              <a:prstGeom prst="rect">
                <a:avLst/>
              </a:prstGeom>
            </p:spPr>
          </p:pic>
          <p:sp>
            <p:nvSpPr>
              <p:cNvPr id="98" name="TextBox 98"/>
              <p:cNvSpPr txBox="1"/>
              <p:nvPr/>
            </p:nvSpPr>
            <p:spPr>
              <a:xfrm>
                <a:off x="4524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General Time-Series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5" name="Path 115"/>
              <p:cNvSpPr/>
              <p:nvPr/>
            </p:nvSpPr>
            <p:spPr>
              <a:xfrm>
                <a:off x="4000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21" name="Demand-planning module 3"/>
            <p:cNvGrpSpPr/>
            <p:nvPr/>
          </p:nvGrpSpPr>
          <p:grpSpPr>
            <a:xfrm>
              <a:off x="8191500" y="6562725"/>
              <a:ext cx="4333875" cy="1647825"/>
              <a:chOff x="8191500" y="6562725"/>
              <a:chExt cx="4333875" cy="1647825"/>
            </a:xfrm>
          </p:grpSpPr>
          <p:sp>
            <p:nvSpPr>
              <p:cNvPr id="99" name="Path 99"/>
              <p:cNvSpPr/>
              <p:nvPr/>
            </p:nvSpPr>
            <p:spPr>
              <a:xfrm>
                <a:off x="9001125" y="7030212"/>
                <a:ext cx="1762125" cy="26403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700" y="11314"/>
                    </a:lnTo>
                    <a:lnTo>
                      <a:pt x="5400" y="19029"/>
                    </a:lnTo>
                    <a:lnTo>
                      <a:pt x="8100" y="1029"/>
                    </a:lnTo>
                    <a:lnTo>
                      <a:pt x="10800" y="13886"/>
                    </a:lnTo>
                    <a:lnTo>
                      <a:pt x="13500" y="6171"/>
                    </a:lnTo>
                    <a:lnTo>
                      <a:pt x="16200" y="19029"/>
                    </a:lnTo>
                    <a:lnTo>
                      <a:pt x="18900" y="10286"/>
                    </a:lnTo>
                    <a:lnTo>
                      <a:pt x="21600" y="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0" name="Path 100"/>
              <p:cNvSpPr/>
              <p:nvPr/>
            </p:nvSpPr>
            <p:spPr>
              <a:xfrm>
                <a:off x="10763250" y="6705600"/>
                <a:ext cx="953" cy="771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1" name="Path 101"/>
              <p:cNvSpPr/>
              <p:nvPr/>
            </p:nvSpPr>
            <p:spPr>
              <a:xfrm>
                <a:off x="10763250" y="7029450"/>
                <a:ext cx="12858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4800" y="21600"/>
                    </a:lnTo>
                    <a:lnTo>
                      <a:pt x="10080" y="21600"/>
                    </a:lnTo>
                    <a:lnTo>
                      <a:pt x="16160" y="21600"/>
                    </a:lnTo>
                    <a:lnTo>
                      <a:pt x="21600" y="1080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2" name="Path 102"/>
              <p:cNvSpPr/>
              <p:nvPr/>
            </p:nvSpPr>
            <p:spPr>
              <a:xfrm>
                <a:off x="10763250" y="6800850"/>
                <a:ext cx="12858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6200"/>
                    </a:lnTo>
                    <a:lnTo>
                      <a:pt x="10080" y="10800"/>
                    </a:lnTo>
                    <a:lnTo>
                      <a:pt x="16160" y="540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3" name="Path 103"/>
              <p:cNvSpPr/>
              <p:nvPr/>
            </p:nvSpPr>
            <p:spPr>
              <a:xfrm>
                <a:off x="10763250" y="6562725"/>
                <a:ext cx="128587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5429"/>
                    </a:lnTo>
                    <a:lnTo>
                      <a:pt x="10080" y="10139"/>
                    </a:lnTo>
                    <a:lnTo>
                      <a:pt x="16160" y="4849"/>
                    </a:lnTo>
                    <a:lnTo>
                      <a:pt x="21600" y="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8715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Task-Specific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6" name="Path 116"/>
              <p:cNvSpPr/>
              <p:nvPr/>
            </p:nvSpPr>
            <p:spPr>
              <a:xfrm>
                <a:off x="8191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22" name="Demand-planning module 4"/>
            <p:cNvGrpSpPr/>
            <p:nvPr/>
          </p:nvGrpSpPr>
          <p:grpSpPr>
            <a:xfrm>
              <a:off x="12382500" y="6667500"/>
              <a:ext cx="4286250" cy="1543050"/>
              <a:chOff x="12382500" y="6667500"/>
              <a:chExt cx="4286250" cy="1543050"/>
            </a:xfrm>
          </p:grpSpPr>
          <p:sp>
            <p:nvSpPr>
              <p:cNvPr id="106" name="Path 106"/>
              <p:cNvSpPr/>
              <p:nvPr/>
            </p:nvSpPr>
            <p:spPr>
              <a:xfrm>
                <a:off x="13792200" y="7105650"/>
                <a:ext cx="381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7" name="Path 107"/>
              <p:cNvSpPr/>
              <p:nvPr/>
            </p:nvSpPr>
            <p:spPr>
              <a:xfrm>
                <a:off x="14801850" y="6858000"/>
                <a:ext cx="6667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2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8" name="Path 108"/>
              <p:cNvSpPr/>
              <p:nvPr/>
            </p:nvSpPr>
            <p:spPr>
              <a:xfrm>
                <a:off x="14801850" y="7105650"/>
                <a:ext cx="6667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257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09" name="stock"/>
              <p:cNvPicPr/>
              <p:nvPr/>
            </p:nvPicPr>
            <p:blipFill>
              <a:blip r:embed="rId18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144500" y="6841958"/>
                <a:ext cx="600075" cy="536909"/>
              </a:xfrm>
              <a:prstGeom prst="rect">
                <a:avLst/>
              </a:prstGeom>
            </p:spPr>
          </p:pic>
          <p:pic>
            <p:nvPicPr>
              <p:cNvPr id="110" name="order"/>
              <p:cNvPicPr/>
              <p:nvPr/>
            </p:nvPicPr>
            <p:blipFill>
              <a:blip r:embed="rId19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279834" y="6819900"/>
                <a:ext cx="424908" cy="590550"/>
              </a:xfrm>
              <a:prstGeom prst="rect">
                <a:avLst/>
              </a:prstGeom>
            </p:spPr>
          </p:pic>
          <p:pic>
            <p:nvPicPr>
              <p:cNvPr id="111" name="cart"/>
              <p:cNvPicPr/>
              <p:nvPr/>
            </p:nvPicPr>
            <p:blipFill>
              <a:blip r:embed="rId20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636875" y="6667500"/>
                <a:ext cx="425450" cy="381000"/>
              </a:xfrm>
              <a:prstGeom prst="rect">
                <a:avLst/>
              </a:prstGeom>
            </p:spPr>
          </p:pic>
          <p:pic>
            <p:nvPicPr>
              <p:cNvPr id="112" name="cost"/>
              <p:cNvPicPr/>
              <p:nvPr/>
            </p:nvPicPr>
            <p:blipFill>
              <a:blip r:embed="rId21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621000" y="7242106"/>
                <a:ext cx="419100" cy="346213"/>
              </a:xfrm>
              <a:prstGeom prst="rect">
                <a:avLst/>
              </a:prstGeom>
            </p:spPr>
          </p:pic>
          <p:sp>
            <p:nvSpPr>
              <p:cNvPr id="114" name="TextBox 114"/>
              <p:cNvSpPr txBox="1"/>
              <p:nvPr/>
            </p:nvSpPr>
            <p:spPr>
              <a:xfrm>
                <a:off x="12858750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Task-Specific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7" name="Path 117"/>
              <p:cNvSpPr/>
              <p:nvPr/>
            </p:nvSpPr>
            <p:spPr>
              <a:xfrm>
                <a:off x="12382500" y="7143750"/>
                <a:ext cx="5715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