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Figure 7 — ungroup into temporal modules"/>
          <p:cNvGrpSpPr/>
          <p:nvPr/>
        </p:nvGrpSpPr>
        <p:grpSpPr>
          <a:xfrm>
            <a:off x="238125" y="47625"/>
            <a:ext cx="16516350" cy="8286750"/>
            <a:chOff x="238125" y="47625"/>
            <a:chExt cx="16516350" cy="8286750"/>
          </a:xfrm>
        </p:grpSpPr>
        <p:grpSp>
          <p:nvGrpSpPr>
            <p:cNvPr id="200" name="Availability timeline"/>
            <p:cNvGrpSpPr/>
            <p:nvPr/>
          </p:nvGrpSpPr>
          <p:grpSpPr>
            <a:xfrm>
              <a:off x="238125" y="47625"/>
              <a:ext cx="16287750" cy="1990725"/>
              <a:chOff x="238125" y="47625"/>
              <a:chExt cx="16287750" cy="1990725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780098" y="123920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" name="Ellipse 3"/>
              <p:cNvSpPr/>
              <p:nvPr/>
            </p:nvSpPr>
            <p:spPr>
              <a:xfrm>
                <a:off x="1084898" y="107156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1389698" y="117633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1694498" y="98774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1999298" y="113442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2304098" y="105060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2608898" y="119729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2913698" y="94583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3218498" y="107156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3523298" y="115538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3828098" y="102965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419600" y="1590675"/>
                <a:ext cx="114300" cy="114300"/>
              </a:xfrm>
              <a:prstGeom prst="ellipse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0039350" y="1590675"/>
                <a:ext cx="114300" cy="114300"/>
              </a:xfrm>
              <a:prstGeom prst="ellipse">
                <a:avLst/>
              </a:prstGeom>
              <a:solidFill>
                <a:srgbClr val="304B63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4611350" y="1590675"/>
                <a:ext cx="114300" cy="114300"/>
              </a:xfrm>
              <a:prstGeom prst="ellipse">
                <a:avLst/>
              </a:prstGeom>
              <a:solidFill>
                <a:srgbClr val="A65F48"/>
              </a:solidFill>
              <a:ln w="8890">
                <a:solidFill>
                  <a:srgbClr val="A65F4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Rect 16"/>
              <p:cNvSpPr/>
              <p:nvPr/>
            </p:nvSpPr>
            <p:spPr>
              <a:xfrm>
                <a:off x="6477000" y="933450"/>
                <a:ext cx="2190750" cy="447675"/>
              </a:xfrm>
              <a:prstGeom prst="rect">
                <a:avLst/>
              </a:prstGeom>
              <a:solidFill>
                <a:srgbClr val="F1F1EE"/>
              </a:solidFill>
              <a:ln w="1016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0" name="Path 110"/>
              <p:cNvSpPr/>
              <p:nvPr/>
            </p:nvSpPr>
            <p:spPr>
              <a:xfrm>
                <a:off x="666750" y="1647825"/>
                <a:ext cx="1562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solidFill>
                  <a:srgbClr val="767670"/>
                </a:solidFill>
                <a:prstDash val="solid"/>
                <a:tailEnd type="triangle" w="med" len="med"/>
              </a:ln>
            </p:spPr>
            <p:txBody>
              <a:bodyPr/>
              <a:lstStyle/>
              <a:p/>
            </p:txBody>
          </p:sp>
          <p:sp>
            <p:nvSpPr>
              <p:cNvPr id="111" name="Path 111"/>
              <p:cNvSpPr/>
              <p:nvPr/>
            </p:nvSpPr>
            <p:spPr>
              <a:xfrm>
                <a:off x="809625" y="975360"/>
                <a:ext cx="3048000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" y="9257"/>
                    </a:lnTo>
                    <a:lnTo>
                      <a:pt x="4320" y="16971"/>
                    </a:lnTo>
                    <a:lnTo>
                      <a:pt x="6480" y="3086"/>
                    </a:lnTo>
                    <a:lnTo>
                      <a:pt x="8640" y="13886"/>
                    </a:lnTo>
                    <a:lnTo>
                      <a:pt x="10800" y="7714"/>
                    </a:lnTo>
                    <a:lnTo>
                      <a:pt x="12960" y="18514"/>
                    </a:lnTo>
                    <a:lnTo>
                      <a:pt x="15120" y="0"/>
                    </a:lnTo>
                    <a:lnTo>
                      <a:pt x="17280" y="9257"/>
                    </a:lnTo>
                    <a:lnTo>
                      <a:pt x="19440" y="15429"/>
                    </a:lnTo>
                    <a:lnTo>
                      <a:pt x="21600" y="617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2" name="Path 112"/>
              <p:cNvSpPr/>
              <p:nvPr/>
            </p:nvSpPr>
            <p:spPr>
              <a:xfrm>
                <a:off x="3857625" y="1143000"/>
                <a:ext cx="619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3" name="Path 113"/>
              <p:cNvSpPr/>
              <p:nvPr/>
            </p:nvSpPr>
            <p:spPr>
              <a:xfrm>
                <a:off x="8763000" y="1143000"/>
                <a:ext cx="13335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304B63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4" name="Path 114"/>
              <p:cNvSpPr/>
              <p:nvPr/>
            </p:nvSpPr>
            <p:spPr>
              <a:xfrm>
                <a:off x="14573250" y="1238250"/>
                <a:ext cx="952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A65F4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5" name="Path 115"/>
              <p:cNvSpPr/>
              <p:nvPr/>
            </p:nvSpPr>
            <p:spPr>
              <a:xfrm>
                <a:off x="11782425" y="476250"/>
                <a:ext cx="9525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157" name="late-report"/>
              <p:cNvPicPr/>
              <p:nvPr/>
            </p:nvPicPr>
            <p:blipFill>
              <a:blip r:embed="rId2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198600" y="885825"/>
                <a:ext cx="444500" cy="571500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238125" y="476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Information release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666750" y="504825"/>
                <a:ext cx="2571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series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6381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Known calendar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13620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 report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6581775" y="981075"/>
                <a:ext cx="2000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Future event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5" name="TextBox 175"/>
              <p:cNvSpPr txBox="1"/>
              <p:nvPr/>
            </p:nvSpPr>
            <p:spPr>
              <a:xfrm>
                <a:off x="8972550" y="866775"/>
                <a:ext cx="1619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published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0668000" y="47625"/>
                <a:ext cx="3048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5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Decision cutoff τ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3477875" y="173355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r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Availability time v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1" name="Data management"/>
            <p:cNvGrpSpPr/>
            <p:nvPr/>
          </p:nvGrpSpPr>
          <p:grpSpPr>
            <a:xfrm>
              <a:off x="304800" y="2143125"/>
              <a:ext cx="3886200" cy="4124325"/>
              <a:chOff x="304800" y="2143125"/>
              <a:chExt cx="3886200" cy="4124325"/>
            </a:xfrm>
          </p:grpSpPr>
          <p:pic>
            <p:nvPicPr>
              <p:cNvPr id="158" name="source-database"/>
              <p:cNvPicPr/>
              <p:nvPr/>
            </p:nvPicPr>
            <p:blipFill>
              <a:blip r:embed="rId3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00050" y="5299417"/>
                <a:ext cx="542925" cy="593041"/>
              </a:xfrm>
              <a:prstGeom prst="rect">
                <a:avLst/>
              </a:prstGeom>
            </p:spPr>
          </p:pic>
          <p:pic>
            <p:nvPicPr>
              <p:cNvPr id="159" name="version-document"/>
              <p:cNvPicPr/>
              <p:nvPr/>
            </p:nvPicPr>
            <p:blipFill>
              <a:blip r:embed="rId4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390775" y="5286375"/>
                <a:ext cx="504825" cy="628650"/>
              </a:xfrm>
              <a:prstGeom prst="rect">
                <a:avLst/>
              </a:prstGeom>
            </p:spPr>
          </p:pic>
          <p:graphicFrame>
            <p:nvGraphicFramePr>
              <p:cNvPr id="169" name="Table 169"/>
              <p:cNvGraphicFramePr/>
              <p:nvPr/>
            </p:nvGraphicFramePr>
            <p:xfrm>
              <a:off x="381000" y="2752725"/>
              <a:ext cx="3714750" cy="2143125"/>
            </p:xfrm>
            <a:graphic>
              <a:graphicData uri="http://schemas.openxmlformats.org/drawingml/2006/table">
                <a:tbl>
                  <a:tblPr/>
                  <a:tblGrid>
                    <a:gridCol w="1463386"/>
                    <a:gridCol w="1125682"/>
                    <a:gridCol w="1125682"/>
                  </a:tblGrid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Time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Value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Unit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t₁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x₁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t₂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—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t₃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x₃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78" name="TextBox 178"/>
              <p:cNvSpPr txBox="1"/>
              <p:nvPr/>
            </p:nvSpPr>
            <p:spPr>
              <a:xfrm>
                <a:off x="3048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Data management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95375" y="5314950"/>
                <a:ext cx="12382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Source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3048000" y="5314950"/>
                <a:ext cx="1143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Version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428625" y="5981700"/>
                <a:ext cx="3667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+ index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2" name="Temporal processing"/>
            <p:cNvGrpSpPr/>
            <p:nvPr/>
          </p:nvGrpSpPr>
          <p:grpSpPr>
            <a:xfrm>
              <a:off x="4324350" y="2143125"/>
              <a:ext cx="4076700" cy="4257675"/>
              <a:chOff x="4324350" y="2143125"/>
              <a:chExt cx="4076700" cy="4257675"/>
            </a:xfrm>
          </p:grpSpPr>
          <p:sp>
            <p:nvSpPr>
              <p:cNvPr id="17" name="Rect 17"/>
              <p:cNvSpPr/>
              <p:nvPr/>
            </p:nvSpPr>
            <p:spPr>
              <a:xfrm>
                <a:off x="6076950" y="3105150"/>
                <a:ext cx="1076325" cy="5524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780598" y="33472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5037772" y="328898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5294948" y="344928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5552122" y="336184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5809297" y="320154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6066472" y="33909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323648" y="326955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580822" y="318211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6837997" y="325012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095172" y="33375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352348" y="343471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609522" y="335699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866698" y="328412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8123872" y="337642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828222" y="47615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5240972" y="469296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53722" y="45519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066472" y="475011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685598" y="47615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889705" y="471582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093812" y="46662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297919" y="458247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502026" y="45519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706133" y="462438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7910240" y="47234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8114347" y="475011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5066347" y="576929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5363528" y="566070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5660708" y="57077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5957888" y="557022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6255068" y="564623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552248" y="5740337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6849428" y="578739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7146608" y="569690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443788" y="559555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740967" y="564623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038148" y="57511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5066347" y="607409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5363528" y="609981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5660708" y="614867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5957888" y="599694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255068" y="60483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552248" y="61280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849428" y="618210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146608" y="615124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7443788" y="606123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7740967" y="608695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038148" y="602780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6" name="Path 116"/>
              <p:cNvSpPr/>
              <p:nvPr/>
            </p:nvSpPr>
            <p:spPr>
              <a:xfrm>
                <a:off x="432435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9" name="Path 119"/>
              <p:cNvSpPr/>
              <p:nvPr/>
            </p:nvSpPr>
            <p:spPr>
              <a:xfrm>
                <a:off x="4810125" y="3211640"/>
                <a:ext cx="3343275" cy="2671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3353"/>
                    </a:moveTo>
                    <a:lnTo>
                      <a:pt x="1662" y="8640"/>
                    </a:lnTo>
                    <a:lnTo>
                      <a:pt x="3323" y="21600"/>
                    </a:lnTo>
                    <a:lnTo>
                      <a:pt x="4985" y="14531"/>
                    </a:lnTo>
                    <a:lnTo>
                      <a:pt x="6646" y="1571"/>
                    </a:lnTo>
                    <a:lnTo>
                      <a:pt x="8308" y="16887"/>
                    </a:lnTo>
                    <a:lnTo>
                      <a:pt x="9969" y="7069"/>
                    </a:lnTo>
                    <a:lnTo>
                      <a:pt x="11631" y="0"/>
                    </a:lnTo>
                    <a:lnTo>
                      <a:pt x="13292" y="5498"/>
                    </a:lnTo>
                    <a:lnTo>
                      <a:pt x="14954" y="12567"/>
                    </a:lnTo>
                    <a:lnTo>
                      <a:pt x="16615" y="20422"/>
                    </a:lnTo>
                    <a:lnTo>
                      <a:pt x="18277" y="14138"/>
                    </a:lnTo>
                    <a:lnTo>
                      <a:pt x="19938" y="8247"/>
                    </a:lnTo>
                    <a:lnTo>
                      <a:pt x="21600" y="1570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0" name="Path 120"/>
              <p:cNvSpPr/>
              <p:nvPr/>
            </p:nvSpPr>
            <p:spPr>
              <a:xfrm>
                <a:off x="6076950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1" name="Path 121"/>
              <p:cNvSpPr/>
              <p:nvPr/>
            </p:nvSpPr>
            <p:spPr>
              <a:xfrm>
                <a:off x="7153275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2" name="Path 122"/>
              <p:cNvSpPr/>
              <p:nvPr/>
            </p:nvSpPr>
            <p:spPr>
              <a:xfrm>
                <a:off x="4543425" y="39433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3" name="Path 123"/>
              <p:cNvSpPr/>
              <p:nvPr/>
            </p:nvSpPr>
            <p:spPr>
              <a:xfrm>
                <a:off x="4857750" y="4581525"/>
                <a:ext cx="1238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7200" y="14531"/>
                    </a:lnTo>
                    <a:lnTo>
                      <a:pt x="14400" y="0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4" name="Path 124"/>
              <p:cNvSpPr/>
              <p:nvPr/>
            </p:nvSpPr>
            <p:spPr>
              <a:xfrm>
                <a:off x="6248400" y="4714875"/>
                <a:ext cx="276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25" name="Path 125"/>
              <p:cNvSpPr/>
              <p:nvPr/>
            </p:nvSpPr>
            <p:spPr>
              <a:xfrm>
                <a:off x="6715125" y="4581525"/>
                <a:ext cx="14287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86" y="16887"/>
                    </a:lnTo>
                    <a:lnTo>
                      <a:pt x="6171" y="11782"/>
                    </a:lnTo>
                    <a:lnTo>
                      <a:pt x="9257" y="3142"/>
                    </a:lnTo>
                    <a:lnTo>
                      <a:pt x="12343" y="0"/>
                    </a:lnTo>
                    <a:lnTo>
                      <a:pt x="15429" y="7462"/>
                    </a:lnTo>
                    <a:lnTo>
                      <a:pt x="18514" y="17673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6" name="Path 126"/>
              <p:cNvSpPr/>
              <p:nvPr/>
            </p:nvSpPr>
            <p:spPr>
              <a:xfrm>
                <a:off x="4543425" y="51244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7" name="Path 127"/>
              <p:cNvSpPr/>
              <p:nvPr/>
            </p:nvSpPr>
            <p:spPr>
              <a:xfrm>
                <a:off x="5095875" y="5599748"/>
                <a:ext cx="2971800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800"/>
                    </a:moveTo>
                    <a:lnTo>
                      <a:pt x="2160" y="9000"/>
                    </a:lnTo>
                    <a:lnTo>
                      <a:pt x="4320" y="13680"/>
                    </a:lnTo>
                    <a:lnTo>
                      <a:pt x="6480" y="0"/>
                    </a:lnTo>
                    <a:lnTo>
                      <a:pt x="8640" y="7560"/>
                    </a:lnTo>
                    <a:lnTo>
                      <a:pt x="10800" y="16920"/>
                    </a:lnTo>
                    <a:lnTo>
                      <a:pt x="12960" y="21600"/>
                    </a:lnTo>
                    <a:lnTo>
                      <a:pt x="15120" y="12600"/>
                    </a:lnTo>
                    <a:lnTo>
                      <a:pt x="17280" y="2520"/>
                    </a:lnTo>
                    <a:lnTo>
                      <a:pt x="19440" y="7560"/>
                    </a:lnTo>
                    <a:lnTo>
                      <a:pt x="21600" y="180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8" name="Path 128"/>
              <p:cNvSpPr/>
              <p:nvPr/>
            </p:nvSpPr>
            <p:spPr>
              <a:xfrm>
                <a:off x="5095875" y="6026468"/>
                <a:ext cx="2971800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9000"/>
                    </a:moveTo>
                    <a:lnTo>
                      <a:pt x="2160" y="12000"/>
                    </a:lnTo>
                    <a:lnTo>
                      <a:pt x="4320" y="17700"/>
                    </a:lnTo>
                    <a:lnTo>
                      <a:pt x="6480" y="0"/>
                    </a:lnTo>
                    <a:lnTo>
                      <a:pt x="8640" y="6000"/>
                    </a:lnTo>
                    <a:lnTo>
                      <a:pt x="10800" y="15300"/>
                    </a:lnTo>
                    <a:lnTo>
                      <a:pt x="12960" y="21600"/>
                    </a:lnTo>
                    <a:lnTo>
                      <a:pt x="15120" y="18000"/>
                    </a:lnTo>
                    <a:lnTo>
                      <a:pt x="17280" y="7500"/>
                    </a:lnTo>
                    <a:lnTo>
                      <a:pt x="19440" y="10500"/>
                    </a:lnTo>
                    <a:lnTo>
                      <a:pt x="21600" y="36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9" name="Path 129"/>
              <p:cNvSpPr/>
              <p:nvPr/>
            </p:nvSpPr>
            <p:spPr>
              <a:xfrm>
                <a:off x="5393055" y="5737860"/>
                <a:ext cx="9525" cy="3438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0" name="Path 130"/>
              <p:cNvSpPr/>
              <p:nvPr/>
            </p:nvSpPr>
            <p:spPr>
              <a:xfrm>
                <a:off x="5987415" y="5647373"/>
                <a:ext cx="9525" cy="3314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1" name="Path 131"/>
              <p:cNvSpPr/>
              <p:nvPr/>
            </p:nvSpPr>
            <p:spPr>
              <a:xfrm>
                <a:off x="6581775" y="5817489"/>
                <a:ext cx="9525" cy="2925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2" name="Path 132"/>
              <p:cNvSpPr/>
              <p:nvPr/>
            </p:nvSpPr>
            <p:spPr>
              <a:xfrm>
                <a:off x="7176135" y="5774055"/>
                <a:ext cx="9525" cy="3590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3" name="Path 133"/>
              <p:cNvSpPr/>
              <p:nvPr/>
            </p:nvSpPr>
            <p:spPr>
              <a:xfrm>
                <a:off x="7770495" y="5723382"/>
                <a:ext cx="9525" cy="3454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4543425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Temporal processing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4581525" y="2695575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Window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4581525" y="405765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Resample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4581525" y="5191125"/>
                <a:ext cx="1428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Align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3" name="Context and memory"/>
            <p:cNvGrpSpPr/>
            <p:nvPr/>
          </p:nvGrpSpPr>
          <p:grpSpPr>
            <a:xfrm>
              <a:off x="8505825" y="2143125"/>
              <a:ext cx="4076700" cy="4257675"/>
              <a:chOff x="8505825" y="2143125"/>
              <a:chExt cx="4076700" cy="425767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8895398" y="363283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9141687" y="372218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9387976" y="354349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9634265" y="36455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9880555" y="37604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10126844" y="384981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10373133" y="37285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10619423" y="34924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10865712" y="336480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11112001" y="355625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11358290" y="370941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11604580" y="37604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11850869" y="360092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2097158" y="377961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12343448" y="35626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9862457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11340193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3" name="Rect 83"/>
              <p:cNvSpPr/>
              <p:nvPr/>
            </p:nvSpPr>
            <p:spPr>
              <a:xfrm>
                <a:off x="9991725" y="4895850"/>
                <a:ext cx="971550" cy="12382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4" name="Ellipse 84"/>
              <p:cNvSpPr/>
              <p:nvPr/>
            </p:nvSpPr>
            <p:spPr>
              <a:xfrm>
                <a:off x="8904923" y="525208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9186704" y="510206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9468485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9750266" y="501634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10032048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10313829" y="530352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0" name="Ellipse 90"/>
              <p:cNvSpPr/>
              <p:nvPr/>
            </p:nvSpPr>
            <p:spPr>
              <a:xfrm>
                <a:off x="10595610" y="523065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10877391" y="509349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2" name="Ellipse 92"/>
              <p:cNvSpPr/>
              <p:nvPr/>
            </p:nvSpPr>
            <p:spPr>
              <a:xfrm>
                <a:off x="11159173" y="498633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3" name="Ellipse 93"/>
              <p:cNvSpPr/>
              <p:nvPr/>
            </p:nvSpPr>
            <p:spPr>
              <a:xfrm>
                <a:off x="11440954" y="51234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4" name="Ellipse 94"/>
              <p:cNvSpPr/>
              <p:nvPr/>
            </p:nvSpPr>
            <p:spPr>
              <a:xfrm>
                <a:off x="11722735" y="520922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12004516" y="509778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6" name="Ellipse 96"/>
              <p:cNvSpPr/>
              <p:nvPr/>
            </p:nvSpPr>
            <p:spPr>
              <a:xfrm>
                <a:off x="12286298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8904923" y="596884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8" name="Ellipse 98"/>
              <p:cNvSpPr/>
              <p:nvPr/>
            </p:nvSpPr>
            <p:spPr>
              <a:xfrm>
                <a:off x="9186704" y="585311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9" name="Ellipse 99"/>
              <p:cNvSpPr/>
              <p:nvPr/>
            </p:nvSpPr>
            <p:spPr>
              <a:xfrm>
                <a:off x="9468485" y="59002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750266" y="57416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10032048" y="587454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10313829" y="603313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10595610" y="595169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4" name="Ellipse 104"/>
              <p:cNvSpPr/>
              <p:nvPr/>
            </p:nvSpPr>
            <p:spPr>
              <a:xfrm>
                <a:off x="10877391" y="58145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5" name="Ellipse 105"/>
              <p:cNvSpPr/>
              <p:nvPr/>
            </p:nvSpPr>
            <p:spPr>
              <a:xfrm>
                <a:off x="11159173" y="571166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6" name="Ellipse 106"/>
              <p:cNvSpPr/>
              <p:nvPr/>
            </p:nvSpPr>
            <p:spPr>
              <a:xfrm>
                <a:off x="11440954" y="58573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7" name="Ellipse 107"/>
              <p:cNvSpPr/>
              <p:nvPr/>
            </p:nvSpPr>
            <p:spPr>
              <a:xfrm>
                <a:off x="11722735" y="594741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8" name="Ellipse 108"/>
              <p:cNvSpPr/>
              <p:nvPr/>
            </p:nvSpPr>
            <p:spPr>
              <a:xfrm>
                <a:off x="12004516" y="58273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9" name="Ellipse 109"/>
              <p:cNvSpPr/>
              <p:nvPr/>
            </p:nvSpPr>
            <p:spPr>
              <a:xfrm>
                <a:off x="12286298" y="58959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7" name="Path 117"/>
              <p:cNvSpPr/>
              <p:nvPr/>
            </p:nvSpPr>
            <p:spPr>
              <a:xfrm>
                <a:off x="8505825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4" name="Path 134"/>
              <p:cNvSpPr/>
              <p:nvPr/>
            </p:nvSpPr>
            <p:spPr>
              <a:xfrm>
                <a:off x="8924925" y="3394329"/>
                <a:ext cx="3448050" cy="485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937"/>
                    </a:moveTo>
                    <a:lnTo>
                      <a:pt x="1543" y="15916"/>
                    </a:lnTo>
                    <a:lnTo>
                      <a:pt x="3086" y="7958"/>
                    </a:lnTo>
                    <a:lnTo>
                      <a:pt x="4629" y="12505"/>
                    </a:lnTo>
                    <a:lnTo>
                      <a:pt x="6171" y="17621"/>
                    </a:lnTo>
                    <a:lnTo>
                      <a:pt x="7714" y="21600"/>
                    </a:lnTo>
                    <a:lnTo>
                      <a:pt x="9257" y="16200"/>
                    </a:lnTo>
                    <a:lnTo>
                      <a:pt x="10800" y="5684"/>
                    </a:lnTo>
                    <a:lnTo>
                      <a:pt x="12343" y="0"/>
                    </a:lnTo>
                    <a:lnTo>
                      <a:pt x="13886" y="8526"/>
                    </a:lnTo>
                    <a:lnTo>
                      <a:pt x="15429" y="15347"/>
                    </a:lnTo>
                    <a:lnTo>
                      <a:pt x="16971" y="17621"/>
                    </a:lnTo>
                    <a:lnTo>
                      <a:pt x="18514" y="10516"/>
                    </a:lnTo>
                    <a:lnTo>
                      <a:pt x="20057" y="18474"/>
                    </a:lnTo>
                    <a:lnTo>
                      <a:pt x="21600" y="881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5" name="Path 135"/>
              <p:cNvSpPr/>
              <p:nvPr/>
            </p:nvSpPr>
            <p:spPr>
              <a:xfrm>
                <a:off x="9910082" y="3209925"/>
                <a:ext cx="9525" cy="5800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6" name="Path 136"/>
              <p:cNvSpPr/>
              <p:nvPr/>
            </p:nvSpPr>
            <p:spPr>
              <a:xfrm>
                <a:off x="11387818" y="3209925"/>
                <a:ext cx="9525" cy="5290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7" name="Path 137"/>
              <p:cNvSpPr/>
              <p:nvPr/>
            </p:nvSpPr>
            <p:spPr>
              <a:xfrm>
                <a:off x="8724900" y="4286250"/>
                <a:ext cx="3790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8" name="Path 138"/>
              <p:cNvSpPr/>
              <p:nvPr/>
            </p:nvSpPr>
            <p:spPr>
              <a:xfrm>
                <a:off x="8934450" y="5015865"/>
                <a:ext cx="3381375" cy="31718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097"/>
                    </a:moveTo>
                    <a:lnTo>
                      <a:pt x="1800" y="7881"/>
                    </a:lnTo>
                    <a:lnTo>
                      <a:pt x="3600" y="12259"/>
                    </a:lnTo>
                    <a:lnTo>
                      <a:pt x="5400" y="2043"/>
                    </a:lnTo>
                    <a:lnTo>
                      <a:pt x="7200" y="12259"/>
                    </a:lnTo>
                    <a:lnTo>
                      <a:pt x="9000" y="21600"/>
                    </a:lnTo>
                    <a:lnTo>
                      <a:pt x="10800" y="16638"/>
                    </a:lnTo>
                    <a:lnTo>
                      <a:pt x="12600" y="7297"/>
                    </a:lnTo>
                    <a:lnTo>
                      <a:pt x="14400" y="0"/>
                    </a:lnTo>
                    <a:lnTo>
                      <a:pt x="16200" y="9341"/>
                    </a:lnTo>
                    <a:lnTo>
                      <a:pt x="18000" y="15178"/>
                    </a:lnTo>
                    <a:lnTo>
                      <a:pt x="19800" y="7589"/>
                    </a:lnTo>
                    <a:lnTo>
                      <a:pt x="21600" y="1225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9" name="Path 139"/>
              <p:cNvSpPr/>
              <p:nvPr/>
            </p:nvSpPr>
            <p:spPr>
              <a:xfrm>
                <a:off x="8934450" y="5741194"/>
                <a:ext cx="3381375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7280"/>
                    </a:moveTo>
                    <a:lnTo>
                      <a:pt x="1800" y="9504"/>
                    </a:lnTo>
                    <a:lnTo>
                      <a:pt x="3600" y="12672"/>
                    </a:lnTo>
                    <a:lnTo>
                      <a:pt x="5400" y="2016"/>
                    </a:lnTo>
                    <a:lnTo>
                      <a:pt x="7200" y="10944"/>
                    </a:lnTo>
                    <a:lnTo>
                      <a:pt x="9000" y="21600"/>
                    </a:lnTo>
                    <a:lnTo>
                      <a:pt x="10800" y="16128"/>
                    </a:lnTo>
                    <a:lnTo>
                      <a:pt x="12600" y="6912"/>
                    </a:lnTo>
                    <a:lnTo>
                      <a:pt x="14400" y="0"/>
                    </a:lnTo>
                    <a:lnTo>
                      <a:pt x="16200" y="9792"/>
                    </a:lnTo>
                    <a:lnTo>
                      <a:pt x="18000" y="15840"/>
                    </a:lnTo>
                    <a:lnTo>
                      <a:pt x="19800" y="7776"/>
                    </a:lnTo>
                    <a:lnTo>
                      <a:pt x="21600" y="12384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0" name="Path 140"/>
              <p:cNvSpPr/>
              <p:nvPr/>
            </p:nvSpPr>
            <p:spPr>
              <a:xfrm>
                <a:off x="10477500" y="54768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87249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Context and memory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9267825" y="2733675"/>
                <a:ext cx="1381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Event A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10763250" y="273367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Event B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0" name="TextBox 190"/>
              <p:cNvSpPr txBox="1"/>
              <p:nvPr/>
            </p:nvSpPr>
            <p:spPr>
              <a:xfrm>
                <a:off x="8782050" y="4400550"/>
                <a:ext cx="2190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Past case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4" name="Temporal validation"/>
            <p:cNvGrpSpPr/>
            <p:nvPr/>
          </p:nvGrpSpPr>
          <p:grpSpPr>
            <a:xfrm>
              <a:off x="12687300" y="2143125"/>
              <a:ext cx="4067175" cy="4305300"/>
              <a:chOff x="12687300" y="2143125"/>
              <a:chExt cx="4067175" cy="4305300"/>
            </a:xfrm>
          </p:grpSpPr>
          <p:sp>
            <p:nvSpPr>
              <p:cNvPr id="118" name="Path 118"/>
              <p:cNvSpPr/>
              <p:nvPr/>
            </p:nvSpPr>
            <p:spPr>
              <a:xfrm>
                <a:off x="1268730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1" name="Path 141"/>
              <p:cNvSpPr/>
              <p:nvPr/>
            </p:nvSpPr>
            <p:spPr>
              <a:xfrm>
                <a:off x="12906375" y="34480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2" name="Path 142"/>
              <p:cNvSpPr/>
              <p:nvPr/>
            </p:nvSpPr>
            <p:spPr>
              <a:xfrm>
                <a:off x="14935200" y="4286250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43" name="Path 143"/>
              <p:cNvSpPr/>
              <p:nvPr/>
            </p:nvSpPr>
            <p:spPr>
              <a:xfrm>
                <a:off x="12906375" y="506730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4" name="Path 144"/>
              <p:cNvSpPr/>
              <p:nvPr/>
            </p:nvSpPr>
            <p:spPr>
              <a:xfrm>
                <a:off x="14935200" y="5876925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A65F48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0" name="available-document"/>
              <p:cNvPicPr/>
              <p:nvPr/>
            </p:nvPicPr>
            <p:blipFill>
              <a:blip r:embed="rId5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1998" y="4000500"/>
                <a:ext cx="485355" cy="600075"/>
              </a:xfrm>
              <a:prstGeom prst="rect">
                <a:avLst/>
              </a:prstGeom>
            </p:spPr>
          </p:pic>
          <p:pic>
            <p:nvPicPr>
              <p:cNvPr id="161" name="accepted-check"/>
              <p:cNvPicPr/>
              <p:nvPr/>
            </p:nvPicPr>
            <p:blipFill>
              <a:blip r:embed="rId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935325" y="4047067"/>
                <a:ext cx="457200" cy="440267"/>
              </a:xfrm>
              <a:prstGeom prst="rect">
                <a:avLst/>
              </a:prstGeom>
            </p:spPr>
          </p:pic>
          <p:pic>
            <p:nvPicPr>
              <p:cNvPr id="162" name="late-document"/>
              <p:cNvPicPr/>
              <p:nvPr/>
            </p:nvPicPr>
            <p:blipFill>
              <a:blip r:embed="rId7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297025" y="5593115"/>
                <a:ext cx="495300" cy="596194"/>
              </a:xfrm>
              <a:prstGeom prst="rect">
                <a:avLst/>
              </a:prstGeom>
            </p:spPr>
          </p:pic>
          <p:pic>
            <p:nvPicPr>
              <p:cNvPr id="163" name="rejected-cross"/>
              <p:cNvPicPr/>
              <p:nvPr/>
            </p:nvPicPr>
            <p:blipFill>
              <a:blip r:embed="rId8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935325" y="5638067"/>
                <a:ext cx="457200" cy="439615"/>
              </a:xfrm>
              <a:prstGeom prst="rect">
                <a:avLst/>
              </a:prstGeom>
            </p:spPr>
          </p:pic>
          <p:sp>
            <p:nvSpPr>
              <p:cNvPr id="181" name="TextBox 181"/>
              <p:cNvSpPr txBox="1"/>
              <p:nvPr/>
            </p:nvSpPr>
            <p:spPr>
              <a:xfrm>
                <a:off x="1289685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Temporal validation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1" name="TextBox 191"/>
              <p:cNvSpPr txBox="1"/>
              <p:nvPr/>
            </p:nvSpPr>
            <p:spPr>
              <a:xfrm>
                <a:off x="13049250" y="2781300"/>
                <a:ext cx="3429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6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 ≤ τ</a:t>
                </a:r>
                <a:endParaRPr lang="zh-CN" sz="256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2" name="TextBox 192"/>
              <p:cNvSpPr txBox="1"/>
              <p:nvPr/>
            </p:nvSpPr>
            <p:spPr>
              <a:xfrm>
                <a:off x="12915900" y="3638550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Available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3" name="TextBox 193"/>
              <p:cNvSpPr txBox="1"/>
              <p:nvPr/>
            </p:nvSpPr>
            <p:spPr>
              <a:xfrm>
                <a:off x="15782925" y="4591050"/>
                <a:ext cx="857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Admit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12915900" y="5248275"/>
                <a:ext cx="1333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15763875" y="6143625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Exclude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5" name="Requests and observations"/>
            <p:cNvGrpSpPr/>
            <p:nvPr/>
          </p:nvGrpSpPr>
          <p:grpSpPr>
            <a:xfrm>
              <a:off x="238125" y="6553200"/>
              <a:ext cx="16411575" cy="1781175"/>
              <a:chOff x="238125" y="6553200"/>
              <a:chExt cx="16411575" cy="1781175"/>
            </a:xfrm>
          </p:grpSpPr>
          <p:sp>
            <p:nvSpPr>
              <p:cNvPr id="145" name="Path 145"/>
              <p:cNvSpPr/>
              <p:nvPr/>
            </p:nvSpPr>
            <p:spPr>
              <a:xfrm>
                <a:off x="238125" y="6553200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6" name="Path 146"/>
              <p:cNvSpPr/>
              <p:nvPr/>
            </p:nvSpPr>
            <p:spPr>
              <a:xfrm>
                <a:off x="4238625" y="696277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7" name="Path 147"/>
              <p:cNvSpPr/>
              <p:nvPr/>
            </p:nvSpPr>
            <p:spPr>
              <a:xfrm>
                <a:off x="1885950" y="7286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8" name="Path 148"/>
              <p:cNvSpPr/>
              <p:nvPr/>
            </p:nvSpPr>
            <p:spPr>
              <a:xfrm>
                <a:off x="2133600" y="6962775"/>
                <a:ext cx="21050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9" name="Path 149"/>
              <p:cNvSpPr/>
              <p:nvPr/>
            </p:nvSpPr>
            <p:spPr>
              <a:xfrm>
                <a:off x="4238625" y="770572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0" name="Path 150"/>
              <p:cNvSpPr/>
              <p:nvPr/>
            </p:nvSpPr>
            <p:spPr>
              <a:xfrm>
                <a:off x="1885950" y="7534275"/>
                <a:ext cx="23526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21600"/>
                    </a:moveTo>
                    <a:lnTo>
                      <a:pt x="2274" y="21600"/>
                    </a:lnTo>
                    <a:lnTo>
                      <a:pt x="2274" y="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1" name="Path 151"/>
              <p:cNvSpPr/>
              <p:nvPr/>
            </p:nvSpPr>
            <p:spPr>
              <a:xfrm>
                <a:off x="319087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2" name="Path 152"/>
              <p:cNvSpPr/>
              <p:nvPr/>
            </p:nvSpPr>
            <p:spPr>
              <a:xfrm>
                <a:off x="3190875" y="696277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3" name="Path 153"/>
              <p:cNvSpPr/>
              <p:nvPr/>
            </p:nvSpPr>
            <p:spPr>
              <a:xfrm>
                <a:off x="3714750" y="77057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4" name="Path 154"/>
              <p:cNvSpPr/>
              <p:nvPr/>
            </p:nvSpPr>
            <p:spPr>
              <a:xfrm>
                <a:off x="676275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5" name="Path 155"/>
              <p:cNvSpPr/>
              <p:nvPr/>
            </p:nvSpPr>
            <p:spPr>
              <a:xfrm>
                <a:off x="1090612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6" name="Path 156"/>
              <p:cNvSpPr/>
              <p:nvPr/>
            </p:nvSpPr>
            <p:spPr>
              <a:xfrm>
                <a:off x="1504950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4" name="llm"/>
              <p:cNvPicPr/>
              <p:nvPr/>
            </p:nvPicPr>
            <p:blipFill>
              <a:blip r:embed="rId9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85750" y="7059820"/>
                <a:ext cx="581025" cy="463136"/>
              </a:xfrm>
              <a:prstGeom prst="rect">
                <a:avLst/>
              </a:prstGeom>
            </p:spPr>
          </p:pic>
          <p:sp>
            <p:nvSpPr>
              <p:cNvPr id="165" name="Path 165"/>
              <p:cNvSpPr/>
              <p:nvPr/>
            </p:nvSpPr>
            <p:spPr>
              <a:xfrm>
                <a:off x="371475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6" name="Path 166"/>
              <p:cNvSpPr/>
              <p:nvPr/>
            </p:nvSpPr>
            <p:spPr>
              <a:xfrm>
                <a:off x="728662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7" name="Path 167"/>
              <p:cNvSpPr/>
              <p:nvPr/>
            </p:nvSpPr>
            <p:spPr>
              <a:xfrm>
                <a:off x="1143000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8" name="Path 168"/>
              <p:cNvSpPr/>
              <p:nvPr/>
            </p:nvSpPr>
            <p:spPr>
              <a:xfrm>
                <a:off x="1557337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971550" y="7124700"/>
                <a:ext cx="1047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5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LLM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4333875" y="7067550"/>
                <a:ext cx="190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Requests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2352675" y="7743825"/>
                <a:ext cx="2000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Observations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9" name="TextBox 199"/>
              <p:cNvSpPr txBox="1"/>
              <p:nvPr/>
            </p:nvSpPr>
            <p:spPr>
              <a:xfrm>
                <a:off x="6477000" y="8029575"/>
                <a:ext cx="571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Shared temporal workspace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