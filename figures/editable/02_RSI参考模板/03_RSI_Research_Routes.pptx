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15800" cy="13573125" type="custom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RSI research routes — individual editable components"/>
          <p:cNvGrpSpPr/>
          <p:nvPr/>
        </p:nvGrpSpPr>
        <p:grpSpPr>
          <a:xfrm>
            <a:off x="438150" y="133350"/>
            <a:ext cx="11287125" cy="13344525"/>
            <a:chOff x="438150" y="133350"/>
            <a:chExt cx="11287125" cy="13344525"/>
          </a:xfrm>
        </p:grpSpPr>
        <p:sp>
          <p:nvSpPr>
            <p:cNvPr id="2" name="Path 2"/>
            <p:cNvSpPr/>
            <p:nvPr/>
          </p:nvSpPr>
          <p:spPr>
            <a:xfrm>
              <a:off x="2066925" y="2476500"/>
              <a:ext cx="402907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21345" y="21414"/>
                  </a:moveTo>
                  <a:cubicBezTo>
                    <a:pt x="255" y="20980"/>
                    <a:pt x="255" y="20380"/>
                    <a:pt x="255" y="18396"/>
                  </a:cubicBezTo>
                  <a:lnTo>
                    <a:pt x="255" y="145"/>
                  </a:lnTo>
                </a:path>
              </a:pathLst>
            </a:custGeom>
            <a:noFill/>
            <a:ln w="63500">
              <a:solidFill>
                <a:srgbClr val="AA8447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3" name="Path 3"/>
            <p:cNvSpPr/>
            <p:nvPr/>
          </p:nvSpPr>
          <p:spPr>
            <a:xfrm>
              <a:off x="3800475" y="2476500"/>
              <a:ext cx="229552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21152" y="21414"/>
                  </a:moveTo>
                  <a:cubicBezTo>
                    <a:pt x="448" y="20980"/>
                    <a:pt x="448" y="20380"/>
                    <a:pt x="448" y="18396"/>
                  </a:cubicBezTo>
                  <a:lnTo>
                    <a:pt x="448" y="145"/>
                  </a:lnTo>
                </a:path>
              </a:pathLst>
            </a:custGeom>
            <a:noFill/>
            <a:ln w="63500">
              <a:solidFill>
                <a:srgbClr val="4387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4" name="Path 4"/>
            <p:cNvSpPr/>
            <p:nvPr/>
          </p:nvSpPr>
          <p:spPr>
            <a:xfrm>
              <a:off x="5534025" y="2476500"/>
              <a:ext cx="56197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19769" y="21414"/>
                  </a:moveTo>
                  <a:cubicBezTo>
                    <a:pt x="1831" y="20980"/>
                    <a:pt x="1831" y="20380"/>
                    <a:pt x="1831" y="18396"/>
                  </a:cubicBezTo>
                  <a:lnTo>
                    <a:pt x="1831" y="145"/>
                  </a:lnTo>
                </a:path>
              </a:pathLst>
            </a:custGeom>
            <a:noFill/>
            <a:ln w="63500">
              <a:solidFill>
                <a:srgbClr val="4D87A3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5" name="Path 5"/>
            <p:cNvSpPr/>
            <p:nvPr/>
          </p:nvSpPr>
          <p:spPr>
            <a:xfrm>
              <a:off x="6000750" y="2476500"/>
              <a:ext cx="136207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755" y="21414"/>
                  </a:moveTo>
                  <a:cubicBezTo>
                    <a:pt x="20845" y="20980"/>
                    <a:pt x="20845" y="20380"/>
                    <a:pt x="20845" y="18396"/>
                  </a:cubicBezTo>
                  <a:lnTo>
                    <a:pt x="20845" y="145"/>
                  </a:lnTo>
                </a:path>
              </a:pathLst>
            </a:custGeom>
            <a:noFill/>
            <a:ln w="63500">
              <a:solidFill>
                <a:srgbClr val="B77B74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6" name="Path 6"/>
            <p:cNvSpPr/>
            <p:nvPr/>
          </p:nvSpPr>
          <p:spPr>
            <a:xfrm>
              <a:off x="6000750" y="2476500"/>
              <a:ext cx="309562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332" y="21414"/>
                  </a:moveTo>
                  <a:cubicBezTo>
                    <a:pt x="21268" y="20980"/>
                    <a:pt x="21268" y="20380"/>
                    <a:pt x="21268" y="18396"/>
                  </a:cubicBezTo>
                  <a:lnTo>
                    <a:pt x="21268" y="145"/>
                  </a:lnTo>
                </a:path>
              </a:pathLst>
            </a:custGeom>
            <a:noFill/>
            <a:ln w="63500">
              <a:solidFill>
                <a:srgbClr val="916FA4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7" name="Path 7"/>
            <p:cNvSpPr/>
            <p:nvPr/>
          </p:nvSpPr>
          <p:spPr>
            <a:xfrm>
              <a:off x="6000750" y="2476500"/>
              <a:ext cx="482917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213" y="21414"/>
                  </a:moveTo>
                  <a:cubicBezTo>
                    <a:pt x="21387" y="20980"/>
                    <a:pt x="21387" y="20380"/>
                    <a:pt x="21387" y="18396"/>
                  </a:cubicBezTo>
                  <a:lnTo>
                    <a:pt x="21387" y="145"/>
                  </a:lnTo>
                </a:path>
              </a:pathLst>
            </a:custGeom>
            <a:noFill/>
            <a:ln w="63500">
              <a:solidFill>
                <a:srgbClr val="4B9194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8" name="Line 8"/>
            <p:cNvSpPr/>
            <p:nvPr/>
          </p:nvSpPr>
          <p:spPr>
            <a:xfrm>
              <a:off x="1047750" y="4600575"/>
              <a:ext cx="10629900" cy="0"/>
            </a:xfrm>
            <a:prstGeom prst="line">
              <a:avLst/>
            </a:prstGeom>
            <a:noFill/>
            <a:ln w="8890">
              <a:solidFill>
                <a:srgbClr val="D6D7D7"/>
              </a:solidFill>
              <a:prstDash val="dash"/>
              <a:tailEnd type="none"/>
            </a:ln>
          </p:spPr>
          <p:txBody>
            <a:bodyPr/>
            <a:lstStyle/>
            <a:p/>
          </p:txBody>
        </p:sp>
        <p:sp>
          <p:nvSpPr>
            <p:cNvPr id="9" name="Line 9"/>
            <p:cNvSpPr/>
            <p:nvPr/>
          </p:nvSpPr>
          <p:spPr>
            <a:xfrm>
              <a:off x="1047750" y="6810375"/>
              <a:ext cx="10629900" cy="0"/>
            </a:xfrm>
            <a:prstGeom prst="line">
              <a:avLst/>
            </a:prstGeom>
            <a:noFill/>
            <a:ln w="8890">
              <a:solidFill>
                <a:srgbClr val="D6D7D7"/>
              </a:solidFill>
              <a:prstDash val="dash"/>
              <a:tailEnd type="none"/>
            </a:ln>
          </p:spPr>
          <p:txBody>
            <a:bodyPr/>
            <a:lstStyle/>
            <a:p/>
          </p:txBody>
        </p:sp>
        <p:sp>
          <p:nvSpPr>
            <p:cNvPr id="10" name="Line 10"/>
            <p:cNvSpPr/>
            <p:nvPr/>
          </p:nvSpPr>
          <p:spPr>
            <a:xfrm>
              <a:off x="1047750" y="9039225"/>
              <a:ext cx="10629900" cy="0"/>
            </a:xfrm>
            <a:prstGeom prst="line">
              <a:avLst/>
            </a:prstGeom>
            <a:noFill/>
            <a:ln w="8890">
              <a:solidFill>
                <a:srgbClr val="D6D7D7"/>
              </a:solidFill>
              <a:prstDash val="dash"/>
              <a:tailEnd type="none"/>
            </a:ln>
          </p:spPr>
          <p:txBody>
            <a:bodyPr/>
            <a:lstStyle/>
            <a:p/>
          </p:txBody>
        </p:sp>
        <p:sp>
          <p:nvSpPr>
            <p:cNvPr id="11" name="Line 11"/>
            <p:cNvSpPr/>
            <p:nvPr/>
          </p:nvSpPr>
          <p:spPr>
            <a:xfrm>
              <a:off x="1047750" y="11020425"/>
              <a:ext cx="10629900" cy="0"/>
            </a:xfrm>
            <a:prstGeom prst="line">
              <a:avLst/>
            </a:prstGeom>
            <a:noFill/>
            <a:ln w="8890">
              <a:solidFill>
                <a:srgbClr val="D6D7D7"/>
              </a:solidFill>
              <a:prstDash val="dash"/>
              <a:tailEnd type="none"/>
            </a:ln>
          </p:spPr>
          <p:txBody>
            <a:bodyPr/>
            <a:lstStyle/>
            <a:p/>
          </p:txBody>
        </p:sp>
        <p:sp>
          <p:nvSpPr>
            <p:cNvPr id="12" name="Line 12"/>
            <p:cNvSpPr/>
            <p:nvPr/>
          </p:nvSpPr>
          <p:spPr>
            <a:xfrm>
              <a:off x="1047750" y="12172950"/>
              <a:ext cx="10629900" cy="0"/>
            </a:xfrm>
            <a:prstGeom prst="line">
              <a:avLst/>
            </a:prstGeom>
            <a:noFill/>
            <a:ln w="8890">
              <a:solidFill>
                <a:srgbClr val="D6D7D7"/>
              </a:solidFill>
              <a:prstDash val="dash"/>
              <a:tailEnd type="none"/>
            </a:ln>
          </p:spPr>
          <p:txBody>
            <a:bodyPr/>
            <a:lstStyle/>
            <a:p/>
          </p:txBody>
        </p:sp>
        <p:sp>
          <p:nvSpPr>
            <p:cNvPr id="13" name="Line 13"/>
            <p:cNvSpPr/>
            <p:nvPr/>
          </p:nvSpPr>
          <p:spPr>
            <a:xfrm flipV="1">
              <a:off x="733425" y="2543175"/>
              <a:ext cx="0" cy="9582150"/>
            </a:xfrm>
            <a:prstGeom prst="line">
              <a:avLst/>
            </a:prstGeom>
            <a:noFill/>
            <a:ln w="25400">
              <a:solidFill>
                <a:srgbClr val="72767C"/>
              </a:solidFill>
              <a:prstDash val="solid"/>
              <a:tailEnd type="triangle"/>
            </a:ln>
          </p:spPr>
          <p:txBody>
            <a:bodyPr/>
            <a:lstStyle/>
            <a:p/>
          </p:txBody>
        </p:sp>
        <p:sp>
          <p:nvSpPr>
            <p:cNvPr id="20" name="Roundrect 20"/>
            <p:cNvSpPr/>
            <p:nvPr/>
          </p:nvSpPr>
          <p:spPr>
            <a:xfrm>
              <a:off x="438150" y="3429000"/>
              <a:ext cx="581025" cy="276225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/>
            <a:lstStyle/>
            <a:p/>
          </p:txBody>
        </p:sp>
        <p:sp>
          <p:nvSpPr>
            <p:cNvPr id="21" name="Roundrect 21"/>
            <p:cNvSpPr/>
            <p:nvPr/>
          </p:nvSpPr>
          <p:spPr>
            <a:xfrm>
              <a:off x="438150" y="5619750"/>
              <a:ext cx="581025" cy="276225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/>
            <a:lstStyle/>
            <a:p/>
          </p:txBody>
        </p:sp>
        <p:sp>
          <p:nvSpPr>
            <p:cNvPr id="22" name="Roundrect 22"/>
            <p:cNvSpPr/>
            <p:nvPr/>
          </p:nvSpPr>
          <p:spPr>
            <a:xfrm>
              <a:off x="438150" y="7829550"/>
              <a:ext cx="581025" cy="276225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/>
            <a:lstStyle/>
            <a:p/>
          </p:txBody>
        </p:sp>
        <p:sp>
          <p:nvSpPr>
            <p:cNvPr id="23" name="Roundrect 23"/>
            <p:cNvSpPr/>
            <p:nvPr/>
          </p:nvSpPr>
          <p:spPr>
            <a:xfrm>
              <a:off x="438150" y="9925050"/>
              <a:ext cx="581025" cy="276225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/>
            <a:lstStyle/>
            <a:p/>
          </p:txBody>
        </p:sp>
        <p:sp>
          <p:nvSpPr>
            <p:cNvPr id="24" name="Roundrect 24"/>
            <p:cNvSpPr/>
            <p:nvPr/>
          </p:nvSpPr>
          <p:spPr>
            <a:xfrm>
              <a:off x="438150" y="11506200"/>
              <a:ext cx="581025" cy="276225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/>
            <a:lstStyle/>
            <a:p/>
          </p:txBody>
        </p:sp>
        <p:sp>
          <p:nvSpPr>
            <p:cNvPr id="70" name="Roundrect 70"/>
            <p:cNvSpPr/>
            <p:nvPr/>
          </p:nvSpPr>
          <p:spPr>
            <a:xfrm>
              <a:off x="1171575" y="12411075"/>
              <a:ext cx="10553700" cy="733425"/>
            </a:xfrm>
            <a:prstGeom prst="roundRect">
              <a:avLst>
                <a:gd name="adj" fmla="val 6494"/>
              </a:avLst>
            </a:prstGeom>
            <a:solidFill>
              <a:srgbClr val="FAFAFA"/>
            </a:solidFill>
            <a:ln w="19050">
              <a:solidFill>
                <a:srgbClr val="45434B"/>
              </a:solidFill>
            </a:ln>
          </p:spPr>
          <p:txBody>
            <a:bodyPr/>
            <a:lstStyle/>
            <a:p/>
          </p:txBody>
        </p:sp>
        <p:pic>
          <p:nvPicPr>
            <p:cNvPr id="121" name="tum"/>
            <p:cNvPicPr/>
            <p:nvPr/>
          </p:nvPicPr>
          <p:blipFill>
            <a:blip r:embed="rId52"/>
            <a:stretch>
              <a:fillRect/>
            </a:stretch>
          </p:blipFill>
          <p:spPr>
            <a:xfrm>
              <a:off x="1476375" y="12506325"/>
              <a:ext cx="285750" cy="285750"/>
            </a:xfrm>
            <a:prstGeom prst="rect">
              <a:avLst/>
            </a:prstGeom>
          </p:spPr>
        </p:pic>
        <p:pic>
          <p:nvPicPr>
            <p:cNvPr id="122" name="deepmind"/>
            <p:cNvPicPr/>
            <p:nvPr/>
          </p:nvPicPr>
          <p:blipFill>
            <a:blip r:embed="rId53"/>
            <a:stretch>
              <a:fillRect/>
            </a:stretch>
          </p:blipFill>
          <p:spPr>
            <a:xfrm>
              <a:off x="4962525" y="12506325"/>
              <a:ext cx="285750" cy="285750"/>
            </a:xfrm>
            <a:prstGeom prst="rect">
              <a:avLst/>
            </a:prstGeom>
          </p:spPr>
        </p:pic>
        <p:pic>
          <p:nvPicPr>
            <p:cNvPr id="123" name="uber"/>
            <p:cNvPicPr/>
            <p:nvPr/>
          </p:nvPicPr>
          <p:blipFill>
            <a:blip r:embed="rId54"/>
            <a:stretch>
              <a:fillRect/>
            </a:stretch>
          </p:blipFill>
          <p:spPr>
            <a:xfrm>
              <a:off x="8448675" y="12506325"/>
              <a:ext cx="285750" cy="285750"/>
            </a:xfrm>
            <a:prstGeom prst="rect">
              <a:avLst/>
            </a:prstGeom>
          </p:spPr>
        </p:pic>
        <p:sp>
          <p:nvSpPr>
            <p:cNvPr id="124" name="TextBox 124"/>
            <p:cNvSpPr txBox="1"/>
            <p:nvPr/>
          </p:nvSpPr>
          <p:spPr>
            <a:xfrm>
              <a:off x="523875" y="133350"/>
              <a:ext cx="1114425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7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Research routes toward recursive self-improvement</a:t>
              </a:r>
              <a:endParaRPr lang="zh-CN" sz="2700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523875" y="609600"/>
              <a:ext cx="11144250" cy="3143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600" b="1">
                  <a:solidFill>
                    <a:srgbClr val="606060"/>
                  </a:solidFill>
                  <a:latin typeface="Times New Roman"/>
                  <a:ea typeface="Times New Roman"/>
                  <a:cs typeface="Times New Roman"/>
                </a:rPr>
                <a:t>Selected milestones by first public year | Historical roots and the foundation-model era</a:t>
              </a:r>
              <a:endParaRPr lang="zh-CN" sz="1600"/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447675" y="3429000"/>
              <a:ext cx="5619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sz="1800"/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447675" y="5619750"/>
              <a:ext cx="5619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800"/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447675" y="7829550"/>
              <a:ext cx="5619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800"/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447675" y="9925050"/>
              <a:ext cx="5619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800"/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447675" y="11506200"/>
              <a:ext cx="5619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2022</a:t>
              </a:r>
              <a:endParaRPr lang="zh-CN" sz="1800"/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1885950" y="12477750"/>
              <a:ext cx="2714625" cy="295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Gödel Machine</a:t>
              </a:r>
              <a:endParaRPr lang="zh-CN" sz="1800"/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1514475" y="12801600"/>
              <a:ext cx="3171825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00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2003 | Provable self-modification</a:t>
              </a:r>
              <a:endParaRPr lang="zh-CN" sz="1300"/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5372100" y="12477750"/>
              <a:ext cx="2714625" cy="295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Learned optimizers</a:t>
              </a:r>
              <a:endParaRPr lang="zh-CN" sz="1800"/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5000625" y="12801600"/>
              <a:ext cx="3171825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00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2016 | Learning update rules</a:t>
              </a:r>
              <a:endParaRPr lang="zh-CN" sz="1300"/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8858250" y="12477750"/>
              <a:ext cx="2714625" cy="295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POET</a:t>
              </a:r>
              <a:endParaRPr lang="zh-CN" sz="1800"/>
            </a:p>
          </p:txBody>
        </p:sp>
        <p:sp>
          <p:nvSpPr>
            <p:cNvPr id="194" name="TextBox 194"/>
            <p:cNvSpPr txBox="1"/>
            <p:nvPr/>
          </p:nvSpPr>
          <p:spPr>
            <a:xfrm>
              <a:off x="8486775" y="12801600"/>
              <a:ext cx="3171825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00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2019 | Tasks and solvers co-evolve</a:t>
              </a:r>
              <a:endParaRPr lang="zh-CN" sz="1300"/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1438275" y="13230225"/>
              <a:ext cx="102870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00" b="1">
                  <a:solidFill>
                    <a:srgbClr val="606060"/>
                  </a:solidFill>
                  <a:latin typeface="Times New Roman"/>
                  <a:ea typeface="Times New Roman"/>
                  <a:cs typeface="Times New Roman"/>
                </a:rPr>
                <a:t>Marks: selected affiliations | Ind.: independent researchers | Branches: research routes, not technical ancestry</a:t>
              </a:r>
              <a:endParaRPr lang="zh-CN" sz="1300"/>
            </a:p>
          </p:txBody>
        </p:sp>
        <p:grpSp>
          <p:nvGrpSpPr>
            <p:cNvPr id="203" name="header-border-0"/>
            <p:cNvGrpSpPr/>
            <p:nvPr/>
          </p:nvGrpSpPr>
          <p:grpSpPr>
            <a:xfrm>
              <a:off x="1295400" y="1009650"/>
              <a:ext cx="1647825" cy="1409700"/>
              <a:chOff x="1295400" y="1009650"/>
              <a:chExt cx="1647825" cy="1409700"/>
            </a:xfrm>
          </p:grpSpPr>
          <p:sp>
            <p:nvSpPr>
              <p:cNvPr id="14" name="Roundrect 14"/>
              <p:cNvSpPr/>
              <p:nvPr/>
            </p:nvSpPr>
            <p:spPr>
              <a:xfrm>
                <a:off x="129540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AF7F0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1" name="data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5262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26" name="TextBox 126"/>
              <p:cNvSpPr txBox="1"/>
              <p:nvPr/>
            </p:nvSpPr>
            <p:spPr>
              <a:xfrm>
                <a:off x="133350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AA8447"/>
                    </a:solidFill>
                    <a:latin typeface="Times New Roman"/>
                    <a:ea typeface="Times New Roman"/>
                    <a:cs typeface="Times New Roman"/>
                  </a:rPr>
                  <a:t>Data &amp;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AA8447"/>
                    </a:solidFill>
                    <a:latin typeface="Times New Roman"/>
                    <a:ea typeface="Times New Roman"/>
                    <a:cs typeface="Times New Roman"/>
                  </a:rPr>
                  <a:t>training</a:t>
                </a:r>
                <a:endParaRPr lang="zh-CN" sz="1800"/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132397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Synthetic data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Persistent updates</a:t>
                </a:r>
                <a:endParaRPr lang="zh-CN" sz="1250"/>
              </a:p>
            </p:txBody>
          </p:sp>
        </p:grpSp>
        <p:grpSp>
          <p:nvGrpSpPr>
            <p:cNvPr id="204" name="header-border-1"/>
            <p:cNvGrpSpPr/>
            <p:nvPr/>
          </p:nvGrpSpPr>
          <p:grpSpPr>
            <a:xfrm>
              <a:off x="3028950" y="1009650"/>
              <a:ext cx="1647825" cy="1409700"/>
              <a:chOff x="3028950" y="1009650"/>
              <a:chExt cx="1647825" cy="1409700"/>
            </a:xfrm>
          </p:grpSpPr>
          <p:sp>
            <p:nvSpPr>
              <p:cNvPr id="15" name="Roundrect 15"/>
              <p:cNvSpPr/>
              <p:nvPr/>
            </p:nvSpPr>
            <p:spPr>
              <a:xfrm>
                <a:off x="302895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0F7F3"/>
              </a:solidFill>
              <a:ln w="19050">
                <a:solidFill>
                  <a:srgbClr val="43877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2" name="tasks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8617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28" name="TextBox 128"/>
              <p:cNvSpPr txBox="1"/>
              <p:nvPr/>
            </p:nvSpPr>
            <p:spPr>
              <a:xfrm>
                <a:off x="306705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438775"/>
                    </a:solidFill>
                    <a:latin typeface="Times New Roman"/>
                    <a:ea typeface="Times New Roman"/>
                    <a:cs typeface="Times New Roman"/>
                  </a:rPr>
                  <a:t>Tasks &amp;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438775"/>
                    </a:solidFill>
                    <a:latin typeface="Times New Roman"/>
                    <a:ea typeface="Times New Roman"/>
                    <a:cs typeface="Times New Roman"/>
                  </a:rPr>
                  <a:t>curricula</a:t>
                </a:r>
                <a:endParaRPr lang="zh-CN" sz="1800"/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305752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Task generation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Environment feedback</a:t>
                </a:r>
                <a:endParaRPr lang="zh-CN" sz="1250"/>
              </a:p>
            </p:txBody>
          </p:sp>
        </p:grpSp>
        <p:grpSp>
          <p:nvGrpSpPr>
            <p:cNvPr id="205" name="header-border-2"/>
            <p:cNvGrpSpPr/>
            <p:nvPr/>
          </p:nvGrpSpPr>
          <p:grpSpPr>
            <a:xfrm>
              <a:off x="4762500" y="1009650"/>
              <a:ext cx="1647825" cy="1409700"/>
              <a:chOff x="4762500" y="1009650"/>
              <a:chExt cx="1647825" cy="1409700"/>
            </a:xfrm>
          </p:grpSpPr>
          <p:sp>
            <p:nvSpPr>
              <p:cNvPr id="16" name="Roundrect 16"/>
              <p:cNvSpPr/>
              <p:nvPr/>
            </p:nvSpPr>
            <p:spPr>
              <a:xfrm>
                <a:off x="476250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0F6FA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3" name="memory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1972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30" name="TextBox 130"/>
              <p:cNvSpPr txBox="1"/>
              <p:nvPr/>
            </p:nvSpPr>
            <p:spPr>
              <a:xfrm>
                <a:off x="480060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4D87A3"/>
                    </a:solidFill>
                    <a:latin typeface="Times New Roman"/>
                    <a:ea typeface="Times New Roman"/>
                    <a:cs typeface="Times New Roman"/>
                  </a:rPr>
                  <a:t>Memory &amp;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4D87A3"/>
                    </a:solidFill>
                    <a:latin typeface="Times New Roman"/>
                    <a:ea typeface="Times New Roman"/>
                    <a:cs typeface="Times New Roman"/>
                  </a:rPr>
                  <a:t>skills</a:t>
                </a:r>
                <a:endParaRPr lang="zh-CN" sz="1800"/>
              </a:p>
            </p:txBody>
          </p:sp>
          <p:sp>
            <p:nvSpPr>
              <p:cNvPr id="131" name="TextBox 131"/>
              <p:cNvSpPr txBox="1"/>
              <p:nvPr/>
            </p:nvSpPr>
            <p:spPr>
              <a:xfrm>
                <a:off x="479107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Reflective memory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Reusable knowledge</a:t>
                </a:r>
                <a:endParaRPr lang="zh-CN" sz="1250"/>
              </a:p>
            </p:txBody>
          </p:sp>
        </p:grpSp>
        <p:grpSp>
          <p:nvGrpSpPr>
            <p:cNvPr id="206" name="header-border-3"/>
            <p:cNvGrpSpPr/>
            <p:nvPr/>
          </p:nvGrpSpPr>
          <p:grpSpPr>
            <a:xfrm>
              <a:off x="6496050" y="1009650"/>
              <a:ext cx="1647825" cy="1409700"/>
              <a:chOff x="6496050" y="1009650"/>
              <a:chExt cx="1647825" cy="1409700"/>
            </a:xfrm>
          </p:grpSpPr>
          <p:sp>
            <p:nvSpPr>
              <p:cNvPr id="17" name="Roundrect 17"/>
              <p:cNvSpPr/>
              <p:nvPr/>
            </p:nvSpPr>
            <p:spPr>
              <a:xfrm>
                <a:off x="649605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AF4F2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4" name="code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5327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32" name="TextBox 132"/>
              <p:cNvSpPr txBox="1"/>
              <p:nvPr/>
            </p:nvSpPr>
            <p:spPr>
              <a:xfrm>
                <a:off x="653415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B77B74"/>
                    </a:solidFill>
                    <a:latin typeface="Times New Roman"/>
                    <a:ea typeface="Times New Roman"/>
                    <a:cs typeface="Times New Roman"/>
                  </a:rPr>
                  <a:t>Code &amp;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B77B74"/>
                    </a:solidFill>
                    <a:latin typeface="Times New Roman"/>
                    <a:ea typeface="Times New Roman"/>
                    <a:cs typeface="Times New Roman"/>
                  </a:rPr>
                  <a:t>workflows</a:t>
                </a:r>
                <a:endParaRPr lang="zh-CN" sz="1800"/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652462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Prompts and code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Agent architectures</a:t>
                </a:r>
                <a:endParaRPr lang="zh-CN" sz="1250"/>
              </a:p>
            </p:txBody>
          </p:sp>
        </p:grpSp>
        <p:grpSp>
          <p:nvGrpSpPr>
            <p:cNvPr id="207" name="header-border-4"/>
            <p:cNvGrpSpPr/>
            <p:nvPr/>
          </p:nvGrpSpPr>
          <p:grpSpPr>
            <a:xfrm>
              <a:off x="8229600" y="1009650"/>
              <a:ext cx="1647825" cy="1409700"/>
              <a:chOff x="8229600" y="1009650"/>
              <a:chExt cx="1647825" cy="1409700"/>
            </a:xfrm>
          </p:grpSpPr>
          <p:sp>
            <p:nvSpPr>
              <p:cNvPr id="18" name="Roundrect 18"/>
              <p:cNvSpPr/>
              <p:nvPr/>
            </p:nvSpPr>
            <p:spPr>
              <a:xfrm>
                <a:off x="822960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7F2FA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5" name="feedback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8682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34" name="TextBox 134"/>
              <p:cNvSpPr txBox="1"/>
              <p:nvPr/>
            </p:nvSpPr>
            <p:spPr>
              <a:xfrm>
                <a:off x="826770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916FA4"/>
                    </a:solidFill>
                    <a:latin typeface="Times New Roman"/>
                    <a:ea typeface="Times New Roman"/>
                    <a:cs typeface="Times New Roman"/>
                  </a:rPr>
                  <a:t>Feedback &amp;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916FA4"/>
                    </a:solidFill>
                    <a:latin typeface="Times New Roman"/>
                    <a:ea typeface="Times New Roman"/>
                    <a:cs typeface="Times New Roman"/>
                  </a:rPr>
                  <a:t>judges</a:t>
                </a:r>
                <a:endParaRPr lang="zh-CN" sz="1800"/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825817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Learned rewards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Evaluator learning</a:t>
                </a:r>
                <a:endParaRPr lang="zh-CN" sz="1250"/>
              </a:p>
            </p:txBody>
          </p:sp>
        </p:grpSp>
        <p:grpSp>
          <p:nvGrpSpPr>
            <p:cNvPr id="208" name="header-border-5"/>
            <p:cNvGrpSpPr/>
            <p:nvPr/>
          </p:nvGrpSpPr>
          <p:grpSpPr>
            <a:xfrm>
              <a:off x="9963150" y="1009650"/>
              <a:ext cx="1647825" cy="1409700"/>
              <a:chOff x="9963150" y="1009650"/>
              <a:chExt cx="1647825" cy="1409700"/>
            </a:xfrm>
          </p:grpSpPr>
          <p:sp>
            <p:nvSpPr>
              <p:cNvPr id="19" name="Roundrect 19"/>
              <p:cNvSpPr/>
              <p:nvPr/>
            </p:nvSpPr>
            <p:spPr>
              <a:xfrm>
                <a:off x="996315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1F7F7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6" name="metaheader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2037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36" name="TextBox 136"/>
              <p:cNvSpPr txBox="1"/>
              <p:nvPr/>
            </p:nvSpPr>
            <p:spPr>
              <a:xfrm>
                <a:off x="1000125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4B9194"/>
                    </a:solidFill>
                    <a:latin typeface="Times New Roman"/>
                    <a:ea typeface="Times New Roman"/>
                    <a:cs typeface="Times New Roman"/>
                  </a:rPr>
                  <a:t>Meta-level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4B9194"/>
                    </a:solidFill>
                    <a:latin typeface="Times New Roman"/>
                    <a:ea typeface="Times New Roman"/>
                    <a:cs typeface="Times New Roman"/>
                  </a:rPr>
                  <a:t>improvement</a:t>
                </a:r>
                <a:endParaRPr lang="zh-CN" sz="1800"/>
              </a:p>
            </p:txBody>
          </p:sp>
          <p:sp>
            <p:nvSpPr>
              <p:cNvPr id="137" name="TextBox 137"/>
              <p:cNvSpPr txBox="1"/>
              <p:nvPr/>
            </p:nvSpPr>
            <p:spPr>
              <a:xfrm>
                <a:off x="999172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Update strategies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Research automation</a:t>
                </a:r>
                <a:endParaRPr lang="zh-CN" sz="1250"/>
              </a:p>
            </p:txBody>
          </p:sp>
        </p:grpSp>
        <p:grpSp>
          <p:nvGrpSpPr>
            <p:cNvPr id="209" name="method-border-0"/>
            <p:cNvGrpSpPr/>
            <p:nvPr/>
          </p:nvGrpSpPr>
          <p:grpSpPr>
            <a:xfrm>
              <a:off x="1295400" y="5048250"/>
              <a:ext cx="1647825" cy="409575"/>
              <a:chOff x="1295400" y="5048250"/>
              <a:chExt cx="1647825" cy="409575"/>
            </a:xfrm>
          </p:grpSpPr>
          <p:sp>
            <p:nvSpPr>
              <p:cNvPr id="25" name="Roundrect 25"/>
              <p:cNvSpPr/>
              <p:nvPr/>
            </p:nvSpPr>
            <p:spPr>
              <a:xfrm>
                <a:off x="1295400" y="50482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7" name="seal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43025" y="51149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3" name="TextBox 143"/>
              <p:cNvSpPr txBox="1"/>
              <p:nvPr/>
            </p:nvSpPr>
            <p:spPr>
              <a:xfrm>
                <a:off x="1619250" y="50577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SEAL</a:t>
                </a:r>
                <a:endParaRPr lang="zh-CN" sz="1550"/>
              </a:p>
            </p:txBody>
          </p:sp>
        </p:grpSp>
        <p:grpSp>
          <p:nvGrpSpPr>
            <p:cNvPr id="210" name="method-border-1"/>
            <p:cNvGrpSpPr/>
            <p:nvPr/>
          </p:nvGrpSpPr>
          <p:grpSpPr>
            <a:xfrm>
              <a:off x="1295400" y="6048375"/>
              <a:ext cx="1647825" cy="400050"/>
              <a:chOff x="1295400" y="6048375"/>
              <a:chExt cx="1647825" cy="400050"/>
            </a:xfrm>
          </p:grpSpPr>
          <p:sp>
            <p:nvSpPr>
              <p:cNvPr id="26" name="Roundrect 26"/>
              <p:cNvSpPr/>
              <p:nvPr/>
            </p:nvSpPr>
            <p:spPr>
              <a:xfrm>
                <a:off x="1295400" y="6048375"/>
                <a:ext cx="1647825" cy="400050"/>
              </a:xfrm>
              <a:prstGeom prst="roundRect">
                <a:avLst>
                  <a:gd name="adj" fmla="val 11905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8" name="tsinghua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3025" y="6110288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4" name="TextBox 144"/>
              <p:cNvSpPr txBox="1"/>
              <p:nvPr/>
            </p:nvSpPr>
            <p:spPr>
              <a:xfrm>
                <a:off x="1619250" y="6057900"/>
                <a:ext cx="13049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TTRL</a:t>
                </a:r>
                <a:endParaRPr lang="zh-CN" sz="1550"/>
              </a:p>
            </p:txBody>
          </p:sp>
        </p:grpSp>
        <p:grpSp>
          <p:nvGrpSpPr>
            <p:cNvPr id="211" name="method-border-2"/>
            <p:cNvGrpSpPr/>
            <p:nvPr/>
          </p:nvGrpSpPr>
          <p:grpSpPr>
            <a:xfrm>
              <a:off x="1295400" y="7029450"/>
              <a:ext cx="1647825" cy="409575"/>
              <a:chOff x="1295400" y="7029450"/>
              <a:chExt cx="1647825" cy="409575"/>
            </a:xfrm>
          </p:grpSpPr>
          <p:sp>
            <p:nvSpPr>
              <p:cNvPr id="27" name="Roundrect 27"/>
              <p:cNvSpPr/>
              <p:nvPr/>
            </p:nvSpPr>
            <p:spPr>
              <a:xfrm>
                <a:off x="1295400" y="70294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9" name="deepmind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43025" y="70961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5" name="TextBox 145"/>
              <p:cNvSpPr txBox="1"/>
              <p:nvPr/>
            </p:nvSpPr>
            <p:spPr>
              <a:xfrm>
                <a:off x="1619250" y="70389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SCoRe</a:t>
                </a:r>
                <a:endParaRPr lang="zh-CN" sz="1550"/>
              </a:p>
            </p:txBody>
          </p:sp>
        </p:grpSp>
        <p:grpSp>
          <p:nvGrpSpPr>
            <p:cNvPr id="212" name="method-border-3"/>
            <p:cNvGrpSpPr/>
            <p:nvPr/>
          </p:nvGrpSpPr>
          <p:grpSpPr>
            <a:xfrm>
              <a:off x="1295400" y="7515225"/>
              <a:ext cx="1647825" cy="390525"/>
              <a:chOff x="1295400" y="7515225"/>
              <a:chExt cx="1647825" cy="390525"/>
            </a:xfrm>
          </p:grpSpPr>
          <p:sp>
            <p:nvSpPr>
              <p:cNvPr id="28" name="Roundrect 28"/>
              <p:cNvSpPr/>
              <p:nvPr/>
            </p:nvSpPr>
            <p:spPr>
              <a:xfrm>
                <a:off x="1295400" y="7515225"/>
                <a:ext cx="1647825" cy="390525"/>
              </a:xfrm>
              <a:prstGeom prst="roundRect">
                <a:avLst>
                  <a:gd name="adj" fmla="val 12195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0" name="cmu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43025" y="75723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6" name="TextBox 146"/>
              <p:cNvSpPr txBox="1"/>
              <p:nvPr/>
            </p:nvSpPr>
            <p:spPr>
              <a:xfrm>
                <a:off x="1619250" y="7524750"/>
                <a:ext cx="1304925" cy="371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RISE</a:t>
                </a:r>
                <a:endParaRPr lang="zh-CN" sz="1550"/>
              </a:p>
            </p:txBody>
          </p:sp>
        </p:grpSp>
        <p:grpSp>
          <p:nvGrpSpPr>
            <p:cNvPr id="213" name="method-border-4"/>
            <p:cNvGrpSpPr/>
            <p:nvPr/>
          </p:nvGrpSpPr>
          <p:grpSpPr>
            <a:xfrm>
              <a:off x="1295400" y="8001000"/>
              <a:ext cx="1647825" cy="409575"/>
              <a:chOff x="1295400" y="8001000"/>
              <a:chExt cx="1647825" cy="409575"/>
            </a:xfrm>
          </p:grpSpPr>
          <p:sp>
            <p:nvSpPr>
              <p:cNvPr id="29" name="Roundrect 29"/>
              <p:cNvSpPr/>
              <p:nvPr/>
            </p:nvSpPr>
            <p:spPr>
              <a:xfrm>
                <a:off x="1295400" y="80010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1" name="stanford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43025" y="80676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7" name="TextBox 147"/>
              <p:cNvSpPr txBox="1"/>
              <p:nvPr/>
            </p:nvSpPr>
            <p:spPr>
              <a:xfrm>
                <a:off x="1619250" y="80105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Quiet-STaR</a:t>
                </a:r>
                <a:endParaRPr lang="zh-CN" sz="1550"/>
              </a:p>
            </p:txBody>
          </p:sp>
        </p:grpSp>
        <p:grpSp>
          <p:nvGrpSpPr>
            <p:cNvPr id="214" name="method-border-5"/>
            <p:cNvGrpSpPr/>
            <p:nvPr/>
          </p:nvGrpSpPr>
          <p:grpSpPr>
            <a:xfrm>
              <a:off x="1295400" y="8496300"/>
              <a:ext cx="1647825" cy="409575"/>
              <a:chOff x="1295400" y="8496300"/>
              <a:chExt cx="1647825" cy="409575"/>
            </a:xfrm>
          </p:grpSpPr>
          <p:sp>
            <p:nvSpPr>
              <p:cNvPr id="30" name="Roundrect 30"/>
              <p:cNvSpPr/>
              <p:nvPr/>
            </p:nvSpPr>
            <p:spPr>
              <a:xfrm>
                <a:off x="1295400" y="84963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2" name="ucla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43025" y="85629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8" name="TextBox 148"/>
              <p:cNvSpPr txBox="1"/>
              <p:nvPr/>
            </p:nvSpPr>
            <p:spPr>
              <a:xfrm>
                <a:off x="1619250" y="85058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SPIN</a:t>
                </a:r>
                <a:endParaRPr lang="zh-CN" sz="1550"/>
              </a:p>
            </p:txBody>
          </p:sp>
        </p:grpSp>
        <p:grpSp>
          <p:nvGrpSpPr>
            <p:cNvPr id="215" name="method-border-6"/>
            <p:cNvGrpSpPr/>
            <p:nvPr/>
          </p:nvGrpSpPr>
          <p:grpSpPr>
            <a:xfrm>
              <a:off x="1295400" y="9420225"/>
              <a:ext cx="1647825" cy="409575"/>
              <a:chOff x="1295400" y="9420225"/>
              <a:chExt cx="1647825" cy="409575"/>
            </a:xfrm>
          </p:grpSpPr>
          <p:sp>
            <p:nvSpPr>
              <p:cNvPr id="31" name="Roundrect 31"/>
              <p:cNvSpPr/>
              <p:nvPr/>
            </p:nvSpPr>
            <p:spPr>
              <a:xfrm>
                <a:off x="1295400" y="94202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3" name="deepmind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43025" y="94869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9" name="TextBox 149"/>
              <p:cNvSpPr txBox="1"/>
              <p:nvPr/>
            </p:nvSpPr>
            <p:spPr>
              <a:xfrm>
                <a:off x="1619250" y="94297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ReSTᴱᴹ</a:t>
                </a:r>
                <a:endParaRPr lang="zh-CN" sz="1550"/>
              </a:p>
            </p:txBody>
          </p:sp>
        </p:grpSp>
        <p:grpSp>
          <p:nvGrpSpPr>
            <p:cNvPr id="216" name="method-border-7"/>
            <p:cNvGrpSpPr/>
            <p:nvPr/>
          </p:nvGrpSpPr>
          <p:grpSpPr>
            <a:xfrm>
              <a:off x="1295400" y="10306050"/>
              <a:ext cx="1647825" cy="409575"/>
              <a:chOff x="1295400" y="10306050"/>
              <a:chExt cx="1647825" cy="409575"/>
            </a:xfrm>
          </p:grpSpPr>
          <p:sp>
            <p:nvSpPr>
              <p:cNvPr id="32" name="Roundrect 32"/>
              <p:cNvSpPr/>
              <p:nvPr/>
            </p:nvSpPr>
            <p:spPr>
              <a:xfrm>
                <a:off x="1295400" y="103060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4" name="deepmind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43025" y="103727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0" name="TextBox 150"/>
              <p:cNvSpPr txBox="1"/>
              <p:nvPr/>
            </p:nvSpPr>
            <p:spPr>
              <a:xfrm>
                <a:off x="1619250" y="103155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ReST</a:t>
                </a:r>
                <a:endParaRPr lang="zh-CN" sz="1550"/>
              </a:p>
            </p:txBody>
          </p:sp>
        </p:grpSp>
        <p:grpSp>
          <p:nvGrpSpPr>
            <p:cNvPr id="217" name="method-border-8"/>
            <p:cNvGrpSpPr/>
            <p:nvPr/>
          </p:nvGrpSpPr>
          <p:grpSpPr>
            <a:xfrm>
              <a:off x="1295400" y="11201400"/>
              <a:ext cx="1647825" cy="409575"/>
              <a:chOff x="1295400" y="11201400"/>
              <a:chExt cx="1647825" cy="409575"/>
            </a:xfrm>
          </p:grpSpPr>
          <p:sp>
            <p:nvSpPr>
              <p:cNvPr id="33" name="Roundrect 33"/>
              <p:cNvSpPr/>
              <p:nvPr/>
            </p:nvSpPr>
            <p:spPr>
              <a:xfrm>
                <a:off x="1295400" y="112014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5" name="washington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43025" y="112680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1" name="TextBox 151"/>
              <p:cNvSpPr txBox="1"/>
              <p:nvPr/>
            </p:nvSpPr>
            <p:spPr>
              <a:xfrm>
                <a:off x="1619250" y="112109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Self-Instruct</a:t>
                </a:r>
                <a:endParaRPr lang="zh-CN" sz="1550"/>
              </a:p>
            </p:txBody>
          </p:sp>
        </p:grpSp>
        <p:grpSp>
          <p:nvGrpSpPr>
            <p:cNvPr id="218" name="method-border-9"/>
            <p:cNvGrpSpPr/>
            <p:nvPr/>
          </p:nvGrpSpPr>
          <p:grpSpPr>
            <a:xfrm>
              <a:off x="1295400" y="11668125"/>
              <a:ext cx="1647825" cy="409575"/>
              <a:chOff x="1295400" y="11668125"/>
              <a:chExt cx="1647825" cy="409575"/>
            </a:xfrm>
          </p:grpSpPr>
          <p:sp>
            <p:nvSpPr>
              <p:cNvPr id="34" name="Roundrect 34"/>
              <p:cNvSpPr/>
              <p:nvPr/>
            </p:nvSpPr>
            <p:spPr>
              <a:xfrm>
                <a:off x="1295400" y="116681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6" name="stanford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43025" y="117348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2" name="TextBox 152"/>
              <p:cNvSpPr txBox="1"/>
              <p:nvPr/>
            </p:nvSpPr>
            <p:spPr>
              <a:xfrm>
                <a:off x="1619250" y="116776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STaR</a:t>
                </a:r>
                <a:endParaRPr lang="zh-CN" sz="1550"/>
              </a:p>
            </p:txBody>
          </p:sp>
        </p:grpSp>
        <p:grpSp>
          <p:nvGrpSpPr>
            <p:cNvPr id="219" name="method-border-10"/>
            <p:cNvGrpSpPr/>
            <p:nvPr/>
          </p:nvGrpSpPr>
          <p:grpSpPr>
            <a:xfrm>
              <a:off x="3028950" y="4867275"/>
              <a:ext cx="1647825" cy="409575"/>
              <a:chOff x="3028950" y="4867275"/>
              <a:chExt cx="1647825" cy="409575"/>
            </a:xfrm>
          </p:grpSpPr>
          <p:sp>
            <p:nvSpPr>
              <p:cNvPr id="35" name="Roundrect 35"/>
              <p:cNvSpPr/>
              <p:nvPr/>
            </p:nvSpPr>
            <p:spPr>
              <a:xfrm>
                <a:off x="3028950" y="48672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3877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7" name="alibaba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076575" y="49339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3" name="TextBox 153"/>
              <p:cNvSpPr txBox="1"/>
              <p:nvPr/>
            </p:nvSpPr>
            <p:spPr>
              <a:xfrm>
                <a:off x="3352800" y="48768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AgentEvolver</a:t>
                </a:r>
                <a:endParaRPr lang="zh-CN" sz="1550"/>
              </a:p>
            </p:txBody>
          </p:sp>
        </p:grpSp>
        <p:grpSp>
          <p:nvGrpSpPr>
            <p:cNvPr id="220" name="method-border-11"/>
            <p:cNvGrpSpPr/>
            <p:nvPr/>
          </p:nvGrpSpPr>
          <p:grpSpPr>
            <a:xfrm>
              <a:off x="3028950" y="5543550"/>
              <a:ext cx="1647825" cy="409575"/>
              <a:chOff x="3028950" y="5543550"/>
              <a:chExt cx="1647825" cy="409575"/>
            </a:xfrm>
          </p:grpSpPr>
          <p:sp>
            <p:nvSpPr>
              <p:cNvPr id="36" name="Roundrect 36"/>
              <p:cNvSpPr/>
              <p:nvPr/>
            </p:nvSpPr>
            <p:spPr>
              <a:xfrm>
                <a:off x="3028950" y="55435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3877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8" name="rzero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76575" y="56102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4" name="TextBox 154"/>
              <p:cNvSpPr txBox="1"/>
              <p:nvPr/>
            </p:nvSpPr>
            <p:spPr>
              <a:xfrm>
                <a:off x="3352800" y="55530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R-Zero</a:t>
                </a:r>
                <a:endParaRPr lang="zh-CN" sz="1550"/>
              </a:p>
            </p:txBody>
          </p:sp>
        </p:grpSp>
        <p:grpSp>
          <p:nvGrpSpPr>
            <p:cNvPr id="221" name="method-border-12"/>
            <p:cNvGrpSpPr/>
            <p:nvPr/>
          </p:nvGrpSpPr>
          <p:grpSpPr>
            <a:xfrm>
              <a:off x="3028950" y="6181725"/>
              <a:ext cx="1647825" cy="466725"/>
              <a:chOff x="3028950" y="6181725"/>
              <a:chExt cx="1647825" cy="466725"/>
            </a:xfrm>
          </p:grpSpPr>
          <p:sp>
            <p:nvSpPr>
              <p:cNvPr id="37" name="Roundrect 37"/>
              <p:cNvSpPr/>
              <p:nvPr/>
            </p:nvSpPr>
            <p:spPr>
              <a:xfrm>
                <a:off x="3028950" y="6181725"/>
                <a:ext cx="1647825" cy="466725"/>
              </a:xfrm>
              <a:prstGeom prst="roundRect">
                <a:avLst>
                  <a:gd name="adj" fmla="val 10204"/>
                </a:avLst>
              </a:prstGeom>
              <a:solidFill>
                <a:srgbClr val="FCFCFC"/>
              </a:solidFill>
              <a:ln w="19050">
                <a:solidFill>
                  <a:srgbClr val="43877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9" name="tsinghua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76575" y="62769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5" name="TextBox 155"/>
              <p:cNvSpPr txBox="1"/>
              <p:nvPr/>
            </p:nvSpPr>
            <p:spPr>
              <a:xfrm>
                <a:off x="3352800" y="6191250"/>
                <a:ext cx="130492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Absolute</a:t>
                </a:r>
                <a:endParaRPr lang="zh-CN" sz="1550"/>
              </a:p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Zero</a:t>
                </a:r>
                <a:endParaRPr lang="zh-CN" sz="1550"/>
              </a:p>
            </p:txBody>
          </p:sp>
        </p:grpSp>
        <p:grpSp>
          <p:nvGrpSpPr>
            <p:cNvPr id="222" name="method-border-13"/>
            <p:cNvGrpSpPr/>
            <p:nvPr/>
          </p:nvGrpSpPr>
          <p:grpSpPr>
            <a:xfrm>
              <a:off x="3028950" y="7762875"/>
              <a:ext cx="1647825" cy="409575"/>
              <a:chOff x="3028950" y="7762875"/>
              <a:chExt cx="1647825" cy="409575"/>
            </a:xfrm>
          </p:grpSpPr>
          <p:sp>
            <p:nvSpPr>
              <p:cNvPr id="38" name="Roundrect 38"/>
              <p:cNvSpPr/>
              <p:nvPr/>
            </p:nvSpPr>
            <p:spPr>
              <a:xfrm>
                <a:off x="3028950" y="77628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3877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0" name="agentgym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76575" y="78295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6" name="TextBox 156"/>
              <p:cNvSpPr txBox="1"/>
              <p:nvPr/>
            </p:nvSpPr>
            <p:spPr>
              <a:xfrm>
                <a:off x="3352800" y="77724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AgentGym</a:t>
                </a:r>
                <a:endParaRPr lang="zh-CN" sz="1550"/>
              </a:p>
            </p:txBody>
          </p:sp>
        </p:grpSp>
        <p:grpSp>
          <p:nvGrpSpPr>
            <p:cNvPr id="223" name="method-border-14"/>
            <p:cNvGrpSpPr/>
            <p:nvPr/>
          </p:nvGrpSpPr>
          <p:grpSpPr>
            <a:xfrm>
              <a:off x="4762500" y="3371850"/>
              <a:ext cx="1647825" cy="409575"/>
              <a:chOff x="4762500" y="3371850"/>
              <a:chExt cx="1647825" cy="409575"/>
            </a:xfrm>
          </p:grpSpPr>
          <p:sp>
            <p:nvSpPr>
              <p:cNvPr id="39" name="Roundrect 39"/>
              <p:cNvSpPr/>
              <p:nvPr/>
            </p:nvSpPr>
            <p:spPr>
              <a:xfrm>
                <a:off x="4762500" y="33718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1" name="unc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10125" y="34385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7" name="TextBox 157"/>
              <p:cNvSpPr txBox="1"/>
              <p:nvPr/>
            </p:nvSpPr>
            <p:spPr>
              <a:xfrm>
                <a:off x="5086350" y="33813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MetaClaw</a:t>
                </a:r>
                <a:endParaRPr lang="zh-CN" sz="1550"/>
              </a:p>
            </p:txBody>
          </p:sp>
        </p:grpSp>
        <p:grpSp>
          <p:nvGrpSpPr>
            <p:cNvPr id="224" name="method-border-15"/>
            <p:cNvGrpSpPr/>
            <p:nvPr/>
          </p:nvGrpSpPr>
          <p:grpSpPr>
            <a:xfrm>
              <a:off x="4762500" y="4867275"/>
              <a:ext cx="1647825" cy="409575"/>
              <a:chOff x="4762500" y="4867275"/>
              <a:chExt cx="1647825" cy="409575"/>
            </a:xfrm>
          </p:grpSpPr>
          <p:sp>
            <p:nvSpPr>
              <p:cNvPr id="40" name="Roundrect 40"/>
              <p:cNvSpPr/>
              <p:nvPr/>
            </p:nvSpPr>
            <p:spPr>
              <a:xfrm>
                <a:off x="4762500" y="48672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2" name="stanford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10125" y="49339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8" name="TextBox 158"/>
              <p:cNvSpPr txBox="1"/>
              <p:nvPr/>
            </p:nvSpPr>
            <p:spPr>
              <a:xfrm>
                <a:off x="5086350" y="48768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ACE</a:t>
                </a:r>
                <a:endParaRPr lang="zh-CN" sz="1550"/>
              </a:p>
            </p:txBody>
          </p:sp>
        </p:grpSp>
        <p:grpSp>
          <p:nvGrpSpPr>
            <p:cNvPr id="225" name="method-border-16"/>
            <p:cNvGrpSpPr/>
            <p:nvPr/>
          </p:nvGrpSpPr>
          <p:grpSpPr>
            <a:xfrm>
              <a:off x="4762500" y="5495925"/>
              <a:ext cx="1647825" cy="466725"/>
              <a:chOff x="4762500" y="5495925"/>
              <a:chExt cx="1647825" cy="466725"/>
            </a:xfrm>
          </p:grpSpPr>
          <p:sp>
            <p:nvSpPr>
              <p:cNvPr id="41" name="Roundrect 41"/>
              <p:cNvSpPr/>
              <p:nvPr/>
            </p:nvSpPr>
            <p:spPr>
              <a:xfrm>
                <a:off x="4762500" y="5495925"/>
                <a:ext cx="1647825" cy="466725"/>
              </a:xfrm>
              <a:prstGeom prst="roundRect">
                <a:avLst>
                  <a:gd name="adj" fmla="val 10204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3" name="stanford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810125" y="55911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9" name="TextBox 159"/>
              <p:cNvSpPr txBox="1"/>
              <p:nvPr/>
            </p:nvSpPr>
            <p:spPr>
              <a:xfrm>
                <a:off x="5086350" y="5505450"/>
                <a:ext cx="130492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Dynamic</a:t>
                </a:r>
                <a:endParaRPr lang="zh-CN" sz="1450"/>
              </a:p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Cheatsheet</a:t>
                </a:r>
                <a:endParaRPr lang="zh-CN" sz="1450"/>
              </a:p>
            </p:txBody>
          </p:sp>
        </p:grpSp>
        <p:grpSp>
          <p:nvGrpSpPr>
            <p:cNvPr id="226" name="method-border-17"/>
            <p:cNvGrpSpPr/>
            <p:nvPr/>
          </p:nvGrpSpPr>
          <p:grpSpPr>
            <a:xfrm>
              <a:off x="4762500" y="6191250"/>
              <a:ext cx="1647825" cy="419100"/>
              <a:chOff x="4762500" y="6191250"/>
              <a:chExt cx="1647825" cy="419100"/>
            </a:xfrm>
          </p:grpSpPr>
          <p:sp>
            <p:nvSpPr>
              <p:cNvPr id="42" name="Roundrect 42"/>
              <p:cNvSpPr/>
              <p:nvPr/>
            </p:nvSpPr>
            <p:spPr>
              <a:xfrm>
                <a:off x="4762500" y="6191250"/>
                <a:ext cx="1647825" cy="419100"/>
              </a:xfrm>
              <a:prstGeom prst="roundRect">
                <a:avLst>
                  <a:gd name="adj" fmla="val 11364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4" name="rutgers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10125" y="6262688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0" name="TextBox 160"/>
              <p:cNvSpPr txBox="1"/>
              <p:nvPr/>
            </p:nvSpPr>
            <p:spPr>
              <a:xfrm>
                <a:off x="5086350" y="6200775"/>
                <a:ext cx="13049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A-MEM</a:t>
                </a:r>
                <a:endParaRPr lang="zh-CN" sz="1550"/>
              </a:p>
            </p:txBody>
          </p:sp>
        </p:grpSp>
        <p:grpSp>
          <p:nvGrpSpPr>
            <p:cNvPr id="227" name="method-border-18"/>
            <p:cNvGrpSpPr/>
            <p:nvPr/>
          </p:nvGrpSpPr>
          <p:grpSpPr>
            <a:xfrm>
              <a:off x="4762500" y="9267825"/>
              <a:ext cx="1647825" cy="409575"/>
              <a:chOff x="4762500" y="9267825"/>
              <a:chExt cx="1647825" cy="409575"/>
            </a:xfrm>
          </p:grpSpPr>
          <p:sp>
            <p:nvSpPr>
              <p:cNvPr id="43" name="Roundrect 43"/>
              <p:cNvSpPr/>
              <p:nvPr/>
            </p:nvSpPr>
            <p:spPr>
              <a:xfrm>
                <a:off x="4762500" y="92678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5" name="tsinghua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810125" y="93345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1" name="TextBox 161"/>
              <p:cNvSpPr txBox="1"/>
              <p:nvPr/>
            </p:nvSpPr>
            <p:spPr>
              <a:xfrm>
                <a:off x="5086350" y="92773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ExpeL</a:t>
                </a:r>
                <a:endParaRPr lang="zh-CN" sz="1550"/>
              </a:p>
            </p:txBody>
          </p:sp>
        </p:grpSp>
        <p:grpSp>
          <p:nvGrpSpPr>
            <p:cNvPr id="228" name="method-border-19"/>
            <p:cNvGrpSpPr/>
            <p:nvPr/>
          </p:nvGrpSpPr>
          <p:grpSpPr>
            <a:xfrm>
              <a:off x="4762500" y="9858375"/>
              <a:ext cx="1647825" cy="409575"/>
              <a:chOff x="4762500" y="9858375"/>
              <a:chExt cx="1647825" cy="409575"/>
            </a:xfrm>
          </p:grpSpPr>
          <p:sp>
            <p:nvSpPr>
              <p:cNvPr id="44" name="Roundrect 44"/>
              <p:cNvSpPr/>
              <p:nvPr/>
            </p:nvSpPr>
            <p:spPr>
              <a:xfrm>
                <a:off x="4762500" y="98583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6" name="nvidia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10125" y="99250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2" name="TextBox 162"/>
              <p:cNvSpPr txBox="1"/>
              <p:nvPr/>
            </p:nvSpPr>
            <p:spPr>
              <a:xfrm>
                <a:off x="5086350" y="98679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Voyager</a:t>
                </a:r>
                <a:endParaRPr lang="zh-CN" sz="1550"/>
              </a:p>
            </p:txBody>
          </p:sp>
        </p:grpSp>
        <p:grpSp>
          <p:nvGrpSpPr>
            <p:cNvPr id="229" name="method-border-20"/>
            <p:cNvGrpSpPr/>
            <p:nvPr/>
          </p:nvGrpSpPr>
          <p:grpSpPr>
            <a:xfrm>
              <a:off x="4762500" y="10448925"/>
              <a:ext cx="1647825" cy="409575"/>
              <a:chOff x="4762500" y="10448925"/>
              <a:chExt cx="1647825" cy="409575"/>
            </a:xfrm>
          </p:grpSpPr>
          <p:sp>
            <p:nvSpPr>
              <p:cNvPr id="45" name="Roundrect 45"/>
              <p:cNvSpPr/>
              <p:nvPr/>
            </p:nvSpPr>
            <p:spPr>
              <a:xfrm>
                <a:off x="4762500" y="104489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7" name="northeastern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810125" y="105156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3" name="TextBox 163"/>
              <p:cNvSpPr txBox="1"/>
              <p:nvPr/>
            </p:nvSpPr>
            <p:spPr>
              <a:xfrm>
                <a:off x="5086350" y="104584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Reflexion</a:t>
                </a:r>
                <a:endParaRPr lang="zh-CN" sz="1550"/>
              </a:p>
            </p:txBody>
          </p:sp>
        </p:grpSp>
        <p:grpSp>
          <p:nvGrpSpPr>
            <p:cNvPr id="230" name="method-border-21"/>
            <p:cNvGrpSpPr/>
            <p:nvPr/>
          </p:nvGrpSpPr>
          <p:grpSpPr>
            <a:xfrm>
              <a:off x="6496050" y="3343275"/>
              <a:ext cx="1647825" cy="428625"/>
              <a:chOff x="6496050" y="3343275"/>
              <a:chExt cx="1647825" cy="428625"/>
            </a:xfrm>
          </p:grpSpPr>
          <p:sp>
            <p:nvSpPr>
              <p:cNvPr id="46" name="Roundrect 46"/>
              <p:cNvSpPr/>
              <p:nvPr/>
            </p:nvSpPr>
            <p:spPr>
              <a:xfrm>
                <a:off x="6496050" y="3343275"/>
                <a:ext cx="1647825" cy="428625"/>
              </a:xfrm>
              <a:prstGeom prst="roundRect">
                <a:avLst>
                  <a:gd name="adj" fmla="val 11111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8" name="prime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43675" y="34194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4" name="TextBox 164"/>
              <p:cNvSpPr txBox="1"/>
              <p:nvPr/>
            </p:nvSpPr>
            <p:spPr>
              <a:xfrm>
                <a:off x="6819900" y="3352800"/>
                <a:ext cx="130492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Prime Agent</a:t>
                </a:r>
                <a:endParaRPr lang="zh-CN" sz="1550"/>
              </a:p>
            </p:txBody>
          </p:sp>
        </p:grpSp>
        <p:grpSp>
          <p:nvGrpSpPr>
            <p:cNvPr id="231" name="method-border-22"/>
            <p:cNvGrpSpPr/>
            <p:nvPr/>
          </p:nvGrpSpPr>
          <p:grpSpPr>
            <a:xfrm>
              <a:off x="6496050" y="4876800"/>
              <a:ext cx="1647825" cy="409575"/>
              <a:chOff x="6496050" y="4876800"/>
              <a:chExt cx="1647825" cy="409575"/>
            </a:xfrm>
          </p:grpSpPr>
          <p:sp>
            <p:nvSpPr>
              <p:cNvPr id="47" name="Roundrect 47"/>
              <p:cNvSpPr/>
              <p:nvPr/>
            </p:nvSpPr>
            <p:spPr>
              <a:xfrm>
                <a:off x="6496050" y="48768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9" name="berkeley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543675" y="49434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5" name="TextBox 165"/>
              <p:cNvSpPr txBox="1"/>
              <p:nvPr/>
            </p:nvSpPr>
            <p:spPr>
              <a:xfrm>
                <a:off x="6819900" y="48863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GEPA</a:t>
                </a:r>
                <a:endParaRPr lang="zh-CN" sz="1550"/>
              </a:p>
            </p:txBody>
          </p:sp>
        </p:grpSp>
        <p:grpSp>
          <p:nvGrpSpPr>
            <p:cNvPr id="232" name="method-border-23"/>
            <p:cNvGrpSpPr/>
            <p:nvPr/>
          </p:nvGrpSpPr>
          <p:grpSpPr>
            <a:xfrm>
              <a:off x="6496050" y="5553075"/>
              <a:ext cx="1647825" cy="400050"/>
              <a:chOff x="6496050" y="5553075"/>
              <a:chExt cx="1647825" cy="400050"/>
            </a:xfrm>
          </p:grpSpPr>
          <p:sp>
            <p:nvSpPr>
              <p:cNvPr id="48" name="Roundrect 48"/>
              <p:cNvSpPr/>
              <p:nvPr/>
            </p:nvSpPr>
            <p:spPr>
              <a:xfrm>
                <a:off x="6496050" y="5553075"/>
                <a:ext cx="1647825" cy="400050"/>
              </a:xfrm>
              <a:prstGeom prst="roundRect">
                <a:avLst>
                  <a:gd name="adj" fmla="val 11905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0" name="ubc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43675" y="5614988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6" name="TextBox 166"/>
              <p:cNvSpPr txBox="1"/>
              <p:nvPr/>
            </p:nvSpPr>
            <p:spPr>
              <a:xfrm>
                <a:off x="6819900" y="5562600"/>
                <a:ext cx="13049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DGM</a:t>
                </a:r>
                <a:endParaRPr lang="zh-CN" sz="1550"/>
              </a:p>
            </p:txBody>
          </p:sp>
        </p:grpSp>
        <p:grpSp>
          <p:nvGrpSpPr>
            <p:cNvPr id="233" name="method-border-24"/>
            <p:cNvGrpSpPr/>
            <p:nvPr/>
          </p:nvGrpSpPr>
          <p:grpSpPr>
            <a:xfrm>
              <a:off x="6496050" y="6200775"/>
              <a:ext cx="1647825" cy="409575"/>
              <a:chOff x="6496050" y="6200775"/>
              <a:chExt cx="1647825" cy="409575"/>
            </a:xfrm>
          </p:grpSpPr>
          <p:sp>
            <p:nvSpPr>
              <p:cNvPr id="49" name="Roundrect 49"/>
              <p:cNvSpPr/>
              <p:nvPr/>
            </p:nvSpPr>
            <p:spPr>
              <a:xfrm>
                <a:off x="6496050" y="62007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1" name="sica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543675" y="62674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7" name="TextBox 167"/>
              <p:cNvSpPr txBox="1"/>
              <p:nvPr/>
            </p:nvSpPr>
            <p:spPr>
              <a:xfrm>
                <a:off x="6819900" y="62103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SICA</a:t>
                </a:r>
                <a:endParaRPr lang="zh-CN" sz="1550"/>
              </a:p>
            </p:txBody>
          </p:sp>
        </p:grpSp>
        <p:grpSp>
          <p:nvGrpSpPr>
            <p:cNvPr id="234" name="method-border-25"/>
            <p:cNvGrpSpPr/>
            <p:nvPr/>
          </p:nvGrpSpPr>
          <p:grpSpPr>
            <a:xfrm>
              <a:off x="6496050" y="7086600"/>
              <a:ext cx="1647825" cy="409575"/>
              <a:chOff x="6496050" y="7086600"/>
              <a:chExt cx="1647825" cy="409575"/>
            </a:xfrm>
          </p:grpSpPr>
          <p:sp>
            <p:nvSpPr>
              <p:cNvPr id="50" name="Roundrect 50"/>
              <p:cNvSpPr/>
              <p:nvPr/>
            </p:nvSpPr>
            <p:spPr>
              <a:xfrm>
                <a:off x="6496050" y="70866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2" name="hkust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43675" y="71532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8" name="TextBox 168"/>
              <p:cNvSpPr txBox="1"/>
              <p:nvPr/>
            </p:nvSpPr>
            <p:spPr>
              <a:xfrm>
                <a:off x="6819900" y="70961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AFlow</a:t>
                </a:r>
                <a:endParaRPr lang="zh-CN" sz="1550"/>
              </a:p>
            </p:txBody>
          </p:sp>
        </p:grpSp>
        <p:grpSp>
          <p:nvGrpSpPr>
            <p:cNvPr id="235" name="method-border-26"/>
            <p:cNvGrpSpPr/>
            <p:nvPr/>
          </p:nvGrpSpPr>
          <p:grpSpPr>
            <a:xfrm>
              <a:off x="6496050" y="7762875"/>
              <a:ext cx="1647825" cy="409575"/>
              <a:chOff x="6496050" y="7762875"/>
              <a:chExt cx="1647825" cy="409575"/>
            </a:xfrm>
          </p:grpSpPr>
          <p:sp>
            <p:nvSpPr>
              <p:cNvPr id="51" name="Roundrect 51"/>
              <p:cNvSpPr/>
              <p:nvPr/>
            </p:nvSpPr>
            <p:spPr>
              <a:xfrm>
                <a:off x="6496050" y="77628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3" name="ubc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543675" y="78295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9" name="TextBox 169"/>
              <p:cNvSpPr txBox="1"/>
              <p:nvPr/>
            </p:nvSpPr>
            <p:spPr>
              <a:xfrm>
                <a:off x="6819900" y="77724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ADAS</a:t>
                </a:r>
                <a:endParaRPr lang="zh-CN" sz="1550"/>
              </a:p>
            </p:txBody>
          </p:sp>
        </p:grpSp>
        <p:grpSp>
          <p:nvGrpSpPr>
            <p:cNvPr id="236" name="method-border-27"/>
            <p:cNvGrpSpPr/>
            <p:nvPr/>
          </p:nvGrpSpPr>
          <p:grpSpPr>
            <a:xfrm>
              <a:off x="6496050" y="8439150"/>
              <a:ext cx="1647825" cy="409575"/>
              <a:chOff x="6496050" y="8439150"/>
              <a:chExt cx="1647825" cy="409575"/>
            </a:xfrm>
          </p:grpSpPr>
          <p:sp>
            <p:nvSpPr>
              <p:cNvPr id="52" name="Roundrect 52"/>
              <p:cNvSpPr/>
              <p:nvPr/>
            </p:nvSpPr>
            <p:spPr>
              <a:xfrm>
                <a:off x="6496050" y="84391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4" name="stanford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43675" y="85058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0" name="TextBox 170"/>
              <p:cNvSpPr txBox="1"/>
              <p:nvPr/>
            </p:nvSpPr>
            <p:spPr>
              <a:xfrm>
                <a:off x="6819900" y="84486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TextGrad</a:t>
                </a:r>
                <a:endParaRPr lang="zh-CN" sz="1550"/>
              </a:p>
            </p:txBody>
          </p:sp>
        </p:grpSp>
        <p:grpSp>
          <p:nvGrpSpPr>
            <p:cNvPr id="237" name="method-border-28"/>
            <p:cNvGrpSpPr/>
            <p:nvPr/>
          </p:nvGrpSpPr>
          <p:grpSpPr>
            <a:xfrm>
              <a:off x="6496050" y="9420225"/>
              <a:ext cx="1647825" cy="409575"/>
              <a:chOff x="6496050" y="9420225"/>
              <a:chExt cx="1647825" cy="409575"/>
            </a:xfrm>
          </p:grpSpPr>
          <p:sp>
            <p:nvSpPr>
              <p:cNvPr id="53" name="Roundrect 53"/>
              <p:cNvSpPr/>
              <p:nvPr/>
            </p:nvSpPr>
            <p:spPr>
              <a:xfrm>
                <a:off x="6496050" y="94202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5" name="stanford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543675" y="94869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1" name="TextBox 171"/>
              <p:cNvSpPr txBox="1"/>
              <p:nvPr/>
            </p:nvSpPr>
            <p:spPr>
              <a:xfrm>
                <a:off x="6819900" y="94297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DSPy</a:t>
                </a:r>
                <a:endParaRPr lang="zh-CN" sz="1550"/>
              </a:p>
            </p:txBody>
          </p:sp>
        </p:grpSp>
        <p:grpSp>
          <p:nvGrpSpPr>
            <p:cNvPr id="238" name="method-border-29"/>
            <p:cNvGrpSpPr/>
            <p:nvPr/>
          </p:nvGrpSpPr>
          <p:grpSpPr>
            <a:xfrm>
              <a:off x="6496050" y="10296525"/>
              <a:ext cx="1647825" cy="409575"/>
              <a:chOff x="6496050" y="10296525"/>
              <a:chExt cx="1647825" cy="409575"/>
            </a:xfrm>
          </p:grpSpPr>
          <p:sp>
            <p:nvSpPr>
              <p:cNvPr id="54" name="Roundrect 54"/>
              <p:cNvSpPr/>
              <p:nvPr/>
            </p:nvSpPr>
            <p:spPr>
              <a:xfrm>
                <a:off x="6496050" y="102965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6" name="deepmind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43675" y="103632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2" name="TextBox 172"/>
              <p:cNvSpPr txBox="1"/>
              <p:nvPr/>
            </p:nvSpPr>
            <p:spPr>
              <a:xfrm>
                <a:off x="6819900" y="103060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OPRO</a:t>
                </a:r>
                <a:endParaRPr lang="zh-CN" sz="1550"/>
              </a:p>
            </p:txBody>
          </p:sp>
        </p:grpSp>
        <p:grpSp>
          <p:nvGrpSpPr>
            <p:cNvPr id="239" name="method-border-30"/>
            <p:cNvGrpSpPr/>
            <p:nvPr/>
          </p:nvGrpSpPr>
          <p:grpSpPr>
            <a:xfrm>
              <a:off x="8229600" y="5362575"/>
              <a:ext cx="1647825" cy="733425"/>
              <a:chOff x="8229600" y="5362575"/>
              <a:chExt cx="1647825" cy="733425"/>
            </a:xfrm>
          </p:grpSpPr>
          <p:sp>
            <p:nvSpPr>
              <p:cNvPr id="55" name="Roundrect 55"/>
              <p:cNvSpPr/>
              <p:nvPr/>
            </p:nvSpPr>
            <p:spPr>
              <a:xfrm>
                <a:off x="8229600" y="5362575"/>
                <a:ext cx="1647825" cy="733425"/>
              </a:xfrm>
              <a:prstGeom prst="roundRect">
                <a:avLst>
                  <a:gd name="adj" fmla="val 6494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7" name="process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277225" y="55911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3" name="TextBox 173"/>
              <p:cNvSpPr txBox="1"/>
              <p:nvPr/>
            </p:nvSpPr>
            <p:spPr>
              <a:xfrm>
                <a:off x="8553450" y="5372100"/>
                <a:ext cx="1304925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Process</a:t>
                </a:r>
                <a:endParaRPr lang="zh-CN" sz="1450"/>
              </a:p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Self-</a:t>
                </a:r>
                <a:endParaRPr lang="zh-CN" sz="1450"/>
              </a:p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Rewarding</a:t>
                </a:r>
                <a:endParaRPr lang="zh-CN" sz="1450"/>
              </a:p>
            </p:txBody>
          </p:sp>
        </p:grpSp>
        <p:grpSp>
          <p:nvGrpSpPr>
            <p:cNvPr id="240" name="method-border-31"/>
            <p:cNvGrpSpPr/>
            <p:nvPr/>
          </p:nvGrpSpPr>
          <p:grpSpPr>
            <a:xfrm>
              <a:off x="8229600" y="7010400"/>
              <a:ext cx="1647825" cy="409575"/>
              <a:chOff x="8229600" y="7010400"/>
              <a:chExt cx="1647825" cy="409575"/>
            </a:xfrm>
          </p:grpSpPr>
          <p:sp>
            <p:nvSpPr>
              <p:cNvPr id="56" name="Roundrect 56"/>
              <p:cNvSpPr/>
              <p:nvPr/>
            </p:nvSpPr>
            <p:spPr>
              <a:xfrm>
                <a:off x="8229600" y="70104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8" name="unc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277225" y="70770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4" name="TextBox 174"/>
              <p:cNvSpPr txBox="1"/>
              <p:nvPr/>
            </p:nvSpPr>
            <p:spPr>
              <a:xfrm>
                <a:off x="8553450" y="70199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CREAM</a:t>
                </a:r>
                <a:endParaRPr lang="zh-CN" sz="1550"/>
              </a:p>
            </p:txBody>
          </p:sp>
        </p:grpSp>
        <p:grpSp>
          <p:nvGrpSpPr>
            <p:cNvPr id="241" name="method-border-32"/>
            <p:cNvGrpSpPr/>
            <p:nvPr/>
          </p:nvGrpSpPr>
          <p:grpSpPr>
            <a:xfrm>
              <a:off x="8229600" y="7458075"/>
              <a:ext cx="1647825" cy="523875"/>
              <a:chOff x="8229600" y="7458075"/>
              <a:chExt cx="1647825" cy="523875"/>
            </a:xfrm>
          </p:grpSpPr>
          <p:sp>
            <p:nvSpPr>
              <p:cNvPr id="57" name="Roundrect 57"/>
              <p:cNvSpPr/>
              <p:nvPr/>
            </p:nvSpPr>
            <p:spPr>
              <a:xfrm>
                <a:off x="8229600" y="7458075"/>
                <a:ext cx="1647825" cy="523875"/>
              </a:xfrm>
              <a:prstGeom prst="roundRect">
                <a:avLst>
                  <a:gd name="adj" fmla="val 9091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9" name="meta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277225" y="75819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5" name="TextBox 175"/>
              <p:cNvSpPr txBox="1"/>
              <p:nvPr/>
            </p:nvSpPr>
            <p:spPr>
              <a:xfrm>
                <a:off x="8553450" y="7467600"/>
                <a:ext cx="1304925" cy="504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Self-Taught</a:t>
                </a:r>
                <a:endParaRPr lang="zh-CN" sz="1450"/>
              </a:p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Evaluators</a:t>
                </a:r>
                <a:endParaRPr lang="zh-CN" sz="1450"/>
              </a:p>
            </p:txBody>
          </p:sp>
        </p:grpSp>
        <p:grpSp>
          <p:nvGrpSpPr>
            <p:cNvPr id="242" name="method-border-33"/>
            <p:cNvGrpSpPr/>
            <p:nvPr/>
          </p:nvGrpSpPr>
          <p:grpSpPr>
            <a:xfrm>
              <a:off x="8229600" y="8001000"/>
              <a:ext cx="1647825" cy="457200"/>
              <a:chOff x="8229600" y="8001000"/>
              <a:chExt cx="1647825" cy="457200"/>
            </a:xfrm>
          </p:grpSpPr>
          <p:sp>
            <p:nvSpPr>
              <p:cNvPr id="58" name="Roundrect 58"/>
              <p:cNvSpPr/>
              <p:nvPr/>
            </p:nvSpPr>
            <p:spPr>
              <a:xfrm>
                <a:off x="8229600" y="8001000"/>
                <a:ext cx="1647825" cy="457200"/>
              </a:xfrm>
              <a:prstGeom prst="roundRect">
                <a:avLst>
                  <a:gd name="adj" fmla="val 10417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0" name="meta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277225" y="8091488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6" name="TextBox 176"/>
              <p:cNvSpPr txBox="1"/>
              <p:nvPr/>
            </p:nvSpPr>
            <p:spPr>
              <a:xfrm>
                <a:off x="8553450" y="8010525"/>
                <a:ext cx="130492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Meta-</a:t>
                </a:r>
                <a:endParaRPr lang="zh-CN" sz="1550"/>
              </a:p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Rewarding</a:t>
                </a:r>
                <a:endParaRPr lang="zh-CN" sz="1550"/>
              </a:p>
            </p:txBody>
          </p:sp>
        </p:grpSp>
        <p:grpSp>
          <p:nvGrpSpPr>
            <p:cNvPr id="243" name="method-border-34"/>
            <p:cNvGrpSpPr/>
            <p:nvPr/>
          </p:nvGrpSpPr>
          <p:grpSpPr>
            <a:xfrm>
              <a:off x="8229600" y="8477250"/>
              <a:ext cx="1647825" cy="504825"/>
              <a:chOff x="8229600" y="8477250"/>
              <a:chExt cx="1647825" cy="504825"/>
            </a:xfrm>
          </p:grpSpPr>
          <p:sp>
            <p:nvSpPr>
              <p:cNvPr id="59" name="Roundrect 59"/>
              <p:cNvSpPr/>
              <p:nvPr/>
            </p:nvSpPr>
            <p:spPr>
              <a:xfrm>
                <a:off x="8229600" y="8477250"/>
                <a:ext cx="1647825" cy="504825"/>
              </a:xfrm>
              <a:prstGeom prst="roundRect">
                <a:avLst>
                  <a:gd name="adj" fmla="val 9434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1" name="meta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277225" y="85915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7" name="TextBox 177"/>
              <p:cNvSpPr txBox="1"/>
              <p:nvPr/>
            </p:nvSpPr>
            <p:spPr>
              <a:xfrm>
                <a:off x="8553450" y="8486775"/>
                <a:ext cx="1304925" cy="485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Self-</a:t>
                </a:r>
                <a:endParaRPr lang="zh-CN" sz="1550"/>
              </a:p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Rewarding</a:t>
                </a:r>
                <a:endParaRPr lang="zh-CN" sz="1550"/>
              </a:p>
            </p:txBody>
          </p:sp>
        </p:grpSp>
        <p:grpSp>
          <p:nvGrpSpPr>
            <p:cNvPr id="244" name="method-border-35"/>
            <p:cNvGrpSpPr/>
            <p:nvPr/>
          </p:nvGrpSpPr>
          <p:grpSpPr>
            <a:xfrm>
              <a:off x="8229600" y="9867900"/>
              <a:ext cx="1647825" cy="409575"/>
              <a:chOff x="8229600" y="9867900"/>
              <a:chExt cx="1647825" cy="409575"/>
            </a:xfrm>
          </p:grpSpPr>
          <p:sp>
            <p:nvSpPr>
              <p:cNvPr id="60" name="Roundrect 60"/>
              <p:cNvSpPr/>
              <p:nvPr/>
            </p:nvSpPr>
            <p:spPr>
              <a:xfrm>
                <a:off x="8229600" y="98679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2" name="microsoft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277225" y="99345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8" name="TextBox 178"/>
              <p:cNvSpPr txBox="1"/>
              <p:nvPr/>
            </p:nvSpPr>
            <p:spPr>
              <a:xfrm>
                <a:off x="8553450" y="98774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CRITIC</a:t>
                </a:r>
                <a:endParaRPr lang="zh-CN" sz="1550"/>
              </a:p>
            </p:txBody>
          </p:sp>
        </p:grpSp>
        <p:grpSp>
          <p:nvGrpSpPr>
            <p:cNvPr id="245" name="method-border-36"/>
            <p:cNvGrpSpPr/>
            <p:nvPr/>
          </p:nvGrpSpPr>
          <p:grpSpPr>
            <a:xfrm>
              <a:off x="8229600" y="11382375"/>
              <a:ext cx="1647825" cy="504825"/>
              <a:chOff x="8229600" y="11382375"/>
              <a:chExt cx="1647825" cy="504825"/>
            </a:xfrm>
          </p:grpSpPr>
          <p:sp>
            <p:nvSpPr>
              <p:cNvPr id="61" name="Roundrect 61"/>
              <p:cNvSpPr/>
              <p:nvPr/>
            </p:nvSpPr>
            <p:spPr>
              <a:xfrm>
                <a:off x="8229600" y="11382375"/>
                <a:ext cx="1647825" cy="504825"/>
              </a:xfrm>
              <a:prstGeom prst="roundRect">
                <a:avLst>
                  <a:gd name="adj" fmla="val 9434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3" name="anthropic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277225" y="114966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9" name="TextBox 179"/>
              <p:cNvSpPr txBox="1"/>
              <p:nvPr/>
            </p:nvSpPr>
            <p:spPr>
              <a:xfrm>
                <a:off x="8553450" y="11391900"/>
                <a:ext cx="1304925" cy="485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Constitutional</a:t>
                </a:r>
                <a:endParaRPr lang="zh-CN" sz="1550"/>
              </a:p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AI</a:t>
                </a:r>
                <a:endParaRPr lang="zh-CN" sz="1550"/>
              </a:p>
            </p:txBody>
          </p:sp>
        </p:grpSp>
        <p:grpSp>
          <p:nvGrpSpPr>
            <p:cNvPr id="246" name="method-border-37"/>
            <p:cNvGrpSpPr/>
            <p:nvPr/>
          </p:nvGrpSpPr>
          <p:grpSpPr>
            <a:xfrm>
              <a:off x="9963150" y="2733675"/>
              <a:ext cx="1647825" cy="409575"/>
              <a:chOff x="9963150" y="2733675"/>
              <a:chExt cx="1647825" cy="409575"/>
            </a:xfrm>
          </p:grpSpPr>
          <p:sp>
            <p:nvSpPr>
              <p:cNvPr id="62" name="Roundrect 62"/>
              <p:cNvSpPr/>
              <p:nvPr/>
            </p:nvSpPr>
            <p:spPr>
              <a:xfrm>
                <a:off x="9963150" y="27336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4" name="minnesota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010775" y="28003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0" name="TextBox 180"/>
              <p:cNvSpPr txBox="1"/>
              <p:nvPr/>
            </p:nvSpPr>
            <p:spPr>
              <a:xfrm>
                <a:off x="10287000" y="27432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Metaⁿ</a:t>
                </a:r>
                <a:endParaRPr lang="zh-CN" sz="1550"/>
              </a:p>
            </p:txBody>
          </p:sp>
        </p:grpSp>
        <p:grpSp>
          <p:nvGrpSpPr>
            <p:cNvPr id="247" name="method-border-38"/>
            <p:cNvGrpSpPr/>
            <p:nvPr/>
          </p:nvGrpSpPr>
          <p:grpSpPr>
            <a:xfrm>
              <a:off x="9963150" y="3305175"/>
              <a:ext cx="1647825" cy="533400"/>
              <a:chOff x="9963150" y="3305175"/>
              <a:chExt cx="1647825" cy="533400"/>
            </a:xfrm>
          </p:grpSpPr>
          <p:sp>
            <p:nvSpPr>
              <p:cNvPr id="63" name="Roundrect 63"/>
              <p:cNvSpPr/>
              <p:nvPr/>
            </p:nvSpPr>
            <p:spPr>
              <a:xfrm>
                <a:off x="9963150" y="3305175"/>
                <a:ext cx="1647825" cy="533400"/>
              </a:xfrm>
              <a:prstGeom prst="roundRect">
                <a:avLst>
                  <a:gd name="adj" fmla="val 8929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81" name="TextBox 181"/>
              <p:cNvSpPr txBox="1"/>
              <p:nvPr/>
            </p:nvSpPr>
            <p:spPr>
              <a:xfrm>
                <a:off x="10001250" y="3457575"/>
                <a:ext cx="28575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90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Ind.</a:t>
                </a:r>
                <a:endParaRPr lang="zh-CN" sz="900"/>
              </a:p>
            </p:txBody>
          </p:sp>
          <p:sp>
            <p:nvSpPr>
              <p:cNvPr id="182" name="TextBox 182"/>
              <p:cNvSpPr txBox="1"/>
              <p:nvPr/>
            </p:nvSpPr>
            <p:spPr>
              <a:xfrm>
                <a:off x="10287000" y="3314700"/>
                <a:ext cx="130492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Bilevel</a:t>
                </a:r>
                <a:endParaRPr lang="zh-CN" sz="1450"/>
              </a:p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Autoresearch</a:t>
                </a:r>
                <a:endParaRPr lang="zh-CN" sz="1450"/>
              </a:p>
            </p:txBody>
          </p:sp>
        </p:grpSp>
        <p:grpSp>
          <p:nvGrpSpPr>
            <p:cNvPr id="248" name="method-border-39"/>
            <p:cNvGrpSpPr/>
            <p:nvPr/>
          </p:nvGrpSpPr>
          <p:grpSpPr>
            <a:xfrm>
              <a:off x="9963150" y="4010025"/>
              <a:ext cx="1647825" cy="409575"/>
              <a:chOff x="9963150" y="4010025"/>
              <a:chExt cx="1647825" cy="409575"/>
            </a:xfrm>
          </p:grpSpPr>
          <p:sp>
            <p:nvSpPr>
              <p:cNvPr id="64" name="Roundrect 64"/>
              <p:cNvSpPr/>
              <p:nvPr/>
            </p:nvSpPr>
            <p:spPr>
              <a:xfrm>
                <a:off x="9963150" y="40100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5" name="meta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010775" y="40767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3" name="TextBox 183"/>
              <p:cNvSpPr txBox="1"/>
              <p:nvPr/>
            </p:nvSpPr>
            <p:spPr>
              <a:xfrm>
                <a:off x="10287000" y="40195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Hyperagents</a:t>
                </a:r>
                <a:endParaRPr lang="zh-CN" sz="1550"/>
              </a:p>
            </p:txBody>
          </p:sp>
        </p:grpSp>
        <p:grpSp>
          <p:nvGrpSpPr>
            <p:cNvPr id="249" name="method-border-40"/>
            <p:cNvGrpSpPr/>
            <p:nvPr/>
          </p:nvGrpSpPr>
          <p:grpSpPr>
            <a:xfrm>
              <a:off x="9963150" y="5038725"/>
              <a:ext cx="1647825" cy="419100"/>
              <a:chOff x="9963150" y="5038725"/>
              <a:chExt cx="1647825" cy="419100"/>
            </a:xfrm>
          </p:grpSpPr>
          <p:sp>
            <p:nvSpPr>
              <p:cNvPr id="65" name="Roundrect 65"/>
              <p:cNvSpPr/>
              <p:nvPr/>
            </p:nvSpPr>
            <p:spPr>
              <a:xfrm>
                <a:off x="9963150" y="5038725"/>
                <a:ext cx="1647825" cy="419100"/>
              </a:xfrm>
              <a:prstGeom prst="roundRect">
                <a:avLst>
                  <a:gd name="adj" fmla="val 11364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6" name="deepmind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010775" y="5110162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4" name="TextBox 184"/>
              <p:cNvSpPr txBox="1"/>
              <p:nvPr/>
            </p:nvSpPr>
            <p:spPr>
              <a:xfrm>
                <a:off x="10287000" y="5048250"/>
                <a:ext cx="13049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AlphaEvolve</a:t>
                </a:r>
                <a:endParaRPr lang="zh-CN" sz="1550"/>
              </a:p>
            </p:txBody>
          </p:sp>
        </p:grpSp>
        <p:grpSp>
          <p:nvGrpSpPr>
            <p:cNvPr id="250" name="method-border-41"/>
            <p:cNvGrpSpPr/>
            <p:nvPr/>
          </p:nvGrpSpPr>
          <p:grpSpPr>
            <a:xfrm>
              <a:off x="9963150" y="6010275"/>
              <a:ext cx="1647825" cy="495300"/>
              <a:chOff x="9963150" y="6010275"/>
              <a:chExt cx="1647825" cy="495300"/>
            </a:xfrm>
          </p:grpSpPr>
          <p:sp>
            <p:nvSpPr>
              <p:cNvPr id="66" name="Roundrect 66"/>
              <p:cNvSpPr/>
              <p:nvPr/>
            </p:nvSpPr>
            <p:spPr>
              <a:xfrm>
                <a:off x="9963150" y="6010275"/>
                <a:ext cx="1647825" cy="495300"/>
              </a:xfrm>
              <a:prstGeom prst="roundRect">
                <a:avLst>
                  <a:gd name="adj" fmla="val 9615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7" name="aiscientist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010775" y="6119813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5" name="TextBox 185"/>
              <p:cNvSpPr txBox="1"/>
              <p:nvPr/>
            </p:nvSpPr>
            <p:spPr>
              <a:xfrm>
                <a:off x="10287000" y="6019800"/>
                <a:ext cx="1304925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AI</a:t>
                </a:r>
                <a:endParaRPr lang="zh-CN" sz="1550"/>
              </a:p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Scientist-v2</a:t>
                </a:r>
                <a:endParaRPr lang="zh-CN" sz="1550"/>
              </a:p>
            </p:txBody>
          </p:sp>
        </p:grpSp>
        <p:grpSp>
          <p:nvGrpSpPr>
            <p:cNvPr id="251" name="method-border-42"/>
            <p:cNvGrpSpPr/>
            <p:nvPr/>
          </p:nvGrpSpPr>
          <p:grpSpPr>
            <a:xfrm>
              <a:off x="9963150" y="7762875"/>
              <a:ext cx="1647825" cy="409575"/>
              <a:chOff x="9963150" y="7762875"/>
              <a:chExt cx="1647825" cy="409575"/>
            </a:xfrm>
          </p:grpSpPr>
          <p:sp>
            <p:nvSpPr>
              <p:cNvPr id="67" name="Roundrect 67"/>
              <p:cNvSpPr/>
              <p:nvPr/>
            </p:nvSpPr>
            <p:spPr>
              <a:xfrm>
                <a:off x="9963150" y="77628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8" name="aiscientist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010775" y="78295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6" name="TextBox 186"/>
              <p:cNvSpPr txBox="1"/>
              <p:nvPr/>
            </p:nvSpPr>
            <p:spPr>
              <a:xfrm>
                <a:off x="10287000" y="77724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AI Scientist</a:t>
                </a:r>
                <a:endParaRPr lang="zh-CN" sz="1550"/>
              </a:p>
            </p:txBody>
          </p:sp>
        </p:grpSp>
        <p:grpSp>
          <p:nvGrpSpPr>
            <p:cNvPr id="252" name="method-border-43"/>
            <p:cNvGrpSpPr/>
            <p:nvPr/>
          </p:nvGrpSpPr>
          <p:grpSpPr>
            <a:xfrm>
              <a:off x="9963150" y="9429750"/>
              <a:ext cx="1647825" cy="409575"/>
              <a:chOff x="9963150" y="9429750"/>
              <a:chExt cx="1647825" cy="409575"/>
            </a:xfrm>
          </p:grpSpPr>
          <p:sp>
            <p:nvSpPr>
              <p:cNvPr id="68" name="Roundrect 68"/>
              <p:cNvSpPr/>
              <p:nvPr/>
            </p:nvSpPr>
            <p:spPr>
              <a:xfrm>
                <a:off x="9963150" y="94297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9" name="microsoft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010775" y="94964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7" name="TextBox 187"/>
              <p:cNvSpPr txBox="1"/>
              <p:nvPr/>
            </p:nvSpPr>
            <p:spPr>
              <a:xfrm>
                <a:off x="10287000" y="94392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STOP</a:t>
                </a:r>
                <a:endParaRPr lang="zh-CN" sz="1550"/>
              </a:p>
            </p:txBody>
          </p:sp>
        </p:grpSp>
        <p:grpSp>
          <p:nvGrpSpPr>
            <p:cNvPr id="253" name="method-border-44"/>
            <p:cNvGrpSpPr/>
            <p:nvPr/>
          </p:nvGrpSpPr>
          <p:grpSpPr>
            <a:xfrm>
              <a:off x="9963150" y="10306050"/>
              <a:ext cx="1647825" cy="409575"/>
              <a:chOff x="9963150" y="10306050"/>
              <a:chExt cx="1647825" cy="409575"/>
            </a:xfrm>
          </p:grpSpPr>
          <p:sp>
            <p:nvSpPr>
              <p:cNvPr id="69" name="Roundrect 69"/>
              <p:cNvSpPr/>
              <p:nvPr/>
            </p:nvSpPr>
            <p:spPr>
              <a:xfrm>
                <a:off x="9963150" y="103060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20" name="deepmind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010775" y="103727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8" name="TextBox 188"/>
              <p:cNvSpPr txBox="1"/>
              <p:nvPr/>
            </p:nvSpPr>
            <p:spPr>
              <a:xfrm>
                <a:off x="10287000" y="103155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Promptbreeder</a:t>
                </a:r>
                <a:endParaRPr lang="zh-CN" sz="155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