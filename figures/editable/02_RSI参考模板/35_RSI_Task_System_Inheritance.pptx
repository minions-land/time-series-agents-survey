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668750" cy="127825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sp>
          <p:nvSpPr>
            <p:cNvPr id="2" name="Roundrect 2"/>
            <p:cNvSpPr/>
            <p:nvPr/>
          </p:nvSpPr>
          <p:spPr>
            <a:xfrm>
              <a:off x="14287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CAE9EE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3" name="Roundrect 3"/>
            <p:cNvSpPr/>
            <p:nvPr/>
          </p:nvSpPr>
          <p:spPr>
            <a:xfrm>
              <a:off x="61912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7F3E3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4" name="Roundrect 4"/>
            <p:cNvSpPr/>
            <p:nvPr/>
          </p:nvSpPr>
          <p:spPr>
            <a:xfrm>
              <a:off x="10953750" y="223837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CAE9EE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5" name="Roundrect 5"/>
            <p:cNvSpPr/>
            <p:nvPr/>
          </p:nvSpPr>
          <p:spPr>
            <a:xfrm>
              <a:off x="14287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5E2FA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6" name="Roundrect 6"/>
            <p:cNvSpPr/>
            <p:nvPr/>
          </p:nvSpPr>
          <p:spPr>
            <a:xfrm>
              <a:off x="61912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EEF0EA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7" name="Roundrect 7"/>
            <p:cNvSpPr/>
            <p:nvPr/>
          </p:nvSpPr>
          <p:spPr>
            <a:xfrm>
              <a:off x="10953750" y="5953125"/>
              <a:ext cx="3714750" cy="2381250"/>
            </a:xfrm>
            <a:prstGeom prst="roundRect">
              <a:avLst>
                <a:gd name="adj" fmla="val 7200"/>
              </a:avLst>
            </a:prstGeom>
            <a:solidFill>
              <a:srgbClr val="FFF9CF"/>
            </a:solidFill>
            <a:ln w="38100">
              <a:solidFill>
                <a:srgbClr val="3A3833"/>
              </a:solidFill>
            </a:ln>
          </p:spPr>
          <p:txBody>
            <a:bodyPr/>
            <a:lstStyle/>
            <a:p/>
          </p:txBody>
        </p:sp>
        <p:sp>
          <p:nvSpPr>
            <p:cNvPr id="8" name="Roundrect 8"/>
            <p:cNvSpPr/>
            <p:nvPr/>
          </p:nvSpPr>
          <p:spPr>
            <a:xfrm>
              <a:off x="1428750" y="10096500"/>
              <a:ext cx="13239750" cy="552450"/>
            </a:xfrm>
            <a:prstGeom prst="roundRect">
              <a:avLst>
                <a:gd name="adj" fmla="val 31034"/>
              </a:avLst>
            </a:prstGeom>
            <a:solidFill>
              <a:srgbClr val="F2F3EE"/>
            </a:solidFill>
            <a:ln w="38100">
              <a:solidFill>
                <a:srgbClr val="2C2D2C"/>
              </a:solidFill>
            </a:ln>
          </p:spPr>
          <p:txBody>
            <a:bodyPr/>
            <a:lstStyle/>
            <a:p/>
          </p:txBody>
        </p:sp>
        <p:pic>
          <p:nvPicPr>
            <p:cNvPr id="9" name="monitor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447925"/>
              <a:ext cx="1238250" cy="952500"/>
            </a:xfrm>
            <a:prstGeom prst="rect">
              <a:avLst/>
            </a:prstGeom>
          </p:spPr>
        </p:pic>
        <p:pic>
          <p:nvPicPr>
            <p:cNvPr id="10" name="document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429500" y="2447925"/>
              <a:ext cx="1238250" cy="952500"/>
            </a:xfrm>
            <a:prstGeom prst="rect">
              <a:avLst/>
            </a:prstGeom>
          </p:spPr>
        </p:pic>
        <p:pic>
          <p:nvPicPr>
            <p:cNvPr id="11" name="checked-document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2192000" y="2447925"/>
              <a:ext cx="1238250" cy="952500"/>
            </a:xfrm>
            <a:prstGeom prst="rect">
              <a:avLst/>
            </a:prstGeom>
          </p:spPr>
        </p:pic>
        <p:pic>
          <p:nvPicPr>
            <p:cNvPr id="12" name="code-files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6162675"/>
              <a:ext cx="1238250" cy="952500"/>
            </a:xfrm>
            <a:prstGeom prst="rect">
              <a:avLst/>
            </a:prstGeom>
          </p:spPr>
        </p:pic>
        <p:pic>
          <p:nvPicPr>
            <p:cNvPr id="13" name="document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429500" y="6162675"/>
              <a:ext cx="1238250" cy="952500"/>
            </a:xfrm>
            <a:prstGeom prst="rect">
              <a:avLst/>
            </a:prstGeom>
          </p:spPr>
        </p:pic>
        <p:pic>
          <p:nvPicPr>
            <p:cNvPr id="14" name="shield-check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12192000" y="6162675"/>
              <a:ext cx="1238250" cy="952500"/>
            </a:xfrm>
            <a:prstGeom prst="rect">
              <a:avLst/>
            </a:prstGeom>
          </p:spPr>
        </p:pic>
        <p:sp>
          <p:nvSpPr>
            <p:cNvPr id="15" name="Line 15"/>
            <p:cNvSpPr/>
            <p:nvPr/>
          </p:nvSpPr>
          <p:spPr>
            <a:xfrm>
              <a:off x="5143500" y="342900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6" name="Line 16"/>
            <p:cNvSpPr/>
            <p:nvPr/>
          </p:nvSpPr>
          <p:spPr>
            <a:xfrm>
              <a:off x="9906000" y="342900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7" name="Line 17"/>
            <p:cNvSpPr/>
            <p:nvPr/>
          </p:nvSpPr>
          <p:spPr>
            <a:xfrm>
              <a:off x="3286125" y="4619625"/>
              <a:ext cx="0" cy="133350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8" name="Line 18"/>
            <p:cNvSpPr/>
            <p:nvPr/>
          </p:nvSpPr>
          <p:spPr>
            <a:xfrm flipH="1">
              <a:off x="6858000" y="4619625"/>
              <a:ext cx="1190625" cy="1333500"/>
            </a:xfrm>
            <a:prstGeom prst="line">
              <a:avLst/>
            </a:prstGeom>
            <a:noFill/>
            <a:ln w="38100">
              <a:solidFill>
                <a:srgbClr val="357D83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9" name="Line 19"/>
            <p:cNvSpPr/>
            <p:nvPr/>
          </p:nvSpPr>
          <p:spPr>
            <a:xfrm>
              <a:off x="5143500" y="714375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0" name="Line 20"/>
            <p:cNvSpPr/>
            <p:nvPr/>
          </p:nvSpPr>
          <p:spPr>
            <a:xfrm>
              <a:off x="9906000" y="7143750"/>
              <a:ext cx="1047750" cy="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1" name="Line 21"/>
            <p:cNvSpPr/>
            <p:nvPr/>
          </p:nvSpPr>
          <p:spPr>
            <a:xfrm flipV="1">
              <a:off x="12811125" y="4619625"/>
              <a:ext cx="0" cy="1333500"/>
            </a:xfrm>
            <a:prstGeom prst="line">
              <a:avLst/>
            </a:prstGeom>
            <a:noFill/>
            <a:ln w="38100">
              <a:solidFill>
                <a:srgbClr val="222222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2" name="Line 22"/>
            <p:cNvSpPr/>
            <p:nvPr/>
          </p:nvSpPr>
          <p:spPr>
            <a:xfrm flipV="1">
              <a:off x="3286125" y="1428750"/>
              <a:ext cx="0" cy="809625"/>
            </a:xfrm>
            <a:prstGeom prst="line">
              <a:avLst/>
            </a:prstGeom>
            <a:noFill/>
            <a:ln w="50800">
              <a:solidFill>
                <a:srgbClr val="3C8085"/>
              </a:solidFill>
            </a:ln>
          </p:spPr>
          <p:txBody>
            <a:bodyPr/>
            <a:lstStyle/>
            <a:p/>
          </p:txBody>
        </p:sp>
        <p:sp>
          <p:nvSpPr>
            <p:cNvPr id="23" name="Line 23"/>
            <p:cNvSpPr/>
            <p:nvPr/>
          </p:nvSpPr>
          <p:spPr>
            <a:xfrm>
              <a:off x="3286125" y="1428750"/>
              <a:ext cx="9525000" cy="0"/>
            </a:xfrm>
            <a:prstGeom prst="line">
              <a:avLst/>
            </a:prstGeom>
            <a:noFill/>
            <a:ln w="50800">
              <a:solidFill>
                <a:srgbClr val="3C8085"/>
              </a:solidFill>
            </a:ln>
          </p:spPr>
          <p:txBody>
            <a:bodyPr/>
            <a:lstStyle/>
            <a:p/>
          </p:txBody>
        </p:sp>
        <p:sp>
          <p:nvSpPr>
            <p:cNvPr id="24" name="Line 24"/>
            <p:cNvSpPr/>
            <p:nvPr/>
          </p:nvSpPr>
          <p:spPr>
            <a:xfrm>
              <a:off x="12811125" y="1428750"/>
              <a:ext cx="0" cy="809625"/>
            </a:xfrm>
            <a:prstGeom prst="line">
              <a:avLst/>
            </a:prstGeom>
            <a:noFill/>
            <a:ln w="50800">
              <a:solidFill>
                <a:srgbClr val="3C808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5" name="Line 25"/>
            <p:cNvSpPr/>
            <p:nvPr/>
          </p:nvSpPr>
          <p:spPr>
            <a:xfrm>
              <a:off x="12811125" y="8334375"/>
              <a:ext cx="0" cy="695325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26" name="Line 26"/>
            <p:cNvSpPr/>
            <p:nvPr/>
          </p:nvSpPr>
          <p:spPr>
            <a:xfrm flipH="1">
              <a:off x="3286125" y="9029700"/>
              <a:ext cx="9525000" cy="0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</a:ln>
          </p:spPr>
          <p:txBody>
            <a:bodyPr/>
            <a:lstStyle/>
            <a:p/>
          </p:txBody>
        </p:sp>
        <p:sp>
          <p:nvSpPr>
            <p:cNvPr id="27" name="Line 27"/>
            <p:cNvSpPr/>
            <p:nvPr/>
          </p:nvSpPr>
          <p:spPr>
            <a:xfrm flipV="1">
              <a:off x="3286125" y="8334375"/>
              <a:ext cx="0" cy="695325"/>
            </a:xfrm>
            <a:prstGeom prst="line">
              <a:avLst/>
            </a:prstGeom>
            <a:noFill/>
            <a:ln w="50800">
              <a:solidFill>
                <a:srgbClr val="7A79CF"/>
              </a:solidFill>
              <a:prstDash val="dash"/>
              <a:tailEnd type="triangle"/>
            </a:ln>
          </p:spPr>
          <p:txBody>
            <a:bodyPr/>
            <a:lstStyle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334125" y="1028700"/>
              <a:ext cx="40005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Task-system inheritance</a:t>
              </a:r>
              <a:endParaRPr lang="zh-CN" sz="138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15000" y="1628775"/>
              <a:ext cx="57150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Retain capability for future tasks</a:t>
              </a:r>
              <a:endParaRPr lang="zh-CN" sz="19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02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system S_t</a:t>
              </a:r>
              <a:endParaRPr lang="zh-CN" sz="2500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621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Model, code,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memory, tools</a:t>
              </a:r>
              <a:endParaRPr lang="zh-CN" sz="19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627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Experience</a:t>
              </a:r>
              <a:endParaRPr lang="zh-CN" sz="25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46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Traces, outcomes,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failures</a:t>
              </a:r>
              <a:endParaRPr lang="zh-CN" sz="1900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25200" y="328612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Updated system S_{t+1}</a:t>
              </a:r>
              <a:endParaRPr lang="zh-CN" sz="16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5" y="381000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Accepted and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retained state</a:t>
              </a:r>
              <a:endParaRPr lang="zh-CN" sz="19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02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Improvement process I_t</a:t>
              </a:r>
              <a:endParaRPr lang="zh-CN" sz="1600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621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Diagnose, propose,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search</a:t>
              </a:r>
              <a:endParaRPr lang="zh-CN" sz="19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27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Candidate changes</a:t>
              </a:r>
              <a:endParaRPr lang="zh-CN" sz="250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46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System or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improvement process</a:t>
              </a:r>
              <a:endParaRPr lang="zh-CN" sz="1900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25200" y="7000875"/>
              <a:ext cx="3371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Validate &amp; select</a:t>
              </a:r>
              <a:endParaRPr lang="zh-CN" sz="250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87125" y="7524750"/>
              <a:ext cx="30480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Gains, regressions,</a:t>
              </a:r>
              <a:endParaRPr lang="zh-CN" sz="1900"/>
            </a:p>
            <a:p>
              <a:pPr algn="ctr"/>
              <a:r>
                <a:rPr lang="zh-CN"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cost</a:t>
              </a:r>
              <a:endParaRPr lang="zh-CN" sz="190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19700" y="3095625"/>
              <a:ext cx="904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execute</a:t>
              </a:r>
              <a:endParaRPr lang="zh-CN" sz="108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52750" y="4762500"/>
              <a:ext cx="12382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inspect</a:t>
              </a:r>
              <a:endParaRPr lang="zh-CN" sz="1900"/>
            </a:p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state</a:t>
              </a:r>
              <a:endParaRPr lang="zh-CN" sz="190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19700" y="5029200"/>
              <a:ext cx="12858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feedback</a:t>
              </a:r>
              <a:endParaRPr lang="zh-CN" sz="210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19700" y="6762750"/>
              <a:ext cx="100012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propose</a:t>
              </a:r>
              <a:endParaRPr lang="zh-CN" sz="2000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91750" y="6762750"/>
              <a:ext cx="666750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test</a:t>
              </a:r>
              <a:endParaRPr lang="zh-CN" sz="200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858625" y="4762500"/>
              <a:ext cx="18097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accept system</a:t>
              </a:r>
              <a:endParaRPr lang="zh-CN" sz="1900"/>
            </a:p>
            <a:p>
              <a:pPr algn="ctr"/>
              <a:r>
                <a:rPr lang="zh-CN"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update</a:t>
              </a:r>
              <a:endParaRPr lang="zh-CN" sz="190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05500" y="9096375"/>
              <a:ext cx="49530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Meta-improvement: in bevit I_{t+1}</a:t>
              </a:r>
              <a:endParaRPr lang="zh-CN" sz="117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95750" y="9601200"/>
              <a:ext cx="8334375" cy="333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Accepted changes govern how the next improvements are produced</a:t>
              </a:r>
              <a:endParaRPr lang="zh-CN" sz="190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76500" y="10210800"/>
              <a:ext cx="1114425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ctr"/>
              <a:r>
                <a:rPr lang="zh-CN"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Declared external anchors: task goals, protected evaluation, and resource budgets</a:t>
              </a:r>
              <a:endParaRPr lang="zh-CN" sz="180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85875" y="323850"/>
              <a:ext cx="561975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l"/>
              <a:r>
                <a:rPr lang="zh-CN"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Recursive self-improvement</a:t>
              </a:r>
              <a:endParaRPr lang="zh-CN" sz="310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77625" y="409575"/>
              <a:ext cx="3381375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 lIns="0" tIns="0" rIns="0" bIns="0">
              <a:noAutofit/>
            </a:bodyPr>
            <a:lstStyle/>
            <a:p>
              <a:pPr algn="r"/>
              <a:r>
                <a:rPr lang="zh-CN"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mechanism-level view</a:t>
              </a:r>
              <a:endParaRPr lang="zh-CN" sz="154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2875" y="10744200"/>
              <a:ext cx="1628775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 lIns="0" tIns="0" rIns="0" bIns="0">
              <a:noAutofit/>
            </a:bodyPr>
            <a:lstStyle/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Figure 1. A mechanism-level view of recursive self-improvement. Experience informs candidate changes.</a:t>
              </a:r>
              <a:endParaRPr lang="zh-CN" sz="1500"/>
            </a:p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Validation determines what is retained: the upper loop carries task-system state into later tasks; the dashed lower loop carries changes to the process that produce later improvements.</a:t>
              </a:r>
              <a:endParaRPr lang="zh-CN" sz="1500"/>
            </a:p>
            <a:p>
              <a:pPr algn="l"/>
              <a:r>
                <a:rPr lang="zh-CN"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External anchors specify the conditions outside the update scope. The diagram describes possible dependencies, rather than a guarantee of gains.</a:t>
              </a:r>
              <a:endParaRPr lang="zh-CN" sz="15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