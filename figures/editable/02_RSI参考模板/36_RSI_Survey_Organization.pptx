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6668750" cy="12782550" type="custom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-remaining-components"/>
          <p:cNvGrpSpPr/>
          <p:nvPr/>
        </p:nvGrpSpPr>
        <p:grpSpPr>
          <a:xfrm>
            <a:off x="0" y="0"/>
            <a:ext cx="15240000" cy="8572500"/>
            <a:chOff x="0" y="0"/>
            <a:chExt cx="15240000" cy="8572500"/>
          </a:xfrm>
        </p:grpSpPr>
        <p:sp>
          <p:nvSpPr>
            <p:cNvPr id="2" name="Roundrect 2"/>
            <p:cNvSpPr/>
            <p:nvPr/>
          </p:nvSpPr>
          <p:spPr>
            <a:xfrm>
              <a:off x="1816697" y="4692728"/>
              <a:ext cx="1975054" cy="1753848"/>
            </a:xfrm>
            <a:prstGeom prst="roundRect">
              <a:avLst>
                <a:gd name="adj" fmla="val 8108"/>
              </a:avLst>
            </a:prstGeom>
            <a:solidFill>
              <a:srgbClr val="CFE9EE"/>
            </a:solidFill>
            <a:ln w="25400">
              <a:solidFill>
                <a:srgbClr val="1F2937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3" name="Roundrect 3"/>
            <p:cNvSpPr/>
            <p:nvPr/>
          </p:nvSpPr>
          <p:spPr>
            <a:xfrm>
              <a:off x="4558072" y="742620"/>
              <a:ext cx="3752603" cy="829523"/>
            </a:xfrm>
            <a:prstGeom prst="roundRect">
              <a:avLst>
                <a:gd name="adj" fmla="val 19048"/>
              </a:avLst>
            </a:prstGeom>
            <a:solidFill>
              <a:srgbClr val="F8F5CB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4" name="Roundrect 4"/>
            <p:cNvSpPr/>
            <p:nvPr/>
          </p:nvSpPr>
          <p:spPr>
            <a:xfrm>
              <a:off x="4558072" y="1967154"/>
              <a:ext cx="3752603" cy="1106030"/>
            </a:xfrm>
            <a:prstGeom prst="roundRect">
              <a:avLst>
                <a:gd name="adj" fmla="val 14286"/>
              </a:avLst>
            </a:prstGeom>
            <a:solidFill>
              <a:srgbClr val="F8F5CB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5" name="Roundrect 5"/>
            <p:cNvSpPr/>
            <p:nvPr/>
          </p:nvSpPr>
          <p:spPr>
            <a:xfrm>
              <a:off x="4558072" y="3199588"/>
              <a:ext cx="3752603" cy="1106030"/>
            </a:xfrm>
            <a:prstGeom prst="roundRect">
              <a:avLst>
                <a:gd name="adj" fmla="val 14286"/>
              </a:avLst>
            </a:prstGeom>
            <a:solidFill>
              <a:srgbClr val="F8F5CB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6" name="Roundrect 6"/>
            <p:cNvSpPr/>
            <p:nvPr/>
          </p:nvSpPr>
          <p:spPr>
            <a:xfrm>
              <a:off x="4558072" y="4424121"/>
              <a:ext cx="3752603" cy="829523"/>
            </a:xfrm>
            <a:prstGeom prst="roundRect">
              <a:avLst>
                <a:gd name="adj" fmla="val 19048"/>
              </a:avLst>
            </a:prstGeom>
            <a:solidFill>
              <a:srgbClr val="DDEFD8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7" name="Roundrect 7"/>
            <p:cNvSpPr/>
            <p:nvPr/>
          </p:nvSpPr>
          <p:spPr>
            <a:xfrm>
              <a:off x="4558072" y="5664455"/>
              <a:ext cx="3752603" cy="1106030"/>
            </a:xfrm>
            <a:prstGeom prst="roundRect">
              <a:avLst>
                <a:gd name="adj" fmla="val 14286"/>
              </a:avLst>
            </a:prstGeom>
            <a:solidFill>
              <a:srgbClr val="DDEFD8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8" name="Roundrect 8"/>
            <p:cNvSpPr/>
            <p:nvPr/>
          </p:nvSpPr>
          <p:spPr>
            <a:xfrm>
              <a:off x="4558072" y="6888989"/>
              <a:ext cx="3752603" cy="1106030"/>
            </a:xfrm>
            <a:prstGeom prst="roundRect">
              <a:avLst>
                <a:gd name="adj" fmla="val 14286"/>
              </a:avLst>
            </a:prstGeom>
            <a:solidFill>
              <a:srgbClr val="DDEFD8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9" name="Roundrect 9"/>
            <p:cNvSpPr/>
            <p:nvPr/>
          </p:nvSpPr>
          <p:spPr>
            <a:xfrm>
              <a:off x="4558072" y="8121422"/>
              <a:ext cx="3752603" cy="1106030"/>
            </a:xfrm>
            <a:prstGeom prst="roundRect">
              <a:avLst>
                <a:gd name="adj" fmla="val 14286"/>
              </a:avLst>
            </a:prstGeom>
            <a:solidFill>
              <a:srgbClr val="C9E8EE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0" name="Roundrect 10"/>
            <p:cNvSpPr/>
            <p:nvPr/>
          </p:nvSpPr>
          <p:spPr>
            <a:xfrm>
              <a:off x="4558072" y="9353856"/>
              <a:ext cx="3752603" cy="1106030"/>
            </a:xfrm>
            <a:prstGeom prst="roundRect">
              <a:avLst>
                <a:gd name="adj" fmla="val 14286"/>
              </a:avLst>
            </a:prstGeom>
            <a:solidFill>
              <a:srgbClr val="E5DDF0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1" name="Roundrect 11"/>
            <p:cNvSpPr/>
            <p:nvPr/>
          </p:nvSpPr>
          <p:spPr>
            <a:xfrm>
              <a:off x="4558072" y="10586290"/>
              <a:ext cx="3752603" cy="829523"/>
            </a:xfrm>
            <a:prstGeom prst="roundRect">
              <a:avLst>
                <a:gd name="adj" fmla="val 19048"/>
              </a:avLst>
            </a:prstGeom>
            <a:solidFill>
              <a:srgbClr val="E5DDF0"/>
            </a:solidFill>
            <a:ln w="25400">
              <a:solidFill>
                <a:srgbClr val="202020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12" name="Roundrect 12"/>
            <p:cNvSpPr/>
            <p:nvPr/>
          </p:nvSpPr>
          <p:spPr>
            <a:xfrm>
              <a:off x="9179698" y="742620"/>
              <a:ext cx="5490650" cy="829523"/>
            </a:xfrm>
            <a:prstGeom prst="roundRect">
              <a:avLst>
                <a:gd name="adj" fmla="val 22857"/>
              </a:avLst>
            </a:prstGeom>
            <a:solidFill>
              <a:srgbClr val="FBFBEF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3" name="Roundrect 13"/>
            <p:cNvSpPr/>
            <p:nvPr/>
          </p:nvSpPr>
          <p:spPr>
            <a:xfrm>
              <a:off x="9179698" y="1967154"/>
              <a:ext cx="5490650" cy="829523"/>
            </a:xfrm>
            <a:prstGeom prst="roundRect">
              <a:avLst>
                <a:gd name="adj" fmla="val 22857"/>
              </a:avLst>
            </a:prstGeom>
            <a:solidFill>
              <a:srgbClr val="FBFBEF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4" name="Roundrect 14"/>
            <p:cNvSpPr/>
            <p:nvPr/>
          </p:nvSpPr>
          <p:spPr>
            <a:xfrm>
              <a:off x="9179698" y="3199588"/>
              <a:ext cx="5490650" cy="1106030"/>
            </a:xfrm>
            <a:prstGeom prst="roundRect">
              <a:avLst>
                <a:gd name="adj" fmla="val 17143"/>
              </a:avLst>
            </a:prstGeom>
            <a:solidFill>
              <a:srgbClr val="FBFBEF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5" name="Roundrect 15"/>
            <p:cNvSpPr/>
            <p:nvPr/>
          </p:nvSpPr>
          <p:spPr>
            <a:xfrm>
              <a:off x="9179698" y="4424121"/>
              <a:ext cx="5490650" cy="1106030"/>
            </a:xfrm>
            <a:prstGeom prst="roundRect">
              <a:avLst>
                <a:gd name="adj" fmla="val 17143"/>
              </a:avLst>
            </a:prstGeom>
            <a:solidFill>
              <a:srgbClr val="F2F9EE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6" name="Roundrect 16"/>
            <p:cNvSpPr/>
            <p:nvPr/>
          </p:nvSpPr>
          <p:spPr>
            <a:xfrm>
              <a:off x="9179698" y="5664455"/>
              <a:ext cx="5490650" cy="1106030"/>
            </a:xfrm>
            <a:prstGeom prst="roundRect">
              <a:avLst>
                <a:gd name="adj" fmla="val 17143"/>
              </a:avLst>
            </a:prstGeom>
            <a:solidFill>
              <a:srgbClr val="F2F9EE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7" name="Roundrect 17"/>
            <p:cNvSpPr/>
            <p:nvPr/>
          </p:nvSpPr>
          <p:spPr>
            <a:xfrm>
              <a:off x="9179698" y="6888989"/>
              <a:ext cx="5490650" cy="1106030"/>
            </a:xfrm>
            <a:prstGeom prst="roundRect">
              <a:avLst>
                <a:gd name="adj" fmla="val 17143"/>
              </a:avLst>
            </a:prstGeom>
            <a:solidFill>
              <a:srgbClr val="F2F9EE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8" name="Roundrect 18"/>
            <p:cNvSpPr/>
            <p:nvPr/>
          </p:nvSpPr>
          <p:spPr>
            <a:xfrm>
              <a:off x="9179698" y="8121422"/>
              <a:ext cx="5490650" cy="1106030"/>
            </a:xfrm>
            <a:prstGeom prst="roundRect">
              <a:avLst>
                <a:gd name="adj" fmla="val 17143"/>
              </a:avLst>
            </a:prstGeom>
            <a:solidFill>
              <a:srgbClr val="E7F5F8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19" name="Roundrect 19"/>
            <p:cNvSpPr/>
            <p:nvPr/>
          </p:nvSpPr>
          <p:spPr>
            <a:xfrm>
              <a:off x="9179698" y="9353856"/>
              <a:ext cx="5490650" cy="1106030"/>
            </a:xfrm>
            <a:prstGeom prst="roundRect">
              <a:avLst>
                <a:gd name="adj" fmla="val 17143"/>
              </a:avLst>
            </a:prstGeom>
            <a:solidFill>
              <a:srgbClr val="F5F0FA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20" name="Roundrect 20"/>
            <p:cNvSpPr/>
            <p:nvPr/>
          </p:nvSpPr>
          <p:spPr>
            <a:xfrm>
              <a:off x="9179698" y="10586290"/>
              <a:ext cx="5490650" cy="829523"/>
            </a:xfrm>
            <a:prstGeom prst="roundRect">
              <a:avLst>
                <a:gd name="adj" fmla="val 22857"/>
              </a:avLst>
            </a:prstGeom>
            <a:solidFill>
              <a:srgbClr val="F5F0FA"/>
            </a:solidFill>
            <a:ln w="25400">
              <a:solidFill>
                <a:srgbClr val="252525"/>
              </a:solidFill>
              <a:prstDash val="solid"/>
            </a:ln>
          </p:spPr>
          <p:txBody>
            <a:bodyPr/>
            <a:lstStyle/>
            <a:p/>
          </p:txBody>
        </p:sp>
        <p:sp>
          <p:nvSpPr>
            <p:cNvPr id="21" name="Line 21"/>
            <p:cNvSpPr/>
            <p:nvPr/>
          </p:nvSpPr>
          <p:spPr>
            <a:xfrm>
              <a:off x="4163061" y="1098130"/>
              <a:ext cx="0" cy="10973400"/>
            </a:xfrm>
            <a:prstGeom prst="line">
              <a:avLst/>
            </a:prstGeom>
            <a:noFill/>
            <a:ln w="38100">
              <a:solidFill>
                <a:srgbClr val="69727B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2" name="Line 22"/>
            <p:cNvSpPr/>
            <p:nvPr/>
          </p:nvSpPr>
          <p:spPr>
            <a:xfrm>
              <a:off x="4163061" y="1082330"/>
              <a:ext cx="395011" cy="0"/>
            </a:xfrm>
            <a:prstGeom prst="line">
              <a:avLst/>
            </a:prstGeom>
            <a:noFill/>
            <a:ln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3" name="Line 23"/>
            <p:cNvSpPr/>
            <p:nvPr/>
          </p:nvSpPr>
          <p:spPr>
            <a:xfrm>
              <a:off x="4163061" y="2306863"/>
              <a:ext cx="395011" cy="0"/>
            </a:xfrm>
            <a:prstGeom prst="line">
              <a:avLst/>
            </a:prstGeom>
            <a:noFill/>
            <a:ln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4" name="Line 24"/>
            <p:cNvSpPr/>
            <p:nvPr/>
          </p:nvSpPr>
          <p:spPr>
            <a:xfrm>
              <a:off x="4163061" y="3539297"/>
              <a:ext cx="395011" cy="0"/>
            </a:xfrm>
            <a:prstGeom prst="line">
              <a:avLst/>
            </a:prstGeom>
            <a:noFill/>
            <a:ln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5" name="Line 25"/>
            <p:cNvSpPr/>
            <p:nvPr/>
          </p:nvSpPr>
          <p:spPr>
            <a:xfrm>
              <a:off x="4163061" y="4771731"/>
              <a:ext cx="395011" cy="0"/>
            </a:xfrm>
            <a:prstGeom prst="line">
              <a:avLst/>
            </a:prstGeom>
            <a:noFill/>
            <a:ln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6" name="Line 26"/>
            <p:cNvSpPr/>
            <p:nvPr/>
          </p:nvSpPr>
          <p:spPr>
            <a:xfrm>
              <a:off x="4163061" y="6004164"/>
              <a:ext cx="395011" cy="0"/>
            </a:xfrm>
            <a:prstGeom prst="line">
              <a:avLst/>
            </a:prstGeom>
            <a:noFill/>
            <a:ln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7" name="Line 27"/>
            <p:cNvSpPr/>
            <p:nvPr/>
          </p:nvSpPr>
          <p:spPr>
            <a:xfrm>
              <a:off x="4163061" y="7236598"/>
              <a:ext cx="395011" cy="0"/>
            </a:xfrm>
            <a:prstGeom prst="line">
              <a:avLst/>
            </a:prstGeom>
            <a:noFill/>
            <a:ln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8" name="Line 28"/>
            <p:cNvSpPr/>
            <p:nvPr/>
          </p:nvSpPr>
          <p:spPr>
            <a:xfrm>
              <a:off x="4163061" y="8469032"/>
              <a:ext cx="395011" cy="0"/>
            </a:xfrm>
            <a:prstGeom prst="line">
              <a:avLst/>
            </a:prstGeom>
            <a:noFill/>
            <a:ln w="38100">
              <a:solidFill>
                <a:srgbClr val="4B91A8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29" name="Line 29"/>
            <p:cNvSpPr/>
            <p:nvPr/>
          </p:nvSpPr>
          <p:spPr>
            <a:xfrm>
              <a:off x="4163061" y="9701466"/>
              <a:ext cx="395011" cy="0"/>
            </a:xfrm>
            <a:prstGeom prst="line">
              <a:avLst/>
            </a:prstGeom>
            <a:noFill/>
            <a:ln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0" name="Line 30"/>
            <p:cNvSpPr/>
            <p:nvPr/>
          </p:nvSpPr>
          <p:spPr>
            <a:xfrm>
              <a:off x="4163061" y="10941800"/>
              <a:ext cx="395011" cy="0"/>
            </a:xfrm>
            <a:prstGeom prst="line">
              <a:avLst/>
            </a:prstGeom>
            <a:noFill/>
            <a:ln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1" name="Line 31"/>
            <p:cNvSpPr/>
            <p:nvPr/>
          </p:nvSpPr>
          <p:spPr>
            <a:xfrm>
              <a:off x="8310674" y="1153432"/>
              <a:ext cx="869024" cy="0"/>
            </a:xfrm>
            <a:prstGeom prst="line">
              <a:avLst/>
            </a:prstGeom>
            <a:noFill/>
            <a:ln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2" name="Line 32"/>
            <p:cNvSpPr/>
            <p:nvPr/>
          </p:nvSpPr>
          <p:spPr>
            <a:xfrm>
              <a:off x="8310674" y="2520169"/>
              <a:ext cx="869024" cy="0"/>
            </a:xfrm>
            <a:prstGeom prst="line">
              <a:avLst/>
            </a:prstGeom>
            <a:noFill/>
            <a:ln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3" name="Line 33"/>
            <p:cNvSpPr/>
            <p:nvPr/>
          </p:nvSpPr>
          <p:spPr>
            <a:xfrm>
              <a:off x="8310674" y="3752603"/>
              <a:ext cx="869024" cy="0"/>
            </a:xfrm>
            <a:prstGeom prst="line">
              <a:avLst/>
            </a:prstGeom>
            <a:noFill/>
            <a:ln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4" name="Line 34"/>
            <p:cNvSpPr/>
            <p:nvPr/>
          </p:nvSpPr>
          <p:spPr>
            <a:xfrm>
              <a:off x="8310674" y="4834932"/>
              <a:ext cx="869024" cy="0"/>
            </a:xfrm>
            <a:prstGeom prst="line">
              <a:avLst/>
            </a:prstGeom>
            <a:noFill/>
            <a:ln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5" name="Line 35"/>
            <p:cNvSpPr/>
            <p:nvPr/>
          </p:nvSpPr>
          <p:spPr>
            <a:xfrm>
              <a:off x="8310674" y="6217470"/>
              <a:ext cx="869024" cy="0"/>
            </a:xfrm>
            <a:prstGeom prst="line">
              <a:avLst/>
            </a:prstGeom>
            <a:noFill/>
            <a:ln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6" name="Line 36"/>
            <p:cNvSpPr/>
            <p:nvPr/>
          </p:nvSpPr>
          <p:spPr>
            <a:xfrm>
              <a:off x="8310674" y="7442004"/>
              <a:ext cx="869024" cy="0"/>
            </a:xfrm>
            <a:prstGeom prst="line">
              <a:avLst/>
            </a:prstGeom>
            <a:noFill/>
            <a:ln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7" name="Line 37"/>
            <p:cNvSpPr/>
            <p:nvPr/>
          </p:nvSpPr>
          <p:spPr>
            <a:xfrm>
              <a:off x="8310674" y="8674438"/>
              <a:ext cx="869024" cy="0"/>
            </a:xfrm>
            <a:prstGeom prst="line">
              <a:avLst/>
            </a:prstGeom>
            <a:noFill/>
            <a:ln w="38100">
              <a:solidFill>
                <a:srgbClr val="5793A5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8" name="Line 38"/>
            <p:cNvSpPr/>
            <p:nvPr/>
          </p:nvSpPr>
          <p:spPr>
            <a:xfrm>
              <a:off x="8310674" y="9906871"/>
              <a:ext cx="869024" cy="0"/>
            </a:xfrm>
            <a:prstGeom prst="line">
              <a:avLst/>
            </a:prstGeom>
            <a:noFill/>
            <a:ln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39" name="Line 39"/>
            <p:cNvSpPr/>
            <p:nvPr/>
          </p:nvSpPr>
          <p:spPr>
            <a:xfrm>
              <a:off x="8310674" y="10997101"/>
              <a:ext cx="869024" cy="0"/>
            </a:xfrm>
            <a:prstGeom prst="line">
              <a:avLst/>
            </a:prstGeom>
            <a:noFill/>
            <a:ln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/>
            <a:lstStyle/>
            <a:p/>
          </p:txBody>
        </p:sp>
        <p:sp>
          <p:nvSpPr>
            <p:cNvPr id="40" name="Ellipse 40"/>
            <p:cNvSpPr/>
            <p:nvPr/>
          </p:nvSpPr>
          <p:spPr>
            <a:xfrm>
              <a:off x="4084059" y="1003327"/>
              <a:ext cx="158004" cy="158004"/>
            </a:xfrm>
            <a:prstGeom prst="ellipse">
              <a:avLst/>
            </a:prstGeom>
            <a:solidFill>
              <a:srgbClr val="F4F1D7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1" name="Ellipse 41"/>
            <p:cNvSpPr/>
            <p:nvPr/>
          </p:nvSpPr>
          <p:spPr>
            <a:xfrm>
              <a:off x="4084059" y="2227861"/>
              <a:ext cx="158004" cy="158004"/>
            </a:xfrm>
            <a:prstGeom prst="ellipse">
              <a:avLst/>
            </a:prstGeom>
            <a:solidFill>
              <a:srgbClr val="F4F1D7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2" name="Ellipse 42"/>
            <p:cNvSpPr/>
            <p:nvPr/>
          </p:nvSpPr>
          <p:spPr>
            <a:xfrm>
              <a:off x="4084059" y="3460295"/>
              <a:ext cx="158004" cy="158004"/>
            </a:xfrm>
            <a:prstGeom prst="ellipse">
              <a:avLst/>
            </a:prstGeom>
            <a:solidFill>
              <a:srgbClr val="F4F1D7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3" name="Ellipse 43"/>
            <p:cNvSpPr/>
            <p:nvPr/>
          </p:nvSpPr>
          <p:spPr>
            <a:xfrm>
              <a:off x="4084059" y="4692728"/>
              <a:ext cx="158004" cy="158004"/>
            </a:xfrm>
            <a:prstGeom prst="ellipse">
              <a:avLst/>
            </a:prstGeom>
            <a:solidFill>
              <a:srgbClr val="E7F3E8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4" name="Ellipse 44"/>
            <p:cNvSpPr/>
            <p:nvPr/>
          </p:nvSpPr>
          <p:spPr>
            <a:xfrm>
              <a:off x="4084059" y="5925162"/>
              <a:ext cx="158004" cy="158004"/>
            </a:xfrm>
            <a:prstGeom prst="ellipse">
              <a:avLst/>
            </a:prstGeom>
            <a:solidFill>
              <a:srgbClr val="E7F3E8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5" name="Ellipse 45"/>
            <p:cNvSpPr/>
            <p:nvPr/>
          </p:nvSpPr>
          <p:spPr>
            <a:xfrm>
              <a:off x="4084059" y="7157596"/>
              <a:ext cx="158004" cy="158004"/>
            </a:xfrm>
            <a:prstGeom prst="ellipse">
              <a:avLst/>
            </a:prstGeom>
            <a:solidFill>
              <a:srgbClr val="E7F3E8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6" name="Ellipse 46"/>
            <p:cNvSpPr/>
            <p:nvPr/>
          </p:nvSpPr>
          <p:spPr>
            <a:xfrm>
              <a:off x="4084059" y="8390030"/>
              <a:ext cx="158004" cy="158004"/>
            </a:xfrm>
            <a:prstGeom prst="ellipse">
              <a:avLst/>
            </a:prstGeom>
            <a:solidFill>
              <a:srgbClr val="D6EEF3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7" name="Ellipse 47"/>
            <p:cNvSpPr/>
            <p:nvPr/>
          </p:nvSpPr>
          <p:spPr>
            <a:xfrm>
              <a:off x="4084059" y="9622463"/>
              <a:ext cx="158004" cy="158004"/>
            </a:xfrm>
            <a:prstGeom prst="ellipse">
              <a:avLst/>
            </a:prstGeom>
            <a:solidFill>
              <a:srgbClr val="E9DFF0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8" name="Ellipse 48"/>
            <p:cNvSpPr/>
            <p:nvPr/>
          </p:nvSpPr>
          <p:spPr>
            <a:xfrm>
              <a:off x="4084059" y="10862797"/>
              <a:ext cx="158004" cy="158004"/>
            </a:xfrm>
            <a:prstGeom prst="ellipse">
              <a:avLst/>
            </a:prstGeom>
            <a:solidFill>
              <a:srgbClr val="E9DFF0"/>
            </a:solidFill>
            <a:ln w="25400">
              <a:solidFill>
                <a:srgbClr val="55606B"/>
              </a:solidFill>
            </a:ln>
          </p:spPr>
          <p:txBody>
            <a:bodyPr/>
            <a:lstStyle/>
            <a:p/>
          </p:txBody>
        </p:sp>
        <p:sp>
          <p:nvSpPr>
            <p:cNvPr id="49" name="TextBox 49"/>
            <p:cNvSpPr txBox="1"/>
            <p:nvPr/>
          </p:nvSpPr>
          <p:spPr>
            <a:xfrm>
              <a:off x="6177616" y="142204"/>
              <a:ext cx="1422039" cy="5135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54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Sections</a:t>
              </a:r>
              <a:endParaRPr lang="zh-CN" sz="254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54752" y="142204"/>
              <a:ext cx="1738048" cy="5135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35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Core topics</a:t>
              </a:r>
              <a:endParaRPr lang="zh-CN" sz="235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974701" y="4937635"/>
              <a:ext cx="1659045" cy="8295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RSI</a:t>
              </a:r>
              <a:endParaRPr lang="zh-CN" sz="2680"/>
            </a:p>
            <a:p>
              <a:pPr algn="ctr"/>
              <a:r>
                <a:rPr lang="zh-CN"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Survey</a:t>
              </a:r>
              <a:endParaRPr lang="zh-CN" sz="268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974701" y="5877761"/>
              <a:ext cx="1659045" cy="3555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680" i="1">
                  <a:solidFill>
                    <a:srgbClr val="6B7280"/>
                  </a:solidFill>
                  <a:latin typeface="Cambria"/>
                  <a:ea typeface="Cambria"/>
                  <a:cs typeface="Cambria"/>
                </a:rPr>
                <a:t>Reader’s guide</a:t>
              </a:r>
              <a:endParaRPr lang="zh-CN" sz="168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92375" y="805822"/>
              <a:ext cx="3476095" cy="703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1    Introduction</a:t>
              </a:r>
              <a:endParaRPr lang="zh-CN" sz="285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692375" y="2030356"/>
              <a:ext cx="3476095" cy="979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2    Scope and Review</a:t>
              </a:r>
              <a:endParaRPr lang="zh-CN" sz="2410"/>
            </a:p>
            <a:p>
              <a:pPr algn="ctr"/>
              <a:r>
                <a:rPr lang="zh-CN"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Methodology</a:t>
              </a:r>
              <a:endParaRPr lang="zh-CN" sz="2410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692375" y="3262789"/>
              <a:ext cx="3476095" cy="979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3    Foundations and</a:t>
              </a:r>
              <a:endParaRPr lang="zh-CN" sz="2480"/>
            </a:p>
            <a:p>
              <a:pPr algn="ctr"/>
              <a:r>
                <a:rPr lang="zh-CN"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Problem Formulation</a:t>
              </a:r>
              <a:endParaRPr lang="zh-CN" sz="2480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92375" y="4487323"/>
              <a:ext cx="3476095" cy="703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54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4    Taxonomy of RSI</a:t>
              </a:r>
              <a:endParaRPr lang="zh-CN" sz="254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692375" y="5727657"/>
              <a:ext cx="3476095" cy="979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5    Automated Design of</a:t>
              </a:r>
              <a:endParaRPr lang="zh-CN" sz="2110"/>
            </a:p>
            <a:p>
              <a:pPr algn="ctr"/>
              <a:r>
                <a:rPr lang="zh-CN"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AI Infrastructure</a:t>
              </a:r>
              <a:endParaRPr lang="zh-CN" sz="2110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692375" y="6952190"/>
              <a:ext cx="3476095" cy="979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6    Repair and</a:t>
              </a:r>
              <a:endParaRPr lang="zh-CN" sz="2110"/>
            </a:p>
            <a:p>
              <a:pPr algn="ctr"/>
              <a:r>
                <a:rPr lang="zh-CN"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Optimization of</a:t>
              </a:r>
              <a:endParaRPr lang="zh-CN" sz="2110"/>
            </a:p>
            <a:p>
              <a:pPr algn="ctr"/>
              <a:r>
                <a:rPr lang="zh-CN"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Existing Systems</a:t>
              </a:r>
              <a:endParaRPr lang="zh-CN" sz="2110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692375" y="8184624"/>
              <a:ext cx="3476095" cy="979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7    Benchmarks and</a:t>
              </a:r>
              <a:endParaRPr lang="zh-CN" sz="2610"/>
            </a:p>
            <a:p>
              <a:pPr algn="ctr"/>
              <a:r>
                <a:rPr lang="zh-CN"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Evaluation</a:t>
              </a:r>
              <a:endParaRPr lang="zh-CN" sz="261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692375" y="9417058"/>
              <a:ext cx="3476095" cy="979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8    Challenges and</a:t>
              </a:r>
              <a:endParaRPr lang="zh-CN" sz="2610"/>
            </a:p>
            <a:p>
              <a:pPr algn="ctr"/>
              <a:r>
                <a:rPr lang="zh-CN"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Future Directions</a:t>
              </a:r>
              <a:endParaRPr lang="zh-CN" sz="2610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692375" y="10649492"/>
              <a:ext cx="3476095" cy="703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32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9    Conclusion</a:t>
              </a:r>
              <a:endParaRPr lang="zh-CN" sz="3220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61403" y="790022"/>
              <a:ext cx="5135141" cy="734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Two engineering goals</a:t>
              </a:r>
              <a:endParaRPr lang="zh-CN" sz="2370"/>
            </a:p>
            <a:p>
              <a:pPr algn="l"/>
              <a:r>
                <a:rPr lang="zh-CN"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Central questions</a:t>
              </a:r>
              <a:endParaRPr lang="zh-CN" sz="237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61403" y="2014555"/>
              <a:ext cx="5135141" cy="734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Inclusion and evidence</a:t>
              </a:r>
              <a:endParaRPr lang="zh-CN" sz="2370"/>
            </a:p>
            <a:p>
              <a:pPr algn="l"/>
              <a:r>
                <a:rPr lang="zh-CN"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Related-review tree</a:t>
              </a:r>
              <a:endParaRPr lang="zh-CN" sz="2370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61403" y="3246989"/>
              <a:ext cx="5135141" cy="1011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AutoML and meta-learning</a:t>
              </a:r>
              <a:endParaRPr lang="zh-CN" sz="2180"/>
            </a:p>
            <a:p>
              <a:pPr algn="l"/>
              <a:r>
                <a:rPr lang="zh-CN"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Design / repair objectives</a:t>
              </a:r>
              <a:endParaRPr lang="zh-CN" sz="2180"/>
            </a:p>
            <a:p>
              <a:pPr algn="l"/>
              <a:r>
                <a:rPr lang="zh-CN"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Task, retention, improver gains</a:t>
              </a:r>
              <a:endParaRPr lang="zh-CN" sz="2180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361403" y="4471522"/>
              <a:ext cx="5135141" cy="1011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Engineering goal          Update target</a:t>
              </a:r>
              <a:endParaRPr lang="zh-CN" sz="2160"/>
            </a:p>
            <a:p>
              <a:pPr algn="l"/>
              <a:r>
                <a:rPr lang="zh-CN"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Feedback                  Persistence</a:t>
              </a:r>
              <a:endParaRPr lang="zh-CN" sz="2160"/>
            </a:p>
            <a:p>
              <a:pPr algn="l"/>
              <a:r>
                <a:rPr lang="zh-CN"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Editable scope             Fixed anchors</a:t>
              </a:r>
              <a:endParaRPr lang="zh-CN" sz="216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361403" y="5711856"/>
              <a:ext cx="5135141" cy="1011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Learning pipelines        Agent workflows</a:t>
              </a:r>
              <a:endParaRPr lang="zh-CN" sz="2000"/>
            </a:p>
            <a:p>
              <a:pPr algn="l"/>
              <a:r>
                <a:rPr lang="zh-CN"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Algorithm search           Research loops</a:t>
              </a:r>
              <a:endParaRPr lang="zh-CN" sz="2000"/>
            </a:p>
            <a:p>
              <a:pPr algn="l"/>
              <a:r>
                <a:rPr lang="zh-CN"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Useful design              Better designer</a:t>
              </a:r>
              <a:endParaRPr lang="zh-CN" sz="2000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361403" y="6936390"/>
              <a:ext cx="5135141" cy="1011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Weights                    Memory and skills</a:t>
              </a:r>
              <a:endParaRPr lang="zh-CN" sz="1889"/>
            </a:p>
            <a:p>
              <a:pPr algn="l"/>
              <a:r>
                <a:rPr lang="zh-CN"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Prompts and code           Feedback</a:t>
              </a:r>
              <a:endParaRPr lang="zh-CN" sz="1889"/>
            </a:p>
            <a:p>
              <a:pPr algn="l"/>
              <a:r>
                <a:rPr lang="zh-CN"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Improver revision          Regression checks</a:t>
              </a:r>
              <a:endParaRPr lang="zh-CN" sz="1889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61403" y="8168824"/>
              <a:ext cx="5135141" cy="1011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Goal-matched tests        Sealed audit</a:t>
              </a:r>
              <a:endParaRPr lang="zh-CN" sz="1870"/>
            </a:p>
            <a:p>
              <a:pPr algn="l"/>
              <a:r>
                <a:rPr lang="zh-CN"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Budget controls            Paired improvers</a:t>
              </a:r>
              <a:endParaRPr lang="zh-CN" sz="1870"/>
            </a:p>
            <a:p>
              <a:pPr algn="l"/>
              <a:r>
                <a:rPr lang="zh-CN"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Retention / transfer      Accept / roll back</a:t>
              </a:r>
              <a:endParaRPr lang="zh-CN" sz="187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61403" y="9401257"/>
              <a:ext cx="5135141" cy="1011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External feedback         Coverage</a:t>
              </a:r>
              <a:endParaRPr lang="zh-CN" sz="1850"/>
            </a:p>
            <a:p>
              <a:pPr algn="l"/>
              <a:r>
                <a:rPr lang="zh-CN"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Update stability           Integrity</a:t>
              </a:r>
              <a:endParaRPr lang="zh-CN" sz="1850"/>
            </a:p>
            <a:p>
              <a:pPr algn="l"/>
              <a:r>
                <a:rPr lang="zh-CN"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Cost / transfer            Scientific validity</a:t>
              </a:r>
              <a:endParaRPr lang="zh-CN" sz="1850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361403" y="10633691"/>
              <a:ext cx="5135141" cy="734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Demonstrated gains</a:t>
              </a:r>
              <a:endParaRPr lang="zh-CN" sz="2370"/>
            </a:p>
            <a:p>
              <a:pPr algn="l"/>
              <a:r>
                <a:rPr lang="zh-CN"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Open limits and next tests</a:t>
              </a:r>
              <a:endParaRPr lang="zh-CN" sz="237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