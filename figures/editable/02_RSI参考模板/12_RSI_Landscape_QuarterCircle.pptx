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239500" cy="967740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RSI landscape — ungroup to edit all elements"/>
          <p:cNvGrpSpPr/>
          <p:nvPr/>
        </p:nvGrpSpPr>
        <p:grpSpPr>
          <a:xfrm>
            <a:off x="0" y="1143000"/>
            <a:ext cx="11239500" cy="8534400"/>
            <a:chOff x="0" y="0"/>
            <a:chExt cx="11239500" cy="8534400"/>
          </a:xfrm>
        </p:grpSpPr>
        <p:sp>
          <p:nvSpPr>
            <p:cNvPr id="2" name="Path 2"/>
            <p:cNvSpPr/>
            <p:nvPr/>
          </p:nvSpPr>
          <p:spPr>
            <a:xfrm>
              <a:off x="38100" y="57150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" name="Line 3"/>
            <p:cNvSpPr/>
            <p:nvPr/>
          </p:nvSpPr>
          <p:spPr>
            <a:xfrm flipV="1">
              <a:off x="981075" y="2900744"/>
              <a:ext cx="1866900" cy="22029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4" name="Line 4"/>
            <p:cNvSpPr/>
            <p:nvPr/>
          </p:nvSpPr>
          <p:spPr>
            <a:xfrm flipV="1">
              <a:off x="609600" y="2338769"/>
              <a:ext cx="2962275" cy="34954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5" name="Line 5"/>
            <p:cNvSpPr/>
            <p:nvPr/>
          </p:nvSpPr>
          <p:spPr>
            <a:xfrm flipV="1">
              <a:off x="400050" y="1967865"/>
              <a:ext cx="3733800" cy="44058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6" name="Line 6"/>
            <p:cNvSpPr/>
            <p:nvPr/>
          </p:nvSpPr>
          <p:spPr>
            <a:xfrm flipV="1">
              <a:off x="257175" y="1686878"/>
              <a:ext cx="4362450" cy="5147691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7" name="Line 7"/>
            <p:cNvSpPr/>
            <p:nvPr/>
          </p:nvSpPr>
          <p:spPr>
            <a:xfrm flipV="1">
              <a:off x="161925" y="1450848"/>
              <a:ext cx="4905375" cy="57883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8" name="Line 8"/>
            <p:cNvSpPr/>
            <p:nvPr/>
          </p:nvSpPr>
          <p:spPr>
            <a:xfrm flipV="1">
              <a:off x="104775" y="1259777"/>
              <a:ext cx="5372100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9" name="Line 9"/>
            <p:cNvSpPr/>
            <p:nvPr/>
          </p:nvSpPr>
          <p:spPr>
            <a:xfrm flipV="1">
              <a:off x="66675" y="1091184"/>
              <a:ext cx="5800725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0" name="Line 10"/>
            <p:cNvSpPr/>
            <p:nvPr/>
          </p:nvSpPr>
          <p:spPr>
            <a:xfrm flipV="1">
              <a:off x="47625" y="945071"/>
              <a:ext cx="6191250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 flipV="1">
              <a:off x="95250" y="810197"/>
              <a:ext cx="6505575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 flipV="1">
              <a:off x="342900" y="709041"/>
              <a:ext cx="6591300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 flipV="1">
              <a:off x="590550" y="607886"/>
              <a:ext cx="6677025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4" name="Line 14"/>
            <p:cNvSpPr/>
            <p:nvPr/>
          </p:nvSpPr>
          <p:spPr>
            <a:xfrm flipV="1">
              <a:off x="838200" y="517970"/>
              <a:ext cx="6753225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 flipV="1">
              <a:off x="1085850" y="439293"/>
              <a:ext cx="6819900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 flipV="1">
              <a:off x="1333500" y="371856"/>
              <a:ext cx="6877050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 flipV="1">
              <a:off x="1581150" y="315659"/>
              <a:ext cx="6924675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 flipV="1">
              <a:off x="1828800" y="259461"/>
              <a:ext cx="6972300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 flipV="1">
              <a:off x="2076450" y="214503"/>
              <a:ext cx="7010400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0" name="Line 20"/>
            <p:cNvSpPr/>
            <p:nvPr/>
          </p:nvSpPr>
          <p:spPr>
            <a:xfrm flipV="1">
              <a:off x="2324100" y="180785"/>
              <a:ext cx="7038975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 flipV="1">
              <a:off x="2571750" y="147066"/>
              <a:ext cx="7067550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 flipV="1">
              <a:off x="2819400" y="124587"/>
              <a:ext cx="708660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 flipV="1">
              <a:off x="3067050" y="102108"/>
              <a:ext cx="710565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 flipV="1">
              <a:off x="3314700" y="79629"/>
              <a:ext cx="7124700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 flipV="1">
              <a:off x="356235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 flipV="1">
              <a:off x="381000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 flipV="1">
              <a:off x="405765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8" name="Line 28"/>
            <p:cNvSpPr/>
            <p:nvPr/>
          </p:nvSpPr>
          <p:spPr>
            <a:xfrm flipV="1">
              <a:off x="8324850" y="326898"/>
              <a:ext cx="2895600" cy="341680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9" name="Line 29"/>
            <p:cNvSpPr/>
            <p:nvPr/>
          </p:nvSpPr>
          <p:spPr>
            <a:xfrm flipV="1">
              <a:off x="8667750" y="619125"/>
              <a:ext cx="2552700" cy="301218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0" name="Line 30"/>
            <p:cNvSpPr/>
            <p:nvPr/>
          </p:nvSpPr>
          <p:spPr>
            <a:xfrm flipV="1">
              <a:off x="8991600" y="911352"/>
              <a:ext cx="2228850" cy="263004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1" name="Line 31"/>
            <p:cNvSpPr/>
            <p:nvPr/>
          </p:nvSpPr>
          <p:spPr>
            <a:xfrm flipV="1">
              <a:off x="9305925" y="1203579"/>
              <a:ext cx="1914525" cy="22591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2" name="Line 32"/>
            <p:cNvSpPr/>
            <p:nvPr/>
          </p:nvSpPr>
          <p:spPr>
            <a:xfrm flipV="1">
              <a:off x="9601200" y="1495806"/>
              <a:ext cx="1619250" cy="191071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3" name="Line 33"/>
            <p:cNvSpPr/>
            <p:nvPr/>
          </p:nvSpPr>
          <p:spPr>
            <a:xfrm flipV="1">
              <a:off x="9886950" y="1788033"/>
              <a:ext cx="1333500" cy="157353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4" name="Line 34"/>
            <p:cNvSpPr/>
            <p:nvPr/>
          </p:nvSpPr>
          <p:spPr>
            <a:xfrm flipV="1">
              <a:off x="10163175" y="2080260"/>
              <a:ext cx="1057275" cy="12475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5" name="Line 35"/>
            <p:cNvSpPr/>
            <p:nvPr/>
          </p:nvSpPr>
          <p:spPr>
            <a:xfrm flipV="1">
              <a:off x="10439400" y="2372487"/>
              <a:ext cx="781050" cy="92163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6" name="Line 36"/>
            <p:cNvSpPr/>
            <p:nvPr/>
          </p:nvSpPr>
          <p:spPr>
            <a:xfrm flipV="1">
              <a:off x="10706100" y="2664714"/>
              <a:ext cx="514350" cy="60693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7" name="Line 37"/>
            <p:cNvSpPr/>
            <p:nvPr/>
          </p:nvSpPr>
          <p:spPr>
            <a:xfrm flipV="1">
              <a:off x="10963275" y="2956941"/>
              <a:ext cx="257175" cy="3034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8" name="Line 38"/>
            <p:cNvSpPr/>
            <p:nvPr/>
          </p:nvSpPr>
          <p:spPr>
            <a:xfrm flipV="1">
              <a:off x="11210925" y="3249168"/>
              <a:ext cx="9525" cy="112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9" name="Path 39"/>
            <p:cNvSpPr/>
            <p:nvPr/>
          </p:nvSpPr>
          <p:spPr>
            <a:xfrm>
              <a:off x="4286250" y="3267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0" name="Path 40"/>
            <p:cNvSpPr/>
            <p:nvPr/>
          </p:nvSpPr>
          <p:spPr>
            <a:xfrm>
              <a:off x="7334250" y="5543550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1" name="Path 41"/>
            <p:cNvSpPr/>
            <p:nvPr/>
          </p:nvSpPr>
          <p:spPr>
            <a:xfrm>
              <a:off x="9324975" y="7048500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2" name="Path 42"/>
            <p:cNvSpPr/>
            <p:nvPr/>
          </p:nvSpPr>
          <p:spPr>
            <a:xfrm>
              <a:off x="38100" y="57150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3" name="Path 43"/>
            <p:cNvSpPr/>
            <p:nvPr/>
          </p:nvSpPr>
          <p:spPr>
            <a:xfrm>
              <a:off x="4286250" y="3267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8AB2CC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4" name="Path 44"/>
            <p:cNvSpPr/>
            <p:nvPr/>
          </p:nvSpPr>
          <p:spPr>
            <a:xfrm>
              <a:off x="7334250" y="5543550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CDA16B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5" name="Path 45"/>
            <p:cNvSpPr/>
            <p:nvPr/>
          </p:nvSpPr>
          <p:spPr>
            <a:xfrm>
              <a:off x="9324975" y="7048500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72778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6" name="Roundrect 46"/>
            <p:cNvSpPr/>
            <p:nvPr/>
          </p:nvSpPr>
          <p:spPr>
            <a:xfrm>
              <a:off x="171450" y="523875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F0EDF6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7" name="Roundrect 47"/>
            <p:cNvSpPr/>
            <p:nvPr/>
          </p:nvSpPr>
          <p:spPr>
            <a:xfrm>
              <a:off x="171450" y="1028700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E9F3F5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8" name="Roundrect 48"/>
            <p:cNvSpPr/>
            <p:nvPr/>
          </p:nvSpPr>
          <p:spPr>
            <a:xfrm>
              <a:off x="171450" y="1524000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F7ED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9" name="Line 49"/>
            <p:cNvSpPr/>
            <p:nvPr/>
          </p:nvSpPr>
          <p:spPr>
            <a:xfrm flipH="1" flipV="1">
              <a:off x="276225" y="6286500"/>
              <a:ext cx="9111971" cy="183191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0" name="Line 50"/>
            <p:cNvSpPr/>
            <p:nvPr/>
          </p:nvSpPr>
          <p:spPr>
            <a:xfrm flipH="1" flipV="1">
              <a:off x="1419225" y="4219575"/>
              <a:ext cx="8157153" cy="3551414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1" name="Line 51"/>
            <p:cNvSpPr/>
            <p:nvPr/>
          </p:nvSpPr>
          <p:spPr>
            <a:xfrm flipH="1" flipV="1">
              <a:off x="3209925" y="2457450"/>
              <a:ext cx="6664807" cy="5016436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2" name="Line 52"/>
            <p:cNvSpPr/>
            <p:nvPr/>
          </p:nvSpPr>
          <p:spPr>
            <a:xfrm flipH="1" flipV="1">
              <a:off x="5562600" y="1104900"/>
              <a:ext cx="4704921" cy="6138575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3" name="Line 53"/>
            <p:cNvSpPr/>
            <p:nvPr/>
          </p:nvSpPr>
          <p:spPr>
            <a:xfrm flipH="1" flipV="1">
              <a:off x="8296275" y="247650"/>
              <a:ext cx="2431273" cy="6850330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pic>
          <p:nvPicPr>
            <p:cNvPr id="54" name="stanford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00025" y="2647950"/>
              <a:ext cx="238125" cy="238125"/>
            </a:xfrm>
            <a:prstGeom prst="rect">
              <a:avLst/>
            </a:prstGeom>
          </p:spPr>
        </p:pic>
        <p:pic>
          <p:nvPicPr>
            <p:cNvPr id="55" name="deepmind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61975" y="2647950"/>
              <a:ext cx="238125" cy="238125"/>
            </a:xfrm>
            <a:prstGeom prst="rect">
              <a:avLst/>
            </a:prstGeom>
          </p:spPr>
        </p:pic>
        <p:pic>
          <p:nvPicPr>
            <p:cNvPr id="56" name="meta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42975" y="2647950"/>
              <a:ext cx="238125" cy="238125"/>
            </a:xfrm>
            <a:prstGeom prst="rect">
              <a:avLst/>
            </a:prstGeom>
          </p:spPr>
        </p:pic>
        <p:pic>
          <p:nvPicPr>
            <p:cNvPr id="57" name="stanford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14450" y="8086725"/>
              <a:ext cx="266700" cy="266700"/>
            </a:xfrm>
            <a:prstGeom prst="rect">
              <a:avLst/>
            </a:prstGeom>
          </p:spPr>
        </p:pic>
        <p:pic>
          <p:nvPicPr>
            <p:cNvPr id="58" name="washington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000125" y="7639050"/>
              <a:ext cx="266700" cy="266700"/>
            </a:xfrm>
            <a:prstGeom prst="rect">
              <a:avLst/>
            </a:prstGeom>
          </p:spPr>
        </p:pic>
        <p:pic>
          <p:nvPicPr>
            <p:cNvPr id="59" name="deepmind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428750" y="7210425"/>
              <a:ext cx="266700" cy="266700"/>
            </a:xfrm>
            <a:prstGeom prst="rect">
              <a:avLst/>
            </a:prstGeom>
          </p:spPr>
        </p:pic>
        <p:pic>
          <p:nvPicPr>
            <p:cNvPr id="60" name="seal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428750" y="6772275"/>
              <a:ext cx="266700" cy="266700"/>
            </a:xfrm>
            <a:prstGeom prst="rect">
              <a:avLst/>
            </a:prstGeom>
          </p:spPr>
        </p:pic>
        <p:pic>
          <p:nvPicPr>
            <p:cNvPr id="61" name="uber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695450" y="6296025"/>
              <a:ext cx="266700" cy="266700"/>
            </a:xfrm>
            <a:prstGeom prst="rect">
              <a:avLst/>
            </a:prstGeom>
          </p:spPr>
        </p:pic>
        <p:pic>
          <p:nvPicPr>
            <p:cNvPr id="62" name="agentgym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95425" y="5972175"/>
              <a:ext cx="266700" cy="266700"/>
            </a:xfrm>
            <a:prstGeom prst="rect">
              <a:avLst/>
            </a:prstGeom>
          </p:spPr>
        </p:pic>
        <p:pic>
          <p:nvPicPr>
            <p:cNvPr id="63" name="tsinghua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95425" y="5676900"/>
              <a:ext cx="266700" cy="266700"/>
            </a:xfrm>
            <a:prstGeom prst="rect">
              <a:avLst/>
            </a:prstGeom>
          </p:spPr>
        </p:pic>
        <p:pic>
          <p:nvPicPr>
            <p:cNvPr id="64" name="rzero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2009775" y="5353050"/>
              <a:ext cx="266700" cy="266700"/>
            </a:xfrm>
            <a:prstGeom prst="rect">
              <a:avLst/>
            </a:prstGeom>
          </p:spPr>
        </p:pic>
        <p:pic>
          <p:nvPicPr>
            <p:cNvPr id="65" name="alibaba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200150" y="5048250"/>
              <a:ext cx="266700" cy="266700"/>
            </a:xfrm>
            <a:prstGeom prst="rect">
              <a:avLst/>
            </a:prstGeom>
          </p:spPr>
        </p:pic>
        <p:pic>
          <p:nvPicPr>
            <p:cNvPr id="66" name="northeastern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2905125" y="4562475"/>
              <a:ext cx="266700" cy="266700"/>
            </a:xfrm>
            <a:prstGeom prst="rect">
              <a:avLst/>
            </a:prstGeom>
          </p:spPr>
        </p:pic>
        <p:pic>
          <p:nvPicPr>
            <p:cNvPr id="67" name="nvidia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2505075" y="4286250"/>
              <a:ext cx="266700" cy="266700"/>
            </a:xfrm>
            <a:prstGeom prst="rect">
              <a:avLst/>
            </a:prstGeom>
          </p:spPr>
        </p:pic>
        <p:pic>
          <p:nvPicPr>
            <p:cNvPr id="68" name="tsinghua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2857500" y="4010025"/>
              <a:ext cx="266700" cy="266700"/>
            </a:xfrm>
            <a:prstGeom prst="rect">
              <a:avLst/>
            </a:prstGeom>
          </p:spPr>
        </p:pic>
        <p:pic>
          <p:nvPicPr>
            <p:cNvPr id="69" name="rutgers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057525" y="3752850"/>
              <a:ext cx="266700" cy="266700"/>
            </a:xfrm>
            <a:prstGeom prst="rect">
              <a:avLst/>
            </a:prstGeom>
          </p:spPr>
        </p:pic>
        <p:pic>
          <p:nvPicPr>
            <p:cNvPr id="70" name="stanford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3295650" y="3476625"/>
              <a:ext cx="266700" cy="266700"/>
            </a:xfrm>
            <a:prstGeom prst="rect">
              <a:avLst/>
            </a:prstGeom>
          </p:spPr>
        </p:pic>
        <p:pic>
          <p:nvPicPr>
            <p:cNvPr id="71" name="deepmind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4695825" y="3238500"/>
              <a:ext cx="266700" cy="266700"/>
            </a:xfrm>
            <a:prstGeom prst="rect">
              <a:avLst/>
            </a:prstGeom>
          </p:spPr>
        </p:pic>
        <p:pic>
          <p:nvPicPr>
            <p:cNvPr id="72" name="stanford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4591050" y="2886075"/>
              <a:ext cx="266700" cy="266700"/>
            </a:xfrm>
            <a:prstGeom prst="rect">
              <a:avLst/>
            </a:prstGeom>
          </p:spPr>
        </p:pic>
        <p:pic>
          <p:nvPicPr>
            <p:cNvPr id="73" name="ubc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4581525" y="2495550"/>
              <a:ext cx="266700" cy="266700"/>
            </a:xfrm>
            <a:prstGeom prst="rect">
              <a:avLst/>
            </a:prstGeom>
          </p:spPr>
        </p:pic>
        <p:pic>
          <p:nvPicPr>
            <p:cNvPr id="74" name="ubc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4591050" y="2124075"/>
              <a:ext cx="266700" cy="266700"/>
            </a:xfrm>
            <a:prstGeom prst="rect">
              <a:avLst/>
            </a:prstGeom>
          </p:spPr>
        </p:pic>
        <p:pic>
          <p:nvPicPr>
            <p:cNvPr id="75" name="berkeley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4591050" y="1762125"/>
              <a:ext cx="266700" cy="266700"/>
            </a:xfrm>
            <a:prstGeom prst="rect">
              <a:avLst/>
            </a:prstGeom>
          </p:spPr>
        </p:pic>
        <p:pic>
          <p:nvPicPr>
            <p:cNvPr id="76" name="unc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6477000" y="895350"/>
              <a:ext cx="266700" cy="266700"/>
            </a:xfrm>
            <a:prstGeom prst="rect">
              <a:avLst/>
            </a:prstGeom>
          </p:spPr>
        </p:pic>
        <p:pic>
          <p:nvPicPr>
            <p:cNvPr id="77" name="microsoft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7534275" y="3057525"/>
              <a:ext cx="266700" cy="266700"/>
            </a:xfrm>
            <a:prstGeom prst="rect">
              <a:avLst/>
            </a:prstGeom>
          </p:spPr>
        </p:pic>
        <p:pic>
          <p:nvPicPr>
            <p:cNvPr id="78" name="deepmind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8724900" y="495300"/>
              <a:ext cx="266700" cy="266700"/>
            </a:xfrm>
            <a:prstGeom prst="rect">
              <a:avLst/>
            </a:prstGeom>
          </p:spPr>
        </p:pic>
        <p:pic>
          <p:nvPicPr>
            <p:cNvPr id="79" name="minnesota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9258300" y="1000125"/>
              <a:ext cx="266700" cy="266700"/>
            </a:xfrm>
            <a:prstGeom prst="rect">
              <a:avLst/>
            </a:prstGeom>
          </p:spPr>
        </p:pic>
        <p:pic>
          <p:nvPicPr>
            <p:cNvPr id="80" name="meta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9115425" y="1905000"/>
              <a:ext cx="266700" cy="266700"/>
            </a:xfrm>
            <a:prstGeom prst="rect">
              <a:avLst/>
            </a:prstGeom>
          </p:spPr>
        </p:pic>
        <p:pic>
          <p:nvPicPr>
            <p:cNvPr id="81" name="microsoft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9505950" y="2371725"/>
              <a:ext cx="266700" cy="266700"/>
            </a:xfrm>
            <a:prstGeom prst="rect">
              <a:avLst/>
            </a:prstGeom>
          </p:spPr>
        </p:pic>
        <p:pic>
          <p:nvPicPr>
            <p:cNvPr id="82" name="meta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6524625" y="1419225"/>
              <a:ext cx="266700" cy="266700"/>
            </a:xfrm>
            <a:prstGeom prst="rect">
              <a:avLst/>
            </a:prstGeom>
          </p:spPr>
        </p:pic>
        <p:pic>
          <p:nvPicPr>
            <p:cNvPr id="83" name="meta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6791325" y="1990725"/>
              <a:ext cx="266700" cy="266700"/>
            </a:xfrm>
            <a:prstGeom prst="rect">
              <a:avLst/>
            </a:prstGeom>
          </p:spPr>
        </p:pic>
        <p:pic>
          <p:nvPicPr>
            <p:cNvPr id="84" name="meta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7105650" y="2524125"/>
              <a:ext cx="266700" cy="266700"/>
            </a:xfrm>
            <a:prstGeom prst="rect">
              <a:avLst/>
            </a:prstGeom>
          </p:spPr>
        </p:pic>
        <p:pic>
          <p:nvPicPr>
            <p:cNvPr id="85" name="aiscientist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9467850" y="2847975"/>
              <a:ext cx="266700" cy="266700"/>
            </a:xfrm>
            <a:prstGeom prst="rect">
              <a:avLst/>
            </a:prstGeom>
          </p:spPr>
        </p:pic>
        <p:sp>
          <p:nvSpPr>
            <p:cNvPr id="86" name="TextBox 86"/>
            <p:cNvSpPr txBox="1"/>
            <p:nvPr/>
          </p:nvSpPr>
          <p:spPr>
            <a:xfrm rot="0">
              <a:off x="1162050" y="514350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Representative studies</a:t>
              </a:r>
              <a:endParaRPr lang="zh-CN" sz="1900"/>
            </a:p>
          </p:txBody>
        </p:sp>
        <p:sp>
          <p:nvSpPr>
            <p:cNvPr id="87" name="TextBox 87"/>
            <p:cNvSpPr txBox="1"/>
            <p:nvPr/>
          </p:nvSpPr>
          <p:spPr>
            <a:xfrm rot="0">
              <a:off x="1162050" y="1019175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Improvement mechanisms</a:t>
              </a:r>
              <a:endParaRPr lang="zh-CN" sz="1900"/>
            </a:p>
          </p:txBody>
        </p:sp>
        <p:sp>
          <p:nvSpPr>
            <p:cNvPr id="88" name="TextBox 88"/>
            <p:cNvSpPr txBox="1"/>
            <p:nvPr/>
          </p:nvSpPr>
          <p:spPr>
            <a:xfrm rot="0">
              <a:off x="1162050" y="1514475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Update targets</a:t>
              </a:r>
              <a:endParaRPr lang="zh-CN" sz="1900"/>
            </a:p>
          </p:txBody>
        </p:sp>
        <p:sp>
          <p:nvSpPr>
            <p:cNvPr id="89" name="TextBox 89"/>
            <p:cNvSpPr txBox="1"/>
            <p:nvPr/>
          </p:nvSpPr>
          <p:spPr>
            <a:xfrm rot="0">
              <a:off x="171450" y="2133600"/>
              <a:ext cx="3238500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600" i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Read from the center outward</a:t>
              </a:r>
              <a:endParaRPr lang="zh-CN" sz="1600"/>
            </a:p>
          </p:txBody>
        </p:sp>
        <p:sp>
          <p:nvSpPr>
            <p:cNvPr id="90" name="TextBox 90"/>
            <p:cNvSpPr txBox="1"/>
            <p:nvPr/>
          </p:nvSpPr>
          <p:spPr>
            <a:xfrm rot="0">
              <a:off x="1371600" y="2647950"/>
              <a:ext cx="20955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Affiliation marks</a:t>
              </a:r>
              <a:endParaRPr lang="zh-CN" sz="1700"/>
            </a:p>
          </p:txBody>
        </p:sp>
        <p:sp>
          <p:nvSpPr>
            <p:cNvPr id="91" name="TextBox 91"/>
            <p:cNvSpPr txBox="1"/>
            <p:nvPr/>
          </p:nvSpPr>
          <p:spPr>
            <a:xfrm rot="0">
              <a:off x="171450" y="2971800"/>
              <a:ext cx="3333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One selected institution per study</a:t>
              </a:r>
              <a:endParaRPr lang="zh-CN" sz="1500"/>
            </a:p>
          </p:txBody>
        </p:sp>
        <p:sp>
          <p:nvSpPr>
            <p:cNvPr id="92" name="TextBox 92"/>
            <p:cNvSpPr txBox="1"/>
            <p:nvPr/>
          </p:nvSpPr>
          <p:spPr>
            <a:xfrm rot="0">
              <a:off x="1657350" y="8096250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STaR</a:t>
              </a:r>
              <a:endParaRPr lang="zh-CN" sz="1700"/>
            </a:p>
          </p:txBody>
        </p:sp>
        <p:sp>
          <p:nvSpPr>
            <p:cNvPr id="93" name="TextBox 93"/>
            <p:cNvSpPr txBox="1"/>
            <p:nvPr/>
          </p:nvSpPr>
          <p:spPr>
            <a:xfrm rot="0">
              <a:off x="2343150" y="81343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250"/>
            </a:p>
          </p:txBody>
        </p:sp>
        <p:sp>
          <p:nvSpPr>
            <p:cNvPr id="94" name="TextBox 94"/>
            <p:cNvSpPr txBox="1"/>
            <p:nvPr/>
          </p:nvSpPr>
          <p:spPr>
            <a:xfrm rot="0">
              <a:off x="1352550" y="7658100"/>
              <a:ext cx="1276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Self-Instruct</a:t>
              </a:r>
              <a:endParaRPr lang="zh-CN" sz="1700"/>
            </a:p>
          </p:txBody>
        </p:sp>
        <p:sp>
          <p:nvSpPr>
            <p:cNvPr id="95" name="TextBox 95"/>
            <p:cNvSpPr txBox="1"/>
            <p:nvPr/>
          </p:nvSpPr>
          <p:spPr>
            <a:xfrm rot="0">
              <a:off x="2676525" y="76962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250"/>
            </a:p>
          </p:txBody>
        </p:sp>
        <p:sp>
          <p:nvSpPr>
            <p:cNvPr id="96" name="TextBox 96"/>
            <p:cNvSpPr txBox="1"/>
            <p:nvPr/>
          </p:nvSpPr>
          <p:spPr>
            <a:xfrm rot="0">
              <a:off x="1771650" y="7229475"/>
              <a:ext cx="581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ReST</a:t>
              </a:r>
              <a:endParaRPr lang="zh-CN" sz="1700"/>
            </a:p>
          </p:txBody>
        </p:sp>
        <p:sp>
          <p:nvSpPr>
            <p:cNvPr id="97" name="TextBox 97"/>
            <p:cNvSpPr txBox="1"/>
            <p:nvPr/>
          </p:nvSpPr>
          <p:spPr>
            <a:xfrm rot="0">
              <a:off x="2400300" y="72675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98" name="TextBox 98"/>
            <p:cNvSpPr txBox="1"/>
            <p:nvPr/>
          </p:nvSpPr>
          <p:spPr>
            <a:xfrm rot="0">
              <a:off x="1771650" y="6800850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SEAL</a:t>
              </a:r>
              <a:endParaRPr lang="zh-CN" sz="1700"/>
            </a:p>
          </p:txBody>
        </p:sp>
        <p:sp>
          <p:nvSpPr>
            <p:cNvPr id="99" name="TextBox 99"/>
            <p:cNvSpPr txBox="1"/>
            <p:nvPr/>
          </p:nvSpPr>
          <p:spPr>
            <a:xfrm rot="0">
              <a:off x="2409825" y="68389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0" name="TextBox 100"/>
            <p:cNvSpPr txBox="1"/>
            <p:nvPr/>
          </p:nvSpPr>
          <p:spPr>
            <a:xfrm rot="0">
              <a:off x="2038350" y="631507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sz="1700"/>
            </a:p>
          </p:txBody>
        </p:sp>
        <p:sp>
          <p:nvSpPr>
            <p:cNvPr id="101" name="TextBox 101"/>
            <p:cNvSpPr txBox="1"/>
            <p:nvPr/>
          </p:nvSpPr>
          <p:spPr>
            <a:xfrm rot="0">
              <a:off x="2714625" y="63531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2019</a:t>
              </a:r>
              <a:endParaRPr lang="zh-CN" sz="1250"/>
            </a:p>
          </p:txBody>
        </p:sp>
        <p:sp>
          <p:nvSpPr>
            <p:cNvPr id="102" name="TextBox 102"/>
            <p:cNvSpPr txBox="1"/>
            <p:nvPr/>
          </p:nvSpPr>
          <p:spPr>
            <a:xfrm rot="0">
              <a:off x="1847850" y="6000750"/>
              <a:ext cx="1047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AgentGym</a:t>
              </a:r>
              <a:endParaRPr lang="zh-CN" sz="1700"/>
            </a:p>
          </p:txBody>
        </p:sp>
        <p:sp>
          <p:nvSpPr>
            <p:cNvPr id="103" name="TextBox 103"/>
            <p:cNvSpPr txBox="1"/>
            <p:nvPr/>
          </p:nvSpPr>
          <p:spPr>
            <a:xfrm rot="0">
              <a:off x="2943225" y="60388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04" name="TextBox 104"/>
            <p:cNvSpPr txBox="1"/>
            <p:nvPr/>
          </p:nvSpPr>
          <p:spPr>
            <a:xfrm rot="0">
              <a:off x="1847850" y="5695950"/>
              <a:ext cx="1371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Absolute Zero</a:t>
              </a:r>
              <a:endParaRPr lang="zh-CN" sz="1700"/>
            </a:p>
          </p:txBody>
        </p:sp>
        <p:sp>
          <p:nvSpPr>
            <p:cNvPr id="105" name="TextBox 105"/>
            <p:cNvSpPr txBox="1"/>
            <p:nvPr/>
          </p:nvSpPr>
          <p:spPr>
            <a:xfrm rot="0">
              <a:off x="3267075" y="57340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6" name="TextBox 106"/>
            <p:cNvSpPr txBox="1"/>
            <p:nvPr/>
          </p:nvSpPr>
          <p:spPr>
            <a:xfrm rot="0">
              <a:off x="2343150" y="5391150"/>
              <a:ext cx="752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R-Zero</a:t>
              </a:r>
              <a:endParaRPr lang="zh-CN" sz="1700"/>
            </a:p>
          </p:txBody>
        </p:sp>
        <p:sp>
          <p:nvSpPr>
            <p:cNvPr id="107" name="TextBox 107"/>
            <p:cNvSpPr txBox="1"/>
            <p:nvPr/>
          </p:nvSpPr>
          <p:spPr>
            <a:xfrm rot="0">
              <a:off x="3143250" y="54292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8" name="TextBox 108"/>
            <p:cNvSpPr txBox="1"/>
            <p:nvPr/>
          </p:nvSpPr>
          <p:spPr>
            <a:xfrm rot="0">
              <a:off x="1562100" y="5067300"/>
              <a:ext cx="13335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AgentEvolver</a:t>
              </a:r>
              <a:endParaRPr lang="zh-CN" sz="1700"/>
            </a:p>
          </p:txBody>
        </p:sp>
        <p:sp>
          <p:nvSpPr>
            <p:cNvPr id="109" name="TextBox 109"/>
            <p:cNvSpPr txBox="1"/>
            <p:nvPr/>
          </p:nvSpPr>
          <p:spPr>
            <a:xfrm rot="0">
              <a:off x="2943225" y="51054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10" name="TextBox 110"/>
            <p:cNvSpPr txBox="1"/>
            <p:nvPr/>
          </p:nvSpPr>
          <p:spPr>
            <a:xfrm rot="0">
              <a:off x="3257550" y="4581525"/>
              <a:ext cx="990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Reflexion</a:t>
              </a:r>
              <a:endParaRPr lang="zh-CN" sz="1700"/>
            </a:p>
          </p:txBody>
        </p:sp>
        <p:sp>
          <p:nvSpPr>
            <p:cNvPr id="111" name="TextBox 111"/>
            <p:cNvSpPr txBox="1"/>
            <p:nvPr/>
          </p:nvSpPr>
          <p:spPr>
            <a:xfrm rot="0">
              <a:off x="4295775" y="46196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2" name="TextBox 112"/>
            <p:cNvSpPr txBox="1"/>
            <p:nvPr/>
          </p:nvSpPr>
          <p:spPr>
            <a:xfrm rot="0">
              <a:off x="2857500" y="4276725"/>
              <a:ext cx="8477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Voyager</a:t>
              </a:r>
              <a:endParaRPr lang="zh-CN" sz="1700"/>
            </a:p>
          </p:txBody>
        </p:sp>
        <p:sp>
          <p:nvSpPr>
            <p:cNvPr id="113" name="TextBox 113"/>
            <p:cNvSpPr txBox="1"/>
            <p:nvPr/>
          </p:nvSpPr>
          <p:spPr>
            <a:xfrm rot="0">
              <a:off x="3752850" y="43148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4" name="TextBox 114"/>
            <p:cNvSpPr txBox="1"/>
            <p:nvPr/>
          </p:nvSpPr>
          <p:spPr>
            <a:xfrm rot="0">
              <a:off x="3200400" y="4010025"/>
              <a:ext cx="6762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ExpeL</a:t>
              </a:r>
              <a:endParaRPr lang="zh-CN" sz="1700"/>
            </a:p>
          </p:txBody>
        </p:sp>
        <p:sp>
          <p:nvSpPr>
            <p:cNvPr id="115" name="TextBox 115"/>
            <p:cNvSpPr txBox="1"/>
            <p:nvPr/>
          </p:nvSpPr>
          <p:spPr>
            <a:xfrm rot="0">
              <a:off x="3924300" y="40481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6" name="TextBox 116"/>
            <p:cNvSpPr txBox="1"/>
            <p:nvPr/>
          </p:nvSpPr>
          <p:spPr>
            <a:xfrm rot="0">
              <a:off x="3333750" y="3762375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A-MEM</a:t>
              </a:r>
              <a:endParaRPr lang="zh-CN" sz="1700"/>
            </a:p>
          </p:txBody>
        </p:sp>
        <p:sp>
          <p:nvSpPr>
            <p:cNvPr id="117" name="TextBox 117"/>
            <p:cNvSpPr txBox="1"/>
            <p:nvPr/>
          </p:nvSpPr>
          <p:spPr>
            <a:xfrm rot="0">
              <a:off x="4257675" y="38004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18" name="TextBox 118"/>
            <p:cNvSpPr txBox="1"/>
            <p:nvPr/>
          </p:nvSpPr>
          <p:spPr>
            <a:xfrm rot="0">
              <a:off x="3657600" y="3495675"/>
              <a:ext cx="485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ACE</a:t>
              </a:r>
              <a:endParaRPr lang="zh-CN" sz="1700"/>
            </a:p>
          </p:txBody>
        </p:sp>
        <p:sp>
          <p:nvSpPr>
            <p:cNvPr id="119" name="TextBox 119"/>
            <p:cNvSpPr txBox="1"/>
            <p:nvPr/>
          </p:nvSpPr>
          <p:spPr>
            <a:xfrm rot="0">
              <a:off x="4191000" y="35337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20" name="TextBox 120"/>
            <p:cNvSpPr txBox="1"/>
            <p:nvPr/>
          </p:nvSpPr>
          <p:spPr>
            <a:xfrm rot="0">
              <a:off x="5048250" y="3238500"/>
              <a:ext cx="723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OPRO</a:t>
              </a:r>
              <a:endParaRPr lang="zh-CN" sz="1700"/>
            </a:p>
          </p:txBody>
        </p:sp>
        <p:sp>
          <p:nvSpPr>
            <p:cNvPr id="121" name="TextBox 121"/>
            <p:cNvSpPr txBox="1"/>
            <p:nvPr/>
          </p:nvSpPr>
          <p:spPr>
            <a:xfrm rot="0">
              <a:off x="5819775" y="32766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22" name="TextBox 122"/>
            <p:cNvSpPr txBox="1"/>
            <p:nvPr/>
          </p:nvSpPr>
          <p:spPr>
            <a:xfrm rot="0">
              <a:off x="4933950" y="2867025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DSPy</a:t>
              </a:r>
              <a:endParaRPr lang="zh-CN" sz="1700"/>
            </a:p>
          </p:txBody>
        </p:sp>
        <p:sp>
          <p:nvSpPr>
            <p:cNvPr id="123" name="TextBox 123"/>
            <p:cNvSpPr txBox="1"/>
            <p:nvPr/>
          </p:nvSpPr>
          <p:spPr>
            <a:xfrm rot="0">
              <a:off x="5619750" y="29051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24" name="TextBox 124"/>
            <p:cNvSpPr txBox="1"/>
            <p:nvPr/>
          </p:nvSpPr>
          <p:spPr>
            <a:xfrm rot="0">
              <a:off x="4943475" y="2514600"/>
              <a:ext cx="685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ADAS</a:t>
              </a:r>
              <a:endParaRPr lang="zh-CN" sz="1700"/>
            </a:p>
          </p:txBody>
        </p:sp>
        <p:sp>
          <p:nvSpPr>
            <p:cNvPr id="125" name="TextBox 125"/>
            <p:cNvSpPr txBox="1"/>
            <p:nvPr/>
          </p:nvSpPr>
          <p:spPr>
            <a:xfrm rot="0">
              <a:off x="5676900" y="25527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26" name="TextBox 126"/>
            <p:cNvSpPr txBox="1"/>
            <p:nvPr/>
          </p:nvSpPr>
          <p:spPr>
            <a:xfrm rot="0">
              <a:off x="4933950" y="2143125"/>
              <a:ext cx="6000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DGM</a:t>
              </a:r>
              <a:endParaRPr lang="zh-CN" sz="1700"/>
            </a:p>
          </p:txBody>
        </p:sp>
        <p:sp>
          <p:nvSpPr>
            <p:cNvPr id="127" name="TextBox 127"/>
            <p:cNvSpPr txBox="1"/>
            <p:nvPr/>
          </p:nvSpPr>
          <p:spPr>
            <a:xfrm rot="0">
              <a:off x="5581650" y="21812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28" name="TextBox 128"/>
            <p:cNvSpPr txBox="1"/>
            <p:nvPr/>
          </p:nvSpPr>
          <p:spPr>
            <a:xfrm rot="0">
              <a:off x="4943475" y="1771650"/>
              <a:ext cx="666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GEPA</a:t>
              </a:r>
              <a:endParaRPr lang="zh-CN" sz="1700"/>
            </a:p>
          </p:txBody>
        </p:sp>
        <p:sp>
          <p:nvSpPr>
            <p:cNvPr id="129" name="TextBox 129"/>
            <p:cNvSpPr txBox="1"/>
            <p:nvPr/>
          </p:nvSpPr>
          <p:spPr>
            <a:xfrm rot="0">
              <a:off x="5657850" y="18097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30" name="TextBox 130"/>
            <p:cNvSpPr txBox="1"/>
            <p:nvPr/>
          </p:nvSpPr>
          <p:spPr>
            <a:xfrm rot="0">
              <a:off x="6829425" y="895350"/>
              <a:ext cx="895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CREAM</a:t>
              </a:r>
              <a:endParaRPr lang="zh-CN" sz="1700"/>
            </a:p>
          </p:txBody>
        </p:sp>
        <p:sp>
          <p:nvSpPr>
            <p:cNvPr id="131" name="TextBox 131"/>
            <p:cNvSpPr txBox="1"/>
            <p:nvPr/>
          </p:nvSpPr>
          <p:spPr>
            <a:xfrm rot="0">
              <a:off x="7772400" y="9334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32" name="TextBox 132"/>
            <p:cNvSpPr txBox="1"/>
            <p:nvPr/>
          </p:nvSpPr>
          <p:spPr>
            <a:xfrm rot="0">
              <a:off x="7877175" y="3086100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CRITIC</a:t>
              </a:r>
              <a:endParaRPr lang="zh-CN" sz="1700"/>
            </a:p>
          </p:txBody>
        </p:sp>
        <p:sp>
          <p:nvSpPr>
            <p:cNvPr id="133" name="TextBox 133"/>
            <p:cNvSpPr txBox="1"/>
            <p:nvPr/>
          </p:nvSpPr>
          <p:spPr>
            <a:xfrm rot="0">
              <a:off x="8801100" y="31242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34" name="TextBox 134"/>
            <p:cNvSpPr txBox="1"/>
            <p:nvPr/>
          </p:nvSpPr>
          <p:spPr>
            <a:xfrm rot="0">
              <a:off x="9086850" y="504825"/>
              <a:ext cx="1514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Promptbreeder</a:t>
              </a:r>
              <a:endParaRPr lang="zh-CN" sz="1700"/>
            </a:p>
          </p:txBody>
        </p:sp>
        <p:sp>
          <p:nvSpPr>
            <p:cNvPr id="135" name="TextBox 135"/>
            <p:cNvSpPr txBox="1"/>
            <p:nvPr/>
          </p:nvSpPr>
          <p:spPr>
            <a:xfrm rot="0">
              <a:off x="10648950" y="5429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36" name="TextBox 136"/>
            <p:cNvSpPr txBox="1"/>
            <p:nvPr/>
          </p:nvSpPr>
          <p:spPr>
            <a:xfrm rot="0">
              <a:off x="9610725" y="100012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Metaⁿ</a:t>
              </a:r>
              <a:endParaRPr lang="zh-CN" sz="1700"/>
            </a:p>
          </p:txBody>
        </p:sp>
        <p:sp>
          <p:nvSpPr>
            <p:cNvPr id="137" name="TextBox 137"/>
            <p:cNvSpPr txBox="1"/>
            <p:nvPr/>
          </p:nvSpPr>
          <p:spPr>
            <a:xfrm rot="0">
              <a:off x="10287000" y="10382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38" name="TextBox 138"/>
            <p:cNvSpPr txBox="1"/>
            <p:nvPr/>
          </p:nvSpPr>
          <p:spPr>
            <a:xfrm rot="0">
              <a:off x="9458325" y="1905000"/>
              <a:ext cx="1257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Hyperagents</a:t>
              </a:r>
              <a:endParaRPr lang="zh-CN" sz="1700"/>
            </a:p>
          </p:txBody>
        </p:sp>
        <p:sp>
          <p:nvSpPr>
            <p:cNvPr id="139" name="TextBox 139"/>
            <p:cNvSpPr txBox="1"/>
            <p:nvPr/>
          </p:nvSpPr>
          <p:spPr>
            <a:xfrm rot="0">
              <a:off x="10763250" y="19431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40" name="TextBox 140"/>
            <p:cNvSpPr txBox="1"/>
            <p:nvPr/>
          </p:nvSpPr>
          <p:spPr>
            <a:xfrm rot="0">
              <a:off x="9848850" y="2390775"/>
              <a:ext cx="647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STOP</a:t>
              </a:r>
              <a:endParaRPr lang="zh-CN" sz="1700"/>
            </a:p>
          </p:txBody>
        </p:sp>
        <p:sp>
          <p:nvSpPr>
            <p:cNvPr id="141" name="TextBox 141"/>
            <p:cNvSpPr txBox="1"/>
            <p:nvPr/>
          </p:nvSpPr>
          <p:spPr>
            <a:xfrm rot="0">
              <a:off x="10544175" y="24288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42" name="TextBox 142"/>
            <p:cNvSpPr txBox="1"/>
            <p:nvPr/>
          </p:nvSpPr>
          <p:spPr>
            <a:xfrm rot="0">
              <a:off x="6896100" y="1304925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Self-Taught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Evaluators</a:t>
              </a:r>
              <a:endParaRPr lang="zh-CN" sz="1700"/>
            </a:p>
          </p:txBody>
        </p:sp>
        <p:sp>
          <p:nvSpPr>
            <p:cNvPr id="143" name="TextBox 143"/>
            <p:cNvSpPr txBox="1"/>
            <p:nvPr/>
          </p:nvSpPr>
          <p:spPr>
            <a:xfrm rot="0">
              <a:off x="8086725" y="162877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4" name="TextBox 144"/>
            <p:cNvSpPr txBox="1"/>
            <p:nvPr/>
          </p:nvSpPr>
          <p:spPr>
            <a:xfrm rot="0">
              <a:off x="7153275" y="1828800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Meta-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sz="1700"/>
            </a:p>
          </p:txBody>
        </p:sp>
        <p:sp>
          <p:nvSpPr>
            <p:cNvPr id="145" name="TextBox 145"/>
            <p:cNvSpPr txBox="1"/>
            <p:nvPr/>
          </p:nvSpPr>
          <p:spPr>
            <a:xfrm rot="0">
              <a:off x="8353425" y="2152650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6" name="TextBox 146"/>
            <p:cNvSpPr txBox="1"/>
            <p:nvPr/>
          </p:nvSpPr>
          <p:spPr>
            <a:xfrm rot="0">
              <a:off x="7429500" y="2381250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sz="1700"/>
            </a:p>
          </p:txBody>
        </p:sp>
        <p:sp>
          <p:nvSpPr>
            <p:cNvPr id="147" name="TextBox 147"/>
            <p:cNvSpPr txBox="1"/>
            <p:nvPr/>
          </p:nvSpPr>
          <p:spPr>
            <a:xfrm rot="0">
              <a:off x="8639175" y="2705100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8" name="TextBox 148"/>
            <p:cNvSpPr txBox="1"/>
            <p:nvPr/>
          </p:nvSpPr>
          <p:spPr>
            <a:xfrm rot="0">
              <a:off x="9344025" y="1323975"/>
              <a:ext cx="136207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Bilevel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Autoresearch</a:t>
              </a:r>
              <a:endParaRPr lang="zh-CN" sz="1700"/>
            </a:p>
          </p:txBody>
        </p:sp>
        <p:sp>
          <p:nvSpPr>
            <p:cNvPr id="149" name="TextBox 149"/>
            <p:cNvSpPr txBox="1"/>
            <p:nvPr/>
          </p:nvSpPr>
          <p:spPr>
            <a:xfrm rot="0">
              <a:off x="10810875" y="164782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91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50" name="TextBox 150"/>
            <p:cNvSpPr txBox="1"/>
            <p:nvPr/>
          </p:nvSpPr>
          <p:spPr>
            <a:xfrm rot="0">
              <a:off x="9810750" y="2733675"/>
              <a:ext cx="103822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AI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Scientist</a:t>
              </a:r>
              <a:endParaRPr lang="zh-CN" sz="1700"/>
            </a:p>
          </p:txBody>
        </p:sp>
        <p:sp>
          <p:nvSpPr>
            <p:cNvPr id="151" name="TextBox 151"/>
            <p:cNvSpPr txBox="1"/>
            <p:nvPr/>
          </p:nvSpPr>
          <p:spPr>
            <a:xfrm rot="0">
              <a:off x="10810875" y="305752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52" name="TextBox 152"/>
            <p:cNvSpPr txBox="1"/>
            <p:nvPr/>
          </p:nvSpPr>
          <p:spPr>
            <a:xfrm rot="0">
              <a:off x="9001125" y="1485900"/>
              <a:ext cx="3333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000" b="1">
                  <a:solidFill>
                    <a:srgbClr val="656575"/>
                  </a:solidFill>
                  <a:latin typeface="Times New Roman"/>
                  <a:ea typeface="Times New Roman"/>
                  <a:cs typeface="Times New Roman"/>
                </a:rPr>
                <a:t>Ind.</a:t>
              </a:r>
              <a:endParaRPr lang="zh-CN" sz="1000"/>
            </a:p>
          </p:txBody>
        </p:sp>
        <p:sp>
          <p:nvSpPr>
            <p:cNvPr id="153" name="TextBox 153"/>
            <p:cNvSpPr txBox="1"/>
            <p:nvPr/>
          </p:nvSpPr>
          <p:spPr>
            <a:xfrm rot="300000">
              <a:off x="5076825" y="766762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Generate, filter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train</a:t>
              </a:r>
              <a:endParaRPr lang="zh-CN" sz="1700"/>
            </a:p>
          </p:txBody>
        </p:sp>
        <p:sp>
          <p:nvSpPr>
            <p:cNvPr id="154" name="TextBox 154"/>
            <p:cNvSpPr txBox="1"/>
            <p:nvPr/>
          </p:nvSpPr>
          <p:spPr>
            <a:xfrm rot="900000">
              <a:off x="5514975" y="6686550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Propose tasks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co-evolve</a:t>
              </a:r>
              <a:endParaRPr lang="zh-CN" sz="1700"/>
            </a:p>
          </p:txBody>
        </p:sp>
        <p:sp>
          <p:nvSpPr>
            <p:cNvPr id="155" name="TextBox 155"/>
            <p:cNvSpPr txBox="1"/>
            <p:nvPr/>
          </p:nvSpPr>
          <p:spPr>
            <a:xfrm rot="1560000">
              <a:off x="6153150" y="5667375"/>
              <a:ext cx="194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Accumulate and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reuse experience</a:t>
              </a:r>
              <a:endParaRPr lang="zh-CN" sz="1700"/>
            </a:p>
          </p:txBody>
        </p:sp>
        <p:sp>
          <p:nvSpPr>
            <p:cNvPr id="156" name="TextBox 156"/>
            <p:cNvSpPr txBox="1"/>
            <p:nvPr/>
          </p:nvSpPr>
          <p:spPr>
            <a:xfrm rot="2580000">
              <a:off x="7400925" y="4933950"/>
              <a:ext cx="1495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Search, edit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execute</a:t>
              </a:r>
              <a:endParaRPr lang="zh-CN" sz="1700"/>
            </a:p>
          </p:txBody>
        </p:sp>
        <p:sp>
          <p:nvSpPr>
            <p:cNvPr id="157" name="TextBox 157"/>
            <p:cNvSpPr txBox="1"/>
            <p:nvPr/>
          </p:nvSpPr>
          <p:spPr>
            <a:xfrm rot="3600000">
              <a:off x="8286750" y="4391025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Judge outputs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refine judges</a:t>
              </a:r>
              <a:endParaRPr lang="zh-CN" sz="1700"/>
            </a:p>
          </p:txBody>
        </p:sp>
        <p:sp>
          <p:nvSpPr>
            <p:cNvPr id="158" name="TextBox 158"/>
            <p:cNvSpPr txBox="1"/>
            <p:nvPr/>
          </p:nvSpPr>
          <p:spPr>
            <a:xfrm rot="4800000">
              <a:off x="9534525" y="41052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Revise the update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or research process</a:t>
              </a:r>
              <a:endParaRPr lang="zh-CN" sz="1700"/>
            </a:p>
          </p:txBody>
        </p:sp>
        <p:sp>
          <p:nvSpPr>
            <p:cNvPr id="159" name="TextBox 159"/>
            <p:cNvSpPr txBox="1"/>
            <p:nvPr/>
          </p:nvSpPr>
          <p:spPr>
            <a:xfrm rot="240000">
              <a:off x="7905750" y="800100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AA803E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  <a:endParaRPr lang="zh-CN" sz="2100"/>
            </a:p>
          </p:txBody>
        </p:sp>
        <p:sp>
          <p:nvSpPr>
            <p:cNvPr id="160" name="TextBox 160"/>
            <p:cNvSpPr txBox="1"/>
            <p:nvPr/>
          </p:nvSpPr>
          <p:spPr>
            <a:xfrm rot="1080000">
              <a:off x="8201025" y="7486650"/>
              <a:ext cx="1000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478971"/>
                  </a:solidFill>
                  <a:latin typeface="Times New Roman"/>
                  <a:ea typeface="Times New Roman"/>
                  <a:cs typeface="Times New Roman"/>
                </a:rPr>
                <a:t>Tasks</a:t>
              </a:r>
              <a:endParaRPr lang="zh-CN" sz="2100"/>
            </a:p>
          </p:txBody>
        </p:sp>
        <p:sp>
          <p:nvSpPr>
            <p:cNvPr id="161" name="TextBox 161"/>
            <p:cNvSpPr txBox="1"/>
            <p:nvPr/>
          </p:nvSpPr>
          <p:spPr>
            <a:xfrm rot="1860000">
              <a:off x="8477250" y="6962775"/>
              <a:ext cx="11239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3C7FA5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  <a:endParaRPr lang="zh-CN" sz="2100"/>
            </a:p>
          </p:txBody>
        </p:sp>
        <p:sp>
          <p:nvSpPr>
            <p:cNvPr id="162" name="TextBox 162"/>
            <p:cNvSpPr txBox="1"/>
            <p:nvPr/>
          </p:nvSpPr>
          <p:spPr>
            <a:xfrm rot="2700000">
              <a:off x="8924925" y="6581775"/>
              <a:ext cx="12668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B86E5B"/>
                  </a:solidFill>
                  <a:latin typeface="Times New Roman"/>
                  <a:ea typeface="Times New Roman"/>
                  <a:cs typeface="Times New Roman"/>
                </a:rPr>
                <a:t>Programs</a:t>
              </a:r>
              <a:endParaRPr lang="zh-CN" sz="2100"/>
            </a:p>
          </p:txBody>
        </p:sp>
        <p:sp>
          <p:nvSpPr>
            <p:cNvPr id="163" name="TextBox 163"/>
            <p:cNvSpPr txBox="1"/>
            <p:nvPr/>
          </p:nvSpPr>
          <p:spPr>
            <a:xfrm rot="3660000">
              <a:off x="9544050" y="6315075"/>
              <a:ext cx="129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8A60A8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  <a:endParaRPr lang="zh-CN" sz="2100"/>
            </a:p>
          </p:txBody>
        </p:sp>
        <p:sp>
          <p:nvSpPr>
            <p:cNvPr id="164" name="TextBox 164"/>
            <p:cNvSpPr txBox="1"/>
            <p:nvPr/>
          </p:nvSpPr>
          <p:spPr>
            <a:xfrm rot="4860000">
              <a:off x="10210800" y="6172200"/>
              <a:ext cx="13525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3D8790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  <a:endParaRPr lang="zh-CN" sz="2100"/>
            </a:p>
          </p:txBody>
        </p:sp>
        <p:sp>
          <p:nvSpPr>
            <p:cNvPr id="165" name="TextBox 165"/>
            <p:cNvSpPr txBox="1"/>
            <p:nvPr/>
          </p:nvSpPr>
          <p:spPr>
            <a:xfrm rot="0">
              <a:off x="10287000" y="7762875"/>
              <a:ext cx="7620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RSI</a:t>
              </a:r>
              <a:endParaRPr lang="zh-CN" sz="2500"/>
            </a:p>
          </p:txBody>
        </p:sp>
        <p:sp>
          <p:nvSpPr>
            <p:cNvPr id="166" name="TextBox 166"/>
            <p:cNvSpPr txBox="1"/>
            <p:nvPr/>
          </p:nvSpPr>
          <p:spPr>
            <a:xfrm rot="0">
              <a:off x="10096500" y="8153400"/>
              <a:ext cx="11144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Update loop</a:t>
              </a:r>
              <a:endParaRPr lang="zh-CN" sz="1300"/>
            </a:p>
          </p:txBody>
        </p:sp>
      </p:grpSp>
      <p:sp>
        <p:nvSpPr>
          <p:cNvPr id="1001" name="TextBox 3"/>
          <p:cNvSpPr txBox="1"/>
          <p:nvPr/>
        </p:nvSpPr>
        <p:spPr>
          <a:xfrm>
            <a:off x="171450" y="114300"/>
            <a:ext cx="108585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283244"/>
                </a:solidFill>
                <a:latin typeface="Times New Roman"/>
                <a:ea typeface="Times New Roman"/>
                <a:cs typeface="Times New Roman"/>
              </a:rPr>
              <a:t>The landscape of recursive self-improvement</a:t>
            </a:r>
            <a:endParaRPr lang="zh-CN" sz="2800"/>
          </a:p>
        </p:txBody>
      </p:sp>
      <p:sp>
        <p:nvSpPr>
          <p:cNvPr id="1002" name="TextBox 4"/>
          <p:cNvSpPr txBox="1"/>
          <p:nvPr/>
        </p:nvSpPr>
        <p:spPr>
          <a:xfrm>
            <a:off x="171450" y="571500"/>
            <a:ext cx="108585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5E6878"/>
                </a:solidFill>
                <a:latin typeface="Times New Roman"/>
                <a:ea typeface="Times New Roman"/>
                <a:cs typeface="Times New Roman"/>
              </a:rPr>
              <a:t>Foundations, enabling mechanisms and emerging systems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