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6"/>
  </p:sldIdLst>
  <p:sldSz cx="16668750" cy="1278255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ect 2"/>
            <p:cNvSpPr/>
            <p:nvPr/>
          </p:nvSpPr>
          <p:spPr>
            <a:xfrm>
              <a:off x="1879505" y="307375"/>
              <a:ext cx="3232734" cy="8394510"/>
            </a:xfrm>
            <a:prstGeom prst="rect">
              <a:avLst/>
            </a:prstGeom>
            <a:solidFill>
              <a:srgbClr val="F4F4D9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" name="Rect 3"/>
            <p:cNvSpPr/>
            <p:nvPr/>
          </p:nvSpPr>
          <p:spPr>
            <a:xfrm>
              <a:off x="5101641" y="307375"/>
              <a:ext cx="3232734" cy="8394510"/>
            </a:xfrm>
            <a:prstGeom prst="rect">
              <a:avLst/>
            </a:prstGeom>
            <a:solidFill>
              <a:srgbClr val="E1F1D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" name="Rect 4"/>
            <p:cNvSpPr/>
            <p:nvPr/>
          </p:nvSpPr>
          <p:spPr>
            <a:xfrm>
              <a:off x="8334375" y="307375"/>
              <a:ext cx="3232734" cy="8394510"/>
            </a:xfrm>
            <a:prstGeom prst="rect">
              <a:avLst/>
            </a:prstGeom>
            <a:solidFill>
              <a:srgbClr val="D8F0F2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5" name="Rect 5"/>
            <p:cNvSpPr/>
            <p:nvPr/>
          </p:nvSpPr>
          <p:spPr>
            <a:xfrm>
              <a:off x="11567109" y="307375"/>
              <a:ext cx="3232734" cy="8394510"/>
            </a:xfrm>
            <a:prstGeom prst="rect">
              <a:avLst/>
            </a:prstGeom>
            <a:solidFill>
              <a:srgbClr val="E9E3F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6" name="Line 6"/>
            <p:cNvSpPr/>
            <p:nvPr/>
          </p:nvSpPr>
          <p:spPr>
            <a:xfrm>
              <a:off x="1879505" y="5066384"/>
              <a:ext cx="12909740" cy="0"/>
            </a:xfrm>
            <a:prstGeom prst="line">
              <a:avLst/>
            </a:prstGeom>
            <a:noFill/>
            <a:ln w="19050">
              <a:solidFill>
                <a:srgbClr val="C8C8C8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2070290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2070290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9" name="Roundrect 9"/>
            <p:cNvSpPr/>
            <p:nvPr/>
          </p:nvSpPr>
          <p:spPr>
            <a:xfrm>
              <a:off x="5292425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0" name="Roundrect 10"/>
            <p:cNvSpPr/>
            <p:nvPr/>
          </p:nvSpPr>
          <p:spPr>
            <a:xfrm>
              <a:off x="5292425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1" name="Roundrect 11"/>
            <p:cNvSpPr/>
            <p:nvPr/>
          </p:nvSpPr>
          <p:spPr>
            <a:xfrm>
              <a:off x="8525159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2" name="Roundrect 12"/>
            <p:cNvSpPr/>
            <p:nvPr/>
          </p:nvSpPr>
          <p:spPr>
            <a:xfrm>
              <a:off x="8525159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3" name="Roundrect 13"/>
            <p:cNvSpPr/>
            <p:nvPr/>
          </p:nvSpPr>
          <p:spPr>
            <a:xfrm>
              <a:off x="11757894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4" name="Roundrect 14"/>
            <p:cNvSpPr/>
            <p:nvPr/>
          </p:nvSpPr>
          <p:spPr>
            <a:xfrm>
              <a:off x="11757894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5" name="Line 15"/>
            <p:cNvSpPr/>
            <p:nvPr/>
          </p:nvSpPr>
          <p:spPr>
            <a:xfrm>
              <a:off x="3490573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55555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>
              <a:off x="6723307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55555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7" name="Line 17"/>
            <p:cNvSpPr/>
            <p:nvPr/>
          </p:nvSpPr>
          <p:spPr>
            <a:xfrm>
              <a:off x="9956042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D18D2F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8" name="Line 18"/>
            <p:cNvSpPr/>
            <p:nvPr/>
          </p:nvSpPr>
          <p:spPr>
            <a:xfrm>
              <a:off x="13188776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7070B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9" name="Line 19"/>
            <p:cNvSpPr/>
            <p:nvPr/>
          </p:nvSpPr>
          <p:spPr>
            <a:xfrm>
              <a:off x="3501172" y="4324445"/>
              <a:ext cx="0" cy="1240098"/>
            </a:xfrm>
            <a:prstGeom prst="line">
              <a:avLst/>
            </a:prstGeom>
            <a:noFill/>
            <a:ln w="50800">
              <a:solidFill>
                <a:srgbClr val="555555"/>
              </a:solidFill>
              <a:tailEnd type="none"/>
            </a:ln>
          </p:spPr>
          <p:txBody>
            <a:bodyPr/>
            <a:lstStyle/>
            <a:p/>
          </p:txBody>
        </p:sp>
        <p:pic>
          <p:nvPicPr>
            <p:cNvPr id="20" name="answer document revision ico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06237" y="1695861"/>
              <a:ext cx="2035033" cy="1187102"/>
            </a:xfrm>
            <a:prstGeom prst="rect">
              <a:avLst/>
            </a:prstGeom>
          </p:spPr>
        </p:pic>
        <p:pic>
          <p:nvPicPr>
            <p:cNvPr id="21" name="memory document stack icon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748187" y="1589869"/>
              <a:ext cx="1801852" cy="1536874"/>
            </a:xfrm>
            <a:prstGeom prst="rect">
              <a:avLst/>
            </a:prstGeom>
          </p:spPr>
        </p:pic>
        <p:pic>
          <p:nvPicPr>
            <p:cNvPr id="22" name="parameter neural network icon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949125" y="1579270"/>
              <a:ext cx="2268214" cy="1293094"/>
            </a:xfrm>
            <a:prstGeom prst="rect">
              <a:avLst/>
            </a:prstGeom>
          </p:spPr>
        </p:pic>
        <p:pic>
          <p:nvPicPr>
            <p:cNvPr id="23" name="improver procedure graph icon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2160661" y="1642865"/>
              <a:ext cx="1854848" cy="1165904"/>
            </a:xfrm>
            <a:prstGeom prst="rect">
              <a:avLst/>
            </a:prstGeom>
          </p:spPr>
        </p:pic>
        <p:pic>
          <p:nvPicPr>
            <p:cNvPr id="24" name="solver network icon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674440" y="6147495"/>
              <a:ext cx="1801852" cy="826732"/>
            </a:xfrm>
            <a:prstGeom prst="rect">
              <a:avLst/>
            </a:prstGeom>
          </p:spPr>
        </p:pic>
        <p:pic>
          <p:nvPicPr>
            <p:cNvPr id="25" name="solver plus memory icon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822381" y="6105099"/>
              <a:ext cx="1695861" cy="826732"/>
            </a:xfrm>
            <a:prstGeom prst="rect">
              <a:avLst/>
            </a:prstGeom>
          </p:spPr>
        </p:pic>
        <p:pic>
          <p:nvPicPr>
            <p:cNvPr id="26" name="updated parameter matrix icon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9076314" y="6083900"/>
              <a:ext cx="1907843" cy="953922"/>
            </a:xfrm>
            <a:prstGeom prst="rect">
              <a:avLst/>
            </a:prstGeom>
          </p:spPr>
        </p:pic>
        <p:pic>
          <p:nvPicPr>
            <p:cNvPr id="27" name="next update process icon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2139462" y="6083900"/>
              <a:ext cx="1748856" cy="84793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2176281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Answer</a:t>
              </a:r>
              <a:endParaRPr lang="zh-CN" sz="31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76281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Revise within one task</a:t>
              </a:r>
              <a:endParaRPr lang="zh-CN" sz="13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98416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Memory</a:t>
              </a:r>
              <a:endParaRPr lang="zh-CN" sz="31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98416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Accumulate experience</a:t>
              </a:r>
              <a:endParaRPr lang="zh-CN" sz="18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31151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Parameters</a:t>
              </a:r>
              <a:endParaRPr lang="zh-CN" sz="31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1151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Learn weights $\theta_t$</a:t>
              </a:r>
              <a:endParaRPr lang="zh-CN" sz="13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863885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Improver</a:t>
              </a:r>
              <a:endParaRPr lang="zh-CN" sz="31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863885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Revise the update process</a:t>
              </a:r>
              <a:endParaRPr lang="zh-CN" sz="13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94255" y="2702778"/>
              <a:ext cx="741939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y_k</a:t>
              </a:r>
              <a:endParaRPr lang="zh-CN" sz="23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82741" y="2702778"/>
              <a:ext cx="1059913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y_{k+1}</a:t>
              </a:r>
              <a:endParaRPr lang="zh-CN" sz="116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94255" y="3603704"/>
              <a:ext cx="2172822" cy="339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lang="zh-CN" sz="19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50475" y="5776525"/>
              <a:ext cx="2596787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Same solver</a:t>
              </a:r>
              <a:endParaRPr lang="zh-CN" sz="22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03470" y="7143813"/>
              <a:ext cx="2490795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Future task</a:t>
              </a:r>
              <a:endParaRPr lang="zh-CN" sz="17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97479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Local revision</a:t>
              </a:r>
              <a:endParaRPr lang="zh-CN" sz="212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40813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Memory retention</a:t>
              </a:r>
              <a:endParaRPr lang="zh-CN" sz="212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15944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Parameter learning</a:t>
              </a:r>
              <a:endParaRPr lang="zh-CN" sz="212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948678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Improver update</a:t>
              </a:r>
              <a:endParaRPr lang="zh-CN" sz="212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30214" y="3921678"/>
              <a:ext cx="2543791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M_t → M_{t+1}</a:t>
              </a:r>
              <a:endParaRPr lang="zh-CN" sz="23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77218" y="5776525"/>
              <a:ext cx="2649782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Solver + memory</a:t>
              </a:r>
              <a:endParaRPr lang="zh-CN" sz="22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07174" y="7048421"/>
              <a:ext cx="1801852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M_{t+1}</a:t>
              </a:r>
              <a:endParaRPr lang="zh-CN" sz="23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74931" y="3964074"/>
              <a:ext cx="2649782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θ_{t+1}</a:t>
              </a:r>
              <a:endParaRPr lang="zh-CN" sz="230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9952" y="5776525"/>
              <a:ext cx="2649782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Updated model</a:t>
              </a:r>
              <a:endParaRPr lang="zh-CN" sz="22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33918" y="7048421"/>
              <a:ext cx="1801852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θ_{t+1}</a:t>
              </a:r>
              <a:endParaRPr lang="zh-CN" sz="23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842687" y="2670981"/>
              <a:ext cx="741939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I_t</a:t>
              </a:r>
              <a:endParaRPr lang="zh-CN" sz="23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902600" y="2861765"/>
              <a:ext cx="1589869" cy="5087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revise / test</a:t>
              </a:r>
              <a:endParaRPr lang="zh-CN" sz="18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683700" y="5776525"/>
              <a:ext cx="2967756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Next update process</a:t>
              </a:r>
              <a:endParaRPr lang="zh-CN" sz="20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213656" y="7048421"/>
              <a:ext cx="2119826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I_{t+1}    ΔS_{t+1}</a:t>
              </a:r>
              <a:endParaRPr lang="zh-CN" sz="116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3079" y="4451634"/>
              <a:ext cx="847930" cy="275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lang="zh-CN" sz="17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58809" y="4451634"/>
              <a:ext cx="847930" cy="275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lang="zh-CN" sz="170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204396" y="4557626"/>
              <a:ext cx="1801852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⊥  local only</a:t>
              </a:r>
              <a:endParaRPr lang="zh-CN" sz="20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176281" y="5257168"/>
              <a:ext cx="1377887" cy="2967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later reuse</a:t>
              </a:r>
              <a:endParaRPr lang="zh-CN" sz="17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27893" y="8903269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Figure 6. What survives a round of improvement? Four patterns distinguished by the state carried forward. (a) Local checking </a:t>
              </a:r>
              <a:endParaRPr lang="zh-CN" sz="150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27893" y="9231842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and revision change an answer without retaining a change to the solver. (b) Memory M is retained while the model parameters a</a:t>
              </a:r>
              <a:endParaRPr lang="zh-CN" sz="140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27893" y="9560415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nd the chosen update procedure are held fixed. (c) Parameters θ are updated under a fixed training procedure. (d) An accepted</a:t>
              </a:r>
              <a:endParaRPr lang="zh-CN" sz="140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027893" y="9888988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 change to the improver I is retained and governs a subsequent task-system update ΔS_{t+1}. The horizontal gray dashed line s</a:t>
              </a:r>
              <a:endParaRPr lang="zh-CN" sz="140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027893" y="10217561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eparates current-task or current-round processing from later reuse. Black dashed enclosures group components. Colored arrows </a:t>
              </a:r>
              <a:endParaRPr lang="zh-CN" sz="140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027893" y="10546134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denote retained updates, and a capped line denotes a change that is not carried forward. Networks, memory stacks, and procedu</a:t>
              </a:r>
              <a:endParaRPr lang="zh-CN" sz="140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027893" y="10874707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 graphs are schematic representations. Solver and improver are functional roles that may share an implementation. These ana</a:t>
              </a:r>
              <a:endParaRPr lang="zh-CN" sz="14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027893" y="11203280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lytical patterns may coexist and do not form a capability ranking; persistent or meta-level changes alone do not establish su</a:t>
              </a:r>
              <a:endParaRPr lang="zh-CN" sz="140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027893" y="11531853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stained recursive gains.</a:t>
              </a:r>
              <a:endParaRPr lang="zh-CN" sz="14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