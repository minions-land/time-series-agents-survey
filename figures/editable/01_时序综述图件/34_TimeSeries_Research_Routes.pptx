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Type="http://schemas.openxmlformats.org/package/2006/relationships/metadata/core-properties" Target="/docProps/core.xml" Id="R824d6e2b1b2b4c8e"/><Relationship Type="http://schemas.openxmlformats.org/officeDocument/2006/relationships/extended-properties" Target="/docProps/app.xml" Id="R7a3bc27e99474807"/><Relationship Type="http://schemas.openxmlformats.org/officeDocument/2006/relationships/officeDocument" Target="/ppt/presentation.xml" Id="R617a959451a4436a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01f40272f394435"/>
  </p:sldMasterIdLst>
  <p:notesMasterIdLst>
    <p:notesMasterId xmlns:r="http://schemas.openxmlformats.org/officeDocument/2006/relationships" r:id="Recc1189db638435c"/>
  </p:notesMasterIdLst>
  <p:sldIdLst>
    <p:sldId xmlns:r="http://schemas.openxmlformats.org/officeDocument/2006/relationships" id="259" r:id="Ra6ea51f892b945ee"/>
  </p:sldIdLst>
  <p:sldSz cx="16668750" cy="127825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Type="http://schemas.openxmlformats.org/officeDocument/2006/relationships/theme" Target="/ppt/theme/theme1.xml" Id="R8c20673b7be64083"/><Relationship Type="http://schemas.openxmlformats.org/officeDocument/2006/relationships/slideMaster" Target="/ppt/slideMasters/slideMaster1.xml" Id="R201f40272f394435"/><Relationship Type="http://schemas.openxmlformats.org/officeDocument/2006/relationships/notesMaster" Target="/ppt/notesMasters/notesMaster1.xml" Id="Recc1189db638435c"/><Relationship Type="http://schemas.openxmlformats.org/officeDocument/2006/relationships/presProps" Target="/ppt/presProps.xml" Id="Rd57632f129984635"/><Relationship Type="http://schemas.openxmlformats.org/officeDocument/2006/relationships/tableStyles" Target="/ppt/tableStyles.xml" Id="R5bcb00eae1d54b44"/><Relationship Type="http://schemas.openxmlformats.org/officeDocument/2006/relationships/slide" Target="/ppt/slides/slide4.xml" Id="Ra6ea51f892b945ee"/></Relationships>
</file>

<file path=ppt/notesMasters/_rels/notesMaster1.xml.rels><?xml version='1.0' encoding='UTF-8' standalone='yes'?>
<Relationships xmlns="http://schemas.openxmlformats.org/package/2006/relationships"><Relationship Type="http://schemas.openxmlformats.org/officeDocument/2006/relationships/theme" Target="/ppt/notesMasters/theme/theme3.xml" Id="R74b674405eb74ea4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4.xml.rels><?xml version='1.0' encoding='UTF-8' standalone='yes'?>
<Relationships xmlns="http://schemas.openxmlformats.org/package/2006/relationships"><Relationship Type="http://schemas.openxmlformats.org/officeDocument/2006/relationships/slide" Target="/ppt/slides/slide4.xml" Id="R7a21c31f2628433d"/><Relationship Type="http://schemas.openxmlformats.org/officeDocument/2006/relationships/notesMaster" Target="/ppt/notesMasters/notesMaster1.xml" Id="R6e0f52ece921466d"/></Relationship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Time-Series Agent survey figure adapted from the user-supplied RSI visual template. The layout, typography, and visual hierarchy are retained while the content is rewritten for the LLM + General Harness + Time-Series Harness Module framework. Editable PowerPoint objects remain available for later grouping and revision.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2ea3598500d24dfd"/></Relationships>
</file>

<file path=ppt/slideLayouts/slideLayout1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Type="http://schemas.openxmlformats.org/officeDocument/2006/relationships/theme" Target="/ppt/slideMasters/theme/theme2.xml" Id="Rd9f031b9f3824a24"/><Relationship Type="http://schemas.openxmlformats.org/officeDocument/2006/relationships/slideLayout" Target="/ppt/slideLayouts/slideLayout1.xml" Id="R140c98990e2a4c55"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40c98990e2a4c55"/>
  </p:sldLayoutIdLst>
</p:sldMaster>
</file>

<file path=ppt/slideMasters/theme/theme2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s/_rels/slide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a58f7c2835a64bcf"/><Relationship Type="http://schemas.openxmlformats.org/officeDocument/2006/relationships/notesSlide" Target="/ppt/notesSlides/notesSlide4.xml" Id="R4a8cb3aafdf24b22"/></Relationships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pSp>
        <p:nvGrpSpPr>
          <p:cNvPr id="142" name="group-remaining-components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2" name="Roundrect 2">
              <a:extLst xmlns:a="http://schemas.openxmlformats.org/drawingml/2006/main">
                <a:ext uri="{FF2B5EF4-FFF2-40B4-BE49-F238E27FC236}">
                  <a16:creationId xmlns:a16="http://schemas.microsoft.com/office/drawing/2014/main" id="{3233EA32-85E7-4662-9AA3-0606C802E05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550989" y="856322"/>
              <a:ext cx="1245559" cy="1105434"/>
            </a:xfrm>
            <a:prstGeom xmlns:a="http://schemas.openxmlformats.org/drawingml/2006/main" prst="roundRect">
              <a:avLst>
                <a:gd name="adj" fmla="val 7042"/>
              </a:avLst>
            </a:prstGeom>
            <a:solidFill xmlns:a="http://schemas.openxmlformats.org/drawingml/2006/main">
              <a:srgbClr val="FBF5E8"/>
            </a:solidFill>
            <a:ln xmlns:a="http://schemas.openxmlformats.org/drawingml/2006/main" w="25400">
              <a:solidFill>
                <a:srgbClr val="B9832E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3" name="Roundrect 3">
              <a:extLst xmlns:a="http://schemas.openxmlformats.org/drawingml/2006/main">
                <a:ext uri="{FF2B5EF4-FFF2-40B4-BE49-F238E27FC236}">
                  <a16:creationId xmlns:a16="http://schemas.microsoft.com/office/drawing/2014/main" id="{C3919331-5D84-4245-B7FD-094B04E776B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5905535" y="856322"/>
              <a:ext cx="1245559" cy="1105434"/>
            </a:xfrm>
            <a:prstGeom xmlns:a="http://schemas.openxmlformats.org/drawingml/2006/main" prst="roundRect">
              <a:avLst>
                <a:gd name="adj" fmla="val 7042"/>
              </a:avLst>
            </a:prstGeom>
            <a:solidFill xmlns:a="http://schemas.openxmlformats.org/drawingml/2006/main">
              <a:srgbClr val="EDF7F1"/>
            </a:solidFill>
            <a:ln xmlns:a="http://schemas.openxmlformats.org/drawingml/2006/main" w="25400">
              <a:solidFill>
                <a:srgbClr val="3C8D76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4" name="Roundrect 4">
              <a:extLst xmlns:a="http://schemas.openxmlformats.org/drawingml/2006/main">
                <a:ext uri="{FF2B5EF4-FFF2-40B4-BE49-F238E27FC236}">
                  <a16:creationId xmlns:a16="http://schemas.microsoft.com/office/drawing/2014/main" id="{C4B7D85C-560D-41E9-BED3-AE110BCD702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7260080" y="856322"/>
              <a:ext cx="1245559" cy="1105434"/>
            </a:xfrm>
            <a:prstGeom xmlns:a="http://schemas.openxmlformats.org/drawingml/2006/main" prst="roundRect">
              <a:avLst>
                <a:gd name="adj" fmla="val 7042"/>
              </a:avLst>
            </a:prstGeom>
            <a:solidFill xmlns:a="http://schemas.openxmlformats.org/drawingml/2006/main">
              <a:srgbClr val="EDF3FA"/>
            </a:solidFill>
            <a:ln xmlns:a="http://schemas.openxmlformats.org/drawingml/2006/main" w="25400">
              <a:solidFill>
                <a:srgbClr val="3F7BAD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5" name="Roundrect 5">
              <a:extLst xmlns:a="http://schemas.openxmlformats.org/drawingml/2006/main">
                <a:ext uri="{FF2B5EF4-FFF2-40B4-BE49-F238E27FC236}">
                  <a16:creationId xmlns:a16="http://schemas.microsoft.com/office/drawing/2014/main" id="{3C20F432-2B5C-4B88-8E16-4391A445D00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8614626" y="856322"/>
              <a:ext cx="1245559" cy="1105434"/>
            </a:xfrm>
            <a:prstGeom xmlns:a="http://schemas.openxmlformats.org/drawingml/2006/main" prst="roundRect">
              <a:avLst>
                <a:gd name="adj" fmla="val 7042"/>
              </a:avLst>
            </a:prstGeom>
            <a:solidFill xmlns:a="http://schemas.openxmlformats.org/drawingml/2006/main">
              <a:srgbClr val="F9EEEE"/>
            </a:solidFill>
            <a:ln xmlns:a="http://schemas.openxmlformats.org/drawingml/2006/main" w="25400">
              <a:solidFill>
                <a:srgbClr val="C16A58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6" name="Roundrect 6">
              <a:extLst xmlns:a="http://schemas.openxmlformats.org/drawingml/2006/main">
                <a:ext uri="{FF2B5EF4-FFF2-40B4-BE49-F238E27FC236}">
                  <a16:creationId xmlns:a16="http://schemas.microsoft.com/office/drawing/2014/main" id="{7C10D64B-0797-4BF1-9D76-FC1F199334E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9969171" y="856322"/>
              <a:ext cx="1245559" cy="1105434"/>
            </a:xfrm>
            <a:prstGeom xmlns:a="http://schemas.openxmlformats.org/drawingml/2006/main" prst="roundRect">
              <a:avLst>
                <a:gd name="adj" fmla="val 7042"/>
              </a:avLst>
            </a:prstGeom>
            <a:solidFill xmlns:a="http://schemas.openxmlformats.org/drawingml/2006/main">
              <a:srgbClr val="F4EFF8"/>
            </a:solidFill>
            <a:ln xmlns:a="http://schemas.openxmlformats.org/drawingml/2006/main" w="25400">
              <a:solidFill>
                <a:srgbClr val="8561A3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7" name="Roundrect 7">
              <a:extLst xmlns:a="http://schemas.openxmlformats.org/drawingml/2006/main">
                <a:ext uri="{FF2B5EF4-FFF2-40B4-BE49-F238E27FC236}">
                  <a16:creationId xmlns:a16="http://schemas.microsoft.com/office/drawing/2014/main" id="{AB9A8D7F-54F3-4973-B39E-77DBB6F96B4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1323717" y="856322"/>
              <a:ext cx="1245559" cy="1105434"/>
            </a:xfrm>
            <a:prstGeom xmlns:a="http://schemas.openxmlformats.org/drawingml/2006/main" prst="roundRect">
              <a:avLst>
                <a:gd name="adj" fmla="val 7042"/>
              </a:avLst>
            </a:prstGeom>
            <a:solidFill xmlns:a="http://schemas.openxmlformats.org/drawingml/2006/main">
              <a:srgbClr val="EDF6F6"/>
            </a:solidFill>
            <a:ln xmlns:a="http://schemas.openxmlformats.org/drawingml/2006/main" w="25400">
              <a:solidFill>
                <a:srgbClr val="3B8791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8" name="Roundrect 8">
              <a:extLst xmlns:a="http://schemas.openxmlformats.org/drawingml/2006/main">
                <a:ext uri="{FF2B5EF4-FFF2-40B4-BE49-F238E27FC236}">
                  <a16:creationId xmlns:a16="http://schemas.microsoft.com/office/drawing/2014/main" id="{6FD39D24-71E3-40AB-A632-C672D7DE0F7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434218" y="9730930"/>
              <a:ext cx="8096134" cy="560502"/>
            </a:xfrm>
            <a:prstGeom xmlns:a="http://schemas.openxmlformats.org/drawingml/2006/main" prst="roundRect">
              <a:avLst>
                <a:gd name="adj" fmla="val 13889"/>
              </a:avLst>
            </a:prstGeom>
            <a:solidFill xmlns:a="http://schemas.openxmlformats.org/drawingml/2006/main">
              <a:srgbClr val="FBFBFB"/>
            </a:solidFill>
            <a:ln xmlns:a="http://schemas.openxmlformats.org/drawingml/2006/main" w="25400">
              <a:solidFill>
                <a:srgbClr val="283244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9" name="Roundrect 9">
              <a:extLst xmlns:a="http://schemas.openxmlformats.org/drawingml/2006/main">
                <a:ext uri="{FF2B5EF4-FFF2-40B4-BE49-F238E27FC236}">
                  <a16:creationId xmlns:a16="http://schemas.microsoft.com/office/drawing/2014/main" id="{83B14A0C-5511-4785-941F-98CC313ABF8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574344" y="3604337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B9832E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10" name="Roundrect 10">
              <a:extLst xmlns:a="http://schemas.openxmlformats.org/drawingml/2006/main">
                <a:ext uri="{FF2B5EF4-FFF2-40B4-BE49-F238E27FC236}">
                  <a16:creationId xmlns:a16="http://schemas.microsoft.com/office/drawing/2014/main" id="{4618BD2A-F518-428A-84E6-7BF75010320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574344" y="3876803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B9832E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11" name="Roundrect 11">
              <a:extLst xmlns:a="http://schemas.openxmlformats.org/drawingml/2006/main">
                <a:ext uri="{FF2B5EF4-FFF2-40B4-BE49-F238E27FC236}">
                  <a16:creationId xmlns:a16="http://schemas.microsoft.com/office/drawing/2014/main" id="{45F3B881-B1CA-4E17-A4D8-70CC0F75A9B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574344" y="5861912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B9832E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12" name="Roundrect 12">
              <a:extLst xmlns:a="http://schemas.openxmlformats.org/drawingml/2006/main">
                <a:ext uri="{FF2B5EF4-FFF2-40B4-BE49-F238E27FC236}">
                  <a16:creationId xmlns:a16="http://schemas.microsoft.com/office/drawing/2014/main" id="{783EBEBC-455C-44AE-83F1-2B7F9037E8C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574344" y="5316980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B9832E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13" name="Roundrect 13">
              <a:extLst xmlns:a="http://schemas.openxmlformats.org/drawingml/2006/main">
                <a:ext uri="{FF2B5EF4-FFF2-40B4-BE49-F238E27FC236}">
                  <a16:creationId xmlns:a16="http://schemas.microsoft.com/office/drawing/2014/main" id="{B38B0811-2462-459F-91D7-25555350C26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574344" y="5589446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B9832E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14" name="Roundrect 14">
              <a:extLst xmlns:a="http://schemas.openxmlformats.org/drawingml/2006/main">
                <a:ext uri="{FF2B5EF4-FFF2-40B4-BE49-F238E27FC236}">
                  <a16:creationId xmlns:a16="http://schemas.microsoft.com/office/drawing/2014/main" id="{83F9FF2C-2DB2-470E-9EE8-97294F31688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574344" y="5861912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B9832E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15" name="Roundrect 15">
              <a:extLst xmlns:a="http://schemas.openxmlformats.org/drawingml/2006/main">
                <a:ext uri="{FF2B5EF4-FFF2-40B4-BE49-F238E27FC236}">
                  <a16:creationId xmlns:a16="http://schemas.microsoft.com/office/drawing/2014/main" id="{A3A337B9-5563-4FBB-B772-BEE32D92FE3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574344" y="7029624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B9832E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16" name="Roundrect 16">
              <a:extLst xmlns:a="http://schemas.openxmlformats.org/drawingml/2006/main">
                <a:ext uri="{FF2B5EF4-FFF2-40B4-BE49-F238E27FC236}">
                  <a16:creationId xmlns:a16="http://schemas.microsoft.com/office/drawing/2014/main" id="{55D88945-A448-433E-B50D-7FB8318036F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574344" y="7302090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B9832E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17" name="Roundrect 17">
              <a:extLst xmlns:a="http://schemas.openxmlformats.org/drawingml/2006/main">
                <a:ext uri="{FF2B5EF4-FFF2-40B4-BE49-F238E27FC236}">
                  <a16:creationId xmlns:a16="http://schemas.microsoft.com/office/drawing/2014/main" id="{B03FA411-ABDD-49B0-8FD8-755A4470248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574344" y="9287200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B9832E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18" name="Roundrect 18">
              <a:extLst xmlns:a="http://schemas.openxmlformats.org/drawingml/2006/main">
                <a:ext uri="{FF2B5EF4-FFF2-40B4-BE49-F238E27FC236}">
                  <a16:creationId xmlns:a16="http://schemas.microsoft.com/office/drawing/2014/main" id="{D6FF93A4-FAEB-4A42-AC0D-AD57B88B7DD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574344" y="8742268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B9832E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19" name="Roundrect 19">
              <a:extLst xmlns:a="http://schemas.openxmlformats.org/drawingml/2006/main">
                <a:ext uri="{FF2B5EF4-FFF2-40B4-BE49-F238E27FC236}">
                  <a16:creationId xmlns:a16="http://schemas.microsoft.com/office/drawing/2014/main" id="{CF2F75D1-025C-42B6-A90A-8F1BC21E4A1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5928889" y="3604337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3C8D76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20" name="Roundrect 20">
              <a:extLst xmlns:a="http://schemas.openxmlformats.org/drawingml/2006/main">
                <a:ext uri="{FF2B5EF4-FFF2-40B4-BE49-F238E27FC236}">
                  <a16:creationId xmlns:a16="http://schemas.microsoft.com/office/drawing/2014/main" id="{3614EECF-670A-403E-8AB3-B6FD1FBEC2A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5928889" y="3876803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3C8D76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21" name="Roundrect 21">
              <a:extLst xmlns:a="http://schemas.openxmlformats.org/drawingml/2006/main">
                <a:ext uri="{FF2B5EF4-FFF2-40B4-BE49-F238E27FC236}">
                  <a16:creationId xmlns:a16="http://schemas.microsoft.com/office/drawing/2014/main" id="{31B32DD5-8C40-4B34-82E2-F08F9174709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5928889" y="4149269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3C8D76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22" name="Roundrect 22">
              <a:extLst xmlns:a="http://schemas.openxmlformats.org/drawingml/2006/main">
                <a:ext uri="{FF2B5EF4-FFF2-40B4-BE49-F238E27FC236}">
                  <a16:creationId xmlns:a16="http://schemas.microsoft.com/office/drawing/2014/main" id="{01AC7B4E-84AB-46CC-A047-0723807B4E1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5928889" y="5316980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3C8D76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23" name="Roundrect 23">
              <a:extLst xmlns:a="http://schemas.openxmlformats.org/drawingml/2006/main">
                <a:ext uri="{FF2B5EF4-FFF2-40B4-BE49-F238E27FC236}">
                  <a16:creationId xmlns:a16="http://schemas.microsoft.com/office/drawing/2014/main" id="{66D2E466-7846-4F11-95C1-04B8795ADA4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7283435" y="1891693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3F7BAD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24" name="Roundrect 24">
              <a:extLst xmlns:a="http://schemas.openxmlformats.org/drawingml/2006/main">
                <a:ext uri="{FF2B5EF4-FFF2-40B4-BE49-F238E27FC236}">
                  <a16:creationId xmlns:a16="http://schemas.microsoft.com/office/drawing/2014/main" id="{BF9B040A-12D2-488C-B943-886D7ABB0FC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7283435" y="3876803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3F7BAD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25" name="Roundrect 25">
              <a:extLst xmlns:a="http://schemas.openxmlformats.org/drawingml/2006/main">
                <a:ext uri="{FF2B5EF4-FFF2-40B4-BE49-F238E27FC236}">
                  <a16:creationId xmlns:a16="http://schemas.microsoft.com/office/drawing/2014/main" id="{E93DC402-3C34-41C0-A56C-A7F74AC444D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7283435" y="4149269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3F7BAD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26" name="Roundrect 26">
              <a:extLst xmlns:a="http://schemas.openxmlformats.org/drawingml/2006/main">
                <a:ext uri="{FF2B5EF4-FFF2-40B4-BE49-F238E27FC236}">
                  <a16:creationId xmlns:a16="http://schemas.microsoft.com/office/drawing/2014/main" id="{4DE2DAC1-C6E7-4AEA-8D8A-03B357E7640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7283435" y="7029624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3F7BAD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27" name="Roundrect 27">
              <a:extLst xmlns:a="http://schemas.openxmlformats.org/drawingml/2006/main">
                <a:ext uri="{FF2B5EF4-FFF2-40B4-BE49-F238E27FC236}">
                  <a16:creationId xmlns:a16="http://schemas.microsoft.com/office/drawing/2014/main" id="{F81542F6-97CF-4608-A896-37D8F085E54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7283435" y="7302090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3F7BAD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28" name="Roundrect 28">
              <a:extLst xmlns:a="http://schemas.openxmlformats.org/drawingml/2006/main">
                <a:ext uri="{FF2B5EF4-FFF2-40B4-BE49-F238E27FC236}">
                  <a16:creationId xmlns:a16="http://schemas.microsoft.com/office/drawing/2014/main" id="{2DE18B02-AC1C-4CB4-8F04-E3323E68825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7283435" y="7574556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3F7BAD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29" name="Roundrect 29">
              <a:extLst xmlns:a="http://schemas.openxmlformats.org/drawingml/2006/main">
                <a:ext uri="{FF2B5EF4-FFF2-40B4-BE49-F238E27FC236}">
                  <a16:creationId xmlns:a16="http://schemas.microsoft.com/office/drawing/2014/main" id="{323085DE-F74D-4DE0-8D53-4DC63666A2A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8637980" y="1891693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C16A58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30" name="Roundrect 30">
              <a:extLst xmlns:a="http://schemas.openxmlformats.org/drawingml/2006/main">
                <a:ext uri="{FF2B5EF4-FFF2-40B4-BE49-F238E27FC236}">
                  <a16:creationId xmlns:a16="http://schemas.microsoft.com/office/drawing/2014/main" id="{265640A4-4072-4AC6-8B01-81AB666715C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8637980" y="3876803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C16A58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31" name="Roundrect 31">
              <a:extLst xmlns:a="http://schemas.openxmlformats.org/drawingml/2006/main">
                <a:ext uri="{FF2B5EF4-FFF2-40B4-BE49-F238E27FC236}">
                  <a16:creationId xmlns:a16="http://schemas.microsoft.com/office/drawing/2014/main" id="{07B3B5B4-923B-4E45-83D6-7F342DE5DAE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8637980" y="4149269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C16A58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32" name="Roundrect 32">
              <a:extLst xmlns:a="http://schemas.openxmlformats.org/drawingml/2006/main">
                <a:ext uri="{FF2B5EF4-FFF2-40B4-BE49-F238E27FC236}">
                  <a16:creationId xmlns:a16="http://schemas.microsoft.com/office/drawing/2014/main" id="{AF6358CE-1C08-4C4B-B72D-67B94EC19C2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8637980" y="3604337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C16A58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33" name="Roundrect 33">
              <a:extLst xmlns:a="http://schemas.openxmlformats.org/drawingml/2006/main">
                <a:ext uri="{FF2B5EF4-FFF2-40B4-BE49-F238E27FC236}">
                  <a16:creationId xmlns:a16="http://schemas.microsoft.com/office/drawing/2014/main" id="{7238974E-AE77-4669-9D20-1FCA49FC3F8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8637980" y="5589446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C16A58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34" name="Roundrect 34">
              <a:extLst xmlns:a="http://schemas.openxmlformats.org/drawingml/2006/main">
                <a:ext uri="{FF2B5EF4-FFF2-40B4-BE49-F238E27FC236}">
                  <a16:creationId xmlns:a16="http://schemas.microsoft.com/office/drawing/2014/main" id="{9C5DF1DF-9A34-4F2D-B8B7-F4855D71178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8637980" y="5861912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C16A58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35" name="Roundrect 35">
              <a:extLst xmlns:a="http://schemas.openxmlformats.org/drawingml/2006/main">
                <a:ext uri="{FF2B5EF4-FFF2-40B4-BE49-F238E27FC236}">
                  <a16:creationId xmlns:a16="http://schemas.microsoft.com/office/drawing/2014/main" id="{4E7FF5A3-17D3-4B8B-B376-E634FD5EA78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8637980" y="5316980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C16A58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36" name="Roundrect 36">
              <a:extLst xmlns:a="http://schemas.openxmlformats.org/drawingml/2006/main">
                <a:ext uri="{FF2B5EF4-FFF2-40B4-BE49-F238E27FC236}">
                  <a16:creationId xmlns:a16="http://schemas.microsoft.com/office/drawing/2014/main" id="{A0A2A876-3B9C-4060-8EBC-620A5CE0BE8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8637980" y="7302090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C16A58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37" name="Roundrect 37">
              <a:extLst xmlns:a="http://schemas.openxmlformats.org/drawingml/2006/main">
                <a:ext uri="{FF2B5EF4-FFF2-40B4-BE49-F238E27FC236}">
                  <a16:creationId xmlns:a16="http://schemas.microsoft.com/office/drawing/2014/main" id="{FDD2EF93-BC4A-4A24-A730-AEA6CE114F9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8637980" y="7574556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C16A58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38" name="Roundrect 38">
              <a:extLst xmlns:a="http://schemas.openxmlformats.org/drawingml/2006/main">
                <a:ext uri="{FF2B5EF4-FFF2-40B4-BE49-F238E27FC236}">
                  <a16:creationId xmlns:a16="http://schemas.microsoft.com/office/drawing/2014/main" id="{172BFCFE-165B-4BDD-A44D-C7003096595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9992526" y="3604337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8561A3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39" name="Roundrect 39">
              <a:extLst xmlns:a="http://schemas.openxmlformats.org/drawingml/2006/main">
                <a:ext uri="{FF2B5EF4-FFF2-40B4-BE49-F238E27FC236}">
                  <a16:creationId xmlns:a16="http://schemas.microsoft.com/office/drawing/2014/main" id="{631A3826-DC99-4D65-985F-65793F77899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9992526" y="5589446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8561A3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40" name="Roundrect 40">
              <a:extLst xmlns:a="http://schemas.openxmlformats.org/drawingml/2006/main">
                <a:ext uri="{FF2B5EF4-FFF2-40B4-BE49-F238E27FC236}">
                  <a16:creationId xmlns:a16="http://schemas.microsoft.com/office/drawing/2014/main" id="{427699D1-9DAC-4B13-88A4-C308BFF3518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9992526" y="5861912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8561A3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41" name="Roundrect 41">
              <a:extLst xmlns:a="http://schemas.openxmlformats.org/drawingml/2006/main">
                <a:ext uri="{FF2B5EF4-FFF2-40B4-BE49-F238E27FC236}">
                  <a16:creationId xmlns:a16="http://schemas.microsoft.com/office/drawing/2014/main" id="{3D267B24-7FD7-4B54-9C07-DB8D7628AA9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9992526" y="5316980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8561A3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42" name="Roundrect 42">
              <a:extLst xmlns:a="http://schemas.openxmlformats.org/drawingml/2006/main">
                <a:ext uri="{FF2B5EF4-FFF2-40B4-BE49-F238E27FC236}">
                  <a16:creationId xmlns:a16="http://schemas.microsoft.com/office/drawing/2014/main" id="{7D739899-0DD6-4037-AE63-AED87309957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9992526" y="5589446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8561A3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43" name="Roundrect 43">
              <a:extLst xmlns:a="http://schemas.openxmlformats.org/drawingml/2006/main">
                <a:ext uri="{FF2B5EF4-FFF2-40B4-BE49-F238E27FC236}">
                  <a16:creationId xmlns:a16="http://schemas.microsoft.com/office/drawing/2014/main" id="{6C09FE3B-8D6A-4716-BB1F-9389F7B1BAB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9992526" y="7574556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8561A3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44" name="Roundrect 44">
              <a:extLst xmlns:a="http://schemas.openxmlformats.org/drawingml/2006/main">
                <a:ext uri="{FF2B5EF4-FFF2-40B4-BE49-F238E27FC236}">
                  <a16:creationId xmlns:a16="http://schemas.microsoft.com/office/drawing/2014/main" id="{6CA94553-77D7-45F8-AD9D-F382101DA2E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9992526" y="8742268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8561A3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45" name="Roundrect 45">
              <a:extLst xmlns:a="http://schemas.openxmlformats.org/drawingml/2006/main">
                <a:ext uri="{FF2B5EF4-FFF2-40B4-BE49-F238E27FC236}">
                  <a16:creationId xmlns:a16="http://schemas.microsoft.com/office/drawing/2014/main" id="{D5766E79-E8B0-4928-A42B-931A07061D8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1347071" y="1891693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3B8791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46" name="Roundrect 46">
              <a:extLst xmlns:a="http://schemas.openxmlformats.org/drawingml/2006/main">
                <a:ext uri="{FF2B5EF4-FFF2-40B4-BE49-F238E27FC236}">
                  <a16:creationId xmlns:a16="http://schemas.microsoft.com/office/drawing/2014/main" id="{7FED352E-E4B1-4E19-9457-B2C7408AC38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1347071" y="2164159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3B8791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47" name="Roundrect 47">
              <a:extLst xmlns:a="http://schemas.openxmlformats.org/drawingml/2006/main">
                <a:ext uri="{FF2B5EF4-FFF2-40B4-BE49-F238E27FC236}">
                  <a16:creationId xmlns:a16="http://schemas.microsoft.com/office/drawing/2014/main" id="{5E3DB370-5EAA-4A41-8080-922876F3265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1347071" y="2436625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3B8791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48" name="Roundrect 48">
              <a:extLst xmlns:a="http://schemas.openxmlformats.org/drawingml/2006/main">
                <a:ext uri="{FF2B5EF4-FFF2-40B4-BE49-F238E27FC236}">
                  <a16:creationId xmlns:a16="http://schemas.microsoft.com/office/drawing/2014/main" id="{A985B0EA-8E46-4DE6-991A-A65604D95EA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1347071" y="3604337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3B8791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49" name="Roundrect 49">
              <a:extLst xmlns:a="http://schemas.openxmlformats.org/drawingml/2006/main">
                <a:ext uri="{FF2B5EF4-FFF2-40B4-BE49-F238E27FC236}">
                  <a16:creationId xmlns:a16="http://schemas.microsoft.com/office/drawing/2014/main" id="{A3CA271F-0962-4947-82FE-F8C7AA42108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1347071" y="3876803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3B8791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50" name="Roundrect 50">
              <a:extLst xmlns:a="http://schemas.openxmlformats.org/drawingml/2006/main">
                <a:ext uri="{FF2B5EF4-FFF2-40B4-BE49-F238E27FC236}">
                  <a16:creationId xmlns:a16="http://schemas.microsoft.com/office/drawing/2014/main" id="{E419ADF4-E4EF-46D9-B9BF-B9B2CEC2B3A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1347071" y="5861912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3B8791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51" name="Roundrect 51">
              <a:extLst xmlns:a="http://schemas.openxmlformats.org/drawingml/2006/main">
                <a:ext uri="{FF2B5EF4-FFF2-40B4-BE49-F238E27FC236}">
                  <a16:creationId xmlns:a16="http://schemas.microsoft.com/office/drawing/2014/main" id="{0BB0CF29-91D9-4F60-A3F9-BCD3E353352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1347071" y="7029624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3B8791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52" name="Roundrect 52">
              <a:extLst xmlns:a="http://schemas.openxmlformats.org/drawingml/2006/main">
                <a:ext uri="{FF2B5EF4-FFF2-40B4-BE49-F238E27FC236}">
                  <a16:creationId xmlns:a16="http://schemas.microsoft.com/office/drawing/2014/main" id="{301C4D08-2B94-46FE-96E3-15FB0CDD283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1347071" y="7302090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3B8791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53" name="Line 53">
              <a:extLst xmlns:a="http://schemas.openxmlformats.org/drawingml/2006/main">
                <a:ext uri="{FF2B5EF4-FFF2-40B4-BE49-F238E27FC236}">
                  <a16:creationId xmlns:a16="http://schemas.microsoft.com/office/drawing/2014/main" id="{2FBBD4C3-04A2-4EBB-9198-9E2E52C3824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138398" y="2179728"/>
              <a:ext cx="0" cy="7200888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5400">
              <a:solidFill>
                <a:srgbClr val="707783"/>
              </a:solidFill>
              <a:tailEnd type="triangle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54" name="Line 54">
              <a:extLst xmlns:a="http://schemas.openxmlformats.org/drawingml/2006/main">
                <a:ext uri="{FF2B5EF4-FFF2-40B4-BE49-F238E27FC236}">
                  <a16:creationId xmlns:a16="http://schemas.microsoft.com/office/drawing/2014/main" id="{EC851C19-9B3E-4210-908C-04E646D1383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278523" y="2335423"/>
              <a:ext cx="8407524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12700">
              <a:solidFill>
                <a:srgbClr val="D8DCE3"/>
              </a:solidFill>
              <a:prstDash val="dash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55" name="Line 55">
              <a:extLst xmlns:a="http://schemas.openxmlformats.org/drawingml/2006/main">
                <a:ext uri="{FF2B5EF4-FFF2-40B4-BE49-F238E27FC236}">
                  <a16:creationId xmlns:a16="http://schemas.microsoft.com/office/drawing/2014/main" id="{7C8C186B-BFAE-4332-AC2E-9237AB18F74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278523" y="4048067"/>
              <a:ext cx="8407524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12700">
              <a:solidFill>
                <a:srgbClr val="D8DCE3"/>
              </a:solidFill>
              <a:prstDash val="dash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56" name="Line 56">
              <a:extLst xmlns:a="http://schemas.openxmlformats.org/drawingml/2006/main">
                <a:ext uri="{FF2B5EF4-FFF2-40B4-BE49-F238E27FC236}">
                  <a16:creationId xmlns:a16="http://schemas.microsoft.com/office/drawing/2014/main" id="{16E0C929-6E12-447C-8EB2-30C5513D7BE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278523" y="5760711"/>
              <a:ext cx="8407524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12700">
              <a:solidFill>
                <a:srgbClr val="D8DCE3"/>
              </a:solidFill>
              <a:prstDash val="dash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57" name="Line 57">
              <a:extLst xmlns:a="http://schemas.openxmlformats.org/drawingml/2006/main">
                <a:ext uri="{FF2B5EF4-FFF2-40B4-BE49-F238E27FC236}">
                  <a16:creationId xmlns:a16="http://schemas.microsoft.com/office/drawing/2014/main" id="{F67F3063-9651-4BA6-A4F1-B90E3E9F3D0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278523" y="7473354"/>
              <a:ext cx="8407524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12700">
              <a:solidFill>
                <a:srgbClr val="D8DCE3"/>
              </a:solidFill>
              <a:prstDash val="dash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58" name="Line 58">
              <a:extLst xmlns:a="http://schemas.openxmlformats.org/drawingml/2006/main">
                <a:ext uri="{FF2B5EF4-FFF2-40B4-BE49-F238E27FC236}">
                  <a16:creationId xmlns:a16="http://schemas.microsoft.com/office/drawing/2014/main" id="{F722CEA4-851A-4A1A-A085-8E861F35FB5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278523" y="9185998"/>
              <a:ext cx="8407524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12700">
              <a:solidFill>
                <a:srgbClr val="D8DCE3"/>
              </a:solidFill>
              <a:prstDash val="dash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59" name="Line 59">
              <a:extLst xmlns:a="http://schemas.openxmlformats.org/drawingml/2006/main">
                <a:ext uri="{FF2B5EF4-FFF2-40B4-BE49-F238E27FC236}">
                  <a16:creationId xmlns:a16="http://schemas.microsoft.com/office/drawing/2014/main" id="{6F9A7B05-5983-400B-9B36-460BF6DECD9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5212693" y="2117450"/>
              <a:ext cx="0" cy="7348799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63500">
              <a:solidFill>
                <a:srgbClr val="B9832E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60" name="Line 60">
              <a:extLst xmlns:a="http://schemas.openxmlformats.org/drawingml/2006/main">
                <a:ext uri="{FF2B5EF4-FFF2-40B4-BE49-F238E27FC236}">
                  <a16:creationId xmlns:a16="http://schemas.microsoft.com/office/drawing/2014/main" id="{980FF436-BADD-4165-8B5E-D36B8E6E7CB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6567238" y="2117450"/>
              <a:ext cx="0" cy="7348799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63500">
              <a:solidFill>
                <a:srgbClr val="3C8D76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61" name="Line 61">
              <a:extLst xmlns:a="http://schemas.openxmlformats.org/drawingml/2006/main">
                <a:ext uri="{FF2B5EF4-FFF2-40B4-BE49-F238E27FC236}">
                  <a16:creationId xmlns:a16="http://schemas.microsoft.com/office/drawing/2014/main" id="{33994690-51E0-43A2-B644-63292235442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7921784" y="2117450"/>
              <a:ext cx="0" cy="7348799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63500">
              <a:solidFill>
                <a:srgbClr val="3F7BAD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62" name="Line 62">
              <a:extLst xmlns:a="http://schemas.openxmlformats.org/drawingml/2006/main">
                <a:ext uri="{FF2B5EF4-FFF2-40B4-BE49-F238E27FC236}">
                  <a16:creationId xmlns:a16="http://schemas.microsoft.com/office/drawing/2014/main" id="{1979CBA7-F52E-4316-94CE-58A37710140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9276329" y="2117450"/>
              <a:ext cx="0" cy="7348799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63500">
              <a:solidFill>
                <a:srgbClr val="C16A58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63" name="Line 63">
              <a:extLst xmlns:a="http://schemas.openxmlformats.org/drawingml/2006/main">
                <a:ext uri="{FF2B5EF4-FFF2-40B4-BE49-F238E27FC236}">
                  <a16:creationId xmlns:a16="http://schemas.microsoft.com/office/drawing/2014/main" id="{3948C1BE-3AE6-49C3-AE3E-3A66C1F1651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0630875" y="2117450"/>
              <a:ext cx="0" cy="7348799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63500">
              <a:solidFill>
                <a:srgbClr val="8561A3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64" name="Line 64">
              <a:extLst xmlns:a="http://schemas.openxmlformats.org/drawingml/2006/main">
                <a:ext uri="{FF2B5EF4-FFF2-40B4-BE49-F238E27FC236}">
                  <a16:creationId xmlns:a16="http://schemas.microsoft.com/office/drawing/2014/main" id="{B692A7D9-4EBE-4BF2-8DEB-84DEAB27F76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1985420" y="2117450"/>
              <a:ext cx="0" cy="7348799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63500">
              <a:solidFill>
                <a:srgbClr val="3B8791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65" name="Ellipse 65">
              <a:extLst xmlns:a="http://schemas.openxmlformats.org/drawingml/2006/main">
                <a:ext uri="{FF2B5EF4-FFF2-40B4-BE49-F238E27FC236}">
                  <a16:creationId xmlns:a16="http://schemas.microsoft.com/office/drawing/2014/main" id="{FEA53A3A-77F1-43A1-98CC-7F5DB8625D5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5095921" y="879676"/>
              <a:ext cx="155695" cy="155695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B9832E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66" name="Ellipse 66">
              <a:extLst xmlns:a="http://schemas.openxmlformats.org/drawingml/2006/main">
                <a:ext uri="{FF2B5EF4-FFF2-40B4-BE49-F238E27FC236}">
                  <a16:creationId xmlns:a16="http://schemas.microsoft.com/office/drawing/2014/main" id="{BF05276B-585C-4AD1-8795-40F1CBA5832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6450467" y="879676"/>
              <a:ext cx="155695" cy="155695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3C8D76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67" name="Ellipse 67">
              <a:extLst xmlns:a="http://schemas.openxmlformats.org/drawingml/2006/main">
                <a:ext uri="{FF2B5EF4-FFF2-40B4-BE49-F238E27FC236}">
                  <a16:creationId xmlns:a16="http://schemas.microsoft.com/office/drawing/2014/main" id="{FFEC77B2-4D73-48D9-B202-9AC61944E97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7805012" y="879676"/>
              <a:ext cx="155695" cy="155695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3F7BAD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68" name="Ellipse 68">
              <a:extLst xmlns:a="http://schemas.openxmlformats.org/drawingml/2006/main">
                <a:ext uri="{FF2B5EF4-FFF2-40B4-BE49-F238E27FC236}">
                  <a16:creationId xmlns:a16="http://schemas.microsoft.com/office/drawing/2014/main" id="{6EBD3B65-5794-4C9A-B4A6-05980BD907D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9159558" y="879676"/>
              <a:ext cx="155695" cy="155695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C16A58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69" name="Ellipse 69">
              <a:extLst xmlns:a="http://schemas.openxmlformats.org/drawingml/2006/main">
                <a:ext uri="{FF2B5EF4-FFF2-40B4-BE49-F238E27FC236}">
                  <a16:creationId xmlns:a16="http://schemas.microsoft.com/office/drawing/2014/main" id="{30157108-6F9A-4951-8149-A71D5AB6D1C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0514103" y="879676"/>
              <a:ext cx="155695" cy="155695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8561A3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70" name="Ellipse 70">
              <a:extLst xmlns:a="http://schemas.openxmlformats.org/drawingml/2006/main">
                <a:ext uri="{FF2B5EF4-FFF2-40B4-BE49-F238E27FC236}">
                  <a16:creationId xmlns:a16="http://schemas.microsoft.com/office/drawing/2014/main" id="{D9925127-51A4-4AB7-B0A6-A929DAD7B75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1868649" y="879676"/>
              <a:ext cx="155695" cy="155695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3B8791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71" name="TextBox 71">
              <a:extLst xmlns:a="http://schemas.openxmlformats.org/drawingml/2006/main">
                <a:ext uri="{FF2B5EF4-FFF2-40B4-BE49-F238E27FC236}">
                  <a16:creationId xmlns:a16="http://schemas.microsoft.com/office/drawing/2014/main" id="{62688785-2AF0-47BB-8723-FDA2E7E4016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3889286" y="171264"/>
              <a:ext cx="7006270" cy="404807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212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Research routes in Time-Series Agent systems</a:t>
              </a:r>
              <a:endParaRPr sz="2120"/>
            </a:p>
          </p:txBody>
        </p:sp>
        <p:sp>
          <p:nvSpPr>
            <p:cNvPr id="72" name="TextBox 72">
              <a:extLst xmlns:a="http://schemas.openxmlformats.org/drawingml/2006/main">
                <a:ext uri="{FF2B5EF4-FFF2-40B4-BE49-F238E27FC236}">
                  <a16:creationId xmlns:a16="http://schemas.microsoft.com/office/drawing/2014/main" id="{F490F487-E131-4D0B-B006-BB55A98BB87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3904856" y="560502"/>
              <a:ext cx="7629049" cy="28025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1320" b="1">
                  <a:solidFill>
                    <a:srgbClr val="5E6878"/>
                  </a:solidFill>
                  <a:latin typeface="PingFang SC"/>
                  <a:ea typeface="PingFang SC"/>
                  <a:cs typeface="PingFang SC"/>
                </a:rPr>
                <a:t>Representative module contributions by first public year | LLM and Harness layers</a:t>
              </a:r>
              <a:endParaRPr sz="1320"/>
            </a:p>
          </p:txBody>
        </p:sp>
        <p:sp>
          <p:nvSpPr>
            <p:cNvPr id="73" name="TextBox 73">
              <a:extLst xmlns:a="http://schemas.openxmlformats.org/drawingml/2006/main">
                <a:ext uri="{FF2B5EF4-FFF2-40B4-BE49-F238E27FC236}">
                  <a16:creationId xmlns:a16="http://schemas.microsoft.com/office/drawing/2014/main" id="{73734FB9-6864-4961-8D4F-2E9E9C4101B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613267" y="949739"/>
              <a:ext cx="1121003" cy="404807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310" b="1">
                  <a:solidFill>
                    <a:srgbClr val="B9832E"/>
                  </a:solidFill>
                  <a:latin typeface="PingFang SC"/>
                  <a:ea typeface="PingFang SC"/>
                  <a:cs typeface="PingFang SC"/>
                </a:rPr>
                <a:t>LLM</a:t>
              </a:r>
              <a:endParaRPr sz="1310"/>
            </a:p>
            <a:p xmlns:a="http://schemas.openxmlformats.org/drawingml/2006/main">
              <a:pPr algn="ctr">
                <a:buNone/>
              </a:pPr>
              <a:r>
                <a:rPr sz="1310" b="1">
                  <a:solidFill>
                    <a:srgbClr val="B9832E"/>
                  </a:solidFill>
                  <a:latin typeface="PingFang SC"/>
                  <a:ea typeface="PingFang SC"/>
                  <a:cs typeface="PingFang SC"/>
                </a:rPr>
                <a:t>side</a:t>
              </a:r>
              <a:endParaRPr sz="1310"/>
            </a:p>
          </p:txBody>
        </p:sp>
        <p:sp>
          <p:nvSpPr>
            <p:cNvPr id="74" name="TextBox 74">
              <a:extLst xmlns:a="http://schemas.openxmlformats.org/drawingml/2006/main">
                <a:ext uri="{FF2B5EF4-FFF2-40B4-BE49-F238E27FC236}">
                  <a16:creationId xmlns:a16="http://schemas.microsoft.com/office/drawing/2014/main" id="{2CA921D6-481A-4474-B4DA-46FA53A6612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613267" y="1401254"/>
              <a:ext cx="1121003" cy="404807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910">
                  <a:solidFill>
                    <a:srgbClr val="5E6878"/>
                  </a:solidFill>
                  <a:latin typeface="PingFang SC"/>
                  <a:ea typeface="PingFang SC"/>
                  <a:cs typeface="PingFang SC"/>
                </a:rPr>
                <a:t>Representation</a:t>
              </a:r>
              <a:endParaRPr sz="910"/>
            </a:p>
            <a:p xmlns:a="http://schemas.openxmlformats.org/drawingml/2006/main">
              <a:pPr algn="ctr">
                <a:buNone/>
              </a:pPr>
              <a:r>
                <a:rPr sz="910">
                  <a:solidFill>
                    <a:srgbClr val="5E6878"/>
                  </a:solidFill>
                  <a:latin typeface="PingFang SC"/>
                  <a:ea typeface="PingFang SC"/>
                  <a:cs typeface="PingFang SC"/>
                </a:rPr>
                <a:t>Alignment</a:t>
              </a:r>
              <a:endParaRPr sz="910"/>
            </a:p>
          </p:txBody>
        </p:sp>
        <p:sp>
          <p:nvSpPr>
            <p:cNvPr id="75" name="TextBox 75">
              <a:extLst xmlns:a="http://schemas.openxmlformats.org/drawingml/2006/main">
                <a:ext uri="{FF2B5EF4-FFF2-40B4-BE49-F238E27FC236}">
                  <a16:creationId xmlns:a16="http://schemas.microsoft.com/office/drawing/2014/main" id="{7AFA6504-3757-4530-B3F7-EDC96898109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5967813" y="949739"/>
              <a:ext cx="1121003" cy="404807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310" b="1">
                  <a:solidFill>
                    <a:srgbClr val="3C8D76"/>
                  </a:solidFill>
                  <a:latin typeface="PingFang SC"/>
                  <a:ea typeface="PingFang SC"/>
                  <a:cs typeface="PingFang SC"/>
                </a:rPr>
                <a:t>General</a:t>
              </a:r>
              <a:endParaRPr sz="1310"/>
            </a:p>
            <a:p xmlns:a="http://schemas.openxmlformats.org/drawingml/2006/main">
              <a:pPr algn="ctr">
                <a:buNone/>
              </a:pPr>
              <a:r>
                <a:rPr sz="1310" b="1">
                  <a:solidFill>
                    <a:srgbClr val="3C8D76"/>
                  </a:solidFill>
                  <a:latin typeface="PingFang SC"/>
                  <a:ea typeface="PingFang SC"/>
                  <a:cs typeface="PingFang SC"/>
                </a:rPr>
                <a:t>Harness</a:t>
              </a:r>
              <a:endParaRPr sz="1310"/>
            </a:p>
          </p:txBody>
        </p:sp>
        <p:sp>
          <p:nvSpPr>
            <p:cNvPr id="76" name="TextBox 76">
              <a:extLst xmlns:a="http://schemas.openxmlformats.org/drawingml/2006/main">
                <a:ext uri="{FF2B5EF4-FFF2-40B4-BE49-F238E27FC236}">
                  <a16:creationId xmlns:a16="http://schemas.microsoft.com/office/drawing/2014/main" id="{66F5115B-347A-46A2-8354-D3F48D9856A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5967813" y="1401254"/>
              <a:ext cx="1121003" cy="404807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819">
                  <a:solidFill>
                    <a:srgbClr val="5E6878"/>
                  </a:solidFill>
                  <a:latin typeface="PingFang SC"/>
                  <a:ea typeface="PingFang SC"/>
                  <a:cs typeface="PingFang SC"/>
                </a:rPr>
                <a:t>Tools and memory</a:t>
              </a:r>
              <a:endParaRPr sz="819"/>
            </a:p>
            <a:p xmlns:a="http://schemas.openxmlformats.org/drawingml/2006/main">
              <a:pPr algn="ctr">
                <a:buNone/>
              </a:pPr>
              <a:r>
                <a:rPr sz="819">
                  <a:solidFill>
                    <a:srgbClr val="5E6878"/>
                  </a:solidFill>
                  <a:latin typeface="PingFang SC"/>
                  <a:ea typeface="PingFang SC"/>
                  <a:cs typeface="PingFang SC"/>
                </a:rPr>
                <a:t>Control and planning</a:t>
              </a:r>
              <a:endParaRPr sz="819"/>
            </a:p>
          </p:txBody>
        </p:sp>
        <p:sp>
          <p:nvSpPr>
            <p:cNvPr id="77" name="TextBox 77">
              <a:extLst xmlns:a="http://schemas.openxmlformats.org/drawingml/2006/main">
                <a:ext uri="{FF2B5EF4-FFF2-40B4-BE49-F238E27FC236}">
                  <a16:creationId xmlns:a16="http://schemas.microsoft.com/office/drawing/2014/main" id="{AB7C656C-76B1-4A1C-8D8C-A0E0CC1EA32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7322358" y="949739"/>
              <a:ext cx="1121003" cy="404807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310" b="1">
                  <a:solidFill>
                    <a:srgbClr val="3F7BAD"/>
                  </a:solidFill>
                  <a:latin typeface="PingFang SC"/>
                  <a:ea typeface="PingFang SC"/>
                  <a:cs typeface="PingFang SC"/>
                </a:rPr>
                <a:t>General Time-Series</a:t>
              </a:r>
              <a:endParaRPr sz="1310"/>
            </a:p>
            <a:p xmlns:a="http://schemas.openxmlformats.org/drawingml/2006/main">
              <a:pPr algn="ctr">
                <a:buNone/>
              </a:pPr>
              <a:r>
                <a:rPr sz="1310" b="1">
                  <a:solidFill>
                    <a:srgbClr val="3F7BAD"/>
                  </a:solidFill>
                  <a:latin typeface="PingFang SC"/>
                  <a:ea typeface="PingFang SC"/>
                  <a:cs typeface="PingFang SC"/>
                </a:rPr>
                <a:t>Harness</a:t>
              </a:r>
              <a:endParaRPr sz="1310"/>
            </a:p>
          </p:txBody>
        </p:sp>
        <p:sp>
          <p:nvSpPr>
            <p:cNvPr id="78" name="TextBox 78">
              <a:extLst xmlns:a="http://schemas.openxmlformats.org/drawingml/2006/main">
                <a:ext uri="{FF2B5EF4-FFF2-40B4-BE49-F238E27FC236}">
                  <a16:creationId xmlns:a16="http://schemas.microsoft.com/office/drawing/2014/main" id="{F3373007-8BA2-4605-97BC-5AAB30BCEE8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7322358" y="1401254"/>
              <a:ext cx="1121003" cy="404807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910">
                  <a:solidFill>
                    <a:srgbClr val="5E6878"/>
                  </a:solidFill>
                  <a:latin typeface="PingFang SC"/>
                  <a:ea typeface="PingFang SC"/>
                  <a:cs typeface="PingFang SC"/>
                </a:rPr>
                <a:t>Temporal state</a:t>
              </a:r>
              <a:endParaRPr sz="910"/>
            </a:p>
            <a:p xmlns:a="http://schemas.openxmlformats.org/drawingml/2006/main">
              <a:pPr algn="ctr">
                <a:buNone/>
              </a:pPr>
              <a:r>
                <a:rPr sz="910">
                  <a:solidFill>
                    <a:srgbClr val="5E6878"/>
                  </a:solidFill>
                  <a:latin typeface="PingFang SC"/>
                  <a:ea typeface="PingFang SC"/>
                  <a:cs typeface="PingFang SC"/>
                </a:rPr>
                <a:t>Operations and grounding</a:t>
              </a:r>
              <a:endParaRPr sz="910"/>
            </a:p>
          </p:txBody>
        </p:sp>
        <p:sp>
          <p:nvSpPr>
            <p:cNvPr id="79" name="TextBox 79">
              <a:extLst xmlns:a="http://schemas.openxmlformats.org/drawingml/2006/main">
                <a:ext uri="{FF2B5EF4-FFF2-40B4-BE49-F238E27FC236}">
                  <a16:creationId xmlns:a16="http://schemas.microsoft.com/office/drawing/2014/main" id="{3A10B682-CC47-42EC-A72A-0C5A2446A8D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8676904" y="949739"/>
              <a:ext cx="1121003" cy="404807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310" b="1">
                  <a:solidFill>
                    <a:srgbClr val="C16A58"/>
                  </a:solidFill>
                  <a:latin typeface="PingFang SC"/>
                  <a:ea typeface="PingFang SC"/>
                  <a:cs typeface="PingFang SC"/>
                </a:rPr>
                <a:t>Task-Specific</a:t>
              </a:r>
              <a:endParaRPr sz="1310"/>
            </a:p>
            <a:p xmlns:a="http://schemas.openxmlformats.org/drawingml/2006/main">
              <a:pPr algn="ctr">
                <a:buNone/>
              </a:pPr>
              <a:r>
                <a:rPr sz="1310" b="1">
                  <a:solidFill>
                    <a:srgbClr val="C16A58"/>
                  </a:solidFill>
                  <a:latin typeface="PingFang SC"/>
                  <a:ea typeface="PingFang SC"/>
                  <a:cs typeface="PingFang SC"/>
                </a:rPr>
                <a:t>Harness</a:t>
              </a:r>
              <a:endParaRPr sz="1310"/>
            </a:p>
          </p:txBody>
        </p:sp>
        <p:sp>
          <p:nvSpPr>
            <p:cNvPr id="80" name="TextBox 80">
              <a:extLst xmlns:a="http://schemas.openxmlformats.org/drawingml/2006/main">
                <a:ext uri="{FF2B5EF4-FFF2-40B4-BE49-F238E27FC236}">
                  <a16:creationId xmlns:a16="http://schemas.microsoft.com/office/drawing/2014/main" id="{67B5FBF0-B1EB-41BA-AC70-89EDF9DD798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8676904" y="1401254"/>
              <a:ext cx="1121003" cy="404807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860">
                  <a:solidFill>
                    <a:srgbClr val="5E6878"/>
                  </a:solidFill>
                  <a:latin typeface="PingFang SC"/>
                  <a:ea typeface="PingFang SC"/>
                  <a:cs typeface="PingFang SC"/>
                </a:rPr>
                <a:t>Forecasting and prediction</a:t>
              </a:r>
              <a:endParaRPr sz="860"/>
            </a:p>
            <a:p xmlns:a="http://schemas.openxmlformats.org/drawingml/2006/main">
              <a:pPr algn="ctr">
                <a:buNone/>
              </a:pPr>
              <a:r>
                <a:rPr sz="860">
                  <a:solidFill>
                    <a:srgbClr val="5E6878"/>
                  </a:solidFill>
                  <a:latin typeface="PingFang SC"/>
                  <a:ea typeface="PingFang SC"/>
                  <a:cs typeface="PingFang SC"/>
                </a:rPr>
                <a:t>Anomaly and diagnosis</a:t>
              </a:r>
              <a:endParaRPr sz="860"/>
            </a:p>
          </p:txBody>
        </p:sp>
        <p:sp>
          <p:nvSpPr>
            <p:cNvPr id="81" name="TextBox 81">
              <a:extLst xmlns:a="http://schemas.openxmlformats.org/drawingml/2006/main">
                <a:ext uri="{FF2B5EF4-FFF2-40B4-BE49-F238E27FC236}">
                  <a16:creationId xmlns:a16="http://schemas.microsoft.com/office/drawing/2014/main" id="{432A2365-650D-40E2-A728-95AB088591D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0031449" y="949739"/>
              <a:ext cx="1121003" cy="404807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310" b="1">
                  <a:solidFill>
                    <a:srgbClr val="8561A3"/>
                  </a:solidFill>
                  <a:latin typeface="PingFang SC"/>
                  <a:ea typeface="PingFang SC"/>
                  <a:cs typeface="PingFang SC"/>
                </a:rPr>
                <a:t>Infrastructure</a:t>
              </a:r>
              <a:endParaRPr sz="1310"/>
            </a:p>
            <a:p xmlns:a="http://schemas.openxmlformats.org/drawingml/2006/main">
              <a:pPr algn="ctr">
                <a:buNone/>
              </a:pPr>
              <a:r>
                <a:rPr sz="1310" b="1">
                  <a:solidFill>
                    <a:srgbClr val="8561A3"/>
                  </a:solidFill>
                  <a:latin typeface="PingFang SC"/>
                  <a:ea typeface="PingFang SC"/>
                  <a:cs typeface="PingFang SC"/>
                </a:rPr>
                <a:t>and benchmarks</a:t>
              </a:r>
              <a:endParaRPr sz="1310"/>
            </a:p>
          </p:txBody>
        </p:sp>
        <p:sp>
          <p:nvSpPr>
            <p:cNvPr id="82" name="TextBox 82">
              <a:extLst xmlns:a="http://schemas.openxmlformats.org/drawingml/2006/main">
                <a:ext uri="{FF2B5EF4-FFF2-40B4-BE49-F238E27FC236}">
                  <a16:creationId xmlns:a16="http://schemas.microsoft.com/office/drawing/2014/main" id="{1EB9309C-5EA0-4BD3-91EA-F3EE832502D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0031449" y="1401254"/>
              <a:ext cx="1121003" cy="404807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910">
                  <a:solidFill>
                    <a:srgbClr val="5E6878"/>
                  </a:solidFill>
                  <a:latin typeface="PingFang SC"/>
                  <a:ea typeface="PingFang SC"/>
                  <a:cs typeface="PingFang SC"/>
                </a:rPr>
                <a:t>Episodes, traces</a:t>
              </a:r>
              <a:endParaRPr sz="910"/>
            </a:p>
            <a:p xmlns:a="http://schemas.openxmlformats.org/drawingml/2006/main">
              <a:pPr algn="ctr">
                <a:buNone/>
              </a:pPr>
              <a:r>
                <a:rPr sz="910">
                  <a:solidFill>
                    <a:srgbClr val="5E6878"/>
                  </a:solidFill>
                  <a:latin typeface="PingFang SC"/>
                  <a:ea typeface="PingFang SC"/>
                  <a:cs typeface="PingFang SC"/>
                </a:rPr>
                <a:t>TimeSeriesGym and ModernTSF</a:t>
              </a:r>
              <a:endParaRPr sz="910"/>
            </a:p>
          </p:txBody>
        </p:sp>
        <p:sp>
          <p:nvSpPr>
            <p:cNvPr id="83" name="TextBox 83">
              <a:extLst xmlns:a="http://schemas.openxmlformats.org/drawingml/2006/main">
                <a:ext uri="{FF2B5EF4-FFF2-40B4-BE49-F238E27FC236}">
                  <a16:creationId xmlns:a16="http://schemas.microsoft.com/office/drawing/2014/main" id="{F7F9056D-4A27-4327-8FCD-FBE01944BC9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1385995" y="949739"/>
              <a:ext cx="1121003" cy="404807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310" b="1">
                  <a:solidFill>
                    <a:srgbClr val="3B8791"/>
                  </a:solidFill>
                  <a:latin typeface="PingFang SC"/>
                  <a:ea typeface="PingFang SC"/>
                  <a:cs typeface="PingFang SC"/>
                </a:rPr>
                <a:t>Paper-card</a:t>
              </a:r>
              <a:endParaRPr sz="1310"/>
            </a:p>
            <a:p xmlns:a="http://schemas.openxmlformats.org/drawingml/2006/main">
              <a:pPr algn="ctr">
                <a:buNone/>
              </a:pPr>
              <a:r>
                <a:rPr sz="1310" b="1">
                  <a:solidFill>
                    <a:srgbClr val="3B8791"/>
                  </a:solidFill>
                  <a:latin typeface="PingFang SC"/>
                  <a:ea typeface="PingFang SC"/>
                  <a:cs typeface="PingFang SC"/>
                </a:rPr>
                <a:t>database</a:t>
              </a:r>
              <a:endParaRPr sz="1310"/>
            </a:p>
          </p:txBody>
        </p:sp>
        <p:sp>
          <p:nvSpPr>
            <p:cNvPr id="84" name="TextBox 84">
              <a:extLst xmlns:a="http://schemas.openxmlformats.org/drawingml/2006/main">
                <a:ext uri="{FF2B5EF4-FFF2-40B4-BE49-F238E27FC236}">
                  <a16:creationId xmlns:a16="http://schemas.microsoft.com/office/drawing/2014/main" id="{95A12204-A31D-4544-A395-B083E24811B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1385995" y="1401254"/>
              <a:ext cx="1121003" cy="404807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860">
                  <a:solidFill>
                    <a:srgbClr val="5E6878"/>
                  </a:solidFill>
                  <a:latin typeface="PingFang SC"/>
                  <a:ea typeface="PingFang SC"/>
                  <a:cs typeface="PingFang SC"/>
                </a:rPr>
                <a:t>Claim, evidence</a:t>
              </a:r>
              <a:endParaRPr sz="860"/>
            </a:p>
            <a:p xmlns:a="http://schemas.openxmlformats.org/drawingml/2006/main">
              <a:pPr algn="ctr">
                <a:buNone/>
              </a:pPr>
              <a:r>
                <a:rPr sz="860">
                  <a:solidFill>
                    <a:srgbClr val="5E6878"/>
                  </a:solidFill>
                  <a:latin typeface="PingFang SC"/>
                  <a:ea typeface="PingFang SC"/>
                  <a:cs typeface="PingFang SC"/>
                </a:rPr>
                <a:t>module-level counts</a:t>
              </a:r>
              <a:endParaRPr sz="860"/>
            </a:p>
          </p:txBody>
        </p:sp>
        <p:sp>
          <p:nvSpPr>
            <p:cNvPr id="85" name="TextBox 85">
              <a:extLst xmlns:a="http://schemas.openxmlformats.org/drawingml/2006/main">
                <a:ext uri="{FF2B5EF4-FFF2-40B4-BE49-F238E27FC236}">
                  <a16:creationId xmlns:a16="http://schemas.microsoft.com/office/drawing/2014/main" id="{53D195EF-EA51-4279-9ED5-DB2152B3E30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3858147" y="2242006"/>
              <a:ext cx="544932" cy="233542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400" b="1">
                  <a:solidFill>
                    <a:srgbClr val="424B5B"/>
                  </a:solidFill>
                  <a:latin typeface="PingFang SC"/>
                  <a:ea typeface="PingFang SC"/>
                  <a:cs typeface="PingFang SC"/>
                </a:rPr>
                <a:t>2026</a:t>
              </a:r>
              <a:endParaRPr sz="1400"/>
            </a:p>
          </p:txBody>
        </p:sp>
        <p:sp>
          <p:nvSpPr>
            <p:cNvPr id="86" name="TextBox 86">
              <a:extLst xmlns:a="http://schemas.openxmlformats.org/drawingml/2006/main">
                <a:ext uri="{FF2B5EF4-FFF2-40B4-BE49-F238E27FC236}">
                  <a16:creationId xmlns:a16="http://schemas.microsoft.com/office/drawing/2014/main" id="{B511CEE4-CB1C-4271-8180-BC281D886B0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3858147" y="3954650"/>
              <a:ext cx="544932" cy="233542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400" b="1">
                  <a:solidFill>
                    <a:srgbClr val="424B5B"/>
                  </a:solidFill>
                  <a:latin typeface="PingFang SC"/>
                  <a:ea typeface="PingFang SC"/>
                  <a:cs typeface="PingFang SC"/>
                </a:rPr>
                <a:t>2025</a:t>
              </a:r>
              <a:endParaRPr sz="1400"/>
            </a:p>
          </p:txBody>
        </p:sp>
        <p:sp>
          <p:nvSpPr>
            <p:cNvPr id="87" name="TextBox 87">
              <a:extLst xmlns:a="http://schemas.openxmlformats.org/drawingml/2006/main">
                <a:ext uri="{FF2B5EF4-FFF2-40B4-BE49-F238E27FC236}">
                  <a16:creationId xmlns:a16="http://schemas.microsoft.com/office/drawing/2014/main" id="{FDFD7EA4-A851-4DAD-9D39-F44A3D3EC49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3858147" y="5667294"/>
              <a:ext cx="544932" cy="233542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400" b="1">
                  <a:solidFill>
                    <a:srgbClr val="424B5B"/>
                  </a:solidFill>
                  <a:latin typeface="PingFang SC"/>
                  <a:ea typeface="PingFang SC"/>
                  <a:cs typeface="PingFang SC"/>
                </a:rPr>
                <a:t>2024</a:t>
              </a:r>
              <a:endParaRPr sz="1400"/>
            </a:p>
          </p:txBody>
        </p:sp>
        <p:sp>
          <p:nvSpPr>
            <p:cNvPr id="88" name="TextBox 88">
              <a:extLst xmlns:a="http://schemas.openxmlformats.org/drawingml/2006/main">
                <a:ext uri="{FF2B5EF4-FFF2-40B4-BE49-F238E27FC236}">
                  <a16:creationId xmlns:a16="http://schemas.microsoft.com/office/drawing/2014/main" id="{031E5418-85A1-433F-8FFC-14C36FF6C69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3858147" y="7379938"/>
              <a:ext cx="544932" cy="233542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400" b="1">
                  <a:solidFill>
                    <a:srgbClr val="424B5B"/>
                  </a:solidFill>
                  <a:latin typeface="PingFang SC"/>
                  <a:ea typeface="PingFang SC"/>
                  <a:cs typeface="PingFang SC"/>
                </a:rPr>
                <a:t>2023</a:t>
              </a:r>
              <a:endParaRPr sz="1400"/>
            </a:p>
          </p:txBody>
        </p:sp>
        <p:sp>
          <p:nvSpPr>
            <p:cNvPr id="89" name="TextBox 89">
              <a:extLst xmlns:a="http://schemas.openxmlformats.org/drawingml/2006/main">
                <a:ext uri="{FF2B5EF4-FFF2-40B4-BE49-F238E27FC236}">
                  <a16:creationId xmlns:a16="http://schemas.microsoft.com/office/drawing/2014/main" id="{D5AAA9EF-59E9-48CB-AA40-F03A5C875E1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3858147" y="9092581"/>
              <a:ext cx="544932" cy="233542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400" b="1">
                  <a:solidFill>
                    <a:srgbClr val="424B5B"/>
                  </a:solidFill>
                  <a:latin typeface="PingFang SC"/>
                  <a:ea typeface="PingFang SC"/>
                  <a:cs typeface="PingFang SC"/>
                </a:rPr>
                <a:t>2022</a:t>
              </a:r>
              <a:endParaRPr sz="1400"/>
            </a:p>
          </p:txBody>
        </p:sp>
        <p:sp>
          <p:nvSpPr>
            <p:cNvPr id="90" name="TextBox 90">
              <a:extLst xmlns:a="http://schemas.openxmlformats.org/drawingml/2006/main">
                <a:ext uri="{FF2B5EF4-FFF2-40B4-BE49-F238E27FC236}">
                  <a16:creationId xmlns:a16="http://schemas.microsoft.com/office/drawing/2014/main" id="{FB5865C0-B8F3-4AF4-A1CD-F6F7949A0B8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613267" y="3643260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ChatTS</a:t>
              </a:r>
              <a:endParaRPr sz="1100"/>
            </a:p>
          </p:txBody>
        </p:sp>
        <p:sp>
          <p:nvSpPr>
            <p:cNvPr id="91" name="TextBox 91">
              <a:extLst xmlns:a="http://schemas.openxmlformats.org/drawingml/2006/main">
                <a:ext uri="{FF2B5EF4-FFF2-40B4-BE49-F238E27FC236}">
                  <a16:creationId xmlns:a16="http://schemas.microsoft.com/office/drawing/2014/main" id="{41477BF9-2E68-4F66-9508-36759BA033A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613267" y="3915726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Time-LLM</a:t>
              </a:r>
              <a:endParaRPr sz="1100"/>
            </a:p>
          </p:txBody>
        </p:sp>
        <p:sp>
          <p:nvSpPr>
            <p:cNvPr id="92" name="TextBox 92">
              <a:extLst xmlns:a="http://schemas.openxmlformats.org/drawingml/2006/main">
                <a:ext uri="{FF2B5EF4-FFF2-40B4-BE49-F238E27FC236}">
                  <a16:creationId xmlns:a16="http://schemas.microsoft.com/office/drawing/2014/main" id="{2C12E7FB-5314-4C9E-A683-2893B923AEF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613267" y="5900836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LLM4TS</a:t>
              </a:r>
              <a:endParaRPr sz="1100"/>
            </a:p>
          </p:txBody>
        </p:sp>
        <p:sp>
          <p:nvSpPr>
            <p:cNvPr id="93" name="TextBox 93">
              <a:extLst xmlns:a="http://schemas.openxmlformats.org/drawingml/2006/main">
                <a:ext uri="{FF2B5EF4-FFF2-40B4-BE49-F238E27FC236}">
                  <a16:creationId xmlns:a16="http://schemas.microsoft.com/office/drawing/2014/main" id="{D6DAFDDF-279E-4393-AF65-1FB5C03F059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613267" y="5355904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TimeMaster</a:t>
              </a:r>
              <a:endParaRPr sz="1100"/>
            </a:p>
          </p:txBody>
        </p:sp>
        <p:sp>
          <p:nvSpPr>
            <p:cNvPr id="94" name="TextBox 94">
              <a:extLst xmlns:a="http://schemas.openxmlformats.org/drawingml/2006/main">
                <a:ext uri="{FF2B5EF4-FFF2-40B4-BE49-F238E27FC236}">
                  <a16:creationId xmlns:a16="http://schemas.microsoft.com/office/drawing/2014/main" id="{02661C4D-4D80-45FB-B52D-21A3269CA9B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613267" y="5628370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TS-Agent</a:t>
              </a:r>
              <a:endParaRPr sz="1100"/>
            </a:p>
          </p:txBody>
        </p:sp>
        <p:sp>
          <p:nvSpPr>
            <p:cNvPr id="95" name="TextBox 95">
              <a:extLst xmlns:a="http://schemas.openxmlformats.org/drawingml/2006/main">
                <a:ext uri="{FF2B5EF4-FFF2-40B4-BE49-F238E27FC236}">
                  <a16:creationId xmlns:a16="http://schemas.microsoft.com/office/drawing/2014/main" id="{D9909291-D0B2-4AD6-9BF9-81F8465EE97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613267" y="5900836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TimeART</a:t>
              </a:r>
              <a:endParaRPr sz="1100"/>
            </a:p>
          </p:txBody>
        </p:sp>
        <p:sp>
          <p:nvSpPr>
            <p:cNvPr id="96" name="TextBox 96">
              <a:extLst xmlns:a="http://schemas.openxmlformats.org/drawingml/2006/main">
                <a:ext uri="{FF2B5EF4-FFF2-40B4-BE49-F238E27FC236}">
                  <a16:creationId xmlns:a16="http://schemas.microsoft.com/office/drawing/2014/main" id="{BCA06ACE-F9C5-4029-B5CC-F256ECF1716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613267" y="7068548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AION</a:t>
              </a:r>
              <a:endParaRPr sz="1100"/>
            </a:p>
          </p:txBody>
        </p:sp>
        <p:sp>
          <p:nvSpPr>
            <p:cNvPr id="97" name="TextBox 97">
              <a:extLst xmlns:a="http://schemas.openxmlformats.org/drawingml/2006/main">
                <a:ext uri="{FF2B5EF4-FFF2-40B4-BE49-F238E27FC236}">
                  <a16:creationId xmlns:a16="http://schemas.microsoft.com/office/drawing/2014/main" id="{5EC276AA-6D94-49F1-9608-4DFF8882D4C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613267" y="7341014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TimeClaw</a:t>
              </a:r>
              <a:endParaRPr sz="1100"/>
            </a:p>
          </p:txBody>
        </p:sp>
        <p:sp>
          <p:nvSpPr>
            <p:cNvPr id="98" name="TextBox 98">
              <a:extLst xmlns:a="http://schemas.openxmlformats.org/drawingml/2006/main">
                <a:ext uri="{FF2B5EF4-FFF2-40B4-BE49-F238E27FC236}">
                  <a16:creationId xmlns:a16="http://schemas.microsoft.com/office/drawing/2014/main" id="{89C9515D-0274-41E3-95BF-D8B519793BE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613267" y="9326124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Memory Bank</a:t>
              </a:r>
              <a:endParaRPr sz="1100"/>
            </a:p>
          </p:txBody>
        </p:sp>
        <p:sp>
          <p:nvSpPr>
            <p:cNvPr id="99" name="TextBox 99">
              <a:extLst xmlns:a="http://schemas.openxmlformats.org/drawingml/2006/main">
                <a:ext uri="{FF2B5EF4-FFF2-40B4-BE49-F238E27FC236}">
                  <a16:creationId xmlns:a16="http://schemas.microsoft.com/office/drawing/2014/main" id="{673C6DC0-C51A-420A-8E82-749341C6B7A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613267" y="8781191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Reflection</a:t>
              </a:r>
              <a:endParaRPr sz="1100"/>
            </a:p>
          </p:txBody>
        </p:sp>
        <p:sp>
          <p:nvSpPr>
            <p:cNvPr id="100" name="TextBox 100">
              <a:extLst xmlns:a="http://schemas.openxmlformats.org/drawingml/2006/main">
                <a:ext uri="{FF2B5EF4-FFF2-40B4-BE49-F238E27FC236}">
                  <a16:creationId xmlns:a16="http://schemas.microsoft.com/office/drawing/2014/main" id="{903EA025-2FD5-4501-A492-3C5357EB28E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5967813" y="3643260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TimeCAP</a:t>
              </a:r>
              <a:endParaRPr sz="1100"/>
            </a:p>
          </p:txBody>
        </p:sp>
        <p:sp>
          <p:nvSpPr>
            <p:cNvPr id="101" name="TextBox 101">
              <a:extLst xmlns:a="http://schemas.openxmlformats.org/drawingml/2006/main">
                <a:ext uri="{FF2B5EF4-FFF2-40B4-BE49-F238E27FC236}">
                  <a16:creationId xmlns:a16="http://schemas.microsoft.com/office/drawing/2014/main" id="{0CE36E83-1C49-417F-9456-A08FE728BD7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5967813" y="3915726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Temporal grounding</a:t>
              </a:r>
              <a:endParaRPr sz="1100"/>
            </a:p>
          </p:txBody>
        </p:sp>
        <p:sp>
          <p:nvSpPr>
            <p:cNvPr id="102" name="TextBox 102">
              <a:extLst xmlns:a="http://schemas.openxmlformats.org/drawingml/2006/main">
                <a:ext uri="{FF2B5EF4-FFF2-40B4-BE49-F238E27FC236}">
                  <a16:creationId xmlns:a16="http://schemas.microsoft.com/office/drawing/2014/main" id="{02DB28E9-A407-4FAC-B867-DACAB35A1C3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5967813" y="4188192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Forecasting</a:t>
              </a:r>
              <a:endParaRPr sz="1100"/>
            </a:p>
          </p:txBody>
        </p:sp>
        <p:sp>
          <p:nvSpPr>
            <p:cNvPr id="103" name="TextBox 103">
              <a:extLst xmlns:a="http://schemas.openxmlformats.org/drawingml/2006/main">
                <a:ext uri="{FF2B5EF4-FFF2-40B4-BE49-F238E27FC236}">
                  <a16:creationId xmlns:a16="http://schemas.microsoft.com/office/drawing/2014/main" id="{380BDF00-6EF4-4E50-A58D-99A601146AA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5967813" y="5355904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Anomaly diagnosis</a:t>
              </a:r>
              <a:endParaRPr sz="1100"/>
            </a:p>
          </p:txBody>
        </p:sp>
        <p:sp>
          <p:nvSpPr>
            <p:cNvPr id="104" name="TextBox 104">
              <a:extLst xmlns:a="http://schemas.openxmlformats.org/drawingml/2006/main">
                <a:ext uri="{FF2B5EF4-FFF2-40B4-BE49-F238E27FC236}">
                  <a16:creationId xmlns:a16="http://schemas.microsoft.com/office/drawing/2014/main" id="{5762953A-4419-4DD7-9127-591311AFA5A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7322358" y="1930617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Augmentation</a:t>
              </a:r>
              <a:endParaRPr sz="1100"/>
            </a:p>
          </p:txBody>
        </p:sp>
        <p:sp>
          <p:nvSpPr>
            <p:cNvPr id="105" name="TextBox 105">
              <a:extLst xmlns:a="http://schemas.openxmlformats.org/drawingml/2006/main">
                <a:ext uri="{FF2B5EF4-FFF2-40B4-BE49-F238E27FC236}">
                  <a16:creationId xmlns:a16="http://schemas.microsoft.com/office/drawing/2014/main" id="{62BB6FBB-5E50-4A8A-A5EC-1D1AA2B992D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7322358" y="3915726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98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Decision support</a:t>
              </a:r>
              <a:endParaRPr sz="980"/>
            </a:p>
          </p:txBody>
        </p:sp>
        <p:sp>
          <p:nvSpPr>
            <p:cNvPr id="106" name="TextBox 106">
              <a:extLst xmlns:a="http://schemas.openxmlformats.org/drawingml/2006/main">
                <a:ext uri="{FF2B5EF4-FFF2-40B4-BE49-F238E27FC236}">
                  <a16:creationId xmlns:a16="http://schemas.microsoft.com/office/drawing/2014/main" id="{E57873F2-B233-4EC5-93D7-29E640B886E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7322358" y="4188192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ModernTSF</a:t>
              </a:r>
              <a:endParaRPr sz="1100"/>
            </a:p>
          </p:txBody>
        </p:sp>
        <p:sp>
          <p:nvSpPr>
            <p:cNvPr id="107" name="TextBox 107">
              <a:extLst xmlns:a="http://schemas.openxmlformats.org/drawingml/2006/main">
                <a:ext uri="{FF2B5EF4-FFF2-40B4-BE49-F238E27FC236}">
                  <a16:creationId xmlns:a16="http://schemas.microsoft.com/office/drawing/2014/main" id="{57630B4E-054A-4A5B-BD9E-93249D81594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7322358" y="7068548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TimeSeriesGym</a:t>
              </a:r>
              <a:endParaRPr sz="1100"/>
            </a:p>
          </p:txBody>
        </p:sp>
        <p:sp>
          <p:nvSpPr>
            <p:cNvPr id="108" name="TextBox 108">
              <a:extLst xmlns:a="http://schemas.openxmlformats.org/drawingml/2006/main">
                <a:ext uri="{FF2B5EF4-FFF2-40B4-BE49-F238E27FC236}">
                  <a16:creationId xmlns:a16="http://schemas.microsoft.com/office/drawing/2014/main" id="{4DA774D1-5316-4292-8091-0042BD92A8D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7322358" y="7341014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TFRBench</a:t>
              </a:r>
              <a:endParaRPr sz="1100"/>
            </a:p>
          </p:txBody>
        </p:sp>
        <p:sp>
          <p:nvSpPr>
            <p:cNvPr id="109" name="TextBox 109">
              <a:extLst xmlns:a="http://schemas.openxmlformats.org/drawingml/2006/main">
                <a:ext uri="{FF2B5EF4-FFF2-40B4-BE49-F238E27FC236}">
                  <a16:creationId xmlns:a16="http://schemas.microsoft.com/office/drawing/2014/main" id="{E9B4E654-ADA3-4F7C-AFCF-82388AAB12A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7322358" y="7613480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TSQBench</a:t>
              </a:r>
              <a:endParaRPr sz="1100"/>
            </a:p>
          </p:txBody>
        </p:sp>
        <p:sp>
          <p:nvSpPr>
            <p:cNvPr id="110" name="TextBox 110">
              <a:extLst xmlns:a="http://schemas.openxmlformats.org/drawingml/2006/main">
                <a:ext uri="{FF2B5EF4-FFF2-40B4-BE49-F238E27FC236}">
                  <a16:creationId xmlns:a16="http://schemas.microsoft.com/office/drawing/2014/main" id="{3B20284E-2CEA-4B8E-BA46-7E21048FD3F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8676904" y="1930617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TS-Agent</a:t>
              </a:r>
              <a:endParaRPr sz="1100"/>
            </a:p>
          </p:txBody>
        </p:sp>
        <p:sp>
          <p:nvSpPr>
            <p:cNvPr id="111" name="TextBox 111">
              <a:extLst xmlns:a="http://schemas.openxmlformats.org/drawingml/2006/main">
                <a:ext uri="{FF2B5EF4-FFF2-40B4-BE49-F238E27FC236}">
                  <a16:creationId xmlns:a16="http://schemas.microsoft.com/office/drawing/2014/main" id="{D0F6FE6A-A326-4855-88D4-9090B62C20E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8676904" y="3915726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TimeART</a:t>
              </a:r>
              <a:endParaRPr sz="1100"/>
            </a:p>
          </p:txBody>
        </p:sp>
        <p:sp>
          <p:nvSpPr>
            <p:cNvPr id="112" name="TextBox 112">
              <a:extLst xmlns:a="http://schemas.openxmlformats.org/drawingml/2006/main">
                <a:ext uri="{FF2B5EF4-FFF2-40B4-BE49-F238E27FC236}">
                  <a16:creationId xmlns:a16="http://schemas.microsoft.com/office/drawing/2014/main" id="{A3AF18BC-0961-4C27-8173-B4BD5071F0D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8676904" y="4188192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AION</a:t>
              </a:r>
              <a:endParaRPr sz="1100"/>
            </a:p>
          </p:txBody>
        </p:sp>
        <p:sp>
          <p:nvSpPr>
            <p:cNvPr id="113" name="TextBox 113">
              <a:extLst xmlns:a="http://schemas.openxmlformats.org/drawingml/2006/main">
                <a:ext uri="{FF2B5EF4-FFF2-40B4-BE49-F238E27FC236}">
                  <a16:creationId xmlns:a16="http://schemas.microsoft.com/office/drawing/2014/main" id="{E9EF3A40-35AB-4D71-B3C3-BEB5B5B0AAF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8676904" y="3643260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TimeClaw</a:t>
              </a:r>
              <a:endParaRPr sz="1100"/>
            </a:p>
          </p:txBody>
        </p:sp>
        <p:sp>
          <p:nvSpPr>
            <p:cNvPr id="114" name="TextBox 114">
              <a:extLst xmlns:a="http://schemas.openxmlformats.org/drawingml/2006/main">
                <a:ext uri="{FF2B5EF4-FFF2-40B4-BE49-F238E27FC236}">
                  <a16:creationId xmlns:a16="http://schemas.microsoft.com/office/drawing/2014/main" id="{3FEBB70D-D48C-466E-A4F0-64BEEA8839A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8676904" y="5628370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TimeCAP</a:t>
              </a:r>
              <a:endParaRPr sz="1100"/>
            </a:p>
          </p:txBody>
        </p:sp>
        <p:sp>
          <p:nvSpPr>
            <p:cNvPr id="115" name="TextBox 115">
              <a:extLst xmlns:a="http://schemas.openxmlformats.org/drawingml/2006/main">
                <a:ext uri="{FF2B5EF4-FFF2-40B4-BE49-F238E27FC236}">
                  <a16:creationId xmlns:a16="http://schemas.microsoft.com/office/drawing/2014/main" id="{CF27F92F-A646-457D-A4F3-822348886F9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8676904" y="5900836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TFRBench</a:t>
              </a:r>
              <a:endParaRPr sz="1100"/>
            </a:p>
          </p:txBody>
        </p:sp>
        <p:sp>
          <p:nvSpPr>
            <p:cNvPr id="116" name="TextBox 116">
              <a:extLst xmlns:a="http://schemas.openxmlformats.org/drawingml/2006/main">
                <a:ext uri="{FF2B5EF4-FFF2-40B4-BE49-F238E27FC236}">
                  <a16:creationId xmlns:a16="http://schemas.microsoft.com/office/drawing/2014/main" id="{3F35B3C3-6BBB-4D15-92EC-C3CBFEEB586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8676904" y="5355904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TSQBench</a:t>
              </a:r>
              <a:endParaRPr sz="1100"/>
            </a:p>
          </p:txBody>
        </p:sp>
        <p:sp>
          <p:nvSpPr>
            <p:cNvPr id="117" name="TextBox 117">
              <a:extLst xmlns:a="http://schemas.openxmlformats.org/drawingml/2006/main">
                <a:ext uri="{FF2B5EF4-FFF2-40B4-BE49-F238E27FC236}">
                  <a16:creationId xmlns:a16="http://schemas.microsoft.com/office/drawing/2014/main" id="{B4461641-1342-4F11-B78C-D1ACA39DF34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8676904" y="7341014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ModernTSF</a:t>
              </a:r>
              <a:endParaRPr sz="1100"/>
            </a:p>
          </p:txBody>
        </p:sp>
        <p:sp>
          <p:nvSpPr>
            <p:cNvPr id="118" name="TextBox 118">
              <a:extLst xmlns:a="http://schemas.openxmlformats.org/drawingml/2006/main">
                <a:ext uri="{FF2B5EF4-FFF2-40B4-BE49-F238E27FC236}">
                  <a16:creationId xmlns:a16="http://schemas.microsoft.com/office/drawing/2014/main" id="{CC0C3D5B-5F96-4097-8557-72F99C3DA92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8676904" y="7613480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TimeSeriesGym</a:t>
              </a:r>
              <a:endParaRPr sz="1100"/>
            </a:p>
          </p:txBody>
        </p:sp>
        <p:sp>
          <p:nvSpPr>
            <p:cNvPr id="119" name="TextBox 119">
              <a:extLst xmlns:a="http://schemas.openxmlformats.org/drawingml/2006/main">
                <a:ext uri="{FF2B5EF4-FFF2-40B4-BE49-F238E27FC236}">
                  <a16:creationId xmlns:a16="http://schemas.microsoft.com/office/drawing/2014/main" id="{D9004EF9-897D-4309-9D8F-4D5FA2EB46B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0031449" y="3643260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8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TraceBench</a:t>
              </a:r>
              <a:endParaRPr sz="800"/>
            </a:p>
          </p:txBody>
        </p:sp>
        <p:sp>
          <p:nvSpPr>
            <p:cNvPr id="120" name="TextBox 120">
              <a:extLst xmlns:a="http://schemas.openxmlformats.org/drawingml/2006/main">
                <a:ext uri="{FF2B5EF4-FFF2-40B4-BE49-F238E27FC236}">
                  <a16:creationId xmlns:a16="http://schemas.microsoft.com/office/drawing/2014/main" id="{044A6B8D-67C5-4E72-AB03-73D07D97E91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0031449" y="5628370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/>
              </a:r>
              <a:endParaRPr sz="1100"/>
            </a:p>
          </p:txBody>
        </p:sp>
        <p:sp>
          <p:nvSpPr>
            <p:cNvPr id="121" name="TextBox 121">
              <a:extLst xmlns:a="http://schemas.openxmlformats.org/drawingml/2006/main">
                <a:ext uri="{FF2B5EF4-FFF2-40B4-BE49-F238E27FC236}">
                  <a16:creationId xmlns:a16="http://schemas.microsoft.com/office/drawing/2014/main" id="{12E2F925-EF5B-4CAA-AF04-2FE46D95FB8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0031449" y="5900836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8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Verify</a:t>
              </a:r>
              <a:endParaRPr sz="800"/>
            </a:p>
          </p:txBody>
        </p:sp>
        <p:sp>
          <p:nvSpPr>
            <p:cNvPr id="122" name="TextBox 122">
              <a:extLst xmlns:a="http://schemas.openxmlformats.org/drawingml/2006/main">
                <a:ext uri="{FF2B5EF4-FFF2-40B4-BE49-F238E27FC236}">
                  <a16:creationId xmlns:a16="http://schemas.microsoft.com/office/drawing/2014/main" id="{7F21DE9F-639F-4989-AB73-3856D1AEA8E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0031449" y="5355904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Calib.</a:t>
              </a:r>
              <a:endParaRPr sz="1100"/>
            </a:p>
          </p:txBody>
        </p:sp>
        <p:sp>
          <p:nvSpPr>
            <p:cNvPr id="123" name="TextBox 123">
              <a:extLst xmlns:a="http://schemas.openxmlformats.org/drawingml/2006/main">
                <a:ext uri="{FF2B5EF4-FFF2-40B4-BE49-F238E27FC236}">
                  <a16:creationId xmlns:a16="http://schemas.microsoft.com/office/drawing/2014/main" id="{6E20A2CE-6642-4FBB-AA86-6D0567D2ED7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0031449" y="5628370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/>
              </a:r>
              <a:endParaRPr sz="1100"/>
            </a:p>
          </p:txBody>
        </p:sp>
        <p:sp>
          <p:nvSpPr>
            <p:cNvPr id="124" name="TextBox 124">
              <a:extLst xmlns:a="http://schemas.openxmlformats.org/drawingml/2006/main">
                <a:ext uri="{FF2B5EF4-FFF2-40B4-BE49-F238E27FC236}">
                  <a16:creationId xmlns:a16="http://schemas.microsoft.com/office/drawing/2014/main" id="{E84283EE-B8AE-42F2-AD8D-BBCE8653303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0031449" y="7613480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Audit</a:t>
              </a:r>
              <a:endParaRPr sz="1100"/>
            </a:p>
          </p:txBody>
        </p:sp>
        <p:sp>
          <p:nvSpPr>
            <p:cNvPr id="125" name="TextBox 125">
              <a:extLst xmlns:a="http://schemas.openxmlformats.org/drawingml/2006/main">
                <a:ext uri="{FF2B5EF4-FFF2-40B4-BE49-F238E27FC236}">
                  <a16:creationId xmlns:a16="http://schemas.microsoft.com/office/drawing/2014/main" id="{513D88DF-0F99-4084-8CF1-66D48FB6033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0031449" y="8781191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04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Reproducibility</a:t>
              </a:r>
              <a:endParaRPr sz="1040"/>
            </a:p>
          </p:txBody>
        </p:sp>
        <p:sp>
          <p:nvSpPr>
            <p:cNvPr id="126" name="TextBox 126">
              <a:extLst xmlns:a="http://schemas.openxmlformats.org/drawingml/2006/main">
                <a:ext uri="{FF2B5EF4-FFF2-40B4-BE49-F238E27FC236}">
                  <a16:creationId xmlns:a16="http://schemas.microsoft.com/office/drawing/2014/main" id="{6A0FB4A3-8BE1-4540-8C31-FE9C2DBE99A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1385995" y="1930617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Paper card</a:t>
              </a:r>
              <a:endParaRPr sz="1100"/>
            </a:p>
          </p:txBody>
        </p:sp>
        <p:sp>
          <p:nvSpPr>
            <p:cNvPr id="127" name="TextBox 127">
              <a:extLst xmlns:a="http://schemas.openxmlformats.org/drawingml/2006/main">
                <a:ext uri="{FF2B5EF4-FFF2-40B4-BE49-F238E27FC236}">
                  <a16:creationId xmlns:a16="http://schemas.microsoft.com/office/drawing/2014/main" id="{EF2A7941-FB1C-4E54-BBD3-C121562833D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1385995" y="2203083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88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Ledger</a:t>
              </a:r>
              <a:endParaRPr sz="880"/>
            </a:p>
          </p:txBody>
        </p:sp>
        <p:sp>
          <p:nvSpPr>
            <p:cNvPr id="128" name="TextBox 128">
              <a:extLst xmlns:a="http://schemas.openxmlformats.org/drawingml/2006/main">
                <a:ext uri="{FF2B5EF4-FFF2-40B4-BE49-F238E27FC236}">
                  <a16:creationId xmlns:a16="http://schemas.microsoft.com/office/drawing/2014/main" id="{6EEB361D-EE9D-43F8-87A7-F2F5248E3DE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1385995" y="2475549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Module tags</a:t>
              </a:r>
              <a:endParaRPr sz="1100"/>
            </a:p>
          </p:txBody>
        </p:sp>
        <p:sp>
          <p:nvSpPr>
            <p:cNvPr id="129" name="TextBox 129">
              <a:extLst xmlns:a="http://schemas.openxmlformats.org/drawingml/2006/main">
                <a:ext uri="{FF2B5EF4-FFF2-40B4-BE49-F238E27FC236}">
                  <a16:creationId xmlns:a16="http://schemas.microsoft.com/office/drawing/2014/main" id="{E3F709F2-16B7-4F97-B6D4-2F974C58084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1385995" y="3643260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Open tasks</a:t>
              </a:r>
              <a:endParaRPr sz="1100"/>
            </a:p>
          </p:txBody>
        </p:sp>
        <p:sp>
          <p:nvSpPr>
            <p:cNvPr id="130" name="TextBox 130">
              <a:extLst xmlns:a="http://schemas.openxmlformats.org/drawingml/2006/main">
                <a:ext uri="{FF2B5EF4-FFF2-40B4-BE49-F238E27FC236}">
                  <a16:creationId xmlns:a16="http://schemas.microsoft.com/office/drawing/2014/main" id="{D026DA87-0C0B-4CB9-BE35-84C6B3D41FA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1385995" y="3915726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Case studies</a:t>
              </a:r>
              <a:endParaRPr sz="1100"/>
            </a:p>
          </p:txBody>
        </p:sp>
        <p:sp>
          <p:nvSpPr>
            <p:cNvPr id="131" name="TextBox 131">
              <a:extLst xmlns:a="http://schemas.openxmlformats.org/drawingml/2006/main">
                <a:ext uri="{FF2B5EF4-FFF2-40B4-BE49-F238E27FC236}">
                  <a16:creationId xmlns:a16="http://schemas.microsoft.com/office/drawing/2014/main" id="{C30120B1-30CE-49C2-98F7-9C1C909ED18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1385995" y="5900836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Surveys</a:t>
              </a:r>
              <a:endParaRPr sz="1100"/>
            </a:p>
          </p:txBody>
        </p:sp>
        <p:sp>
          <p:nvSpPr>
            <p:cNvPr id="132" name="TextBox 132">
              <a:extLst xmlns:a="http://schemas.openxmlformats.org/drawingml/2006/main">
                <a:ext uri="{FF2B5EF4-FFF2-40B4-BE49-F238E27FC236}">
                  <a16:creationId xmlns:a16="http://schemas.microsoft.com/office/drawing/2014/main" id="{8F309167-67F5-4BAB-BABF-0DFF5295E5A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1385995" y="7068548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BibTeX</a:t>
              </a:r>
              <a:endParaRPr sz="1100"/>
            </a:p>
          </p:txBody>
        </p:sp>
        <p:sp>
          <p:nvSpPr>
            <p:cNvPr id="133" name="TextBox 133">
              <a:extLst xmlns:a="http://schemas.openxmlformats.org/drawingml/2006/main">
                <a:ext uri="{FF2B5EF4-FFF2-40B4-BE49-F238E27FC236}">
                  <a16:creationId xmlns:a16="http://schemas.microsoft.com/office/drawing/2014/main" id="{C545A0DC-0529-42DF-8937-69E6F11B41C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1385995" y="7341014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Claims</a:t>
              </a:r>
              <a:endParaRPr sz="1100"/>
            </a:p>
          </p:txBody>
        </p:sp>
        <p:sp>
          <p:nvSpPr>
            <p:cNvPr id="134" name="TextBox 134">
              <a:extLst xmlns:a="http://schemas.openxmlformats.org/drawingml/2006/main">
                <a:ext uri="{FF2B5EF4-FFF2-40B4-BE49-F238E27FC236}">
                  <a16:creationId xmlns:a16="http://schemas.microsoft.com/office/drawing/2014/main" id="{39A71BBA-86BD-41C2-85C5-6C941E80F76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589913" y="9808778"/>
              <a:ext cx="2335423" cy="186834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◫   2003 | Gödel Machine</a:t>
              </a:r>
              <a:endParaRPr sz="1100"/>
            </a:p>
          </p:txBody>
        </p:sp>
        <p:sp>
          <p:nvSpPr>
            <p:cNvPr id="135" name="TextBox 135">
              <a:extLst xmlns:a="http://schemas.openxmlformats.org/drawingml/2006/main">
                <a:ext uri="{FF2B5EF4-FFF2-40B4-BE49-F238E27FC236}">
                  <a16:creationId xmlns:a16="http://schemas.microsoft.com/office/drawing/2014/main" id="{BA243D8A-647E-42F8-9FDB-B67D7BF79F5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7081031" y="9808778"/>
              <a:ext cx="2568966" cy="186834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◉   2016 | Learned optimizers</a:t>
              </a:r>
              <a:endParaRPr sz="1100"/>
            </a:p>
          </p:txBody>
        </p:sp>
        <p:sp>
          <p:nvSpPr>
            <p:cNvPr id="136" name="TextBox 136">
              <a:extLst xmlns:a="http://schemas.openxmlformats.org/drawingml/2006/main">
                <a:ext uri="{FF2B5EF4-FFF2-40B4-BE49-F238E27FC236}">
                  <a16:creationId xmlns:a16="http://schemas.microsoft.com/office/drawing/2014/main" id="{B92DEF2A-1084-48F2-9128-20818C31740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0039234" y="9808778"/>
              <a:ext cx="1946186" cy="186834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▣   2019 | POET</a:t>
              </a:r>
              <a:endParaRPr sz="1100"/>
            </a:p>
          </p:txBody>
        </p:sp>
        <p:sp>
          <p:nvSpPr>
            <p:cNvPr id="137" name="TextBox 137">
              <a:extLst xmlns:a="http://schemas.openxmlformats.org/drawingml/2006/main">
                <a:ext uri="{FF2B5EF4-FFF2-40B4-BE49-F238E27FC236}">
                  <a16:creationId xmlns:a16="http://schemas.microsoft.com/office/drawing/2014/main" id="{71453261-3DAD-459A-94E2-0F1D0494981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5134845" y="10042320"/>
              <a:ext cx="6383490" cy="171264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900">
                  <a:solidFill>
                    <a:srgbClr val="5E6878"/>
                  </a:solidFill>
                  <a:latin typeface="PingFang SC"/>
                  <a:ea typeface="PingFang SC"/>
                  <a:cs typeface="PingFang SC"/>
                </a:rPr>
                <a:t>Marks: selected affiliations | Branches: research routes, not technical ancestry</a:t>
              </a:r>
              <a:endParaRPr sz="900"/>
            </a:p>
          </p:txBody>
        </p:sp>
        <p:sp>
          <p:nvSpPr>
            <p:cNvPr id="138" name="TextBox 138">
              <a:extLst xmlns:a="http://schemas.openxmlformats.org/drawingml/2006/main">
                <a:ext uri="{FF2B5EF4-FFF2-40B4-BE49-F238E27FC236}">
                  <a16:creationId xmlns:a16="http://schemas.microsoft.com/office/drawing/2014/main" id="{99B1A1F5-648F-4099-AFBE-0AF94DC2987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3686883" y="10742947"/>
              <a:ext cx="9263846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750" b="1">
                  <a:solidFill>
                    <a:srgbClr val="111111"/>
                  </a:solidFill>
                  <a:latin typeface="PingFang SC"/>
                  <a:ea typeface="PingFang SC"/>
                  <a:cs typeface="PingFang SC"/>
                </a:rPr>
                <a:t/>
              </a:r>
              <a:endParaRPr sz="750"/>
            </a:p>
          </p:txBody>
        </p:sp>
        <p:sp>
          <p:nvSpPr>
            <p:cNvPr id="139" name="TextBox 139">
              <a:extLst xmlns:a="http://schemas.openxmlformats.org/drawingml/2006/main">
                <a:ext uri="{FF2B5EF4-FFF2-40B4-BE49-F238E27FC236}">
                  <a16:creationId xmlns:a16="http://schemas.microsoft.com/office/drawing/2014/main" id="{DAB11706-B5CA-4B40-8927-829B8AACB2D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3686883" y="11046552"/>
              <a:ext cx="9263846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880">
                  <a:solidFill>
                    <a:srgbClr val="111111"/>
                  </a:solidFill>
                  <a:latin typeface="PingFang SC"/>
                  <a:ea typeface="PingFang SC"/>
                  <a:cs typeface="PingFang SC"/>
                </a:rPr>
                <a:t/>
              </a:r>
              <a:endParaRPr sz="880"/>
            </a:p>
          </p:txBody>
        </p:sp>
        <p:sp>
          <p:nvSpPr>
            <p:cNvPr id="140" name="TextBox 140">
              <a:extLst xmlns:a="http://schemas.openxmlformats.org/drawingml/2006/main">
                <a:ext uri="{FF2B5EF4-FFF2-40B4-BE49-F238E27FC236}">
                  <a16:creationId xmlns:a16="http://schemas.microsoft.com/office/drawing/2014/main" id="{417D2A5A-9E13-4C35-9FA9-178308D01CF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3686883" y="11350157"/>
              <a:ext cx="9263846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819">
                  <a:solidFill>
                    <a:srgbClr val="111111"/>
                  </a:solidFill>
                  <a:latin typeface="PingFang SC"/>
                  <a:ea typeface="PingFang SC"/>
                  <a:cs typeface="PingFang SC"/>
                </a:rPr>
                <a:t/>
              </a:r>
              <a:endParaRPr sz="819"/>
            </a:p>
          </p:txBody>
        </p:sp>
        <p:sp>
          <p:nvSpPr>
            <p:cNvPr id="141" name="TextBox 141">
              <a:extLst xmlns:a="http://schemas.openxmlformats.org/drawingml/2006/main">
                <a:ext uri="{FF2B5EF4-FFF2-40B4-BE49-F238E27FC236}">
                  <a16:creationId xmlns:a16="http://schemas.microsoft.com/office/drawing/2014/main" id="{DCDF5064-B574-40FC-94F4-EC64F860D60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3686883" y="11653762"/>
              <a:ext cx="9263846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840">
                  <a:solidFill>
                    <a:srgbClr val="111111"/>
                  </a:solidFill>
                  <a:latin typeface="PingFang SC"/>
                  <a:ea typeface="PingFang SC"/>
                  <a:cs typeface="PingFang SC"/>
                </a:rPr>
                <a:t/>
              </a:r>
              <a:endParaRPr sz="840"/>
            </a:p>
          </p:txBody>
        </p:sp>
      </p:grpSp>
    </p:spTree>
    <p:extLst>
      <p:ext uri="{BB962C8B-B14F-4D97-AF65-F5344CB8AC3E}">
        <p14:creationId xmlns:p14="http://schemas.microsoft.com/office/powerpoint/2010/main" val="125397924"/>
      </p:ext>
    </p:extLst>
  </p:cSld>
</p:sld>
</file>

<file path=ppt/theme/theme1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1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2026-10-08T15:10:13.3920000Z</dcterms:created>
  <dcterms:modified xsi:type="dcterms:W3CDTF">2026-10-08T15:10:13.3920000Z</dcterms:modified>
</coreProperties>
</file>