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582525" cy="7023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6" d="100"/>
          <a:sy n="116" d="100"/>
        </p:scale>
        <p:origin x="8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4F400-324D-42E0-BBD6-8247AF17E99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65163" y="1143000"/>
            <a:ext cx="5527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FDD05-C6B0-47CF-96D2-B851C4E54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935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FDD05-C6B0-47CF-96D2-B851C4E54B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2903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02_TimeSeries_Research_Landscape — ungroup to edit"/>
          <p:cNvGrpSpPr/>
          <p:nvPr/>
        </p:nvGrpSpPr>
        <p:grpSpPr>
          <a:xfrm>
            <a:off x="128016" y="45720"/>
            <a:ext cx="12938898" cy="6931152"/>
            <a:chOff x="128016" y="45720"/>
            <a:chExt cx="12938898" cy="6931152"/>
          </a:xfrm>
        </p:grpSpPr>
        <p:grpSp>
          <p:nvGrpSpPr>
            <p:cNvPr id="407" name="Frame and headings"/>
            <p:cNvGrpSpPr/>
            <p:nvPr/>
          </p:nvGrpSpPr>
          <p:grpSpPr>
            <a:xfrm>
              <a:off x="128016" y="45720"/>
              <a:ext cx="12326112" cy="1901952"/>
              <a:chOff x="128016" y="45720"/>
              <a:chExt cx="12326112" cy="1901952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164592" y="45720"/>
                <a:ext cx="11978640" cy="38404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2370" b="1">
                    <a:solidFill>
                      <a:srgbClr val="0D204B"/>
                    </a:solidFill>
                    <a:latin typeface="Georgia"/>
                  </a:defRPr>
                </a:pPr>
                <a:r>
                  <a:t>Research Landscape of Time-Series Agent Systems</a:t>
                </a:r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164592" y="438912"/>
                <a:ext cx="11704320" cy="228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500" b="0">
                    <a:solidFill>
                      <a:srgbClr val="0D204B"/>
                    </a:solidFill>
                    <a:latin typeface="Georgia"/>
                  </a:defRPr>
                </a:pPr>
                <a:r>
                  <a:t>Model-side contributions, harness mechanisms, and evaluation resources</a:t>
                </a:r>
              </a:p>
            </p:txBody>
          </p:sp>
          <p:sp>
            <p:nvSpPr>
              <p:cNvPr id="4" name="Rounded Rectangle 3"/>
              <p:cNvSpPr/>
              <p:nvPr/>
            </p:nvSpPr>
            <p:spPr>
              <a:xfrm>
                <a:off x="128016" y="740664"/>
                <a:ext cx="12326112" cy="1207008"/>
              </a:xfrm>
              <a:prstGeom prst="roundRect">
                <a:avLst>
                  <a:gd name="adj" fmla="val 8000"/>
                </a:avLst>
              </a:prstGeom>
              <a:solidFill>
                <a:srgbClr val="F5F1FF"/>
              </a:solidFill>
              <a:ln w="1016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</p:grpSp>
        <p:grpSp>
          <p:nvGrpSpPr>
            <p:cNvPr id="408" name="LLM contributions"/>
            <p:cNvGrpSpPr/>
            <p:nvPr/>
          </p:nvGrpSpPr>
          <p:grpSpPr>
            <a:xfrm>
              <a:off x="310896" y="832104"/>
              <a:ext cx="11987784" cy="978408"/>
              <a:chOff x="310896" y="832104"/>
              <a:chExt cx="11987784" cy="978408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310896" y="832104"/>
                <a:ext cx="1938528" cy="5029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680" b="1">
                    <a:solidFill>
                      <a:srgbClr val="0D204B"/>
                    </a:solidFill>
                    <a:latin typeface="Georgia"/>
                  </a:defRPr>
                </a:pPr>
                <a:r>
                  <a:t>Model-Side</a:t>
                </a:r>
                <a:br/>
                <a:r>
                  <a:t>Contributions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10896" y="1380744"/>
                <a:ext cx="1883664" cy="4206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60" b="0">
                    <a:solidFill>
                      <a:srgbClr val="0D204B"/>
                    </a:solidFill>
                    <a:latin typeface="Georgia"/>
                  </a:defRPr>
                </a:pPr>
                <a:r>
                  <a:t>Representation · Alignment</a:t>
                </a:r>
                <a:br/>
                <a:r>
                  <a:t>Understanding · Adaptation</a:t>
                </a:r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2359152" y="832104"/>
                <a:ext cx="4160520" cy="978408"/>
              </a:xfrm>
              <a:prstGeom prst="roundRect">
                <a:avLst>
                  <a:gd name="adj" fmla="val 8000"/>
                </a:avLst>
              </a:prstGeom>
              <a:solidFill>
                <a:srgbClr val="FBF9FF"/>
              </a:solidFill>
              <a:ln w="6350">
                <a:solidFill>
                  <a:srgbClr val="DAD0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532888" y="896112"/>
                <a:ext cx="2743200" cy="21031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240" b="1">
                    <a:solidFill>
                      <a:srgbClr val="0D204B"/>
                    </a:solidFill>
                    <a:latin typeface="Georgia"/>
                  </a:defRPr>
                </a:pPr>
                <a:r>
                  <a:t>Representation &amp; Alignment</a:t>
                </a:r>
              </a:p>
            </p:txBody>
          </p:sp>
          <p:cxnSp>
            <p:nvCxnSpPr>
              <p:cNvPr id="29" name="Connector 28"/>
              <p:cNvCxnSpPr/>
              <p:nvPr/>
            </p:nvCxnSpPr>
            <p:spPr>
              <a:xfrm>
                <a:off x="5102352" y="1024128"/>
                <a:ext cx="0" cy="704088"/>
              </a:xfrm>
              <a:prstGeom prst="line">
                <a:avLst/>
              </a:prstGeom>
              <a:ln w="8890">
                <a:solidFill>
                  <a:srgbClr val="9191A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/>
              <p:cNvSpPr/>
              <p:nvPr/>
            </p:nvSpPr>
            <p:spPr>
              <a:xfrm>
                <a:off x="5257800" y="1040587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422392" y="996696"/>
                <a:ext cx="969264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90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Time-LLM</a:t>
                </a: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5257800" y="1228039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422392" y="1184148"/>
                <a:ext cx="969264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90" b="0">
                    <a:solidFill>
                      <a:srgbClr val="0D204B"/>
                    </a:solidFill>
                    <a:latin typeface="Georgia"/>
                  </a:defRPr>
                </a:pPr>
                <a:r>
                  <a:t>LLM4TS</a:t>
                </a:r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5257800" y="1415491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422392" y="1371600"/>
                <a:ext cx="969264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90" b="0">
                    <a:solidFill>
                      <a:srgbClr val="0D204B"/>
                    </a:solidFill>
                    <a:latin typeface="Georgia"/>
                  </a:defRPr>
                </a:pPr>
                <a:r>
                  <a:t>LLMTime</a:t>
                </a:r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5257800" y="1602943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422392" y="1559052"/>
                <a:ext cx="969264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90" b="0">
                    <a:solidFill>
                      <a:srgbClr val="0D204B"/>
                    </a:solidFill>
                    <a:latin typeface="Georgia"/>
                  </a:defRPr>
                </a:pPr>
                <a:r>
                  <a:t>ChatTS</a:t>
                </a:r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6629400" y="832104"/>
                <a:ext cx="5669280" cy="978408"/>
              </a:xfrm>
              <a:prstGeom prst="roundRect">
                <a:avLst>
                  <a:gd name="adj" fmla="val 8000"/>
                </a:avLst>
              </a:prstGeom>
              <a:solidFill>
                <a:srgbClr val="FBF9FF"/>
              </a:solidFill>
              <a:ln w="6350">
                <a:solidFill>
                  <a:srgbClr val="DAD0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6821424" y="896112"/>
                <a:ext cx="2651760" cy="21031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240" b="1">
                    <a:solidFill>
                      <a:srgbClr val="0D204B"/>
                    </a:solidFill>
                    <a:latin typeface="Georgia"/>
                  </a:defRPr>
                </a:pPr>
                <a:r>
                  <a:t>Learning &amp; Reasoning</a:t>
                </a:r>
              </a:p>
            </p:txBody>
          </p:sp>
          <p:cxnSp>
            <p:nvCxnSpPr>
              <p:cNvPr id="64" name="Connector 63"/>
              <p:cNvCxnSpPr/>
              <p:nvPr/>
            </p:nvCxnSpPr>
            <p:spPr>
              <a:xfrm>
                <a:off x="9774936" y="1024128"/>
                <a:ext cx="0" cy="713232"/>
              </a:xfrm>
              <a:prstGeom prst="line">
                <a:avLst/>
              </a:prstGeom>
              <a:ln w="8890">
                <a:solidFill>
                  <a:srgbClr val="9191A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/>
              <p:cNvSpPr/>
              <p:nvPr/>
            </p:nvSpPr>
            <p:spPr>
              <a:xfrm>
                <a:off x="9966960" y="1040587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0131552" y="1009520"/>
                <a:ext cx="2011679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rPr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Towards Time-Series Reasoning</a:t>
                </a:r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9966960" y="1228039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0131552" y="1184148"/>
                <a:ext cx="2011679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65" b="0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/>
                  <a:t>STRIDE</a:t>
                </a:r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9966960" y="1415491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10131552" y="1371600"/>
                <a:ext cx="2011679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65" b="0">
                    <a:solidFill>
                      <a:srgbClr val="0D204B"/>
                    </a:solidFill>
                    <a:latin typeface="Georgia"/>
                  </a:defRPr>
                </a:pPr>
                <a:r>
                  <a:t>OpenForecaster</a:t>
                </a:r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9966960" y="1602943"/>
                <a:ext cx="68580" cy="68580"/>
              </a:xfrm>
              <a:prstGeom prst="ellipse">
                <a:avLst/>
              </a:prstGeom>
              <a:solidFill>
                <a:srgbClr val="714DAC"/>
              </a:solidFill>
              <a:ln w="2540">
                <a:solidFill>
                  <a:srgbClr val="714DA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0131552" y="1559052"/>
                <a:ext cx="2011679" cy="21031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65" b="0">
                    <a:solidFill>
                      <a:srgbClr val="0D204B"/>
                    </a:solidFill>
                    <a:latin typeface="Georgia"/>
                  </a:defRPr>
                </a:pPr>
                <a:r>
                  <a:t>AURA-4B</a:t>
                </a:r>
              </a:p>
            </p:txBody>
          </p:sp>
        </p:grpSp>
        <p:grpSp>
          <p:nvGrpSpPr>
            <p:cNvPr id="409" name="Frame and headings"/>
            <p:cNvGrpSpPr/>
            <p:nvPr/>
          </p:nvGrpSpPr>
          <p:grpSpPr>
            <a:xfrm>
              <a:off x="164592" y="2020824"/>
              <a:ext cx="12326112" cy="3840480"/>
              <a:chOff x="164592" y="2020824"/>
              <a:chExt cx="12326112" cy="3840480"/>
            </a:xfrm>
          </p:grpSpPr>
          <p:sp>
            <p:nvSpPr>
              <p:cNvPr id="73" name="Rounded Rectangle 72"/>
              <p:cNvSpPr/>
              <p:nvPr/>
            </p:nvSpPr>
            <p:spPr>
              <a:xfrm>
                <a:off x="164592" y="2020824"/>
                <a:ext cx="12326112" cy="3840480"/>
              </a:xfrm>
              <a:prstGeom prst="roundRect">
                <a:avLst>
                  <a:gd name="adj" fmla="val 8000"/>
                </a:avLst>
              </a:prstGeom>
              <a:solidFill>
                <a:srgbClr val="FAF4E7"/>
              </a:solidFill>
              <a:ln w="10160">
                <a:solidFill>
                  <a:srgbClr val="7754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310896" y="2075979"/>
                <a:ext cx="11612880" cy="3108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900" b="1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/>
                  <a:t>Harness Mechanisms for Time-Series Agent Systems</a:t>
                </a:r>
              </a:p>
            </p:txBody>
          </p:sp>
        </p:grpSp>
        <p:grpSp>
          <p:nvGrpSpPr>
            <p:cNvPr id="410" name="Harness dimension 1"/>
            <p:cNvGrpSpPr/>
            <p:nvPr/>
          </p:nvGrpSpPr>
          <p:grpSpPr>
            <a:xfrm>
              <a:off x="265176" y="2450592"/>
              <a:ext cx="1660289" cy="3282696"/>
              <a:chOff x="265176" y="2450592"/>
              <a:chExt cx="1660289" cy="3282696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320040" y="2459736"/>
                <a:ext cx="283464" cy="283464"/>
              </a:xfrm>
              <a:prstGeom prst="ellipse">
                <a:avLst/>
              </a:prstGeom>
              <a:solidFill>
                <a:srgbClr val="CA6B25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356616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1</a:t>
                </a: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685800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Interface &amp;</a:t>
                </a:r>
                <a:br/>
                <a:r>
                  <a:t>Interaction</a:t>
                </a:r>
              </a:p>
            </p:txBody>
          </p:sp>
          <p:sp>
            <p:nvSpPr>
              <p:cNvPr id="99" name="Rounded Rectangle 98"/>
              <p:cNvSpPr/>
              <p:nvPr/>
            </p:nvSpPr>
            <p:spPr>
              <a:xfrm>
                <a:off x="265176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Rounded Rectangle 99"/>
              <p:cNvSpPr/>
              <p:nvPr/>
            </p:nvSpPr>
            <p:spPr>
              <a:xfrm>
                <a:off x="269748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333756" y="3548991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/>
                  <a:t>Structured Analysis Interfaces</a:t>
                </a:r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338328" y="3916375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502920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TS-Agent</a:t>
                </a:r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338328" y="4087368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502920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TimeART</a:t>
                </a:r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338328" y="4258360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502920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TSAG</a:t>
                </a:r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338328" y="4429353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502920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TESSA</a:t>
                </a:r>
              </a:p>
            </p:txBody>
          </p:sp>
          <p:sp>
            <p:nvSpPr>
              <p:cNvPr id="110" name="Rounded Rectangle 109"/>
              <p:cNvSpPr/>
              <p:nvPr/>
            </p:nvSpPr>
            <p:spPr>
              <a:xfrm>
                <a:off x="265176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Rounded Rectangle 110"/>
              <p:cNvSpPr/>
              <p:nvPr/>
            </p:nvSpPr>
            <p:spPr>
              <a:xfrm>
                <a:off x="269748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333756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Adaptive Interaction &amp;</a:t>
                </a:r>
                <a:br/>
                <a:r>
                  <a:t>Observation</a:t>
                </a:r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338328" y="5031943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502920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SAGE-Sleep</a:t>
                </a:r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338328" y="5201107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502920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ARTIST</a:t>
                </a:r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338328" y="5370271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502920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TimeRLM</a:t>
                </a:r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338328" y="5539435"/>
                <a:ext cx="68580" cy="68580"/>
              </a:xfrm>
              <a:prstGeom prst="ellipse">
                <a:avLst/>
              </a:prstGeom>
              <a:solidFill>
                <a:srgbClr val="CA6B25"/>
              </a:solidFill>
              <a:ln w="2540">
                <a:solidFill>
                  <a:srgbClr val="CA6B2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502920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LLM-TSFD</a:t>
                </a:r>
              </a:p>
            </p:txBody>
          </p:sp>
          <p:cxnSp>
            <p:nvCxnSpPr>
              <p:cNvPr id="121" name="Connector 120"/>
              <p:cNvCxnSpPr/>
              <p:nvPr/>
            </p:nvCxnSpPr>
            <p:spPr>
              <a:xfrm>
                <a:off x="1920893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1" name="Harness dimension 2"/>
            <p:cNvGrpSpPr/>
            <p:nvPr/>
          </p:nvGrpSpPr>
          <p:grpSpPr>
            <a:xfrm>
              <a:off x="1998617" y="2450592"/>
              <a:ext cx="1660289" cy="3282696"/>
              <a:chOff x="1998617" y="2450592"/>
              <a:chExt cx="1660289" cy="3282696"/>
            </a:xfrm>
          </p:grpSpPr>
          <p:sp>
            <p:nvSpPr>
              <p:cNvPr id="122" name="Oval 121"/>
              <p:cNvSpPr/>
              <p:nvPr/>
            </p:nvSpPr>
            <p:spPr>
              <a:xfrm>
                <a:off x="2053481" y="2459736"/>
                <a:ext cx="283464" cy="283464"/>
              </a:xfrm>
              <a:prstGeom prst="ellipse">
                <a:avLst/>
              </a:prstGeom>
              <a:solidFill>
                <a:srgbClr val="E0A32B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2090057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2</a:t>
                </a: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2419241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Memory &amp;</a:t>
                </a:r>
                <a:br/>
                <a:r>
                  <a:t>Context</a:t>
                </a:r>
              </a:p>
            </p:txBody>
          </p:sp>
          <p:sp>
            <p:nvSpPr>
              <p:cNvPr id="137" name="Rounded Rectangle 136"/>
              <p:cNvSpPr/>
              <p:nvPr/>
            </p:nvSpPr>
            <p:spPr>
              <a:xfrm>
                <a:off x="1998617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Rounded Rectangle 137"/>
              <p:cNvSpPr/>
              <p:nvPr/>
            </p:nvSpPr>
            <p:spPr>
              <a:xfrm>
                <a:off x="2003189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TextBox 138"/>
              <p:cNvSpPr txBox="1"/>
              <p:nvPr/>
            </p:nvSpPr>
            <p:spPr>
              <a:xfrm>
                <a:off x="2067197" y="3548991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Retrieval &amp; Context Construction</a:t>
                </a:r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2071769" y="3916375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TextBox 140"/>
              <p:cNvSpPr txBox="1"/>
              <p:nvPr/>
            </p:nvSpPr>
            <p:spPr>
              <a:xfrm>
                <a:off x="2236361" y="3872484"/>
                <a:ext cx="1358537" cy="1664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Agentic RAG for TSA</a:t>
                </a:r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2071769" y="4059936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TextBox 142"/>
              <p:cNvSpPr txBox="1"/>
              <p:nvPr/>
            </p:nvSpPr>
            <p:spPr>
              <a:xfrm>
                <a:off x="2236361" y="4016044"/>
                <a:ext cx="1358537" cy="1664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TimeCAP</a:t>
                </a:r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2071769" y="4203496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TextBox 144"/>
              <p:cNvSpPr txBox="1"/>
              <p:nvPr/>
            </p:nvSpPr>
            <p:spPr>
              <a:xfrm>
                <a:off x="2236361" y="4159605"/>
                <a:ext cx="1358537" cy="1664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t>From News to Forecast</a:t>
                </a:r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2071769" y="4347057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>
                <a:off x="2236361" y="4303166"/>
                <a:ext cx="1358537" cy="1664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ZARA</a:t>
                </a:r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2071769" y="4490618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2236361" y="4446727"/>
                <a:ext cx="1358537" cy="1664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MERIT</a:t>
                </a:r>
              </a:p>
            </p:txBody>
          </p:sp>
          <p:sp>
            <p:nvSpPr>
              <p:cNvPr id="150" name="Rounded Rectangle 149"/>
              <p:cNvSpPr/>
              <p:nvPr/>
            </p:nvSpPr>
            <p:spPr>
              <a:xfrm>
                <a:off x="1998617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1" name="Rounded Rectangle 150"/>
              <p:cNvSpPr/>
              <p:nvPr/>
            </p:nvSpPr>
            <p:spPr>
              <a:xfrm>
                <a:off x="2003189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2" name="TextBox 151"/>
              <p:cNvSpPr txBox="1"/>
              <p:nvPr/>
            </p:nvSpPr>
            <p:spPr>
              <a:xfrm>
                <a:off x="2067197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Temporal Experience &amp;</a:t>
                </a:r>
                <a:br/>
                <a:r>
                  <a:t>Evidence Memory</a:t>
                </a:r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2071769" y="5031943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TextBox 153"/>
              <p:cNvSpPr txBox="1"/>
              <p:nvPr/>
            </p:nvSpPr>
            <p:spPr>
              <a:xfrm>
                <a:off x="2236361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FinMem</a:t>
                </a:r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2071769" y="5201107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2236361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MemCast</a:t>
                </a:r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2071769" y="5370271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2236361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ForecastCompass</a:t>
                </a:r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2071769" y="5539435"/>
                <a:ext cx="68580" cy="68580"/>
              </a:xfrm>
              <a:prstGeom prst="ellipse">
                <a:avLst/>
              </a:prstGeom>
              <a:solidFill>
                <a:srgbClr val="E0A32B"/>
              </a:solidFill>
              <a:ln w="2540">
                <a:solidFill>
                  <a:srgbClr val="E0A3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2236361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TIEM</a:t>
                </a:r>
              </a:p>
            </p:txBody>
          </p:sp>
          <p:cxnSp>
            <p:nvCxnSpPr>
              <p:cNvPr id="161" name="Connector 160"/>
              <p:cNvCxnSpPr/>
              <p:nvPr/>
            </p:nvCxnSpPr>
            <p:spPr>
              <a:xfrm>
                <a:off x="3654334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2" name="Harness dimension 3"/>
            <p:cNvGrpSpPr/>
            <p:nvPr/>
          </p:nvGrpSpPr>
          <p:grpSpPr>
            <a:xfrm>
              <a:off x="3732058" y="2450592"/>
              <a:ext cx="1660289" cy="3282696"/>
              <a:chOff x="3732058" y="2450592"/>
              <a:chExt cx="1660289" cy="3282696"/>
            </a:xfrm>
          </p:grpSpPr>
          <p:sp>
            <p:nvSpPr>
              <p:cNvPr id="162" name="Oval 161"/>
              <p:cNvSpPr/>
              <p:nvPr/>
            </p:nvSpPr>
            <p:spPr>
              <a:xfrm>
                <a:off x="3786922" y="2459736"/>
                <a:ext cx="283464" cy="283464"/>
              </a:xfrm>
              <a:prstGeom prst="ellipse">
                <a:avLst/>
              </a:prstGeom>
              <a:solidFill>
                <a:srgbClr val="43934C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3" name="TextBox 162"/>
              <p:cNvSpPr txBox="1"/>
              <p:nvPr/>
            </p:nvSpPr>
            <p:spPr>
              <a:xfrm>
                <a:off x="3823498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3</a:t>
                </a:r>
              </a:p>
            </p:txBody>
          </p:sp>
          <p:sp>
            <p:nvSpPr>
              <p:cNvPr id="164" name="TextBox 163"/>
              <p:cNvSpPr txBox="1"/>
              <p:nvPr/>
            </p:nvSpPr>
            <p:spPr>
              <a:xfrm>
                <a:off x="4152682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Tools &amp;</a:t>
                </a:r>
                <a:br/>
                <a:r>
                  <a:t>Execution</a:t>
                </a:r>
              </a:p>
            </p:txBody>
          </p:sp>
          <p:sp>
            <p:nvSpPr>
              <p:cNvPr id="171" name="Rounded Rectangle 170"/>
              <p:cNvSpPr/>
              <p:nvPr/>
            </p:nvSpPr>
            <p:spPr>
              <a:xfrm>
                <a:off x="3732058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2" name="Rounded Rectangle 171"/>
              <p:cNvSpPr/>
              <p:nvPr/>
            </p:nvSpPr>
            <p:spPr>
              <a:xfrm>
                <a:off x="3736630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3" name="TextBox 172"/>
              <p:cNvSpPr txBox="1"/>
              <p:nvPr/>
            </p:nvSpPr>
            <p:spPr>
              <a:xfrm>
                <a:off x="3800638" y="3615868"/>
                <a:ext cx="1504841" cy="13375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Model &amp; Code Execution</a:t>
                </a:r>
              </a:p>
            </p:txBody>
          </p:sp>
          <p:sp>
            <p:nvSpPr>
              <p:cNvPr id="174" name="Oval 173"/>
              <p:cNvSpPr/>
              <p:nvPr/>
            </p:nvSpPr>
            <p:spPr>
              <a:xfrm>
                <a:off x="3805210" y="3916375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" name="TextBox 174"/>
              <p:cNvSpPr txBox="1"/>
              <p:nvPr/>
            </p:nvSpPr>
            <p:spPr>
              <a:xfrm>
                <a:off x="3969802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TimeCopilot</a:t>
                </a:r>
              </a:p>
            </p:txBody>
          </p:sp>
          <p:sp>
            <p:nvSpPr>
              <p:cNvPr id="176" name="Oval 175"/>
              <p:cNvSpPr/>
              <p:nvPr/>
            </p:nvSpPr>
            <p:spPr>
              <a:xfrm>
                <a:off x="3805210" y="4087368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" name="TextBox 176"/>
              <p:cNvSpPr txBox="1"/>
              <p:nvPr/>
            </p:nvSpPr>
            <p:spPr>
              <a:xfrm>
                <a:off x="3969802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TimeSeriesScientist</a:t>
                </a:r>
              </a:p>
            </p:txBody>
          </p:sp>
          <p:sp>
            <p:nvSpPr>
              <p:cNvPr id="178" name="Oval 177"/>
              <p:cNvSpPr/>
              <p:nvPr/>
            </p:nvSpPr>
            <p:spPr>
              <a:xfrm>
                <a:off x="3805210" y="4258360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9" name="TextBox 178"/>
              <p:cNvSpPr txBox="1"/>
              <p:nvPr/>
            </p:nvSpPr>
            <p:spPr>
              <a:xfrm>
                <a:off x="3969802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MoiraiAgent</a:t>
                </a:r>
              </a:p>
            </p:txBody>
          </p:sp>
          <p:sp>
            <p:nvSpPr>
              <p:cNvPr id="180" name="Oval 179"/>
              <p:cNvSpPr/>
              <p:nvPr/>
            </p:nvSpPr>
            <p:spPr>
              <a:xfrm>
                <a:off x="3805210" y="4429353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1" name="TextBox 180"/>
              <p:cNvSpPr txBox="1"/>
              <p:nvPr/>
            </p:nvSpPr>
            <p:spPr>
              <a:xfrm>
                <a:off x="3969802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GenAutoML</a:t>
                </a:r>
              </a:p>
            </p:txBody>
          </p:sp>
          <p:sp>
            <p:nvSpPr>
              <p:cNvPr id="182" name="Rounded Rectangle 181"/>
              <p:cNvSpPr/>
              <p:nvPr/>
            </p:nvSpPr>
            <p:spPr>
              <a:xfrm>
                <a:off x="3732058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3" name="Rounded Rectangle 182"/>
              <p:cNvSpPr/>
              <p:nvPr/>
            </p:nvSpPr>
            <p:spPr>
              <a:xfrm>
                <a:off x="3736630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4" name="TextBox 183"/>
              <p:cNvSpPr txBox="1"/>
              <p:nvPr/>
            </p:nvSpPr>
            <p:spPr>
              <a:xfrm>
                <a:off x="3800638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Domain Tools &amp; Simulation</a:t>
                </a:r>
              </a:p>
            </p:txBody>
          </p:sp>
          <p:sp>
            <p:nvSpPr>
              <p:cNvPr id="185" name="Oval 184"/>
              <p:cNvSpPr/>
              <p:nvPr/>
            </p:nvSpPr>
            <p:spPr>
              <a:xfrm>
                <a:off x="3805210" y="5031943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TextBox 185"/>
              <p:cNvSpPr txBox="1"/>
              <p:nvPr/>
            </p:nvSpPr>
            <p:spPr>
              <a:xfrm>
                <a:off x="3969802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AgriWorld</a:t>
                </a:r>
              </a:p>
            </p:txBody>
          </p:sp>
          <p:sp>
            <p:nvSpPr>
              <p:cNvPr id="187" name="Oval 186"/>
              <p:cNvSpPr/>
              <p:nvPr/>
            </p:nvSpPr>
            <p:spPr>
              <a:xfrm>
                <a:off x="3805210" y="5201107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3969802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Open-TI</a:t>
                </a:r>
              </a:p>
            </p:txBody>
          </p:sp>
          <p:sp>
            <p:nvSpPr>
              <p:cNvPr id="189" name="Oval 188"/>
              <p:cNvSpPr/>
              <p:nvPr/>
            </p:nvSpPr>
            <p:spPr>
              <a:xfrm>
                <a:off x="3805210" y="5370271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TextBox 189"/>
              <p:cNvSpPr txBox="1"/>
              <p:nvPr/>
            </p:nvSpPr>
            <p:spPr>
              <a:xfrm>
                <a:off x="3969802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GridMind</a:t>
                </a:r>
              </a:p>
            </p:txBody>
          </p:sp>
          <p:sp>
            <p:nvSpPr>
              <p:cNvPr id="191" name="Oval 190"/>
              <p:cNvSpPr/>
              <p:nvPr/>
            </p:nvSpPr>
            <p:spPr>
              <a:xfrm>
                <a:off x="3805210" y="5539435"/>
                <a:ext cx="68580" cy="68580"/>
              </a:xfrm>
              <a:prstGeom prst="ellipse">
                <a:avLst/>
              </a:prstGeom>
              <a:solidFill>
                <a:srgbClr val="43934C"/>
              </a:solidFill>
              <a:ln w="2540">
                <a:solidFill>
                  <a:srgbClr val="43934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2" name="TextBox 191"/>
              <p:cNvSpPr txBox="1"/>
              <p:nvPr/>
            </p:nvSpPr>
            <p:spPr>
              <a:xfrm>
                <a:off x="3969802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t>PPG Physiological Agent</a:t>
                </a:r>
              </a:p>
            </p:txBody>
          </p:sp>
          <p:cxnSp>
            <p:nvCxnSpPr>
              <p:cNvPr id="193" name="Connector 192"/>
              <p:cNvCxnSpPr/>
              <p:nvPr/>
            </p:nvCxnSpPr>
            <p:spPr>
              <a:xfrm>
                <a:off x="5387775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3" name="Harness dimension 4"/>
            <p:cNvGrpSpPr/>
            <p:nvPr/>
          </p:nvGrpSpPr>
          <p:grpSpPr>
            <a:xfrm>
              <a:off x="5465499" y="2450592"/>
              <a:ext cx="1660289" cy="3282696"/>
              <a:chOff x="5465499" y="2450592"/>
              <a:chExt cx="1660289" cy="3282696"/>
            </a:xfrm>
          </p:grpSpPr>
          <p:sp>
            <p:nvSpPr>
              <p:cNvPr id="194" name="Oval 193"/>
              <p:cNvSpPr/>
              <p:nvPr/>
            </p:nvSpPr>
            <p:spPr>
              <a:xfrm>
                <a:off x="5520363" y="2459736"/>
                <a:ext cx="283464" cy="283464"/>
              </a:xfrm>
              <a:prstGeom prst="ellipse">
                <a:avLst/>
              </a:prstGeom>
              <a:solidFill>
                <a:srgbClr val="4686CC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5" name="TextBox 194"/>
              <p:cNvSpPr txBox="1"/>
              <p:nvPr/>
            </p:nvSpPr>
            <p:spPr>
              <a:xfrm>
                <a:off x="5556939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4</a:t>
                </a:r>
              </a:p>
            </p:txBody>
          </p:sp>
          <p:sp>
            <p:nvSpPr>
              <p:cNvPr id="196" name="TextBox 195"/>
              <p:cNvSpPr txBox="1"/>
              <p:nvPr/>
            </p:nvSpPr>
            <p:spPr>
              <a:xfrm>
                <a:off x="5886123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Control, Verification</a:t>
                </a:r>
                <a:br/>
                <a:r>
                  <a:t>&amp; Feedback</a:t>
                </a:r>
              </a:p>
            </p:txBody>
          </p:sp>
          <p:sp>
            <p:nvSpPr>
              <p:cNvPr id="216" name="Rounded Rectangle 215"/>
              <p:cNvSpPr/>
              <p:nvPr/>
            </p:nvSpPr>
            <p:spPr>
              <a:xfrm>
                <a:off x="5465499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Rounded Rectangle 216"/>
              <p:cNvSpPr/>
              <p:nvPr/>
            </p:nvSpPr>
            <p:spPr>
              <a:xfrm>
                <a:off x="5470071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8" name="TextBox 217"/>
              <p:cNvSpPr txBox="1"/>
              <p:nvPr/>
            </p:nvSpPr>
            <p:spPr>
              <a:xfrm>
                <a:off x="5534079" y="3615868"/>
                <a:ext cx="1504841" cy="13375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Review &amp; Adjudication</a:t>
                </a:r>
              </a:p>
            </p:txBody>
          </p:sp>
          <p:sp>
            <p:nvSpPr>
              <p:cNvPr id="219" name="Oval 218"/>
              <p:cNvSpPr/>
              <p:nvPr/>
            </p:nvSpPr>
            <p:spPr>
              <a:xfrm>
                <a:off x="5538651" y="3916375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0" name="TextBox 219"/>
              <p:cNvSpPr txBox="1"/>
              <p:nvPr/>
            </p:nvSpPr>
            <p:spPr>
              <a:xfrm>
                <a:off x="5703243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Argos</a:t>
                </a:r>
              </a:p>
            </p:txBody>
          </p:sp>
          <p:sp>
            <p:nvSpPr>
              <p:cNvPr id="221" name="Oval 220"/>
              <p:cNvSpPr/>
              <p:nvPr/>
            </p:nvSpPr>
            <p:spPr>
              <a:xfrm>
                <a:off x="5538651" y="4087368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2" name="TextBox 221"/>
              <p:cNvSpPr txBox="1"/>
              <p:nvPr/>
            </p:nvSpPr>
            <p:spPr>
              <a:xfrm>
                <a:off x="5703243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AnomaMind</a:t>
                </a:r>
              </a:p>
            </p:txBody>
          </p:sp>
          <p:sp>
            <p:nvSpPr>
              <p:cNvPr id="223" name="Oval 222"/>
              <p:cNvSpPr/>
              <p:nvPr/>
            </p:nvSpPr>
            <p:spPr>
              <a:xfrm>
                <a:off x="5538651" y="4258360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4" name="TextBox 223"/>
              <p:cNvSpPr txBox="1"/>
              <p:nvPr/>
            </p:nvSpPr>
            <p:spPr>
              <a:xfrm>
                <a:off x="5703243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TSQAgent</a:t>
                </a:r>
              </a:p>
            </p:txBody>
          </p:sp>
          <p:sp>
            <p:nvSpPr>
              <p:cNvPr id="225" name="Oval 224"/>
              <p:cNvSpPr/>
              <p:nvPr/>
            </p:nvSpPr>
            <p:spPr>
              <a:xfrm>
                <a:off x="5538651" y="4429353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6" name="TextBox 225"/>
              <p:cNvSpPr txBox="1"/>
              <p:nvPr/>
            </p:nvSpPr>
            <p:spPr>
              <a:xfrm>
                <a:off x="5703243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t>Oil-Well Explainable Agent</a:t>
                </a:r>
              </a:p>
            </p:txBody>
          </p:sp>
          <p:sp>
            <p:nvSpPr>
              <p:cNvPr id="227" name="Rounded Rectangle 226"/>
              <p:cNvSpPr/>
              <p:nvPr/>
            </p:nvSpPr>
            <p:spPr>
              <a:xfrm>
                <a:off x="5465499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8" name="Rounded Rectangle 227"/>
              <p:cNvSpPr/>
              <p:nvPr/>
            </p:nvSpPr>
            <p:spPr>
              <a:xfrm>
                <a:off x="5470071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9" name="TextBox 228"/>
              <p:cNvSpPr txBox="1"/>
              <p:nvPr/>
            </p:nvSpPr>
            <p:spPr>
              <a:xfrm>
                <a:off x="5534079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Validation &amp; Acceptance Gates</a:t>
                </a:r>
              </a:p>
            </p:txBody>
          </p:sp>
          <p:sp>
            <p:nvSpPr>
              <p:cNvPr id="230" name="Oval 229"/>
              <p:cNvSpPr/>
              <p:nvPr/>
            </p:nvSpPr>
            <p:spPr>
              <a:xfrm>
                <a:off x="5538651" y="5031943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1" name="TextBox 230"/>
              <p:cNvSpPr txBox="1"/>
              <p:nvPr/>
            </p:nvSpPr>
            <p:spPr>
              <a:xfrm>
                <a:off x="5703243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Grid-Agent</a:t>
                </a:r>
              </a:p>
            </p:txBody>
          </p:sp>
          <p:sp>
            <p:nvSpPr>
              <p:cNvPr id="232" name="Oval 231"/>
              <p:cNvSpPr/>
              <p:nvPr/>
            </p:nvSpPr>
            <p:spPr>
              <a:xfrm>
                <a:off x="5538651" y="5201107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3" name="TextBox 232"/>
              <p:cNvSpPr txBox="1"/>
              <p:nvPr/>
            </p:nvSpPr>
            <p:spPr>
              <a:xfrm>
                <a:off x="5703243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HydroAgent</a:t>
                </a:r>
              </a:p>
            </p:txBody>
          </p:sp>
          <p:sp>
            <p:nvSpPr>
              <p:cNvPr id="234" name="Oval 233"/>
              <p:cNvSpPr/>
              <p:nvPr/>
            </p:nvSpPr>
            <p:spPr>
              <a:xfrm>
                <a:off x="5538651" y="5370271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5" name="TextBox 234"/>
              <p:cNvSpPr txBox="1"/>
              <p:nvPr/>
            </p:nvSpPr>
            <p:spPr>
              <a:xfrm>
                <a:off x="5703243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t>Neuro-Agentic Control</a:t>
                </a:r>
              </a:p>
            </p:txBody>
          </p:sp>
          <p:sp>
            <p:nvSpPr>
              <p:cNvPr id="236" name="Oval 235"/>
              <p:cNvSpPr/>
              <p:nvPr/>
            </p:nvSpPr>
            <p:spPr>
              <a:xfrm>
                <a:off x="5538651" y="5539435"/>
                <a:ext cx="68580" cy="68580"/>
              </a:xfrm>
              <a:prstGeom prst="ellipse">
                <a:avLst/>
              </a:prstGeom>
              <a:solidFill>
                <a:srgbClr val="4686CC"/>
              </a:solidFill>
              <a:ln w="2540">
                <a:solidFill>
                  <a:srgbClr val="4686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7" name="TextBox 236"/>
              <p:cNvSpPr txBox="1"/>
              <p:nvPr/>
            </p:nvSpPr>
            <p:spPr>
              <a:xfrm>
                <a:off x="5703243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BatteryLake</a:t>
                </a:r>
              </a:p>
            </p:txBody>
          </p:sp>
          <p:cxnSp>
            <p:nvCxnSpPr>
              <p:cNvPr id="238" name="Connector 237"/>
              <p:cNvCxnSpPr/>
              <p:nvPr/>
            </p:nvCxnSpPr>
            <p:spPr>
              <a:xfrm>
                <a:off x="7121216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4" name="Harness dimension 5"/>
            <p:cNvGrpSpPr/>
            <p:nvPr/>
          </p:nvGrpSpPr>
          <p:grpSpPr>
            <a:xfrm>
              <a:off x="7198940" y="2450592"/>
              <a:ext cx="1660289" cy="3282696"/>
              <a:chOff x="7198940" y="2450592"/>
              <a:chExt cx="1660289" cy="3282696"/>
            </a:xfrm>
          </p:grpSpPr>
          <p:sp>
            <p:nvSpPr>
              <p:cNvPr id="239" name="Oval 238"/>
              <p:cNvSpPr/>
              <p:nvPr/>
            </p:nvSpPr>
            <p:spPr>
              <a:xfrm>
                <a:off x="7253804" y="2459736"/>
                <a:ext cx="283464" cy="283464"/>
              </a:xfrm>
              <a:prstGeom prst="ellipse">
                <a:avLst/>
              </a:prstGeom>
              <a:solidFill>
                <a:srgbClr val="9150D3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0" name="TextBox 239"/>
              <p:cNvSpPr txBox="1"/>
              <p:nvPr/>
            </p:nvSpPr>
            <p:spPr>
              <a:xfrm>
                <a:off x="7290380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5</a:t>
                </a:r>
              </a:p>
            </p:txBody>
          </p:sp>
          <p:sp>
            <p:nvSpPr>
              <p:cNvPr id="241" name="TextBox 240"/>
              <p:cNvSpPr txBox="1"/>
              <p:nvPr/>
            </p:nvSpPr>
            <p:spPr>
              <a:xfrm>
                <a:off x="7619564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Planning &amp;</a:t>
                </a:r>
                <a:br/>
                <a:r>
                  <a:t>Workflow</a:t>
                </a:r>
              </a:p>
            </p:txBody>
          </p:sp>
          <p:sp>
            <p:nvSpPr>
              <p:cNvPr id="252" name="Rounded Rectangle 251"/>
              <p:cNvSpPr/>
              <p:nvPr/>
            </p:nvSpPr>
            <p:spPr>
              <a:xfrm>
                <a:off x="7198940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3" name="Rounded Rectangle 252"/>
              <p:cNvSpPr/>
              <p:nvPr/>
            </p:nvSpPr>
            <p:spPr>
              <a:xfrm>
                <a:off x="7203512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4" name="TextBox 253"/>
              <p:cNvSpPr txBox="1"/>
              <p:nvPr/>
            </p:nvSpPr>
            <p:spPr>
              <a:xfrm>
                <a:off x="7267520" y="3615868"/>
                <a:ext cx="1504841" cy="13375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Workflow Construction</a:t>
                </a:r>
              </a:p>
            </p:txBody>
          </p:sp>
          <p:sp>
            <p:nvSpPr>
              <p:cNvPr id="255" name="Oval 254"/>
              <p:cNvSpPr/>
              <p:nvPr/>
            </p:nvSpPr>
            <p:spPr>
              <a:xfrm>
                <a:off x="7272092" y="3916375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6" name="TextBox 255"/>
              <p:cNvSpPr txBox="1"/>
              <p:nvPr/>
            </p:nvSpPr>
            <p:spPr>
              <a:xfrm>
                <a:off x="7436684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ClimateAgent</a:t>
                </a:r>
              </a:p>
            </p:txBody>
          </p:sp>
          <p:sp>
            <p:nvSpPr>
              <p:cNvPr id="257" name="Oval 256"/>
              <p:cNvSpPr/>
              <p:nvPr/>
            </p:nvSpPr>
            <p:spPr>
              <a:xfrm>
                <a:off x="7272092" y="4087368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7436684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DCATS</a:t>
                </a:r>
              </a:p>
            </p:txBody>
          </p:sp>
          <p:sp>
            <p:nvSpPr>
              <p:cNvPr id="259" name="Oval 258"/>
              <p:cNvSpPr/>
              <p:nvPr/>
            </p:nvSpPr>
            <p:spPr>
              <a:xfrm>
                <a:off x="7272092" y="4258360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0" name="TextBox 259"/>
              <p:cNvSpPr txBox="1"/>
              <p:nvPr/>
            </p:nvSpPr>
            <p:spPr>
              <a:xfrm>
                <a:off x="7436684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MOSAIC</a:t>
                </a:r>
              </a:p>
            </p:txBody>
          </p:sp>
          <p:sp>
            <p:nvSpPr>
              <p:cNvPr id="261" name="Oval 260"/>
              <p:cNvSpPr/>
              <p:nvPr/>
            </p:nvSpPr>
            <p:spPr>
              <a:xfrm>
                <a:off x="7272092" y="4429353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2" name="TextBox 261"/>
              <p:cNvSpPr txBox="1"/>
              <p:nvPr/>
            </p:nvSpPr>
            <p:spPr>
              <a:xfrm>
                <a:off x="7436684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Nexus</a:t>
                </a:r>
              </a:p>
            </p:txBody>
          </p:sp>
          <p:sp>
            <p:nvSpPr>
              <p:cNvPr id="263" name="Rounded Rectangle 262"/>
              <p:cNvSpPr/>
              <p:nvPr/>
            </p:nvSpPr>
            <p:spPr>
              <a:xfrm>
                <a:off x="7198940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4" name="Rounded Rectangle 263"/>
              <p:cNvSpPr/>
              <p:nvPr/>
            </p:nvSpPr>
            <p:spPr>
              <a:xfrm>
                <a:off x="7203512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5" name="TextBox 264"/>
              <p:cNvSpPr txBox="1"/>
              <p:nvPr/>
            </p:nvSpPr>
            <p:spPr>
              <a:xfrm>
                <a:off x="7267520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Operational Analysis</a:t>
                </a:r>
                <a:br/>
                <a:r>
                  <a:t>Pipelines</a:t>
                </a:r>
              </a:p>
            </p:txBody>
          </p:sp>
          <p:sp>
            <p:nvSpPr>
              <p:cNvPr id="266" name="Oval 265"/>
              <p:cNvSpPr/>
              <p:nvPr/>
            </p:nvSpPr>
            <p:spPr>
              <a:xfrm>
                <a:off x="7272092" y="5031943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7" name="TextBox 266"/>
              <p:cNvSpPr txBox="1"/>
              <p:nvPr/>
            </p:nvSpPr>
            <p:spPr>
              <a:xfrm>
                <a:off x="7436684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855" b="0">
                    <a:solidFill>
                      <a:srgbClr val="0D204B"/>
                    </a:solidFill>
                    <a:latin typeface="Arial Narrow"/>
                  </a:defRPr>
                </a:pPr>
                <a:r>
                  <a:t>HFMD Structured Agents</a:t>
                </a:r>
              </a:p>
            </p:txBody>
          </p:sp>
          <p:sp>
            <p:nvSpPr>
              <p:cNvPr id="268" name="Oval 267"/>
              <p:cNvSpPr/>
              <p:nvPr/>
            </p:nvSpPr>
            <p:spPr>
              <a:xfrm>
                <a:off x="7272092" y="5201107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9" name="TextBox 268"/>
              <p:cNvSpPr txBox="1"/>
              <p:nvPr/>
            </p:nvSpPr>
            <p:spPr>
              <a:xfrm>
                <a:off x="7436684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SIREN</a:t>
                </a:r>
              </a:p>
            </p:txBody>
          </p:sp>
          <p:sp>
            <p:nvSpPr>
              <p:cNvPr id="270" name="Oval 269"/>
              <p:cNvSpPr/>
              <p:nvPr/>
            </p:nvSpPr>
            <p:spPr>
              <a:xfrm>
                <a:off x="7272092" y="5370271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1" name="TextBox 270"/>
              <p:cNvSpPr txBox="1"/>
              <p:nvPr/>
            </p:nvSpPr>
            <p:spPr>
              <a:xfrm>
                <a:off x="7436684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Smart Energy Agent</a:t>
                </a:r>
              </a:p>
            </p:txBody>
          </p:sp>
          <p:sp>
            <p:nvSpPr>
              <p:cNvPr id="272" name="Oval 271"/>
              <p:cNvSpPr/>
              <p:nvPr/>
            </p:nvSpPr>
            <p:spPr>
              <a:xfrm>
                <a:off x="7272092" y="5539435"/>
                <a:ext cx="68580" cy="68580"/>
              </a:xfrm>
              <a:prstGeom prst="ellipse">
                <a:avLst/>
              </a:prstGeom>
              <a:solidFill>
                <a:srgbClr val="9150D3"/>
              </a:solidFill>
              <a:ln w="2540">
                <a:solidFill>
                  <a:srgbClr val="9150D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3" name="TextBox 272"/>
              <p:cNvSpPr txBox="1"/>
              <p:nvPr/>
            </p:nvSpPr>
            <p:spPr>
              <a:xfrm>
                <a:off x="7436684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S2S-FDD</a:t>
                </a:r>
              </a:p>
            </p:txBody>
          </p:sp>
          <p:cxnSp>
            <p:nvCxnSpPr>
              <p:cNvPr id="274" name="Connector 273"/>
              <p:cNvCxnSpPr/>
              <p:nvPr/>
            </p:nvCxnSpPr>
            <p:spPr>
              <a:xfrm>
                <a:off x="8854657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5" name="Harness dimension 6"/>
            <p:cNvGrpSpPr/>
            <p:nvPr/>
          </p:nvGrpSpPr>
          <p:grpSpPr>
            <a:xfrm>
              <a:off x="8932381" y="2450592"/>
              <a:ext cx="1660289" cy="3282696"/>
              <a:chOff x="8932381" y="2450592"/>
              <a:chExt cx="1660289" cy="3282696"/>
            </a:xfrm>
          </p:grpSpPr>
          <p:sp>
            <p:nvSpPr>
              <p:cNvPr id="275" name="Oval 274"/>
              <p:cNvSpPr/>
              <p:nvPr/>
            </p:nvSpPr>
            <p:spPr>
              <a:xfrm>
                <a:off x="8987245" y="2459736"/>
                <a:ext cx="283464" cy="283464"/>
              </a:xfrm>
              <a:prstGeom prst="ellipse">
                <a:avLst/>
              </a:prstGeom>
              <a:solidFill>
                <a:srgbClr val="C54D3D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6" name="TextBox 275"/>
              <p:cNvSpPr txBox="1"/>
              <p:nvPr/>
            </p:nvSpPr>
            <p:spPr>
              <a:xfrm>
                <a:off x="9023821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6</a:t>
                </a:r>
              </a:p>
            </p:txBody>
          </p:sp>
          <p:sp>
            <p:nvSpPr>
              <p:cNvPr id="277" name="TextBox 276"/>
              <p:cNvSpPr txBox="1"/>
              <p:nvPr/>
            </p:nvSpPr>
            <p:spPr>
              <a:xfrm>
                <a:off x="9353005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Optimization &amp;</a:t>
                </a:r>
                <a:br/>
                <a:r>
                  <a:t>Evolution</a:t>
                </a:r>
              </a:p>
            </p:txBody>
          </p:sp>
          <p:sp>
            <p:nvSpPr>
              <p:cNvPr id="297" name="Rounded Rectangle 296"/>
              <p:cNvSpPr/>
              <p:nvPr/>
            </p:nvSpPr>
            <p:spPr>
              <a:xfrm>
                <a:off x="8932381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8" name="Rounded Rectangle 297"/>
              <p:cNvSpPr/>
              <p:nvPr/>
            </p:nvSpPr>
            <p:spPr>
              <a:xfrm>
                <a:off x="8936953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9" name="TextBox 298"/>
              <p:cNvSpPr txBox="1"/>
              <p:nvPr/>
            </p:nvSpPr>
            <p:spPr>
              <a:xfrm>
                <a:off x="9000961" y="3548991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Reflection &amp; Experience Updates</a:t>
                </a:r>
              </a:p>
            </p:txBody>
          </p:sp>
          <p:sp>
            <p:nvSpPr>
              <p:cNvPr id="300" name="Oval 299"/>
              <p:cNvSpPr/>
              <p:nvPr/>
            </p:nvSpPr>
            <p:spPr>
              <a:xfrm>
                <a:off x="9005533" y="3916375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9170125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TimeClaw-EEL</a:t>
                </a:r>
              </a:p>
            </p:txBody>
          </p:sp>
          <p:sp>
            <p:nvSpPr>
              <p:cNvPr id="302" name="Oval 301"/>
              <p:cNvSpPr/>
              <p:nvPr/>
            </p:nvSpPr>
            <p:spPr>
              <a:xfrm>
                <a:off x="9005533" y="4087368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3" name="TextBox 302"/>
              <p:cNvSpPr txBox="1"/>
              <p:nvPr/>
            </p:nvSpPr>
            <p:spPr>
              <a:xfrm>
                <a:off x="9170125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FLAIRR-TS</a:t>
                </a:r>
              </a:p>
            </p:txBody>
          </p:sp>
          <p:sp>
            <p:nvSpPr>
              <p:cNvPr id="304" name="Oval 303"/>
              <p:cNvSpPr/>
              <p:nvPr/>
            </p:nvSpPr>
            <p:spPr>
              <a:xfrm>
                <a:off x="9005533" y="4258360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5" name="TextBox 304"/>
              <p:cNvSpPr txBox="1"/>
              <p:nvPr/>
            </p:nvSpPr>
            <p:spPr>
              <a:xfrm>
                <a:off x="9170125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CastFSR</a:t>
                </a:r>
              </a:p>
            </p:txBody>
          </p:sp>
          <p:sp>
            <p:nvSpPr>
              <p:cNvPr id="306" name="Oval 305"/>
              <p:cNvSpPr/>
              <p:nvPr/>
            </p:nvSpPr>
            <p:spPr>
              <a:xfrm>
                <a:off x="9005533" y="4429353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7" name="TextBox 306"/>
              <p:cNvSpPr txBox="1"/>
              <p:nvPr/>
            </p:nvSpPr>
            <p:spPr>
              <a:xfrm>
                <a:off x="9170125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CRAFTER</a:t>
                </a:r>
              </a:p>
            </p:txBody>
          </p:sp>
          <p:sp>
            <p:nvSpPr>
              <p:cNvPr id="308" name="Rounded Rectangle 307"/>
              <p:cNvSpPr/>
              <p:nvPr/>
            </p:nvSpPr>
            <p:spPr>
              <a:xfrm>
                <a:off x="8932381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9" name="Rounded Rectangle 308"/>
              <p:cNvSpPr/>
              <p:nvPr/>
            </p:nvSpPr>
            <p:spPr>
              <a:xfrm>
                <a:off x="8936953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0" name="TextBox 309"/>
              <p:cNvSpPr txBox="1"/>
              <p:nvPr/>
            </p:nvSpPr>
            <p:spPr>
              <a:xfrm>
                <a:off x="9000961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Search &amp; Adaptive</a:t>
                </a:r>
                <a:br/>
                <a:r>
                  <a:t>Optimization</a:t>
                </a:r>
              </a:p>
            </p:txBody>
          </p:sp>
          <p:sp>
            <p:nvSpPr>
              <p:cNvPr id="311" name="Oval 310"/>
              <p:cNvSpPr/>
              <p:nvPr/>
            </p:nvSpPr>
            <p:spPr>
              <a:xfrm>
                <a:off x="9005533" y="5031943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2" name="TextBox 311"/>
              <p:cNvSpPr txBox="1"/>
              <p:nvPr/>
            </p:nvSpPr>
            <p:spPr>
              <a:xfrm>
                <a:off x="9170125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MetaCaster</a:t>
                </a:r>
              </a:p>
            </p:txBody>
          </p:sp>
          <p:sp>
            <p:nvSpPr>
              <p:cNvPr id="313" name="Oval 312"/>
              <p:cNvSpPr/>
              <p:nvPr/>
            </p:nvSpPr>
            <p:spPr>
              <a:xfrm>
                <a:off x="9005533" y="5201107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4" name="TextBox 313"/>
              <p:cNvSpPr txBox="1"/>
              <p:nvPr/>
            </p:nvSpPr>
            <p:spPr>
              <a:xfrm>
                <a:off x="9170125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EvoTS-Agent</a:t>
                </a:r>
              </a:p>
            </p:txBody>
          </p:sp>
          <p:sp>
            <p:nvSpPr>
              <p:cNvPr id="315" name="Oval 314"/>
              <p:cNvSpPr/>
              <p:nvPr/>
            </p:nvSpPr>
            <p:spPr>
              <a:xfrm>
                <a:off x="9005533" y="5370271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6" name="TextBox 315"/>
              <p:cNvSpPr txBox="1"/>
              <p:nvPr/>
            </p:nvSpPr>
            <p:spPr>
              <a:xfrm>
                <a:off x="9170125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MarsTSC</a:t>
                </a:r>
              </a:p>
            </p:txBody>
          </p:sp>
          <p:sp>
            <p:nvSpPr>
              <p:cNvPr id="317" name="Oval 316"/>
              <p:cNvSpPr/>
              <p:nvPr/>
            </p:nvSpPr>
            <p:spPr>
              <a:xfrm>
                <a:off x="9005533" y="5539435"/>
                <a:ext cx="68580" cy="68580"/>
              </a:xfrm>
              <a:prstGeom prst="ellipse">
                <a:avLst/>
              </a:prstGeom>
              <a:solidFill>
                <a:srgbClr val="C54D3D"/>
              </a:solidFill>
              <a:ln w="2540">
                <a:solidFill>
                  <a:srgbClr val="C54D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8" name="TextBox 317"/>
              <p:cNvSpPr txBox="1"/>
              <p:nvPr/>
            </p:nvSpPr>
            <p:spPr>
              <a:xfrm>
                <a:off x="9170125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ATLAS</a:t>
                </a:r>
              </a:p>
            </p:txBody>
          </p:sp>
          <p:cxnSp>
            <p:nvCxnSpPr>
              <p:cNvPr id="319" name="Connector 318"/>
              <p:cNvCxnSpPr/>
              <p:nvPr/>
            </p:nvCxnSpPr>
            <p:spPr>
              <a:xfrm>
                <a:off x="10588098" y="2450592"/>
                <a:ext cx="0" cy="3282696"/>
              </a:xfrm>
              <a:prstGeom prst="line">
                <a:avLst/>
              </a:prstGeom>
              <a:ln w="6985">
                <a:solidFill>
                  <a:srgbClr val="7F6F5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6" name="Harness dimension 7"/>
            <p:cNvGrpSpPr/>
            <p:nvPr/>
          </p:nvGrpSpPr>
          <p:grpSpPr>
            <a:xfrm>
              <a:off x="10665822" y="2459736"/>
              <a:ext cx="1660289" cy="3255264"/>
              <a:chOff x="10665822" y="2459736"/>
              <a:chExt cx="1660289" cy="3255264"/>
            </a:xfrm>
          </p:grpSpPr>
          <p:sp>
            <p:nvSpPr>
              <p:cNvPr id="320" name="Oval 319"/>
              <p:cNvSpPr/>
              <p:nvPr/>
            </p:nvSpPr>
            <p:spPr>
              <a:xfrm>
                <a:off x="10720686" y="2459736"/>
                <a:ext cx="283464" cy="283464"/>
              </a:xfrm>
              <a:prstGeom prst="ellipse">
                <a:avLst/>
              </a:prstGeom>
              <a:solidFill>
                <a:srgbClr val="1F909E"/>
              </a:solidFill>
              <a:ln w="635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1" name="TextBox 320"/>
              <p:cNvSpPr txBox="1"/>
              <p:nvPr/>
            </p:nvSpPr>
            <p:spPr>
              <a:xfrm>
                <a:off x="10757262" y="2496312"/>
                <a:ext cx="20116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1500" b="0">
                    <a:solidFill>
                      <a:srgbClr val="FFFFFF"/>
                    </a:solidFill>
                    <a:latin typeface="Georgia"/>
                  </a:defRPr>
                </a:pPr>
                <a:r>
                  <a:t>7</a:t>
                </a:r>
              </a:p>
            </p:txBody>
          </p:sp>
          <p:sp>
            <p:nvSpPr>
              <p:cNvPr id="322" name="TextBox 321"/>
              <p:cNvSpPr txBox="1"/>
              <p:nvPr/>
            </p:nvSpPr>
            <p:spPr>
              <a:xfrm>
                <a:off x="11086446" y="2459736"/>
                <a:ext cx="1239665" cy="4023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00" b="1">
                    <a:solidFill>
                      <a:srgbClr val="0D204B"/>
                    </a:solidFill>
                    <a:latin typeface="Georgia"/>
                  </a:defRPr>
                </a:pPr>
                <a:r>
                  <a:t>Coordination &amp;</a:t>
                </a:r>
                <a:br/>
                <a:r>
                  <a:t>Scaling</a:t>
                </a:r>
              </a:p>
            </p:txBody>
          </p:sp>
          <p:sp>
            <p:nvSpPr>
              <p:cNvPr id="336" name="Rounded Rectangle 335"/>
              <p:cNvSpPr/>
              <p:nvPr/>
            </p:nvSpPr>
            <p:spPr>
              <a:xfrm>
                <a:off x="10665822" y="3529584"/>
                <a:ext cx="1632857" cy="1078992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7" name="Rounded Rectangle 336"/>
              <p:cNvSpPr/>
              <p:nvPr/>
            </p:nvSpPr>
            <p:spPr>
              <a:xfrm>
                <a:off x="10670394" y="3529584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8" name="TextBox 337"/>
              <p:cNvSpPr txBox="1"/>
              <p:nvPr/>
            </p:nvSpPr>
            <p:spPr>
              <a:xfrm>
                <a:off x="10734402" y="3548991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Debate &amp; Evidence Aggregation</a:t>
                </a:r>
              </a:p>
            </p:txBody>
          </p:sp>
          <p:sp>
            <p:nvSpPr>
              <p:cNvPr id="339" name="Oval 338"/>
              <p:cNvSpPr/>
              <p:nvPr/>
            </p:nvSpPr>
            <p:spPr>
              <a:xfrm>
                <a:off x="10738974" y="3916375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0" name="TextBox 339"/>
              <p:cNvSpPr txBox="1"/>
              <p:nvPr/>
            </p:nvSpPr>
            <p:spPr>
              <a:xfrm>
                <a:off x="10903566" y="3872484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TS-Debate</a:t>
                </a:r>
              </a:p>
            </p:txBody>
          </p:sp>
          <p:sp>
            <p:nvSpPr>
              <p:cNvPr id="341" name="Oval 340"/>
              <p:cNvSpPr/>
              <p:nvPr/>
            </p:nvSpPr>
            <p:spPr>
              <a:xfrm>
                <a:off x="10738974" y="4087368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2" name="TextBox 341"/>
              <p:cNvSpPr txBox="1"/>
              <p:nvPr/>
            </p:nvSpPr>
            <p:spPr>
              <a:xfrm>
                <a:off x="10903566" y="4043476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MAS4TS</a:t>
                </a:r>
              </a:p>
            </p:txBody>
          </p:sp>
          <p:sp>
            <p:nvSpPr>
              <p:cNvPr id="343" name="Oval 342"/>
              <p:cNvSpPr/>
              <p:nvPr/>
            </p:nvSpPr>
            <p:spPr>
              <a:xfrm>
                <a:off x="10738974" y="4258360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4" name="TextBox 343"/>
              <p:cNvSpPr txBox="1"/>
              <p:nvPr/>
            </p:nvSpPr>
            <p:spPr>
              <a:xfrm>
                <a:off x="10903566" y="4214469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Competition Agents</a:t>
                </a:r>
              </a:p>
            </p:txBody>
          </p:sp>
          <p:sp>
            <p:nvSpPr>
              <p:cNvPr id="345" name="Oval 344"/>
              <p:cNvSpPr/>
              <p:nvPr/>
            </p:nvSpPr>
            <p:spPr>
              <a:xfrm>
                <a:off x="10738974" y="4429353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6" name="TextBox 345"/>
              <p:cNvSpPr txBox="1"/>
              <p:nvPr/>
            </p:nvSpPr>
            <p:spPr>
              <a:xfrm>
                <a:off x="10903566" y="4385462"/>
                <a:ext cx="1358537" cy="1938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FactorMAD</a:t>
                </a:r>
              </a:p>
            </p:txBody>
          </p:sp>
          <p:sp>
            <p:nvSpPr>
              <p:cNvPr id="347" name="Rounded Rectangle 346"/>
              <p:cNvSpPr/>
              <p:nvPr/>
            </p:nvSpPr>
            <p:spPr>
              <a:xfrm>
                <a:off x="10665822" y="4645152"/>
                <a:ext cx="1632857" cy="1069848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8255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8" name="Rounded Rectangle 347"/>
              <p:cNvSpPr/>
              <p:nvPr/>
            </p:nvSpPr>
            <p:spPr>
              <a:xfrm>
                <a:off x="10670394" y="4645152"/>
                <a:ext cx="1623713" cy="310896"/>
              </a:xfrm>
              <a:prstGeom prst="roundRect">
                <a:avLst>
                  <a:gd name="adj" fmla="val 8000"/>
                </a:avLst>
              </a:prstGeom>
              <a:solidFill>
                <a:srgbClr val="E5F5FB"/>
              </a:solidFill>
              <a:ln w="3810">
                <a:solidFill>
                  <a:srgbClr val="82828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9" name="TextBox 348"/>
              <p:cNvSpPr txBox="1"/>
              <p:nvPr/>
            </p:nvSpPr>
            <p:spPr>
              <a:xfrm>
                <a:off x="10734402" y="4664559"/>
                <a:ext cx="1504841" cy="26750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69" b="1">
                    <a:solidFill>
                      <a:srgbClr val="0D204B"/>
                    </a:solidFill>
                    <a:latin typeface="Georgia"/>
                  </a:defRPr>
                </a:pPr>
                <a:r>
                  <a:t>Coordinated</a:t>
                </a:r>
                <a:br/>
                <a:r>
                  <a:t>Decision Systems</a:t>
                </a:r>
              </a:p>
            </p:txBody>
          </p:sp>
          <p:sp>
            <p:nvSpPr>
              <p:cNvPr id="350" name="Oval 349"/>
              <p:cNvSpPr/>
              <p:nvPr/>
            </p:nvSpPr>
            <p:spPr>
              <a:xfrm>
                <a:off x="10738974" y="5031943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1" name="TextBox 350"/>
              <p:cNvSpPr txBox="1"/>
              <p:nvPr/>
            </p:nvSpPr>
            <p:spPr>
              <a:xfrm>
                <a:off x="10903566" y="4988052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FinCon</a:t>
                </a:r>
              </a:p>
            </p:txBody>
          </p:sp>
          <p:sp>
            <p:nvSpPr>
              <p:cNvPr id="352" name="Oval 351"/>
              <p:cNvSpPr/>
              <p:nvPr/>
            </p:nvSpPr>
            <p:spPr>
              <a:xfrm>
                <a:off x="10738974" y="5201107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3" name="TextBox 352"/>
              <p:cNvSpPr txBox="1"/>
              <p:nvPr/>
            </p:nvSpPr>
            <p:spPr>
              <a:xfrm>
                <a:off x="10903566" y="5157216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TradingAgents</a:t>
                </a:r>
              </a:p>
            </p:txBody>
          </p:sp>
          <p:sp>
            <p:nvSpPr>
              <p:cNvPr id="354" name="Oval 353"/>
              <p:cNvSpPr/>
              <p:nvPr/>
            </p:nvSpPr>
            <p:spPr>
              <a:xfrm>
                <a:off x="10738974" y="5370271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5" name="TextBox 354"/>
              <p:cNvSpPr txBox="1"/>
              <p:nvPr/>
            </p:nvSpPr>
            <p:spPr>
              <a:xfrm>
                <a:off x="10903566" y="5326380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CoLLMLight</a:t>
                </a:r>
              </a:p>
            </p:txBody>
          </p:sp>
          <p:sp>
            <p:nvSpPr>
              <p:cNvPr id="356" name="Oval 355"/>
              <p:cNvSpPr/>
              <p:nvPr/>
            </p:nvSpPr>
            <p:spPr>
              <a:xfrm>
                <a:off x="10738974" y="5539435"/>
                <a:ext cx="68580" cy="68580"/>
              </a:xfrm>
              <a:prstGeom prst="ellipse">
                <a:avLst/>
              </a:prstGeom>
              <a:solidFill>
                <a:srgbClr val="1F909E"/>
              </a:solidFill>
              <a:ln w="2540">
                <a:solidFill>
                  <a:srgbClr val="1F909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7" name="TextBox 356"/>
              <p:cNvSpPr txBox="1"/>
              <p:nvPr/>
            </p:nvSpPr>
            <p:spPr>
              <a:xfrm>
                <a:off x="10903566" y="5495544"/>
                <a:ext cx="1358537" cy="1920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5" b="0">
                    <a:solidFill>
                      <a:srgbClr val="0D204B"/>
                    </a:solidFill>
                    <a:latin typeface="Georgia"/>
                  </a:defRPr>
                </a:pPr>
                <a:r>
                  <a:t>Fin-Analyst</a:t>
                </a:r>
              </a:p>
            </p:txBody>
          </p:sp>
        </p:grpSp>
        <p:sp>
          <p:nvSpPr>
            <p:cNvPr id="358" name="Rounded Rectangle 357"/>
            <p:cNvSpPr/>
            <p:nvPr/>
          </p:nvSpPr>
          <p:spPr>
            <a:xfrm>
              <a:off x="128016" y="5934456"/>
              <a:ext cx="12326112" cy="768096"/>
            </a:xfrm>
            <a:prstGeom prst="roundRect">
              <a:avLst>
                <a:gd name="adj" fmla="val 8000"/>
              </a:avLst>
            </a:prstGeom>
            <a:solidFill>
              <a:srgbClr val="E5F5FB"/>
            </a:solidFill>
            <a:ln w="9525">
              <a:solidFill>
                <a:srgbClr val="377DC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17" name="Benchmarks and infrastructure"/>
            <p:cNvGrpSpPr/>
            <p:nvPr/>
          </p:nvGrpSpPr>
          <p:grpSpPr>
            <a:xfrm>
              <a:off x="310896" y="5980176"/>
              <a:ext cx="12756018" cy="698601"/>
              <a:chOff x="310896" y="5980176"/>
              <a:chExt cx="12756018" cy="698601"/>
            </a:xfrm>
          </p:grpSpPr>
          <p:sp>
            <p:nvSpPr>
              <p:cNvPr id="359" name="TextBox 358"/>
              <p:cNvSpPr txBox="1"/>
              <p:nvPr/>
            </p:nvSpPr>
            <p:spPr>
              <a:xfrm>
                <a:off x="310896" y="5989320"/>
                <a:ext cx="2724912" cy="2468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320" b="1">
                    <a:solidFill>
                      <a:srgbClr val="0D204B"/>
                    </a:solidFill>
                    <a:latin typeface="Georgia"/>
                  </a:defRPr>
                </a:pPr>
                <a:r>
                  <a:t>Evaluation &amp; Infrastructure</a:t>
                </a:r>
              </a:p>
            </p:txBody>
          </p:sp>
          <p:sp>
            <p:nvSpPr>
              <p:cNvPr id="360" name="TextBox 359"/>
              <p:cNvSpPr txBox="1"/>
              <p:nvPr/>
            </p:nvSpPr>
            <p:spPr>
              <a:xfrm>
                <a:off x="310896" y="6318504"/>
                <a:ext cx="2688336" cy="3108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80" b="0">
                    <a:solidFill>
                      <a:srgbClr val="0D204B"/>
                    </a:solidFill>
                    <a:latin typeface="Georgia"/>
                  </a:defRPr>
                </a:pPr>
                <a:r>
                  <a:t>Benchmarks, datasets, simulators and</a:t>
                </a:r>
                <a:br/>
                <a:r>
                  <a:t>task protocols for time-series agents</a:t>
                </a:r>
              </a:p>
            </p:txBody>
          </p:sp>
          <p:cxnSp>
            <p:nvCxnSpPr>
              <p:cNvPr id="361" name="Connector 360"/>
              <p:cNvCxnSpPr/>
              <p:nvPr/>
            </p:nvCxnSpPr>
            <p:spPr>
              <a:xfrm>
                <a:off x="3035808" y="5989320"/>
                <a:ext cx="0" cy="667512"/>
              </a:xfrm>
              <a:prstGeom prst="line">
                <a:avLst/>
              </a:prstGeom>
              <a:ln w="8255">
                <a:solidFill>
                  <a:srgbClr val="0D204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9" name="TextBox 368"/>
              <p:cNvSpPr txBox="1"/>
              <p:nvPr/>
            </p:nvSpPr>
            <p:spPr>
              <a:xfrm>
                <a:off x="4892889" y="5980176"/>
                <a:ext cx="4754880" cy="21031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140" b="1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/>
                  <a:t>Benchmarks &amp; Evaluation Resources</a:t>
                </a:r>
              </a:p>
            </p:txBody>
          </p:sp>
          <p:sp>
            <p:nvSpPr>
              <p:cNvPr id="370" name="Oval 369"/>
              <p:cNvSpPr/>
              <p:nvPr/>
            </p:nvSpPr>
            <p:spPr>
              <a:xfrm>
                <a:off x="4051152" y="6252667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1" name="TextBox 370"/>
              <p:cNvSpPr txBox="1"/>
              <p:nvPr/>
            </p:nvSpPr>
            <p:spPr>
              <a:xfrm>
                <a:off x="4215744" y="6208776"/>
                <a:ext cx="119786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TemporalBench</a:t>
                </a:r>
              </a:p>
            </p:txBody>
          </p:sp>
          <p:sp>
            <p:nvSpPr>
              <p:cNvPr id="372" name="Oval 371"/>
              <p:cNvSpPr/>
              <p:nvPr/>
            </p:nvSpPr>
            <p:spPr>
              <a:xfrm>
                <a:off x="4051152" y="6401714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3" name="TextBox 372"/>
              <p:cNvSpPr txBox="1"/>
              <p:nvPr/>
            </p:nvSpPr>
            <p:spPr>
              <a:xfrm>
                <a:off x="4215744" y="6357823"/>
                <a:ext cx="119786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TFRBench</a:t>
                </a:r>
              </a:p>
            </p:txBody>
          </p:sp>
          <p:sp>
            <p:nvSpPr>
              <p:cNvPr id="374" name="Oval 373"/>
              <p:cNvSpPr/>
              <p:nvPr/>
            </p:nvSpPr>
            <p:spPr>
              <a:xfrm>
                <a:off x="4051152" y="6550761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5" name="TextBox 374"/>
              <p:cNvSpPr txBox="1"/>
              <p:nvPr/>
            </p:nvSpPr>
            <p:spPr>
              <a:xfrm>
                <a:off x="4215744" y="6506870"/>
                <a:ext cx="119786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TraceBench</a:t>
                </a:r>
              </a:p>
            </p:txBody>
          </p:sp>
          <p:sp>
            <p:nvSpPr>
              <p:cNvPr id="376" name="Oval 375"/>
              <p:cNvSpPr/>
              <p:nvPr/>
            </p:nvSpPr>
            <p:spPr>
              <a:xfrm>
                <a:off x="5431896" y="6252667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7" name="TextBox 376"/>
              <p:cNvSpPr txBox="1"/>
              <p:nvPr/>
            </p:nvSpPr>
            <p:spPr>
              <a:xfrm>
                <a:off x="5596488" y="6208776"/>
                <a:ext cx="1179576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TSAQA</a:t>
                </a:r>
              </a:p>
            </p:txBody>
          </p:sp>
          <p:sp>
            <p:nvSpPr>
              <p:cNvPr id="378" name="Oval 377"/>
              <p:cNvSpPr/>
              <p:nvPr/>
            </p:nvSpPr>
            <p:spPr>
              <a:xfrm>
                <a:off x="5431896" y="6401714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9" name="TextBox 378"/>
              <p:cNvSpPr txBox="1"/>
              <p:nvPr/>
            </p:nvSpPr>
            <p:spPr>
              <a:xfrm>
                <a:off x="5596488" y="6357823"/>
                <a:ext cx="1179576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MMTS-Bench</a:t>
                </a:r>
              </a:p>
            </p:txBody>
          </p:sp>
          <p:sp>
            <p:nvSpPr>
              <p:cNvPr id="380" name="Oval 379"/>
              <p:cNvSpPr/>
              <p:nvPr/>
            </p:nvSpPr>
            <p:spPr>
              <a:xfrm>
                <a:off x="5431896" y="6550761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1" name="TextBox 380"/>
              <p:cNvSpPr txBox="1"/>
              <p:nvPr/>
            </p:nvSpPr>
            <p:spPr>
              <a:xfrm>
                <a:off x="5596488" y="6506870"/>
                <a:ext cx="1179576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TimeSeriesGym</a:t>
                </a:r>
              </a:p>
            </p:txBody>
          </p:sp>
          <p:sp>
            <p:nvSpPr>
              <p:cNvPr id="382" name="Oval 381"/>
              <p:cNvSpPr/>
              <p:nvPr/>
            </p:nvSpPr>
            <p:spPr>
              <a:xfrm>
                <a:off x="6794352" y="6252667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3" name="TextBox 382"/>
              <p:cNvSpPr txBox="1"/>
              <p:nvPr/>
            </p:nvSpPr>
            <p:spPr>
              <a:xfrm>
                <a:off x="6958944" y="6208776"/>
                <a:ext cx="1097280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TSQBench</a:t>
                </a:r>
              </a:p>
            </p:txBody>
          </p:sp>
          <p:sp>
            <p:nvSpPr>
              <p:cNvPr id="384" name="Oval 383"/>
              <p:cNvSpPr/>
              <p:nvPr/>
            </p:nvSpPr>
            <p:spPr>
              <a:xfrm>
                <a:off x="6794352" y="6401714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5" name="TextBox 384"/>
              <p:cNvSpPr txBox="1"/>
              <p:nvPr/>
            </p:nvSpPr>
            <p:spPr>
              <a:xfrm>
                <a:off x="6958944" y="6357823"/>
                <a:ext cx="1097280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TimeSage-MT</a:t>
                </a:r>
              </a:p>
            </p:txBody>
          </p:sp>
          <p:sp>
            <p:nvSpPr>
              <p:cNvPr id="386" name="Oval 385"/>
              <p:cNvSpPr/>
              <p:nvPr/>
            </p:nvSpPr>
            <p:spPr>
              <a:xfrm>
                <a:off x="6794352" y="6550761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7" name="TextBox 386"/>
              <p:cNvSpPr txBox="1"/>
              <p:nvPr/>
            </p:nvSpPr>
            <p:spPr>
              <a:xfrm>
                <a:off x="6958944" y="6506870"/>
                <a:ext cx="1097280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TS-Skill</a:t>
                </a:r>
              </a:p>
            </p:txBody>
          </p:sp>
          <p:sp>
            <p:nvSpPr>
              <p:cNvPr id="388" name="Oval 387"/>
              <p:cNvSpPr/>
              <p:nvPr/>
            </p:nvSpPr>
            <p:spPr>
              <a:xfrm>
                <a:off x="8074512" y="6252667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9" name="TextBox 388"/>
              <p:cNvSpPr txBox="1"/>
              <p:nvPr/>
            </p:nvSpPr>
            <p:spPr>
              <a:xfrm>
                <a:off x="8239103" y="6208776"/>
                <a:ext cx="138074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TimeSeriesExamAgent</a:t>
                </a:r>
              </a:p>
            </p:txBody>
          </p:sp>
          <p:sp>
            <p:nvSpPr>
              <p:cNvPr id="390" name="Oval 389"/>
              <p:cNvSpPr/>
              <p:nvPr/>
            </p:nvSpPr>
            <p:spPr>
              <a:xfrm>
                <a:off x="8074512" y="6401714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1" name="TextBox 390"/>
              <p:cNvSpPr txBox="1"/>
              <p:nvPr/>
            </p:nvSpPr>
            <p:spPr>
              <a:xfrm>
                <a:off x="8239103" y="6357823"/>
                <a:ext cx="138074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FutureSim</a:t>
                </a:r>
              </a:p>
            </p:txBody>
          </p:sp>
          <p:sp>
            <p:nvSpPr>
              <p:cNvPr id="392" name="Oval 391"/>
              <p:cNvSpPr/>
              <p:nvPr/>
            </p:nvSpPr>
            <p:spPr>
              <a:xfrm>
                <a:off x="8074512" y="6550761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3" name="TextBox 392"/>
              <p:cNvSpPr txBox="1"/>
              <p:nvPr/>
            </p:nvSpPr>
            <p:spPr>
              <a:xfrm>
                <a:off x="8239103" y="6506870"/>
                <a:ext cx="1380744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00" b="0">
                    <a:solidFill>
                      <a:srgbClr val="0D204B"/>
                    </a:solidFill>
                    <a:latin typeface="Georgia"/>
                  </a:defRPr>
                </a:pPr>
                <a:r>
                  <a:t>WorldReasoner</a:t>
                </a:r>
              </a:p>
            </p:txBody>
          </p:sp>
          <p:cxnSp>
            <p:nvCxnSpPr>
              <p:cNvPr id="394" name="Connector 393"/>
              <p:cNvCxnSpPr/>
              <p:nvPr/>
            </p:nvCxnSpPr>
            <p:spPr>
              <a:xfrm>
                <a:off x="9528429" y="5989320"/>
                <a:ext cx="0" cy="667512"/>
              </a:xfrm>
              <a:prstGeom prst="line">
                <a:avLst/>
              </a:prstGeom>
              <a:ln w="8255">
                <a:solidFill>
                  <a:srgbClr val="0D204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8" name="TextBox 397"/>
              <p:cNvSpPr txBox="1"/>
              <p:nvPr/>
            </p:nvSpPr>
            <p:spPr>
              <a:xfrm>
                <a:off x="9930765" y="5987491"/>
                <a:ext cx="2340864" cy="16459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1060" b="1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/>
                  <a:t>Infrastructure &amp; Task Protocols</a:t>
                </a:r>
              </a:p>
            </p:txBody>
          </p:sp>
          <p:sp>
            <p:nvSpPr>
              <p:cNvPr id="399" name="Oval 398"/>
              <p:cNvSpPr/>
              <p:nvPr/>
            </p:nvSpPr>
            <p:spPr>
              <a:xfrm>
                <a:off x="11091810" y="6252667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0" name="TextBox 399"/>
              <p:cNvSpPr txBox="1"/>
              <p:nvPr/>
            </p:nvSpPr>
            <p:spPr>
              <a:xfrm>
                <a:off x="11256402" y="6208776"/>
                <a:ext cx="1810512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0" b="0">
                    <a:solidFill>
                      <a:srgbClr val="0D204B"/>
                    </a:solidFill>
                    <a:latin typeface="Georgia"/>
                  </a:defRPr>
                </a:pPr>
                <a:r>
                  <a:t>AION</a:t>
                </a:r>
              </a:p>
            </p:txBody>
          </p:sp>
          <p:sp>
            <p:nvSpPr>
              <p:cNvPr id="401" name="Oval 400"/>
              <p:cNvSpPr/>
              <p:nvPr/>
            </p:nvSpPr>
            <p:spPr>
              <a:xfrm>
                <a:off x="11091810" y="6401714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2" name="TextBox 401"/>
              <p:cNvSpPr txBox="1"/>
              <p:nvPr/>
            </p:nvSpPr>
            <p:spPr>
              <a:xfrm>
                <a:off x="11256402" y="6357823"/>
                <a:ext cx="1810512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0" b="0">
                    <a:solidFill>
                      <a:srgbClr val="0D204B"/>
                    </a:solidFill>
                    <a:latin typeface="Georgia"/>
                  </a:defRPr>
                </a:pPr>
                <a:r>
                  <a:rPr dirty="0" err="1"/>
                  <a:t>ModernTSF</a:t>
                </a:r>
                <a:endParaRPr dirty="0"/>
              </a:p>
            </p:txBody>
          </p:sp>
          <p:sp>
            <p:nvSpPr>
              <p:cNvPr id="403" name="Oval 402"/>
              <p:cNvSpPr/>
              <p:nvPr/>
            </p:nvSpPr>
            <p:spPr>
              <a:xfrm>
                <a:off x="11091810" y="6550761"/>
                <a:ext cx="68580" cy="68580"/>
              </a:xfrm>
              <a:prstGeom prst="ellipse">
                <a:avLst/>
              </a:prstGeom>
              <a:solidFill>
                <a:srgbClr val="377DC8"/>
              </a:solidFill>
              <a:ln w="2540">
                <a:solidFill>
                  <a:srgbClr val="377D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4" name="TextBox 403"/>
              <p:cNvSpPr txBox="1"/>
              <p:nvPr/>
            </p:nvSpPr>
            <p:spPr>
              <a:xfrm>
                <a:off x="11256402" y="6506870"/>
                <a:ext cx="1810512" cy="1719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defRPr sz="930" b="0">
                    <a:solidFill>
                      <a:srgbClr val="0D204B"/>
                    </a:solidFill>
                    <a:latin typeface="Georgia"/>
                  </a:defRPr>
                </a:pPr>
                <a:r>
                  <a:t>TimeClaw-Harness</a:t>
                </a:r>
              </a:p>
            </p:txBody>
          </p:sp>
        </p:grpSp>
        <p:grpSp>
          <p:nvGrpSpPr>
            <p:cNvPr id="418" name="Frame and headings"/>
            <p:cNvGrpSpPr/>
            <p:nvPr/>
          </p:nvGrpSpPr>
          <p:grpSpPr>
            <a:xfrm>
              <a:off x="128016" y="6766560"/>
              <a:ext cx="12326112" cy="210312"/>
              <a:chOff x="128016" y="6766560"/>
              <a:chExt cx="12326112" cy="210312"/>
            </a:xfrm>
          </p:grpSpPr>
          <p:sp>
            <p:nvSpPr>
              <p:cNvPr id="405" name="Rounded Rectangle 404"/>
              <p:cNvSpPr/>
              <p:nvPr/>
            </p:nvSpPr>
            <p:spPr>
              <a:xfrm>
                <a:off x="128016" y="6766560"/>
                <a:ext cx="12326112" cy="210312"/>
              </a:xfrm>
              <a:prstGeom prst="roundRect">
                <a:avLst>
                  <a:gd name="adj" fmla="val 8000"/>
                </a:avLst>
              </a:prstGeom>
              <a:solidFill>
                <a:srgbClr val="F8F9FA"/>
              </a:solidFill>
              <a:ln w="7620">
                <a:solidFill>
                  <a:srgbClr val="0D20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6" name="TextBox 405"/>
              <p:cNvSpPr txBox="1"/>
              <p:nvPr/>
            </p:nvSpPr>
            <p:spPr>
              <a:xfrm>
                <a:off x="274320" y="6780276"/>
                <a:ext cx="12051792" cy="17373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defRPr sz="835" b="0">
                    <a:solidFill>
                      <a:srgbClr val="0D204B"/>
                    </a:solidFill>
                    <a:latin typeface="Georgia"/>
                  </a:defRPr>
                </a:pPr>
                <a:r>
                  <a:t>Selected works grouped by relevant contributions. Subgroups provide descriptive reading aids; placements highlight selected mechanisms rather than exclusive paper categories.</a:t>
                </a:r>
              </a:p>
            </p:txBody>
          </p:sp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79AA94A-F834-4E06-ACEE-E9089453D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746" t="79525" r="65203" b="1960"/>
            <a:stretch/>
          </p:blipFill>
          <p:spPr>
            <a:xfrm>
              <a:off x="10777644" y="2947350"/>
              <a:ext cx="1409211" cy="503945"/>
            </a:xfrm>
            <a:prstGeom prst="rect">
              <a:avLst/>
            </a:prstGeom>
          </p:spPr>
        </p:pic>
        <p:grpSp>
          <p:nvGrpSpPr>
            <p:cNvPr id="419" name="LLM contributions"/>
            <p:cNvGrpSpPr/>
            <p:nvPr/>
          </p:nvGrpSpPr>
          <p:grpSpPr>
            <a:xfrm>
              <a:off x="2423160" y="1020362"/>
              <a:ext cx="7270933" cy="855464"/>
              <a:chOff x="2423160" y="1020362"/>
              <a:chExt cx="7270933" cy="855464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B6B322C4-B305-4C84-B7C8-7105B8ED4A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428" t="8528" r="49689" b="69781"/>
              <a:stretch/>
            </p:blipFill>
            <p:spPr>
              <a:xfrm>
                <a:off x="2423160" y="1040587"/>
                <a:ext cx="2645610" cy="704088"/>
              </a:xfrm>
              <a:prstGeom prst="rect">
                <a:avLst/>
              </a:prstGeom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19D7ED79-22C8-466C-9D37-4D96F4FB4E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52497" t="7871" b="68840"/>
              <a:stretch/>
            </p:blipFill>
            <p:spPr>
              <a:xfrm>
                <a:off x="6745278" y="1020362"/>
                <a:ext cx="2948815" cy="855464"/>
              </a:xfrm>
              <a:prstGeom prst="rect">
                <a:avLst/>
              </a:prstGeom>
            </p:spPr>
          </p:pic>
        </p:grp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A2BC3EA6-D59C-44B6-B253-E55C0DF442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248" t="34499" r="65876" b="44626"/>
            <a:stretch/>
          </p:blipFill>
          <p:spPr>
            <a:xfrm>
              <a:off x="324612" y="2826678"/>
              <a:ext cx="1568849" cy="616180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E93BEB4-0E3C-4EB2-BEC4-D5C4239B29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4839" t="34459" r="34516" b="46526"/>
            <a:stretch/>
          </p:blipFill>
          <p:spPr>
            <a:xfrm>
              <a:off x="2083006" y="2879248"/>
              <a:ext cx="1475934" cy="549301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32350E06-B910-4899-A2E2-8DFC3C7580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305" t="35101" b="44418"/>
            <a:stretch/>
          </p:blipFill>
          <p:spPr>
            <a:xfrm>
              <a:off x="3731721" y="2916097"/>
              <a:ext cx="1651483" cy="602055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800D4F88-7472-4831-9DA0-AA7EF32612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4679" t="58527" r="32579" b="22558"/>
            <a:stretch/>
          </p:blipFill>
          <p:spPr>
            <a:xfrm>
              <a:off x="7209163" y="2903050"/>
              <a:ext cx="1607654" cy="557039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50FFD04A-554E-4934-BCA6-0A9FAC5C76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760" t="57023" b="21751"/>
            <a:stretch/>
          </p:blipFill>
          <p:spPr>
            <a:xfrm>
              <a:off x="8889686" y="2874608"/>
              <a:ext cx="1702984" cy="652235"/>
            </a:xfrm>
            <a:prstGeom prst="rect">
              <a:avLst/>
            </a:prstGeom>
          </p:spPr>
        </p:pic>
        <p:grpSp>
          <p:nvGrpSpPr>
            <p:cNvPr id="420" name="Benchmarks and infrastructure"/>
            <p:cNvGrpSpPr/>
            <p:nvPr/>
          </p:nvGrpSpPr>
          <p:grpSpPr>
            <a:xfrm>
              <a:off x="3138058" y="6207397"/>
              <a:ext cx="7845526" cy="411944"/>
              <a:chOff x="3138058" y="6207397"/>
              <a:chExt cx="7845526" cy="411944"/>
            </a:xfrm>
          </p:grpSpPr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048D872F-3B93-4F33-A980-F76EB4D8A8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9776" t="80984" r="36447" b="3653"/>
              <a:stretch/>
            </p:blipFill>
            <p:spPr>
              <a:xfrm>
                <a:off x="3138058" y="6223737"/>
                <a:ext cx="913825" cy="354126"/>
              </a:xfrm>
              <a:prstGeom prst="rect">
                <a:avLst/>
              </a:prstGeom>
            </p:spPr>
          </p:pic>
          <p:pic>
            <p:nvPicPr>
              <p:cNvPr id="40" name="图片 39">
                <a:extLst>
                  <a:ext uri="{FF2B5EF4-FFF2-40B4-BE49-F238E27FC236}">
                    <a16:creationId xmlns:a16="http://schemas.microsoft.com/office/drawing/2014/main" id="{576FE285-D9CD-4C3C-B03D-2020D6F0D2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7063" t="79525" r="3740" b="3457"/>
              <a:stretch/>
            </p:blipFill>
            <p:spPr>
              <a:xfrm>
                <a:off x="9805131" y="6207397"/>
                <a:ext cx="1178453" cy="411944"/>
              </a:xfrm>
              <a:prstGeom prst="rect">
                <a:avLst/>
              </a:prstGeom>
            </p:spPr>
          </p:pic>
        </p:grp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A6A9DAC0-85AE-456A-BA27-264FE57AD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05800" y="2843784"/>
              <a:ext cx="2185163" cy="7801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275</Words>
  <Application>Microsoft Macintosh PowerPoint</Application>
  <PresentationFormat>自定义</PresentationFormat>
  <Paragraphs>121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mmy z</dc:creator>
  <cp:keywords/>
  <dc:description>Icons: Ant Design Icons (MIT License), official iconfont collection; SVG source https://github.com/ant-design/ant-design-icons. All icons converted to editable PowerPoint shapes.</dc:description>
  <cp:lastModifiedBy>Jiaming Ma</cp:lastModifiedBy>
  <cp:revision>5</cp:revision>
  <dcterms:created xsi:type="dcterms:W3CDTF">2013-01-27T09:14:16Z</dcterms:created>
  <dcterms:modified xsi:type="dcterms:W3CDTF">2026-10-15T11:36:41Z</dcterms:modified>
  <cp:category/>
</cp:coreProperties>
</file>