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fec3f146bd3f4a39"/><Relationship Type="http://schemas.openxmlformats.org/officeDocument/2006/relationships/extended-properties" Target="/docProps/app.xml" Id="R776810b6aac14a6c"/><Relationship Type="http://schemas.openxmlformats.org/officeDocument/2006/relationships/officeDocument" Target="/ppt/presentation.xml" Id="Re8c528d6f6e94a15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fcf1ba79b4745"/>
  </p:sldMasterIdLst>
  <p:notesMasterIdLst>
    <p:notesMasterId xmlns:r="http://schemas.openxmlformats.org/officeDocument/2006/relationships" r:id="R00358bea3e8b4576"/>
  </p:notesMasterIdLst>
  <p:sldIdLst>
    <p:sldId xmlns:r="http://schemas.openxmlformats.org/officeDocument/2006/relationships" id="256" r:id="Re51bd6a9bf8d44a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dcef64d2403a483d"/><Relationship Type="http://schemas.openxmlformats.org/officeDocument/2006/relationships/slideMaster" Target="/ppt/slideMasters/slideMaster1.xml" Id="R676fcf1ba79b4745"/><Relationship Type="http://schemas.openxmlformats.org/officeDocument/2006/relationships/notesMaster" Target="/ppt/notesMasters/notesMaster1.xml" Id="R00358bea3e8b4576"/><Relationship Type="http://schemas.openxmlformats.org/officeDocument/2006/relationships/presProps" Target="/ppt/presProps.xml" Id="R54e743903b04497f"/><Relationship Type="http://schemas.openxmlformats.org/officeDocument/2006/relationships/tableStyles" Target="/ppt/tableStyles.xml" Id="R73ea81a0844b45c8"/><Relationship Type="http://schemas.openxmlformats.org/officeDocument/2006/relationships/slide" Target="/ppt/slides/slide1.xml" Id="Re51bd6a9bf8d44ab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b7ec02360be04565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85bc832c23654db5"/><Relationship Type="http://schemas.openxmlformats.org/officeDocument/2006/relationships/notesMaster" Target="/ppt/notesMasters/notesMaster1.xml" Id="Re03c13d4638f4305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reference: user-supplied Recursive Self-Improvement in AI survey organization map. Content follows the current Time-Series Agent survey section plan. All visual elements are native editable PowerPoint shapes and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99a9317cf07b437f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46ac8ff629314e0f"/><Relationship Type="http://schemas.openxmlformats.org/officeDocument/2006/relationships/slideLayout" Target="/ppt/slideLayouts/slideLayout1.xml" Id="R9447b9ac3515472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47b9ac3515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970004ac38d443b"/><Relationship Type="http://schemas.openxmlformats.org/officeDocument/2006/relationships/notesSlide" Target="/ppt/notesSlides/notesSlide1.xml" Id="R66d3aa34f5864a67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6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5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708DF1C8-FB2E-4C72-9D88-A97AE19D09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1050" y="400050"/>
              <a:ext cx="136779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Organization of the survey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DA30323F-3E47-40BA-B990-92DCB396A4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00100" y="828675"/>
              <a:ext cx="1352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sections follow the construction of a Time-Series Agent and the evidence needed to evaluate it.</a:t>
              </a:r>
            </a:p>
          </p:txBody>
        </p:sp>
      </p:grpSp>
      <p:grpSp>
        <p:nvGrpSpPr>
          <p:cNvPr id="77" name="group-survey-label-box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" name="survey-label-box">
              <a:extLst xmlns:a="http://schemas.openxmlformats.org/drawingml/2006/main">
                <a:ext uri="{FF2B5EF4-FFF2-40B4-BE49-F238E27FC236}">
                  <a16:creationId xmlns:a16="http://schemas.microsoft.com/office/drawing/2014/main" id="{F451D214-08DA-43BF-BCB9-8A7593B8A5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0050" y="3638550"/>
              <a:ext cx="2133600" cy="1847850"/>
            </a:xfrm>
            <a:prstGeom xmlns:a="http://schemas.openxmlformats.org/drawingml/2006/main" prst="roundRect">
              <a:avLst>
                <a:gd name="adj" fmla="val 9278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dash"/>
            </a:ln>
          </p:spPr>
        </p:sp>
        <p:sp>
          <p:nvSpPr>
            <p:cNvPr id="5" name="survey-label">
              <a:extLst xmlns:a="http://schemas.openxmlformats.org/drawingml/2006/main">
                <a:ext uri="{FF2B5EF4-FFF2-40B4-BE49-F238E27FC236}">
                  <a16:creationId xmlns:a16="http://schemas.microsoft.com/office/drawing/2014/main" id="{31F2BA4B-F4EC-438B-86E5-534CDD3030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3905250"/>
              <a:ext cx="1905000" cy="857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Time-Series</a:t>
              </a:r>
            </a:p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Agent</a:t>
              </a:r>
            </a:p>
            <a:p xmlns:a="http://schemas.openxmlformats.org/drawingml/2006/main">
              <a:pPr algn="ctr">
                <a:def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8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Survey</a:t>
              </a:r>
            </a:p>
          </p:txBody>
        </p:sp>
        <p:sp>
          <p:nvSpPr>
            <p:cNvPr id="6" name="survey-sublabel">
              <a:extLst xmlns:a="http://schemas.openxmlformats.org/drawingml/2006/main">
                <a:ext uri="{FF2B5EF4-FFF2-40B4-BE49-F238E27FC236}">
                  <a16:creationId xmlns:a16="http://schemas.microsoft.com/office/drawing/2014/main" id="{519FC601-7F6C-476E-95DA-6C8C3FCA73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14350" y="4857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reader's map</a:t>
              </a:r>
            </a:p>
          </p:txBody>
        </p:sp>
        <p:sp>
          <p:nvSpPr>
            <p:cNvPr id="7" name="survey-leader">
              <a:extLst xmlns:a="http://schemas.openxmlformats.org/drawingml/2006/main">
                <a:ext uri="{FF2B5EF4-FFF2-40B4-BE49-F238E27FC236}">
                  <a16:creationId xmlns:a16="http://schemas.microsoft.com/office/drawing/2014/main" id="{2FA4BE3F-7B1B-4948-ACF7-156F3EAC87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362200" y="4562475"/>
              <a:ext cx="4191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D6E8F"/>
              </a:solidFill>
              <a:prstDash val="solid"/>
            </a:ln>
          </p:spPr>
        </p:sp>
      </p:grpSp>
      <p:grpSp>
        <p:nvGrpSpPr>
          <p:cNvPr id="78" name="group-rail-dot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8" name="rail-dot-1">
              <a:extLst xmlns:a="http://schemas.openxmlformats.org/drawingml/2006/main">
                <a:ext uri="{FF2B5EF4-FFF2-40B4-BE49-F238E27FC236}">
                  <a16:creationId xmlns:a16="http://schemas.microsoft.com/office/drawing/2014/main" id="{E6F2BB86-2883-4206-A765-7FFBF3581B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152876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9" name="section-box-1">
              <a:extLst xmlns:a="http://schemas.openxmlformats.org/drawingml/2006/main">
                <a:ext uri="{FF2B5EF4-FFF2-40B4-BE49-F238E27FC236}">
                  <a16:creationId xmlns:a16="http://schemas.microsoft.com/office/drawing/2014/main" id="{3443EB3F-AB1B-4691-9745-937CC859B1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29540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dash"/>
            </a:ln>
          </p:spPr>
        </p:sp>
        <p:sp>
          <p:nvSpPr>
            <p:cNvPr id="10" name="section-number-1">
              <a:extLst xmlns:a="http://schemas.openxmlformats.org/drawingml/2006/main">
                <a:ext uri="{FF2B5EF4-FFF2-40B4-BE49-F238E27FC236}">
                  <a16:creationId xmlns:a16="http://schemas.microsoft.com/office/drawing/2014/main" id="{A644D295-3ACF-4868-9433-C19C346B9C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149542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1</a:t>
              </a:r>
            </a:p>
          </p:txBody>
        </p:sp>
        <p:sp>
          <p:nvSpPr>
            <p:cNvPr id="11" name="section-title-1">
              <a:extLst xmlns:a="http://schemas.openxmlformats.org/drawingml/2006/main">
                <a:ext uri="{FF2B5EF4-FFF2-40B4-BE49-F238E27FC236}">
                  <a16:creationId xmlns:a16="http://schemas.microsoft.com/office/drawing/2014/main" id="{5643E566-8DD8-4657-8344-746EFAD646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146685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Introduction</a:t>
              </a:r>
            </a:p>
          </p:txBody>
        </p:sp>
        <p:sp>
          <p:nvSpPr>
            <p:cNvPr id="12" name="topic-leader-1">
              <a:extLst xmlns:a="http://schemas.openxmlformats.org/drawingml/2006/main">
                <a:ext uri="{FF2B5EF4-FFF2-40B4-BE49-F238E27FC236}">
                  <a16:creationId xmlns:a16="http://schemas.microsoft.com/office/drawing/2014/main" id="{9D768C51-1135-4906-A053-B30525FFF9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159543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3" name="topic-box-1">
              <a:extLst xmlns:a="http://schemas.openxmlformats.org/drawingml/2006/main">
                <a:ext uri="{FF2B5EF4-FFF2-40B4-BE49-F238E27FC236}">
                  <a16:creationId xmlns:a16="http://schemas.microsoft.com/office/drawing/2014/main" id="{93334952-6EA2-480A-BEB2-7B2633DA56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129540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4" name="topic-text-1">
              <a:extLst xmlns:a="http://schemas.openxmlformats.org/drawingml/2006/main">
                <a:ext uri="{FF2B5EF4-FFF2-40B4-BE49-F238E27FC236}">
                  <a16:creationId xmlns:a16="http://schemas.microsoft.com/office/drawing/2014/main" id="{3521BCC0-7373-4687-A41A-1DEDD6E6090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148590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Scope, motivation, and central questions</a:t>
              </a:r>
            </a:p>
          </p:txBody>
        </p:sp>
      </p:grpSp>
      <p:grpSp>
        <p:nvGrpSpPr>
          <p:cNvPr id="79" name="group-rail-dot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5" name="rail-dot-2">
              <a:extLst xmlns:a="http://schemas.openxmlformats.org/drawingml/2006/main">
                <a:ext uri="{FF2B5EF4-FFF2-40B4-BE49-F238E27FC236}">
                  <a16:creationId xmlns:a16="http://schemas.microsoft.com/office/drawing/2014/main" id="{7B9E81F6-A66A-426E-B66E-AA780B83B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224313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16" name="section-box-2">
              <a:extLst xmlns:a="http://schemas.openxmlformats.org/drawingml/2006/main">
                <a:ext uri="{FF2B5EF4-FFF2-40B4-BE49-F238E27FC236}">
                  <a16:creationId xmlns:a16="http://schemas.microsoft.com/office/drawing/2014/main" id="{96E5A1DB-6943-473D-91A2-48E1DF4A2D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00977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dash"/>
            </a:ln>
          </p:spPr>
        </p:sp>
        <p:sp>
          <p:nvSpPr>
            <p:cNvPr id="17" name="section-number-2">
              <a:extLst xmlns:a="http://schemas.openxmlformats.org/drawingml/2006/main">
                <a:ext uri="{FF2B5EF4-FFF2-40B4-BE49-F238E27FC236}">
                  <a16:creationId xmlns:a16="http://schemas.microsoft.com/office/drawing/2014/main" id="{01962AFB-7B32-4FA3-ADE6-2145383264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220980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2</a:t>
              </a:r>
            </a:p>
          </p:txBody>
        </p:sp>
        <p:sp>
          <p:nvSpPr>
            <p:cNvPr id="18" name="section-title-2">
              <a:extLst xmlns:a="http://schemas.openxmlformats.org/drawingml/2006/main">
                <a:ext uri="{FF2B5EF4-FFF2-40B4-BE49-F238E27FC236}">
                  <a16:creationId xmlns:a16="http://schemas.microsoft.com/office/drawing/2014/main" id="{4811BF3F-8B3E-4735-A16B-FA9D16C1F0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218122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What Is a Time-Series Agent?</a:t>
              </a:r>
            </a:p>
          </p:txBody>
        </p:sp>
        <p:sp>
          <p:nvSpPr>
            <p:cNvPr id="19" name="topic-leader-2">
              <a:extLst xmlns:a="http://schemas.openxmlformats.org/drawingml/2006/main">
                <a:ext uri="{FF2B5EF4-FFF2-40B4-BE49-F238E27FC236}">
                  <a16:creationId xmlns:a16="http://schemas.microsoft.com/office/drawing/2014/main" id="{15707A1E-8AB1-4559-8221-B0FFD44807A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230981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20" name="topic-box-2">
              <a:extLst xmlns:a="http://schemas.openxmlformats.org/drawingml/2006/main">
                <a:ext uri="{FF2B5EF4-FFF2-40B4-BE49-F238E27FC236}">
                  <a16:creationId xmlns:a16="http://schemas.microsoft.com/office/drawing/2014/main" id="{BE8FB9B6-F62C-4D31-9A2B-49DF6D3F6C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200977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21" name="topic-text-2">
              <a:extLst xmlns:a="http://schemas.openxmlformats.org/drawingml/2006/main">
                <a:ext uri="{FF2B5EF4-FFF2-40B4-BE49-F238E27FC236}">
                  <a16:creationId xmlns:a16="http://schemas.microsoft.com/office/drawing/2014/main" id="{3DB5D309-4C51-4A8C-B7A2-A7C9019E46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220027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Construction layers and the paper-card unit</a:t>
              </a:r>
            </a:p>
          </p:txBody>
        </p:sp>
      </p:grpSp>
      <p:grpSp>
        <p:nvGrpSpPr>
          <p:cNvPr id="80" name="group-rail-dot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2" name="rail-dot-3">
              <a:extLst xmlns:a="http://schemas.openxmlformats.org/drawingml/2006/main">
                <a:ext uri="{FF2B5EF4-FFF2-40B4-BE49-F238E27FC236}">
                  <a16:creationId xmlns:a16="http://schemas.microsoft.com/office/drawing/2014/main" id="{AEF5D42C-BB49-42CD-B846-2895529A58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295751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3" name="section-box-3">
              <a:extLst xmlns:a="http://schemas.openxmlformats.org/drawingml/2006/main">
                <a:ext uri="{FF2B5EF4-FFF2-40B4-BE49-F238E27FC236}">
                  <a16:creationId xmlns:a16="http://schemas.microsoft.com/office/drawing/2014/main" id="{36D7585D-DE66-40AB-8B5B-7230C9F086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272415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24" name="section-number-3">
              <a:extLst xmlns:a="http://schemas.openxmlformats.org/drawingml/2006/main">
                <a:ext uri="{FF2B5EF4-FFF2-40B4-BE49-F238E27FC236}">
                  <a16:creationId xmlns:a16="http://schemas.microsoft.com/office/drawing/2014/main" id="{48387F88-9468-4542-9AB4-29DDBF234A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292417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3</a:t>
              </a:r>
            </a:p>
          </p:txBody>
        </p:sp>
        <p:sp>
          <p:nvSpPr>
            <p:cNvPr id="25" name="section-title-3">
              <a:extLst xmlns:a="http://schemas.openxmlformats.org/drawingml/2006/main">
                <a:ext uri="{FF2B5EF4-FFF2-40B4-BE49-F238E27FC236}">
                  <a16:creationId xmlns:a16="http://schemas.microsoft.com/office/drawing/2014/main" id="{A453F100-4DBE-4B12-BD3B-E97B19BA0F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289560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LLM-Side Contributions</a:t>
              </a:r>
            </a:p>
          </p:txBody>
        </p:sp>
        <p:sp>
          <p:nvSpPr>
            <p:cNvPr id="26" name="topic-leader-3">
              <a:extLst xmlns:a="http://schemas.openxmlformats.org/drawingml/2006/main">
                <a:ext uri="{FF2B5EF4-FFF2-40B4-BE49-F238E27FC236}">
                  <a16:creationId xmlns:a16="http://schemas.microsoft.com/office/drawing/2014/main" id="{4C05CFE1-E298-46B6-B3AE-86E738986C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302418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7" name="topic-box-3">
              <a:extLst xmlns:a="http://schemas.openxmlformats.org/drawingml/2006/main">
                <a:ext uri="{FF2B5EF4-FFF2-40B4-BE49-F238E27FC236}">
                  <a16:creationId xmlns:a16="http://schemas.microsoft.com/office/drawing/2014/main" id="{305A1F3D-2F13-4B0A-96C0-0E3D6DD4FD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272415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28" name="topic-text-3">
              <a:extLst xmlns:a="http://schemas.openxmlformats.org/drawingml/2006/main">
                <a:ext uri="{FF2B5EF4-FFF2-40B4-BE49-F238E27FC236}">
                  <a16:creationId xmlns:a16="http://schemas.microsoft.com/office/drawing/2014/main" id="{1929A3E1-D603-471D-8307-472D69AF15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291465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representation, alignment, and language reasoning</a:t>
              </a:r>
            </a:p>
          </p:txBody>
        </p:sp>
      </p:grpSp>
      <p:grpSp>
        <p:nvGrpSpPr>
          <p:cNvPr id="81" name="group-rail-dot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9" name="rail-dot-4">
              <a:extLst xmlns:a="http://schemas.openxmlformats.org/drawingml/2006/main">
                <a:ext uri="{FF2B5EF4-FFF2-40B4-BE49-F238E27FC236}">
                  <a16:creationId xmlns:a16="http://schemas.microsoft.com/office/drawing/2014/main" id="{E9F3F920-3101-47B7-94CE-426B310228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367188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0" name="section-box-4">
              <a:extLst xmlns:a="http://schemas.openxmlformats.org/drawingml/2006/main">
                <a:ext uri="{FF2B5EF4-FFF2-40B4-BE49-F238E27FC236}">
                  <a16:creationId xmlns:a16="http://schemas.microsoft.com/office/drawing/2014/main" id="{C1BC8B77-CA5A-4077-963D-2A66084249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343852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dash"/>
            </a:ln>
          </p:spPr>
        </p:sp>
        <p:sp>
          <p:nvSpPr>
            <p:cNvPr id="31" name="section-number-4">
              <a:extLst xmlns:a="http://schemas.openxmlformats.org/drawingml/2006/main">
                <a:ext uri="{FF2B5EF4-FFF2-40B4-BE49-F238E27FC236}">
                  <a16:creationId xmlns:a16="http://schemas.microsoft.com/office/drawing/2014/main" id="{0E9E2FE1-BA15-4566-9EB5-C2393A705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363855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4</a:t>
              </a:r>
            </a:p>
          </p:txBody>
        </p:sp>
        <p:sp>
          <p:nvSpPr>
            <p:cNvPr id="32" name="section-title-4">
              <a:extLst xmlns:a="http://schemas.openxmlformats.org/drawingml/2006/main">
                <a:ext uri="{FF2B5EF4-FFF2-40B4-BE49-F238E27FC236}">
                  <a16:creationId xmlns:a16="http://schemas.microsoft.com/office/drawing/2014/main" id="{97E6BE85-AB3A-495F-AA44-D13A09772B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360997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Harness</a:t>
              </a:r>
            </a:p>
          </p:txBody>
        </p:sp>
        <p:sp>
          <p:nvSpPr>
            <p:cNvPr id="33" name="topic-leader-4">
              <a:extLst xmlns:a="http://schemas.openxmlformats.org/drawingml/2006/main">
                <a:ext uri="{FF2B5EF4-FFF2-40B4-BE49-F238E27FC236}">
                  <a16:creationId xmlns:a16="http://schemas.microsoft.com/office/drawing/2014/main" id="{0FAEA5AF-3BFE-4CE9-9660-B0217A08B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373856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4" name="topic-box-4">
              <a:extLst xmlns:a="http://schemas.openxmlformats.org/drawingml/2006/main">
                <a:ext uri="{FF2B5EF4-FFF2-40B4-BE49-F238E27FC236}">
                  <a16:creationId xmlns:a16="http://schemas.microsoft.com/office/drawing/2014/main" id="{B86FC892-C56B-4CA3-BB79-A922901F0F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343852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5" name="topic-text-4">
              <a:extLst xmlns:a="http://schemas.openxmlformats.org/drawingml/2006/main">
                <a:ext uri="{FF2B5EF4-FFF2-40B4-BE49-F238E27FC236}">
                  <a16:creationId xmlns:a16="http://schemas.microsoft.com/office/drawing/2014/main" id="{8DAEED79-1E93-49A5-945E-7C0748649F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362902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Seven reusable runtime dimensions</a:t>
              </a:r>
            </a:p>
          </p:txBody>
        </p:sp>
      </p:grpSp>
      <p:grpSp>
        <p:nvGrpSpPr>
          <p:cNvPr id="82" name="group-rail-dot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6" name="rail-dot-5">
              <a:extLst xmlns:a="http://schemas.openxmlformats.org/drawingml/2006/main">
                <a:ext uri="{FF2B5EF4-FFF2-40B4-BE49-F238E27FC236}">
                  <a16:creationId xmlns:a16="http://schemas.microsoft.com/office/drawing/2014/main" id="{E30C4E69-5F5E-43AC-B63A-2693ABABAC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438626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37" name="section-box-5">
              <a:extLst xmlns:a="http://schemas.openxmlformats.org/drawingml/2006/main">
                <a:ext uri="{FF2B5EF4-FFF2-40B4-BE49-F238E27FC236}">
                  <a16:creationId xmlns:a16="http://schemas.microsoft.com/office/drawing/2014/main" id="{56A7830E-D464-48FD-A876-744B6DEDB5F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415290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9050">
              <a:solidFill>
                <a:srgbClr val="3E8167"/>
              </a:solidFill>
              <a:prstDash val="dash"/>
            </a:ln>
          </p:spPr>
        </p:sp>
        <p:sp>
          <p:nvSpPr>
            <p:cNvPr id="38" name="section-number-5">
              <a:extLst xmlns:a="http://schemas.openxmlformats.org/drawingml/2006/main">
                <a:ext uri="{FF2B5EF4-FFF2-40B4-BE49-F238E27FC236}">
                  <a16:creationId xmlns:a16="http://schemas.microsoft.com/office/drawing/2014/main" id="{D25A3B4B-08D5-46EF-8929-A546A885C9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435292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5</a:t>
              </a:r>
            </a:p>
          </p:txBody>
        </p:sp>
        <p:sp>
          <p:nvSpPr>
            <p:cNvPr id="39" name="section-title-5">
              <a:extLst xmlns:a="http://schemas.openxmlformats.org/drawingml/2006/main">
                <a:ext uri="{FF2B5EF4-FFF2-40B4-BE49-F238E27FC236}">
                  <a16:creationId xmlns:a16="http://schemas.microsoft.com/office/drawing/2014/main" id="{EC10927B-4F51-47B2-9BD0-712BBA8E47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432435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General Time-Series Harness</a:t>
              </a:r>
            </a:p>
          </p:txBody>
        </p:sp>
        <p:sp>
          <p:nvSpPr>
            <p:cNvPr id="40" name="topic-leader-5">
              <a:extLst xmlns:a="http://schemas.openxmlformats.org/drawingml/2006/main">
                <a:ext uri="{FF2B5EF4-FFF2-40B4-BE49-F238E27FC236}">
                  <a16:creationId xmlns:a16="http://schemas.microsoft.com/office/drawing/2014/main" id="{8AA8DFE5-DDFE-4C17-B6E1-DF345CEF5A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445293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1" name="topic-box-5">
              <a:extLst xmlns:a="http://schemas.openxmlformats.org/drawingml/2006/main">
                <a:ext uri="{FF2B5EF4-FFF2-40B4-BE49-F238E27FC236}">
                  <a16:creationId xmlns:a16="http://schemas.microsoft.com/office/drawing/2014/main" id="{CEE23857-C072-4330-B73D-5D3F93A40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415290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2" name="topic-text-5">
              <a:extLst xmlns:a="http://schemas.openxmlformats.org/drawingml/2006/main">
                <a:ext uri="{FF2B5EF4-FFF2-40B4-BE49-F238E27FC236}">
                  <a16:creationId xmlns:a16="http://schemas.microsoft.com/office/drawing/2014/main" id="{05F92CB4-5B6A-4A89-9425-E749368DFB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434340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contracts that transfer across tasks</a:t>
              </a:r>
            </a:p>
          </p:txBody>
        </p:sp>
      </p:grpSp>
      <p:grpSp>
        <p:nvGrpSpPr>
          <p:cNvPr id="83" name="group-rail-dot-6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3" name="rail-dot-6">
              <a:extLst xmlns:a="http://schemas.openxmlformats.org/drawingml/2006/main">
                <a:ext uri="{FF2B5EF4-FFF2-40B4-BE49-F238E27FC236}">
                  <a16:creationId xmlns:a16="http://schemas.microsoft.com/office/drawing/2014/main" id="{DD92DD4F-AA07-4CB9-BCD6-BDBF260A56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510063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44" name="section-box-6">
              <a:extLst xmlns:a="http://schemas.openxmlformats.org/drawingml/2006/main">
                <a:ext uri="{FF2B5EF4-FFF2-40B4-BE49-F238E27FC236}">
                  <a16:creationId xmlns:a16="http://schemas.microsoft.com/office/drawing/2014/main" id="{BC56E018-8BFD-4AB1-99E8-BC7C667EF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486727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9050">
              <a:solidFill>
                <a:srgbClr val="B78324"/>
              </a:solidFill>
              <a:prstDash val="dash"/>
            </a:ln>
          </p:spPr>
        </p:sp>
        <p:sp>
          <p:nvSpPr>
            <p:cNvPr id="45" name="section-number-6">
              <a:extLst xmlns:a="http://schemas.openxmlformats.org/drawingml/2006/main">
                <a:ext uri="{FF2B5EF4-FFF2-40B4-BE49-F238E27FC236}">
                  <a16:creationId xmlns:a16="http://schemas.microsoft.com/office/drawing/2014/main" id="{6B1629C8-7063-40E7-9332-33AB497C9A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506730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6</a:t>
              </a:r>
            </a:p>
          </p:txBody>
        </p:sp>
        <p:sp>
          <p:nvSpPr>
            <p:cNvPr id="46" name="section-title-6">
              <a:extLst xmlns:a="http://schemas.openxmlformats.org/drawingml/2006/main">
                <a:ext uri="{FF2B5EF4-FFF2-40B4-BE49-F238E27FC236}">
                  <a16:creationId xmlns:a16="http://schemas.microsoft.com/office/drawing/2014/main" id="{3762E4B7-2A16-431C-9872-D73458B113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503872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Harness</a:t>
              </a:r>
            </a:p>
          </p:txBody>
        </p:sp>
        <p:sp>
          <p:nvSpPr>
            <p:cNvPr id="47" name="topic-leader-6">
              <a:extLst xmlns:a="http://schemas.openxmlformats.org/drawingml/2006/main">
                <a:ext uri="{FF2B5EF4-FFF2-40B4-BE49-F238E27FC236}">
                  <a16:creationId xmlns:a16="http://schemas.microsoft.com/office/drawing/2014/main" id="{E00F3024-5DEB-4208-A709-020DC24112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516731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48" name="topic-box-6">
              <a:extLst xmlns:a="http://schemas.openxmlformats.org/drawingml/2006/main">
                <a:ext uri="{FF2B5EF4-FFF2-40B4-BE49-F238E27FC236}">
                  <a16:creationId xmlns:a16="http://schemas.microsoft.com/office/drawing/2014/main" id="{018789F2-01EB-4B00-9A5D-A6B1ED7C57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486727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49" name="topic-text-6">
              <a:extLst xmlns:a="http://schemas.openxmlformats.org/drawingml/2006/main">
                <a:ext uri="{FF2B5EF4-FFF2-40B4-BE49-F238E27FC236}">
                  <a16:creationId xmlns:a16="http://schemas.microsoft.com/office/drawing/2014/main" id="{C6D7E86A-136A-4345-B8CE-8E85CF7A15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505777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Forecasting, augmentation, anomaly, and decision support</a:t>
              </a:r>
            </a:p>
          </p:txBody>
        </p:sp>
      </p:grpSp>
      <p:grpSp>
        <p:nvGrpSpPr>
          <p:cNvPr id="84" name="group-rail-dot-7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0" name="rail-dot-7">
              <a:extLst xmlns:a="http://schemas.openxmlformats.org/drawingml/2006/main">
                <a:ext uri="{FF2B5EF4-FFF2-40B4-BE49-F238E27FC236}">
                  <a16:creationId xmlns:a16="http://schemas.microsoft.com/office/drawing/2014/main" id="{D37E9D71-22B9-4664-88D8-B533FE697A9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581501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51" name="section-box-7">
              <a:extLst xmlns:a="http://schemas.openxmlformats.org/drawingml/2006/main">
                <a:ext uri="{FF2B5EF4-FFF2-40B4-BE49-F238E27FC236}">
                  <a16:creationId xmlns:a16="http://schemas.microsoft.com/office/drawing/2014/main" id="{59294BB7-C8C8-4DCF-AB99-4EE1080874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558165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9050">
              <a:solidFill>
                <a:srgbClr val="467A92"/>
              </a:solidFill>
              <a:prstDash val="dash"/>
            </a:ln>
          </p:spPr>
        </p:sp>
        <p:sp>
          <p:nvSpPr>
            <p:cNvPr id="52" name="section-number-7">
              <a:extLst xmlns:a="http://schemas.openxmlformats.org/drawingml/2006/main">
                <a:ext uri="{FF2B5EF4-FFF2-40B4-BE49-F238E27FC236}">
                  <a16:creationId xmlns:a16="http://schemas.microsoft.com/office/drawing/2014/main" id="{D177E795-A72E-424A-B475-508A6997D8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578167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7</a:t>
              </a:r>
            </a:p>
          </p:txBody>
        </p:sp>
        <p:sp>
          <p:nvSpPr>
            <p:cNvPr id="53" name="section-title-7">
              <a:extLst xmlns:a="http://schemas.openxmlformats.org/drawingml/2006/main">
                <a:ext uri="{FF2B5EF4-FFF2-40B4-BE49-F238E27FC236}">
                  <a16:creationId xmlns:a16="http://schemas.microsoft.com/office/drawing/2014/main" id="{BC6AD777-C401-4F19-AAFF-D69F672A38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575310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Infrastructure and Benchmarks</a:t>
              </a:r>
            </a:p>
          </p:txBody>
        </p:sp>
        <p:sp>
          <p:nvSpPr>
            <p:cNvPr id="54" name="topic-leader-7">
              <a:extLst xmlns:a="http://schemas.openxmlformats.org/drawingml/2006/main">
                <a:ext uri="{FF2B5EF4-FFF2-40B4-BE49-F238E27FC236}">
                  <a16:creationId xmlns:a16="http://schemas.microsoft.com/office/drawing/2014/main" id="{7A8E4308-04DC-4B86-8D88-64933F029E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588168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55" name="topic-box-7">
              <a:extLst xmlns:a="http://schemas.openxmlformats.org/drawingml/2006/main">
                <a:ext uri="{FF2B5EF4-FFF2-40B4-BE49-F238E27FC236}">
                  <a16:creationId xmlns:a16="http://schemas.microsoft.com/office/drawing/2014/main" id="{A87CE6C9-9D06-4F1D-8180-97B3509D7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558165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467A92"/>
              </a:solidFill>
              <a:prstDash val="solid"/>
            </a:ln>
          </p:spPr>
        </p:sp>
        <p:sp>
          <p:nvSpPr>
            <p:cNvPr id="56" name="topic-text-7">
              <a:extLst xmlns:a="http://schemas.openxmlformats.org/drawingml/2006/main">
                <a:ext uri="{FF2B5EF4-FFF2-40B4-BE49-F238E27FC236}">
                  <a16:creationId xmlns:a16="http://schemas.microsoft.com/office/drawing/2014/main" id="{0B29D9AA-0A1D-45F4-86E1-7C890EBC40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577215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Episodes, traces, tools, and task outcomes</a:t>
              </a:r>
            </a:p>
          </p:txBody>
        </p:sp>
      </p:grpSp>
      <p:grpSp>
        <p:nvGrpSpPr>
          <p:cNvPr id="85" name="group-rail-dot-8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rail-dot-8">
              <a:extLst xmlns:a="http://schemas.openxmlformats.org/drawingml/2006/main">
                <a:ext uri="{FF2B5EF4-FFF2-40B4-BE49-F238E27FC236}">
                  <a16:creationId xmlns:a16="http://schemas.microsoft.com/office/drawing/2014/main" id="{35E703D5-116E-4898-AC61-EB20376054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6529388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58" name="section-box-8">
              <a:extLst xmlns:a="http://schemas.openxmlformats.org/drawingml/2006/main">
                <a:ext uri="{FF2B5EF4-FFF2-40B4-BE49-F238E27FC236}">
                  <a16:creationId xmlns:a16="http://schemas.microsoft.com/office/drawing/2014/main" id="{E6F9DD0A-908A-489A-8C80-EC2B905817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6296025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59" name="section-number-8">
              <a:extLst xmlns:a="http://schemas.openxmlformats.org/drawingml/2006/main">
                <a:ext uri="{FF2B5EF4-FFF2-40B4-BE49-F238E27FC236}">
                  <a16:creationId xmlns:a16="http://schemas.microsoft.com/office/drawing/2014/main" id="{A77BC599-FC48-4302-A29A-539D48C75F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6496050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8</a:t>
              </a:r>
            </a:p>
          </p:txBody>
        </p:sp>
        <p:sp>
          <p:nvSpPr>
            <p:cNvPr id="60" name="section-title-8">
              <a:extLst xmlns:a="http://schemas.openxmlformats.org/drawingml/2006/main">
                <a:ext uri="{FF2B5EF4-FFF2-40B4-BE49-F238E27FC236}">
                  <a16:creationId xmlns:a16="http://schemas.microsoft.com/office/drawing/2014/main" id="{22A4AE9B-0E7B-4A40-B249-6C2C3A496C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6467475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Open Problems and Case Studies</a:t>
              </a:r>
            </a:p>
          </p:txBody>
        </p:sp>
        <p:sp>
          <p:nvSpPr>
            <p:cNvPr id="61" name="topic-leader-8">
              <a:extLst xmlns:a="http://schemas.openxmlformats.org/drawingml/2006/main">
                <a:ext uri="{FF2B5EF4-FFF2-40B4-BE49-F238E27FC236}">
                  <a16:creationId xmlns:a16="http://schemas.microsoft.com/office/drawing/2014/main" id="{625C5302-D321-4C01-A9C3-87580CF520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6596063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2" name="topic-box-8">
              <a:extLst xmlns:a="http://schemas.openxmlformats.org/drawingml/2006/main">
                <a:ext uri="{FF2B5EF4-FFF2-40B4-BE49-F238E27FC236}">
                  <a16:creationId xmlns:a16="http://schemas.microsoft.com/office/drawing/2014/main" id="{C013F759-BC19-485B-B4BE-FE344422FB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6296025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3" name="topic-text-8">
              <a:extLst xmlns:a="http://schemas.openxmlformats.org/drawingml/2006/main">
                <a:ext uri="{FF2B5EF4-FFF2-40B4-BE49-F238E27FC236}">
                  <a16:creationId xmlns:a16="http://schemas.microsoft.com/office/drawing/2014/main" id="{76B9FDA1-20DB-4B4A-9544-CBA960C535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6486525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Where modules and evaluation remain incomplete</a:t>
              </a:r>
            </a:p>
          </p:txBody>
        </p:sp>
      </p:grpSp>
      <p:grpSp>
        <p:nvGrpSpPr>
          <p:cNvPr id="86" name="group-rail-dot-9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4" name="rail-dot-9">
              <a:extLst xmlns:a="http://schemas.openxmlformats.org/drawingml/2006/main">
                <a:ext uri="{FF2B5EF4-FFF2-40B4-BE49-F238E27FC236}">
                  <a16:creationId xmlns:a16="http://schemas.microsoft.com/office/drawing/2014/main" id="{8658EF21-55A4-4B5E-9131-459F7601B8A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486025" y="7243763"/>
              <a:ext cx="133350" cy="1333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5" name="section-box-9">
              <a:extLst xmlns:a="http://schemas.openxmlformats.org/drawingml/2006/main">
                <a:ext uri="{FF2B5EF4-FFF2-40B4-BE49-F238E27FC236}">
                  <a16:creationId xmlns:a16="http://schemas.microsoft.com/office/drawing/2014/main" id="{D529E6EF-B4A2-4917-9B36-F543B16ACA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7010400"/>
              <a:ext cx="447675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9050">
              <a:solidFill>
                <a:srgbClr val="7058A6"/>
              </a:solidFill>
              <a:prstDash val="dash"/>
            </a:ln>
          </p:spPr>
        </p:sp>
        <p:sp>
          <p:nvSpPr>
            <p:cNvPr id="66" name="section-number-9">
              <a:extLst xmlns:a="http://schemas.openxmlformats.org/drawingml/2006/main">
                <a:ext uri="{FF2B5EF4-FFF2-40B4-BE49-F238E27FC236}">
                  <a16:creationId xmlns:a16="http://schemas.microsoft.com/office/drawing/2014/main" id="{9291C7B3-A3BD-4FA7-8BD6-5CB5075357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7210425"/>
              <a:ext cx="5905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§ 9</a:t>
              </a:r>
            </a:p>
          </p:txBody>
        </p:sp>
        <p:sp>
          <p:nvSpPr>
            <p:cNvPr id="67" name="section-title-9">
              <a:extLst xmlns:a="http://schemas.openxmlformats.org/drawingml/2006/main">
                <a:ext uri="{FF2B5EF4-FFF2-40B4-BE49-F238E27FC236}">
                  <a16:creationId xmlns:a16="http://schemas.microsoft.com/office/drawing/2014/main" id="{E9D8AF48-57C7-43C4-A67A-3F329454F5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62400" y="7181850"/>
              <a:ext cx="3333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Conclusion</a:t>
              </a:r>
            </a:p>
          </p:txBody>
        </p:sp>
        <p:sp>
          <p:nvSpPr>
            <p:cNvPr id="68" name="topic-leader-9">
              <a:extLst xmlns:a="http://schemas.openxmlformats.org/drawingml/2006/main">
                <a:ext uri="{FF2B5EF4-FFF2-40B4-BE49-F238E27FC236}">
                  <a16:creationId xmlns:a16="http://schemas.microsoft.com/office/drawing/2014/main" id="{E276E545-8A46-4586-A4F1-D409157C13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524750" y="7310438"/>
              <a:ext cx="3238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69" name="topic-box-9">
              <a:extLst xmlns:a="http://schemas.openxmlformats.org/drawingml/2006/main">
                <a:ext uri="{FF2B5EF4-FFF2-40B4-BE49-F238E27FC236}">
                  <a16:creationId xmlns:a16="http://schemas.microsoft.com/office/drawing/2014/main" id="{2CA63DFD-72CB-4A2E-92D9-18B9AD986E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848600" y="7010400"/>
              <a:ext cx="6667500" cy="600075"/>
            </a:xfrm>
            <a:prstGeom xmlns:a="http://schemas.openxmlformats.org/drawingml/2006/main" prst="roundRect">
              <a:avLst>
                <a:gd name="adj" fmla="val 25397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70" name="topic-text-9">
              <a:extLst xmlns:a="http://schemas.openxmlformats.org/drawingml/2006/main">
                <a:ext uri="{FF2B5EF4-FFF2-40B4-BE49-F238E27FC236}">
                  <a16:creationId xmlns:a16="http://schemas.microsoft.com/office/drawing/2014/main" id="{E328E8CC-F0C3-4D13-9860-B3AF3636D98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15300" y="7200900"/>
              <a:ext cx="6096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 reusable map for future systems</a:t>
              </a:r>
            </a:p>
          </p:txBody>
        </p:sp>
      </p:grpSp>
      <p:grpSp>
        <p:nvGrpSpPr>
          <p:cNvPr id="87" name="group-paper-card-strip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1" name="paper-card-strip">
              <a:extLst xmlns:a="http://schemas.openxmlformats.org/drawingml/2006/main">
                <a:ext uri="{FF2B5EF4-FFF2-40B4-BE49-F238E27FC236}">
                  <a16:creationId xmlns:a16="http://schemas.microsoft.com/office/drawing/2014/main" id="{9953A361-837A-4352-8D83-009F8969B6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7810500"/>
              <a:ext cx="11468100" cy="457200"/>
            </a:xfrm>
            <a:prstGeom xmlns:a="http://schemas.openxmlformats.org/drawingml/2006/main" prst="roundRect">
              <a:avLst>
                <a:gd name="adj" fmla="val 291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1E2F47"/>
              </a:solidFill>
              <a:prstDash val="solid"/>
            </a:ln>
          </p:spPr>
        </p:sp>
        <p:sp>
          <p:nvSpPr>
            <p:cNvPr id="72" name="paper-card-title">
              <a:extLst xmlns:a="http://schemas.openxmlformats.org/drawingml/2006/main">
                <a:ext uri="{FF2B5EF4-FFF2-40B4-BE49-F238E27FC236}">
                  <a16:creationId xmlns:a16="http://schemas.microsoft.com/office/drawing/2014/main" id="{D4D6D097-769C-457C-B5B6-917E081DB6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276600" y="7943850"/>
              <a:ext cx="1905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Paper card fields</a:t>
              </a:r>
            </a:p>
          </p:txBody>
        </p:sp>
        <p:sp>
          <p:nvSpPr>
            <p:cNvPr id="73" name="paper-card-fields">
              <a:extLst xmlns:a="http://schemas.openxmlformats.org/drawingml/2006/main">
                <a:ext uri="{FF2B5EF4-FFF2-40B4-BE49-F238E27FC236}">
                  <a16:creationId xmlns:a16="http://schemas.microsoft.com/office/drawing/2014/main" id="{16BE9015-E518-4EE0-9DD9-52BD285599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91150" y="7943850"/>
              <a:ext cx="8763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claim  ·  evidence locator  ·  module layer  ·  task family  ·  BibTeX  ·  review status</a:t>
              </a:r>
            </a:p>
          </p:txBody>
        </p:sp>
        <p:sp>
          <p:nvSpPr>
            <p:cNvPr id="74" name="paper-card-note">
              <a:extLst xmlns:a="http://schemas.openxmlformats.org/drawingml/2006/main">
                <a:ext uri="{FF2B5EF4-FFF2-40B4-BE49-F238E27FC236}">
                  <a16:creationId xmlns:a16="http://schemas.microsoft.com/office/drawing/2014/main" id="{3F87F8FE-A285-497D-B031-EAC291772A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8324850"/>
              <a:ext cx="114681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Each card records modules independently, while the survey organizes them by the deepest applicable Harness layer.</a:t>
              </a:r>
            </a:p>
          </p:txBody>
        </p:sp>
      </p:grpSp>
      <p:grpSp>
        <p:nvGrpSpPr>
          <p:cNvPr id="88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section-rail">
              <a:extLst xmlns:a="http://schemas.openxmlformats.org/drawingml/2006/main">
                <a:ext uri="{FF2B5EF4-FFF2-40B4-BE49-F238E27FC236}">
                  <a16:creationId xmlns:a16="http://schemas.microsoft.com/office/drawing/2014/main" id="{0033B7E3-8984-4FFA-9DD8-70EEC8CF04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552700" y="1562100"/>
              <a:ext cx="0" cy="62103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8575">
              <a:solidFill>
                <a:srgbClr val="26384A"/>
              </a:solidFill>
              <a:prstDash val="solid"/>
            </a:ln>
          </p:spPr>
        </p:sp>
      </p:grpSp>
    </p:spTree>
    <p:extLst>
      <p:ext uri="{BB962C8B-B14F-4D97-AF65-F5344CB8AC3E}">
        <p14:creationId xmlns:p14="http://schemas.microsoft.com/office/powerpoint/2010/main" val="14170561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2026-10-02T07:28:02.3490000Z</dcterms:created>
  <dcterms:modified xsi:type="dcterms:W3CDTF">2026-10-02T07:28:02.3490000Z</dcterms:modified>
</coreProperties>
</file>