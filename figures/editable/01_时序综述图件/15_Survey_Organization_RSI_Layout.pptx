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7" r:id="Re598effa61d34d59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2.xml" Id="Re598effa61d34d59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7acfb8672fee44dc"/><Relationship Type="http://schemas.openxmlformats.org/officeDocument/2006/relationships/notesMaster" Target="/ppt/notesMasters/notesMaster1.xml" Id="R5d0bb1b30b2945f0"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f4860c02216490b"/><Relationship Type="http://schemas.openxmlformats.org/officeDocument/2006/relationships/notesSlide" Target="/ppt/notesSlides/notesSlide2.xml" Id="Re15cf64ae2114a77"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0A3D0D38-47FC-44BB-B1FA-D52AE4662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16697" y="4692728"/>
              <a:ext cx="1975054" cy="1753848"/>
            </a:xfrm>
            <a:prstGeom xmlns:a="http://schemas.openxmlformats.org/drawingml/2006/main" prst="roundRect">
              <a:avLst>
                <a:gd name="adj" fmla="val 8108"/>
              </a:avLst>
            </a:prstGeom>
            <a:solidFill xmlns:a="http://schemas.openxmlformats.org/drawingml/2006/main">
              <a:srgbClr val="CFE9EE"/>
            </a:solidFill>
            <a:ln xmlns:a="http://schemas.openxmlformats.org/drawingml/2006/main" w="25400">
              <a:solidFill>
                <a:srgbClr val="1F2937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8C5C85B8-06BF-4B9F-9D50-9AC7DE11B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74262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DEC47B3F-F672-4CF3-B466-041FB74C0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967154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D64BE902-CB9F-4263-9ADA-A99B93980B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3199588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FAE95982-E0AC-4C6B-939B-4745C2DF6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4424121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4A155900-06CC-4A2B-B3D0-1FF129B6C8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5664455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F9454FDB-CA7D-4DB9-8B9B-025E4E637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6888989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D017AD12-D4A5-454B-A342-D8B38831B7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8121422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C9E8EE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B31F1000-340A-4974-B333-070C93A94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9353856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CD2E0FEE-7759-43A9-8998-B7308AAC7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058629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FC4BCE47-30C5-4247-ACEB-8F2A5F167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74262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89220662-21BF-4837-9F80-64B6CC73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967154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52514506-723C-4C29-B42C-0F74044E2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3199588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9BACDACE-7947-4AA6-9386-D226436A9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4424121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112D592C-0E27-4968-A9A0-08BF0C7D1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5664455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66B95DA8-04AB-42E9-9EF5-44048E9F9C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6888989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54EC743D-DC5A-4B1E-9EF8-B84C7DD1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8121422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7F5F8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F3D19169-4082-415F-847F-6BC79505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9353856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A970C13-3960-4C84-9766-C46C2A37E2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058629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EA7CE87E-EABC-4ED6-B6D5-2CFB715C7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8130"/>
              <a:ext cx="0" cy="10973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2DC6EC90-D975-4986-AAFD-D690FFE7B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8233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A1856308-AA3B-43CA-993E-5568348490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2306863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05038BD4-378B-48BC-A9FE-9E59980A0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3539297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66DC83AD-44B6-40E0-AFFA-293D89642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4771731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36CF8154-6118-4FA6-9B53-CA9CBAA75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6004164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4F38CBD7-8A95-4E1B-975F-18CE76C3D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7236598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Line 28">
              <a:extLst xmlns:a="http://schemas.openxmlformats.org/drawingml/2006/main">
                <a:ext uri="{FF2B5EF4-FFF2-40B4-BE49-F238E27FC236}">
                  <a16:creationId xmlns:a16="http://schemas.microsoft.com/office/drawing/2014/main" id="{79CEC729-7360-471C-AE59-25F5EA30A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8469032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Line 29">
              <a:extLst xmlns:a="http://schemas.openxmlformats.org/drawingml/2006/main">
                <a:ext uri="{FF2B5EF4-FFF2-40B4-BE49-F238E27FC236}">
                  <a16:creationId xmlns:a16="http://schemas.microsoft.com/office/drawing/2014/main" id="{FDF2C4E9-A504-47D6-B991-AF7655D33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9701466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Line 30">
              <a:extLst xmlns:a="http://schemas.openxmlformats.org/drawingml/2006/main">
                <a:ext uri="{FF2B5EF4-FFF2-40B4-BE49-F238E27FC236}">
                  <a16:creationId xmlns:a16="http://schemas.microsoft.com/office/drawing/2014/main" id="{71C126E5-08A2-4A9B-BAAD-670ABCACF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4180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Line 31">
              <a:extLst xmlns:a="http://schemas.openxmlformats.org/drawingml/2006/main">
                <a:ext uri="{FF2B5EF4-FFF2-40B4-BE49-F238E27FC236}">
                  <a16:creationId xmlns:a16="http://schemas.microsoft.com/office/drawing/2014/main" id="{1E5FE03B-A6AC-4453-BCF6-075F79E868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1534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Line 32">
              <a:extLst xmlns:a="http://schemas.openxmlformats.org/drawingml/2006/main">
                <a:ext uri="{FF2B5EF4-FFF2-40B4-BE49-F238E27FC236}">
                  <a16:creationId xmlns:a16="http://schemas.microsoft.com/office/drawing/2014/main" id="{B04B91D8-7304-4743-9093-187DF4A40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2520169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Line 33">
              <a:extLst xmlns:a="http://schemas.openxmlformats.org/drawingml/2006/main">
                <a:ext uri="{FF2B5EF4-FFF2-40B4-BE49-F238E27FC236}">
                  <a16:creationId xmlns:a16="http://schemas.microsoft.com/office/drawing/2014/main" id="{426829A0-D871-4EA5-8B43-AB70146AD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3752603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Line 34">
              <a:extLst xmlns:a="http://schemas.openxmlformats.org/drawingml/2006/main">
                <a:ext uri="{FF2B5EF4-FFF2-40B4-BE49-F238E27FC236}">
                  <a16:creationId xmlns:a16="http://schemas.microsoft.com/office/drawing/2014/main" id="{0B09B58E-9D83-4D05-BD12-B9B9600E3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48349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Line 35">
              <a:extLst xmlns:a="http://schemas.openxmlformats.org/drawingml/2006/main">
                <a:ext uri="{FF2B5EF4-FFF2-40B4-BE49-F238E27FC236}">
                  <a16:creationId xmlns:a16="http://schemas.microsoft.com/office/drawing/2014/main" id="{32F8FCBA-EF25-45BB-906D-A253832B8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6217470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Line 36">
              <a:extLst xmlns:a="http://schemas.openxmlformats.org/drawingml/2006/main">
                <a:ext uri="{FF2B5EF4-FFF2-40B4-BE49-F238E27FC236}">
                  <a16:creationId xmlns:a16="http://schemas.microsoft.com/office/drawing/2014/main" id="{3F45FAD1-E8EC-4882-A259-2590DF395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7442004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Line 37">
              <a:extLst xmlns:a="http://schemas.openxmlformats.org/drawingml/2006/main">
                <a:ext uri="{FF2B5EF4-FFF2-40B4-BE49-F238E27FC236}">
                  <a16:creationId xmlns:a16="http://schemas.microsoft.com/office/drawing/2014/main" id="{4126B9EC-78E7-41EB-B021-2A8443548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8674438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Line 38">
              <a:extLst xmlns:a="http://schemas.openxmlformats.org/drawingml/2006/main">
                <a:ext uri="{FF2B5EF4-FFF2-40B4-BE49-F238E27FC236}">
                  <a16:creationId xmlns:a16="http://schemas.microsoft.com/office/drawing/2014/main" id="{58080B09-FE8C-4C2E-93E6-1CAB93782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990687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Line 39">
              <a:extLst xmlns:a="http://schemas.openxmlformats.org/drawingml/2006/main">
                <a:ext uri="{FF2B5EF4-FFF2-40B4-BE49-F238E27FC236}">
                  <a16:creationId xmlns:a16="http://schemas.microsoft.com/office/drawing/2014/main" id="{DA3FAA57-3311-4F6A-9BFB-05481E045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099710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Ellipse 40">
              <a:extLst xmlns:a="http://schemas.openxmlformats.org/drawingml/2006/main">
                <a:ext uri="{FF2B5EF4-FFF2-40B4-BE49-F238E27FC236}">
                  <a16:creationId xmlns:a16="http://schemas.microsoft.com/office/drawing/2014/main" id="{37FBE542-10DE-4411-B941-02264D1123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0332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Ellipse 41">
              <a:extLst xmlns:a="http://schemas.openxmlformats.org/drawingml/2006/main">
                <a:ext uri="{FF2B5EF4-FFF2-40B4-BE49-F238E27FC236}">
                  <a16:creationId xmlns:a16="http://schemas.microsoft.com/office/drawing/2014/main" id="{E908D23C-23CA-40BE-9A76-9C98B8089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2227861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Ellipse 42">
              <a:extLst xmlns:a="http://schemas.openxmlformats.org/drawingml/2006/main">
                <a:ext uri="{FF2B5EF4-FFF2-40B4-BE49-F238E27FC236}">
                  <a16:creationId xmlns:a16="http://schemas.microsoft.com/office/drawing/2014/main" id="{374D86A1-11AF-40A7-A3D6-067CCC651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3460295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Ellipse 43">
              <a:extLst xmlns:a="http://schemas.openxmlformats.org/drawingml/2006/main">
                <a:ext uri="{FF2B5EF4-FFF2-40B4-BE49-F238E27FC236}">
                  <a16:creationId xmlns:a16="http://schemas.microsoft.com/office/drawing/2014/main" id="{8918EC1D-F97B-430F-A7FB-DB20F5753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4692728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Ellipse 44">
              <a:extLst xmlns:a="http://schemas.openxmlformats.org/drawingml/2006/main">
                <a:ext uri="{FF2B5EF4-FFF2-40B4-BE49-F238E27FC236}">
                  <a16:creationId xmlns:a16="http://schemas.microsoft.com/office/drawing/2014/main" id="{5F78B2C5-6D4F-48BF-8ACF-096317EC3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5925162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Ellipse 45">
              <a:extLst xmlns:a="http://schemas.openxmlformats.org/drawingml/2006/main">
                <a:ext uri="{FF2B5EF4-FFF2-40B4-BE49-F238E27FC236}">
                  <a16:creationId xmlns:a16="http://schemas.microsoft.com/office/drawing/2014/main" id="{6B841A32-AEFC-4046-83CE-3373F37A3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7157596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Ellipse 46">
              <a:extLst xmlns:a="http://schemas.openxmlformats.org/drawingml/2006/main">
                <a:ext uri="{FF2B5EF4-FFF2-40B4-BE49-F238E27FC236}">
                  <a16:creationId xmlns:a16="http://schemas.microsoft.com/office/drawing/2014/main" id="{EBFE40B9-CA6A-40E4-8DA1-336266F35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8390030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EF3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Ellipse 47">
              <a:extLst xmlns:a="http://schemas.openxmlformats.org/drawingml/2006/main">
                <a:ext uri="{FF2B5EF4-FFF2-40B4-BE49-F238E27FC236}">
                  <a16:creationId xmlns:a16="http://schemas.microsoft.com/office/drawing/2014/main" id="{D095759D-9372-40E2-BC15-7D00D97560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9622463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Ellipse 48">
              <a:extLst xmlns:a="http://schemas.openxmlformats.org/drawingml/2006/main">
                <a:ext uri="{FF2B5EF4-FFF2-40B4-BE49-F238E27FC236}">
                  <a16:creationId xmlns:a16="http://schemas.microsoft.com/office/drawing/2014/main" id="{E7F5B5EE-1697-46BF-AC25-7BD2158D7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86279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D81EF437-2A24-47E5-A07C-754416FAE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77616" y="142204"/>
              <a:ext cx="1422039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Survey organization</a:t>
              </a:r>
              <a:endParaRPr sz="254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56A6678B-794A-439F-B696-84A30D10A5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54752" y="142204"/>
              <a:ext cx="1738048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sz="235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2EDE01EB-343C-4029-BFDE-852D0E8B6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4937635"/>
              <a:ext cx="1659045" cy="82952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Time-Series</a:t>
              </a:r>
              <a:endParaRPr sz="2680"/>
            </a:p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Agent</a:t>
              </a:r>
              <a:endParaRPr sz="268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074160DC-92D4-46DC-BDBA-F789EE383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5877761"/>
              <a:ext cx="1659045" cy="3555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sz="168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45CDC35-51B5-4026-B049-880E4DCDE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0582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sz="285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333720CC-1901-4A32-A650-EB3CB1DA7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2030356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What Is a</a:t>
              </a:r>
              <a:endParaRPr sz="2410"/>
            </a:p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Agent?</a:t>
              </a:r>
              <a:endParaRPr sz="241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D7ECB67E-68AE-44FB-96CA-14187B3B2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3262789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LLM-Side</a:t>
              </a:r>
              <a:endParaRPr sz="2480"/>
            </a:p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Contributions</a:t>
              </a:r>
              <a:endParaRPr sz="248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C0FC43D4-686E-40E3-9D59-004BF930E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4487323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General</a:t>
              </a:r>
              <a:endParaRPr sz="2540"/>
            </a:p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54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0CC18A36-E59D-4E6D-A86F-A12BC70F5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5727657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General Time-Series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470BDABB-D852-412E-B461-4E6952FCC7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6952190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Task-Specific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39DC99BB-1B76-497F-891D-B310F32F8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184624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Infrastructure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Benchmarks</a:t>
              </a:r>
              <a:endParaRPr sz="261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17933CB9-3A8D-46F3-B0FF-DD21613BE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9417058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Open Problems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Case Studies</a:t>
              </a:r>
              <a:endParaRPr sz="261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317574F8-F8A3-4C9F-9210-FEC21510A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1064949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sz="322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E80BEADC-3F2A-4C85-887C-0E15C420C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790022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System definition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questions</a:t>
              </a:r>
              <a:endParaRPr sz="237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B2946089-CC82-4883-8A6E-E5790B03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2014555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Review scope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Paper-card evidence</a:t>
              </a:r>
              <a:endParaRPr sz="237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4BBBEBF4-F1AB-46E5-8D29-2FE52072A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3246989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representation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Alignment and reasoning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LLM-side methods</a:t>
              </a:r>
              <a:endParaRPr sz="218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9A37DBF7-E12D-43B7-9BC8-E930F963D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4471522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Tools and memory          Control and execution</a:t>
              </a:r>
              <a:endParaRPr sz="2160"/>
            </a:p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state             Provenance and validation</a:t>
              </a:r>
              <a:endParaRPr sz="216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1BA24F56-726F-41DC-81CC-AB6F3CEAD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5711856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harnesses     Reusable modules</a:t>
              </a:r>
              <a:endParaRPr sz="2000"/>
            </a:p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contracts             Benchmark protocols</a:t>
              </a:r>
              <a:endParaRPr sz="20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B6E31246-0790-4B91-998C-73D25F5F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6936390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                Augmentation</a:t>
              </a:r>
              <a:endParaRPr sz="1889"/>
            </a:p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          Decision support</a:t>
              </a:r>
              <a:endParaRPr sz="1889"/>
            </a:p>
          </p:txBody>
        </p:sp>
        <p:sp>
          <p:nvSpPr>
            <p:cNvPr id="68" name="TextBox 68">
              <a:extLst xmlns:a="http://schemas.openxmlformats.org/drawingml/2006/main">
                <a:ext uri="{FF2B5EF4-FFF2-40B4-BE49-F238E27FC236}">
                  <a16:creationId xmlns:a16="http://schemas.microsoft.com/office/drawing/2014/main" id="{219681E6-35A9-4F2D-A244-4B3141F5A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8168824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ModernTSF                  TimeSeriesGym</a:t>
              </a:r>
              <a:endParaRPr sz="1870"/>
            </a:p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Traces and episodes        Reproducible evaluation</a:t>
              </a:r>
              <a:endParaRPr sz="1870"/>
            </a:p>
          </p:txBody>
        </p:sp>
        <p:sp>
          <p:nvSpPr>
            <p:cNvPr id="69" name="TextBox 69">
              <a:extLst xmlns:a="http://schemas.openxmlformats.org/drawingml/2006/main">
                <a:ext uri="{FF2B5EF4-FFF2-40B4-BE49-F238E27FC236}">
                  <a16:creationId xmlns:a16="http://schemas.microsoft.com/office/drawing/2014/main" id="{95D6F2E5-1072-4082-A3AF-A3429A89D8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9401257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Paper-card database        Module-level counts</a:t>
              </a:r>
              <a:endParaRPr sz="1850"/>
            </a:p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Open tasks                 Evidence gaps</a:t>
              </a:r>
              <a:endParaRPr sz="1850"/>
            </a:p>
          </p:txBody>
        </p:sp>
        <p:sp>
          <p:nvSpPr>
            <p:cNvPr id="70" name="TextBox 70">
              <a:extLst xmlns:a="http://schemas.openxmlformats.org/drawingml/2006/main">
                <a:ext uri="{FF2B5EF4-FFF2-40B4-BE49-F238E27FC236}">
                  <a16:creationId xmlns:a16="http://schemas.microsoft.com/office/drawing/2014/main" id="{6F899B69-AE09-4863-9B2D-8D460EA42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10633691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System map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Open problems</a:t>
              </a:r>
              <a:endParaRPr sz="2370"/>
            </a:p>
          </p:txBody>
        </p:sp>
      </p:grp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