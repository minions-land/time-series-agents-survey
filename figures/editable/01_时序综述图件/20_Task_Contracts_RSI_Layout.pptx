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24d6e2b1b2b4c8e"/><Relationship Type="http://schemas.openxmlformats.org/officeDocument/2006/relationships/extended-properties" Target="/docProps/app.xml" Id="R7a3bc27e99474807"/><Relationship Type="http://schemas.openxmlformats.org/officeDocument/2006/relationships/officeDocument" Target="/ppt/presentation.xml" Id="R617a959451a4436a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r="http://schemas.openxmlformats.org/officeDocument/2006/relationships" id="260" r:id="R8ec8b509105442b4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8c20673b7be64083"/><Relationship Type="http://schemas.openxmlformats.org/officeDocument/2006/relationships/slideMaster" Target="/ppt/slideMasters/slideMaster1.xml" Id="R201f40272f394435"/><Relationship Type="http://schemas.openxmlformats.org/officeDocument/2006/relationships/notesMaster" Target="/ppt/notesMasters/notesMaster1.xml" Id="Recc1189db638435c"/><Relationship Type="http://schemas.openxmlformats.org/officeDocument/2006/relationships/presProps" Target="/ppt/presProps.xml" Id="Rd57632f129984635"/><Relationship Type="http://schemas.openxmlformats.org/officeDocument/2006/relationships/tableStyles" Target="/ppt/tableStyles.xml" Id="R5bcb00eae1d54b44"/><Relationship Type="http://schemas.openxmlformats.org/officeDocument/2006/relationships/slide" Target="/ppt/slides/slide5.xml" Id="R8ec8b509105442b4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4b674405eb74ea4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bf35bf211019463e"/><Relationship Type="http://schemas.openxmlformats.org/officeDocument/2006/relationships/notesMaster" Target="/ppt/notesMasters/notesMaster1.xml" Id="R0746af58566c474b"/></Relationship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ea3598500d24dfd"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d9f031b9f3824a24"/><Relationship Type="http://schemas.openxmlformats.org/officeDocument/2006/relationships/slideLayout" Target="/ppt/slideLayouts/slideLayout1.xml" Id="R140c98990e2a4c55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3833d0de3634845"/><Relationship Type="http://schemas.openxmlformats.org/officeDocument/2006/relationships/image" Target="/ppt/media/image7.png" Id="R843ed17d7b7e41df"/><Relationship Type="http://schemas.openxmlformats.org/officeDocument/2006/relationships/image" Target="/ppt/media/image8.png" Id="R132be69d97c3476a"/><Relationship Type="http://schemas.openxmlformats.org/officeDocument/2006/relationships/image" Target="/ppt/media/image9.png" Id="R3184e6d167a54a79"/><Relationship Type="http://schemas.openxmlformats.org/officeDocument/2006/relationships/image" Target="/ppt/media/image10.png" Id="R54561db6dbfb45c3"/><Relationship Type="http://schemas.openxmlformats.org/officeDocument/2006/relationships/image" Target="/ppt/media/image11.png" Id="Ra46b0078b3764c5a"/><Relationship Type="http://schemas.openxmlformats.org/officeDocument/2006/relationships/image" Target="/ppt/media/image12.png" Id="Rccd1ea46c26d4492"/><Relationship Type="http://schemas.openxmlformats.org/officeDocument/2006/relationships/image" Target="/ppt/media/image13.png" Id="R93f55ff11b0e4415"/><Relationship Type="http://schemas.openxmlformats.org/officeDocument/2006/relationships/image" Target="/ppt/media/image14.png" Id="R0d3acbb160f24d14"/><Relationship Type="http://schemas.openxmlformats.org/officeDocument/2006/relationships/notesSlide" Target="/ppt/notesSlides/notesSlide5.xml" Id="Rbbb2f260d5b1476a"/></Relationships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68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ect 2">
              <a:extLst xmlns:a="http://schemas.openxmlformats.org/drawingml/2006/main">
                <a:ext uri="{FF2B5EF4-FFF2-40B4-BE49-F238E27FC236}">
                  <a16:creationId xmlns:a16="http://schemas.microsoft.com/office/drawing/2014/main" id="{5A166B07-2A31-421F-8463-790F38809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F4D9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ect 3">
              <a:extLst xmlns:a="http://schemas.openxmlformats.org/drawingml/2006/main">
                <a:ext uri="{FF2B5EF4-FFF2-40B4-BE49-F238E27FC236}">
                  <a16:creationId xmlns:a16="http://schemas.microsoft.com/office/drawing/2014/main" id="{8E0752FD-64D8-4090-98D3-C36898FD49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01641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F1DF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ect 4">
              <a:extLst xmlns:a="http://schemas.openxmlformats.org/drawingml/2006/main">
                <a:ext uri="{FF2B5EF4-FFF2-40B4-BE49-F238E27FC236}">
                  <a16:creationId xmlns:a16="http://schemas.microsoft.com/office/drawing/2014/main" id="{F7D23FA3-6161-4925-BEA9-8D5FD5BA7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3437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8F0F2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ect 5">
              <a:extLst xmlns:a="http://schemas.openxmlformats.org/drawingml/2006/main">
                <a:ext uri="{FF2B5EF4-FFF2-40B4-BE49-F238E27FC236}">
                  <a16:creationId xmlns:a16="http://schemas.microsoft.com/office/drawing/2014/main" id="{9DC3D657-5657-46EF-8EB1-B9B4A1CCAF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567109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3F1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Line 6">
              <a:extLst xmlns:a="http://schemas.openxmlformats.org/drawingml/2006/main">
                <a:ext uri="{FF2B5EF4-FFF2-40B4-BE49-F238E27FC236}">
                  <a16:creationId xmlns:a16="http://schemas.microsoft.com/office/drawing/2014/main" id="{50862E29-BC28-4ECF-9A5E-86898093AF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5066384"/>
              <a:ext cx="1290974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C8C8C8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0D9125CF-B332-4708-BE2D-4409192519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0261AEC8-175C-48F6-8CE3-17BE69A62B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49FB8E61-2E93-4D21-B86F-58F0456AF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A0E607FA-E1C5-48BB-AAED-982FED646B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D3E75581-5C67-4C68-AD26-FCBAFD2981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31F60344-3FF5-4357-A2DC-C268FE870D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76BCB369-706F-4F6C-A2AA-42C1BE67CD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3F8937E9-47C8-4C6D-BD1D-6A55F0B9B0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Line 15">
              <a:extLst xmlns:a="http://schemas.openxmlformats.org/drawingml/2006/main">
                <a:ext uri="{FF2B5EF4-FFF2-40B4-BE49-F238E27FC236}">
                  <a16:creationId xmlns:a16="http://schemas.microsoft.com/office/drawing/2014/main" id="{99516FAC-8327-41E0-B618-0E177BF509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490573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Line 16">
              <a:extLst xmlns:a="http://schemas.openxmlformats.org/drawingml/2006/main">
                <a:ext uri="{FF2B5EF4-FFF2-40B4-BE49-F238E27FC236}">
                  <a16:creationId xmlns:a16="http://schemas.microsoft.com/office/drawing/2014/main" id="{221D4FAB-20AF-40FA-82B2-1B6629018F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723307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Line 17">
              <a:extLst xmlns:a="http://schemas.openxmlformats.org/drawingml/2006/main">
                <a:ext uri="{FF2B5EF4-FFF2-40B4-BE49-F238E27FC236}">
                  <a16:creationId xmlns:a16="http://schemas.microsoft.com/office/drawing/2014/main" id="{526BC9E9-EDB7-4A44-B670-5E7A013AE6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56042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D18D2F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Line 18">
              <a:extLst xmlns:a="http://schemas.openxmlformats.org/drawingml/2006/main">
                <a:ext uri="{FF2B5EF4-FFF2-40B4-BE49-F238E27FC236}">
                  <a16:creationId xmlns:a16="http://schemas.microsoft.com/office/drawing/2014/main" id="{1E0B2CC9-61DF-4598-A5E3-805F4E3A34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3188776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070B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Line 19">
              <a:extLst xmlns:a="http://schemas.openxmlformats.org/drawingml/2006/main">
                <a:ext uri="{FF2B5EF4-FFF2-40B4-BE49-F238E27FC236}">
                  <a16:creationId xmlns:a16="http://schemas.microsoft.com/office/drawing/2014/main" id="{8618E515-12A8-4277-8384-D167E2BB90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501172" y="4324445"/>
              <a:ext cx="0" cy="124009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pic>
          <p:nvPicPr>
            <p:cNvPr id="20" name="answer document revision icon">
              <a:extLst xmlns:a="http://schemas.openxmlformats.org/drawingml/2006/main">
                <a:ext uri="{FF2B5EF4-FFF2-40B4-BE49-F238E27FC236}">
                  <a16:creationId xmlns:a16="http://schemas.microsoft.com/office/drawing/2014/main" id="{699E2FBC-53A4-4EC8-B6FF-89ABB085A23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843ed17d7b7e41df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706237" y="1695861"/>
              <a:ext cx="2035033" cy="118710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1" name="memory document stack icon">
              <a:extLst xmlns:a="http://schemas.openxmlformats.org/drawingml/2006/main">
                <a:ext uri="{FF2B5EF4-FFF2-40B4-BE49-F238E27FC236}">
                  <a16:creationId xmlns:a16="http://schemas.microsoft.com/office/drawing/2014/main" id="{669A8428-86C0-4F8B-A2FE-B48CD4DF532C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132be69d97c3476a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5748187" y="1589869"/>
              <a:ext cx="1801852" cy="153687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2" name="parameter neural network icon">
              <a:extLst xmlns:a="http://schemas.openxmlformats.org/drawingml/2006/main">
                <a:ext uri="{FF2B5EF4-FFF2-40B4-BE49-F238E27FC236}">
                  <a16:creationId xmlns:a16="http://schemas.microsoft.com/office/drawing/2014/main" id="{962E0259-AFD4-4ADB-A76C-F74F5D37A331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3184e6d167a54a79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8949125" y="1579270"/>
              <a:ext cx="2268214" cy="129309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3" name="improver procedure graph icon">
              <a:extLst xmlns:a="http://schemas.openxmlformats.org/drawingml/2006/main">
                <a:ext uri="{FF2B5EF4-FFF2-40B4-BE49-F238E27FC236}">
                  <a16:creationId xmlns:a16="http://schemas.microsoft.com/office/drawing/2014/main" id="{D6A4CD9A-10D5-4AF9-82C0-298CD6DD15CE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54561db6dbfb45c3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60661" y="1642865"/>
              <a:ext cx="1854848" cy="116590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4" name="solver network icon">
              <a:extLst xmlns:a="http://schemas.openxmlformats.org/drawingml/2006/main">
                <a:ext uri="{FF2B5EF4-FFF2-40B4-BE49-F238E27FC236}">
                  <a16:creationId xmlns:a16="http://schemas.microsoft.com/office/drawing/2014/main" id="{D2F7935A-7950-4FCA-BAB7-ACC1231A01E1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46b0078b3764c5a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74440" y="6147495"/>
              <a:ext cx="1801852" cy="82673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5" name="solver plus memory icon">
              <a:extLst xmlns:a="http://schemas.openxmlformats.org/drawingml/2006/main">
                <a:ext uri="{FF2B5EF4-FFF2-40B4-BE49-F238E27FC236}">
                  <a16:creationId xmlns:a16="http://schemas.microsoft.com/office/drawing/2014/main" id="{0F9F81FC-2E7D-43D6-87E9-42590E56A5FD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ccd1ea46c26d4492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5822381" y="6105099"/>
              <a:ext cx="1695861" cy="82673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6" name="updated parameter matrix icon">
              <a:extLst xmlns:a="http://schemas.openxmlformats.org/drawingml/2006/main">
                <a:ext uri="{FF2B5EF4-FFF2-40B4-BE49-F238E27FC236}">
                  <a16:creationId xmlns:a16="http://schemas.microsoft.com/office/drawing/2014/main" id="{93E2DC27-84F6-4E9D-833E-CE40B32E8FBB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93f55ff11b0e4415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9076314" y="6083900"/>
              <a:ext cx="1907843" cy="95392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7" name="next update process icon">
              <a:extLst xmlns:a="http://schemas.openxmlformats.org/drawingml/2006/main">
                <a:ext uri="{FF2B5EF4-FFF2-40B4-BE49-F238E27FC236}">
                  <a16:creationId xmlns:a16="http://schemas.microsoft.com/office/drawing/2014/main" id="{A6A132AE-E1F5-474A-B8D2-DA1C4301EC0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0d3acbb160f24d14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39462" y="6083900"/>
              <a:ext cx="1748856" cy="847930"/>
            </a:xfrm>
            <a:prstGeom xmlns:a="http://schemas.openxmlformats.org/drawingml/2006/main" prst="rect">
              <a:avLst/>
            </a:prstGeom>
          </p:spPr>
        </p:pic>
        <p:sp>
          <p:nvSpPr>
            <p:cNvPr id="28" name="TextBox 28">
              <a:extLst xmlns:a="http://schemas.openxmlformats.org/drawingml/2006/main">
                <a:ext uri="{FF2B5EF4-FFF2-40B4-BE49-F238E27FC236}">
                  <a16:creationId xmlns:a16="http://schemas.microsoft.com/office/drawing/2014/main" id="{38DC6013-B653-4650-B823-505722C8E7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Forecasting</a:t>
              </a:r>
              <a:endParaRPr sz="3100"/>
            </a:p>
          </p:txBody>
        </p:sp>
        <p:sp>
          <p:nvSpPr>
            <p:cNvPr id="29" name="TextBox 29">
              <a:extLst xmlns:a="http://schemas.openxmlformats.org/drawingml/2006/main">
                <a:ext uri="{FF2B5EF4-FFF2-40B4-BE49-F238E27FC236}">
                  <a16:creationId xmlns:a16="http://schemas.microsoft.com/office/drawing/2014/main" id="{804B3A42-CA43-424C-BE98-79636EA2A1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origin, horizon,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calibration</a:t>
              </a:r>
              <a:endParaRPr sz="1300"/>
            </a:p>
          </p:txBody>
        </p:sp>
        <p:sp>
          <p:nvSpPr>
            <p:cNvPr id="30" name="TextBox 30">
              <a:extLst xmlns:a="http://schemas.openxmlformats.org/drawingml/2006/main">
                <a:ext uri="{FF2B5EF4-FFF2-40B4-BE49-F238E27FC236}">
                  <a16:creationId xmlns:a16="http://schemas.microsoft.com/office/drawing/2014/main" id="{5895AB9E-482E-4800-9A6E-68D0D1FE87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Augmentation</a:t>
              </a:r>
              <a:endParaRPr sz="3100"/>
            </a:p>
          </p:txBody>
        </p:sp>
        <p:sp>
          <p:nvSpPr>
            <p:cNvPr id="31" name="TextBox 31">
              <a:extLst xmlns:a="http://schemas.openxmlformats.org/drawingml/2006/main">
                <a:ext uri="{FF2B5EF4-FFF2-40B4-BE49-F238E27FC236}">
                  <a16:creationId xmlns:a16="http://schemas.microsoft.com/office/drawing/2014/main" id="{CCC6B642-49D2-4270-B08E-AEB9A71964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fidelity, diversity,</a:t>
              </a:r>
              <a:endParaRPr sz="1800"/>
            </a:p>
            <a:p xmlns:a="http://schemas.openxmlformats.org/drawingml/2006/main">
              <a:pPr algn="l">
                <a:buNone/>
              </a:pPr>
              <a:r>
                <a:rPr sz="18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utility</a:t>
              </a:r>
              <a:endParaRPr sz="1800"/>
            </a:p>
          </p:txBody>
        </p:sp>
        <p:sp>
          <p:nvSpPr>
            <p:cNvPr id="32" name="TextBox 32">
              <a:extLst xmlns:a="http://schemas.openxmlformats.org/drawingml/2006/main">
                <a:ext uri="{FF2B5EF4-FFF2-40B4-BE49-F238E27FC236}">
                  <a16:creationId xmlns:a16="http://schemas.microsoft.com/office/drawing/2014/main" id="{9FF294C6-C834-4131-95D3-F327331F58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Anomaly diagnosis</a:t>
              </a:r>
              <a:endParaRPr sz="3100"/>
            </a:p>
          </p:txBody>
        </p:sp>
        <p:sp>
          <p:nvSpPr>
            <p:cNvPr id="33" name="TextBox 33">
              <a:extLst xmlns:a="http://schemas.openxmlformats.org/drawingml/2006/main">
                <a:ext uri="{FF2B5EF4-FFF2-40B4-BE49-F238E27FC236}">
                  <a16:creationId xmlns:a16="http://schemas.microsoft.com/office/drawing/2014/main" id="{12527545-BA87-4974-B137-BFFB485D9D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event, window,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cause</a:t>
              </a:r>
              <a:endParaRPr sz="1300"/>
            </a:p>
          </p:txBody>
        </p:sp>
        <p:sp>
          <p:nvSpPr>
            <p:cNvPr id="34" name="TextBox 34">
              <a:extLst xmlns:a="http://schemas.openxmlformats.org/drawingml/2006/main">
                <a:ext uri="{FF2B5EF4-FFF2-40B4-BE49-F238E27FC236}">
                  <a16:creationId xmlns:a16="http://schemas.microsoft.com/office/drawing/2014/main" id="{F0C14BFD-AF40-4F14-8A1D-8C42530A51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Decision support</a:t>
              </a:r>
              <a:endParaRPr sz="3100"/>
            </a:p>
          </p:txBody>
        </p:sp>
        <p:sp>
          <p:nvSpPr>
            <p:cNvPr id="35" name="TextBox 35">
              <a:extLst xmlns:a="http://schemas.openxmlformats.org/drawingml/2006/main">
                <a:ext uri="{FF2B5EF4-FFF2-40B4-BE49-F238E27FC236}">
                  <a16:creationId xmlns:a16="http://schemas.microsoft.com/office/drawing/2014/main" id="{DC85EFCC-FCD6-418B-AC37-6648C21D5E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action, cost,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uncertainty</a:t>
              </a:r>
              <a:endParaRPr sz="1300"/>
            </a:p>
          </p:txBody>
        </p:sp>
        <p:sp>
          <p:nvSpPr>
            <p:cNvPr id="36" name="TextBox 36">
              <a:extLst xmlns:a="http://schemas.openxmlformats.org/drawingml/2006/main">
                <a:ext uri="{FF2B5EF4-FFF2-40B4-BE49-F238E27FC236}">
                  <a16:creationId xmlns:a16="http://schemas.microsoft.com/office/drawing/2014/main" id="{EFF893D6-585A-4082-90DE-FF082F6E8E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2702778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 y_t</a:t>
              </a:r>
              <a:endParaRPr sz="2300"/>
            </a:p>
          </p:txBody>
        </p:sp>
        <p:sp>
          <p:nvSpPr>
            <p:cNvPr id="37" name="TextBox 37">
              <a:extLst xmlns:a="http://schemas.openxmlformats.org/drawingml/2006/main">
                <a:ext uri="{FF2B5EF4-FFF2-40B4-BE49-F238E27FC236}">
                  <a16:creationId xmlns:a16="http://schemas.microsoft.com/office/drawing/2014/main" id="{6421D593-DB06-4147-B7FE-7BBBC34CAB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82741" y="2702778"/>
              <a:ext cx="1059913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6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 y_{t+h}</a:t>
              </a:r>
              <a:endParaRPr sz="1160"/>
            </a:p>
          </p:txBody>
        </p:sp>
        <p:sp>
          <p:nvSpPr>
            <p:cNvPr id="38" name="TextBox 38">
              <a:extLst xmlns:a="http://schemas.openxmlformats.org/drawingml/2006/main">
                <a:ext uri="{FF2B5EF4-FFF2-40B4-BE49-F238E27FC236}">
                  <a16:creationId xmlns:a16="http://schemas.microsoft.com/office/drawing/2014/main" id="{45BB36E8-4EE2-4448-BCB4-4A946612A3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3603704"/>
              <a:ext cx="2172822" cy="33917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check → revise</a:t>
              </a:r>
              <a:endParaRPr sz="1900"/>
            </a:p>
          </p:txBody>
        </p:sp>
        <p:sp>
          <p:nvSpPr>
            <p:cNvPr id="39" name="TextBox 39">
              <a:extLst xmlns:a="http://schemas.openxmlformats.org/drawingml/2006/main">
                <a:ext uri="{FF2B5EF4-FFF2-40B4-BE49-F238E27FC236}">
                  <a16:creationId xmlns:a16="http://schemas.microsoft.com/office/drawing/2014/main" id="{63E2CE3D-2B7C-4C6D-917B-F89BFB687E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250475" y="5776525"/>
              <a:ext cx="2596787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same harness</a:t>
              </a:r>
              <a:endParaRPr sz="2200"/>
            </a:p>
          </p:txBody>
        </p:sp>
        <p:sp>
          <p:nvSpPr>
            <p:cNvPr id="40" name="TextBox 40">
              <a:extLst xmlns:a="http://schemas.openxmlformats.org/drawingml/2006/main">
                <a:ext uri="{FF2B5EF4-FFF2-40B4-BE49-F238E27FC236}">
                  <a16:creationId xmlns:a16="http://schemas.microsoft.com/office/drawing/2014/main" id="{89744D25-D8A9-4033-BED8-7E66F708C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303470" y="7143813"/>
              <a:ext cx="2490795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96969"/>
                  </a:solidFill>
                  <a:latin typeface="Cambria"/>
                  <a:ea typeface="Cambria"/>
                  <a:cs typeface="Cambria"/>
                </a:rPr>
                <a:t>new task</a:t>
              </a:r>
              <a:endParaRPr sz="1700"/>
            </a:p>
          </p:txBody>
        </p:sp>
        <p:sp>
          <p:nvSpPr>
            <p:cNvPr id="41" name="TextBox 41">
              <a:extLst xmlns:a="http://schemas.openxmlformats.org/drawingml/2006/main">
                <a:ext uri="{FF2B5EF4-FFF2-40B4-BE49-F238E27FC236}">
                  <a16:creationId xmlns:a16="http://schemas.microsoft.com/office/drawing/2014/main" id="{F8A1CD47-5B1F-4E0E-8607-2132F45A5C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97479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(a) Forecasting</a:t>
              </a:r>
              <a:endParaRPr sz="2120"/>
            </a:p>
          </p:txBody>
        </p:sp>
        <p:sp>
          <p:nvSpPr>
            <p:cNvPr id="42" name="TextBox 42">
              <a:extLst xmlns:a="http://schemas.openxmlformats.org/drawingml/2006/main">
                <a:ext uri="{FF2B5EF4-FFF2-40B4-BE49-F238E27FC236}">
                  <a16:creationId xmlns:a16="http://schemas.microsoft.com/office/drawing/2014/main" id="{E6D705B2-581C-4031-89C7-F7CACF96B6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40813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(b) Augmentation</a:t>
              </a:r>
              <a:endParaRPr sz="2120"/>
            </a:p>
          </p:txBody>
        </p:sp>
        <p:sp>
          <p:nvSpPr>
            <p:cNvPr id="43" name="TextBox 43">
              <a:extLst xmlns:a="http://schemas.openxmlformats.org/drawingml/2006/main">
                <a:ext uri="{FF2B5EF4-FFF2-40B4-BE49-F238E27FC236}">
                  <a16:creationId xmlns:a16="http://schemas.microsoft.com/office/drawing/2014/main" id="{6107071B-3A71-4AAF-BDB5-585D870ABE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715944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(c) Anomaly diagnosis</a:t>
              </a:r>
              <a:endParaRPr sz="2120"/>
            </a:p>
          </p:txBody>
        </p:sp>
        <p:sp>
          <p:nvSpPr>
            <p:cNvPr id="44" name="TextBox 44">
              <a:extLst xmlns:a="http://schemas.openxmlformats.org/drawingml/2006/main">
                <a:ext uri="{FF2B5EF4-FFF2-40B4-BE49-F238E27FC236}">
                  <a16:creationId xmlns:a16="http://schemas.microsoft.com/office/drawing/2014/main" id="{97B0DD3D-FF2E-4878-8A04-8148BD0D98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948678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(d) Decision support</a:t>
              </a:r>
              <a:endParaRPr sz="2120"/>
            </a:p>
          </p:txBody>
        </p:sp>
        <p:sp>
          <p:nvSpPr>
            <p:cNvPr id="45" name="TextBox 45">
              <a:extLst xmlns:a="http://schemas.openxmlformats.org/drawingml/2006/main">
                <a:ext uri="{FF2B5EF4-FFF2-40B4-BE49-F238E27FC236}">
                  <a16:creationId xmlns:a16="http://schemas.microsoft.com/office/drawing/2014/main" id="{B666113C-3DE4-4B12-9E7B-877A770FE5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30214" y="3921678"/>
              <a:ext cx="2543791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656565"/>
                  </a:solidFill>
                  <a:latin typeface="Cambria"/>
                  <a:ea typeface="Cambria"/>
                  <a:cs typeface="Cambria"/>
                </a:rPr>
                <a:t>H_t → H_{t+1}</a:t>
              </a:r>
              <a:endParaRPr sz="2300"/>
            </a:p>
          </p:txBody>
        </p:sp>
        <p:sp>
          <p:nvSpPr>
            <p:cNvPr id="46" name="TextBox 46">
              <a:extLst xmlns:a="http://schemas.openxmlformats.org/drawingml/2006/main">
                <a:ext uri="{FF2B5EF4-FFF2-40B4-BE49-F238E27FC236}">
                  <a16:creationId xmlns:a16="http://schemas.microsoft.com/office/drawing/2014/main" id="{603DB104-7707-49B1-90A8-A0A7E766B2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77218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Agent + temporal state</a:t>
              </a:r>
              <a:endParaRPr sz="2200"/>
            </a:p>
          </p:txBody>
        </p:sp>
        <p:sp>
          <p:nvSpPr>
            <p:cNvPr id="47" name="TextBox 47">
              <a:extLst xmlns:a="http://schemas.openxmlformats.org/drawingml/2006/main">
                <a:ext uri="{FF2B5EF4-FFF2-40B4-BE49-F238E27FC236}">
                  <a16:creationId xmlns:a16="http://schemas.microsoft.com/office/drawing/2014/main" id="{8766B3E4-EB04-4E69-AE5E-ABC51A021A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7174" y="7048421"/>
              <a:ext cx="180185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temporal memory</a:t>
              </a:r>
              <a:endParaRPr sz="2300"/>
            </a:p>
          </p:txBody>
        </p:sp>
        <p:sp>
          <p:nvSpPr>
            <p:cNvPr id="48" name="TextBox 48">
              <a:extLst xmlns:a="http://schemas.openxmlformats.org/drawingml/2006/main">
                <a:ext uri="{FF2B5EF4-FFF2-40B4-BE49-F238E27FC236}">
                  <a16:creationId xmlns:a16="http://schemas.microsoft.com/office/drawing/2014/main" id="{EE924DA1-1AC5-47D0-A0E4-A18E05593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874931" y="3964074"/>
              <a:ext cx="264978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output</a:t>
              </a:r>
              <a:endParaRPr sz="2300"/>
            </a:p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A8744081-E079-4E37-B6BA-8F8BB184D5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09952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updated forecast</a:t>
              </a:r>
              <a:endParaRPr sz="220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A2CAFC65-A212-4814-A3E7-FAA4806290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033918" y="7048421"/>
              <a:ext cx="180185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output</a:t>
              </a:r>
              <a:endParaRPr sz="230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668A8CCC-C327-4057-A67D-DCBCAF5648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42687" y="2670981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contract</a:t>
              </a:r>
              <a:endParaRPr sz="230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7E8F5060-C3D2-4835-8864-16A70EFC34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902600" y="2861765"/>
              <a:ext cx="1589869" cy="50875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800" i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plan / verify</a:t>
              </a:r>
              <a:endParaRPr sz="180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EA50E358-F446-4D86-BDF8-DC5E073098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683700" y="5776525"/>
              <a:ext cx="2967756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next task episode</a:t>
              </a:r>
              <a:endParaRPr sz="2000"/>
            </a:p>
          </p:txBody>
        </p:sp>
        <p:sp>
          <p:nvSpPr>
            <p:cNvPr id="54" name="TextBox 54">
              <a:extLst xmlns:a="http://schemas.openxmlformats.org/drawingml/2006/main">
                <a:ext uri="{FF2B5EF4-FFF2-40B4-BE49-F238E27FC236}">
                  <a16:creationId xmlns:a16="http://schemas.microsoft.com/office/drawing/2014/main" id="{F5855610-5DA9-4E46-855D-332EE69506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213656" y="7048421"/>
              <a:ext cx="2119826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60" i="1">
                  <a:solidFill>
                    <a:srgbClr val="555555"/>
                  </a:solidFill>
                  <a:latin typeface="Cambria"/>
                  <a:ea typeface="Cambria"/>
                  <a:cs typeface="Cambria"/>
                </a:rPr>
                <a:t>new module record</a:t>
              </a:r>
              <a:endParaRPr sz="1160"/>
            </a:p>
          </p:txBody>
        </p:sp>
        <p:sp>
          <p:nvSpPr>
            <p:cNvPr id="55" name="TextBox 55">
              <a:extLst xmlns:a="http://schemas.openxmlformats.org/drawingml/2006/main">
                <a:ext uri="{FF2B5EF4-FFF2-40B4-BE49-F238E27FC236}">
                  <a16:creationId xmlns:a16="http://schemas.microsoft.com/office/drawing/2014/main" id="{27678E7C-E9A8-4F09-BD63-BC992296E5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07307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retain</a:t>
              </a:r>
              <a:endParaRPr sz="1700"/>
            </a:p>
          </p:txBody>
        </p:sp>
        <p:sp>
          <p:nvSpPr>
            <p:cNvPr id="56" name="TextBox 56">
              <a:extLst xmlns:a="http://schemas.openxmlformats.org/drawingml/2006/main">
                <a:ext uri="{FF2B5EF4-FFF2-40B4-BE49-F238E27FC236}">
                  <a16:creationId xmlns:a16="http://schemas.microsoft.com/office/drawing/2014/main" id="{EE52EB24-6097-4986-96DE-01031EF8E4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35880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retain</a:t>
              </a:r>
              <a:endParaRPr sz="1700"/>
            </a:p>
          </p:txBody>
        </p:sp>
        <p:sp>
          <p:nvSpPr>
            <p:cNvPr id="57" name="TextBox 57">
              <a:extLst xmlns:a="http://schemas.openxmlformats.org/drawingml/2006/main">
                <a:ext uri="{FF2B5EF4-FFF2-40B4-BE49-F238E27FC236}">
                  <a16:creationId xmlns:a16="http://schemas.microsoft.com/office/drawing/2014/main" id="{D629858E-FB13-47A5-97D6-AB08E58B90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04396" y="4557626"/>
              <a:ext cx="180185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task-bound</a:t>
              </a:r>
              <a:endParaRPr sz="2000"/>
            </a:p>
          </p:txBody>
        </p:sp>
        <p:sp>
          <p:nvSpPr>
            <p:cNvPr id="58" name="TextBox 58">
              <a:extLst xmlns:a="http://schemas.openxmlformats.org/drawingml/2006/main">
                <a:ext uri="{FF2B5EF4-FFF2-40B4-BE49-F238E27FC236}">
                  <a16:creationId xmlns:a16="http://schemas.microsoft.com/office/drawing/2014/main" id="{B371695D-7E57-4EE2-9D4F-37E91C5EDC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5257168"/>
              <a:ext cx="1377887" cy="2967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cross-task reuse</a:t>
              </a:r>
              <a:endParaRPr sz="1700"/>
            </a:p>
          </p:txBody>
        </p:sp>
        <p:sp>
          <p:nvSpPr>
            <p:cNvPr id="59" name="TextBox 59">
              <a:extLst xmlns:a="http://schemas.openxmlformats.org/drawingml/2006/main">
                <a:ext uri="{FF2B5EF4-FFF2-40B4-BE49-F238E27FC236}">
                  <a16:creationId xmlns:a16="http://schemas.microsoft.com/office/drawing/2014/main" id="{57D98FDA-0589-4FDE-9D30-A5EFEB2DE1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8903269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500"/>
            </a:p>
          </p:txBody>
        </p:sp>
        <p:sp>
          <p:nvSpPr>
            <p:cNvPr id="60" name="TextBox 60">
              <a:extLst xmlns:a="http://schemas.openxmlformats.org/drawingml/2006/main">
                <a:ext uri="{FF2B5EF4-FFF2-40B4-BE49-F238E27FC236}">
                  <a16:creationId xmlns:a16="http://schemas.microsoft.com/office/drawing/2014/main" id="{6067EF63-8AE3-48C0-B87C-EF32F35828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231842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1" name="TextBox 61">
              <a:extLst xmlns:a="http://schemas.openxmlformats.org/drawingml/2006/main">
                <a:ext uri="{FF2B5EF4-FFF2-40B4-BE49-F238E27FC236}">
                  <a16:creationId xmlns:a16="http://schemas.microsoft.com/office/drawing/2014/main" id="{020E7366-2561-440D-8002-1C10A4B8D7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560415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2" name="TextBox 62">
              <a:extLst xmlns:a="http://schemas.openxmlformats.org/drawingml/2006/main">
                <a:ext uri="{FF2B5EF4-FFF2-40B4-BE49-F238E27FC236}">
                  <a16:creationId xmlns:a16="http://schemas.microsoft.com/office/drawing/2014/main" id="{92E6B0AD-BFA7-472F-B2BF-51599FC213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888988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3" name="TextBox 63">
              <a:extLst xmlns:a="http://schemas.openxmlformats.org/drawingml/2006/main">
                <a:ext uri="{FF2B5EF4-FFF2-40B4-BE49-F238E27FC236}">
                  <a16:creationId xmlns:a16="http://schemas.microsoft.com/office/drawing/2014/main" id="{0F1C4ED2-332A-4E97-889F-0DD91227E0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217561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4" name="TextBox 64">
              <a:extLst xmlns:a="http://schemas.openxmlformats.org/drawingml/2006/main">
                <a:ext uri="{FF2B5EF4-FFF2-40B4-BE49-F238E27FC236}">
                  <a16:creationId xmlns:a16="http://schemas.microsoft.com/office/drawing/2014/main" id="{53646A9D-7025-4432-BCF1-5EF9A00A32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546134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5" name="TextBox 65">
              <a:extLst xmlns:a="http://schemas.openxmlformats.org/drawingml/2006/main">
                <a:ext uri="{FF2B5EF4-FFF2-40B4-BE49-F238E27FC236}">
                  <a16:creationId xmlns:a16="http://schemas.microsoft.com/office/drawing/2014/main" id="{FF191263-542E-437A-860F-CC8A92AD8E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874707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6" name="TextBox 66">
              <a:extLst xmlns:a="http://schemas.openxmlformats.org/drawingml/2006/main">
                <a:ext uri="{FF2B5EF4-FFF2-40B4-BE49-F238E27FC236}">
                  <a16:creationId xmlns:a16="http://schemas.microsoft.com/office/drawing/2014/main" id="{B5744C7E-9726-4DF2-BCD3-D16F7DB592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203280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7" name="TextBox 67">
              <a:extLst xmlns:a="http://schemas.openxmlformats.org/drawingml/2006/main">
                <a:ext uri="{FF2B5EF4-FFF2-40B4-BE49-F238E27FC236}">
                  <a16:creationId xmlns:a16="http://schemas.microsoft.com/office/drawing/2014/main" id="{F2C06AE6-4A31-4F25-83C3-7D203DA6D4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531853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479159831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