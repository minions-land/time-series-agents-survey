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6" r:id="R2e0ace4a41a7452c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1.xml" Id="R2e0ace4a41a7452c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cac2745b6e3d4f6d"/><Relationship Type="http://schemas.openxmlformats.org/officeDocument/2006/relationships/notesMaster" Target="/ppt/notesMasters/notesMaster1.xml" Id="Rd3cdab95124848b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8f07ca8938b4ab7"/><Relationship Type="http://schemas.openxmlformats.org/officeDocument/2006/relationships/image" Target="/ppt/media/image.png" Id="Re19ed5c9584244ed"/><Relationship Type="http://schemas.openxmlformats.org/officeDocument/2006/relationships/image" Target="/ppt/media/image2.png" Id="Rd7140c72683d4497"/><Relationship Type="http://schemas.openxmlformats.org/officeDocument/2006/relationships/image" Target="/ppt/media/image3.png" Id="R0dc249edfa9940a7"/><Relationship Type="http://schemas.openxmlformats.org/officeDocument/2006/relationships/image" Target="/ppt/media/image4.png" Id="Rb46179c2ebac4a06"/><Relationship Type="http://schemas.openxmlformats.org/officeDocument/2006/relationships/image" Target="/ppt/media/image5.png" Id="R722463d8b0524f35"/><Relationship Type="http://schemas.openxmlformats.org/officeDocument/2006/relationships/image" Target="/ppt/media/image6.png" Id="R7fb26a2bcf784c73"/><Relationship Type="http://schemas.openxmlformats.org/officeDocument/2006/relationships/notesSlide" Target="/ppt/notesSlides/notesSlide1.xml" Id="R214a01d30500491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A74C9CCF-4226-451B-A73A-836A5FC3D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F1B83AF1-FD82-4BAC-9A10-EB3B02EE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7F3E3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7273A834-8333-4268-B157-40A2DCB01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A47CAF06-CFE6-485F-AC28-71E0AAA6C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5E2F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2809B153-37FB-4BFC-89B8-0AF20F72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EF0E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EB8C1623-F5F5-43E6-81ED-35CE3D75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FFF9CF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DF131352-803B-4782-B294-F7F2202D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10096500"/>
              <a:ext cx="13239750" cy="552450"/>
            </a:xfrm>
            <a:prstGeom xmlns:a="http://schemas.openxmlformats.org/drawingml/2006/main" prst="roundRect">
              <a:avLst>
                <a:gd name="adj" fmla="val 31034"/>
              </a:avLst>
            </a:prstGeom>
            <a:solidFill xmlns:a="http://schemas.openxmlformats.org/drawingml/2006/main">
              <a:srgbClr val="F2F3EE"/>
            </a:solidFill>
            <a:ln xmlns:a="http://schemas.openxmlformats.org/drawingml/2006/main" w="38100">
              <a:solidFill>
                <a:srgbClr val="2C2D2C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9" name="monitor">
              <a:extLst xmlns:a="http://schemas.openxmlformats.org/drawingml/2006/main">
                <a:ext uri="{FF2B5EF4-FFF2-40B4-BE49-F238E27FC236}">
                  <a16:creationId xmlns:a16="http://schemas.microsoft.com/office/drawing/2014/main" id="{19F7A632-1636-4B91-AE89-AFA5281039F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19ed5c9584244ed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document">
              <a:extLst xmlns:a="http://schemas.openxmlformats.org/drawingml/2006/main">
                <a:ext uri="{FF2B5EF4-FFF2-40B4-BE49-F238E27FC236}">
                  <a16:creationId xmlns:a16="http://schemas.microsoft.com/office/drawing/2014/main" id="{8989611D-09F0-4A6A-8C8F-E4B8B1DDA6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7140c72683d449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checked-document">
              <a:extLst xmlns:a="http://schemas.openxmlformats.org/drawingml/2006/main">
                <a:ext uri="{FF2B5EF4-FFF2-40B4-BE49-F238E27FC236}">
                  <a16:creationId xmlns:a16="http://schemas.microsoft.com/office/drawing/2014/main" id="{80750F03-5F1E-41C8-8B20-D182761A78E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c249edfa9940a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2" name="code-files">
              <a:extLst xmlns:a="http://schemas.openxmlformats.org/drawingml/2006/main">
                <a:ext uri="{FF2B5EF4-FFF2-40B4-BE49-F238E27FC236}">
                  <a16:creationId xmlns:a16="http://schemas.microsoft.com/office/drawing/2014/main" id="{7560F6DA-902A-4683-B965-EA7B6E364A2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46179c2ebac4a06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documents">
              <a:extLst xmlns:a="http://schemas.openxmlformats.org/drawingml/2006/main">
                <a:ext uri="{FF2B5EF4-FFF2-40B4-BE49-F238E27FC236}">
                  <a16:creationId xmlns:a16="http://schemas.microsoft.com/office/drawing/2014/main" id="{851F5A06-C8B5-4597-8F2A-BDB270A3AC5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2463d8b0524f3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4" name="shield-check">
              <a:extLst xmlns:a="http://schemas.openxmlformats.org/drawingml/2006/main">
                <a:ext uri="{FF2B5EF4-FFF2-40B4-BE49-F238E27FC236}">
                  <a16:creationId xmlns:a16="http://schemas.microsoft.com/office/drawing/2014/main" id="{47DD9597-0A75-49DA-89D4-850C98E1D955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fb26a2bcf784c7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5D40C4D7-8998-4A67-956C-7FB0888EF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836FE33E-2ADD-4F9E-BEEE-7AC7918FC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ADC59A5B-AB3B-40BA-87B6-F832DA370E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97BD7578-C2CC-4391-9050-3DEF2C903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6858000" y="4619625"/>
              <a:ext cx="1190625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57D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1FEAD2AC-338E-44A4-BCC6-56BB22539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20">
              <a:extLst xmlns:a="http://schemas.openxmlformats.org/drawingml/2006/main">
                <a:ext uri="{FF2B5EF4-FFF2-40B4-BE49-F238E27FC236}">
                  <a16:creationId xmlns:a16="http://schemas.microsoft.com/office/drawing/2014/main" id="{821521D2-83F3-4AED-81A6-4F6598E516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10621B7F-440B-4187-A66E-1EE676D8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12811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9655314C-45D5-435B-BD94-BE46FAB2E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54A58682-A4B0-4786-974A-8DC1034FE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142875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82898BE3-AD06-4A83-BE0D-A87E68E8A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328CE424-BB0A-48C4-9E1A-EC6D14FEF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73D249A2-740D-4C40-922F-5E58587B5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3286125" y="902970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D2E3DE1B-B0DC-42D6-A715-71B50D105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9B7FEA43-D95F-455A-B9DC-5987F0536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34125" y="1028700"/>
              <a:ext cx="40005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Time-Series Agent construction</a:t>
              </a:r>
              <a:endParaRPr sz="138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635448E4-B446-4810-85DE-7AEFE16AC7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715000" y="1628775"/>
              <a:ext cx="571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Modules compose across tasks</a:t>
              </a:r>
              <a:endParaRPr sz="19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557D7C7-0A63-4FF4-8DFA-58B1E9B73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Agent</a:t>
              </a:r>
              <a:endParaRPr sz="25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5EDA7FD3-7C76-4476-AF7B-C01A7EDF5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LLM +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and temporal data</a:t>
              </a:r>
              <a:endParaRPr sz="19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2B956CC6-84B2-42D8-86D5-B884194AB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Paper cards</a:t>
              </a:r>
              <a:endParaRPr sz="25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96488D2D-644F-4B5C-BA06-C728A60DA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claims, evidence,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module tags</a:t>
              </a:r>
              <a:endParaRPr sz="19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52814D69-94A9-4D43-AD20-3F510356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New task agent</a:t>
              </a:r>
              <a:endParaRPr sz="16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B0441189-B0F2-4FBC-91E2-D61027D73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Reusable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configuration</a:t>
              </a:r>
              <a:endParaRPr sz="19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B5A778F0-B4B3-445F-88BD-60003076B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General Harness</a:t>
              </a:r>
              <a:endParaRPr sz="16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8135804A-7E79-422B-803C-737B28FEC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tools, memory,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control, planning</a:t>
              </a:r>
              <a:endParaRPr sz="190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E792D0D1-82B0-4965-B721-AA2F5D06C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Harness</a:t>
              </a:r>
              <a:endParaRPr sz="25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C2D3E767-259E-4AB8-B39F-E91EB3531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temporal state,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operations, validation</a:t>
              </a:r>
              <a:endParaRPr sz="19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FADC864B-75CC-4906-9AC4-ED6EC912C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5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69234603-5CF0-4FDC-AA66-BA3DBAC8DE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forecasting, anomaly,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augmentation, decisions</a:t>
              </a:r>
              <a:endParaRPr sz="190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1CE96C91-6BF6-4691-B6D7-E5EB5E5D6D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3095625"/>
              <a:ext cx="904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instantiate</a:t>
              </a:r>
              <a:endParaRPr sz="108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EDE3FDC2-CE52-460D-9D1C-005430F62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952750" y="4762500"/>
              <a:ext cx="1238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observe</a:t>
              </a:r>
              <a:endParaRPr sz="190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367D18F-EEF8-4469-BDF5-7611931EF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5029200"/>
              <a:ext cx="1285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evaluate</a:t>
              </a:r>
              <a:endParaRPr sz="210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3B218B9E-1A38-4440-B01F-F776592B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6762750"/>
              <a:ext cx="1000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adapt</a:t>
              </a:r>
              <a:endParaRPr sz="20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C800D007-8885-4CE3-A2BB-C41C28DE3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191750" y="6762750"/>
              <a:ext cx="6667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benchmark</a:t>
              </a:r>
              <a:endParaRPr sz="20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95E9BF51-1D89-4615-9E4F-054ECC4D0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58625" y="4762500"/>
              <a:ext cx="180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select module</a:t>
              </a:r>
              <a:endParaRPr sz="19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3C20A67-4095-49BA-BFB5-FD2794241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00" y="9096375"/>
              <a:ext cx="49530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Module-level paper card</a:t>
              </a:r>
              <a:endParaRPr sz="117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5195BDD-DB93-4AF4-ABFD-EC0FF9D75B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95750" y="9601200"/>
              <a:ext cx="83343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One paper may contribute several modules</a:t>
              </a:r>
              <a:endParaRPr sz="19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3293197A-0C08-4983-863F-C62021D98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76500" y="10210800"/>
              <a:ext cx="11144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Task semantics and benchmark protocols remain explicit</a:t>
              </a:r>
              <a:endParaRPr sz="18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8735695C-344B-4EDE-8ECD-E6D1302BE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5875" y="323850"/>
              <a:ext cx="561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 system</a:t>
              </a:r>
              <a:endParaRPr sz="31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2B57A965-3E3D-427C-B3D8-9F357133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477625" y="409575"/>
              <a:ext cx="33813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buNone/>
              </a:pPr>
              <a:r>
                <a:rPr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module-level construction view</a:t>
              </a:r>
              <a:endParaRPr sz="154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B720197-D83C-4F5F-96F4-B2D6B9F07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" y="10744200"/>
              <a:ext cx="16287750" cy="1714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</p:grp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