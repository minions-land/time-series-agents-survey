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617f098721a4d57"/><Relationship Type="http://schemas.openxmlformats.org/officeDocument/2006/relationships/extended-properties" Target="/docProps/app.xml" Id="Ra015ba1c7313481c"/><Relationship Type="http://schemas.openxmlformats.org/officeDocument/2006/relationships/officeDocument" Target="/ppt/presentation.xml" Id="R92c05864f4aa4eae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2bc0624b043d1"/>
  </p:sldMasterIdLst>
  <p:notesMasterIdLst>
    <p:notesMasterId xmlns:r="http://schemas.openxmlformats.org/officeDocument/2006/relationships" r:id="Rebbd8d94544d4d3e"/>
  </p:notesMasterIdLst>
  <p:sldIdLst>
    <p:sldId xmlns:r="http://schemas.openxmlformats.org/officeDocument/2006/relationships" id="256" r:id="Rb752965ca54a4c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554b86e04504230"/><Relationship Type="http://schemas.openxmlformats.org/officeDocument/2006/relationships/slideMaster" Target="/ppt/slideMasters/slideMaster1.xml" Id="R0e12bc0624b043d1"/><Relationship Type="http://schemas.openxmlformats.org/officeDocument/2006/relationships/notesMaster" Target="/ppt/notesMasters/notesMaster1.xml" Id="Rebbd8d94544d4d3e"/><Relationship Type="http://schemas.openxmlformats.org/officeDocument/2006/relationships/presProps" Target="/ppt/presProps.xml" Id="R451d81dad5ef41c9"/><Relationship Type="http://schemas.openxmlformats.org/officeDocument/2006/relationships/tableStyles" Target="/ppt/tableStyles.xml" Id="R63952e5499d34105"/><Relationship Type="http://schemas.openxmlformats.org/officeDocument/2006/relationships/slide" Target="/ppt/slides/slide1.xml" Id="Rb752965ca54a4cb0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bdd94143be1346ad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48f7aa9c17484d83"/><Relationship Type="http://schemas.openxmlformats.org/officeDocument/2006/relationships/notesMaster" Target="/ppt/notesMasters/notesMaster1.xml" Id="R524545df70a94a5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Time-Series Harness map. The left column lists temporal semantics, the center specializes reusable Harness dimensions, and the right column shows task contracts. The bottom criterion is the cross-task reusability rule used in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bc0817edbf240e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957820dc0a1b4342"/><Relationship Type="http://schemas.openxmlformats.org/officeDocument/2006/relationships/slideLayout" Target="/ppt/slideLayouts/slideLayout1.xml" Id="R79731ba231254bb3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31ba23125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12485ad26ab4391"/><Relationship Type="http://schemas.openxmlformats.org/officeDocument/2006/relationships/notesSlide" Target="/ppt/notesSlides/notesSlide1.xml" Id="R24b0ee545abd4c9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8994C246-0CDE-47E2-B2A0-F3A8A2F20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C833B97E-6373-4950-AA5F-46BDC81AA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Reusable temporal obligations sit between a general runtime and a task contract.</a:t>
              </a:r>
            </a:p>
          </p:txBody>
        </p:sp>
      </p:grpSp>
      <p:grpSp>
        <p:nvGrpSpPr>
          <p:cNvPr id="51" name="group-temporal-semantics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temporal-semantics-frame">
              <a:extLst xmlns:a="http://schemas.openxmlformats.org/drawingml/2006/main">
                <a:ext uri="{FF2B5EF4-FFF2-40B4-BE49-F238E27FC236}">
                  <a16:creationId xmlns:a16="http://schemas.microsoft.com/office/drawing/2014/main" id="{2E74EF8A-26BD-4F2B-9C19-91565CF13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1428750"/>
              <a:ext cx="3238500" cy="5600700"/>
            </a:xfrm>
            <a:prstGeom xmlns:a="http://schemas.openxmlformats.org/drawingml/2006/main" prst="roundRect">
              <a:avLst>
                <a:gd name="adj" fmla="val 705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" name="temporal-semantics-title">
              <a:extLst xmlns:a="http://schemas.openxmlformats.org/drawingml/2006/main">
                <a:ext uri="{FF2B5EF4-FFF2-40B4-BE49-F238E27FC236}">
                  <a16:creationId xmlns:a16="http://schemas.microsoft.com/office/drawing/2014/main" id="{54B7FCBB-B261-4F40-9BE2-90FF1663C5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1695450"/>
              <a:ext cx="27051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semantics</a:t>
              </a:r>
            </a:p>
          </p:txBody>
        </p:sp>
        <p:sp>
          <p:nvSpPr>
            <p:cNvPr id="14" name="gts-frame">
              <a:extLst xmlns:a="http://schemas.openxmlformats.org/drawingml/2006/main">
                <a:ext uri="{FF2B5EF4-FFF2-40B4-BE49-F238E27FC236}">
                  <a16:creationId xmlns:a16="http://schemas.microsoft.com/office/drawing/2014/main" id="{99F165D9-1B4D-467B-8F64-6B38ABA3E0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48150" y="1428750"/>
              <a:ext cx="6705600" cy="5600700"/>
            </a:xfrm>
            <a:prstGeom xmlns:a="http://schemas.openxmlformats.org/drawingml/2006/main" prst="roundRect">
              <a:avLst>
                <a:gd name="adj" fmla="val 408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5" name="gts-title">
              <a:extLst xmlns:a="http://schemas.openxmlformats.org/drawingml/2006/main">
                <a:ext uri="{FF2B5EF4-FFF2-40B4-BE49-F238E27FC236}">
                  <a16:creationId xmlns:a16="http://schemas.microsoft.com/office/drawing/2014/main" id="{C4627F12-31FC-49E9-88C5-AAC7F46EA0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1695450"/>
              <a:ext cx="5943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Reusable across time-series tasks</a:t>
              </a:r>
            </a:p>
          </p:txBody>
        </p:sp>
        <p:sp>
          <p:nvSpPr>
            <p:cNvPr id="31" name="task-contract-frame">
              <a:extLst xmlns:a="http://schemas.openxmlformats.org/drawingml/2006/main">
                <a:ext uri="{FF2B5EF4-FFF2-40B4-BE49-F238E27FC236}">
                  <a16:creationId xmlns:a16="http://schemas.microsoft.com/office/drawing/2014/main" id="{2EEC6D51-5594-4C00-A7D3-6C9700D07F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34750" y="1428750"/>
              <a:ext cx="3295650" cy="5600700"/>
            </a:xfrm>
            <a:prstGeom xmlns:a="http://schemas.openxmlformats.org/drawingml/2006/main" prst="roundRect">
              <a:avLst>
                <a:gd name="adj" fmla="val 693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2" name="task-contract-title">
              <a:extLst xmlns:a="http://schemas.openxmlformats.org/drawingml/2006/main">
                <a:ext uri="{FF2B5EF4-FFF2-40B4-BE49-F238E27FC236}">
                  <a16:creationId xmlns:a16="http://schemas.microsoft.com/office/drawing/2014/main" id="{0A816966-ED42-457A-9F2A-3A58F6A159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01450" y="1695450"/>
              <a:ext cx="2762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Task contracts</a:t>
              </a:r>
            </a:p>
          </p:txBody>
        </p:sp>
        <p:sp>
          <p:nvSpPr>
            <p:cNvPr id="45" name="semantics-to-gts">
              <a:extLst xmlns:a="http://schemas.openxmlformats.org/drawingml/2006/main">
                <a:ext uri="{FF2B5EF4-FFF2-40B4-BE49-F238E27FC236}">
                  <a16:creationId xmlns:a16="http://schemas.microsoft.com/office/drawing/2014/main" id="{86C6C6AE-1FF7-40CF-B302-8B65CF52BF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848100" y="4229100"/>
              <a:ext cx="4000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6" name="gts-to-task-contract">
              <a:extLst xmlns:a="http://schemas.openxmlformats.org/drawingml/2006/main">
                <a:ext uri="{FF2B5EF4-FFF2-40B4-BE49-F238E27FC236}">
                  <a16:creationId xmlns:a16="http://schemas.microsoft.com/office/drawing/2014/main" id="{047721FC-20EC-46BA-B876-0F1ADF31A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0953750" y="4229100"/>
              <a:ext cx="381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7" name="gts-criterion">
              <a:extLst xmlns:a="http://schemas.openxmlformats.org/drawingml/2006/main">
                <a:ext uri="{FF2B5EF4-FFF2-40B4-BE49-F238E27FC236}">
                  <a16:creationId xmlns:a16="http://schemas.microsoft.com/office/drawing/2014/main" id="{0DFBDA2F-A2AC-46AB-BF4E-254D17131E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7448550"/>
              <a:ext cx="14020800" cy="533400"/>
            </a:xfrm>
            <a:prstGeom xmlns:a="http://schemas.openxmlformats.org/drawingml/2006/main" prst="roundRect">
              <a:avLst>
                <a:gd name="adj" fmla="val 2857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48" name="gts-criterion-text">
              <a:extLst xmlns:a="http://schemas.openxmlformats.org/drawingml/2006/main">
                <a:ext uri="{FF2B5EF4-FFF2-40B4-BE49-F238E27FC236}">
                  <a16:creationId xmlns:a16="http://schemas.microsoft.com/office/drawing/2014/main" id="{39E4F8A6-1C31-4E47-978B-9541305595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7610475"/>
              <a:ext cx="134874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 temporal mechanism is General Time-Series Harness when its contract survives a change of downstream task.</a:t>
              </a:r>
            </a:p>
          </p:txBody>
        </p:sp>
      </p:grpSp>
      <p:grpSp>
        <p:nvGrpSpPr>
          <p:cNvPr id="61" name="group-temporal-semantics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" name="temporal-semantics-1">
              <a:extLst xmlns:a="http://schemas.openxmlformats.org/drawingml/2006/main">
                <a:ext uri="{FF2B5EF4-FFF2-40B4-BE49-F238E27FC236}">
                  <a16:creationId xmlns:a16="http://schemas.microsoft.com/office/drawing/2014/main" id="{356E733D-E143-4E7D-A23F-B59DDA8E29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362200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6" name="temporal-semantics-title-1">
              <a:extLst xmlns:a="http://schemas.openxmlformats.org/drawingml/2006/main">
                <a:ext uri="{FF2B5EF4-FFF2-40B4-BE49-F238E27FC236}">
                  <a16:creationId xmlns:a16="http://schemas.microsoft.com/office/drawing/2014/main" id="{5FEA879B-EBF2-4E7B-9E9A-20A1D68A8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533650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Temporal objects</a:t>
              </a:r>
            </a:p>
          </p:txBody>
        </p:sp>
        <p:sp>
          <p:nvSpPr>
            <p:cNvPr id="7" name="temporal-semantics-body-1">
              <a:extLst xmlns:a="http://schemas.openxmlformats.org/drawingml/2006/main">
                <a:ext uri="{FF2B5EF4-FFF2-40B4-BE49-F238E27FC236}">
                  <a16:creationId xmlns:a16="http://schemas.microsoft.com/office/drawing/2014/main" id="{A3CBE901-0700-4241-AB64-442399242B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886075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time · window · horizon · unit</a:t>
              </a:r>
            </a:p>
          </p:txBody>
        </p:sp>
      </p:grpSp>
      <p:grpSp>
        <p:nvGrpSpPr>
          <p:cNvPr id="62" name="group-temporal-semantics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temporal-semantics-2">
              <a:extLst xmlns:a="http://schemas.openxmlformats.org/drawingml/2006/main">
                <a:ext uri="{FF2B5EF4-FFF2-40B4-BE49-F238E27FC236}">
                  <a16:creationId xmlns:a16="http://schemas.microsoft.com/office/drawing/2014/main" id="{C85F2B19-4EA1-4189-9827-723CB0F672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3743325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9" name="temporal-semantics-title-2">
              <a:extLst xmlns:a="http://schemas.openxmlformats.org/drawingml/2006/main">
                <a:ext uri="{FF2B5EF4-FFF2-40B4-BE49-F238E27FC236}">
                  <a16:creationId xmlns:a16="http://schemas.microsoft.com/office/drawing/2014/main" id="{7B71B0A6-AF51-4A09-A06F-CCF3D35D3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3914775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operations</a:t>
              </a:r>
            </a:p>
          </p:txBody>
        </p:sp>
        <p:sp>
          <p:nvSpPr>
            <p:cNvPr id="10" name="temporal-semantics-body-2">
              <a:extLst xmlns:a="http://schemas.openxmlformats.org/drawingml/2006/main">
                <a:ext uri="{FF2B5EF4-FFF2-40B4-BE49-F238E27FC236}">
                  <a16:creationId xmlns:a16="http://schemas.microsoft.com/office/drawing/2014/main" id="{0D7305A6-5D57-45FF-AD6F-2362DCFFB3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4267200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align · resample · split · aggregate</a:t>
              </a:r>
            </a:p>
          </p:txBody>
        </p:sp>
      </p:grpSp>
      <p:grpSp>
        <p:nvGrpSpPr>
          <p:cNvPr id="52" name="group-gts-row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gts-row-1">
              <a:extLst xmlns:a="http://schemas.openxmlformats.org/drawingml/2006/main">
                <a:ext uri="{FF2B5EF4-FFF2-40B4-BE49-F238E27FC236}">
                  <a16:creationId xmlns:a16="http://schemas.microsoft.com/office/drawing/2014/main" id="{8C30EEC3-39E8-41EF-A591-50FA7498DB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220980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7" name="gts-row-title-1">
              <a:extLst xmlns:a="http://schemas.openxmlformats.org/drawingml/2006/main">
                <a:ext uri="{FF2B5EF4-FFF2-40B4-BE49-F238E27FC236}">
                  <a16:creationId xmlns:a16="http://schemas.microsoft.com/office/drawing/2014/main" id="{16899017-FB48-43C3-976F-8921F3A859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237172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</a:p>
          </p:txBody>
        </p:sp>
        <p:sp>
          <p:nvSpPr>
            <p:cNvPr id="18" name="gts-row-body-1">
              <a:extLst xmlns:a="http://schemas.openxmlformats.org/drawingml/2006/main">
                <a:ext uri="{FF2B5EF4-FFF2-40B4-BE49-F238E27FC236}">
                  <a16:creationId xmlns:a16="http://schemas.microsoft.com/office/drawing/2014/main" id="{8BD6032D-7A4E-4316-A277-26970D963D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240030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as-of time · horizon · frequency · channels</a:t>
              </a:r>
            </a:p>
          </p:txBody>
        </p:sp>
      </p:grpSp>
      <p:grpSp>
        <p:nvGrpSpPr>
          <p:cNvPr id="53" name="group-gts-row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gts-row-2">
              <a:extLst xmlns:a="http://schemas.openxmlformats.org/drawingml/2006/main">
                <a:ext uri="{FF2B5EF4-FFF2-40B4-BE49-F238E27FC236}">
                  <a16:creationId xmlns:a16="http://schemas.microsoft.com/office/drawing/2014/main" id="{7CB61910-C15D-4964-AE50-4BEA818E5A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3095625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20" name="gts-row-title-2">
              <a:extLst xmlns:a="http://schemas.openxmlformats.org/drawingml/2006/main">
                <a:ext uri="{FF2B5EF4-FFF2-40B4-BE49-F238E27FC236}">
                  <a16:creationId xmlns:a16="http://schemas.microsoft.com/office/drawing/2014/main" id="{6C5B047B-D356-469E-BB72-A52F25397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3257550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Memory and context</a:t>
              </a:r>
            </a:p>
          </p:txBody>
        </p:sp>
        <p:sp>
          <p:nvSpPr>
            <p:cNvPr id="21" name="gts-row-body-2">
              <a:extLst xmlns:a="http://schemas.openxmlformats.org/drawingml/2006/main">
                <a:ext uri="{FF2B5EF4-FFF2-40B4-BE49-F238E27FC236}">
                  <a16:creationId xmlns:a16="http://schemas.microsoft.com/office/drawing/2014/main" id="{1FFB3C3B-5148-4402-A89A-AD47981274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3286125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point-in-time state · provenance · event history</a:t>
              </a:r>
            </a:p>
          </p:txBody>
        </p:sp>
      </p:grpSp>
      <p:grpSp>
        <p:nvGrpSpPr>
          <p:cNvPr id="54" name="group-gts-row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gts-row-3">
              <a:extLst xmlns:a="http://schemas.openxmlformats.org/drawingml/2006/main">
                <a:ext uri="{FF2B5EF4-FFF2-40B4-BE49-F238E27FC236}">
                  <a16:creationId xmlns:a16="http://schemas.microsoft.com/office/drawing/2014/main" id="{587EA1C3-E85B-4557-93FE-345853402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398145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gts-row-title-3">
              <a:extLst xmlns:a="http://schemas.openxmlformats.org/drawingml/2006/main">
                <a:ext uri="{FF2B5EF4-FFF2-40B4-BE49-F238E27FC236}">
                  <a16:creationId xmlns:a16="http://schemas.microsoft.com/office/drawing/2014/main" id="{C5C58980-F43C-4787-A200-34F910BE5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414337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 and execution</a:t>
              </a:r>
            </a:p>
          </p:txBody>
        </p:sp>
        <p:sp>
          <p:nvSpPr>
            <p:cNvPr id="24" name="gts-row-body-3">
              <a:extLst xmlns:a="http://schemas.openxmlformats.org/drawingml/2006/main">
                <a:ext uri="{FF2B5EF4-FFF2-40B4-BE49-F238E27FC236}">
                  <a16:creationId xmlns:a16="http://schemas.microsoft.com/office/drawing/2014/main" id="{FADEA772-8E51-494B-B043-C34FC9D7E0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417195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query · forecasting model · simulator</a:t>
              </a:r>
            </a:p>
          </p:txBody>
        </p:sp>
      </p:grpSp>
      <p:grpSp>
        <p:nvGrpSpPr>
          <p:cNvPr id="55" name="group-gts-row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5" name="gts-row-4">
              <a:extLst xmlns:a="http://schemas.openxmlformats.org/drawingml/2006/main">
                <a:ext uri="{FF2B5EF4-FFF2-40B4-BE49-F238E27FC236}">
                  <a16:creationId xmlns:a16="http://schemas.microsoft.com/office/drawing/2014/main" id="{0CDAD4A3-17FA-4595-A074-DF3DB4C4A5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4867275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6" name="gts-row-title-4">
              <a:extLst xmlns:a="http://schemas.openxmlformats.org/drawingml/2006/main">
                <a:ext uri="{FF2B5EF4-FFF2-40B4-BE49-F238E27FC236}">
                  <a16:creationId xmlns:a16="http://schemas.microsoft.com/office/drawing/2014/main" id="{9BA09335-C7C1-4482-B8C1-3C9E05E96E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5029200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Control and verification</a:t>
              </a:r>
            </a:p>
          </p:txBody>
        </p:sp>
        <p:sp>
          <p:nvSpPr>
            <p:cNvPr id="27" name="gts-row-body-4">
              <a:extLst xmlns:a="http://schemas.openxmlformats.org/drawingml/2006/main">
                <a:ext uri="{FF2B5EF4-FFF2-40B4-BE49-F238E27FC236}">
                  <a16:creationId xmlns:a16="http://schemas.microsoft.com/office/drawing/2014/main" id="{85AAFBED-77B0-48AA-A729-BF5BC31522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5057775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chronology guard · leakage check · revision</a:t>
              </a:r>
            </a:p>
          </p:txBody>
        </p:sp>
      </p:grpSp>
      <p:grpSp>
        <p:nvGrpSpPr>
          <p:cNvPr id="56" name="group-gts-row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8" name="gts-row-5">
              <a:extLst xmlns:a="http://schemas.openxmlformats.org/drawingml/2006/main">
                <a:ext uri="{FF2B5EF4-FFF2-40B4-BE49-F238E27FC236}">
                  <a16:creationId xmlns:a16="http://schemas.microsoft.com/office/drawing/2014/main" id="{8EC74449-00A2-4C9E-8C02-6A65553931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575310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29" name="gts-row-title-5">
              <a:extLst xmlns:a="http://schemas.openxmlformats.org/drawingml/2006/main">
                <a:ext uri="{FF2B5EF4-FFF2-40B4-BE49-F238E27FC236}">
                  <a16:creationId xmlns:a16="http://schemas.microsoft.com/office/drawing/2014/main" id="{0BDD4BFE-7B5E-4CEE-B2E0-E33E4276FE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591502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Planning and coordination</a:t>
              </a:r>
            </a:p>
          </p:txBody>
        </p:sp>
        <p:sp>
          <p:nvSpPr>
            <p:cNvPr id="30" name="gts-row-body-5">
              <a:extLst xmlns:a="http://schemas.openxmlformats.org/drawingml/2006/main">
                <a:ext uri="{FF2B5EF4-FFF2-40B4-BE49-F238E27FC236}">
                  <a16:creationId xmlns:a16="http://schemas.microsoft.com/office/drawing/2014/main" id="{4630AC12-B63E-458C-A718-00DA471850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594360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workflow · delegation · review · stopping</a:t>
              </a:r>
            </a:p>
          </p:txBody>
        </p:sp>
      </p:grpSp>
      <p:grpSp>
        <p:nvGrpSpPr>
          <p:cNvPr id="57" name="group-task-contract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3" name="task-contract-1">
              <a:extLst xmlns:a="http://schemas.openxmlformats.org/drawingml/2006/main">
                <a:ext uri="{FF2B5EF4-FFF2-40B4-BE49-F238E27FC236}">
                  <a16:creationId xmlns:a16="http://schemas.microsoft.com/office/drawing/2014/main" id="{D075C3E8-CD64-477D-B609-B5F85372C5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23241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4" name="task-contract-title-1">
              <a:extLst xmlns:a="http://schemas.openxmlformats.org/drawingml/2006/main">
                <a:ext uri="{FF2B5EF4-FFF2-40B4-BE49-F238E27FC236}">
                  <a16:creationId xmlns:a16="http://schemas.microsoft.com/office/drawing/2014/main" id="{4C412D9A-BB23-4759-853C-5985879966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24669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Forecasting</a:t>
              </a:r>
            </a:p>
          </p:txBody>
        </p:sp>
        <p:sp>
          <p:nvSpPr>
            <p:cNvPr id="35" name="task-contract-body-1">
              <a:extLst xmlns:a="http://schemas.openxmlformats.org/drawingml/2006/main">
                <a:ext uri="{FF2B5EF4-FFF2-40B4-BE49-F238E27FC236}">
                  <a16:creationId xmlns:a16="http://schemas.microsoft.com/office/drawing/2014/main" id="{184C33AC-B450-4938-96CB-34CF92B63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27908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origin · horizon · calibration</a:t>
              </a:r>
            </a:p>
          </p:txBody>
        </p:sp>
      </p:grpSp>
      <p:grpSp>
        <p:nvGrpSpPr>
          <p:cNvPr id="58" name="group-task-contract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task-contract-2">
              <a:extLst xmlns:a="http://schemas.openxmlformats.org/drawingml/2006/main">
                <a:ext uri="{FF2B5EF4-FFF2-40B4-BE49-F238E27FC236}">
                  <a16:creationId xmlns:a16="http://schemas.microsoft.com/office/drawing/2014/main" id="{9B67FF33-9639-459C-8D1E-FFF92ECCFB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33909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7" name="task-contract-title-2">
              <a:extLst xmlns:a="http://schemas.openxmlformats.org/drawingml/2006/main">
                <a:ext uri="{FF2B5EF4-FFF2-40B4-BE49-F238E27FC236}">
                  <a16:creationId xmlns:a16="http://schemas.microsoft.com/office/drawing/2014/main" id="{38791BEE-524F-4CBA-8906-4553DCCDB1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35337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Augmentation</a:t>
              </a:r>
            </a:p>
          </p:txBody>
        </p:sp>
        <p:sp>
          <p:nvSpPr>
            <p:cNvPr id="38" name="task-contract-body-2">
              <a:extLst xmlns:a="http://schemas.openxmlformats.org/drawingml/2006/main">
                <a:ext uri="{FF2B5EF4-FFF2-40B4-BE49-F238E27FC236}">
                  <a16:creationId xmlns:a16="http://schemas.microsoft.com/office/drawing/2014/main" id="{B92E9C81-DC4C-4B03-AB51-8EF8C58FB4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38576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fidelity · diversity · utility</a:t>
              </a:r>
            </a:p>
          </p:txBody>
        </p:sp>
      </p:grpSp>
      <p:grpSp>
        <p:nvGrpSpPr>
          <p:cNvPr id="59" name="group-task-contract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9" name="task-contract-3">
              <a:extLst xmlns:a="http://schemas.openxmlformats.org/drawingml/2006/main">
                <a:ext uri="{FF2B5EF4-FFF2-40B4-BE49-F238E27FC236}">
                  <a16:creationId xmlns:a16="http://schemas.microsoft.com/office/drawing/2014/main" id="{CA84EA90-AE2A-4815-9C4B-7DD5958555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4577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0" name="task-contract-title-3">
              <a:extLst xmlns:a="http://schemas.openxmlformats.org/drawingml/2006/main">
                <a:ext uri="{FF2B5EF4-FFF2-40B4-BE49-F238E27FC236}">
                  <a16:creationId xmlns:a16="http://schemas.microsoft.com/office/drawing/2014/main" id="{2A589E94-2B59-4707-82A0-12218D76E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6005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Anomaly diagnosis</a:t>
              </a:r>
            </a:p>
          </p:txBody>
        </p:sp>
        <p:sp>
          <p:nvSpPr>
            <p:cNvPr id="41" name="task-contract-body-3">
              <a:extLst xmlns:a="http://schemas.openxmlformats.org/drawingml/2006/main">
                <a:ext uri="{FF2B5EF4-FFF2-40B4-BE49-F238E27FC236}">
                  <a16:creationId xmlns:a16="http://schemas.microsoft.com/office/drawing/2014/main" id="{61D7D4DD-BBF3-4C81-99D3-F427DE9262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244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event · window · cause</a:t>
              </a:r>
            </a:p>
          </p:txBody>
        </p:sp>
      </p:grpSp>
      <p:grpSp>
        <p:nvGrpSpPr>
          <p:cNvPr id="60" name="group-task-contract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2" name="task-contract-4">
              <a:extLst xmlns:a="http://schemas.openxmlformats.org/drawingml/2006/main">
                <a:ext uri="{FF2B5EF4-FFF2-40B4-BE49-F238E27FC236}">
                  <a16:creationId xmlns:a16="http://schemas.microsoft.com/office/drawing/2014/main" id="{8BF43187-BBA6-4AB5-B933-9C0E48408F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55245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3" name="task-contract-title-4">
              <a:extLst xmlns:a="http://schemas.openxmlformats.org/drawingml/2006/main">
                <a:ext uri="{FF2B5EF4-FFF2-40B4-BE49-F238E27FC236}">
                  <a16:creationId xmlns:a16="http://schemas.microsoft.com/office/drawing/2014/main" id="{C601E957-6F65-41AF-86D8-D1AB81459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56673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Decision support</a:t>
              </a:r>
            </a:p>
          </p:txBody>
        </p:sp>
        <p:sp>
          <p:nvSpPr>
            <p:cNvPr id="44" name="task-contract-body-4">
              <a:extLst xmlns:a="http://schemas.openxmlformats.org/drawingml/2006/main">
                <a:ext uri="{FF2B5EF4-FFF2-40B4-BE49-F238E27FC236}">
                  <a16:creationId xmlns:a16="http://schemas.microsoft.com/office/drawing/2014/main" id="{551298CE-7563-4F45-92F5-5CE85269DA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59912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action · cost · uncertainty</a:t>
              </a:r>
            </a:p>
          </p:txBody>
        </p:sp>
      </p:grpSp>
      <p:grpSp>
        <p:nvGrpSpPr>
          <p:cNvPr id="63" name="group-temporal-semantics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1" name="temporal-semantics-3">
              <a:extLst xmlns:a="http://schemas.openxmlformats.org/drawingml/2006/main">
                <a:ext uri="{FF2B5EF4-FFF2-40B4-BE49-F238E27FC236}">
                  <a16:creationId xmlns:a16="http://schemas.microsoft.com/office/drawing/2014/main" id="{DA85A56E-5586-43CE-BBA2-93AFA9547B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124450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2" name="temporal-semantics-title-3">
              <a:extLst xmlns:a="http://schemas.openxmlformats.org/drawingml/2006/main">
                <a:ext uri="{FF2B5EF4-FFF2-40B4-BE49-F238E27FC236}">
                  <a16:creationId xmlns:a16="http://schemas.microsoft.com/office/drawing/2014/main" id="{91CB6C84-9493-442A-98E4-FD4B030257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5295900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evidence</a:t>
              </a:r>
            </a:p>
          </p:txBody>
        </p:sp>
        <p:sp>
          <p:nvSpPr>
            <p:cNvPr id="13" name="temporal-semantics-body-3">
              <a:extLst xmlns:a="http://schemas.openxmlformats.org/drawingml/2006/main">
                <a:ext uri="{FF2B5EF4-FFF2-40B4-BE49-F238E27FC236}">
                  <a16:creationId xmlns:a16="http://schemas.microsoft.com/office/drawing/2014/main" id="{572B56B4-7D49-4CF9-BD8F-4BFEC11B76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5648325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availability · provenance · revision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3825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2026-10-02T08:18:02.5020000Z</dcterms:created>
  <dcterms:modified xsi:type="dcterms:W3CDTF">2026-10-02T08:18:02.5020000Z</dcterms:modified>
</coreProperties>
</file>