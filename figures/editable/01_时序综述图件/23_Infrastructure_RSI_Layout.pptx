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44f1e5da11e4cb8"/><Relationship Type="http://schemas.openxmlformats.org/officeDocument/2006/relationships/extended-properties" Target="/docProps/app.xml" Id="Rddb314c7175b472d"/><Relationship Type="http://schemas.openxmlformats.org/officeDocument/2006/relationships/officeDocument" Target="/ppt/presentation.xml" Id="Rb7331ddb9c214d1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bd1c0171224daa"/>
  </p:sldMasterIdLst>
  <p:notesMasterIdLst>
    <p:notesMasterId xmlns:r="http://schemas.openxmlformats.org/officeDocument/2006/relationships" r:id="R72ee8bd56e694cd7"/>
  </p:notesMasterIdLst>
  <p:sldIdLst>
    <p:sldId xmlns:r="http://schemas.openxmlformats.org/officeDocument/2006/relationships" id="256" r:id="R9fd738c7e4cf4b5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5296444b5dbf466d"/><Relationship Type="http://schemas.openxmlformats.org/officeDocument/2006/relationships/slideMaster" Target="/ppt/slideMasters/slideMaster1.xml" Id="Re6bd1c0171224daa"/><Relationship Type="http://schemas.openxmlformats.org/officeDocument/2006/relationships/notesMaster" Target="/ppt/notesMasters/notesMaster1.xml" Id="R72ee8bd56e694cd7"/><Relationship Type="http://schemas.openxmlformats.org/officeDocument/2006/relationships/presProps" Target="/ppt/presProps.xml" Id="R6f2f12e3f9634834"/><Relationship Type="http://schemas.openxmlformats.org/officeDocument/2006/relationships/tableStyles" Target="/ppt/tableStyles.xml" Id="R141d67774a7e4d39"/><Relationship Type="http://schemas.openxmlformats.org/officeDocument/2006/relationships/slide" Target="/ppt/slides/slide1.xml" Id="R9fd738c7e4cf4b5f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4e04b65777f34d4e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47ba37e2ed014032"/><Relationship Type="http://schemas.openxmlformats.org/officeDocument/2006/relationships/notesMaster" Target="/ppt/notesMasters/notesMaster1.xml" Id="Rcc9f7fb496534c60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RSI-style visual grammar adapted for the Time-Series Agent survey. Content is a survey-level synthesis of infrastructure and benchmark requirements; the underlying benchmark systems are cited in the manuscript.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f7f1c32451d4f00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5e6f0dc375d14af6"/><Relationship Type="http://schemas.openxmlformats.org/officeDocument/2006/relationships/slideLayout" Target="/ppt/slideLayouts/slideLayout1.xml" Id="R46c64a6f270d482a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64a6f270d48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252b22a9d3a4ed1"/><Relationship Type="http://schemas.openxmlformats.org/officeDocument/2006/relationships/notesSlide" Target="/ppt/notesSlides/notesSlide1.xml" Id="R71ff7baa687b4dfd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61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0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E4AC22A8-569E-4063-8D4C-A2F31FE5C0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2950" y="361950"/>
              <a:ext cx="137160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6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6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Infrastructure and benchmark coverage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E1E2DA53-1620-4FAA-B791-8E46C244BB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838200"/>
              <a:ext cx="1362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 benchmark must expose the data, tools, evidence, and outputs that make an Agent episode reproducible.</a:t>
              </a:r>
            </a:p>
          </p:txBody>
        </p:sp>
      </p:grpSp>
      <p:grpSp>
        <p:nvGrpSpPr>
          <p:cNvPr id="6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inputs-panel">
              <a:extLst xmlns:a="http://schemas.openxmlformats.org/drawingml/2006/main">
                <a:ext uri="{FF2B5EF4-FFF2-40B4-BE49-F238E27FC236}">
                  <a16:creationId xmlns:a16="http://schemas.microsoft.com/office/drawing/2014/main" id="{1103DF82-F10B-47F5-B78A-0CDD1AED80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619250"/>
              <a:ext cx="3429000" cy="4476750"/>
            </a:xfrm>
            <a:prstGeom xmlns:a="http://schemas.openxmlformats.org/drawingml/2006/main" prst="roundRect">
              <a:avLst>
                <a:gd name="adj" fmla="val 5556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9050">
              <a:solidFill>
                <a:srgbClr val="438B86"/>
              </a:solidFill>
              <a:prstDash val="dash"/>
            </a:ln>
          </p:spPr>
        </p:sp>
        <p:sp>
          <p:nvSpPr>
            <p:cNvPr id="4" name="inputs-title">
              <a:extLst xmlns:a="http://schemas.openxmlformats.org/drawingml/2006/main">
                <a:ext uri="{FF2B5EF4-FFF2-40B4-BE49-F238E27FC236}">
                  <a16:creationId xmlns:a16="http://schemas.microsoft.com/office/drawing/2014/main" id="{DA831175-A7D3-468D-9501-F5C21248B9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1790700"/>
              <a:ext cx="30099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Inputs and skills</a:t>
              </a:r>
            </a:p>
          </p:txBody>
        </p:sp>
        <p:sp>
          <p:nvSpPr>
            <p:cNvPr id="5" name="inputs-subtitle">
              <a:extLst xmlns:a="http://schemas.openxmlformats.org/drawingml/2006/main">
                <a:ext uri="{FF2B5EF4-FFF2-40B4-BE49-F238E27FC236}">
                  <a16:creationId xmlns:a16="http://schemas.microsoft.com/office/drawing/2014/main" id="{EBDFC0FC-58F0-4426-9578-C13115A2BA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2114550"/>
              <a:ext cx="30099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what the episode can access</a:t>
              </a:r>
            </a:p>
          </p:txBody>
        </p:sp>
        <p:sp>
          <p:nvSpPr>
            <p:cNvPr id="6" name="data-sources-box">
              <a:extLst xmlns:a="http://schemas.openxmlformats.org/drawingml/2006/main">
                <a:ext uri="{FF2B5EF4-FFF2-40B4-BE49-F238E27FC236}">
                  <a16:creationId xmlns:a16="http://schemas.microsoft.com/office/drawing/2014/main" id="{DF5670AE-598D-4777-8818-16E876944F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381250"/>
              <a:ext cx="2857500" cy="762000"/>
            </a:xfrm>
            <a:prstGeom xmlns:a="http://schemas.openxmlformats.org/drawingml/2006/main" prst="roundRect">
              <a:avLst>
                <a:gd name="adj" fmla="val 15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438B86"/>
              </a:solidFill>
              <a:prstDash val="solid"/>
            </a:ln>
          </p:spPr>
        </p:sp>
        <p:sp>
          <p:nvSpPr>
            <p:cNvPr id="7" name="data-sources-title">
              <a:extLst xmlns:a="http://schemas.openxmlformats.org/drawingml/2006/main">
                <a:ext uri="{FF2B5EF4-FFF2-40B4-BE49-F238E27FC236}">
                  <a16:creationId xmlns:a16="http://schemas.microsoft.com/office/drawing/2014/main" id="{9A45CDCD-9956-4561-98D0-D2FA10CE12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2505075"/>
              <a:ext cx="2590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Data sources</a:t>
              </a:r>
            </a:p>
          </p:txBody>
        </p:sp>
        <p:sp>
          <p:nvSpPr>
            <p:cNvPr id="8" name="data-sources-body">
              <a:extLst xmlns:a="http://schemas.openxmlformats.org/drawingml/2006/main">
                <a:ext uri="{FF2B5EF4-FFF2-40B4-BE49-F238E27FC236}">
                  <a16:creationId xmlns:a16="http://schemas.microsoft.com/office/drawing/2014/main" id="{45ABD5EC-E96E-42B4-8006-BCFC6A410F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2781300"/>
              <a:ext cx="25908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datasets · repositories · event context</a:t>
              </a:r>
            </a:p>
          </p:txBody>
        </p:sp>
        <p:sp>
          <p:nvSpPr>
            <p:cNvPr id="9" name="skill-simulators-box">
              <a:extLst xmlns:a="http://schemas.openxmlformats.org/drawingml/2006/main">
                <a:ext uri="{FF2B5EF4-FFF2-40B4-BE49-F238E27FC236}">
                  <a16:creationId xmlns:a16="http://schemas.microsoft.com/office/drawing/2014/main" id="{AD27D0D9-3BBC-48E7-B4C3-00A5E1EE68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429000"/>
              <a:ext cx="2857500" cy="762000"/>
            </a:xfrm>
            <a:prstGeom xmlns:a="http://schemas.openxmlformats.org/drawingml/2006/main" prst="roundRect">
              <a:avLst>
                <a:gd name="adj" fmla="val 15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438B86"/>
              </a:solidFill>
              <a:prstDash val="solid"/>
            </a:ln>
          </p:spPr>
        </p:sp>
        <p:sp>
          <p:nvSpPr>
            <p:cNvPr id="10" name="skill-simulators-title">
              <a:extLst xmlns:a="http://schemas.openxmlformats.org/drawingml/2006/main">
                <a:ext uri="{FF2B5EF4-FFF2-40B4-BE49-F238E27FC236}">
                  <a16:creationId xmlns:a16="http://schemas.microsoft.com/office/drawing/2014/main" id="{45B208C8-6B6D-4AD8-82D1-889FB880F4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3552825"/>
              <a:ext cx="2590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Skill simulators</a:t>
              </a:r>
            </a:p>
          </p:txBody>
        </p:sp>
        <p:sp>
          <p:nvSpPr>
            <p:cNvPr id="11" name="skill-simulators-body">
              <a:extLst xmlns:a="http://schemas.openxmlformats.org/drawingml/2006/main">
                <a:ext uri="{FF2B5EF4-FFF2-40B4-BE49-F238E27FC236}">
                  <a16:creationId xmlns:a16="http://schemas.microsoft.com/office/drawing/2014/main" id="{EF365432-A08A-49CD-A0A3-8662153474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3829050"/>
              <a:ext cx="25908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data handling · tuning · code repair</a:t>
              </a:r>
            </a:p>
          </p:txBody>
        </p:sp>
        <p:sp>
          <p:nvSpPr>
            <p:cNvPr id="12" name="task-contract-box">
              <a:extLst xmlns:a="http://schemas.openxmlformats.org/drawingml/2006/main">
                <a:ext uri="{FF2B5EF4-FFF2-40B4-BE49-F238E27FC236}">
                  <a16:creationId xmlns:a16="http://schemas.microsoft.com/office/drawing/2014/main" id="{30F1F09A-977D-47EA-8855-766E76DFA1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476750"/>
              <a:ext cx="2857500" cy="762000"/>
            </a:xfrm>
            <a:prstGeom xmlns:a="http://schemas.openxmlformats.org/drawingml/2006/main" prst="roundRect">
              <a:avLst>
                <a:gd name="adj" fmla="val 15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438B86"/>
              </a:solidFill>
              <a:prstDash val="solid"/>
            </a:ln>
          </p:spPr>
        </p:sp>
        <p:sp>
          <p:nvSpPr>
            <p:cNvPr id="13" name="task-contract-title">
              <a:extLst xmlns:a="http://schemas.openxmlformats.org/drawingml/2006/main">
                <a:ext uri="{FF2B5EF4-FFF2-40B4-BE49-F238E27FC236}">
                  <a16:creationId xmlns:a16="http://schemas.microsoft.com/office/drawing/2014/main" id="{3766CD07-4F8B-45C6-A3AD-34659F686B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4600575"/>
              <a:ext cx="2590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  <p:sp>
          <p:nvSpPr>
            <p:cNvPr id="14" name="task-contract-body">
              <a:extLst xmlns:a="http://schemas.openxmlformats.org/drawingml/2006/main">
                <a:ext uri="{FF2B5EF4-FFF2-40B4-BE49-F238E27FC236}">
                  <a16:creationId xmlns:a16="http://schemas.microsoft.com/office/drawing/2014/main" id="{46DCEAC5-DA5A-4F81-B29E-749B7CFE0C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4876800"/>
              <a:ext cx="25908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horizon · authority · output format</a:t>
              </a:r>
            </a:p>
          </p:txBody>
        </p:sp>
        <p:sp>
          <p:nvSpPr>
            <p:cNvPr id="15" name="challenges-panel">
              <a:extLst xmlns:a="http://schemas.openxmlformats.org/drawingml/2006/main">
                <a:ext uri="{FF2B5EF4-FFF2-40B4-BE49-F238E27FC236}">
                  <a16:creationId xmlns:a16="http://schemas.microsoft.com/office/drawing/2014/main" id="{D955C97E-05C0-4BD3-AA7E-BB5FE89FFE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625" y="1619250"/>
              <a:ext cx="4476750" cy="4476750"/>
            </a:xfrm>
            <a:prstGeom xmlns:a="http://schemas.openxmlformats.org/drawingml/2006/main" prst="roundRect">
              <a:avLst>
                <a:gd name="adj" fmla="val 4255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9050">
              <a:solidFill>
                <a:srgbClr val="78639F"/>
              </a:solidFill>
              <a:prstDash val="dash"/>
            </a:ln>
          </p:spPr>
        </p:sp>
        <p:sp>
          <p:nvSpPr>
            <p:cNvPr id="16" name="challenges-title">
              <a:extLst xmlns:a="http://schemas.openxmlformats.org/drawingml/2006/main">
                <a:ext uri="{FF2B5EF4-FFF2-40B4-BE49-F238E27FC236}">
                  <a16:creationId xmlns:a16="http://schemas.microsoft.com/office/drawing/2014/main" id="{1BF5824A-70D3-497E-9234-576DE16450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9175" y="1790700"/>
              <a:ext cx="40576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Challenge suite</a:t>
              </a:r>
            </a:p>
          </p:txBody>
        </p:sp>
        <p:sp>
          <p:nvSpPr>
            <p:cNvPr id="17" name="challenges-subtitle">
              <a:extLst xmlns:a="http://schemas.openxmlformats.org/drawingml/2006/main">
                <a:ext uri="{FF2B5EF4-FFF2-40B4-BE49-F238E27FC236}">
                  <a16:creationId xmlns:a16="http://schemas.microsoft.com/office/drawing/2014/main" id="{27A2CE96-D453-42F1-937B-36BDD84162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9175" y="2114550"/>
              <a:ext cx="40576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shared interface for different Agents</a:t>
              </a:r>
            </a:p>
          </p:txBody>
        </p:sp>
        <p:sp>
          <p:nvSpPr>
            <p:cNvPr id="18" name="description-box">
              <a:extLst xmlns:a="http://schemas.openxmlformats.org/drawingml/2006/main">
                <a:ext uri="{FF2B5EF4-FFF2-40B4-BE49-F238E27FC236}">
                  <a16:creationId xmlns:a16="http://schemas.microsoft.com/office/drawing/2014/main" id="{60EE4E35-EE74-4727-9A02-A07E82E02D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2381250"/>
              <a:ext cx="3905250" cy="781050"/>
            </a:xfrm>
            <a:prstGeom xmlns:a="http://schemas.openxmlformats.org/drawingml/2006/main" prst="roundRect">
              <a:avLst>
                <a:gd name="adj" fmla="val 1463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78639F"/>
              </a:solidFill>
              <a:prstDash val="solid"/>
            </a:ln>
          </p:spPr>
        </p:sp>
        <p:sp>
          <p:nvSpPr>
            <p:cNvPr id="19" name="description-title">
              <a:extLst xmlns:a="http://schemas.openxmlformats.org/drawingml/2006/main">
                <a:ext uri="{FF2B5EF4-FFF2-40B4-BE49-F238E27FC236}">
                  <a16:creationId xmlns:a16="http://schemas.microsoft.com/office/drawing/2014/main" id="{B3DA88F2-6B05-498B-82CF-AC317CECDD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2505075"/>
              <a:ext cx="3638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Description</a:t>
              </a:r>
            </a:p>
          </p:txBody>
        </p:sp>
        <p:sp>
          <p:nvSpPr>
            <p:cNvPr id="20" name="description-body">
              <a:extLst xmlns:a="http://schemas.openxmlformats.org/drawingml/2006/main">
                <a:ext uri="{FF2B5EF4-FFF2-40B4-BE49-F238E27FC236}">
                  <a16:creationId xmlns:a16="http://schemas.microsoft.com/office/drawing/2014/main" id="{789CD8D9-581A-4CA2-BC74-506B30F157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2781300"/>
              <a:ext cx="36385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task statement and temporal scope</a:t>
              </a:r>
            </a:p>
          </p:txBody>
        </p:sp>
        <p:sp>
          <p:nvSpPr>
            <p:cNvPr id="21" name="resources-box">
              <a:extLst xmlns:a="http://schemas.openxmlformats.org/drawingml/2006/main">
                <a:ext uri="{FF2B5EF4-FFF2-40B4-BE49-F238E27FC236}">
                  <a16:creationId xmlns:a16="http://schemas.microsoft.com/office/drawing/2014/main" id="{0C84EBDA-75F5-4843-B3C8-31D4A712FB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3381375"/>
              <a:ext cx="3905250" cy="781050"/>
            </a:xfrm>
            <a:prstGeom xmlns:a="http://schemas.openxmlformats.org/drawingml/2006/main" prst="roundRect">
              <a:avLst>
                <a:gd name="adj" fmla="val 1463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78639F"/>
              </a:solidFill>
              <a:prstDash val="solid"/>
            </a:ln>
          </p:spPr>
        </p:sp>
        <p:sp>
          <p:nvSpPr>
            <p:cNvPr id="22" name="resources-title">
              <a:extLst xmlns:a="http://schemas.openxmlformats.org/drawingml/2006/main">
                <a:ext uri="{FF2B5EF4-FFF2-40B4-BE49-F238E27FC236}">
                  <a16:creationId xmlns:a16="http://schemas.microsoft.com/office/drawing/2014/main" id="{77F3BB5D-98FD-48BC-97F9-39580FD79D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3505200"/>
              <a:ext cx="3638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Resources</a:t>
              </a:r>
            </a:p>
          </p:txBody>
        </p:sp>
        <p:sp>
          <p:nvSpPr>
            <p:cNvPr id="23" name="resources-body">
              <a:extLst xmlns:a="http://schemas.openxmlformats.org/drawingml/2006/main">
                <a:ext uri="{FF2B5EF4-FFF2-40B4-BE49-F238E27FC236}">
                  <a16:creationId xmlns:a16="http://schemas.microsoft.com/office/drawing/2014/main" id="{D2E4686D-1F19-4D9B-B133-DAF799CBE3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3781425"/>
              <a:ext cx="36385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tools, APIs, models, and versions</a:t>
              </a:r>
            </a:p>
          </p:txBody>
        </p:sp>
        <p:sp>
          <p:nvSpPr>
            <p:cNvPr id="24" name="graders-box">
              <a:extLst xmlns:a="http://schemas.openxmlformats.org/drawingml/2006/main">
                <a:ext uri="{FF2B5EF4-FFF2-40B4-BE49-F238E27FC236}">
                  <a16:creationId xmlns:a16="http://schemas.microsoft.com/office/drawing/2014/main" id="{C2320425-5303-4E8D-8F6A-BCBFBBE0B7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4381500"/>
              <a:ext cx="3905250" cy="781050"/>
            </a:xfrm>
            <a:prstGeom xmlns:a="http://schemas.openxmlformats.org/drawingml/2006/main" prst="roundRect">
              <a:avLst>
                <a:gd name="adj" fmla="val 1463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78639F"/>
              </a:solidFill>
              <a:prstDash val="solid"/>
            </a:ln>
          </p:spPr>
        </p:sp>
        <p:sp>
          <p:nvSpPr>
            <p:cNvPr id="25" name="graders-title">
              <a:extLst xmlns:a="http://schemas.openxmlformats.org/drawingml/2006/main">
                <a:ext uri="{FF2B5EF4-FFF2-40B4-BE49-F238E27FC236}">
                  <a16:creationId xmlns:a16="http://schemas.microsoft.com/office/drawing/2014/main" id="{8F4E7AF0-44EC-425D-99ED-0775530EB0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4505325"/>
              <a:ext cx="3638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Graders</a:t>
              </a:r>
            </a:p>
          </p:txBody>
        </p:sp>
        <p:sp>
          <p:nvSpPr>
            <p:cNvPr id="26" name="graders-body">
              <a:extLst xmlns:a="http://schemas.openxmlformats.org/drawingml/2006/main">
                <a:ext uri="{FF2B5EF4-FFF2-40B4-BE49-F238E27FC236}">
                  <a16:creationId xmlns:a16="http://schemas.microsoft.com/office/drawing/2014/main" id="{C3CF1A09-49C1-4733-85AB-A6A43F13C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4781550"/>
              <a:ext cx="36385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quantitative metrics and trace review</a:t>
              </a:r>
            </a:p>
          </p:txBody>
        </p:sp>
        <p:sp>
          <p:nvSpPr>
            <p:cNvPr id="27" name="outputs-panel">
              <a:extLst xmlns:a="http://schemas.openxmlformats.org/drawingml/2006/main">
                <a:ext uri="{FF2B5EF4-FFF2-40B4-BE49-F238E27FC236}">
                  <a16:creationId xmlns:a16="http://schemas.microsoft.com/office/drawing/2014/main" id="{8334B73D-ACF4-4D9F-A79B-79CAD4527D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20250" y="1619250"/>
              <a:ext cx="4762500" cy="4476750"/>
            </a:xfrm>
            <a:prstGeom xmlns:a="http://schemas.openxmlformats.org/drawingml/2006/main" prst="roundRect">
              <a:avLst>
                <a:gd name="adj" fmla="val 4255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9050">
              <a:solidFill>
                <a:srgbClr val="5D9477"/>
              </a:solidFill>
              <a:prstDash val="dash"/>
            </a:ln>
          </p:spPr>
        </p:sp>
        <p:sp>
          <p:nvSpPr>
            <p:cNvPr id="28" name="outputs-title">
              <a:extLst xmlns:a="http://schemas.openxmlformats.org/drawingml/2006/main">
                <a:ext uri="{FF2B5EF4-FFF2-40B4-BE49-F238E27FC236}">
                  <a16:creationId xmlns:a16="http://schemas.microsoft.com/office/drawing/2014/main" id="{6498C13D-0839-45C0-8ADF-80D3FCD5A9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29800" y="1790700"/>
              <a:ext cx="43434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Outputs and evidence</a:t>
              </a:r>
            </a:p>
          </p:txBody>
        </p:sp>
        <p:sp>
          <p:nvSpPr>
            <p:cNvPr id="29" name="outputs-subtitle">
              <a:extLst xmlns:a="http://schemas.openxmlformats.org/drawingml/2006/main">
                <a:ext uri="{FF2B5EF4-FFF2-40B4-BE49-F238E27FC236}">
                  <a16:creationId xmlns:a16="http://schemas.microsoft.com/office/drawing/2014/main" id="{A2DF59B4-AD4E-4851-B8AE-4254785E3A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29800" y="2114550"/>
              <a:ext cx="43434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what a benchmark records</a:t>
              </a:r>
            </a:p>
          </p:txBody>
        </p:sp>
        <p:sp>
          <p:nvSpPr>
            <p:cNvPr id="30" name="prediction-box">
              <a:extLst xmlns:a="http://schemas.openxmlformats.org/drawingml/2006/main">
                <a:ext uri="{FF2B5EF4-FFF2-40B4-BE49-F238E27FC236}">
                  <a16:creationId xmlns:a16="http://schemas.microsoft.com/office/drawing/2014/main" id="{C2B94D15-4FC5-4F7B-BF9B-06CBBA0A8C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2381250"/>
              <a:ext cx="2000250" cy="8001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5D9477"/>
              </a:solidFill>
              <a:prstDash val="solid"/>
            </a:ln>
          </p:spPr>
        </p:sp>
        <p:sp>
          <p:nvSpPr>
            <p:cNvPr id="31" name="prediction-title">
              <a:extLst xmlns:a="http://schemas.openxmlformats.org/drawingml/2006/main">
                <a:ext uri="{FF2B5EF4-FFF2-40B4-BE49-F238E27FC236}">
                  <a16:creationId xmlns:a16="http://schemas.microsoft.com/office/drawing/2014/main" id="{FFDF3C23-5BA7-40A0-A660-77B286DB25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39350" y="2505075"/>
              <a:ext cx="1733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Prediction files</a:t>
              </a:r>
            </a:p>
          </p:txBody>
        </p:sp>
        <p:sp>
          <p:nvSpPr>
            <p:cNvPr id="32" name="prediction-body">
              <a:extLst xmlns:a="http://schemas.openxmlformats.org/drawingml/2006/main">
                <a:ext uri="{FF2B5EF4-FFF2-40B4-BE49-F238E27FC236}">
                  <a16:creationId xmlns:a16="http://schemas.microsoft.com/office/drawing/2014/main" id="{95F5D2C7-555C-4DD5-A10F-0BD6C27CC3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39350" y="2781300"/>
              <a:ext cx="1733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point or probabilistic output</a:t>
              </a:r>
            </a:p>
          </p:txBody>
        </p:sp>
        <p:sp>
          <p:nvSpPr>
            <p:cNvPr id="33" name="artifacts-box">
              <a:extLst xmlns:a="http://schemas.openxmlformats.org/drawingml/2006/main">
                <a:ext uri="{FF2B5EF4-FFF2-40B4-BE49-F238E27FC236}">
                  <a16:creationId xmlns:a16="http://schemas.microsoft.com/office/drawing/2014/main" id="{646AAED8-6E73-4F0F-B9BF-6805DE9E72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096750" y="2381250"/>
              <a:ext cx="2000250" cy="8001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5D9477"/>
              </a:solidFill>
              <a:prstDash val="solid"/>
            </a:ln>
          </p:spPr>
        </p:sp>
        <p:sp>
          <p:nvSpPr>
            <p:cNvPr id="34" name="artifacts-title">
              <a:extLst xmlns:a="http://schemas.openxmlformats.org/drawingml/2006/main">
                <a:ext uri="{FF2B5EF4-FFF2-40B4-BE49-F238E27FC236}">
                  <a16:creationId xmlns:a16="http://schemas.microsoft.com/office/drawing/2014/main" id="{4AA96F74-149E-47BE-84BF-300469AC3E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30100" y="2505075"/>
              <a:ext cx="1733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Model artifacts</a:t>
              </a:r>
            </a:p>
          </p:txBody>
        </p:sp>
        <p:sp>
          <p:nvSpPr>
            <p:cNvPr id="35" name="artifacts-body">
              <a:extLst xmlns:a="http://schemas.openxmlformats.org/drawingml/2006/main">
                <a:ext uri="{FF2B5EF4-FFF2-40B4-BE49-F238E27FC236}">
                  <a16:creationId xmlns:a16="http://schemas.microsoft.com/office/drawing/2014/main" id="{4EC716E0-520D-47C0-919F-3809B322EA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30100" y="2781300"/>
              <a:ext cx="1733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weights, plots, intermediate state</a:t>
              </a:r>
            </a:p>
          </p:txBody>
        </p:sp>
        <p:sp>
          <p:nvSpPr>
            <p:cNvPr id="36" name="trace-box">
              <a:extLst xmlns:a="http://schemas.openxmlformats.org/drawingml/2006/main">
                <a:ext uri="{FF2B5EF4-FFF2-40B4-BE49-F238E27FC236}">
                  <a16:creationId xmlns:a16="http://schemas.microsoft.com/office/drawing/2014/main" id="{7A718D93-9C52-4728-9FA6-43317FE937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3476625"/>
              <a:ext cx="2000250" cy="8001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5D9477"/>
              </a:solidFill>
              <a:prstDash val="solid"/>
            </a:ln>
          </p:spPr>
        </p:sp>
        <p:sp>
          <p:nvSpPr>
            <p:cNvPr id="37" name="trace-title">
              <a:extLst xmlns:a="http://schemas.openxmlformats.org/drawingml/2006/main">
                <a:ext uri="{FF2B5EF4-FFF2-40B4-BE49-F238E27FC236}">
                  <a16:creationId xmlns:a16="http://schemas.microsoft.com/office/drawing/2014/main" id="{F0B9EB40-9264-4AB3-B24E-5C7C8F0289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39350" y="3600450"/>
              <a:ext cx="1733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Tool trace</a:t>
              </a:r>
            </a:p>
          </p:txBody>
        </p:sp>
        <p:sp>
          <p:nvSpPr>
            <p:cNvPr id="38" name="trace-body">
              <a:extLst xmlns:a="http://schemas.openxmlformats.org/drawingml/2006/main">
                <a:ext uri="{FF2B5EF4-FFF2-40B4-BE49-F238E27FC236}">
                  <a16:creationId xmlns:a16="http://schemas.microsoft.com/office/drawing/2014/main" id="{11137936-B3A1-4BF8-86E7-F7326E94D5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39350" y="3876675"/>
              <a:ext cx="1733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calls, failures, execution time</a:t>
              </a:r>
            </a:p>
          </p:txBody>
        </p:sp>
        <p:sp>
          <p:nvSpPr>
            <p:cNvPr id="39" name="evidence-box">
              <a:extLst xmlns:a="http://schemas.openxmlformats.org/drawingml/2006/main">
                <a:ext uri="{FF2B5EF4-FFF2-40B4-BE49-F238E27FC236}">
                  <a16:creationId xmlns:a16="http://schemas.microsoft.com/office/drawing/2014/main" id="{AF203483-6995-4EA0-8685-469274996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096750" y="3476625"/>
              <a:ext cx="2000250" cy="8001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5D9477"/>
              </a:solidFill>
              <a:prstDash val="solid"/>
            </a:ln>
          </p:spPr>
        </p:sp>
        <p:sp>
          <p:nvSpPr>
            <p:cNvPr id="40" name="evidence-title">
              <a:extLst xmlns:a="http://schemas.openxmlformats.org/drawingml/2006/main">
                <a:ext uri="{FF2B5EF4-FFF2-40B4-BE49-F238E27FC236}">
                  <a16:creationId xmlns:a16="http://schemas.microsoft.com/office/drawing/2014/main" id="{E8BF31A7-4E29-475D-90F5-AF8843E770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30100" y="3600450"/>
              <a:ext cx="1733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Evidence log</a:t>
              </a:r>
            </a:p>
          </p:txBody>
        </p:sp>
        <p:sp>
          <p:nvSpPr>
            <p:cNvPr id="41" name="evidence-body">
              <a:extLst xmlns:a="http://schemas.openxmlformats.org/drawingml/2006/main">
                <a:ext uri="{FF2B5EF4-FFF2-40B4-BE49-F238E27FC236}">
                  <a16:creationId xmlns:a16="http://schemas.microsoft.com/office/drawing/2014/main" id="{30115F5F-A872-4B6D-B8A2-26615280D0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30100" y="3876675"/>
              <a:ext cx="1733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checks, revisions, provenance</a:t>
              </a:r>
            </a:p>
          </p:txBody>
        </p:sp>
        <p:sp>
          <p:nvSpPr>
            <p:cNvPr id="42" name="code-box">
              <a:extLst xmlns:a="http://schemas.openxmlformats.org/drawingml/2006/main">
                <a:ext uri="{FF2B5EF4-FFF2-40B4-BE49-F238E27FC236}">
                  <a16:creationId xmlns:a16="http://schemas.microsoft.com/office/drawing/2014/main" id="{DA0CD29C-AE99-48B5-B384-BB10FB39ED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01375" y="4572000"/>
              <a:ext cx="2000250" cy="8001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5D9477"/>
              </a:solidFill>
              <a:prstDash val="solid"/>
            </a:ln>
          </p:spPr>
        </p:sp>
        <p:sp>
          <p:nvSpPr>
            <p:cNvPr id="43" name="code-title">
              <a:extLst xmlns:a="http://schemas.openxmlformats.org/drawingml/2006/main">
                <a:ext uri="{FF2B5EF4-FFF2-40B4-BE49-F238E27FC236}">
                  <a16:creationId xmlns:a16="http://schemas.microsoft.com/office/drawing/2014/main" id="{FC041FAA-A24B-4013-B54F-AE8729C3DB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34725" y="4695825"/>
              <a:ext cx="1733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Code and config</a:t>
              </a:r>
            </a:p>
          </p:txBody>
        </p:sp>
        <p:sp>
          <p:nvSpPr>
            <p:cNvPr id="44" name="code-body">
              <a:extLst xmlns:a="http://schemas.openxmlformats.org/drawingml/2006/main">
                <a:ext uri="{FF2B5EF4-FFF2-40B4-BE49-F238E27FC236}">
                  <a16:creationId xmlns:a16="http://schemas.microsoft.com/office/drawing/2014/main" id="{C5EBEE64-4A13-41A8-92B3-D1032670B3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34725" y="4972050"/>
              <a:ext cx="1733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replayable environment</a:t>
              </a:r>
            </a:p>
          </p:txBody>
        </p:sp>
        <p:sp>
          <p:nvSpPr>
            <p:cNvPr id="45" name="inputs-to-challenges">
              <a:extLst xmlns:a="http://schemas.openxmlformats.org/drawingml/2006/main">
                <a:ext uri="{FF2B5EF4-FFF2-40B4-BE49-F238E27FC236}">
                  <a16:creationId xmlns:a16="http://schemas.microsoft.com/office/drawing/2014/main" id="{C309C1B7-9BC2-4666-9B2E-C1CAE43894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3857625"/>
              <a:ext cx="523875" cy="95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438B86"/>
              </a:solidFill>
              <a:prstDash val="solid"/>
            </a:ln>
          </p:spPr>
        </p:sp>
        <p:sp>
          <p:nvSpPr>
            <p:cNvPr id="46" name="challenges-to-outputs">
              <a:extLst xmlns:a="http://schemas.openxmlformats.org/drawingml/2006/main">
                <a:ext uri="{FF2B5EF4-FFF2-40B4-BE49-F238E27FC236}">
                  <a16:creationId xmlns:a16="http://schemas.microsoft.com/office/drawing/2014/main" id="{3315032E-A556-4ABC-B5ED-BFAF2B81A6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96375" y="3857625"/>
              <a:ext cx="523875" cy="95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78639F"/>
              </a:solidFill>
              <a:prstDash val="solid"/>
            </a:ln>
          </p:spPr>
        </p:sp>
        <p:sp>
          <p:nvSpPr>
            <p:cNvPr id="47" name="evaluation-rail">
              <a:extLst xmlns:a="http://schemas.openxmlformats.org/drawingml/2006/main">
                <a:ext uri="{FF2B5EF4-FFF2-40B4-BE49-F238E27FC236}">
                  <a16:creationId xmlns:a16="http://schemas.microsoft.com/office/drawing/2014/main" id="{E6027410-EAB0-4083-A046-863D212CB2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0625" y="6572250"/>
              <a:ext cx="12858750" cy="95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D4DAE2"/>
              </a:solidFill>
              <a:prstDash val="solid"/>
            </a:ln>
          </p:spPr>
        </p:sp>
        <p:sp>
          <p:nvSpPr>
            <p:cNvPr id="48" name="quantitative-box">
              <a:extLst xmlns:a="http://schemas.openxmlformats.org/drawingml/2006/main">
                <a:ext uri="{FF2B5EF4-FFF2-40B4-BE49-F238E27FC236}">
                  <a16:creationId xmlns:a16="http://schemas.microsoft.com/office/drawing/2014/main" id="{5F6DC7F4-48BD-45D8-864E-DAD4A99DAB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6858000"/>
              <a:ext cx="3714750" cy="904875"/>
            </a:xfrm>
            <a:prstGeom xmlns:a="http://schemas.openxmlformats.org/drawingml/2006/main" prst="roundRect">
              <a:avLst>
                <a:gd name="adj" fmla="val 12632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9050">
              <a:solidFill>
                <a:srgbClr val="B77F2B"/>
              </a:solidFill>
              <a:prstDash val="solid"/>
            </a:ln>
          </p:spPr>
        </p:sp>
        <p:sp>
          <p:nvSpPr>
            <p:cNvPr id="49" name="quantitative-title">
              <a:extLst xmlns:a="http://schemas.openxmlformats.org/drawingml/2006/main">
                <a:ext uri="{FF2B5EF4-FFF2-40B4-BE49-F238E27FC236}">
                  <a16:creationId xmlns:a16="http://schemas.microsoft.com/office/drawing/2014/main" id="{B9EAE479-ADD0-4225-A15E-0F06215175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81100" y="6981825"/>
              <a:ext cx="34480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Quantitative evaluation</a:t>
              </a:r>
            </a:p>
          </p:txBody>
        </p:sp>
        <p:sp>
          <p:nvSpPr>
            <p:cNvPr id="50" name="quantitative-body">
              <a:extLst xmlns:a="http://schemas.openxmlformats.org/drawingml/2006/main">
                <a:ext uri="{FF2B5EF4-FFF2-40B4-BE49-F238E27FC236}">
                  <a16:creationId xmlns:a16="http://schemas.microsoft.com/office/drawing/2014/main" id="{8853FC35-CB06-4A03-A685-584F5009F9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81100" y="7258050"/>
              <a:ext cx="3448050" cy="4476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accuracy · error · calibration · runtime</a:t>
              </a:r>
            </a:p>
          </p:txBody>
        </p:sp>
        <p:sp>
          <p:nvSpPr>
            <p:cNvPr id="51" name="qualitative-box">
              <a:extLst xmlns:a="http://schemas.openxmlformats.org/drawingml/2006/main">
                <a:ext uri="{FF2B5EF4-FFF2-40B4-BE49-F238E27FC236}">
                  <a16:creationId xmlns:a16="http://schemas.microsoft.com/office/drawing/2014/main" id="{96A85660-F3CC-4498-ABCC-AA97455A3E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62625" y="6858000"/>
              <a:ext cx="3714750" cy="904875"/>
            </a:xfrm>
            <a:prstGeom xmlns:a="http://schemas.openxmlformats.org/drawingml/2006/main" prst="roundRect">
              <a:avLst>
                <a:gd name="adj" fmla="val 12632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9050">
              <a:solidFill>
                <a:srgbClr val="B86659"/>
              </a:solidFill>
              <a:prstDash val="solid"/>
            </a:ln>
          </p:spPr>
        </p:sp>
        <p:sp>
          <p:nvSpPr>
            <p:cNvPr id="52" name="qualitative-title">
              <a:extLst xmlns:a="http://schemas.openxmlformats.org/drawingml/2006/main">
                <a:ext uri="{FF2B5EF4-FFF2-40B4-BE49-F238E27FC236}">
                  <a16:creationId xmlns:a16="http://schemas.microsoft.com/office/drawing/2014/main" id="{2743A9DF-DEB2-4714-AAAB-3F8DC6FD3F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95975" y="6981825"/>
              <a:ext cx="34480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Qualitative evaluation</a:t>
              </a:r>
            </a:p>
          </p:txBody>
        </p:sp>
        <p:sp>
          <p:nvSpPr>
            <p:cNvPr id="53" name="qualitative-body">
              <a:extLst xmlns:a="http://schemas.openxmlformats.org/drawingml/2006/main">
                <a:ext uri="{FF2B5EF4-FFF2-40B4-BE49-F238E27FC236}">
                  <a16:creationId xmlns:a16="http://schemas.microsoft.com/office/drawing/2014/main" id="{3EBF4153-142C-48A5-9CE2-042A194321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95975" y="7258050"/>
              <a:ext cx="3448050" cy="4476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trace quality · evidence grounding · revision</a:t>
              </a:r>
            </a:p>
          </p:txBody>
        </p:sp>
        <p:sp>
          <p:nvSpPr>
            <p:cNvPr id="54" name="holistic-box">
              <a:extLst xmlns:a="http://schemas.openxmlformats.org/drawingml/2006/main">
                <a:ext uri="{FF2B5EF4-FFF2-40B4-BE49-F238E27FC236}">
                  <a16:creationId xmlns:a16="http://schemas.microsoft.com/office/drawing/2014/main" id="{6048E9F7-6037-4782-9FFC-71E52F5A5D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6858000"/>
              <a:ext cx="3714750" cy="904875"/>
            </a:xfrm>
            <a:prstGeom xmlns:a="http://schemas.openxmlformats.org/drawingml/2006/main" prst="roundRect">
              <a:avLst>
                <a:gd name="adj" fmla="val 12632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9050">
              <a:solidFill>
                <a:srgbClr val="78639F"/>
              </a:solidFill>
              <a:prstDash val="solid"/>
            </a:ln>
          </p:spPr>
        </p:sp>
        <p:sp>
          <p:nvSpPr>
            <p:cNvPr id="55" name="holistic-title">
              <a:extLst xmlns:a="http://schemas.openxmlformats.org/drawingml/2006/main">
                <a:ext uri="{FF2B5EF4-FFF2-40B4-BE49-F238E27FC236}">
                  <a16:creationId xmlns:a16="http://schemas.microsoft.com/office/drawing/2014/main" id="{82C759F3-15E9-414F-A3A8-0234F29DBB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10850" y="6981825"/>
              <a:ext cx="34480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Holistic score</a:t>
              </a:r>
            </a:p>
          </p:txBody>
        </p:sp>
        <p:sp>
          <p:nvSpPr>
            <p:cNvPr id="56" name="holistic-body">
              <a:extLst xmlns:a="http://schemas.openxmlformats.org/drawingml/2006/main">
                <a:ext uri="{FF2B5EF4-FFF2-40B4-BE49-F238E27FC236}">
                  <a16:creationId xmlns:a16="http://schemas.microsoft.com/office/drawing/2014/main" id="{486E9796-5AD5-4DDE-B202-E4A3C5ECCC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10850" y="7258050"/>
              <a:ext cx="3448050" cy="4476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task outcome + executable artifact + episode record</a:t>
              </a:r>
            </a:p>
          </p:txBody>
        </p:sp>
        <p:sp>
          <p:nvSpPr>
            <p:cNvPr id="57" name="quant-to-qual">
              <a:extLst xmlns:a="http://schemas.openxmlformats.org/drawingml/2006/main">
                <a:ext uri="{FF2B5EF4-FFF2-40B4-BE49-F238E27FC236}">
                  <a16:creationId xmlns:a16="http://schemas.microsoft.com/office/drawing/2014/main" id="{C78DD6B6-4908-48F0-9576-BA7AB30B67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0" y="7305675"/>
              <a:ext cx="1000125" cy="95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D4DAE2"/>
              </a:solidFill>
              <a:prstDash val="solid"/>
            </a:ln>
          </p:spPr>
        </p:sp>
        <p:sp>
          <p:nvSpPr>
            <p:cNvPr id="58" name="qual-to-holistic">
              <a:extLst xmlns:a="http://schemas.openxmlformats.org/drawingml/2006/main">
                <a:ext uri="{FF2B5EF4-FFF2-40B4-BE49-F238E27FC236}">
                  <a16:creationId xmlns:a16="http://schemas.microsoft.com/office/drawing/2014/main" id="{C674D736-DEE4-4F6D-8FAD-ED69F44F14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77375" y="7305675"/>
              <a:ext cx="1000125" cy="95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D4DAE2"/>
              </a:solidFill>
              <a:prstDash val="solid"/>
            </a:ln>
          </p:spPr>
        </p:sp>
        <p:sp>
          <p:nvSpPr>
            <p:cNvPr id="59" name="figure-conclusion">
              <a:extLst xmlns:a="http://schemas.openxmlformats.org/drawingml/2006/main">
                <a:ext uri="{FF2B5EF4-FFF2-40B4-BE49-F238E27FC236}">
                  <a16:creationId xmlns:a16="http://schemas.microsoft.com/office/drawing/2014/main" id="{8D99FA3D-6791-4112-B157-1DF6995288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8020050"/>
              <a:ext cx="13144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The unit of evaluation is an episode: a result is interpretable only when its temporal and operational evidence can be replayed.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5646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2026-10-07T12:57:18.7510000Z</dcterms:created>
  <dcterms:modified xsi:type="dcterms:W3CDTF">2026-10-07T12:57:18.7510000Z</dcterms:modified>
</coreProperties>
</file>