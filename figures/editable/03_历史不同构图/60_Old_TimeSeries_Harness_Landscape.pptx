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28a8f95bcf4ac6"/><Relationship Type="http://schemas.openxmlformats.org/officeDocument/2006/relationships/extended-properties" Target="/docProps/app.xml" Id="Rcd5dcd346ddd4c46"/><Relationship Type="http://schemas.openxmlformats.org/officeDocument/2006/relationships/officeDocument" Target="/ppt/presentation.xml" Id="Rc3690c6c0cbf449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cff9043b644fe"/>
  </p:sldMasterIdLst>
  <p:notesMasterIdLst>
    <p:notesMasterId xmlns:r="http://schemas.openxmlformats.org/officeDocument/2006/relationships" r:id="R766dd5f8c0c84945"/>
  </p:notesMasterIdLst>
  <p:sldIdLst>
    <p:sldId xmlns:r="http://schemas.openxmlformats.org/officeDocument/2006/relationships" id="257" r:id="R013da076459246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0552183051c46ae"/><Relationship Type="http://schemas.openxmlformats.org/officeDocument/2006/relationships/slideMaster" Target="/ppt/slideMasters/slideMaster1.xml" Id="Ra26cff9043b644fe"/><Relationship Type="http://schemas.openxmlformats.org/officeDocument/2006/relationships/notesMaster" Target="/ppt/notesMasters/notesMaster1.xml" Id="R766dd5f8c0c84945"/><Relationship Type="http://schemas.openxmlformats.org/officeDocument/2006/relationships/presProps" Target="/ppt/presProps.xml" Id="R31962c161958492d"/><Relationship Type="http://schemas.openxmlformats.org/officeDocument/2006/relationships/tableStyles" Target="/ppt/tableStyles.xml" Id="R0d0c0aba29d048ea"/><Relationship Type="http://schemas.openxmlformats.org/officeDocument/2006/relationships/slide" Target="/ppt/slides/slide2.xml" Id="R013da076459246b3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13ee465aa4c34732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7ccc9c586fdc4f28"/><Relationship Type="http://schemas.openxmlformats.org/officeDocument/2006/relationships/notesMaster" Target="/ppt/notesMasters/notesMaster1.xml" Id="R8c0a2a870c874aaf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synthesized from the seven-dimension General Harness vocabulary and the temporal obligations discussed in Section 5. The layout is adapted from the layered landscape figures in the user-supplied RSI survey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07620b156f9495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3197bc54a6445e9"/><Relationship Type="http://schemas.openxmlformats.org/officeDocument/2006/relationships/slideLayout" Target="/ppt/slideLayouts/slideLayout1.xml" Id="Rdb8be8ad6c6646f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8be8ad6c66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f9374b9491d4afd"/><Relationship Type="http://schemas.openxmlformats.org/officeDocument/2006/relationships/notesSlide" Target="/ppt/notesSlides/notesSlide2.xml" Id="Rf47867a1fd6c482e"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5" name="Old_TimeSeries_Harness_Landscape — editable components"/>
          <p:cNvGrpSpPr/>
          <p:nvPr/>
        </p:nvGrpSpPr>
        <p:grpSpPr>
          <ns1:xfrm xmlns:ns1="http://schemas.openxmlformats.org/drawingml/2006/main">
            <ns1:off x="552450" y="266700"/>
            <ns1:ext cx="11049000" cy="6115050"/>
            <ns1:chOff x="552450" y="266700"/>
            <ns1:chExt cx="11049000" cy="6115050"/>
          </ns1:xfrm>
        </p:grpSpPr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68B01FE3-1618-431B-B18B-A2DCCC49F0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266700"/>
              <a:ext cx="11049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2400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The General Time-Series Harness landscape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C2269182-D278-4DC3-ADBC-E7B5876279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2450" y="695325"/>
              <a:ext cx="11049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120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Reusable temporal obligations sit between a general runtime and a task contract.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1EFD402-51DE-479A-BEF9-60A8FD71C2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9600" y="1257300"/>
              <a:ext cx="1714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1050" b="0" i="1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Read from the center outward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9A233D6E-310A-49AD-B01F-9D781CD2DE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752600"/>
              <a:ext cx="1809750" cy="609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1430">
              <a:solidFill>
                <a:srgbClr val="B77F2B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052CA5AF-8598-4081-9779-D0377AFAA6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" y="1885950"/>
              <a:ext cx="15049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77F2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B77F2B"/>
                  </a:solidFill>
                  <a:latin typeface="Arial"/>
                  <a:ea typeface="Arial"/>
                  <a:cs typeface="Arial"/>
                </a:rPr>
                <a:t>Temporal objects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C34FF5F4-3FBF-4AF3-8A4D-8D6F9BE72C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" y="2114550"/>
              <a:ext cx="150495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825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time, window, horizon, unit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57F6F81A-84F9-422B-9AB7-6D3BBC05BA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533650"/>
              <a:ext cx="1809750" cy="609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1430">
              <a:solidFill>
                <a:srgbClr val="438B86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90CE0ABD-33ED-4EC8-94BC-D8CED933B9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" y="2667000"/>
              <a:ext cx="15049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Temporal operations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7C43BF24-23A9-4378-A9F6-55A3B75169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" y="2895600"/>
              <a:ext cx="150495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825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align, aggregate, resample, split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6E6DE32-5A77-4D6F-B148-B8A9A6CE74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3314700"/>
              <a:ext cx="1809750" cy="6096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1430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06AC7C6-6291-4A58-887D-1ED3B85342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" y="3448050"/>
              <a:ext cx="15049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Temporal evidence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2045197F-BE0E-42C9-9DF6-1A40B06249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9150" y="3676650"/>
              <a:ext cx="150495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825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825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provenance, availability, revision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9F526023-7B9C-4D73-99C9-AF7C1CB69B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104900"/>
              <a:ext cx="590550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7145">
              <a:solidFill>
                <a:srgbClr val="24324A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B2E79755-736C-429F-89EB-E255C85B1E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3250" y="1257300"/>
              <a:ext cx="5334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1500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Reusable across time-series tasks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2B75442-6F3E-47ED-A303-6AD4CBE1FF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1733550"/>
              <a:ext cx="5048250" cy="485775"/>
            </a:xfrm>
            <a:prstGeom xmlns:a="http://schemas.openxmlformats.org/drawingml/2006/main" prst="roundRect">
              <a:avLst>
                <a:gd name="adj" fmla="val 1568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1430">
              <a:solidFill>
                <a:srgbClr val="B77F2B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6A871CC6-AFB7-4EE3-8B16-42A064301D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1781175"/>
              <a:ext cx="16668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B77F2B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B77F2B"/>
                  </a:solidFill>
                  <a:latin typeface="Arial"/>
                  <a:ea typeface="Arial"/>
                  <a:cs typeface="Arial"/>
                </a:rPr>
                <a:t>Interface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42D03412-6828-4803-A29C-6D3C5A16FA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1781175"/>
              <a:ext cx="2905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as-of time · horizon · frequency · channels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084E34A9-F0EA-416F-BD24-E77E05434C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2419350"/>
              <a:ext cx="5048250" cy="485775"/>
            </a:xfrm>
            <a:prstGeom xmlns:a="http://schemas.openxmlformats.org/drawingml/2006/main" prst="roundRect">
              <a:avLst>
                <a:gd name="adj" fmla="val 15686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1430">
              <a:solidFill>
                <a:srgbClr val="438B86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343A434C-71AE-422D-9DC4-5FF886F692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2466975"/>
              <a:ext cx="16668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Memory &amp; context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CC2CA6C0-8DF5-4A7A-A13F-A0338984B4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2466975"/>
              <a:ext cx="2905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point-in-time state · provenance · event history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2F2572AC-3796-48C6-A260-8935F14A0D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3105150"/>
              <a:ext cx="5048250" cy="485775"/>
            </a:xfrm>
            <a:prstGeom xmlns:a="http://schemas.openxmlformats.org/drawingml/2006/main" prst="roundRect">
              <a:avLst>
                <a:gd name="adj" fmla="val 15686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1430">
              <a:solidFill>
                <a:srgbClr val="438B86"/>
              </a:solidFill>
              <a:prstDash val="solid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D2368164-D1B6-44E5-B43F-B9D9F9A759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3152775"/>
              <a:ext cx="16668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Tools &amp; execution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2DF9F35E-6250-4FEB-9988-87A2C18EE6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3152775"/>
              <a:ext cx="2905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temporal query · forecasting model · simulator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8970D6FC-D3DD-415A-B3F4-7BA51F4041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3790950"/>
              <a:ext cx="5048250" cy="485775"/>
            </a:xfrm>
            <a:prstGeom xmlns:a="http://schemas.openxmlformats.org/drawingml/2006/main" prst="roundRect">
              <a:avLst>
                <a:gd name="adj" fmla="val 15686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1430">
              <a:solidFill>
                <a:srgbClr val="78639F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C75B880-02C0-4FD2-B360-C8F7046C29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3838575"/>
              <a:ext cx="16668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78639F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78639F"/>
                  </a:solidFill>
                  <a:latin typeface="Arial"/>
                  <a:ea typeface="Arial"/>
                  <a:cs typeface="Arial"/>
                </a:rPr>
                <a:t>Control &amp; verification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8B64CB0F-94A3-4E07-91E2-901311D8F4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3838575"/>
              <a:ext cx="2905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chronology guard · numerical check · revision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D5163816-2E59-4690-89DC-1E987127C5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86125" y="4476750"/>
              <a:ext cx="5048250" cy="485775"/>
            </a:xfrm>
            <a:prstGeom xmlns:a="http://schemas.openxmlformats.org/drawingml/2006/main" prst="roundRect">
              <a:avLst>
                <a:gd name="adj" fmla="val 15686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1430">
              <a:solidFill>
                <a:srgbClr val="438B86"/>
              </a:solidFill>
              <a:prstDash val="solid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51470E25-58C4-4CFF-AC90-3FF82737A0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76625" y="4524375"/>
              <a:ext cx="16668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2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Planning &amp; coordination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433C73DB-31A6-4CB3-9EE1-F6CBCF6B98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4524375"/>
              <a:ext cx="2905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defRPr>
              </a:pPr>
              <a:r>
                <a:rPr sz="900" b="0" i="0">
                  <a:solidFill>
                    <a:srgbClr val="303A4B"/>
                  </a:solidFill>
                  <a:latin typeface="Arial"/>
                  <a:ea typeface="Arial"/>
                  <a:cs typeface="Arial"/>
                </a:rPr>
                <a:t>workflow · delegation · review · stopping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3B788544-EEBE-4BB8-AD49-F1942C9E49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72575" y="1104900"/>
              <a:ext cx="2381250" cy="4476750"/>
            </a:xfrm>
            <a:prstGeom xmlns:a="http://schemas.openxmlformats.org/drawingml/2006/main" prst="roundRect">
              <a:avLst>
                <a:gd name="adj" fmla="val 32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2112CBDB-297D-4AC6-9F3A-55536F7A0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82125" y="1257300"/>
              <a:ext cx="19621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50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Task contracts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A7466A37-24D8-47D9-A52A-679E7F83B7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82125" y="1809750"/>
              <a:ext cx="196215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ED0FBF1E-A3FE-4423-A666-E705F5DC24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1866900"/>
              <a:ext cx="17526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Forecasting</a:t>
              </a:r>
            </a:p>
          </p:txBody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F8A3D86A-D7EA-4237-9770-BD035C3FCF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2105025"/>
              <a:ext cx="17526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origin, horizon, calibration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1574B061-BCFA-4180-8098-A80130D2F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2066925"/>
              <a:ext cx="2667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cxnSp>
          <p:nvCxnSpPr>
            <p:cNvPr id="89" name=""/>
            <p:cNvCxnSpPr>
              <a:stCxn xmlns:a="http://schemas.openxmlformats.org/drawingml/2006/main" id="32" idx="3"/>
              <a:endCxn xmlns:a="http://schemas.openxmlformats.org/drawingml/2006/main" id="35" idx="1"/>
            </p:cNvCxnSpPr>
            <p:nvPr/>
          </p:nvCxnSpPr>
          <p:spPr>
            <a:xfrm xmlns:a="http://schemas.openxmlformats.org/drawingml/2006/main" flipH="1" flipV="1">
              <a:off x="8334375" y="2085975"/>
              <a:ext cx="3009900" cy="95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EC5485C3-1309-40B2-895A-EB926C2D3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82125" y="2647950"/>
              <a:ext cx="196215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D207ED38-59D6-404A-87A5-63094E5ED5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2705100"/>
              <a:ext cx="17526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Augmentation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63FA542A-B2D5-40D8-AE7F-F98E14E301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2943225"/>
              <a:ext cx="17526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fidelity, diversity, utility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A28F82BA-44E0-4302-AA72-A10792E99C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2905125"/>
              <a:ext cx="2667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cxnSp>
          <p:nvCxnSpPr>
            <p:cNvPr id="94" name=""/>
            <p:cNvCxnSpPr>
              <a:stCxn xmlns:a="http://schemas.openxmlformats.org/drawingml/2006/main" id="37" idx="3"/>
              <a:endCxn xmlns:a="http://schemas.openxmlformats.org/drawingml/2006/main" id="40" idx="1"/>
            </p:cNvCxnSpPr>
            <p:nvPr/>
          </p:nvCxnSpPr>
          <p:spPr>
            <a:xfrm xmlns:a="http://schemas.openxmlformats.org/drawingml/2006/main" flipH="1" flipV="1">
              <a:off x="8334375" y="2924175"/>
              <a:ext cx="3009900" cy="95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19AFD13A-3D53-47E2-A4DE-8771DEF978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82125" y="3486150"/>
              <a:ext cx="196215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F46A8D5B-FAF8-47AD-89D6-B18A5E72A6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3543300"/>
              <a:ext cx="17526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Anomaly diagnosis</a:t>
              </a:r>
            </a:p>
          </p:txBody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B70A3830-5896-4E58-A836-E0A762B93A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3781425"/>
              <a:ext cx="17526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event, window, cause</a:t>
              </a:r>
            </a:p>
          </p:txBody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17D0E678-7930-4C04-8644-CCEFBDE759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3743325"/>
              <a:ext cx="2667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cxnSp>
          <p:nvCxnSpPr>
            <p:cNvPr id="99" name=""/>
            <p:cNvCxnSpPr>
              <a:stCxn xmlns:a="http://schemas.openxmlformats.org/drawingml/2006/main" id="42" idx="3"/>
              <a:endCxn xmlns:a="http://schemas.openxmlformats.org/drawingml/2006/main" id="45" idx="1"/>
            </p:cNvCxnSpPr>
            <p:nvPr/>
          </p:nvCxnSpPr>
          <p:spPr>
            <a:xfrm xmlns:a="http://schemas.openxmlformats.org/drawingml/2006/main" flipH="1" flipV="1">
              <a:off x="8334375" y="3762375"/>
              <a:ext cx="3009900" cy="95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2D47E497-DB48-4448-838E-A2502FBE0C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82125" y="4324350"/>
              <a:ext cx="196215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0478">
              <a:solidFill>
                <a:srgbClr val="438B86"/>
              </a:solidFill>
              <a:prstDash val="solid"/>
            </a:ln>
          </p:spPr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0EE6312B-DE64-479F-A0DA-226F0F61E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4381500"/>
              <a:ext cx="17526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i="0">
                  <a:solidFill>
                    <a:srgbClr val="438B86"/>
                  </a:solidFill>
                  <a:latin typeface="Arial"/>
                  <a:ea typeface="Arial"/>
                  <a:cs typeface="Arial"/>
                </a:rPr>
                <a:t>Decision support</a:t>
              </a:r>
            </a:p>
          </p:txBody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976C57C5-4169-40F8-8608-60272FACB8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86900" y="4619625"/>
              <a:ext cx="17526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defRPr>
              </a:pPr>
              <a:r>
                <a:rPr sz="750" b="0" i="0">
                  <a:solidFill>
                    <a:srgbClr val="687386"/>
                  </a:solidFill>
                  <a:latin typeface="Arial"/>
                  <a:ea typeface="Arial"/>
                  <a:cs typeface="Arial"/>
                </a:rPr>
                <a:t>action, cost, uncertainty</a:t>
              </a:r>
            </a:p>
          </p:txBody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B7DEADAC-54F7-44E6-B1E9-6D4A1D3B46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4375" y="4581525"/>
              <a:ext cx="266700" cy="38100"/>
            </a:xfrm>
            <a:prstGeom xmlns:a="http://schemas.openxmlformats.org/drawingml/2006/main" prst="roundRect">
              <a:avLst>
                <a:gd name="adj" fmla="val 50000"/>
              </a:avLst>
            </a:prstGeom>
            <a:solidFill xmlns:a="http://schemas.openxmlformats.org/drawingml/2006/main">
              <a:srgbClr val="438B86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cxnSp>
          <p:nvCxnSpPr>
            <p:cNvPr id="104" name=""/>
            <p:cNvCxnSpPr>
              <a:stCxn xmlns:a="http://schemas.openxmlformats.org/drawingml/2006/main" id="47" idx="3"/>
              <a:endCxn xmlns:a="http://schemas.openxmlformats.org/drawingml/2006/main" id="50" idx="1"/>
            </p:cNvCxnSpPr>
            <p:nvPr/>
          </p:nvCxnSpPr>
          <p:spPr>
            <a:xfrm xmlns:a="http://schemas.openxmlformats.org/drawingml/2006/main" flipH="1" flipV="1">
              <a:off x="8334375" y="4600575"/>
              <a:ext cx="3009900" cy="95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7DCCE769-1A44-41CE-9842-D8398E9900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5857875"/>
              <a:ext cx="8696325" cy="523875"/>
            </a:xfrm>
            <a:prstGeom xmlns:a="http://schemas.openxmlformats.org/drawingml/2006/main" prst="roundRect">
              <a:avLst>
                <a:gd name="adj" fmla="val 1454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3335">
              <a:solidFill>
                <a:srgbClr val="24324A"/>
              </a:solidFill>
              <a:prstDash val="solid"/>
            </a:ln>
          </p:spPr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E0ABA572-C545-4CEC-AC7D-671B9DF9E1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5962650"/>
              <a:ext cx="83153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Arial"/>
                  <a:ea typeface="Arial"/>
                  <a:cs typeface="Arial"/>
                </a:defRPr>
              </a:pPr>
              <a:r>
                <a:rPr sz="1125" b="1" i="0">
                  <a:solidFill>
                    <a:srgbClr val="24324A"/>
                  </a:solidFill>
                  <a:latin typeface="Arial"/>
                  <a:ea typeface="Arial"/>
                  <a:cs typeface="Arial"/>
                </a:rPr>
                <a:t>A temporal mechanism is GTS when its contract survives a change of downstream task.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1161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2026-10-02T05:57:14.8370000Z</dcterms:created>
  <dcterms:modified xsi:type="dcterms:W3CDTF">2026-10-02T05:57:14.8370000Z</dcterms:modified>
</coreProperties>
</file>