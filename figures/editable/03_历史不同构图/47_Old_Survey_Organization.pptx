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87d5a4c041734b7e"/><Relationship Type="http://schemas.openxmlformats.org/officeDocument/2006/relationships/extended-properties" Target="/docProps/app.xml" Id="R48633c54fd134b36"/><Relationship Type="http://schemas.openxmlformats.org/officeDocument/2006/relationships/officeDocument" Target="/ppt/presentation.xml" Id="Rccfefabd99c74304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2dd2e32af54760"/>
  </p:sldMasterIdLst>
  <p:notesMasterIdLst>
    <p:notesMasterId xmlns:r="http://schemas.openxmlformats.org/officeDocument/2006/relationships" r:id="Ra0a1e8e05023462b"/>
  </p:notesMasterIdLst>
  <p:sldIdLst>
    <p:sldId xmlns:r="http://schemas.openxmlformats.org/officeDocument/2006/relationships" id="257" r:id="R11368af45d274d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498f80b000b64034"/><Relationship Type="http://schemas.openxmlformats.org/officeDocument/2006/relationships/slideMaster" Target="/ppt/slideMasters/slideMaster1.xml" Id="Rc62dd2e32af54760"/><Relationship Type="http://schemas.openxmlformats.org/officeDocument/2006/relationships/notesMaster" Target="/ppt/notesMasters/notesMaster1.xml" Id="Ra0a1e8e05023462b"/><Relationship Type="http://schemas.openxmlformats.org/officeDocument/2006/relationships/presProps" Target="/ppt/presProps.xml" Id="R04131d18dade4c29"/><Relationship Type="http://schemas.openxmlformats.org/officeDocument/2006/relationships/tableStyles" Target="/ppt/tableStyles.xml" Id="R806215ee825044a7"/><Relationship Type="http://schemas.openxmlformats.org/officeDocument/2006/relationships/slide" Target="/ppt/slides/slide2.xml" Id="R11368af45d274d01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f6a0963fee64ca7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d4121d44a5b24761"/><Relationship Type="http://schemas.openxmlformats.org/officeDocument/2006/relationships/notesMaster" Target="/ppt/notesMasters/notesMaster1.xml" Id="R7cc6038a4e304992"/></Relationship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RSI reference screenshot: 250411b2-1d1f-4bba-a7bd-241fd0ec6be1.png. This slide uses native PowerPoint text, shapes, lines, and connectors; it is a visual study, not the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fa87c7bc4a44575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725b395724ca46a6"/><Relationship Type="http://schemas.openxmlformats.org/officeDocument/2006/relationships/slideLayout" Target="/ppt/slideLayouts/slideLayout1.xml" Id="Rb3adc2a7e1324915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adc2a7e13249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5a8e3d348c24189"/><Relationship Type="http://schemas.openxmlformats.org/officeDocument/2006/relationships/notesSlide" Target="/ppt/notesSlides/notesSlide2.xml" Id="R7a16ad3240744f00"/></Relationships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63" name="Old_Survey_Organization — editable components"/>
          <p:cNvGrpSpPr/>
          <p:nvPr/>
        </p:nvGrpSpPr>
        <p:grpSpPr>
          <ns1:xfrm xmlns:ns1="http://schemas.openxmlformats.org/drawingml/2006/main">
            <ns1:off x="419100" y="209550"/>
            <ns1:ext cx="11353800" cy="6238875"/>
            <ns1:chOff x="419100" y="209550"/>
            <ns1:chExt cx="11353800" cy="6238875"/>
          </ns1:xfrm>
        </p:grpSpPr>
        <p:sp>
          <p:nvSpPr>
            <p:cNvPr id="62" name="">
              <a:extLst xmlns:a="http://schemas.openxmlformats.org/drawingml/2006/main">
                <a:ext uri="{FF2B5EF4-FFF2-40B4-BE49-F238E27FC236}">
                  <a16:creationId xmlns:a16="http://schemas.microsoft.com/office/drawing/2014/main" id="{DA41CDFF-71BA-4C70-B859-C759C3434D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209550"/>
              <a:ext cx="113347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22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2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Organization of the survey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08462427-1940-4279-A5C4-888881A96E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" y="571500"/>
              <a:ext cx="11334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Sections follow the construction of a system and the evidence used to evaluate it.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13139C10-A5B2-49D9-8BBC-A40621BB2F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00150" y="1181100"/>
              <a:ext cx="38100" cy="4762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5505A"/>
            </a:solidFill>
            <a:ln xmlns:a="http://schemas.openxmlformats.org/drawingml/2006/main" w="0">
              <a:solidFill>
                <a:srgbClr val="45505A"/>
              </a:solidFill>
              <a:prstDash val="solid"/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B60081DF-3CFE-4B12-89A5-6F188AF8B0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1314450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8BD2C1E8-8223-4274-844E-CAAB9D19CD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76375" y="1143000"/>
              <a:ext cx="2857500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11430">
              <a:solidFill>
                <a:srgbClr val="B47B24"/>
              </a:solidFill>
              <a:prstDash val="dash"/>
            </a:ln>
          </p:spPr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8F2696D3-B409-4F25-A992-4C4D5730AA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9250" y="1219200"/>
              <a:ext cx="3238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rPr>
                <a:t>§ 1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258F271E-D1FD-4EDC-B955-07251E7AA2D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00250" y="1190625"/>
              <a:ext cx="21907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Introduction</a:t>
              </a:r>
            </a:p>
          </p:txBody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ECE03B44-8894-4EB8-BAF8-37296B3FD4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0" y="1143000"/>
              <a:ext cx="3143250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358A2E2C-75B9-49F7-864D-09D135A941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14875" y="1209675"/>
              <a:ext cx="2857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Scope, motivation, and central questions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CA055BE4-4415-4467-98B0-CF3590657F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1819275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26FA83F5-4F06-400B-817B-88EB408BDD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76375" y="1647825"/>
              <a:ext cx="2857500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11430">
              <a:solidFill>
                <a:srgbClr val="B47B24"/>
              </a:solidFill>
              <a:prstDash val="dash"/>
            </a:ln>
          </p:spPr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97120FA5-6AD3-46AF-ACB5-96134CE670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9250" y="1724025"/>
              <a:ext cx="3238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rPr>
                <a:t>§ 2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1842D0D9-A91F-407E-880F-10AFF8A977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00250" y="1695450"/>
              <a:ext cx="21907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Scope and Review Methodology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9660EA61-3CB5-44F4-B6EC-8C006FB6CD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0" y="1647825"/>
              <a:ext cx="3143250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703967FA-0FED-4C74-86E7-C2D7EDF454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14875" y="1714500"/>
              <a:ext cx="2857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Inclusion and evidence-led review</a:t>
              </a:r>
            </a:p>
          </p:txBody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8EA858E1-F99C-4113-A098-4D576DECAE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2324100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8103D3CF-3DD9-43FD-A1A7-E84C41F3B7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76375" y="2152650"/>
              <a:ext cx="2857500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11430">
              <a:solidFill>
                <a:srgbClr val="6D6396"/>
              </a:solidFill>
              <a:prstDash val="dash"/>
            </a:ln>
          </p:spPr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772B8EC7-CE38-417B-8E9E-52E1DDB74C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9250" y="2228850"/>
              <a:ext cx="3238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D639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D6396"/>
                  </a:solidFill>
                  <a:latin typeface="Times New Roman"/>
                  <a:ea typeface="Times New Roman"/>
                  <a:cs typeface="Times New Roman"/>
                </a:rPr>
                <a:t>§ 3</a:t>
              </a:r>
            </a:p>
          </p:txBody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38B8EB6A-E2C5-4795-8284-ED03837617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00250" y="2200275"/>
              <a:ext cx="21907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Foundations and Problem Formulation</a:t>
              </a:r>
            </a:p>
          </p:txBody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9ECF6E6C-11C1-435F-9508-EEC90F7216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0" y="2152650"/>
              <a:ext cx="3143250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DD6E3742-9748-41F7-A1A6-7105350B3B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14875" y="2219325"/>
              <a:ext cx="2857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Agent, LLM, and time-series layers</a:t>
              </a:r>
            </a:p>
          </p:txBody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72AB03D0-9DB0-4D48-9275-5CA002348B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2828925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F8F89"/>
            </a:solidFill>
            <a:ln xmlns:a="http://schemas.openxmlformats.org/drawingml/2006/main" w="0">
              <a:solidFill>
                <a:srgbClr val="4F8F89"/>
              </a:solidFill>
              <a:prstDash val="solid"/>
            </a:ln>
          </p:spPr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B3E0A83E-05C1-4A02-A951-F7416BD206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76375" y="2657475"/>
              <a:ext cx="2857500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11430">
              <a:solidFill>
                <a:srgbClr val="4F8F89"/>
              </a:solidFill>
              <a:prstDash val="dash"/>
            </a:ln>
          </p:spPr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04C0C4F6-9DFC-470D-9413-9D9D9070FB9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9250" y="2733675"/>
              <a:ext cx="3238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4F8F8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4F8F89"/>
                  </a:solidFill>
                  <a:latin typeface="Times New Roman"/>
                  <a:ea typeface="Times New Roman"/>
                  <a:cs typeface="Times New Roman"/>
                </a:rPr>
                <a:t>§ 4</a:t>
              </a:r>
            </a:p>
          </p:txBody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B8C91B58-6817-452B-9739-E54B65170A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00250" y="2705100"/>
              <a:ext cx="21907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Taxonomy of Time-Series Agents</a:t>
              </a:r>
            </a:p>
          </p:txBody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3CAB3592-BEA1-42B6-852E-582AD7EDE8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0" y="2657475"/>
              <a:ext cx="3143250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D76A82BB-9409-4B90-8860-1B3CAAB7BD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14875" y="2724150"/>
              <a:ext cx="2857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Reusable modules and task contracts</a:t>
              </a:r>
            </a:p>
          </p:txBody>
        </p:sp>
        <p:sp>
          <p:nv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32EEEC41-E92E-4742-B460-F30C66AEFB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3333750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A36259A1-1B64-4E4E-A38A-499509EF28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76375" y="3162300"/>
              <a:ext cx="2857500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11430">
              <a:solidFill>
                <a:srgbClr val="6B9F80"/>
              </a:solidFill>
              <a:prstDash val="dash"/>
            </a:ln>
          </p:spPr>
        </p:sp>
        <p:sp>
          <p:nv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D4EB9059-0E82-40BA-9990-6A35746CE6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9250" y="3238500"/>
              <a:ext cx="3238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§ 5</a:t>
              </a:r>
            </a:p>
          </p:txBody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C5F29190-AB97-41DB-B39B-CBE9EE4CC8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00250" y="3209925"/>
              <a:ext cx="21907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Automated Design and Infrastructure</a:t>
              </a:r>
            </a:p>
          </p:txBody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640F1376-8642-4579-A352-0247670EC8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0" y="3162300"/>
              <a:ext cx="3143250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1092B468-4DC2-45A6-A0A5-3332685ADF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14875" y="3228975"/>
              <a:ext cx="2857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Tools, memory, and execution</a:t>
              </a:r>
            </a:p>
          </p:txBody>
        </p:sp>
        <p:sp>
          <p:nvSpPr>
            <p:cNvPr id="34" name="">
              <a:extLst xmlns:a="http://schemas.openxmlformats.org/drawingml/2006/main">
                <a:ext uri="{FF2B5EF4-FFF2-40B4-BE49-F238E27FC236}">
                  <a16:creationId xmlns:a16="http://schemas.microsoft.com/office/drawing/2014/main" id="{482235CE-B526-4DA1-9543-455B8204E2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3838575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35" name="">
              <a:extLst xmlns:a="http://schemas.openxmlformats.org/drawingml/2006/main">
                <a:ext uri="{FF2B5EF4-FFF2-40B4-BE49-F238E27FC236}">
                  <a16:creationId xmlns:a16="http://schemas.microsoft.com/office/drawing/2014/main" id="{2AC940E3-3850-47A1-8268-20D3597F0B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76375" y="3667125"/>
              <a:ext cx="2857500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11430">
              <a:solidFill>
                <a:srgbClr val="6B9F80"/>
              </a:solidFill>
              <a:prstDash val="dash"/>
            </a:ln>
          </p:spPr>
        </p:sp>
        <p:sp>
          <p:nvSpPr>
            <p:cNvPr id="36" name="">
              <a:extLst xmlns:a="http://schemas.openxmlformats.org/drawingml/2006/main">
                <a:ext uri="{FF2B5EF4-FFF2-40B4-BE49-F238E27FC236}">
                  <a16:creationId xmlns:a16="http://schemas.microsoft.com/office/drawing/2014/main" id="{8A4468CA-1234-4A01-B814-E71B238C16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9250" y="3743325"/>
              <a:ext cx="3238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§ 6</a:t>
              </a:r>
            </a:p>
          </p:txBody>
        </p:sp>
        <p:sp>
          <p:nvSpPr>
            <p:cNvPr id="37" name="">
              <a:extLst xmlns:a="http://schemas.openxmlformats.org/drawingml/2006/main">
                <a:ext uri="{FF2B5EF4-FFF2-40B4-BE49-F238E27FC236}">
                  <a16:creationId xmlns:a16="http://schemas.microsoft.com/office/drawing/2014/main" id="{4F0DDB62-EA06-43CB-8303-57ECBF6F6D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00250" y="3714750"/>
              <a:ext cx="21907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Repair and Experimentation</a:t>
              </a:r>
            </a:p>
          </p:txBody>
        </p:sp>
        <p:sp>
          <p:nvSpPr>
            <p:cNvPr id="38" name="">
              <a:extLst xmlns:a="http://schemas.openxmlformats.org/drawingml/2006/main">
                <a:ext uri="{FF2B5EF4-FFF2-40B4-BE49-F238E27FC236}">
                  <a16:creationId xmlns:a16="http://schemas.microsoft.com/office/drawing/2014/main" id="{56F0FCBB-A6FA-4F97-943B-CC0F887296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0" y="3667125"/>
              <a:ext cx="3143250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39" name="">
              <a:extLst xmlns:a="http://schemas.openxmlformats.org/drawingml/2006/main">
                <a:ext uri="{FF2B5EF4-FFF2-40B4-BE49-F238E27FC236}">
                  <a16:creationId xmlns:a16="http://schemas.microsoft.com/office/drawing/2014/main" id="{42F89AD2-2495-4CF1-8A82-F7E5BCF8B5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14875" y="3733800"/>
              <a:ext cx="2857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Trace, revision, and validation</a:t>
              </a:r>
            </a:p>
          </p:txBody>
        </p:sp>
        <p:sp>
          <p:nvSpPr>
            <p:cNvPr id="40" name="">
              <a:extLst xmlns:a="http://schemas.openxmlformats.org/drawingml/2006/main">
                <a:ext uri="{FF2B5EF4-FFF2-40B4-BE49-F238E27FC236}">
                  <a16:creationId xmlns:a16="http://schemas.microsoft.com/office/drawing/2014/main" id="{2CA8FDF0-FDB1-48B9-969E-A276D021102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4343400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F8F89"/>
            </a:solidFill>
            <a:ln xmlns:a="http://schemas.openxmlformats.org/drawingml/2006/main" w="0">
              <a:solidFill>
                <a:srgbClr val="4F8F89"/>
              </a:solidFill>
              <a:prstDash val="solid"/>
            </a:ln>
          </p:spPr>
        </p:sp>
        <p:sp>
          <p:nvSpPr>
            <p:cNvPr id="41" name="">
              <a:extLst xmlns:a="http://schemas.openxmlformats.org/drawingml/2006/main">
                <a:ext uri="{FF2B5EF4-FFF2-40B4-BE49-F238E27FC236}">
                  <a16:creationId xmlns:a16="http://schemas.microsoft.com/office/drawing/2014/main" id="{7200C5EC-366F-4879-B305-C0ECA9D39E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76375" y="4171950"/>
              <a:ext cx="2857500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11430">
              <a:solidFill>
                <a:srgbClr val="4F8F89"/>
              </a:solidFill>
              <a:prstDash val="dash"/>
            </a:ln>
          </p:spPr>
        </p:sp>
        <p:sp>
          <p:nvSpPr>
            <p:cNvPr id="42" name="">
              <a:extLst xmlns:a="http://schemas.openxmlformats.org/drawingml/2006/main">
                <a:ext uri="{FF2B5EF4-FFF2-40B4-BE49-F238E27FC236}">
                  <a16:creationId xmlns:a16="http://schemas.microsoft.com/office/drawing/2014/main" id="{489A0524-B7D8-40E3-92F4-72349AD39D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9250" y="4248150"/>
              <a:ext cx="3238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4F8F8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4F8F89"/>
                  </a:solidFill>
                  <a:latin typeface="Times New Roman"/>
                  <a:ea typeface="Times New Roman"/>
                  <a:cs typeface="Times New Roman"/>
                </a:rPr>
                <a:t>§ 7</a:t>
              </a:r>
            </a:p>
          </p:txBody>
        </p:sp>
        <p:sp>
          <p:nvSpPr>
            <p:cNvPr id="43" name="">
              <a:extLst xmlns:a="http://schemas.openxmlformats.org/drawingml/2006/main">
                <a:ext uri="{FF2B5EF4-FFF2-40B4-BE49-F238E27FC236}">
                  <a16:creationId xmlns:a16="http://schemas.microsoft.com/office/drawing/2014/main" id="{F12C869C-5FD3-4E4E-9FAA-B523B0C994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00250" y="4219575"/>
              <a:ext cx="21907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Benchmarks and Evaluation</a:t>
              </a:r>
            </a:p>
          </p:txBody>
        </p:sp>
        <p:sp>
          <p:nvSpPr>
            <p:cNvPr id="44" name="">
              <a:extLst xmlns:a="http://schemas.openxmlformats.org/drawingml/2006/main">
                <a:ext uri="{FF2B5EF4-FFF2-40B4-BE49-F238E27FC236}">
                  <a16:creationId xmlns:a16="http://schemas.microsoft.com/office/drawing/2014/main" id="{EC773B91-D513-4DDB-8A19-B05D15E432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0" y="4171950"/>
              <a:ext cx="3143250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45" name="">
              <a:extLst xmlns:a="http://schemas.openxmlformats.org/drawingml/2006/main">
                <a:ext uri="{FF2B5EF4-FFF2-40B4-BE49-F238E27FC236}">
                  <a16:creationId xmlns:a16="http://schemas.microsoft.com/office/drawing/2014/main" id="{44F091EC-276D-4529-A187-819CFEE103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14875" y="4238625"/>
              <a:ext cx="2857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Goal-matched tests and reports</a:t>
              </a:r>
            </a:p>
          </p:txBody>
        </p:sp>
        <p:sp>
          <p:nvSpPr>
            <p:cNvPr id="46" name="">
              <a:extLst xmlns:a="http://schemas.openxmlformats.org/drawingml/2006/main">
                <a:ext uri="{FF2B5EF4-FFF2-40B4-BE49-F238E27FC236}">
                  <a16:creationId xmlns:a16="http://schemas.microsoft.com/office/drawing/2014/main" id="{9DF70DB5-FCCC-4CB3-880F-C29E6DB0A5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4848225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47" name="">
              <a:extLst xmlns:a="http://schemas.openxmlformats.org/drawingml/2006/main">
                <a:ext uri="{FF2B5EF4-FFF2-40B4-BE49-F238E27FC236}">
                  <a16:creationId xmlns:a16="http://schemas.microsoft.com/office/drawing/2014/main" id="{F421C886-5FAA-4BFC-9C71-8AD76AB573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76375" y="4676775"/>
              <a:ext cx="2857500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11430">
              <a:solidFill>
                <a:srgbClr val="6D6396"/>
              </a:solidFill>
              <a:prstDash val="dash"/>
            </a:ln>
          </p:spPr>
        </p:sp>
        <p:sp>
          <p:nvSpPr>
            <p:cNvPr id="48" name="">
              <a:extLst xmlns:a="http://schemas.openxmlformats.org/drawingml/2006/main">
                <a:ext uri="{FF2B5EF4-FFF2-40B4-BE49-F238E27FC236}">
                  <a16:creationId xmlns:a16="http://schemas.microsoft.com/office/drawing/2014/main" id="{8BAC888D-182F-4353-AA83-8A432E0869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9250" y="4752975"/>
              <a:ext cx="3238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D639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D6396"/>
                  </a:solidFill>
                  <a:latin typeface="Times New Roman"/>
                  <a:ea typeface="Times New Roman"/>
                  <a:cs typeface="Times New Roman"/>
                </a:rPr>
                <a:t>§ 8</a:t>
              </a:r>
            </a:p>
          </p:txBody>
        </p:sp>
        <p:sp>
          <p:nvSpPr>
            <p:cNvPr id="49" name="">
              <a:extLst xmlns:a="http://schemas.openxmlformats.org/drawingml/2006/main">
                <a:ext uri="{FF2B5EF4-FFF2-40B4-BE49-F238E27FC236}">
                  <a16:creationId xmlns:a16="http://schemas.microsoft.com/office/drawing/2014/main" id="{BED97BF2-9DE4-4653-A301-C00C72F635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00250" y="4724400"/>
              <a:ext cx="21907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Challenges and Future Directions</a:t>
              </a:r>
            </a:p>
          </p:txBody>
        </p:sp>
        <p:sp>
          <p:nvSpPr>
            <p:cNvPr id="50" name="">
              <a:extLst xmlns:a="http://schemas.openxmlformats.org/drawingml/2006/main">
                <a:ext uri="{FF2B5EF4-FFF2-40B4-BE49-F238E27FC236}">
                  <a16:creationId xmlns:a16="http://schemas.microsoft.com/office/drawing/2014/main" id="{899FB8D7-C4D5-4497-9799-6E8F5BF011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0" y="4676775"/>
              <a:ext cx="3143250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51" name="">
              <a:extLst xmlns:a="http://schemas.openxmlformats.org/drawingml/2006/main">
                <a:ext uri="{FF2B5EF4-FFF2-40B4-BE49-F238E27FC236}">
                  <a16:creationId xmlns:a16="http://schemas.microsoft.com/office/drawing/2014/main" id="{F83E1EF9-288C-4892-AD76-21F8EC180C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14875" y="4743450"/>
              <a:ext cx="2857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Open problems and coverage gaps</a:t>
              </a:r>
            </a:p>
          </p:txBody>
        </p:sp>
        <p:sp>
          <p:nvSpPr>
            <p:cNvPr id="52" name="">
              <a:extLst xmlns:a="http://schemas.openxmlformats.org/drawingml/2006/main">
                <a:ext uri="{FF2B5EF4-FFF2-40B4-BE49-F238E27FC236}">
                  <a16:creationId xmlns:a16="http://schemas.microsoft.com/office/drawing/2014/main" id="{BCB204E9-CF87-42CB-9245-36406CE51D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5353050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53" name="">
              <a:extLst xmlns:a="http://schemas.openxmlformats.org/drawingml/2006/main">
                <a:ext uri="{FF2B5EF4-FFF2-40B4-BE49-F238E27FC236}">
                  <a16:creationId xmlns:a16="http://schemas.microsoft.com/office/drawing/2014/main" id="{CD0DF391-6014-401A-BC6E-693452382E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76375" y="5181600"/>
              <a:ext cx="2857500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11430">
              <a:solidFill>
                <a:srgbClr val="6D6396"/>
              </a:solidFill>
              <a:prstDash val="dash"/>
            </a:ln>
          </p:spPr>
        </p:sp>
        <p:sp>
          <p:nvSpPr>
            <p:cNvPr id="54" name="">
              <a:extLst xmlns:a="http://schemas.openxmlformats.org/drawingml/2006/main">
                <a:ext uri="{FF2B5EF4-FFF2-40B4-BE49-F238E27FC236}">
                  <a16:creationId xmlns:a16="http://schemas.microsoft.com/office/drawing/2014/main" id="{2A26DC94-A84B-486A-97A0-5650BCE96B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9250" y="5257800"/>
              <a:ext cx="3238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D639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D6396"/>
                  </a:solidFill>
                  <a:latin typeface="Times New Roman"/>
                  <a:ea typeface="Times New Roman"/>
                  <a:cs typeface="Times New Roman"/>
                </a:rPr>
                <a:t>§ 9</a:t>
              </a:r>
            </a:p>
          </p:txBody>
        </p:sp>
        <p:sp>
          <p:nvSpPr>
            <p:cNvPr id="55" name="">
              <a:extLst xmlns:a="http://schemas.openxmlformats.org/drawingml/2006/main">
                <a:ext uri="{FF2B5EF4-FFF2-40B4-BE49-F238E27FC236}">
                  <a16:creationId xmlns:a16="http://schemas.microsoft.com/office/drawing/2014/main" id="{DAE24B7B-233D-4871-A1C2-75794EC497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00250" y="5229225"/>
              <a:ext cx="21907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Conclusion</a:t>
              </a:r>
            </a:p>
          </p:txBody>
        </p:sp>
        <p:sp>
          <p:nvSpPr>
            <p:cNvPr id="56" name="">
              <a:extLst xmlns:a="http://schemas.openxmlformats.org/drawingml/2006/main">
                <a:ext uri="{FF2B5EF4-FFF2-40B4-BE49-F238E27FC236}">
                  <a16:creationId xmlns:a16="http://schemas.microsoft.com/office/drawing/2014/main" id="{F3963712-3582-45EE-9F2B-D50D6DF50C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0" y="5181600"/>
              <a:ext cx="3143250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57" name="">
              <a:extLst xmlns:a="http://schemas.openxmlformats.org/drawingml/2006/main">
                <a:ext uri="{FF2B5EF4-FFF2-40B4-BE49-F238E27FC236}">
                  <a16:creationId xmlns:a16="http://schemas.microsoft.com/office/drawing/2014/main" id="{4E4656A3-898F-4ECC-A67E-1D0C7DBF6AF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14875" y="5248275"/>
              <a:ext cx="2857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Open limits and next tests</a:t>
              </a:r>
            </a:p>
          </p:txBody>
        </p:sp>
        <p:sp>
          <p:nvSpPr>
            <p:cNvPr id="58" name="">
              <a:extLst xmlns:a="http://schemas.openxmlformats.org/drawingml/2006/main">
                <a:ext uri="{FF2B5EF4-FFF2-40B4-BE49-F238E27FC236}">
                  <a16:creationId xmlns:a16="http://schemas.microsoft.com/office/drawing/2014/main" id="{F245CEEB-E4B6-4F1D-92DC-B736A4E16D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1143000"/>
              <a:ext cx="476250" cy="2762250"/>
            </a:xfrm>
            <a:prstGeom xmlns:a="http://schemas.openxmlformats.org/drawingml/2006/main" prst="roundRect">
              <a:avLst>
                <a:gd name="adj" fmla="val 16000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11430">
              <a:solidFill>
                <a:srgbClr val="4F8F89"/>
              </a:solidFill>
              <a:prstDash val="dash"/>
            </a:ln>
          </p:spPr>
        </p:sp>
        <p:sp>
          <p:nvSpPr>
            <p:cNvPr id="59" name="">
              <a:extLst xmlns:a="http://schemas.openxmlformats.org/drawingml/2006/main">
                <a:ext uri="{FF2B5EF4-FFF2-40B4-BE49-F238E27FC236}">
                  <a16:creationId xmlns:a16="http://schemas.microsoft.com/office/drawing/2014/main" id="{4F68E131-3D43-4210-94F8-C72323DA6D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4850" y="1762125"/>
              <a:ext cx="304800" cy="952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4F8F8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4F8F89"/>
                  </a:solidFill>
                  <a:latin typeface="Times New Roman"/>
                  <a:ea typeface="Times New Roman"/>
                  <a:cs typeface="Times New Roman"/>
                </a:rPr>
                <a:t>RSI</a:t>
              </a:r>
            </a:p>
            <a:p xmlns:a="http://schemas.openxmlformats.org/drawingml/2006/main">
              <a:pPr>
                <a:defRPr sz="1200" b="1" i="0">
                  <a:solidFill>
                    <a:srgbClr val="4F8F8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4F8F89"/>
                  </a:solidFill>
                  <a:latin typeface="Times New Roman"/>
                  <a:ea typeface="Times New Roman"/>
                  <a:cs typeface="Times New Roman"/>
                </a:rPr>
                <a:t>Survey</a:t>
              </a:r>
            </a:p>
          </p:txBody>
        </p:sp>
        <p:sp>
          <p:nvSpPr>
            <p:cNvPr id="60" name="">
              <a:extLst xmlns:a="http://schemas.openxmlformats.org/drawingml/2006/main">
                <a:ext uri="{FF2B5EF4-FFF2-40B4-BE49-F238E27FC236}">
                  <a16:creationId xmlns:a16="http://schemas.microsoft.com/office/drawing/2014/main" id="{22E7E6F2-70CD-4A33-8FCF-F611077503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6143625"/>
              <a:ext cx="7096125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61" name="">
              <a:extLst xmlns:a="http://schemas.openxmlformats.org/drawingml/2006/main">
                <a:ext uri="{FF2B5EF4-FFF2-40B4-BE49-F238E27FC236}">
                  <a16:creationId xmlns:a16="http://schemas.microsoft.com/office/drawing/2014/main" id="{C61D2309-A3CE-4E5A-8BFC-F2975E6B04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6200775"/>
              <a:ext cx="68103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25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Paper-card fields: claim · evidence locator · module layer · task family · BibTeX · review status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5577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2026-10-02T06:46:01.5890000Z</dcterms:created>
  <dcterms:modified xsi:type="dcterms:W3CDTF">2026-10-02T06:46:01.5890000Z</dcterms:modified>
</coreProperties>
</file>