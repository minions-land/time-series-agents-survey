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87d5a4c041734b7e"/><Relationship Type="http://schemas.openxmlformats.org/officeDocument/2006/relationships/extended-properties" Target="/docProps/app.xml" Id="R48633c54fd134b36"/><Relationship Type="http://schemas.openxmlformats.org/officeDocument/2006/relationships/officeDocument" Target="/ppt/presentation.xml" Id="Rccfefabd99c74304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2dd2e32af54760"/>
  </p:sldMasterIdLst>
  <p:notesMasterIdLst>
    <p:notesMasterId xmlns:r="http://schemas.openxmlformats.org/officeDocument/2006/relationships" r:id="Ra0a1e8e05023462b"/>
  </p:notesMasterIdLst>
  <p:sldIdLst>
    <p:sldId xmlns:r="http://schemas.openxmlformats.org/officeDocument/2006/relationships" id="259" r:id="Rb96d7f6ff03f41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498f80b000b64034"/><Relationship Type="http://schemas.openxmlformats.org/officeDocument/2006/relationships/slideMaster" Target="/ppt/slideMasters/slideMaster1.xml" Id="Rc62dd2e32af54760"/><Relationship Type="http://schemas.openxmlformats.org/officeDocument/2006/relationships/notesMaster" Target="/ppt/notesMasters/notesMaster1.xml" Id="Ra0a1e8e05023462b"/><Relationship Type="http://schemas.openxmlformats.org/officeDocument/2006/relationships/presProps" Target="/ppt/presProps.xml" Id="R04131d18dade4c29"/><Relationship Type="http://schemas.openxmlformats.org/officeDocument/2006/relationships/tableStyles" Target="/ppt/tableStyles.xml" Id="R806215ee825044a7"/><Relationship Type="http://schemas.openxmlformats.org/officeDocument/2006/relationships/slide" Target="/ppt/slides/slide4.xml" Id="Rb96d7f6ff03f411d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7f6a0963fee64ca7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f2239c0e6ff34b0b"/><Relationship Type="http://schemas.openxmlformats.org/officeDocument/2006/relationships/notesMaster" Target="/ppt/notesMasters/notesMaster1.xml" Id="R43912d87f06d4eca"/></Relationship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RSI reference screenshot: 473be8a2-e4eb-4cca-bfdd-97302b50480b.png. This slide uses native PowerPoint text, shapes, lines, and connectors; it is a visual study, not the source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8fa87c7bc4a44575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725b395724ca46a6"/><Relationship Type="http://schemas.openxmlformats.org/officeDocument/2006/relationships/slideLayout" Target="/ppt/slideLayouts/slideLayout1.xml" Id="Rb3adc2a7e1324915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adc2a7e13249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45d8c70c3c434278"/><Relationship Type="http://schemas.openxmlformats.org/officeDocument/2006/relationships/notesSlide" Target="/ppt/notesSlides/notesSlide4.xml" Id="Ra43ecb4c66914a4a"/></Relationships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52" name="Old_RSI_Open_Problems — editable components"/>
          <p:cNvGrpSpPr/>
          <p:nvPr/>
        </p:nvGrpSpPr>
        <p:grpSpPr>
          <ns1:xfrm xmlns:ns1="http://schemas.openxmlformats.org/drawingml/2006/main">
            <ns1:off x="333375" y="209550"/>
            <ns1:ext cx="11439525" cy="6029325"/>
            <ns1:chOff x="333375" y="209550"/>
            <ns1:chExt cx="11439525" cy="6029325"/>
          </ns1:xfrm>
        </p:grpSpPr>
        <p:sp>
          <p:nvSpPr>
            <p:cNvPr id="51" name="">
              <a:extLst xmlns:a="http://schemas.openxmlformats.org/drawingml/2006/main">
                <a:ext uri="{FF2B5EF4-FFF2-40B4-BE49-F238E27FC236}">
                  <a16:creationId xmlns:a16="http://schemas.microsoft.com/office/drawing/2014/main" id="{E21663C1-36D9-4530-B505-899F189968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209550"/>
              <a:ext cx="1133475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22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2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Open problems for recursive improvement</a:t>
              </a:r>
            </a:p>
          </p:txBody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379AFCEC-1A1E-4F1B-A38C-6EEDC274785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" y="571500"/>
              <a:ext cx="11334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0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Bottleneck  →  research question  →  targeted probe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8ECC5F75-5ED5-421E-B099-3EA500F3EC5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3375" y="1095375"/>
              <a:ext cx="3524250" cy="2428875"/>
            </a:xfrm>
            <a:prstGeom xmlns:a="http://schemas.openxmlformats.org/drawingml/2006/main" prst="roundRect">
              <a:avLst>
                <a:gd name="adj" fmla="val 3137"/>
              </a:avLst>
            </a:prstGeom>
            <a:solidFill xmlns:a="http://schemas.openxmlformats.org/drawingml/2006/main">
              <a:srgbClr val="F5F0CE"/>
            </a:solidFill>
            <a:ln xmlns:a="http://schemas.openxmlformats.org/drawingml/2006/main" w="14288">
              <a:solidFill>
                <a:srgbClr val="45505A"/>
              </a:solidFill>
              <a:prstDash val="dash"/>
            </a:ln>
          </p:spPr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EE13C188-2B03-46AD-8B0F-7BD1AFCF79B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4825" y="1209675"/>
              <a:ext cx="31432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6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(a) Feedback</a:t>
              </a:r>
            </a:p>
          </p:txBody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23F1BFE9-A791-4DDD-BD88-6B182FB9D7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1571625"/>
              <a:ext cx="31432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Judge bias / weak signals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D29C6E33-CECA-429E-BB18-03C062E9115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1971675"/>
              <a:ext cx="2286000" cy="495300"/>
            </a:xfrm>
            <a:prstGeom xmlns:a="http://schemas.openxmlformats.org/drawingml/2006/main" prst="roundRect">
              <a:avLst>
                <a:gd name="adj" fmla="val 1538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B47B24"/>
              </a:solidFill>
              <a:prstDash val="solid"/>
            </a:ln>
          </p:spPr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BA2997AE-4CF7-43C6-9D05-1ECC6B53BC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95375" y="2124075"/>
              <a:ext cx="20002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75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rPr>
                <a:t>mechanism sketch</a:t>
              </a:r>
            </a:p>
          </p:txBody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34E88F2F-E73D-4D4D-8B4D-057DCFB130F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85975" y="2562225"/>
              <a:ext cx="19050" cy="381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47B24"/>
            </a:solidFill>
            <a:ln xmlns:a="http://schemas.openxmlformats.org/drawingml/2006/main" w="0">
              <a:solidFill>
                <a:srgbClr val="B47B24"/>
              </a:solidFill>
              <a:prstDash val="solid"/>
            </a:ln>
          </p:spPr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DCA37060-1570-4413-9DAC-A0D0B882E7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28825" y="2924175"/>
              <a:ext cx="133350" cy="76200"/>
            </a:xfrm>
            <a:prstGeom xmlns:a="http://schemas.openxmlformats.org/drawingml/2006/main" prst="triangle">
              <a:avLst/>
            </a:prstGeom>
            <a:solidFill xmlns:a="http://schemas.openxmlformats.org/drawingml/2006/main">
              <a:srgbClr val="B47B24"/>
            </a:solidFill>
            <a:ln xmlns:a="http://schemas.openxmlformats.org/drawingml/2006/main" w="0">
              <a:solidFill>
                <a:srgbClr val="B47B24"/>
              </a:solidFill>
              <a:prstDash val="solid"/>
            </a:ln>
          </p:spPr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41FB851F-7449-42E4-A67B-D3D5E0F616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0075" y="3048000"/>
              <a:ext cx="299085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75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rPr>
                <a:t>External checks + judge calibration</a:t>
              </a:r>
            </a:p>
          </p:txBody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89AD473B-D70C-4AA7-9523-5A4DE98D31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0" y="1095375"/>
              <a:ext cx="3524250" cy="2428875"/>
            </a:xfrm>
            <a:prstGeom xmlns:a="http://schemas.openxmlformats.org/drawingml/2006/main" prst="roundRect">
              <a:avLst>
                <a:gd name="adj" fmla="val 3137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14288">
              <a:solidFill>
                <a:srgbClr val="45505A"/>
              </a:solidFill>
              <a:prstDash val="dash"/>
            </a:ln>
          </p:spPr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860EDB26-76EC-44B4-95F9-60070833E3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62450" y="1209675"/>
              <a:ext cx="31432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6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(b) Experience</a:t>
              </a:r>
            </a:p>
          </p:txBody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ACD745D1-77DF-4621-901D-8EACBB2345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0" y="1571625"/>
              <a:ext cx="31432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Diversity / retention</a:t>
              </a:r>
            </a:p>
          </p:txBody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987ED414-A570-48F6-BA9F-7928B873F5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10125" y="1971675"/>
              <a:ext cx="2286000" cy="495300"/>
            </a:xfrm>
            <a:prstGeom xmlns:a="http://schemas.openxmlformats.org/drawingml/2006/main" prst="roundRect">
              <a:avLst>
                <a:gd name="adj" fmla="val 1538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6B9F80"/>
              </a:solidFill>
              <a:prstDash val="solid"/>
            </a:ln>
          </p:spPr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62FC39EB-09EE-43F8-AAFC-3724A340F0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3000" y="2124075"/>
              <a:ext cx="20002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75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rPr>
                <a:t>mechanism sketch</a:t>
              </a:r>
            </a:p>
          </p:txBody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1F7627FA-7CE8-4A87-8E65-CFE121CE1A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43600" y="2562225"/>
              <a:ext cx="19050" cy="381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BE290EC9-2F46-46EF-964A-F0B931735C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86450" y="2924175"/>
              <a:ext cx="133350" cy="76200"/>
            </a:xfrm>
            <a:prstGeom xmlns:a="http://schemas.openxmlformats.org/drawingml/2006/main" prst="triangle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5A4822D0-843D-45FF-996E-257C888A174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57700" y="3048000"/>
              <a:ext cx="299085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75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rPr>
                <a:t>Replay mix + retention under shift</a:t>
              </a:r>
            </a:p>
          </p:txBody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55BE1FD5-758F-42FF-B5C0-4B59C8E58D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48625" y="1095375"/>
              <a:ext cx="3524250" cy="2428875"/>
            </a:xfrm>
            <a:prstGeom xmlns:a="http://schemas.openxmlformats.org/drawingml/2006/main" prst="roundRect">
              <a:avLst>
                <a:gd name="adj" fmla="val 3137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14288">
              <a:solidFill>
                <a:srgbClr val="45505A"/>
              </a:solidFill>
              <a:prstDash val="dash"/>
            </a:ln>
          </p:spPr>
        </p: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71CA9AFE-7689-4095-A87C-1DAFB45291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20075" y="1209675"/>
              <a:ext cx="31432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6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(c) Stability</a:t>
              </a:r>
            </a:p>
          </p:txBody>
        </p: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59137794-FA85-408E-99E0-FC0C44D3DD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39125" y="1571625"/>
              <a:ext cx="31432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Regression across rounds</a:t>
              </a:r>
            </a:p>
          </p:txBody>
        </p:sp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70A4A5CC-672C-4413-8A23-D2F63A17A13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667750" y="1971675"/>
              <a:ext cx="2286000" cy="495300"/>
            </a:xfrm>
            <a:prstGeom xmlns:a="http://schemas.openxmlformats.org/drawingml/2006/main" prst="roundRect">
              <a:avLst>
                <a:gd name="adj" fmla="val 1538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F8F89"/>
              </a:solidFill>
              <a:prstDash val="solid"/>
            </a:ln>
          </p:spPr>
        </p:sp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03C73401-4272-4C54-8AD4-05CFB76A72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10625" y="2124075"/>
              <a:ext cx="20002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75" b="1" i="0">
                  <a:solidFill>
                    <a:srgbClr val="4F8F8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1" i="0">
                  <a:solidFill>
                    <a:srgbClr val="4F8F89"/>
                  </a:solidFill>
                  <a:latin typeface="Times New Roman"/>
                  <a:ea typeface="Times New Roman"/>
                  <a:cs typeface="Times New Roman"/>
                </a:rPr>
                <a:t>mechanism sketch</a:t>
              </a:r>
            </a:p>
          </p:txBody>
        </p:sp>
        <p:sp>
          <p:nvSpPr>
            <p:cNvPr id="24" name="">
              <a:extLst xmlns:a="http://schemas.openxmlformats.org/drawingml/2006/main">
                <a:ext uri="{FF2B5EF4-FFF2-40B4-BE49-F238E27FC236}">
                  <a16:creationId xmlns:a16="http://schemas.microsoft.com/office/drawing/2014/main" id="{58173CA3-E6EC-47B3-B152-B9C69343C3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01225" y="2562225"/>
              <a:ext cx="19050" cy="381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F8F89"/>
            </a:solidFill>
            <a:ln xmlns:a="http://schemas.openxmlformats.org/drawingml/2006/main" w="0">
              <a:solidFill>
                <a:srgbClr val="4F8F89"/>
              </a:solidFill>
              <a:prstDash val="solid"/>
            </a:ln>
          </p:spPr>
        </p:sp>
        <p:sp>
          <p:nvSpPr>
            <p:cNvPr id="25" name="">
              <a:extLst xmlns:a="http://schemas.openxmlformats.org/drawingml/2006/main">
                <a:ext uri="{FF2B5EF4-FFF2-40B4-BE49-F238E27FC236}">
                  <a16:creationId xmlns:a16="http://schemas.microsoft.com/office/drawing/2014/main" id="{BA91B4B7-62F9-4846-B554-BB66274CBE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44075" y="2924175"/>
              <a:ext cx="133350" cy="76200"/>
            </a:xfrm>
            <a:prstGeom xmlns:a="http://schemas.openxmlformats.org/drawingml/2006/main" prst="triangle">
              <a:avLst/>
            </a:prstGeom>
            <a:solidFill xmlns:a="http://schemas.openxmlformats.org/drawingml/2006/main">
              <a:srgbClr val="4F8F89"/>
            </a:solidFill>
            <a:ln xmlns:a="http://schemas.openxmlformats.org/drawingml/2006/main" w="0">
              <a:solidFill>
                <a:srgbClr val="4F8F89"/>
              </a:solidFill>
              <a:prstDash val="solid"/>
            </a:ln>
          </p:spPr>
        </p:sp>
        <p:sp>
          <p:nvSpPr>
            <p:cNvPr id="26" name="">
              <a:extLst xmlns:a="http://schemas.openxmlformats.org/drawingml/2006/main">
                <a:ext uri="{FF2B5EF4-FFF2-40B4-BE49-F238E27FC236}">
                  <a16:creationId xmlns:a16="http://schemas.microsoft.com/office/drawing/2014/main" id="{ACB6DFEA-2B14-4C98-AB9D-40B36D185D4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15325" y="3048000"/>
              <a:ext cx="299085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75" b="1" i="0">
                  <a:solidFill>
                    <a:srgbClr val="4F8F8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1" i="0">
                  <a:solidFill>
                    <a:srgbClr val="4F8F89"/>
                  </a:solidFill>
                  <a:latin typeface="Times New Roman"/>
                  <a:ea typeface="Times New Roman"/>
                  <a:cs typeface="Times New Roman"/>
                </a:rPr>
                <a:t>Long-run replay + rollback ablation</a:t>
              </a:r>
            </a:p>
          </p:txBody>
        </p:sp>
        <p:sp>
          <p:nvSpPr>
            <p:cNvPr id="27" name="">
              <a:extLst xmlns:a="http://schemas.openxmlformats.org/drawingml/2006/main">
                <a:ext uri="{FF2B5EF4-FFF2-40B4-BE49-F238E27FC236}">
                  <a16:creationId xmlns:a16="http://schemas.microsoft.com/office/drawing/2014/main" id="{6D42C3E8-2649-4D22-BD05-6DDC26D55E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3375" y="3810000"/>
              <a:ext cx="3524250" cy="2428875"/>
            </a:xfrm>
            <a:prstGeom xmlns:a="http://schemas.openxmlformats.org/drawingml/2006/main" prst="roundRect">
              <a:avLst>
                <a:gd name="adj" fmla="val 3137"/>
              </a:avLst>
            </a:prstGeom>
            <a:solidFill xmlns:a="http://schemas.openxmlformats.org/drawingml/2006/main">
              <a:srgbClr val="F5F0CE"/>
            </a:solidFill>
            <a:ln xmlns:a="http://schemas.openxmlformats.org/drawingml/2006/main" w="14288">
              <a:solidFill>
                <a:srgbClr val="45505A"/>
              </a:solidFill>
              <a:prstDash val="dash"/>
            </a:ln>
          </p:spPr>
        </p:sp>
        <p:sp>
          <p:nvSpPr>
            <p:cNvPr id="28" name="">
              <a:extLst xmlns:a="http://schemas.openxmlformats.org/drawingml/2006/main">
                <a:ext uri="{FF2B5EF4-FFF2-40B4-BE49-F238E27FC236}">
                  <a16:creationId xmlns:a16="http://schemas.microsoft.com/office/drawing/2014/main" id="{33BAE98B-7C33-46EC-9F0D-18066D2306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4825" y="3924300"/>
              <a:ext cx="31432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6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(d) Integrity</a:t>
              </a:r>
            </a:p>
          </p:txBody>
        </p:sp>
        <p:sp>
          <p:nvSpPr>
            <p:cNvPr id="29" name="">
              <a:extLst xmlns:a="http://schemas.openxmlformats.org/drawingml/2006/main">
                <a:ext uri="{FF2B5EF4-FFF2-40B4-BE49-F238E27FC236}">
                  <a16:creationId xmlns:a16="http://schemas.microsoft.com/office/drawing/2014/main" id="{B0086C38-EE55-4FEA-93D0-58A529368E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4286250"/>
              <a:ext cx="31432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Contamination / gaming</a:t>
              </a:r>
            </a:p>
          </p:txBody>
        </p:sp>
        <p:sp>
          <p:nvSpPr>
            <p:cNvPr id="30" name="">
              <a:extLst xmlns:a="http://schemas.openxmlformats.org/drawingml/2006/main">
                <a:ext uri="{FF2B5EF4-FFF2-40B4-BE49-F238E27FC236}">
                  <a16:creationId xmlns:a16="http://schemas.microsoft.com/office/drawing/2014/main" id="{C662E099-7DC2-4695-8124-9055185049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4686300"/>
              <a:ext cx="2286000" cy="495300"/>
            </a:xfrm>
            <a:prstGeom xmlns:a="http://schemas.openxmlformats.org/drawingml/2006/main" prst="roundRect">
              <a:avLst>
                <a:gd name="adj" fmla="val 1538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B47B24"/>
              </a:solidFill>
              <a:prstDash val="solid"/>
            </a:ln>
          </p:spPr>
        </p:sp>
        <p:sp>
          <p:nvSpPr>
            <p:cNvPr id="31" name="">
              <a:extLst xmlns:a="http://schemas.openxmlformats.org/drawingml/2006/main">
                <a:ext uri="{FF2B5EF4-FFF2-40B4-BE49-F238E27FC236}">
                  <a16:creationId xmlns:a16="http://schemas.microsoft.com/office/drawing/2014/main" id="{FB28A163-1C91-40EF-878D-1876CB994D4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95375" y="4838700"/>
              <a:ext cx="20002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75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rPr>
                <a:t>mechanism sketch</a:t>
              </a:r>
            </a:p>
          </p:txBody>
        </p:sp>
        <p:sp>
          <p:nvSpPr>
            <p:cNvPr id="32" name="">
              <a:extLst xmlns:a="http://schemas.openxmlformats.org/drawingml/2006/main">
                <a:ext uri="{FF2B5EF4-FFF2-40B4-BE49-F238E27FC236}">
                  <a16:creationId xmlns:a16="http://schemas.microsoft.com/office/drawing/2014/main" id="{ED4D0DFC-07F9-4FE8-A940-9F8DE3F8B4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85975" y="5276850"/>
              <a:ext cx="19050" cy="381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47B24"/>
            </a:solidFill>
            <a:ln xmlns:a="http://schemas.openxmlformats.org/drawingml/2006/main" w="0">
              <a:solidFill>
                <a:srgbClr val="B47B24"/>
              </a:solidFill>
              <a:prstDash val="solid"/>
            </a:ln>
          </p:spPr>
        </p:sp>
        <p:sp>
          <p:nvSpPr>
            <p:cNvPr id="33" name="">
              <a:extLst xmlns:a="http://schemas.openxmlformats.org/drawingml/2006/main">
                <a:ext uri="{FF2B5EF4-FFF2-40B4-BE49-F238E27FC236}">
                  <a16:creationId xmlns:a16="http://schemas.microsoft.com/office/drawing/2014/main" id="{1E85022B-6CDA-436F-8D6E-3AD4A82363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28825" y="5638800"/>
              <a:ext cx="133350" cy="76200"/>
            </a:xfrm>
            <a:prstGeom xmlns:a="http://schemas.openxmlformats.org/drawingml/2006/main" prst="triangle">
              <a:avLst/>
            </a:prstGeom>
            <a:solidFill xmlns:a="http://schemas.openxmlformats.org/drawingml/2006/main">
              <a:srgbClr val="B47B24"/>
            </a:solidFill>
            <a:ln xmlns:a="http://schemas.openxmlformats.org/drawingml/2006/main" w="0">
              <a:solidFill>
                <a:srgbClr val="B47B24"/>
              </a:solidFill>
              <a:prstDash val="solid"/>
            </a:ln>
          </p:spPr>
        </p:sp>
        <p:sp>
          <p:nvSpPr>
            <p:cNvPr id="34" name="">
              <a:extLst xmlns:a="http://schemas.openxmlformats.org/drawingml/2006/main">
                <a:ext uri="{FF2B5EF4-FFF2-40B4-BE49-F238E27FC236}">
                  <a16:creationId xmlns:a16="http://schemas.microsoft.com/office/drawing/2014/main" id="{5B4C0A1B-B962-4BB3-BF39-A24B633869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0075" y="5762625"/>
              <a:ext cx="299085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75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rPr>
                <a:t>Sealed tasks + protected evaluator</a:t>
              </a:r>
            </a:p>
          </p:txBody>
        </p:sp>
        <p:sp>
          <p:nvSpPr>
            <p:cNvPr id="35" name="">
              <a:extLst xmlns:a="http://schemas.openxmlformats.org/drawingml/2006/main">
                <a:ext uri="{FF2B5EF4-FFF2-40B4-BE49-F238E27FC236}">
                  <a16:creationId xmlns:a16="http://schemas.microsoft.com/office/drawing/2014/main" id="{21DB7537-B81C-4EA9-A8BD-ABB51DCB30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0" y="3810000"/>
              <a:ext cx="3524250" cy="2428875"/>
            </a:xfrm>
            <a:prstGeom xmlns:a="http://schemas.openxmlformats.org/drawingml/2006/main" prst="roundRect">
              <a:avLst>
                <a:gd name="adj" fmla="val 3137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14288">
              <a:solidFill>
                <a:srgbClr val="45505A"/>
              </a:solidFill>
              <a:prstDash val="dash"/>
            </a:ln>
          </p:spPr>
        </p:sp>
        <p:sp>
          <p:nvSpPr>
            <p:cNvPr id="36" name="">
              <a:extLst xmlns:a="http://schemas.openxmlformats.org/drawingml/2006/main">
                <a:ext uri="{FF2B5EF4-FFF2-40B4-BE49-F238E27FC236}">
                  <a16:creationId xmlns:a16="http://schemas.microsoft.com/office/drawing/2014/main" id="{D398CD09-381E-4197-BF72-1930F9D617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62450" y="3924300"/>
              <a:ext cx="31432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6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(e) Compute</a:t>
              </a:r>
            </a:p>
          </p:txBody>
        </p:sp>
        <p:sp>
          <p:nvSpPr>
            <p:cNvPr id="37" name="">
              <a:extLst xmlns:a="http://schemas.openxmlformats.org/drawingml/2006/main">
                <a:ext uri="{FF2B5EF4-FFF2-40B4-BE49-F238E27FC236}">
                  <a16:creationId xmlns:a16="http://schemas.microsoft.com/office/drawing/2014/main" id="{F46014E6-8821-4DDB-9532-EFDF4537E9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0" y="4286250"/>
              <a:ext cx="31432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Search and checking cost</a:t>
              </a:r>
            </a:p>
          </p:txBody>
        </p:sp>
        <p:sp>
          <p:nvSpPr>
            <p:cNvPr id="38" name="">
              <a:extLst xmlns:a="http://schemas.openxmlformats.org/drawingml/2006/main">
                <a:ext uri="{FF2B5EF4-FFF2-40B4-BE49-F238E27FC236}">
                  <a16:creationId xmlns:a16="http://schemas.microsoft.com/office/drawing/2014/main" id="{35B34AB3-7449-4A72-81CD-63DE6A4EBF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10125" y="4686300"/>
              <a:ext cx="2286000" cy="495300"/>
            </a:xfrm>
            <a:prstGeom xmlns:a="http://schemas.openxmlformats.org/drawingml/2006/main" prst="roundRect">
              <a:avLst>
                <a:gd name="adj" fmla="val 1538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6B9F80"/>
              </a:solidFill>
              <a:prstDash val="solid"/>
            </a:ln>
          </p:spPr>
        </p:sp>
        <p:sp>
          <p:nvSpPr>
            <p:cNvPr id="39" name="">
              <a:extLst xmlns:a="http://schemas.openxmlformats.org/drawingml/2006/main">
                <a:ext uri="{FF2B5EF4-FFF2-40B4-BE49-F238E27FC236}">
                  <a16:creationId xmlns:a16="http://schemas.microsoft.com/office/drawing/2014/main" id="{CF8101F8-9C3E-4241-A108-9900080C05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3000" y="4838700"/>
              <a:ext cx="20002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75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rPr>
                <a:t>mechanism sketch</a:t>
              </a:r>
            </a:p>
          </p:txBody>
        </p:sp>
        <p:sp>
          <p:nvSpPr>
            <p:cNvPr id="40" name="">
              <a:extLst xmlns:a="http://schemas.openxmlformats.org/drawingml/2006/main">
                <a:ext uri="{FF2B5EF4-FFF2-40B4-BE49-F238E27FC236}">
                  <a16:creationId xmlns:a16="http://schemas.microsoft.com/office/drawing/2014/main" id="{10826472-CF61-40D5-BAF2-159B9597D0B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43600" y="5276850"/>
              <a:ext cx="19050" cy="381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41" name="">
              <a:extLst xmlns:a="http://schemas.openxmlformats.org/drawingml/2006/main">
                <a:ext uri="{FF2B5EF4-FFF2-40B4-BE49-F238E27FC236}">
                  <a16:creationId xmlns:a16="http://schemas.microsoft.com/office/drawing/2014/main" id="{DA34C088-365F-4B1D-8479-2CFB0C2B90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86450" y="5638800"/>
              <a:ext cx="133350" cy="76200"/>
            </a:xfrm>
            <a:prstGeom xmlns:a="http://schemas.openxmlformats.org/drawingml/2006/main" prst="triangle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42" name="">
              <a:extLst xmlns:a="http://schemas.openxmlformats.org/drawingml/2006/main">
                <a:ext uri="{FF2B5EF4-FFF2-40B4-BE49-F238E27FC236}">
                  <a16:creationId xmlns:a16="http://schemas.microsoft.com/office/drawing/2014/main" id="{202B1B3B-A866-47AA-933B-65DA1DF1FC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57700" y="5762625"/>
              <a:ext cx="299085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75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rPr>
                <a:t>Allocation sweep at fixed total cost</a:t>
              </a:r>
            </a:p>
          </p:txBody>
        </p:sp>
        <p:sp>
          <p:nvSpPr>
            <p:cNvPr id="43" name="">
              <a:extLst xmlns:a="http://schemas.openxmlformats.org/drawingml/2006/main">
                <a:ext uri="{FF2B5EF4-FFF2-40B4-BE49-F238E27FC236}">
                  <a16:creationId xmlns:a16="http://schemas.microsoft.com/office/drawing/2014/main" id="{4D2E89CB-2432-47CC-9421-D64D89BF78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48625" y="3810000"/>
              <a:ext cx="3524250" cy="2428875"/>
            </a:xfrm>
            <a:prstGeom xmlns:a="http://schemas.openxmlformats.org/drawingml/2006/main" prst="roundRect">
              <a:avLst>
                <a:gd name="adj" fmla="val 3137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14288">
              <a:solidFill>
                <a:srgbClr val="45505A"/>
              </a:solidFill>
              <a:prstDash val="dash"/>
            </a:ln>
          </p:spPr>
        </p:sp>
        <p:sp>
          <p:nvSpPr>
            <p:cNvPr id="44" name="">
              <a:extLst xmlns:a="http://schemas.openxmlformats.org/drawingml/2006/main">
                <a:ext uri="{FF2B5EF4-FFF2-40B4-BE49-F238E27FC236}">
                  <a16:creationId xmlns:a16="http://schemas.microsoft.com/office/drawing/2014/main" id="{8B9D6108-E450-446D-BF95-DD7F8FACAA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20075" y="3924300"/>
              <a:ext cx="31432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6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(f) Transfer</a:t>
              </a:r>
            </a:p>
          </p:txBody>
        </p:sp>
        <p:sp>
          <p:nvSpPr>
            <p:cNvPr id="45" name="">
              <a:extLst xmlns:a="http://schemas.openxmlformats.org/drawingml/2006/main">
                <a:ext uri="{FF2B5EF4-FFF2-40B4-BE49-F238E27FC236}">
                  <a16:creationId xmlns:a16="http://schemas.microsoft.com/office/drawing/2014/main" id="{5675CF41-8CF2-4831-B07D-AA7DE39042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39125" y="4286250"/>
              <a:ext cx="31432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Task gain ≠ improver gain</a:t>
              </a:r>
            </a:p>
          </p:txBody>
        </p:sp>
        <p:sp>
          <p:nvSpPr>
            <p:cNvPr id="46" name="">
              <a:extLst xmlns:a="http://schemas.openxmlformats.org/drawingml/2006/main">
                <a:ext uri="{FF2B5EF4-FFF2-40B4-BE49-F238E27FC236}">
                  <a16:creationId xmlns:a16="http://schemas.microsoft.com/office/drawing/2014/main" id="{E0891612-D9EC-483C-B3AA-49FA5846738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667750" y="4686300"/>
              <a:ext cx="2286000" cy="495300"/>
            </a:xfrm>
            <a:prstGeom xmlns:a="http://schemas.openxmlformats.org/drawingml/2006/main" prst="roundRect">
              <a:avLst>
                <a:gd name="adj" fmla="val 1538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6D6396"/>
              </a:solidFill>
              <a:prstDash val="solid"/>
            </a:ln>
          </p:spPr>
        </p:sp>
        <p:sp>
          <p:nvSpPr>
            <p:cNvPr id="47" name="">
              <a:extLst xmlns:a="http://schemas.openxmlformats.org/drawingml/2006/main">
                <a:ext uri="{FF2B5EF4-FFF2-40B4-BE49-F238E27FC236}">
                  <a16:creationId xmlns:a16="http://schemas.microsoft.com/office/drawing/2014/main" id="{CFC3888A-B413-43E8-8C8C-00744826F2C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10625" y="4838700"/>
              <a:ext cx="20002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75" b="1" i="0">
                  <a:solidFill>
                    <a:srgbClr val="6D639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1" i="0">
                  <a:solidFill>
                    <a:srgbClr val="6D6396"/>
                  </a:solidFill>
                  <a:latin typeface="Times New Roman"/>
                  <a:ea typeface="Times New Roman"/>
                  <a:cs typeface="Times New Roman"/>
                </a:rPr>
                <a:t>mechanism sketch</a:t>
              </a:r>
            </a:p>
          </p:txBody>
        </p:sp>
        <p:sp>
          <p:nvSpPr>
            <p:cNvPr id="48" name="">
              <a:extLst xmlns:a="http://schemas.openxmlformats.org/drawingml/2006/main">
                <a:ext uri="{FF2B5EF4-FFF2-40B4-BE49-F238E27FC236}">
                  <a16:creationId xmlns:a16="http://schemas.microsoft.com/office/drawing/2014/main" id="{4595668D-6C8A-4AF2-AE39-E04539530BF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01225" y="5276850"/>
              <a:ext cx="19050" cy="381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6D6396"/>
            </a:solidFill>
            <a:ln xmlns:a="http://schemas.openxmlformats.org/drawingml/2006/main" w="0">
              <a:solidFill>
                <a:srgbClr val="6D6396"/>
              </a:solidFill>
              <a:prstDash val="solid"/>
            </a:ln>
          </p:spPr>
        </p:sp>
        <p:sp>
          <p:nvSpPr>
            <p:cNvPr id="49" name="">
              <a:extLst xmlns:a="http://schemas.openxmlformats.org/drawingml/2006/main">
                <a:ext uri="{FF2B5EF4-FFF2-40B4-BE49-F238E27FC236}">
                  <a16:creationId xmlns:a16="http://schemas.microsoft.com/office/drawing/2014/main" id="{E869F463-5E54-41A4-AE3D-3C9A4A4FAA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44075" y="5638800"/>
              <a:ext cx="133350" cy="76200"/>
            </a:xfrm>
            <a:prstGeom xmlns:a="http://schemas.openxmlformats.org/drawingml/2006/main" prst="triangle">
              <a:avLst/>
            </a:prstGeom>
            <a:solidFill xmlns:a="http://schemas.openxmlformats.org/drawingml/2006/main">
              <a:srgbClr val="6D6396"/>
            </a:solidFill>
            <a:ln xmlns:a="http://schemas.openxmlformats.org/drawingml/2006/main" w="0">
              <a:solidFill>
                <a:srgbClr val="6D6396"/>
              </a:solidFill>
              <a:prstDash val="solid"/>
            </a:ln>
          </p:spPr>
        </p:sp>
        <p:sp>
          <p:nvSpPr>
            <p:cNvPr id="50" name="">
              <a:extLst xmlns:a="http://schemas.openxmlformats.org/drawingml/2006/main">
                <a:ext uri="{FF2B5EF4-FFF2-40B4-BE49-F238E27FC236}">
                  <a16:creationId xmlns:a16="http://schemas.microsoft.com/office/drawing/2014/main" id="{01FFDBD9-7868-4462-A18A-05ED682564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15325" y="5762625"/>
              <a:ext cx="299085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75" b="1" i="0">
                  <a:solidFill>
                    <a:srgbClr val="6D639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1" i="0">
                  <a:solidFill>
                    <a:srgbClr val="6D6396"/>
                  </a:solidFill>
                  <a:latin typeface="Times New Roman"/>
                  <a:ea typeface="Times New Roman"/>
                  <a:cs typeface="Times New Roman"/>
                </a:rPr>
                <a:t>Same starting solver across new domains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40591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2026-10-02T06:46:01.5890000Z</dcterms:created>
  <dcterms:modified xsi:type="dcterms:W3CDTF">2026-10-02T06:46:01.5890000Z</dcterms:modified>
</coreProperties>
</file>