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2" r:id="R2ae91240b0ad43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7.xml" Id="R2ae91240b0ad4399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856a4889dee44287"/><Relationship Type="http://schemas.openxmlformats.org/officeDocument/2006/relationships/notesMaster" Target="/ppt/notesMasters/notesMaster1.xml" Id="R5f4fd2b674634372"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93b9b499-6e13-4dd0-bbe2-28235f020bfe.png.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7e39af500eb4566"/><Relationship Type="http://schemas.openxmlformats.org/officeDocument/2006/relationships/notesSlide" Target="/ppt/notesSlides/notesSlide7.xml" Id="R5400297a799e4017"/></Relationships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Old_RSI_Mechanism_Overview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4981575"/>
            <ns1:chOff x="419100" y="209550"/>
            <ns1:chExt cx="11353800" cy="4981575"/>
          </ns1:xfrm>
        </p:grpSpPr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DD3A8C2E-DE89-42FD-9D4A-E7559A68D7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Recursive self-improvement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527F441D-CC44-4A0C-8729-A7C69F051C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A mechanism-level view of task systems, experience, candidate changes, and validation.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3E4A1CE4-8301-4499-BDD5-C28963E848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142875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2383">
              <a:solidFill>
                <a:srgbClr val="4F8F89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392F1198-FE63-423E-8157-4F0695FFA7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158115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Task systems $T_0$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C31BC2D-3C98-49CE-80FF-052F012872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195262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model, data,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known tools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6A88425B-4B05-4415-BEC1-F35FF71AC5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0" y="142875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2383">
              <a:solidFill>
                <a:srgbClr val="6B9F80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58BC49FF-ADF6-4E4D-B4DD-FF75950B55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158115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Experiences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41B7DDB0-499D-4739-B212-5CB2FA282A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195262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traces, outcomes,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0C2FA1AE-6651-49AA-BFD1-1DA3E7660D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142875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2383">
              <a:solidFill>
                <a:srgbClr val="4F8F89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1EA73081-C3FB-4A98-9A9F-DF51D2C20C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0" y="158115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Updated systems $T_{i+1}$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FC497B70-D623-45D2-9560-C343D76DEF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05625" y="195262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accepted state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and tools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A2B16BF6-9F5F-4658-852A-9FA74CD056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00050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2383">
              <a:solidFill>
                <a:srgbClr val="6D639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EC95D0B-78AD-4584-A3BF-28A47D5F2C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415290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Improvement process $I_i$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2334BDBF-59C3-4D0A-BE1D-980FD7A909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52437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diagnose, search,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propose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63896CD1-AA34-4AF6-A29D-533766CE19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0" y="400050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2383">
              <a:solidFill>
                <a:srgbClr val="B47B24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4FD8F75-8348-4F25-80D8-FDE0BC98EC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415290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Candidate changes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FD7AB950-5EF0-4132-830C-ED747E6CF5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452437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proposals, tests,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comparisons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FC10CB0F-A5D6-4DB6-AF57-A94CD41676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4000500"/>
              <a:ext cx="2190750" cy="1190625"/>
            </a:xfrm>
            <a:prstGeom xmlns:a="http://schemas.openxmlformats.org/drawingml/2006/main" prst="roundRect">
              <a:avLst>
                <a:gd name="adj" fmla="val 64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2383">
              <a:solidFill>
                <a:srgbClr val="6B9F80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D1FB694F-6918-432C-8C8E-8CC5776B94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0" y="4152900"/>
              <a:ext cx="19050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Validate &amp; select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36F5AF0-3AE4-46B9-B72E-6D2C4B0A8D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05625" y="4524375"/>
              <a:ext cx="1809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gain, regression,</a:t>
              </a:r>
            </a:p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resource bounds</a:t>
              </a:r>
            </a:p>
          </p:txBody>
        </p:sp>
        <p:cxnSp>
          <p:nvCxnSpPr>
            <p:cNvPr id="48" name=""/>
            <p:cNvCxnSpPr>
              <a:stCxn xmlns:a="http://schemas.openxmlformats.org/drawingml/2006/main" id="3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>
              <a:off x="2905125" y="2024063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49" name=""/>
            <p:cNvCxnSpPr>
              <a:stCxn xmlns:a="http://schemas.openxmlformats.org/drawingml/2006/main" id="6" idx="3"/>
              <a:endCxn xmlns:a="http://schemas.openxmlformats.org/drawingml/2006/main" id="9" idx="1"/>
            </p:cNvCxnSpPr>
            <p:nvPr/>
          </p:nvCxnSpPr>
          <p:spPr>
            <a:xfrm xmlns:a="http://schemas.openxmlformats.org/drawingml/2006/main">
              <a:off x="5905500" y="2024063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50" name=""/>
            <p:cNvCxnSpPr>
              <a:stCxn xmlns:a="http://schemas.openxmlformats.org/drawingml/2006/main" id="9" idx="3"/>
              <a:endCxn xmlns:a="http://schemas.openxmlformats.org/drawingml/2006/main" id="18" idx="1"/>
            </p:cNvCxnSpPr>
            <p:nvPr/>
          </p:nvCxnSpPr>
          <p:spPr>
            <a:xfrm xmlns:a="http://schemas.openxmlformats.org/drawingml/2006/main" flipH="1">
              <a:off x="6715125" y="2024063"/>
              <a:ext cx="2190750" cy="2571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51" name=""/>
            <p:cNvCxnSpPr>
              <a:stCxn xmlns:a="http://schemas.openxmlformats.org/drawingml/2006/main" id="18" idx="3"/>
              <a:endCxn xmlns:a="http://schemas.openxmlformats.org/drawingml/2006/main" id="15" idx="1"/>
            </p:cNvCxnSpPr>
            <p:nvPr/>
          </p:nvCxnSpPr>
          <p:spPr>
            <a:xfrm xmlns:a="http://schemas.openxmlformats.org/drawingml/2006/main" flipH="1">
              <a:off x="3714750" y="4595813"/>
              <a:ext cx="51911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52" name=""/>
            <p:cNvCxnSpPr>
              <a:stCxn xmlns:a="http://schemas.openxmlformats.org/drawingml/2006/main" id="15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 flipH="1">
              <a:off x="714375" y="4595813"/>
              <a:ext cx="51911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53" name=""/>
            <p:cNvCxnSpPr>
              <a:stCxn xmlns:a="http://schemas.openxmlformats.org/drawingml/2006/main" id="12" idx="3"/>
              <a:endCxn xmlns:a="http://schemas.openxmlformats.org/drawingml/2006/main" id="3" idx="1"/>
            </p:cNvCxnSpPr>
            <p:nvPr/>
          </p:nvCxnSpPr>
          <p:spPr>
            <a:xfrm xmlns:a="http://schemas.openxmlformats.org/drawingml/2006/main" flipH="1" flipV="1">
              <a:off x="714375" y="2024063"/>
              <a:ext cx="2190750" cy="2571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C973AE7F-E9F0-48C2-935F-BFE2E107EC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0" y="2857500"/>
              <a:ext cx="74295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execute  →  learn  →  propose  →  validate  →  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3176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