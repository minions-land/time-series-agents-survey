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58" r:id="R8ce2543125d447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3.xml" Id="R8ce2543125d447a8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e0a08eebbbc64b7a"/><Relationship Type="http://schemas.openxmlformats.org/officeDocument/2006/relationships/notesMaster" Target="/ppt/notesMasters/notesMaster1.xml" Id="R82327a06e9c545d2"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2ee58a4a-5ea6-43c1-b6cd-fa97801e2762.png.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d6b1d178c4b43bd"/><Relationship Type="http://schemas.openxmlformats.org/officeDocument/2006/relationships/notesSlide" Target="/ppt/notesSlides/notesSlide3.xml" Id="R5bbf00482a5a48a4"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7" name="Old_RSI_Landscape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5800725"/>
            <ns1:chOff x="419100" y="209550"/>
            <ns1:chExt cx="11353800" cy="5800725"/>
          </ns1:xfrm>
        </p:grpSpPr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3333BEF1-5F6C-440D-A8C5-1379290E02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The landscape of recursive self-improvement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19B1C43-BDC0-43B1-A455-AD1A1FBFA4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Mechanisms, evaluation evidence, and improvement objectives occupy different layers.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C7D6567B-417E-4359-B055-98A77A008E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0" y="1238250"/>
              <a:ext cx="4000500" cy="40005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5F4"/>
            </a:solidFill>
            <a:ln xmlns:a="http://schemas.openxmlformats.org/drawingml/2006/main" w="14288">
              <a:solidFill>
                <a:srgbClr val="45505A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A65A8F68-55BE-4C22-873A-39D1AFD92F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24550" y="3162300"/>
              <a:ext cx="152400" cy="1524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71BA8CAF-3E6D-48CE-A094-0CB4B17DEA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9632" y="127304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52" name=""/>
            <p:cNvCxnSpPr>
              <a:stCxn xmlns:a="http://schemas.openxmlformats.org/drawingml/2006/main" id="4" idx="6"/>
              <a:endCxn xmlns:a="http://schemas.openxmlformats.org/drawingml/2006/main" id="5" idx="2"/>
            </p:cNvCxnSpPr>
            <p:nvPr/>
          </p:nvCxnSpPr>
          <p:spPr>
            <a:xfrm xmlns:a="http://schemas.openxmlformats.org/drawingml/2006/main" flipV="1">
              <a:off x="6076950" y="1311143"/>
              <a:ext cx="522682" cy="1927357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0888441-A7D7-4382-BCA4-A293C534F1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86242" y="159696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54" name=""/>
            <p:cNvCxnSpPr>
              <a:stCxn xmlns:a="http://schemas.openxmlformats.org/drawingml/2006/main" id="4" idx="6"/>
              <a:endCxn xmlns:a="http://schemas.openxmlformats.org/drawingml/2006/main" id="7" idx="2"/>
            </p:cNvCxnSpPr>
            <p:nvPr/>
          </p:nvCxnSpPr>
          <p:spPr>
            <a:xfrm xmlns:a="http://schemas.openxmlformats.org/drawingml/2006/main" flipV="1">
              <a:off x="6076950" y="1635060"/>
              <a:ext cx="1309292" cy="160344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35644D5-381C-4155-8FC3-4FA9568A5F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80176" y="2137895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56" name=""/>
            <p:cNvCxnSpPr>
              <a:stCxn xmlns:a="http://schemas.openxmlformats.org/drawingml/2006/main" id="4" idx="6"/>
              <a:endCxn xmlns:a="http://schemas.openxmlformats.org/drawingml/2006/main" id="9" idx="2"/>
            </p:cNvCxnSpPr>
            <p:nvPr/>
          </p:nvCxnSpPr>
          <p:spPr>
            <a:xfrm xmlns:a="http://schemas.openxmlformats.org/drawingml/2006/main" flipV="1">
              <a:off x="6076950" y="2175995"/>
              <a:ext cx="1903226" cy="106250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DC66F9E-C859-4F32-80DA-7732552D6F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01048" y="2822635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58" name=""/>
            <p:cNvCxnSpPr>
              <a:stCxn xmlns:a="http://schemas.openxmlformats.org/drawingml/2006/main" id="4" idx="6"/>
              <a:endCxn xmlns:a="http://schemas.openxmlformats.org/drawingml/2006/main" id="11" idx="2"/>
            </p:cNvCxnSpPr>
            <p:nvPr/>
          </p:nvCxnSpPr>
          <p:spPr>
            <a:xfrm xmlns:a="http://schemas.openxmlformats.org/drawingml/2006/main" flipV="1">
              <a:off x="6076950" y="2860735"/>
              <a:ext cx="2224098" cy="37776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968625AD-5DEF-4FF7-B8EE-CB9846777C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05428" y="355850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60" name=""/>
            <p:cNvCxnSpPr>
              <a:stCxn xmlns:a="http://schemas.openxmlformats.org/drawingml/2006/main" id="4" idx="6"/>
              <a:endCxn xmlns:a="http://schemas.openxmlformats.org/drawingml/2006/main" id="13" idx="2"/>
            </p:cNvCxnSpPr>
            <p:nvPr/>
          </p:nvCxnSpPr>
          <p:spPr>
            <a:xfrm xmlns:a="http://schemas.openxmlformats.org/drawingml/2006/main">
              <a:off x="6076950" y="3238500"/>
              <a:ext cx="2228478" cy="358104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B8A42DBB-E75A-428A-B2AB-5F214B71E3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992724" y="4245905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62" name=""/>
            <p:cNvCxnSpPr>
              <a:stCxn xmlns:a="http://schemas.openxmlformats.org/drawingml/2006/main" id="4" idx="6"/>
              <a:endCxn xmlns:a="http://schemas.openxmlformats.org/drawingml/2006/main" id="15" idx="2"/>
            </p:cNvCxnSpPr>
            <p:nvPr/>
          </p:nvCxnSpPr>
          <p:spPr>
            <a:xfrm xmlns:a="http://schemas.openxmlformats.org/drawingml/2006/main">
              <a:off x="6076950" y="3238500"/>
              <a:ext cx="1915774" cy="1045505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1B2E10A-FC88-4320-A082-C8562042FC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05259" y="479180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64" name=""/>
            <p:cNvCxnSpPr>
              <a:stCxn xmlns:a="http://schemas.openxmlformats.org/drawingml/2006/main" id="4" idx="6"/>
              <a:endCxn xmlns:a="http://schemas.openxmlformats.org/drawingml/2006/main" id="17" idx="2"/>
            </p:cNvCxnSpPr>
            <p:nvPr/>
          </p:nvCxnSpPr>
          <p:spPr>
            <a:xfrm xmlns:a="http://schemas.openxmlformats.org/drawingml/2006/main">
              <a:off x="6076950" y="3238500"/>
              <a:ext cx="1328309" cy="1591402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F438371-94C9-4401-AB90-FC670CA3CA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22544" y="512231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cxnSp>
          <p:nvCxnSpPr>
            <p:cNvPr id="66" name=""/>
            <p:cNvCxnSpPr>
              <a:stCxn xmlns:a="http://schemas.openxmlformats.org/drawingml/2006/main" id="4" idx="6"/>
              <a:endCxn xmlns:a="http://schemas.openxmlformats.org/drawingml/2006/main" id="19" idx="2"/>
            </p:cNvCxnSpPr>
            <p:nvPr/>
          </p:nvCxnSpPr>
          <p:spPr>
            <a:xfrm xmlns:a="http://schemas.openxmlformats.org/drawingml/2006/main">
              <a:off x="6076950" y="3238500"/>
              <a:ext cx="545594" cy="1921910"/>
            </a:xfrm>
            <a:prstGeom xmlns:a="http://schemas.openxmlformats.org/drawingml/2006/main" prst="straightConnector1">
              <a:avLst/>
            </a:prstGeom>
            <a:ln xmlns:a="http://schemas.openxmlformats.org/drawingml/2006/main" w="17145">
              <a:solidFill>
                <a:srgbClr val="45505A"/>
              </a:solidFill>
              <a:prstDash val="solid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80B23035-5C9F-42AA-9FC8-601B01F60D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0" y="1143000"/>
              <a:ext cx="14287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1430">
              <a:prstDash val="solid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CF8CC6A6-E75B-4CC0-A0F2-9D2D90417F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33900" y="1209675"/>
              <a:ext cx="13144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Representation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5D762272-2E00-4F31-9372-9C14336A8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43625" y="1143000"/>
              <a:ext cx="14287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1430"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8F32DCE-C33C-4721-9075-ABB673896C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00775" y="1209675"/>
              <a:ext cx="13144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Improvement mechanism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A3663744-444E-469E-89F2-77DAB5D101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0" y="1143000"/>
              <a:ext cx="14287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1430"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482362BF-1E3C-4063-AB57-37E950F56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67650" y="1209675"/>
              <a:ext cx="13144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Evaluation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31B9F7BE-A9D7-427C-94BA-D352CCEAD9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7375" y="1143000"/>
              <a:ext cx="14287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1430">
              <a:prstDash val="solid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563EE664-7D64-4D3C-B8D0-D4EDAA65F6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34525" y="1209675"/>
              <a:ext cx="13144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5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Data / feedback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9A9B9277-FEDB-47C0-ACA9-D1E0D6304E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66605" y="1608843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D248C1BA-63F1-4F53-B5E1-CF8BE5C2D4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99905" y="1866018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LLM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0D1DEEF0-05CD-4F40-8E96-4D9C59EEF6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20909" y="1853416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2FA58B32-D918-4BF1-89D6-2E9FB1A642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54209" y="2110591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2CECBE3C-0D0D-4215-8A0F-98DC27E833D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38806" y="2238218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D3792432-B3D5-41AF-B2DF-3295561C5E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72106" y="2495393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Tools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DC1E2700-D953-45AE-B1E4-FA3B2ABFBF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69625" y="2716590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9675E"/>
            </a:solidFill>
            <a:ln xmlns:a="http://schemas.openxmlformats.org/drawingml/2006/main" w="0">
              <a:solidFill>
                <a:srgbClr val="B9675E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80C87F36-A945-404B-A67A-284C873E36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02925" y="2973765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Policy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99FA780E-629B-440B-8FE0-3F3E389AC5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85378" y="3230527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FE9D796D-0694-4552-9574-EE9BAFFC6F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18678" y="3487702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Planner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13D1989C-1EF6-4C6D-AF1E-2404C521AC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284155" y="3717712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D226DDEC-7BED-4A16-9E5C-03BBE1212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17455" y="3974887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Verifier</a:t>
              </a:r>
            </a:p>
          </p:txBody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BF8C6702-7F48-4159-83C1-E3D8FE89A7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90354" y="4119072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4A27FD9A-75BA-4445-95D1-B25EF3B25D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23654" y="4376247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Benchmarks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6977AF94-9415-4C9C-B46E-813C3AB033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51727" y="4385939"/>
              <a:ext cx="228600" cy="2286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9675E"/>
            </a:solidFill>
            <a:ln xmlns:a="http://schemas.openxmlformats.org/drawingml/2006/main" w="0">
              <a:solidFill>
                <a:srgbClr val="B9675E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B02B95D6-8D54-4D1B-A64D-8A87230DFB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85027" y="4643114"/>
              <a:ext cx="7620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75" b="0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Deployment</a:t>
              </a:r>
            </a:p>
          </p:txBody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54737693-4879-4A66-A3AC-D9850B23E4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5667375"/>
              <a:ext cx="9620250" cy="342900"/>
            </a:xfrm>
            <a:prstGeom xmlns:a="http://schemas.openxmlformats.org/drawingml/2006/main" prst="roundRect">
              <a:avLst>
                <a:gd name="adj" fmla="val 2222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27CBF6C0-AEB5-4A06-8997-2A34C5917A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81125" y="5743575"/>
              <a:ext cx="9144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Interpreted outputs: module maps, evaluation evidence, and research routes toward improvement.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5009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