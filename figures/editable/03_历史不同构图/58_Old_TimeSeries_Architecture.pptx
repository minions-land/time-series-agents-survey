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6" name="Old_TimeSeries_Architecture — editable components"/>
          <p:cNvGrpSpPr/>
          <p:nvPr/>
        </p:nvGrpSpPr>
        <p:grpSpPr>
          <a:xfrm>
            <a:off x="411480" y="228600"/>
            <a:ext cx="11356848" cy="6473952"/>
            <a:chOff x="411480" y="228600"/>
            <a:chExt cx="11356848" cy="6473952"/>
          </a:xfrm>
        </p:grpSpPr>
        <p:sp>
          <p:nvSpPr>
            <p:cNvPr id="2" name="TextBox 1"/>
            <p:cNvSpPr txBox="1"/>
            <p:nvPr/>
          </p:nvSpPr>
          <p:spPr>
            <a:xfrm>
              <a:off x="411480" y="228600"/>
              <a:ext cx="11338560" cy="310896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2200" b="1">
                  <a:solidFill>
                    <a:srgbClr val="18355D"/>
                  </a:solidFill>
                  <a:latin typeface="Aptos"/>
                </a:rPr>
                <a:t>How a Time-Series Agent is organized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11480" y="566928"/>
              <a:ext cx="11338560" cy="22860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00" b="0">
                  <a:solidFill>
                    <a:srgbClr val="626D7D"/>
                  </a:solidFill>
                  <a:latin typeface="Aptos"/>
                </a:rPr>
                <a:t>A module-level view: LLM-side capability is independent; Harness modules form a reusable stack.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11480" y="1078992"/>
              <a:ext cx="2148840" cy="4297680"/>
            </a:xfrm>
            <a:prstGeom prst="roundRect">
              <a:avLst/>
            </a:prstGeom>
            <a:solidFill>
              <a:srgbClr val="F5F1FB"/>
            </a:solidFill>
            <a:ln w="19050">
              <a:solidFill>
                <a:srgbClr val="6F4F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76072" y="1261872"/>
              <a:ext cx="1810512" cy="32004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600" b="1">
                  <a:solidFill>
                    <a:srgbClr val="6F4F9D"/>
                  </a:solidFill>
                  <a:latin typeface="Aptos"/>
                </a:rPr>
                <a:t>LLM side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1691640"/>
              <a:ext cx="1691640" cy="64008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300" b="1">
                  <a:solidFill>
                    <a:srgbClr val="6F4F9D"/>
                  </a:solidFill>
                  <a:latin typeface="Aptos"/>
                </a:rPr>
                <a:t>Language
understanding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2514600"/>
              <a:ext cx="1691640" cy="64008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300" b="1">
                  <a:solidFill>
                    <a:srgbClr val="6F4F9D"/>
                  </a:solidFill>
                  <a:latin typeface="Aptos"/>
                </a:rPr>
                <a:t>Temporal
representation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3337560"/>
              <a:ext cx="1691640" cy="64008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300" b="1">
                  <a:solidFill>
                    <a:srgbClr val="6F4F9D"/>
                  </a:solidFill>
                  <a:latin typeface="Aptos"/>
                </a:rPr>
                <a:t>Reasoning &amp;
explanation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5216" y="4343400"/>
              <a:ext cx="1810512" cy="59436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00" b="0">
                  <a:solidFill>
                    <a:srgbClr val="626D7D"/>
                  </a:solidFill>
                  <a:latin typeface="Aptos"/>
                </a:rPr>
                <a:t>ChatTS and related
model-side works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78608" y="3154680"/>
              <a:ext cx="365760" cy="0"/>
            </a:xfrm>
            <a:prstGeom prst="line">
              <a:avLst/>
            </a:prstGeom>
            <a:ln w="22860">
              <a:solidFill>
                <a:srgbClr val="6F4F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2926080" y="987552"/>
              <a:ext cx="5806440" cy="4572000"/>
            </a:xfrm>
            <a:prstGeom prst="roundRect">
              <a:avLst/>
            </a:prstGeom>
            <a:solidFill>
              <a:srgbClr val="FFFFFF"/>
            </a:solidFill>
            <a:ln w="22860">
              <a:solidFill>
                <a:srgbClr val="1835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27248" y="1115568"/>
              <a:ext cx="5394960" cy="29260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600" b="1">
                  <a:solidFill>
                    <a:srgbClr val="18355D"/>
                  </a:solidFill>
                  <a:latin typeface="Aptos"/>
                </a:rPr>
                <a:t>Time-Series Agent runtime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82112" y="1572768"/>
              <a:ext cx="5303520" cy="960120"/>
            </a:xfrm>
            <a:prstGeom prst="roundRect">
              <a:avLst/>
            </a:prstGeom>
            <a:solidFill>
              <a:srgbClr val="EEF5FD"/>
            </a:solidFill>
            <a:ln w="17780">
              <a:solidFill>
                <a:srgbClr val="4070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83280" y="1664208"/>
              <a:ext cx="4892040" cy="22860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400" b="1">
                  <a:solidFill>
                    <a:srgbClr val="4070B8"/>
                  </a:solidFill>
                  <a:latin typeface="Aptos"/>
                </a:rPr>
                <a:t>General Harness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01568" y="1956816"/>
              <a:ext cx="4846320" cy="22860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900" b="0">
                  <a:solidFill>
                    <a:srgbClr val="626D7D"/>
                  </a:solidFill>
                  <a:latin typeface="Aptos"/>
                </a:rPr>
                <a:t>orchestration  ·  memory  ·  tools  ·  control  ·  verification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401568" y="2679192"/>
              <a:ext cx="4864608" cy="1325880"/>
            </a:xfrm>
            <a:prstGeom prst="roundRect">
              <a:avLst/>
            </a:prstGeom>
            <a:solidFill>
              <a:srgbClr val="FEF8EB"/>
            </a:solidFill>
            <a:ln w="1778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11880" y="2770632"/>
              <a:ext cx="4443984" cy="22860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400" b="1">
                  <a:solidFill>
                    <a:srgbClr val="C58516"/>
                  </a:solidFill>
                  <a:latin typeface="Aptos"/>
                </a:rPr>
                <a:t>General Time-Series Harness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621024" y="3127248"/>
              <a:ext cx="960120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39312" y="3136391"/>
              <a:ext cx="923544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interface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681728" y="3127248"/>
              <a:ext cx="960120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00016" y="3136391"/>
              <a:ext cx="923544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memory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742431" y="3127248"/>
              <a:ext cx="960120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60719" y="3136391"/>
              <a:ext cx="923544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tools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803136" y="3127248"/>
              <a:ext cx="1024128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21423" y="3136391"/>
              <a:ext cx="987552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control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21024" y="3566160"/>
              <a:ext cx="960120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39312" y="3575303"/>
              <a:ext cx="923544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planning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681728" y="3566160"/>
              <a:ext cx="960120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00016" y="3575303"/>
              <a:ext cx="923544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optimization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742431" y="3566160"/>
              <a:ext cx="960120" cy="274320"/>
            </a:xfrm>
            <a:prstGeom prst="roundRect">
              <a:avLst/>
            </a:prstGeom>
            <a:solidFill>
              <a:srgbClr val="FFFCF3"/>
            </a:solidFill>
            <a:ln w="8890">
              <a:solidFill>
                <a:srgbClr val="C585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60719" y="3575303"/>
              <a:ext cx="923544" cy="24688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C58516"/>
                  </a:solidFill>
                  <a:latin typeface="Aptos"/>
                </a:rPr>
                <a:t>coordination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611880" y="4315968"/>
              <a:ext cx="4443984" cy="950976"/>
            </a:xfrm>
            <a:prstGeom prst="roundRect">
              <a:avLst/>
            </a:prstGeom>
            <a:solidFill>
              <a:srgbClr val="EFF9F4"/>
            </a:solidFill>
            <a:ln w="17780">
              <a:solidFill>
                <a:srgbClr val="2F85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794760" y="4407408"/>
              <a:ext cx="4078224" cy="22860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400" b="1">
                  <a:solidFill>
                    <a:srgbClr val="2F855D"/>
                  </a:solidFill>
                  <a:latin typeface="Aptos"/>
                </a:rPr>
                <a:t>Task-Specific Harness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67328" y="4727448"/>
              <a:ext cx="4133087" cy="310896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69" b="0">
                  <a:solidFill>
                    <a:srgbClr val="626D7D"/>
                  </a:solidFill>
                  <a:latin typeface="Aptos"/>
                </a:rPr>
                <a:t>forecasting  ·  augmentation  ·  anomaly  ·  decision support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070848" y="1078992"/>
              <a:ext cx="2697480" cy="42976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57E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53728" y="1261872"/>
              <a:ext cx="2331720" cy="32004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600" b="1">
                  <a:solidFill>
                    <a:srgbClr val="257E71"/>
                  </a:solidFill>
                  <a:latin typeface="Aptos"/>
                </a:rPr>
                <a:t>Task families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308592" y="1783080"/>
              <a:ext cx="2212848" cy="548640"/>
            </a:xfrm>
            <a:prstGeom prst="roundRect">
              <a:avLst/>
            </a:prstGeom>
            <a:solidFill>
              <a:srgbClr val="EFF9F4"/>
            </a:solidFill>
            <a:ln w="11430">
              <a:solidFill>
                <a:srgbClr val="257E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400032" y="1847088"/>
              <a:ext cx="2029968" cy="20116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50" b="1">
                  <a:solidFill>
                    <a:srgbClr val="257E71"/>
                  </a:solidFill>
                  <a:latin typeface="Aptos"/>
                </a:rPr>
                <a:t>Forecasting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00032" y="2075688"/>
              <a:ext cx="2029968" cy="15544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626D7D"/>
                  </a:solidFill>
                  <a:latin typeface="Aptos"/>
                </a:rPr>
                <a:t>predict future values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308592" y="2560320"/>
              <a:ext cx="2212848" cy="548640"/>
            </a:xfrm>
            <a:prstGeom prst="roundRect">
              <a:avLst/>
            </a:prstGeom>
            <a:solidFill>
              <a:srgbClr val="EFF9F4"/>
            </a:solidFill>
            <a:ln w="11430">
              <a:solidFill>
                <a:srgbClr val="257E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400032" y="2624327"/>
              <a:ext cx="2029968" cy="20116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50" b="1">
                  <a:solidFill>
                    <a:srgbClr val="257E71"/>
                  </a:solidFill>
                  <a:latin typeface="Aptos"/>
                </a:rPr>
                <a:t>Augmentation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400032" y="2852927"/>
              <a:ext cx="2029968" cy="15544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626D7D"/>
                  </a:solidFill>
                  <a:latin typeface="Aptos"/>
                </a:rPr>
                <a:t>synthesize useful series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9308592" y="3337560"/>
              <a:ext cx="2212848" cy="548640"/>
            </a:xfrm>
            <a:prstGeom prst="roundRect">
              <a:avLst/>
            </a:prstGeom>
            <a:solidFill>
              <a:srgbClr val="EFF9F4"/>
            </a:solidFill>
            <a:ln w="11430">
              <a:solidFill>
                <a:srgbClr val="257E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400032" y="3401568"/>
              <a:ext cx="2029968" cy="20116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50" b="1">
                  <a:solidFill>
                    <a:srgbClr val="257E71"/>
                  </a:solidFill>
                  <a:latin typeface="Aptos"/>
                </a:rPr>
                <a:t>Anomaly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400032" y="3630168"/>
              <a:ext cx="2029968" cy="15544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626D7D"/>
                  </a:solidFill>
                  <a:latin typeface="Aptos"/>
                </a:rPr>
                <a:t>detect and diagnose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308592" y="4114800"/>
              <a:ext cx="2212848" cy="548640"/>
            </a:xfrm>
            <a:prstGeom prst="roundRect">
              <a:avLst/>
            </a:prstGeom>
            <a:solidFill>
              <a:srgbClr val="EFF9F4"/>
            </a:solidFill>
            <a:ln w="11430">
              <a:solidFill>
                <a:srgbClr val="257E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400032" y="4178808"/>
              <a:ext cx="2029968" cy="20116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50" b="1">
                  <a:solidFill>
                    <a:srgbClr val="257E71"/>
                  </a:solidFill>
                  <a:latin typeface="Aptos"/>
                </a:rPr>
                <a:t>Decision support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400032" y="4407408"/>
              <a:ext cx="2029968" cy="155448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00" b="0">
                  <a:solidFill>
                    <a:srgbClr val="626D7D"/>
                  </a:solidFill>
                  <a:latin typeface="Aptos"/>
                </a:rPr>
                <a:t>act on predictions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8750808" y="3154680"/>
              <a:ext cx="320040" cy="0"/>
            </a:xfrm>
            <a:prstGeom prst="line">
              <a:avLst/>
            </a:prstGeom>
            <a:ln w="22860">
              <a:solidFill>
                <a:srgbClr val="257E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ounded Rectangle 49"/>
            <p:cNvSpPr/>
            <p:nvPr/>
          </p:nvSpPr>
          <p:spPr>
            <a:xfrm>
              <a:off x="1024128" y="5806440"/>
              <a:ext cx="10104120" cy="658368"/>
            </a:xfrm>
            <a:prstGeom prst="roundRect">
              <a:avLst/>
            </a:prstGeom>
            <a:solidFill>
              <a:srgbClr val="FFFFFF"/>
            </a:solidFill>
            <a:ln w="16510">
              <a:solidFill>
                <a:srgbClr val="1835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34440" y="5925312"/>
              <a:ext cx="1417320" cy="22860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200" b="1">
                  <a:solidFill>
                    <a:srgbClr val="18355D"/>
                  </a:solidFill>
                  <a:latin typeface="Aptos"/>
                </a:rPr>
                <a:t>Paper card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697480" y="5907024"/>
              <a:ext cx="8183879" cy="274320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1000" b="0">
                  <a:solidFill>
                    <a:srgbClr val="626D7D"/>
                  </a:solidFill>
                  <a:latin typeface="Aptos"/>
                </a:rPr>
                <a:t>claim  ·  evidence locator  ·  module labels  ·  task family  ·  BibTeX  ·  source status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6053328" y="2532888"/>
              <a:ext cx="0" cy="146304"/>
            </a:xfrm>
            <a:prstGeom prst="line">
              <a:avLst/>
            </a:prstGeom>
            <a:ln w="15240">
              <a:solidFill>
                <a:srgbClr val="4070B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6053328" y="4005072"/>
              <a:ext cx="0" cy="310896"/>
            </a:xfrm>
            <a:prstGeom prst="line">
              <a:avLst/>
            </a:prstGeom>
            <a:ln w="15240">
              <a:solidFill>
                <a:srgbClr val="C5851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457200" y="6537960"/>
              <a:ext cx="11247120" cy="164592"/>
            </a:xfrm>
            <a:prstGeom prst="rect">
              <a:avLst/>
            </a:prstGeom>
            <a:noFill/>
          </p:spPr>
          <p:txBody>
            <a:bodyPr wrap="square" lIns="54864" rIns="54864" tIns="54864" bIns="54864" anchor="ctr">
              <a:spAutoFit/>
            </a:bodyPr>
            <a:lstStyle/>
            <a:p>
              <a:pPr algn="ctr"/>
              <a:r>
                <a:rPr sz="850" b="0">
                  <a:solidFill>
                    <a:srgbClr val="626D7D"/>
                  </a:solidFill>
                  <a:latin typeface="Aptos"/>
                </a:rPr>
                <a:t>Modules are recorded independently: one paper may contribute to several locations, while each contribution is assigned to its deepest applicable layer.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