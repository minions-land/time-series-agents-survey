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228a8f95bcf4ac6"/><Relationship Type="http://schemas.openxmlformats.org/officeDocument/2006/relationships/extended-properties" Target="/docProps/app.xml" Id="Rcd5dcd346ddd4c46"/><Relationship Type="http://schemas.openxmlformats.org/officeDocument/2006/relationships/officeDocument" Target="/ppt/presentation.xml" Id="Rc3690c6c0cbf449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6cff9043b644fe"/>
  </p:sldMasterIdLst>
  <p:notesMasterIdLst>
    <p:notesMasterId xmlns:r="http://schemas.openxmlformats.org/officeDocument/2006/relationships" r:id="R766dd5f8c0c84945"/>
  </p:notesMasterIdLst>
  <p:sldIdLst>
    <p:sldId xmlns:r="http://schemas.openxmlformats.org/officeDocument/2006/relationships" id="258" r:id="Re74b5dbf8bf149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e0552183051c46ae"/><Relationship Type="http://schemas.openxmlformats.org/officeDocument/2006/relationships/slideMaster" Target="/ppt/slideMasters/slideMaster1.xml" Id="Ra26cff9043b644fe"/><Relationship Type="http://schemas.openxmlformats.org/officeDocument/2006/relationships/notesMaster" Target="/ppt/notesMasters/notesMaster1.xml" Id="R766dd5f8c0c84945"/><Relationship Type="http://schemas.openxmlformats.org/officeDocument/2006/relationships/presProps" Target="/ppt/presProps.xml" Id="R31962c161958492d"/><Relationship Type="http://schemas.openxmlformats.org/officeDocument/2006/relationships/tableStyles" Target="/ppt/tableStyles.xml" Id="R0d0c0aba29d048ea"/><Relationship Type="http://schemas.openxmlformats.org/officeDocument/2006/relationships/slide" Target="/ppt/slides/slide3.xml" Id="Re74b5dbf8bf14997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13ee465aa4c34732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46a9302ca6454911"/><Relationship Type="http://schemas.openxmlformats.org/officeDocument/2006/relationships/notesMaster" Target="/ppt/notesMasters/notesMaster1.xml" Id="R906729f2d8244dc5"/></Relationship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Representative works and dates are drawn from the maintained paper-classification ledger in this survey. Names are used as ledger labels; the chart is a synthesis rather than a citation-priority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007620b156f94952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43197bc54a6445e9"/><Relationship Type="http://schemas.openxmlformats.org/officeDocument/2006/relationships/slideLayout" Target="/ppt/slideLayouts/slideLayout1.xml" Id="Rdb8be8ad6c6646f9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8be8ad6c6646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09b9b7bf9f44886"/><Relationship Type="http://schemas.openxmlformats.org/officeDocument/2006/relationships/notesSlide" Target="/ppt/notesSlides/notesSlide3.xml" Id="Rba646755bff74f32"/></Relationships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87" name="Old_TimeSeries_Research_Routes — editable components"/>
          <p:cNvGrpSpPr/>
          <p:nvPr/>
        </p:nvGrpSpPr>
        <p:grpSpPr>
          <ns1:xfrm xmlns:ns1="http://schemas.openxmlformats.org/drawingml/2006/main">
            <ns1:off x="457200" y="228600"/>
            <ns1:ext cx="11515725" cy="6134100"/>
            <ns1:chOff x="457200" y="228600"/>
            <ns1:chExt cx="11515725" cy="6134100"/>
          </ns1:xfrm>
        </p:grpSpPr>
        <p:sp>
          <p:nvSpPr>
            <p:cNvPr id="86" name="">
              <a:extLst xmlns:a="http://schemas.openxmlformats.org/drawingml/2006/main">
                <a:ext uri="{FF2B5EF4-FFF2-40B4-BE49-F238E27FC236}">
                  <a16:creationId xmlns:a16="http://schemas.microsoft.com/office/drawing/2014/main" id="{C8DB3B1D-1985-4374-8B0F-8DFAA0E2B4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228600"/>
              <a:ext cx="11049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400" b="1" i="0">
                  <a:solidFill>
                    <a:srgbClr val="24324A"/>
                  </a:solidFill>
                  <a:latin typeface="Arial"/>
                  <a:ea typeface="Arial"/>
                  <a:cs typeface="Arial"/>
                </a:defRPr>
              </a:pPr>
              <a:r>
                <a:rPr sz="2400" b="1" i="0">
                  <a:solidFill>
                    <a:srgbClr val="24324A"/>
                  </a:solidFill>
                  <a:latin typeface="Arial"/>
                  <a:ea typeface="Arial"/>
                  <a:cs typeface="Arial"/>
                </a:rPr>
                <a:t>Research routes in Time-Series Agent systems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67965FAE-B064-40DB-B284-4977F5DC47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638175"/>
              <a:ext cx="11049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0" i="1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1200" b="0" i="1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Representative module contributions by first public year; placement follows the paper-card ledger.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E8D63E69-793A-4141-A4F7-4FA54ABE67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1047750"/>
              <a:ext cx="1685925" cy="619125"/>
            </a:xfrm>
            <a:prstGeom xmlns:a="http://schemas.openxmlformats.org/drawingml/2006/main" prst="roundRect">
              <a:avLst>
                <a:gd name="adj" fmla="val 12308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2B1A41EC-7DD7-4DA5-B11B-8C67FB3FAB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3950" y="1171575"/>
              <a:ext cx="15335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1" i="0">
                  <a:solidFill>
                    <a:srgbClr val="78639F"/>
                  </a:solidFill>
                  <a:latin typeface="Arial"/>
                  <a:ea typeface="Arial"/>
                  <a:cs typeface="Arial"/>
                </a:defRPr>
              </a:pPr>
              <a:r>
                <a:rPr sz="1125" b="1" i="0">
                  <a:solidFill>
                    <a:srgbClr val="78639F"/>
                  </a:solidFill>
                  <a:latin typeface="Arial"/>
                  <a:ea typeface="Arial"/>
                  <a:cs typeface="Arial"/>
                </a:rPr>
                <a:t>LLM side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205BB837-9F12-43B0-802D-FE551870EC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3950" y="1438275"/>
              <a:ext cx="1533525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1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750" b="0" i="1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module route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3F90379E-77EC-4067-BE83-15703A77D3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71663" y="1762125"/>
              <a:ext cx="38100" cy="371475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78639F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3F3DDC24-D345-4D6C-AA0A-5CB6F335AB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" y="2000250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9525">
              <a:solidFill>
                <a:srgbClr val="78639F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F8D71319-22A4-47C1-A295-E558D552E7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9200" y="2038350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Time-LLM 2024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5DC45956-94B2-4DF2-8178-D2E98E3303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" y="3000375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9525">
              <a:solidFill>
                <a:srgbClr val="78639F"/>
              </a:solidFill>
              <a:prstDash val="solid"/>
            </a:ln>
          </p:spPr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130B5DD3-5D98-4321-A9EC-95CA0B1780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9200" y="3038475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LLM4TS 2024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2F065DC7-E02F-4B68-8A8A-45B3B94318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" y="4000500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9525">
              <a:solidFill>
                <a:srgbClr val="78639F"/>
              </a:solidFill>
              <a:prstDash val="solid"/>
            </a:ln>
          </p:spPr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28CFC68D-EDEA-400B-9B59-12F7D37292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9200" y="4038600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ChatTS 2024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4D20EF2B-2B2B-438D-88AD-FAF1FC1CB7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" y="5000625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9525">
              <a:solidFill>
                <a:srgbClr val="78639F"/>
              </a:solidFill>
              <a:prstDash val="solid"/>
            </a:ln>
          </p:spPr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C2E9D702-F7D6-4679-A9C6-04C86B17CC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9200" y="5038725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TimeMaster 2025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80CB1135-B928-4AA7-AA89-38E7AF6342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95600" y="1047750"/>
              <a:ext cx="1685925" cy="619125"/>
            </a:xfrm>
            <a:prstGeom xmlns:a="http://schemas.openxmlformats.org/drawingml/2006/main" prst="roundRect">
              <a:avLst>
                <a:gd name="adj" fmla="val 12308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88D10404-089C-4858-A79D-FAE5C8AB0E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971800" y="1171575"/>
              <a:ext cx="15335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1" i="0">
                  <a:solidFill>
                    <a:srgbClr val="438B86"/>
                  </a:solidFill>
                  <a:latin typeface="Arial"/>
                  <a:ea typeface="Arial"/>
                  <a:cs typeface="Arial"/>
                </a:defRPr>
              </a:pPr>
              <a:r>
                <a:rPr sz="1125" b="1" i="0">
                  <a:solidFill>
                    <a:srgbClr val="438B86"/>
                  </a:solidFill>
                  <a:latin typeface="Arial"/>
                  <a:ea typeface="Arial"/>
                  <a:cs typeface="Arial"/>
                </a:rPr>
                <a:t>General Harness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3733B048-584C-4FCB-93B9-5E25D33D1C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971800" y="1438275"/>
              <a:ext cx="1533525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1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750" b="0" i="1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module route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F4690069-5A43-4FC1-BCA1-9FE6EC94BA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9513" y="1762125"/>
              <a:ext cx="38100" cy="371475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438B86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212ED5E1-DEF4-4437-A5CC-D848E55867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09900" y="2000250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918A1EE8-901D-4704-8046-B168FA4EE0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67050" y="2038350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TradingAgents 2024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9A534662-0FB6-4BF1-814C-5D587B4E10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09900" y="3000375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A93FB8B0-7177-43B8-88CA-7A6FD818D5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67050" y="3038475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TS-Agent 2025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CB4F705A-60A8-4F31-A2E4-BF1D0DA23F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09900" y="4000500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4A795759-FB1F-4E45-959E-2D4788C486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67050" y="4038600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AION 2026</a:t>
              </a:r>
            </a:p>
          </p:txBody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90A8F9C7-24B3-44AB-888A-4004D29385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09900" y="5000625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616C65D9-82A8-40AF-9DAE-DBB0A19F0B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67050" y="5038725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TimeClaw 2026</a:t>
              </a:r>
            </a:p>
          </p:txBody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04AEEE30-995F-4422-B062-EDFEA79F85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43450" y="1047750"/>
              <a:ext cx="1685925" cy="619125"/>
            </a:xfrm>
            <a:prstGeom xmlns:a="http://schemas.openxmlformats.org/drawingml/2006/main" prst="roundRect">
              <a:avLst>
                <a:gd name="adj" fmla="val 12308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932AA2E8-FED8-4770-94E1-4C3EC87CF6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9650" y="1171575"/>
              <a:ext cx="15335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1" i="0">
                  <a:solidFill>
                    <a:srgbClr val="B77F2B"/>
                  </a:solidFill>
                  <a:latin typeface="Arial"/>
                  <a:ea typeface="Arial"/>
                  <a:cs typeface="Arial"/>
                </a:defRPr>
              </a:pPr>
              <a:r>
                <a:rPr sz="1125" b="1" i="0">
                  <a:solidFill>
                    <a:srgbClr val="B77F2B"/>
                  </a:solidFill>
                  <a:latin typeface="Arial"/>
                  <a:ea typeface="Arial"/>
                  <a:cs typeface="Arial"/>
                </a:rPr>
                <a:t>Temporal grounding</a:t>
              </a:r>
            </a:p>
          </p:txBody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50EE9B67-05CF-4C34-A56B-92600E932A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9650" y="1438275"/>
              <a:ext cx="1533525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1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750" b="0" i="1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module route</a:t>
              </a:r>
            </a:p>
          </p:txBody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95341133-1BE6-4917-900B-9FE5C678F5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67363" y="1762125"/>
              <a:ext cx="38100" cy="371475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B77F2B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63D62250-2069-47A5-81DC-842777BFF0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0" y="2000250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8A823124-C178-48C5-A610-8F5487D2A7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4900" y="2038350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TimeCAP 2025</a:t>
              </a:r>
            </a:p>
          </p:txBody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D34035C2-0C69-4A0E-BBC8-E4192EA108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0" y="3000375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34" name="">
              <a:extLst xmlns:a="http://schemas.openxmlformats.org/drawingml/2006/main">
                <a:ext uri="{FF2B5EF4-FFF2-40B4-BE49-F238E27FC236}">
                  <a16:creationId xmlns:a16="http://schemas.microsoft.com/office/drawing/2014/main" id="{AF95B61E-4E1F-492B-8DB1-7A72AF09DC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4900" y="3038475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TimeART 2026</a:t>
              </a:r>
            </a:p>
          </p:txBody>
        </p:sp>
        <p:sp>
          <p:nvSpPr>
            <p:cNvPr id="35" name="">
              <a:extLst xmlns:a="http://schemas.openxmlformats.org/drawingml/2006/main">
                <a:ext uri="{FF2B5EF4-FFF2-40B4-BE49-F238E27FC236}">
                  <a16:creationId xmlns:a16="http://schemas.microsoft.com/office/drawing/2014/main" id="{7A8B6C33-04DC-4CA7-BCF9-8D962D020F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0" y="4000500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A6BAAED0-B8A5-4427-9E42-594B8DCB56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4900" y="4038600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TFRBench 2026</a:t>
              </a:r>
            </a:p>
          </p:txBody>
        </p:sp>
        <p:sp>
          <p:nvSpPr>
            <p:cNvPr id="37" name="">
              <a:extLst xmlns:a="http://schemas.openxmlformats.org/drawingml/2006/main">
                <a:ext uri="{FF2B5EF4-FFF2-40B4-BE49-F238E27FC236}">
                  <a16:creationId xmlns:a16="http://schemas.microsoft.com/office/drawing/2014/main" id="{333E58E2-8D85-4449-94E3-1C9409FEA7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0" y="5000625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38" name="">
              <a:extLst xmlns:a="http://schemas.openxmlformats.org/drawingml/2006/main">
                <a:ext uri="{FF2B5EF4-FFF2-40B4-BE49-F238E27FC236}">
                  <a16:creationId xmlns:a16="http://schemas.microsoft.com/office/drawing/2014/main" id="{5903F864-E400-4024-A5C6-0161C0C4EE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4900" y="5038725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TSQBench 2026</a:t>
              </a:r>
            </a:p>
          </p:txBody>
        </p:sp>
        <p:sp>
          <p:nvSpPr>
            <p:cNvPr id="39" name="">
              <a:extLst xmlns:a="http://schemas.openxmlformats.org/drawingml/2006/main">
                <a:ext uri="{FF2B5EF4-FFF2-40B4-BE49-F238E27FC236}">
                  <a16:creationId xmlns:a16="http://schemas.microsoft.com/office/drawing/2014/main" id="{202BED23-03FD-4572-8DC4-FFBAF5EF2E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91300" y="1047750"/>
              <a:ext cx="1685925" cy="619125"/>
            </a:xfrm>
            <a:prstGeom xmlns:a="http://schemas.openxmlformats.org/drawingml/2006/main" prst="roundRect">
              <a:avLst>
                <a:gd name="adj" fmla="val 12308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13335">
              <a:solidFill>
                <a:srgbClr val="B86659"/>
              </a:solidFill>
              <a:prstDash val="solid"/>
            </a:ln>
          </p:spPr>
        </p:sp>
        <p:sp>
          <p:nvSpPr>
            <p:cNvPr id="40" name="">
              <a:extLst xmlns:a="http://schemas.openxmlformats.org/drawingml/2006/main">
                <a:ext uri="{FF2B5EF4-FFF2-40B4-BE49-F238E27FC236}">
                  <a16:creationId xmlns:a16="http://schemas.microsoft.com/office/drawing/2014/main" id="{E45B9D62-6B41-45F5-9DCA-8BC741BC55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0" y="1171575"/>
              <a:ext cx="15335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1" i="0">
                  <a:solidFill>
                    <a:srgbClr val="B86659"/>
                  </a:solidFill>
                  <a:latin typeface="Arial"/>
                  <a:ea typeface="Arial"/>
                  <a:cs typeface="Arial"/>
                </a:defRPr>
              </a:pPr>
              <a:r>
                <a:rPr sz="1125" b="1" i="0">
                  <a:solidFill>
                    <a:srgbClr val="B86659"/>
                  </a:solidFill>
                  <a:latin typeface="Arial"/>
                  <a:ea typeface="Arial"/>
                  <a:cs typeface="Arial"/>
                </a:rPr>
                <a:t>Forecasting</a:t>
              </a:r>
            </a:p>
          </p:txBody>
        </p:sp>
        <p:sp>
          <p:nvSpPr>
            <p:cNvPr id="41" name="">
              <a:extLst xmlns:a="http://schemas.openxmlformats.org/drawingml/2006/main">
                <a:ext uri="{FF2B5EF4-FFF2-40B4-BE49-F238E27FC236}">
                  <a16:creationId xmlns:a16="http://schemas.microsoft.com/office/drawing/2014/main" id="{4783F5B8-EC4B-468B-BA9A-A3E790D579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0" y="1438275"/>
              <a:ext cx="1533525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1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750" b="0" i="1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module route</a:t>
              </a:r>
            </a:p>
          </p:txBody>
        </p: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58DC0FD4-9390-4E26-9473-1CB9ED3F92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15213" y="1762125"/>
              <a:ext cx="38100" cy="371475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B86659"/>
            </a:solidFill>
            <a:ln xmlns:a="http://schemas.openxmlformats.org/drawingml/2006/main" w="13335">
              <a:solidFill>
                <a:srgbClr val="B86659"/>
              </a:solidFill>
              <a:prstDash val="solid"/>
            </a:ln>
          </p:spPr>
        </p:sp>
        <p:sp>
          <p:nvSpPr>
            <p:cNvPr id="43" name="">
              <a:extLst xmlns:a="http://schemas.openxmlformats.org/drawingml/2006/main">
                <a:ext uri="{FF2B5EF4-FFF2-40B4-BE49-F238E27FC236}">
                  <a16:creationId xmlns:a16="http://schemas.microsoft.com/office/drawing/2014/main" id="{8FB2921B-7A20-46E6-BAD1-D1A74D71C9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05600" y="2000250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9525">
              <a:solidFill>
                <a:srgbClr val="B86659"/>
              </a:solidFill>
              <a:prstDash val="solid"/>
            </a:ln>
          </p:spPr>
        </p:sp>
        <p:sp>
          <p:nvSpPr>
            <p:cNvPr id="44" name="">
              <a:extLst xmlns:a="http://schemas.openxmlformats.org/drawingml/2006/main">
                <a:ext uri="{FF2B5EF4-FFF2-40B4-BE49-F238E27FC236}">
                  <a16:creationId xmlns:a16="http://schemas.microsoft.com/office/drawing/2014/main" id="{99F021AB-DF69-4446-8C5D-4C41B21633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62750" y="2038350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TimeSeriesScientist 2025</a:t>
              </a:r>
            </a:p>
          </p:txBody>
        </p:sp>
        <p:sp>
          <p:nvSpPr>
            <p:cNvPr id="45" name="">
              <a:extLst xmlns:a="http://schemas.openxmlformats.org/drawingml/2006/main">
                <a:ext uri="{FF2B5EF4-FFF2-40B4-BE49-F238E27FC236}">
                  <a16:creationId xmlns:a16="http://schemas.microsoft.com/office/drawing/2014/main" id="{94DAE3D0-8C81-4514-B457-FF1C89466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05600" y="3000375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9525">
              <a:solidFill>
                <a:srgbClr val="B86659"/>
              </a:solidFill>
              <a:prstDash val="solid"/>
            </a:ln>
          </p:spPr>
        </p:sp>
        <p:sp>
          <p:nvSpPr>
            <p:cNvPr id="46" name="">
              <a:extLst xmlns:a="http://schemas.openxmlformats.org/drawingml/2006/main">
                <a:ext uri="{FF2B5EF4-FFF2-40B4-BE49-F238E27FC236}">
                  <a16:creationId xmlns:a16="http://schemas.microsoft.com/office/drawing/2014/main" id="{C9142512-21D9-4E3B-A1E4-9B3FF1DF99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62750" y="3038475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ForecastCompass 2026</a:t>
              </a:r>
            </a:p>
          </p:txBody>
        </p:sp>
        <p:sp>
          <p:nvSpPr>
            <p:cNvPr id="47" name="">
              <a:extLst xmlns:a="http://schemas.openxmlformats.org/drawingml/2006/main">
                <a:ext uri="{FF2B5EF4-FFF2-40B4-BE49-F238E27FC236}">
                  <a16:creationId xmlns:a16="http://schemas.microsoft.com/office/drawing/2014/main" id="{9811D82A-94A3-4859-B4F4-6A00A934DA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05600" y="4000500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9525">
              <a:solidFill>
                <a:srgbClr val="B86659"/>
              </a:solidFill>
              <a:prstDash val="solid"/>
            </a:ln>
          </p:spPr>
        </p:sp>
        <p:sp>
          <p:nvSpPr>
            <p:cNvPr id="48" name="">
              <a:extLst xmlns:a="http://schemas.openxmlformats.org/drawingml/2006/main">
                <a:ext uri="{FF2B5EF4-FFF2-40B4-BE49-F238E27FC236}">
                  <a16:creationId xmlns:a16="http://schemas.microsoft.com/office/drawing/2014/main" id="{709F2118-49F4-4F1A-844B-8C49392C03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62750" y="4038600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FinArena 2025</a:t>
              </a:r>
            </a:p>
          </p:txBody>
        </p:sp>
        <p:sp>
          <p:nvSpPr>
            <p:cNvPr id="49" name="">
              <a:extLst xmlns:a="http://schemas.openxmlformats.org/drawingml/2006/main">
                <a:ext uri="{FF2B5EF4-FFF2-40B4-BE49-F238E27FC236}">
                  <a16:creationId xmlns:a16="http://schemas.microsoft.com/office/drawing/2014/main" id="{78EEBF1A-4604-4AE3-8D8E-85B6A937B3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05600" y="5000625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9525">
              <a:solidFill>
                <a:srgbClr val="B86659"/>
              </a:solidFill>
              <a:prstDash val="solid"/>
            </a:ln>
          </p:spPr>
        </p:sp>
        <p:sp>
          <p:nvSpPr>
            <p:cNvPr id="50" name="">
              <a:extLst xmlns:a="http://schemas.openxmlformats.org/drawingml/2006/main">
                <a:ext uri="{FF2B5EF4-FFF2-40B4-BE49-F238E27FC236}">
                  <a16:creationId xmlns:a16="http://schemas.microsoft.com/office/drawing/2014/main" id="{90C0914C-5437-406F-88D3-0823F69DF8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62750" y="5038725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CastFlow 2026</a:t>
              </a:r>
            </a:p>
          </p:txBody>
        </p:sp>
        <p:sp>
          <p:nvSpPr>
            <p:cNvPr id="51" name="">
              <a:extLst xmlns:a="http://schemas.openxmlformats.org/drawingml/2006/main">
                <a:ext uri="{FF2B5EF4-FFF2-40B4-BE49-F238E27FC236}">
                  <a16:creationId xmlns:a16="http://schemas.microsoft.com/office/drawing/2014/main" id="{D31A382C-0B44-4A91-9131-92786F18BC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39150" y="1047750"/>
              <a:ext cx="1685925" cy="619125"/>
            </a:xfrm>
            <a:prstGeom xmlns:a="http://schemas.openxmlformats.org/drawingml/2006/main" prst="roundRect">
              <a:avLst>
                <a:gd name="adj" fmla="val 12308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2" name="">
              <a:extLst xmlns:a="http://schemas.openxmlformats.org/drawingml/2006/main">
                <a:ext uri="{FF2B5EF4-FFF2-40B4-BE49-F238E27FC236}">
                  <a16:creationId xmlns:a16="http://schemas.microsoft.com/office/drawing/2014/main" id="{0554CC62-0E9E-4ECC-9A95-51E9762BB1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15350" y="1171575"/>
              <a:ext cx="15335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1" i="0">
                  <a:solidFill>
                    <a:srgbClr val="438B86"/>
                  </a:solidFill>
                  <a:latin typeface="Arial"/>
                  <a:ea typeface="Arial"/>
                  <a:cs typeface="Arial"/>
                </a:defRPr>
              </a:pPr>
              <a:r>
                <a:rPr sz="1125" b="1" i="0">
                  <a:solidFill>
                    <a:srgbClr val="438B86"/>
                  </a:solidFill>
                  <a:latin typeface="Arial"/>
                  <a:ea typeface="Arial"/>
                  <a:cs typeface="Arial"/>
                </a:rPr>
                <a:t>Anomaly</a:t>
              </a:r>
            </a:p>
          </p:txBody>
        </p:sp>
        <p:sp>
          <p:nvSpPr>
            <p:cNvPr id="53" name="">
              <a:extLst xmlns:a="http://schemas.openxmlformats.org/drawingml/2006/main">
                <a:ext uri="{FF2B5EF4-FFF2-40B4-BE49-F238E27FC236}">
                  <a16:creationId xmlns:a16="http://schemas.microsoft.com/office/drawing/2014/main" id="{136EE05A-F144-4ECA-A285-CE345FA685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15350" y="1438275"/>
              <a:ext cx="1533525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1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750" b="0" i="1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module route</a:t>
              </a:r>
            </a:p>
          </p:txBody>
        </p:sp>
        <p:sp>
          <p:nvSpPr>
            <p:cNvPr id="54" name="">
              <a:extLst xmlns:a="http://schemas.openxmlformats.org/drawingml/2006/main">
                <a:ext uri="{FF2B5EF4-FFF2-40B4-BE49-F238E27FC236}">
                  <a16:creationId xmlns:a16="http://schemas.microsoft.com/office/drawing/2014/main" id="{467CE2E9-588A-47A4-81C3-AB56A7FBAC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63063" y="1762125"/>
              <a:ext cx="38100" cy="371475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438B86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5" name="">
              <a:extLst xmlns:a="http://schemas.openxmlformats.org/drawingml/2006/main">
                <a:ext uri="{FF2B5EF4-FFF2-40B4-BE49-F238E27FC236}">
                  <a16:creationId xmlns:a16="http://schemas.microsoft.com/office/drawing/2014/main" id="{F7A9977C-46E5-4E8A-A416-1A981C47AB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53450" y="2000250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56" name="">
              <a:extLst xmlns:a="http://schemas.openxmlformats.org/drawingml/2006/main">
                <a:ext uri="{FF2B5EF4-FFF2-40B4-BE49-F238E27FC236}">
                  <a16:creationId xmlns:a16="http://schemas.microsoft.com/office/drawing/2014/main" id="{3D73C595-D461-4B82-A440-BAF8CCB93A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10600" y="2038350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Argos 2025</a:t>
              </a:r>
            </a:p>
          </p:txBody>
        </p:sp>
        <p:sp>
          <p:nvSpPr>
            <p:cNvPr id="57" name="">
              <a:extLst xmlns:a="http://schemas.openxmlformats.org/drawingml/2006/main">
                <a:ext uri="{FF2B5EF4-FFF2-40B4-BE49-F238E27FC236}">
                  <a16:creationId xmlns:a16="http://schemas.microsoft.com/office/drawing/2014/main" id="{0E4C213E-40DA-45AF-B038-5733452527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53450" y="3000375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58" name="">
              <a:extLst xmlns:a="http://schemas.openxmlformats.org/drawingml/2006/main">
                <a:ext uri="{FF2B5EF4-FFF2-40B4-BE49-F238E27FC236}">
                  <a16:creationId xmlns:a16="http://schemas.microsoft.com/office/drawing/2014/main" id="{F3903D80-9CD2-4AA8-92E9-A4C03D682F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10600" y="3038475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LEMAD 2025</a:t>
              </a:r>
            </a:p>
          </p:txBody>
        </p:sp>
        <p:sp>
          <p:nvSpPr>
            <p:cNvPr id="59" name="">
              <a:extLst xmlns:a="http://schemas.openxmlformats.org/drawingml/2006/main">
                <a:ext uri="{FF2B5EF4-FFF2-40B4-BE49-F238E27FC236}">
                  <a16:creationId xmlns:a16="http://schemas.microsoft.com/office/drawing/2014/main" id="{9FA8EB2F-A80A-4153-8CD3-7F1D0A9596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53450" y="4000500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60" name="">
              <a:extLst xmlns:a="http://schemas.openxmlformats.org/drawingml/2006/main">
                <a:ext uri="{FF2B5EF4-FFF2-40B4-BE49-F238E27FC236}">
                  <a16:creationId xmlns:a16="http://schemas.microsoft.com/office/drawing/2014/main" id="{CBE4A7C6-711F-46E6-BE61-8496071535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10600" y="4038600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AnomaMind 2026</a:t>
              </a:r>
            </a:p>
          </p:txBody>
        </p:sp>
        <p:sp>
          <p:nvSpPr>
            <p:cNvPr id="61" name="">
              <a:extLst xmlns:a="http://schemas.openxmlformats.org/drawingml/2006/main">
                <a:ext uri="{FF2B5EF4-FFF2-40B4-BE49-F238E27FC236}">
                  <a16:creationId xmlns:a16="http://schemas.microsoft.com/office/drawing/2014/main" id="{0D888CED-7D4A-42B1-B60C-4505BE6649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53450" y="5000625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62" name="">
              <a:extLst xmlns:a="http://schemas.openxmlformats.org/drawingml/2006/main">
                <a:ext uri="{FF2B5EF4-FFF2-40B4-BE49-F238E27FC236}">
                  <a16:creationId xmlns:a16="http://schemas.microsoft.com/office/drawing/2014/main" id="{451D171C-06CE-4B3F-85A8-2FB07D262A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10600" y="5038725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TraceBench 2026</a:t>
              </a:r>
            </a:p>
          </p:txBody>
        </p:sp>
        <p:sp>
          <p:nvSpPr>
            <p:cNvPr id="63" name="">
              <a:extLst xmlns:a="http://schemas.openxmlformats.org/drawingml/2006/main">
                <a:ext uri="{FF2B5EF4-FFF2-40B4-BE49-F238E27FC236}">
                  <a16:creationId xmlns:a16="http://schemas.microsoft.com/office/drawing/2014/main" id="{C908FA8A-378C-4969-B26A-C123458766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0" y="1047750"/>
              <a:ext cx="1685925" cy="619125"/>
            </a:xfrm>
            <a:prstGeom xmlns:a="http://schemas.openxmlformats.org/drawingml/2006/main" prst="roundRect">
              <a:avLst>
                <a:gd name="adj" fmla="val 12308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64" name="">
              <a:extLst xmlns:a="http://schemas.openxmlformats.org/drawingml/2006/main">
                <a:ext uri="{FF2B5EF4-FFF2-40B4-BE49-F238E27FC236}">
                  <a16:creationId xmlns:a16="http://schemas.microsoft.com/office/drawing/2014/main" id="{F90F5D42-F96F-469E-84B8-B7E3CC5288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63200" y="1171575"/>
              <a:ext cx="15335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1" i="0">
                  <a:solidFill>
                    <a:srgbClr val="78639F"/>
                  </a:solidFill>
                  <a:latin typeface="Arial"/>
                  <a:ea typeface="Arial"/>
                  <a:cs typeface="Arial"/>
                </a:defRPr>
              </a:pPr>
              <a:r>
                <a:rPr sz="1125" b="1" i="0">
                  <a:solidFill>
                    <a:srgbClr val="78639F"/>
                  </a:solidFill>
                  <a:latin typeface="Arial"/>
                  <a:ea typeface="Arial"/>
                  <a:cs typeface="Arial"/>
                </a:rPr>
                <a:t>Decision support</a:t>
              </a:r>
            </a:p>
          </p:txBody>
        </p:sp>
        <p:sp>
          <p:nvSpPr>
            <p:cNvPr id="65" name="">
              <a:extLst xmlns:a="http://schemas.openxmlformats.org/drawingml/2006/main">
                <a:ext uri="{FF2B5EF4-FFF2-40B4-BE49-F238E27FC236}">
                  <a16:creationId xmlns:a16="http://schemas.microsoft.com/office/drawing/2014/main" id="{1322C614-50E8-4D03-93E4-6C5238C78E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63200" y="1438275"/>
              <a:ext cx="1533525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1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750" b="0" i="1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module route</a:t>
              </a:r>
            </a:p>
          </p:txBody>
        </p:sp>
        <p:sp>
          <p:nvSpPr>
            <p:cNvPr id="66" name="">
              <a:extLst xmlns:a="http://schemas.openxmlformats.org/drawingml/2006/main">
                <a:ext uri="{FF2B5EF4-FFF2-40B4-BE49-F238E27FC236}">
                  <a16:creationId xmlns:a16="http://schemas.microsoft.com/office/drawing/2014/main" id="{17559F00-2F50-4CF6-8DE9-9549902AD2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10913" y="1762125"/>
              <a:ext cx="38100" cy="371475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78639F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67" name="">
              <a:extLst xmlns:a="http://schemas.openxmlformats.org/drawingml/2006/main">
                <a:ext uri="{FF2B5EF4-FFF2-40B4-BE49-F238E27FC236}">
                  <a16:creationId xmlns:a16="http://schemas.microsoft.com/office/drawing/2014/main" id="{BC5D9055-024A-4A0C-88EA-CD34356948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01300" y="2000250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9525">
              <a:solidFill>
                <a:srgbClr val="78639F"/>
              </a:solidFill>
              <a:prstDash val="solid"/>
            </a:ln>
          </p:spPr>
        </p:sp>
        <p:sp>
          <p:nvSpPr>
            <p:cNvPr id="68" name="">
              <a:extLst xmlns:a="http://schemas.openxmlformats.org/drawingml/2006/main">
                <a:ext uri="{FF2B5EF4-FFF2-40B4-BE49-F238E27FC236}">
                  <a16:creationId xmlns:a16="http://schemas.microsoft.com/office/drawing/2014/main" id="{76C6A42F-6830-4B78-BD2C-B98B40F41E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58450" y="2038350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FinCon 2024</a:t>
              </a:r>
            </a:p>
          </p:txBody>
        </p:sp>
        <p:sp>
          <p:nvSpPr>
            <p:cNvPr id="69" name="">
              <a:extLst xmlns:a="http://schemas.openxmlformats.org/drawingml/2006/main">
                <a:ext uri="{FF2B5EF4-FFF2-40B4-BE49-F238E27FC236}">
                  <a16:creationId xmlns:a16="http://schemas.microsoft.com/office/drawing/2014/main" id="{213C4645-7C49-4C29-A325-3CF4D5A20B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01300" y="3000375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9525">
              <a:solidFill>
                <a:srgbClr val="78639F"/>
              </a:solidFill>
              <a:prstDash val="solid"/>
            </a:ln>
          </p:spPr>
        </p:sp>
        <p:sp>
          <p:nvSpPr>
            <p:cNvPr id="70" name="">
              <a:extLst xmlns:a="http://schemas.openxmlformats.org/drawingml/2006/main">
                <a:ext uri="{FF2B5EF4-FFF2-40B4-BE49-F238E27FC236}">
                  <a16:creationId xmlns:a16="http://schemas.microsoft.com/office/drawing/2014/main" id="{6A4CCB23-FD47-4013-BC54-EC1F1E74F9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58450" y="3038475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CoLLMLight 2026</a:t>
              </a:r>
            </a:p>
          </p:txBody>
        </p:sp>
        <p:sp>
          <p:nvSpPr>
            <p:cNvPr id="71" name="">
              <a:extLst xmlns:a="http://schemas.openxmlformats.org/drawingml/2006/main">
                <a:ext uri="{FF2B5EF4-FFF2-40B4-BE49-F238E27FC236}">
                  <a16:creationId xmlns:a16="http://schemas.microsoft.com/office/drawing/2014/main" id="{6EAFD53E-78FB-41AB-90BA-8E5B65E895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01300" y="4000500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9525">
              <a:solidFill>
                <a:srgbClr val="78639F"/>
              </a:solidFill>
              <a:prstDash val="solid"/>
            </a:ln>
          </p:spPr>
        </p:sp>
        <p:sp>
          <p:nvSpPr>
            <p:cNvPr id="72" name="">
              <a:extLst xmlns:a="http://schemas.openxmlformats.org/drawingml/2006/main">
                <a:ext uri="{FF2B5EF4-FFF2-40B4-BE49-F238E27FC236}">
                  <a16:creationId xmlns:a16="http://schemas.microsoft.com/office/drawing/2014/main" id="{CC9726A6-D04D-4C96-8BDA-17D9B0E1AF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58450" y="4038600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ClimateAgent 2025</a:t>
              </a:r>
            </a:p>
          </p:txBody>
        </p:sp>
        <p:sp>
          <p:nvSpPr>
            <p:cNvPr id="73" name="">
              <a:extLst xmlns:a="http://schemas.openxmlformats.org/drawingml/2006/main">
                <a:ext uri="{FF2B5EF4-FFF2-40B4-BE49-F238E27FC236}">
                  <a16:creationId xmlns:a16="http://schemas.microsoft.com/office/drawing/2014/main" id="{2977CF1C-4264-48F0-A894-C66474DB38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01300" y="5000625"/>
              <a:ext cx="145732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9525">
              <a:solidFill>
                <a:srgbClr val="78639F"/>
              </a:solidFill>
              <a:prstDash val="solid"/>
            </a:ln>
          </p:spPr>
        </p:sp>
        <p:sp>
          <p:nvSpPr>
            <p:cNvPr id="74" name="">
              <a:extLst xmlns:a="http://schemas.openxmlformats.org/drawingml/2006/main">
                <a:ext uri="{FF2B5EF4-FFF2-40B4-BE49-F238E27FC236}">
                  <a16:creationId xmlns:a16="http://schemas.microsoft.com/office/drawing/2014/main" id="{0EDBE029-CAB4-49D0-9A9A-2045B55BCA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58450" y="5038725"/>
              <a:ext cx="13430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825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Smart Energy 2026</a:t>
              </a:r>
            </a:p>
          </p:txBody>
        </p:sp>
        <p:sp>
          <p:nvSpPr>
            <p:cNvPr id="75" name="">
              <a:extLst xmlns:a="http://schemas.openxmlformats.org/drawingml/2006/main">
                <a:ext uri="{FF2B5EF4-FFF2-40B4-BE49-F238E27FC236}">
                  <a16:creationId xmlns:a16="http://schemas.microsoft.com/office/drawing/2014/main" id="{9F0EF662-20D0-4356-AB8E-618E8E26E5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" y="2076450"/>
              <a:ext cx="4953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900" b="1" i="0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2024</a:t>
              </a:r>
            </a:p>
          </p:txBody>
        </p:sp>
        <p:sp>
          <p:nvSpPr>
            <p:cNvPr id="76" name="">
              <a:extLst xmlns:a="http://schemas.openxmlformats.org/drawingml/2006/main">
                <a:ext uri="{FF2B5EF4-FFF2-40B4-BE49-F238E27FC236}">
                  <a16:creationId xmlns:a16="http://schemas.microsoft.com/office/drawing/2014/main" id="{B9C8D89E-A426-47B1-BF32-65BA42E610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" y="2200275"/>
              <a:ext cx="10668000" cy="1905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D7DCE4"/>
            </a:solidFill>
            <a:ln xmlns:a="http://schemas.openxmlformats.org/drawingml/2006/main" w="13335">
              <a:solidFill>
                <a:srgbClr val="D7DCE4"/>
              </a:solidFill>
              <a:prstDash val="solid"/>
            </a:ln>
          </p:spPr>
        </p:sp>
        <p:sp>
          <p:nvSpPr>
            <p:cNvPr id="77" name="">
              <a:extLst xmlns:a="http://schemas.openxmlformats.org/drawingml/2006/main">
                <a:ext uri="{FF2B5EF4-FFF2-40B4-BE49-F238E27FC236}">
                  <a16:creationId xmlns:a16="http://schemas.microsoft.com/office/drawing/2014/main" id="{E9534CFD-CEF2-4CA7-B211-25FCD63D6A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" y="3076575"/>
              <a:ext cx="4953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900" b="1" i="0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2025</a:t>
              </a:r>
            </a:p>
          </p:txBody>
        </p:sp>
        <p:sp>
          <p:nvSpPr>
            <p:cNvPr id="78" name="">
              <a:extLst xmlns:a="http://schemas.openxmlformats.org/drawingml/2006/main">
                <a:ext uri="{FF2B5EF4-FFF2-40B4-BE49-F238E27FC236}">
                  <a16:creationId xmlns:a16="http://schemas.microsoft.com/office/drawing/2014/main" id="{E2566495-7622-48C5-B1AF-D989FB432D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" y="3200400"/>
              <a:ext cx="10668000" cy="1905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D7DCE4"/>
            </a:solidFill>
            <a:ln xmlns:a="http://schemas.openxmlformats.org/drawingml/2006/main" w="13335">
              <a:solidFill>
                <a:srgbClr val="D7DCE4"/>
              </a:solidFill>
              <a:prstDash val="solid"/>
            </a:ln>
          </p:spPr>
        </p:sp>
        <p:sp>
          <p:nvSpPr>
            <p:cNvPr id="79" name="">
              <a:extLst xmlns:a="http://schemas.openxmlformats.org/drawingml/2006/main">
                <a:ext uri="{FF2B5EF4-FFF2-40B4-BE49-F238E27FC236}">
                  <a16:creationId xmlns:a16="http://schemas.microsoft.com/office/drawing/2014/main" id="{CFB488E0-88F7-44DC-8435-593CB19733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" y="4076700"/>
              <a:ext cx="4953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900" b="1" i="0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2026</a:t>
              </a:r>
            </a:p>
          </p:txBody>
        </p:sp>
        <p:sp>
          <p:nvSpPr>
            <p:cNvPr id="80" name="">
              <a:extLst xmlns:a="http://schemas.openxmlformats.org/drawingml/2006/main">
                <a:ext uri="{FF2B5EF4-FFF2-40B4-BE49-F238E27FC236}">
                  <a16:creationId xmlns:a16="http://schemas.microsoft.com/office/drawing/2014/main" id="{940523A2-7866-4C58-9B52-2A1897C644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" y="4200525"/>
              <a:ext cx="10668000" cy="1905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D7DCE4"/>
            </a:solidFill>
            <a:ln xmlns:a="http://schemas.openxmlformats.org/drawingml/2006/main" w="13335">
              <a:solidFill>
                <a:srgbClr val="D7DCE4"/>
              </a:solidFill>
              <a:prstDash val="solid"/>
            </a:ln>
          </p:spPr>
        </p:sp>
        <p:sp>
          <p:nvSpPr>
            <p:cNvPr id="81" name="">
              <a:extLst xmlns:a="http://schemas.openxmlformats.org/drawingml/2006/main">
                <a:ext uri="{FF2B5EF4-FFF2-40B4-BE49-F238E27FC236}">
                  <a16:creationId xmlns:a16="http://schemas.microsoft.com/office/drawing/2014/main" id="{FFCCF0CD-5079-471F-B048-83837569C6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" y="5076825"/>
              <a:ext cx="4953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900" b="1" i="0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Current</a:t>
              </a:r>
            </a:p>
          </p:txBody>
        </p:sp>
        <p:sp>
          <p:nvSpPr>
            <p:cNvPr id="82" name="">
              <a:extLst xmlns:a="http://schemas.openxmlformats.org/drawingml/2006/main">
                <a:ext uri="{FF2B5EF4-FFF2-40B4-BE49-F238E27FC236}">
                  <a16:creationId xmlns:a16="http://schemas.microsoft.com/office/drawing/2014/main" id="{34338985-F6C6-4000-9925-975411DFAF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" y="5200650"/>
              <a:ext cx="10668000" cy="1905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D7DCE4"/>
            </a:solidFill>
            <a:ln xmlns:a="http://schemas.openxmlformats.org/drawingml/2006/main" w="13335">
              <a:solidFill>
                <a:srgbClr val="D7DCE4"/>
              </a:solidFill>
              <a:prstDash val="solid"/>
            </a:ln>
          </p:spPr>
        </p:sp>
        <p:sp>
          <p:nvSpPr>
            <p:cNvPr id="83" name="">
              <a:extLst xmlns:a="http://schemas.openxmlformats.org/drawingml/2006/main">
                <a:ext uri="{FF2B5EF4-FFF2-40B4-BE49-F238E27FC236}">
                  <a16:creationId xmlns:a16="http://schemas.microsoft.com/office/drawing/2014/main" id="{ACBB49CC-83CE-4BD2-A3F7-16F4508729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5810250"/>
              <a:ext cx="10477500" cy="552450"/>
            </a:xfrm>
            <a:prstGeom xmlns:a="http://schemas.openxmlformats.org/drawingml/2006/main" prst="roundRect">
              <a:avLst>
                <a:gd name="adj" fmla="val 1379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3335">
              <a:solidFill>
                <a:srgbClr val="24324A"/>
              </a:solidFill>
              <a:prstDash val="solid"/>
            </a:ln>
          </p:spPr>
        </p:sp>
        <p:sp>
          <p:nvSpPr>
            <p:cNvPr id="84" name="">
              <a:extLst xmlns:a="http://schemas.openxmlformats.org/drawingml/2006/main">
                <a:ext uri="{FF2B5EF4-FFF2-40B4-BE49-F238E27FC236}">
                  <a16:creationId xmlns:a16="http://schemas.microsoft.com/office/drawing/2014/main" id="{9DC59543-9A32-4EA9-BE15-78E607245E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5875" y="5905500"/>
              <a:ext cx="100012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1" i="0">
                  <a:solidFill>
                    <a:srgbClr val="24324A"/>
                  </a:solidFill>
                  <a:latin typeface="Arial"/>
                  <a:ea typeface="Arial"/>
                  <a:cs typeface="Arial"/>
                </a:defRPr>
              </a:pPr>
              <a:r>
                <a:rPr sz="1125" b="1" i="0">
                  <a:solidFill>
                    <a:srgbClr val="24324A"/>
                  </a:solidFill>
                  <a:latin typeface="Arial"/>
                  <a:ea typeface="Arial"/>
                  <a:cs typeface="Arial"/>
                </a:rPr>
                <a:t>The same work can occupy more than one route because the ledger records module-level contributions.</a:t>
              </a:r>
            </a:p>
          </p:txBody>
        </p:sp>
        <p:sp>
          <p:nvSpPr>
            <p:cNvPr id="85" name="">
              <a:extLst xmlns:a="http://schemas.openxmlformats.org/drawingml/2006/main">
                <a:ext uri="{FF2B5EF4-FFF2-40B4-BE49-F238E27FC236}">
                  <a16:creationId xmlns:a16="http://schemas.microsoft.com/office/drawing/2014/main" id="{A8E3210C-4F03-4182-9328-48D9DABA4F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5875" y="6124575"/>
              <a:ext cx="100012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0" i="1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825" b="0" i="1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Years are taken from the maintained bibliography and paper-card records.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0357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2026-10-02T05:57:14.8370000Z</dcterms:created>
  <dcterms:modified xsi:type="dcterms:W3CDTF">2026-10-02T05:57:14.8370000Z</dcterms:modified>
</coreProperties>
</file>