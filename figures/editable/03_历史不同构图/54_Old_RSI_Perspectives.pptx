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7d5a4c041734b7e"/><Relationship Type="http://schemas.openxmlformats.org/officeDocument/2006/relationships/extended-properties" Target="/docProps/app.xml" Id="R48633c54fd134b36"/><Relationship Type="http://schemas.openxmlformats.org/officeDocument/2006/relationships/officeDocument" Target="/ppt/presentation.xml" Id="Rccfefabd99c743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64" r:id="R0fe2da08869b49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98f80b000b64034"/><Relationship Type="http://schemas.openxmlformats.org/officeDocument/2006/relationships/slideMaster" Target="/ppt/slideMasters/slideMaster1.xml" Id="Rc62dd2e32af54760"/><Relationship Type="http://schemas.openxmlformats.org/officeDocument/2006/relationships/notesMaster" Target="/ppt/notesMasters/notesMaster1.xml" Id="Ra0a1e8e05023462b"/><Relationship Type="http://schemas.openxmlformats.org/officeDocument/2006/relationships/presProps" Target="/ppt/presProps.xml" Id="R04131d18dade4c29"/><Relationship Type="http://schemas.openxmlformats.org/officeDocument/2006/relationships/tableStyles" Target="/ppt/tableStyles.xml" Id="R806215ee825044a7"/><Relationship Type="http://schemas.openxmlformats.org/officeDocument/2006/relationships/slide" Target="/ppt/slides/slide9.xml" Id="R0fe2da08869b49a4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f6a0963fee64c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e113dcfb27fc4293"/><Relationship Type="http://schemas.openxmlformats.org/officeDocument/2006/relationships/notesMaster" Target="/ppt/notesMasters/notesMaster1.xml" Id="R5cece6a999284227"/></Relationship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cc759328-3690-4186-9986-fe51794f5931.png.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a87c7bc4a445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725b395724ca46a6"/><Relationship Type="http://schemas.openxmlformats.org/officeDocument/2006/relationships/slideLayout" Target="/ppt/slideLayouts/slideLayout1.xml" Id="Rb3adc2a7e132491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2b2b17da9224cdb"/><Relationship Type="http://schemas.openxmlformats.org/officeDocument/2006/relationships/notesSlide" Target="/ppt/notesSlides/notesSlide9.xml" Id="Re71b6c58797a43b3"/></Relationships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6" name="Old_RSI_Perspectives — editable components"/>
          <p:cNvGrpSpPr/>
          <p:nvPr/>
        </p:nvGrpSpPr>
        <p:grpSpPr>
          <ns1:xfrm xmlns:ns1="http://schemas.openxmlformats.org/drawingml/2006/main">
            <ns1:off x="419100" y="209550"/>
            <ns1:ext cx="11353800" cy="4695825"/>
            <ns1:chOff x="419100" y="209550"/>
            <ns1:chExt cx="11353800" cy="4695825"/>
          </ns1:xfrm>
        </p:grpSpPr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5429C01C-38FE-494F-B89F-AFFE50DD94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209550"/>
              <a:ext cx="11334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Perspectives on self-improvement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9F6053CE-2A33-4E78-9665-D00259F99F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71500"/>
              <a:ext cx="11334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A cross-cutting synthesis from lifecycle, components, and recursive improvement.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2C345928-B78F-46F0-8B41-7342027914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1619250"/>
              <a:ext cx="3048000" cy="1524000"/>
            </a:xfrm>
            <a:prstGeom xmlns:a="http://schemas.openxmlformats.org/drawingml/2006/main" prst="roundRect">
              <a:avLst>
                <a:gd name="adj" fmla="val 5000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1430">
              <a:solidFill>
                <a:srgbClr val="B47B24"/>
              </a:solidFill>
              <a:prstDash val="dash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1528266B-D526-4592-99F1-A9DA87A05E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0625" y="1809750"/>
              <a:ext cx="2762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Lifecycles and agents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CF093C6E-2E72-4D12-BF00-E73E98F977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5875" y="2286000"/>
              <a:ext cx="25717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What changes?</a:t>
              </a:r>
            </a:p>
            <a:p xmlns:a="http://schemas.openxmlformats.org/drawingml/2006/main">
              <a:pPr>
                <a:def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When and where?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D8526603-3156-4F10-9D65-C7AC09BD0A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4375" y="1619250"/>
              <a:ext cx="3048000" cy="1524000"/>
            </a:xfrm>
            <a:prstGeom xmlns:a="http://schemas.openxmlformats.org/drawingml/2006/main" prst="roundRect">
              <a:avLst>
                <a:gd name="adj" fmla="val 5000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1430">
              <a:solidFill>
                <a:srgbClr val="6B9F80"/>
              </a:solidFill>
              <a:prstDash val="dash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D41FD52B-8371-45C7-9661-2B04F3D892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1809750"/>
              <a:ext cx="2762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Components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29EE11D6-13C5-41AE-806F-1EF4C835F7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0" y="2286000"/>
              <a:ext cx="25717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How does it work?</a:t>
              </a:r>
            </a:p>
            <a:p xmlns:a="http://schemas.openxmlformats.org/drawingml/2006/main">
              <a:pPr>
                <a:def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Which state persists?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8FC14F0A-CB1B-4251-9084-4536AAB352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01000" y="1619250"/>
              <a:ext cx="3048000" cy="1524000"/>
            </a:xfrm>
            <a:prstGeom xmlns:a="http://schemas.openxmlformats.org/drawingml/2006/main" prst="roundRect">
              <a:avLst>
                <a:gd name="adj" fmla="val 5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1430">
              <a:solidFill>
                <a:srgbClr val="4F8F89"/>
              </a:solidFill>
              <a:prstDash val="dash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CA1740E6-D8CC-4F6A-A143-98CC255ABB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43875" y="1809750"/>
              <a:ext cx="2762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Recursive improvement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549687D8-DF20-47F4-A4BE-43E48C2371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125" y="2286000"/>
              <a:ext cx="25717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How is the loop closed?</a:t>
              </a:r>
            </a:p>
            <a:p xmlns:a="http://schemas.openxmlformats.org/drawingml/2006/main">
              <a:pPr>
                <a:def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What evidence supports it?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72DB72DC-5CF8-439E-AC36-FA31F75BE1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62125" y="4048125"/>
              <a:ext cx="8667750" cy="857250"/>
            </a:xfrm>
            <a:prstGeom xmlns:a="http://schemas.openxmlformats.org/drawingml/2006/main" prst="roundRect">
              <a:avLst>
                <a:gd name="adj" fmla="val 8889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F46D0609-2E74-4A70-B14C-CE505DBE5E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95500" y="4238625"/>
              <a:ext cx="8001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This survey: a cross-cutting synthesis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5F7DF1B1-5CD2-40BF-AE9B-0E4510FE2F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95500" y="4572000"/>
              <a:ext cx="8001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Engineering goal → testable question → tested redistribution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2645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