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28a8f95bcf4ac6"/><Relationship Type="http://schemas.openxmlformats.org/officeDocument/2006/relationships/extended-properties" Target="/docProps/app.xml" Id="Rcd5dcd346ddd4c46"/><Relationship Type="http://schemas.openxmlformats.org/officeDocument/2006/relationships/officeDocument" Target="/ppt/presentation.xml" Id="Rc3690c6c0cbf449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cff9043b644fe"/>
  </p:sldMasterIdLst>
  <p:notesMasterIdLst>
    <p:notesMasterId xmlns:r="http://schemas.openxmlformats.org/officeDocument/2006/relationships" r:id="R766dd5f8c0c84945"/>
  </p:notesMasterIdLst>
  <p:sldIdLst>
    <p:sldId xmlns:r="http://schemas.openxmlformats.org/officeDocument/2006/relationships" id="256" r:id="Ra4f7abfbff9a40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0552183051c46ae"/><Relationship Type="http://schemas.openxmlformats.org/officeDocument/2006/relationships/slideMaster" Target="/ppt/slideMasters/slideMaster1.xml" Id="Ra26cff9043b644fe"/><Relationship Type="http://schemas.openxmlformats.org/officeDocument/2006/relationships/notesMaster" Target="/ppt/notesMasters/notesMaster1.xml" Id="R766dd5f8c0c84945"/><Relationship Type="http://schemas.openxmlformats.org/officeDocument/2006/relationships/presProps" Target="/ppt/presProps.xml" Id="R31962c161958492d"/><Relationship Type="http://schemas.openxmlformats.org/officeDocument/2006/relationships/tableStyles" Target="/ppt/tableStyles.xml" Id="R0d0c0aba29d048ea"/><Relationship Type="http://schemas.openxmlformats.org/officeDocument/2006/relationships/slide" Target="/ppt/slides/slide1.xml" Id="Ra4f7abfbff9a4049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13ee465aa4c34732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2348346fa9db443c"/><Relationship Type="http://schemas.openxmlformats.org/officeDocument/2006/relationships/notesMaster" Target="/ppt/notesMasters/notesMaster1.xml" Id="R1e7f00ab84904ac5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synthesized for this survey. The visual organization follows the survey sections and the paper-card schema. The layout style is adapted from the user-supplied Recursive Self-Improvement survey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07620b156f9495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3197bc54a6445e9"/><Relationship Type="http://schemas.openxmlformats.org/officeDocument/2006/relationships/slideLayout" Target="/ppt/slideLayouts/slideLayout1.xml" Id="Rdb8be8ad6c6646f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be8ad6c66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c72ac5772b946aa"/><Relationship Type="http://schemas.openxmlformats.org/officeDocument/2006/relationships/notesSlide" Target="/ppt/notesSlides/notesSlide1.xml" Id="R686e0ab9d71d4ea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39" name="Old_TimeSeries_Organization — editable components"/>
          <p:cNvGrpSpPr/>
          <p:nvPr/>
        </p:nvGrpSpPr>
        <p:grpSpPr>
          <ns1:xfrm xmlns:ns1="http://schemas.openxmlformats.org/drawingml/2006/main">
            <ns1:off x="190500" y="266700"/>
            <ns1:ext cx="11410950" cy="6410325"/>
            <ns1:chOff x="190500" y="266700"/>
            <ns1:chExt cx="11410950" cy="6410325"/>
          </ns1:xfrm>
        </p:grpSpPr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B7A6CCD6-BDF8-4DAD-A5DE-C9907A99DA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266700"/>
              <a:ext cx="11049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550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2550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Organization of the survey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0F77F08C-5A0F-4037-89AF-188A5674A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695325"/>
              <a:ext cx="11049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12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Sections follow the construction of a Time-Series Agent and the evidence needed to evaluate it.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713AB33A-8F57-4F04-9473-18DCEF884B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295400"/>
              <a:ext cx="38100" cy="485775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3D4652"/>
            </a:solidFill>
            <a:ln xmlns:a="http://schemas.openxmlformats.org/drawingml/2006/main" w="13335">
              <a:solidFill>
                <a:srgbClr val="3D4652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A4850A2-2A7A-4395-AE67-2B0D70E583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12763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7F2B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C1A2FD3-AB36-4F6A-B546-03C8548646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1066800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dash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AC1A3545-7F15-40AB-83B7-7342E159D4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114425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1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31B4FC23-C54C-4CEB-871D-88928867D8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1104900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Introduction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D2B93077-32E8-4D0E-B7AB-0D4363D057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1066800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0478">
              <a:solidFill>
                <a:srgbClr val="B77F2B"/>
              </a:solidFill>
              <a:prstDash val="solid"/>
            </a:ln>
          </p:spPr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BD9A78EB-A9D2-47AF-A8FE-B5BC544520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1123950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Scope, motivation, and central questions</a:t>
              </a:r>
            </a:p>
          </p:txBody>
        </p:sp>
        <p:cxnSp>
          <p:nvCxnSpPr>
            <p:cNvPr id="82" name=""/>
            <p:cNvCxnSpPr>
              <a:stCxn xmlns:a="http://schemas.openxmlformats.org/drawingml/2006/main" id="5" idx="3"/>
              <a:endCxn xmlns:a="http://schemas.openxmlformats.org/drawingml/2006/main" id="8" idx="1"/>
            </p:cNvCxnSpPr>
            <p:nvPr/>
          </p:nvCxnSpPr>
          <p:spPr>
            <a:xfrm xmlns:a="http://schemas.openxmlformats.org/drawingml/2006/main">
              <a:off x="5410200" y="1290638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none" w="med" len="med"/>
            </a:ln>
          </p:spPr>
        </p:cxn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6AAB24B-5A07-4D0D-9931-4E523785E1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181927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7F2B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950695A5-2AF9-4E88-BC21-CCF76A0410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1609725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dash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1588B44B-1717-4118-8D53-ECBE986960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1657350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2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44C73FB9-D5F7-4AA9-8E46-0A316AAEE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1647825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What Is a Time-Series Agent?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817CE3C6-276F-437E-8EE1-E0D321CA5B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1609725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0478">
              <a:solidFill>
                <a:srgbClr val="B77F2B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C80799E3-16B0-4C60-9C68-36E5BCDC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1666875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Construction layers and paper-card unit</a:t>
              </a:r>
            </a:p>
          </p:txBody>
        </p:sp>
        <p:cxnSp>
          <p:nvCxnSpPr>
            <p:cNvPr id="89" name=""/>
            <p:cNvCxnSpPr>
              <a:stCxn xmlns:a="http://schemas.openxmlformats.org/drawingml/2006/main" id="12" idx="3"/>
              <a:endCxn xmlns:a="http://schemas.openxmlformats.org/drawingml/2006/main" id="15" idx="1"/>
            </p:cNvCxnSpPr>
            <p:nvPr/>
          </p:nvCxnSpPr>
          <p:spPr>
            <a:xfrm xmlns:a="http://schemas.openxmlformats.org/drawingml/2006/main">
              <a:off x="5410200" y="1833563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none" w="med" len="med"/>
            </a:ln>
          </p:spPr>
        </p:cxn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FEB068DC-7AF9-45DC-A6C0-87FDFEBB93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236220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8639F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0BAB02F9-E1A5-473E-BC4E-EB43F154BA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2152650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dash"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ED9A9CDC-FCDC-4130-819E-8855D0250F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2200275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3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B84474B1-35AE-4A86-90B1-BADF467BF9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2190750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LLM-Side Contributions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DBB211EE-69A2-42FC-9455-03B800B700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2152650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0478">
              <a:solidFill>
                <a:srgbClr val="78639F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4D90C129-F1D0-48A0-B647-3325744378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2209800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Temporal representation, alignment, reasoning</a:t>
              </a:r>
            </a:p>
          </p:txBody>
        </p:sp>
        <p:cxnSp>
          <p:nvCxnSpPr>
            <p:cNvPr id="96" name=""/>
            <p:cNvCxnSpPr>
              <a:stCxn xmlns:a="http://schemas.openxmlformats.org/drawingml/2006/main" id="19" idx="3"/>
              <a:endCxn xmlns:a="http://schemas.openxmlformats.org/drawingml/2006/main" id="22" idx="1"/>
            </p:cNvCxnSpPr>
            <p:nvPr/>
          </p:nvCxnSpPr>
          <p:spPr>
            <a:xfrm xmlns:a="http://schemas.openxmlformats.org/drawingml/2006/main">
              <a:off x="5410200" y="2376488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none" w="med" len="med"/>
            </a:ln>
          </p:spPr>
        </p:cxn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F5631BB4-CDD0-47F0-BB4A-A7505A5702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290512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F1FE348B-C812-41C5-A707-2386E7B59E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2695575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dash"/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DF41ECCA-E854-4717-9D22-6D7172998A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2743200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4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97CB55F2-1A10-4FEC-97B3-F43441F74E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2733675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General Harness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B7DFB075-1357-4E64-BC32-0B9C2CA0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2695575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B36FA9C-4C90-48A7-8254-E57A820BE2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2752725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Seven reusable runtime dimensions</a:t>
              </a:r>
            </a:p>
          </p:txBody>
        </p:sp>
        <p:cxnSp>
          <p:nvCxnSpPr>
            <p:cNvPr id="103" name=""/>
            <p:cNvCxnSpPr>
              <a:stCxn xmlns:a="http://schemas.openxmlformats.org/drawingml/2006/main" id="26" idx="3"/>
              <a:endCxn xmlns:a="http://schemas.openxmlformats.org/drawingml/2006/main" id="29" idx="1"/>
            </p:cNvCxnSpPr>
            <p:nvPr/>
          </p:nvCxnSpPr>
          <p:spPr>
            <a:xfrm xmlns:a="http://schemas.openxmlformats.org/drawingml/2006/main">
              <a:off x="5410200" y="2919413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none" w="med" len="med"/>
            </a:ln>
          </p:spPr>
        </p:cxn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2504617-C0BB-4763-BF4D-1334A805B2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34480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FEE8DE2F-81BF-4E3E-8701-EA69F38488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3238500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dash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D691844B-DE3C-49D6-A9BF-376463E3C6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3286125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5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C3C2A862-5F3F-449E-A69E-38F311B26D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3276600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General Time-Series Harness</a:t>
              </a:r>
            </a:p>
          </p:txBody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229406A9-3887-483D-9540-A017EDF080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3238500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DC9F1F0F-FC0A-42BD-89B8-E3980952F3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3295650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Temporal contracts that transfer across tasks</a:t>
              </a:r>
            </a:p>
          </p:txBody>
        </p:sp>
        <p:cxnSp>
          <p:nvCxnSpPr>
            <p:cNvPr id="110" name=""/>
            <p:cNvCxnSpPr>
              <a:stCxn xmlns:a="http://schemas.openxmlformats.org/drawingml/2006/main" id="33" idx="3"/>
              <a:endCxn xmlns:a="http://schemas.openxmlformats.org/drawingml/2006/main" id="36" idx="1"/>
            </p:cNvCxnSpPr>
            <p:nvPr/>
          </p:nvCxnSpPr>
          <p:spPr>
            <a:xfrm xmlns:a="http://schemas.openxmlformats.org/drawingml/2006/main">
              <a:off x="5410200" y="3462338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none" w="med" len="med"/>
            </a:ln>
          </p:spPr>
        </p:cxn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3E4297AF-0F99-445C-A573-9912ACECC0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399097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2916C1CC-DEB1-4D69-9D5A-93410534A9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3781425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dash"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BBA227EB-028C-4890-BC4E-A0AA20AD86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3829050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6</a:t>
              </a:r>
            </a:p>
          </p:txBody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000CA766-4FF6-465B-8AC9-A68DABB72D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3819525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Task-Specific Harness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C5559CDF-C026-42FD-90EE-D1D3B970B2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3781425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5A32894B-D9A8-4868-98F7-C8045E48E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3838575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Forecasting, augmentation, anomaly, decision support</a:t>
              </a:r>
            </a:p>
          </p:txBody>
        </p:sp>
        <p:cxnSp>
          <p:nvCxnSpPr>
            <p:cNvPr id="117" name=""/>
            <p:cNvCxnSpPr>
              <a:stCxn xmlns:a="http://schemas.openxmlformats.org/drawingml/2006/main" id="40" idx="3"/>
              <a:endCxn xmlns:a="http://schemas.openxmlformats.org/drawingml/2006/main" id="43" idx="1"/>
            </p:cNvCxnSpPr>
            <p:nvPr/>
          </p:nvCxnSpPr>
          <p:spPr>
            <a:xfrm xmlns:a="http://schemas.openxmlformats.org/drawingml/2006/main">
              <a:off x="5410200" y="4005263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none" w="med" len="med"/>
            </a:ln>
          </p:spPr>
        </p:cxn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1331BBD6-7F71-4B19-A571-EEB5043A78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453390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886B0B4C-A9A0-47BB-BFF9-BF6202AD9B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4324350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dash"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2C5C04C7-7135-4388-901D-A66415ACD9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4371975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7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BC51C121-22A0-4751-9005-A07FB17C3B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4362450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Infrastructure and Benchmarks</a:t>
              </a:r>
            </a:p>
          </p:txBody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E843F3F4-2435-480D-BB9F-852BFB87BA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4324350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1C21B81C-C7D8-4089-8CC8-AB78B05432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4381500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Episodes, traces, tools, and task outcomes</a:t>
              </a:r>
            </a:p>
          </p:txBody>
        </p:sp>
        <p:cxnSp>
          <p:nvCxnSpPr>
            <p:cNvPr id="124" name=""/>
            <p:cNvCxnSpPr>
              <a:stCxn xmlns:a="http://schemas.openxmlformats.org/drawingml/2006/main" id="47" idx="3"/>
              <a:endCxn xmlns:a="http://schemas.openxmlformats.org/drawingml/2006/main" id="50" idx="1"/>
            </p:cNvCxnSpPr>
            <p:nvPr/>
          </p:nvCxnSpPr>
          <p:spPr>
            <a:xfrm xmlns:a="http://schemas.openxmlformats.org/drawingml/2006/main">
              <a:off x="5410200" y="4548188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none" w="med" len="med"/>
            </a:ln>
          </p:spPr>
        </p:cxn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42E5A246-0191-47FD-B7CE-422BF443D7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5076825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8639F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26A1E453-4222-4273-A9A5-6747A04774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4867275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dash"/>
            </a:ln>
          </p:spPr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2AE10E41-2AF2-4BB7-AFF1-9752A432F4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4914900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8</a:t>
              </a:r>
            </a:p>
          </p:txBody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F5610291-97A6-47C7-A7CE-9323512EAC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4905375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Open Problems and Case Studies</a:t>
              </a:r>
            </a:p>
          </p:txBody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5B811C92-0F03-406D-BF39-6385FA6787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4867275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0478">
              <a:solidFill>
                <a:srgbClr val="78639F"/>
              </a:solidFill>
              <a:prstDash val="solid"/>
            </a:ln>
          </p:spPr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36C979D5-5DEB-4FBD-809D-EA594DABB1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4924425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Where modules and evaluation remain incomplete</a:t>
              </a:r>
            </a:p>
          </p:txBody>
        </p:sp>
        <p:cxnSp>
          <p:nvCxnSpPr>
            <p:cNvPr id="131" name=""/>
            <p:cNvCxnSpPr>
              <a:stCxn xmlns:a="http://schemas.openxmlformats.org/drawingml/2006/main" id="54" idx="3"/>
              <a:endCxn xmlns:a="http://schemas.openxmlformats.org/drawingml/2006/main" id="57" idx="1"/>
            </p:cNvCxnSpPr>
            <p:nvPr/>
          </p:nvCxnSpPr>
          <p:spPr>
            <a:xfrm xmlns:a="http://schemas.openxmlformats.org/drawingml/2006/main">
              <a:off x="5410200" y="5091113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none" w="med" len="med"/>
            </a:ln>
          </p:spPr>
        </p:cxn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8786DB96-4B27-4EF8-B175-B7B126556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6325" y="5619750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8639F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FC1C5FD3-1D71-4554-A85A-ACFD87B673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5410200"/>
              <a:ext cx="400050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dash"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96C444CD-B6F2-4EB7-9B05-6046A5A82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5457825"/>
              <a:ext cx="5143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§ 9</a:t>
              </a:r>
            </a:p>
          </p:txBody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4DC602F5-572B-4114-8473-9225FA888B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14550" y="5448300"/>
              <a:ext cx="3095625" cy="3524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350" b="1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Conclusion</a:t>
              </a:r>
            </a:p>
          </p:txBody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395DC341-65DF-4169-B0F1-1EA446350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29300" y="5410200"/>
              <a:ext cx="5429250" cy="447675"/>
            </a:xfrm>
            <a:prstGeom xmlns:a="http://schemas.openxmlformats.org/drawingml/2006/main" prst="roundRect">
              <a:avLst>
                <a:gd name="adj" fmla="val 17021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0478">
              <a:solidFill>
                <a:srgbClr val="78639F"/>
              </a:solidFill>
              <a:prstDash val="solid"/>
            </a:ln>
          </p:spPr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0169428D-0260-4E44-BF47-8B5EF23164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19800" y="5467350"/>
              <a:ext cx="504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A reusable map for future systems</a:t>
              </a:r>
            </a:p>
          </p:txBody>
        </p:sp>
        <p:cxnSp>
          <p:nvCxnSpPr>
            <p:cNvPr id="138" name=""/>
            <p:cNvCxnSpPr>
              <a:stCxn xmlns:a="http://schemas.openxmlformats.org/drawingml/2006/main" id="61" idx="3"/>
              <a:endCxn xmlns:a="http://schemas.openxmlformats.org/drawingml/2006/main" id="64" idx="1"/>
            </p:cNvCxnSpPr>
            <p:nvPr/>
          </p:nvCxnSpPr>
          <p:spPr>
            <a:xfrm xmlns:a="http://schemas.openxmlformats.org/drawingml/2006/main">
              <a:off x="5410200" y="5634038"/>
              <a:ext cx="4191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none" w="med" len="med"/>
            </a:ln>
          </p:spPr>
        </p:cxn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3A65B410-865C-4548-9D28-08C3EAEE6A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90500" y="2381250"/>
              <a:ext cx="1028700" cy="1571625"/>
            </a:xfrm>
            <a:prstGeom xmlns:a="http://schemas.openxmlformats.org/drawingml/2006/main" prst="roundRect">
              <a:avLst>
                <a:gd name="adj" fmla="val 740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2383">
              <a:solidFill>
                <a:srgbClr val="438B86"/>
              </a:solidFill>
              <a:prstDash val="dash"/>
            </a:ln>
          </p:spPr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E393A64B-7DD3-4323-BCFC-F2457015E4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2619375"/>
              <a:ext cx="8382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15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Time-Series</a:t>
              </a:r>
            </a:p>
            <a:p xmlns:a="http://schemas.openxmlformats.org/drawingml/2006/main">
              <a:pPr>
                <a:defRPr sz="15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15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Agent</a:t>
              </a:r>
            </a:p>
            <a:p xmlns:a="http://schemas.openxmlformats.org/drawingml/2006/main">
              <a:pPr>
                <a:defRPr sz="15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15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Survey</a:t>
              </a:r>
            </a:p>
          </p:txBody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20DAC362-CEC9-4A76-AA53-7317FD5639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" y="3495675"/>
              <a:ext cx="8382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9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reader's map</a:t>
              </a:r>
            </a:p>
          </p:txBody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B43C8E13-5B2B-4292-894F-3C3D08ECA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3105150"/>
              <a:ext cx="20955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8178D5E5-288B-4B83-B528-0FEB42E55B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" y="6343650"/>
              <a:ext cx="98488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3335">
              <a:solidFill>
                <a:srgbClr val="24324A"/>
              </a:solidFill>
              <a:prstDash val="solid"/>
            </a:ln>
          </p:spPr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3D31F795-31C4-4005-AE28-F224712603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00200" y="6400800"/>
              <a:ext cx="94297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975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Paper card fields: claim  ·  evidence locator  ·  module layer  ·  task family  ·  BibTeX  ·  review 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211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2026-10-02T05:57:14.8370000Z</dcterms:created>
  <dcterms:modified xsi:type="dcterms:W3CDTF">2026-10-02T05:57:14.8370000Z</dcterms:modified>
</coreProperties>
</file>